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1"/>
  </p:notesMasterIdLst>
  <p:handoutMasterIdLst>
    <p:handoutMasterId r:id="rId142"/>
  </p:handoutMasterIdLst>
  <p:sldIdLst>
    <p:sldId id="256" r:id="rId5"/>
    <p:sldId id="257" r:id="rId6"/>
    <p:sldId id="284" r:id="rId7"/>
    <p:sldId id="285" r:id="rId8"/>
    <p:sldId id="295" r:id="rId9"/>
    <p:sldId id="297" r:id="rId10"/>
    <p:sldId id="298" r:id="rId11"/>
    <p:sldId id="411" r:id="rId12"/>
    <p:sldId id="419" r:id="rId13"/>
    <p:sldId id="421" r:id="rId14"/>
    <p:sldId id="422" r:id="rId15"/>
    <p:sldId id="420" r:id="rId16"/>
    <p:sldId id="423" r:id="rId17"/>
    <p:sldId id="424" r:id="rId18"/>
    <p:sldId id="412" r:id="rId19"/>
    <p:sldId id="417" r:id="rId20"/>
    <p:sldId id="415" r:id="rId21"/>
    <p:sldId id="416" r:id="rId22"/>
    <p:sldId id="418" r:id="rId23"/>
    <p:sldId id="413" r:id="rId24"/>
    <p:sldId id="286" r:id="rId25"/>
    <p:sldId id="287" r:id="rId26"/>
    <p:sldId id="288" r:id="rId27"/>
    <p:sldId id="293" r:id="rId28"/>
    <p:sldId id="294" r:id="rId29"/>
    <p:sldId id="289" r:id="rId30"/>
    <p:sldId id="290" r:id="rId31"/>
    <p:sldId id="291" r:id="rId32"/>
    <p:sldId id="292" r:id="rId33"/>
    <p:sldId id="482" r:id="rId34"/>
    <p:sldId id="301" r:id="rId35"/>
    <p:sldId id="302" r:id="rId36"/>
    <p:sldId id="300" r:id="rId37"/>
    <p:sldId id="303" r:id="rId38"/>
    <p:sldId id="304" r:id="rId39"/>
    <p:sldId id="305" r:id="rId40"/>
    <p:sldId id="488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489" r:id="rId49"/>
    <p:sldId id="313" r:id="rId50"/>
    <p:sldId id="316" r:id="rId51"/>
    <p:sldId id="317" r:id="rId52"/>
    <p:sldId id="319" r:id="rId53"/>
    <p:sldId id="320" r:id="rId54"/>
    <p:sldId id="321" r:id="rId55"/>
    <p:sldId id="322" r:id="rId56"/>
    <p:sldId id="323" r:id="rId57"/>
    <p:sldId id="324" r:id="rId58"/>
    <p:sldId id="326" r:id="rId59"/>
    <p:sldId id="325" r:id="rId60"/>
    <p:sldId id="328" r:id="rId61"/>
    <p:sldId id="329" r:id="rId62"/>
    <p:sldId id="327" r:id="rId63"/>
    <p:sldId id="330" r:id="rId64"/>
    <p:sldId id="331" r:id="rId65"/>
    <p:sldId id="425" r:id="rId66"/>
    <p:sldId id="490" r:id="rId67"/>
    <p:sldId id="427" r:id="rId68"/>
    <p:sldId id="426" r:id="rId69"/>
    <p:sldId id="428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269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429" r:id="rId88"/>
    <p:sldId id="430" r:id="rId89"/>
    <p:sldId id="432" r:id="rId90"/>
    <p:sldId id="433" r:id="rId91"/>
    <p:sldId id="435" r:id="rId92"/>
    <p:sldId id="437" r:id="rId93"/>
    <p:sldId id="436" r:id="rId94"/>
    <p:sldId id="438" r:id="rId95"/>
    <p:sldId id="439" r:id="rId96"/>
    <p:sldId id="440" r:id="rId97"/>
    <p:sldId id="441" r:id="rId98"/>
    <p:sldId id="485" r:id="rId99"/>
    <p:sldId id="484" r:id="rId100"/>
    <p:sldId id="442" r:id="rId101"/>
    <p:sldId id="483" r:id="rId102"/>
    <p:sldId id="486" r:id="rId103"/>
    <p:sldId id="443" r:id="rId104"/>
    <p:sldId id="444" r:id="rId105"/>
    <p:sldId id="445" r:id="rId106"/>
    <p:sldId id="446" r:id="rId107"/>
    <p:sldId id="448" r:id="rId108"/>
    <p:sldId id="450" r:id="rId109"/>
    <p:sldId id="487" r:id="rId110"/>
    <p:sldId id="451" r:id="rId111"/>
    <p:sldId id="453" r:id="rId112"/>
    <p:sldId id="454" r:id="rId113"/>
    <p:sldId id="455" r:id="rId114"/>
    <p:sldId id="456" r:id="rId115"/>
    <p:sldId id="457" r:id="rId116"/>
    <p:sldId id="458" r:id="rId117"/>
    <p:sldId id="459" r:id="rId118"/>
    <p:sldId id="460" r:id="rId119"/>
    <p:sldId id="461" r:id="rId120"/>
    <p:sldId id="462" r:id="rId121"/>
    <p:sldId id="463" r:id="rId122"/>
    <p:sldId id="464" r:id="rId123"/>
    <p:sldId id="465" r:id="rId124"/>
    <p:sldId id="466" r:id="rId125"/>
    <p:sldId id="467" r:id="rId126"/>
    <p:sldId id="468" r:id="rId127"/>
    <p:sldId id="469" r:id="rId128"/>
    <p:sldId id="470" r:id="rId129"/>
    <p:sldId id="471" r:id="rId130"/>
    <p:sldId id="472" r:id="rId131"/>
    <p:sldId id="473" r:id="rId132"/>
    <p:sldId id="474" r:id="rId133"/>
    <p:sldId id="475" r:id="rId134"/>
    <p:sldId id="476" r:id="rId135"/>
    <p:sldId id="477" r:id="rId136"/>
    <p:sldId id="478" r:id="rId137"/>
    <p:sldId id="479" r:id="rId138"/>
    <p:sldId id="480" r:id="rId139"/>
    <p:sldId id="481" r:id="rId140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53E5"/>
    <a:srgbClr val="B205FF"/>
    <a:srgbClr val="FFFC5A"/>
    <a:srgbClr val="D0ACEE"/>
    <a:srgbClr val="6B7AEB"/>
    <a:srgbClr val="A29EA8"/>
    <a:srgbClr val="B9B6BE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5" autoAdjust="0"/>
    <p:restoredTop sz="72727" autoAdjust="0"/>
  </p:normalViewPr>
  <p:slideViewPr>
    <p:cSldViewPr>
      <p:cViewPr varScale="1">
        <p:scale>
          <a:sx n="46" d="100"/>
          <a:sy n="46" d="100"/>
        </p:scale>
        <p:origin x="205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notesMaster" Target="notesMasters/notesMaster1.xml"/><Relationship Id="rId14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 Dang Hai" userId="a8d09f39-d0e0-4499-83a6-2a14839d98ac" providerId="ADAL" clId="{012D37B3-A77E-4281-A52C-B7AB0E897F46}"/>
    <pc:docChg chg="modSld">
      <pc:chgData name="Pham Dang Hai" userId="a8d09f39-d0e0-4499-83a6-2a14839d98ac" providerId="ADAL" clId="{012D37B3-A77E-4281-A52C-B7AB0E897F46}" dt="2024-02-19T13:13:43.875" v="1" actId="6549"/>
      <pc:docMkLst>
        <pc:docMk/>
      </pc:docMkLst>
      <pc:sldChg chg="modNotesTx">
        <pc:chgData name="Pham Dang Hai" userId="a8d09f39-d0e0-4499-83a6-2a14839d98ac" providerId="ADAL" clId="{012D37B3-A77E-4281-A52C-B7AB0E897F46}" dt="2024-02-19T13:13:34.966" v="0" actId="6549"/>
        <pc:sldMkLst>
          <pc:docMk/>
          <pc:sldMk cId="0" sldId="298"/>
        </pc:sldMkLst>
      </pc:sldChg>
      <pc:sldChg chg="modNotesTx">
        <pc:chgData name="Pham Dang Hai" userId="a8d09f39-d0e0-4499-83a6-2a14839d98ac" providerId="ADAL" clId="{012D37B3-A77E-4281-A52C-B7AB0E897F46}" dt="2024-02-19T13:13:43.875" v="1" actId="6549"/>
        <pc:sldMkLst>
          <pc:docMk/>
          <pc:sldMk cId="0" sldId="4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fld id="{142688D5-4985-4E49-9E3D-D1F6C9C33E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5927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75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b="0"/>
            </a:lvl1pPr>
          </a:lstStyle>
          <a:p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fld id="{18F09DC9-EC23-43A1-B608-36017557C8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0426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DFE76-C57A-44F2-929D-966F7DBFEC74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82677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58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478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877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817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96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34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09DC9-EC23-43A1-B608-36017557C8BB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40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tIns="45720" bIns="45720"/>
          <a:lstStyle>
            <a:lvl1pPr>
              <a:defRPr sz="5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endParaRPr lang="fr-FR" altLang="en-US" noProof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fld id="{B8A3F5A1-C405-4D8A-AC31-FC476BB4B64D}" type="datetime1">
              <a:rPr lang="en-US" altLang="en-US"/>
              <a:pPr/>
              <a:t>2/19/2024</a:t>
            </a:fld>
            <a:endParaRPr lang="en-US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5C28A3C-C23F-47BE-AC93-62C398D2A58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8DC1FD-008A-42DB-BF7E-E68016310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76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D2FC4C-AB89-47A9-8E22-8E7F52FB96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593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D72367-7E29-4237-BBBF-25E3584C35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49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A03B8C-239E-46F9-B310-4E3D94CD32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97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0D1C64-C8F2-46E6-96A5-7682E0E7EA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00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411E04-2769-4987-B642-AED81A2EF8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28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82C148-2CA2-4B75-B11F-6A68D10CC6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79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40A51E-D7A5-46FA-9F48-A6502E0DA7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31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5B9166-3E0F-4EEE-9FB1-6A1CAC0D8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06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90513"/>
            <a:ext cx="2286000" cy="61102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90513"/>
            <a:ext cx="6705600" cy="61102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3B5BAD-82E4-4483-9B42-177DDF2B60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24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86600" y="6553200"/>
            <a:ext cx="1905000" cy="220663"/>
          </a:xfrm>
        </p:spPr>
        <p:txBody>
          <a:bodyPr/>
          <a:lstStyle>
            <a:lvl1pPr>
              <a:defRPr/>
            </a:lvl1pPr>
          </a:lstStyle>
          <a:p>
            <a:fld id="{0D7C3261-652A-47F4-B8C3-58A2BD8848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019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66700" y="1066800"/>
            <a:ext cx="8724900" cy="5334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86600" y="6553200"/>
            <a:ext cx="1905000" cy="220663"/>
          </a:xfrm>
        </p:spPr>
        <p:txBody>
          <a:bodyPr/>
          <a:lstStyle>
            <a:lvl1pPr>
              <a:defRPr/>
            </a:lvl1pPr>
          </a:lstStyle>
          <a:p>
            <a:fld id="{9B4FECD8-7EBE-4921-A5F7-0A4BEFDEFE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860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6700" y="1066800"/>
            <a:ext cx="428625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05350" y="1066800"/>
            <a:ext cx="428625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66700" y="3810000"/>
            <a:ext cx="428625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5350" y="3810000"/>
            <a:ext cx="428625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86600" y="6553200"/>
            <a:ext cx="1905000" cy="220663"/>
          </a:xfrm>
        </p:spPr>
        <p:txBody>
          <a:bodyPr/>
          <a:lstStyle>
            <a:lvl1pPr>
              <a:defRPr/>
            </a:lvl1pPr>
          </a:lstStyle>
          <a:p>
            <a:fld id="{403E4003-7E5C-46A5-ADEC-C0554CC358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68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90513"/>
            <a:ext cx="9144000" cy="471487"/>
          </a:xfrm>
          <a:prstGeom prst="rect">
            <a:avLst/>
          </a:prstGeom>
          <a:solidFill>
            <a:srgbClr val="2700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0" tIns="0" rIns="9144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1066800"/>
            <a:ext cx="87249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492AF746-37BA-4BF6-A0B4-622B73C760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228600" y="6553200"/>
            <a:ext cx="1752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fld id="{6276CCEB-B71D-4EDC-A0CF-07C816D37DBE}" type="datetime1">
              <a:rPr lang="en-US" altLang="en-US" sz="1400" b="0"/>
              <a:pPr algn="l"/>
              <a:t>2/19/2024</a:t>
            </a:fld>
            <a:endParaRPr lang="en-US" altLang="en-US" sz="14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rgbClr val="27007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rgbClr val="27007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rgbClr val="27007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rgbClr val="27007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rgbClr val="27007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8382000" cy="2590800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altLang="en-US" sz="6000" b="1" dirty="0">
                <a:solidFill>
                  <a:srgbClr val="220076"/>
                </a:solidFill>
              </a:rPr>
              <a:t>IT4079:</a:t>
            </a:r>
            <a:r>
              <a:rPr lang="en-US" altLang="en-US" sz="6000" dirty="0">
                <a:solidFill>
                  <a:srgbClr val="220076"/>
                </a:solidFill>
              </a:rPr>
              <a:t>NGÔN NGỮ </a:t>
            </a:r>
            <a:r>
              <a:rPr lang="en-US" altLang="en-US" sz="6000" dirty="0" err="1">
                <a:solidFill>
                  <a:srgbClr val="220076"/>
                </a:solidFill>
              </a:rPr>
              <a:t>và</a:t>
            </a:r>
            <a:r>
              <a:rPr lang="en-US" altLang="en-US" sz="6000" dirty="0">
                <a:solidFill>
                  <a:srgbClr val="220076"/>
                </a:solidFill>
              </a:rPr>
              <a:t> </a:t>
            </a:r>
            <a:br>
              <a:rPr lang="en-US" altLang="en-US" sz="6000" dirty="0">
                <a:solidFill>
                  <a:srgbClr val="220076"/>
                </a:solidFill>
              </a:rPr>
            </a:br>
            <a:r>
              <a:rPr lang="en-US" altLang="en-US" sz="6000" dirty="0">
                <a:solidFill>
                  <a:srgbClr val="220076"/>
                </a:solidFill>
              </a:rPr>
              <a:t>PHƯƠNG PHÁP DỊCH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676400"/>
          </a:xfrm>
        </p:spPr>
        <p:txBody>
          <a:bodyPr/>
          <a:lstStyle/>
          <a:p>
            <a:r>
              <a:rPr lang="en-US" altLang="en-US" dirty="0" err="1">
                <a:solidFill>
                  <a:srgbClr val="003399"/>
                </a:solidFill>
              </a:rPr>
              <a:t>Phạm</a:t>
            </a:r>
            <a:r>
              <a:rPr lang="en-US" altLang="en-US" dirty="0">
                <a:solidFill>
                  <a:srgbClr val="003399"/>
                </a:solidFill>
              </a:rPr>
              <a:t> </a:t>
            </a:r>
            <a:r>
              <a:rPr lang="en-US" altLang="en-US" dirty="0" err="1">
                <a:solidFill>
                  <a:srgbClr val="003399"/>
                </a:solidFill>
              </a:rPr>
              <a:t>Đăng</a:t>
            </a:r>
            <a:r>
              <a:rPr lang="en-US" altLang="en-US" dirty="0">
                <a:solidFill>
                  <a:srgbClr val="003399"/>
                </a:solidFill>
              </a:rPr>
              <a:t> </a:t>
            </a:r>
            <a:r>
              <a:rPr lang="en-US" altLang="en-US" dirty="0" err="1">
                <a:solidFill>
                  <a:srgbClr val="003399"/>
                </a:solidFill>
              </a:rPr>
              <a:t>Hải</a:t>
            </a:r>
            <a:endParaRPr lang="en-US" altLang="en-US" dirty="0">
              <a:solidFill>
                <a:srgbClr val="003399"/>
              </a:solidFill>
            </a:endParaRPr>
          </a:p>
          <a:p>
            <a:r>
              <a:rPr lang="en-US" altLang="en-US" dirty="0">
                <a:solidFill>
                  <a:srgbClr val="003399"/>
                </a:solidFill>
              </a:rPr>
              <a:t>haipd@soict.hust.edu.vn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3586CE-0626-4037-87AE-5A57DE274B6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377298" name="Rectangle 18"/>
          <p:cNvSpPr>
            <a:spLocks noChangeArrowheads="1"/>
          </p:cNvSpPr>
          <p:nvPr/>
        </p:nvSpPr>
        <p:spPr bwMode="auto">
          <a:xfrm>
            <a:off x="0" y="16002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7296" name="Rectangle 1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r>
              <a:rPr lang="en-US" altLang="en-US" sz="4000"/>
              <a:t>Chương 5: Sinh mã</a:t>
            </a:r>
          </a:p>
        </p:txBody>
      </p:sp>
      <p:sp>
        <p:nvSpPr>
          <p:cNvPr id="1377297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3344862"/>
          </a:xfrm>
        </p:spPr>
        <p:txBody>
          <a:bodyPr/>
          <a:lstStyle/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trung gian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đích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fr-FR" altLang="en-US" sz="4000"/>
              <a:t>Tối ưu mã</a:t>
            </a:r>
            <a:endParaRPr lang="en-US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EC790A-6249-4DE2-A6D3-6A90BF2A187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68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>
              <a:lnSpc>
                <a:spcPct val="110000"/>
              </a:lnSpc>
            </a:pPr>
            <a:r>
              <a:rPr lang="en-US" altLang="en-US"/>
              <a:t>Bộ sinh mã trung gian chuyển chương trình nguồn sang chương trình tương đương trong ngôn ngữ trung gian</a:t>
            </a:r>
          </a:p>
          <a:p>
            <a:pPr marL="1030288" lvl="1" indent="-450850"/>
            <a:r>
              <a:rPr lang="en-US" altLang="en-US"/>
              <a:t>Chương trình trung gian là một chương trình cho một máy trừu tượng</a:t>
            </a:r>
          </a:p>
          <a:p>
            <a:pPr marL="465138" indent="-465138">
              <a:lnSpc>
                <a:spcPct val="110000"/>
              </a:lnSpc>
            </a:pPr>
            <a:r>
              <a:rPr lang="en-US" altLang="en-US"/>
              <a:t>Ngôn ngữ trung gian được người thiết kế trình biên dịch quyết định, có thể là:</a:t>
            </a:r>
          </a:p>
          <a:p>
            <a:pPr marL="1030288" lvl="1" indent="-450850">
              <a:lnSpc>
                <a:spcPct val="110000"/>
              </a:lnSpc>
            </a:pPr>
            <a:r>
              <a:rPr lang="en-US" altLang="en-US"/>
              <a:t>Cây cú pháp </a:t>
            </a:r>
          </a:p>
          <a:p>
            <a:pPr marL="1030288" lvl="1" indent="-450850">
              <a:lnSpc>
                <a:spcPct val="110000"/>
              </a:lnSpc>
            </a:pPr>
            <a:r>
              <a:rPr lang="en-US" altLang="en-US"/>
              <a:t>Ký pháp Ba Lan sau (hậu tố)</a:t>
            </a:r>
          </a:p>
          <a:p>
            <a:pPr marL="1030288" lvl="1" indent="-450850">
              <a:lnSpc>
                <a:spcPct val="110000"/>
              </a:lnSpc>
            </a:pPr>
            <a:r>
              <a:rPr lang="en-US" altLang="en-US"/>
              <a:t>Mã 3 địa chỉ …</a:t>
            </a:r>
          </a:p>
        </p:txBody>
      </p:sp>
      <p:sp>
        <p:nvSpPr>
          <p:cNvPr id="1684488" name="Rectangle 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Giới thiệu</a:t>
            </a:r>
            <a:endParaRPr lang="en-US" altLang="en-US"/>
          </a:p>
        </p:txBody>
      </p:sp>
      <p:sp>
        <p:nvSpPr>
          <p:cNvPr id="1684489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61FD29-D798-4A39-A13B-7A3B8D5383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42856" name="Rectangle 8"/>
          <p:cNvSpPr>
            <a:spLocks noChangeArrowheads="1"/>
          </p:cNvSpPr>
          <p:nvPr/>
        </p:nvSpPr>
        <p:spPr bwMode="auto">
          <a:xfrm>
            <a:off x="0" y="914400"/>
            <a:ext cx="914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724900" cy="5943600"/>
          </a:xfrm>
        </p:spPr>
        <p:txBody>
          <a:bodyPr/>
          <a:lstStyle/>
          <a:p>
            <a:pPr marL="609600" indent="-609600"/>
            <a:r>
              <a:rPr lang="en-US" altLang="en-US"/>
              <a:t>Chương trình dịch định hướng cú pháp</a:t>
            </a:r>
          </a:p>
          <a:p>
            <a:pPr marL="609600" indent="-609600"/>
            <a:r>
              <a:rPr lang="en-US" altLang="en-US"/>
              <a:t>Cây cú pháp</a:t>
            </a:r>
          </a:p>
          <a:p>
            <a:pPr marL="609600" indent="-609600"/>
            <a:r>
              <a:rPr lang="en-US" altLang="en-US"/>
              <a:t>Ký pháp Ba lan sau</a:t>
            </a:r>
          </a:p>
          <a:p>
            <a:pPr marL="609600" indent="-609600"/>
            <a:r>
              <a:rPr lang="en-US" altLang="en-US"/>
              <a:t>Mã 3 địa chỉ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Các dạng mã</a:t>
            </a:r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Dịch trực tiếp cú pháp thành mã 3 địa chỉ</a:t>
            </a:r>
            <a:endParaRPr lang="en-US" altLang="en-US"/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Sinh mã cho khai báo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lệnh gán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biểu thức logic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cấu trúc lập trình</a:t>
            </a:r>
          </a:p>
        </p:txBody>
      </p:sp>
      <p:sp>
        <p:nvSpPr>
          <p:cNvPr id="17428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Nội dung</a:t>
            </a:r>
            <a:endParaRPr lang="en-US" altLang="en-US"/>
          </a:p>
        </p:txBody>
      </p:sp>
      <p:sp>
        <p:nvSpPr>
          <p:cNvPr id="1742855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8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719D1C-D4D3-4CC8-8AA6-9CC6D7DA2BF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541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5715000"/>
          </a:xfrm>
          <a:noFill/>
        </p:spPr>
        <p:txBody>
          <a:bodyPr lIns="0" rIns="0"/>
          <a:lstStyle/>
          <a:p>
            <a:pPr marL="347663" indent="-347663">
              <a:lnSpc>
                <a:spcPct val="120000"/>
              </a:lnSpc>
              <a:buFontTx/>
              <a:buNone/>
            </a:pPr>
            <a:r>
              <a:rPr lang="en-US" altLang="en-US"/>
              <a:t>Mỗi ký hiệu VP liên kết với một tập thuộc tính: </a:t>
            </a:r>
          </a:p>
          <a:p>
            <a:pPr marL="914400" lvl="1" indent="-452438">
              <a:lnSpc>
                <a:spcPct val="120000"/>
              </a:lnSpc>
            </a:pPr>
            <a:r>
              <a:rPr lang="en-US" altLang="en-US" b="1">
                <a:solidFill>
                  <a:schemeClr val="accent2"/>
                </a:solidFill>
              </a:rPr>
              <a:t>Thuộc tính tổng hợp</a:t>
            </a:r>
            <a:r>
              <a:rPr lang="en-US" altLang="en-US"/>
              <a:t>:</a:t>
            </a:r>
          </a:p>
          <a:p>
            <a:pPr marL="1422400" lvl="2" indent="-333375">
              <a:lnSpc>
                <a:spcPct val="120000"/>
              </a:lnSpc>
            </a:pPr>
            <a:r>
              <a:rPr lang="en-US" altLang="en-US"/>
              <a:t>Giá trị của thuộc tính tại một nút trong cây được xác định từ giá trị của các nút con của nó.</a:t>
            </a:r>
          </a:p>
          <a:p>
            <a:pPr marL="914400" lvl="1" indent="-452438">
              <a:lnSpc>
                <a:spcPct val="120000"/>
              </a:lnSpc>
            </a:pPr>
            <a:r>
              <a:rPr lang="en-US" altLang="en-US" b="1">
                <a:solidFill>
                  <a:schemeClr val="accent2"/>
                </a:solidFill>
              </a:rPr>
              <a:t>Thuộc tính kế thừa</a:t>
            </a:r>
            <a:r>
              <a:rPr lang="en-US" altLang="en-US"/>
              <a:t>: </a:t>
            </a:r>
          </a:p>
          <a:p>
            <a:pPr marL="1422400" lvl="2" indent="-333375">
              <a:lnSpc>
                <a:spcPct val="120000"/>
              </a:lnSpc>
            </a:pPr>
            <a:r>
              <a:rPr lang="en-US" altLang="en-US"/>
              <a:t>Giá trị của thuộc tính được định nghĩa dựa vào giá trị nút cha và/hoặc các nút anh em của nó.</a:t>
            </a:r>
          </a:p>
          <a:p>
            <a:pPr marL="347663" indent="-347663">
              <a:lnSpc>
                <a:spcPct val="120000"/>
              </a:lnSpc>
            </a:pPr>
            <a:r>
              <a:rPr lang="en-US" altLang="en-US"/>
              <a:t>Tồn tại một tập luật ngữ nghĩa dùng để tính giá trị thuộc tính</a:t>
            </a:r>
          </a:p>
        </p:txBody>
      </p:sp>
      <p:sp>
        <p:nvSpPr>
          <p:cNvPr id="1754120" name="Rectangle 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Chương trình dịch định hướng cú pháp</a:t>
            </a:r>
          </a:p>
        </p:txBody>
      </p:sp>
      <p:sp>
        <p:nvSpPr>
          <p:cNvPr id="1754121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7C446F-7D7B-45BA-A39E-0D210DDA7126}" type="slidenum">
              <a:rPr lang="en-US" altLang="en-US"/>
              <a:pPr/>
              <a:t>6</a:t>
            </a:fld>
            <a:endParaRPr lang="en-US" altLang="en-US"/>
          </a:p>
        </p:txBody>
      </p:sp>
      <p:graphicFrame>
        <p:nvGraphicFramePr>
          <p:cNvPr id="1756164" name="Group 4"/>
          <p:cNvGraphicFramePr>
            <a:graphicFrameLocks noGrp="1"/>
          </p:cNvGraphicFramePr>
          <p:nvPr>
            <p:ph sz="half" idx="2"/>
          </p:nvPr>
        </p:nvGraphicFramePr>
        <p:xfrm>
          <a:off x="304800" y="914400"/>
          <a:ext cx="8458200" cy="5602224"/>
        </p:xfrm>
        <a:graphic>
          <a:graphicData uri="http://schemas.openxmlformats.org/drawingml/2006/table">
            <a:tbl>
              <a:tblPr/>
              <a:tblGrid>
                <a:gridCol w="42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return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Print (E.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E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+ T.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T.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*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T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* F.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F.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E.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digit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digit.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lexval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Các ký hiệu </a:t>
                      </a:r>
                      <a:r>
                        <a:rPr kumimoji="0" lang="en-US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E, T, F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có thuộc tính tổng hợp </a:t>
                      </a:r>
                      <a:r>
                        <a:rPr kumimoji="0" lang="en-US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val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Từ tố </a:t>
                      </a:r>
                      <a:r>
                        <a:rPr kumimoji="0" lang="en-US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digit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có thuộc tính tổng hợp </a:t>
                      </a:r>
                      <a:r>
                        <a:rPr kumimoji="0" lang="en-US" altLang="en-US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lexval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 Được bộ phân tích từ vựng đưa ra )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56196" name="Rectangle 3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Ví dụ</a:t>
            </a:r>
          </a:p>
        </p:txBody>
      </p:sp>
      <p:sp>
        <p:nvSpPr>
          <p:cNvPr id="1756197" name="Text Box 3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6423A5-D323-4414-9B0C-9CF50C1BC819}" type="slidenum">
              <a:rPr lang="en-US" altLang="en-US"/>
              <a:pPr/>
              <a:t>7</a:t>
            </a:fld>
            <a:endParaRPr lang="en-US" altLang="en-US"/>
          </a:p>
        </p:txBody>
      </p:sp>
      <p:graphicFrame>
        <p:nvGraphicFramePr>
          <p:cNvPr id="175718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52400" y="990600"/>
          <a:ext cx="8915400" cy="515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04762" imgH="3648584" progId="Paint.Picture">
                  <p:embed/>
                </p:oleObj>
              </mc:Choice>
              <mc:Fallback>
                <p:oleObj name="Bitmap Image" r:id="rId3" imgW="6304762" imgH="3648584" progId="Paint.Picture">
                  <p:embed/>
                  <p:pic>
                    <p:nvPicPr>
                      <p:cNvPr id="175718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990600"/>
                        <a:ext cx="8915400" cy="515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7191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Chú giải cây suy dẫn</a:t>
            </a:r>
          </a:p>
        </p:txBody>
      </p:sp>
      <p:sp>
        <p:nvSpPr>
          <p:cNvPr id="1757192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54D911-7FB0-4D24-B9DC-DF859880536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892354" name="Rectangle 2"/>
          <p:cNvSpPr>
            <a:spLocks noChangeArrowheads="1"/>
          </p:cNvSpPr>
          <p:nvPr/>
        </p:nvSpPr>
        <p:spPr bwMode="auto">
          <a:xfrm>
            <a:off x="0" y="1466850"/>
            <a:ext cx="914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724900" cy="5943600"/>
          </a:xfrm>
        </p:spPr>
        <p:txBody>
          <a:bodyPr/>
          <a:lstStyle/>
          <a:p>
            <a:pPr marL="609600" indent="-609600"/>
            <a:r>
              <a:rPr lang="en-US" altLang="en-US"/>
              <a:t>Chương trình dịch định hướng cú pháp</a:t>
            </a:r>
          </a:p>
          <a:p>
            <a:pPr marL="609600" indent="-609600"/>
            <a:r>
              <a:rPr lang="en-US" altLang="en-US"/>
              <a:t>Cây cú pháp</a:t>
            </a:r>
          </a:p>
          <a:p>
            <a:pPr marL="609600" indent="-609600"/>
            <a:r>
              <a:rPr lang="en-US" altLang="en-US"/>
              <a:t>Ký pháp Ba lan sau</a:t>
            </a:r>
          </a:p>
          <a:p>
            <a:pPr marL="609600" indent="-609600"/>
            <a:r>
              <a:rPr lang="en-US" altLang="en-US"/>
              <a:t>Mã 3 địa chỉ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Các dạng mã</a:t>
            </a:r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Dịch trực tiếp cú pháp thành mã 3 địa chỉ</a:t>
            </a:r>
            <a:endParaRPr lang="en-US" altLang="en-US"/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Sinh mã cho khai báo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lệnh gán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biểu thức logic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cấu trúc lập trình</a:t>
            </a:r>
          </a:p>
        </p:txBody>
      </p:sp>
      <p:sp>
        <p:nvSpPr>
          <p:cNvPr id="189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Nội dung</a:t>
            </a:r>
            <a:endParaRPr lang="en-US" altLang="en-US"/>
          </a:p>
        </p:txBody>
      </p:sp>
      <p:sp>
        <p:nvSpPr>
          <p:cNvPr id="189235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9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23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40741E-5A6E-48FD-BC15-EA1325AFC25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9005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5638800"/>
          </a:xfrm>
          <a:noFill/>
        </p:spPr>
        <p:txBody>
          <a:bodyPr lIns="0" rIns="0"/>
          <a:lstStyle/>
          <a:p>
            <a:pPr marL="363538" indent="-363538" defTabSz="987425">
              <a:lnSpc>
                <a:spcPct val="115000"/>
              </a:lnSpc>
              <a:spcBef>
                <a:spcPct val="25000"/>
              </a:spcBef>
              <a:tabLst>
                <a:tab pos="363538" algn="l"/>
              </a:tabLst>
            </a:pPr>
            <a:r>
              <a:rPr lang="en-US" altLang="en-US"/>
              <a:t>Cây cú pháp (</a:t>
            </a:r>
            <a:r>
              <a:rPr lang="en-US" altLang="en-US" i="1">
                <a:solidFill>
                  <a:srgbClr val="2C1EDC"/>
                </a:solidFill>
              </a:rPr>
              <a:t>syntax tree</a:t>
            </a:r>
            <a:r>
              <a:rPr lang="en-US" altLang="en-US"/>
              <a:t>) là dạng thu gọn của cây phân tích (</a:t>
            </a:r>
            <a:r>
              <a:rPr lang="en-US" altLang="en-US" i="1">
                <a:solidFill>
                  <a:srgbClr val="2C1EDC"/>
                </a:solidFill>
              </a:rPr>
              <a:t>parse tree</a:t>
            </a:r>
            <a:r>
              <a:rPr lang="en-US" altLang="en-US"/>
              <a:t>) dùng để biểu diễn cấu trúc của ngôn ngữ</a:t>
            </a:r>
          </a:p>
          <a:p>
            <a:pPr marL="363538" indent="-363538" defTabSz="987425">
              <a:lnSpc>
                <a:spcPct val="115000"/>
              </a:lnSpc>
              <a:spcBef>
                <a:spcPct val="25000"/>
              </a:spcBef>
              <a:tabLst>
                <a:tab pos="363538" algn="l"/>
              </a:tabLst>
            </a:pPr>
            <a:r>
              <a:rPr lang="en-US" altLang="en-US"/>
              <a:t>Trong cây cú pháp các toán tử và từ khóa không xuất hiện ở các nút lá mà đưa vào các nút trong.</a:t>
            </a:r>
          </a:p>
          <a:p>
            <a:pPr marL="987425" lvl="1" indent="-444500" defTabSz="987425">
              <a:lnSpc>
                <a:spcPct val="115000"/>
              </a:lnSpc>
              <a:spcBef>
                <a:spcPct val="25000"/>
              </a:spcBef>
              <a:tabLst>
                <a:tab pos="363538" algn="l"/>
              </a:tabLst>
            </a:pPr>
            <a:r>
              <a:rPr lang="en-US" altLang="en-US"/>
              <a:t>Cha của các nút lá là các toán hạng tương ứng</a:t>
            </a:r>
          </a:p>
          <a:p>
            <a:pPr marL="363538" indent="-363538" defTabSz="987425">
              <a:lnSpc>
                <a:spcPct val="115000"/>
              </a:lnSpc>
              <a:spcBef>
                <a:spcPct val="25000"/>
              </a:spcBef>
              <a:tabLst>
                <a:tab pos="363538" algn="l"/>
              </a:tabLst>
            </a:pPr>
            <a:r>
              <a:rPr lang="en-US" altLang="en-US"/>
              <a:t>Cây cú pháp có ý nghĩa dụng trong cài đặt</a:t>
            </a:r>
          </a:p>
          <a:p>
            <a:pPr marL="987425" lvl="1" indent="-444500" defTabSz="987425">
              <a:lnSpc>
                <a:spcPct val="115000"/>
              </a:lnSpc>
              <a:spcBef>
                <a:spcPct val="25000"/>
              </a:spcBef>
              <a:tabLst>
                <a:tab pos="363538" algn="l"/>
              </a:tabLst>
            </a:pPr>
            <a:r>
              <a:rPr lang="en-US" altLang="en-US"/>
              <a:t>Cây phân tích (</a:t>
            </a:r>
            <a:r>
              <a:rPr lang="en-US" altLang="en-US">
                <a:solidFill>
                  <a:schemeClr val="bg2"/>
                </a:solidFill>
              </a:rPr>
              <a:t>cú pháp</a:t>
            </a:r>
            <a:r>
              <a:rPr lang="en-US" altLang="en-US"/>
              <a:t>) chỉ ý nghĩa về mặt logic</a:t>
            </a:r>
          </a:p>
        </p:txBody>
      </p:sp>
      <p:sp>
        <p:nvSpPr>
          <p:cNvPr id="19005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Cây cú pháp (Syntax tree)</a:t>
            </a:r>
          </a:p>
        </p:txBody>
      </p:sp>
      <p:sp>
        <p:nvSpPr>
          <p:cNvPr id="190054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4A0D0F-0EF3-49AE-AB54-6BAA3CE5C7B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9025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685800"/>
          </a:xfrm>
          <a:noFill/>
        </p:spPr>
        <p:txBody>
          <a:bodyPr lIns="0" rIns="0"/>
          <a:lstStyle/>
          <a:p>
            <a:pPr marL="536575" indent="-536575">
              <a:lnSpc>
                <a:spcPct val="110000"/>
              </a:lnSpc>
              <a:buFontTx/>
              <a:buNone/>
            </a:pPr>
            <a:r>
              <a:rPr lang="en-US" altLang="en-US" sz="2800"/>
              <a:t>Ví dụ: S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 b="1">
                <a:solidFill>
                  <a:srgbClr val="2C1EDC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800">
                <a:sym typeface="Symbol" panose="05050102010706020507" pitchFamily="18" charset="2"/>
              </a:rPr>
              <a:t> B </a:t>
            </a:r>
            <a:r>
              <a:rPr lang="en-US" altLang="en-US" sz="2800" b="1">
                <a:solidFill>
                  <a:srgbClr val="2C1EDC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800">
                <a:sym typeface="Symbol" panose="05050102010706020507" pitchFamily="18" charset="2"/>
              </a:rPr>
              <a:t> S1 </a:t>
            </a:r>
            <a:r>
              <a:rPr lang="en-US" altLang="en-US" sz="2800" b="1">
                <a:solidFill>
                  <a:srgbClr val="2C1EDC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800">
                <a:sym typeface="Symbol" panose="05050102010706020507" pitchFamily="18" charset="2"/>
              </a:rPr>
              <a:t> S2</a:t>
            </a:r>
            <a:endParaRPr lang="en-US" altLang="en-US" sz="2400"/>
          </a:p>
        </p:txBody>
      </p:sp>
      <p:sp>
        <p:nvSpPr>
          <p:cNvPr id="19025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Cây cú pháp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Ví dụ 1</a:t>
            </a:r>
          </a:p>
        </p:txBody>
      </p:sp>
      <p:sp>
        <p:nvSpPr>
          <p:cNvPr id="19025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pSp>
        <p:nvGrpSpPr>
          <p:cNvPr id="1902629" name="Group 37"/>
          <p:cNvGrpSpPr>
            <a:grpSpLocks/>
          </p:cNvGrpSpPr>
          <p:nvPr/>
        </p:nvGrpSpPr>
        <p:grpSpPr bwMode="auto">
          <a:xfrm>
            <a:off x="533400" y="4191000"/>
            <a:ext cx="7772400" cy="1585913"/>
            <a:chOff x="336" y="2640"/>
            <a:chExt cx="4896" cy="999"/>
          </a:xfrm>
        </p:grpSpPr>
        <p:sp>
          <p:nvSpPr>
            <p:cNvPr id="1902613" name="Text Box 21"/>
            <p:cNvSpPr txBox="1">
              <a:spLocks noChangeArrowheads="1"/>
            </p:cNvSpPr>
            <p:nvPr/>
          </p:nvSpPr>
          <p:spPr bwMode="auto">
            <a:xfrm>
              <a:off x="336" y="3312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&lt;B&gt;</a:t>
              </a:r>
            </a:p>
          </p:txBody>
        </p:sp>
        <p:sp>
          <p:nvSpPr>
            <p:cNvPr id="1902614" name="Text Box 22"/>
            <p:cNvSpPr txBox="1">
              <a:spLocks noChangeArrowheads="1"/>
            </p:cNvSpPr>
            <p:nvPr/>
          </p:nvSpPr>
          <p:spPr bwMode="auto">
            <a:xfrm>
              <a:off x="2304" y="3264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&lt;S1&gt;</a:t>
              </a:r>
            </a:p>
          </p:txBody>
        </p:sp>
        <p:sp>
          <p:nvSpPr>
            <p:cNvPr id="1902617" name="Text Box 25"/>
            <p:cNvSpPr txBox="1">
              <a:spLocks noChangeArrowheads="1"/>
            </p:cNvSpPr>
            <p:nvPr/>
          </p:nvSpPr>
          <p:spPr bwMode="auto">
            <a:xfrm>
              <a:off x="4272" y="321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&lt;S2&gt;</a:t>
              </a:r>
            </a:p>
          </p:txBody>
        </p:sp>
        <p:sp>
          <p:nvSpPr>
            <p:cNvPr id="1902618" name="Text Box 26"/>
            <p:cNvSpPr txBox="1">
              <a:spLocks noChangeArrowheads="1"/>
            </p:cNvSpPr>
            <p:nvPr/>
          </p:nvSpPr>
          <p:spPr bwMode="auto">
            <a:xfrm>
              <a:off x="1872" y="2640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>
                  <a:solidFill>
                    <a:srgbClr val="2C1EDC"/>
                  </a:solidFill>
                </a:rPr>
                <a:t>If  Then  Else</a:t>
              </a:r>
            </a:p>
          </p:txBody>
        </p:sp>
        <p:sp>
          <p:nvSpPr>
            <p:cNvPr id="1902620" name="Line 28"/>
            <p:cNvSpPr>
              <a:spLocks noChangeShapeType="1"/>
            </p:cNvSpPr>
            <p:nvPr/>
          </p:nvSpPr>
          <p:spPr bwMode="auto">
            <a:xfrm flipV="1">
              <a:off x="912" y="2976"/>
              <a:ext cx="192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22" name="Line 30"/>
            <p:cNvSpPr>
              <a:spLocks noChangeShapeType="1"/>
            </p:cNvSpPr>
            <p:nvPr/>
          </p:nvSpPr>
          <p:spPr bwMode="auto">
            <a:xfrm flipH="1" flipV="1">
              <a:off x="2784" y="29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24" name="Line 32"/>
            <p:cNvSpPr>
              <a:spLocks noChangeShapeType="1"/>
            </p:cNvSpPr>
            <p:nvPr/>
          </p:nvSpPr>
          <p:spPr bwMode="auto">
            <a:xfrm flipH="1" flipV="1">
              <a:off x="2880" y="2976"/>
              <a:ext cx="18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2628" name="Group 36"/>
          <p:cNvGrpSpPr>
            <a:grpSpLocks/>
          </p:cNvGrpSpPr>
          <p:nvPr/>
        </p:nvGrpSpPr>
        <p:grpSpPr bwMode="auto">
          <a:xfrm>
            <a:off x="838200" y="1676400"/>
            <a:ext cx="7848600" cy="1662113"/>
            <a:chOff x="528" y="1056"/>
            <a:chExt cx="4944" cy="1047"/>
          </a:xfrm>
        </p:grpSpPr>
        <p:sp>
          <p:nvSpPr>
            <p:cNvPr id="1902598" name="Text Box 6"/>
            <p:cNvSpPr txBox="1">
              <a:spLocks noChangeArrowheads="1"/>
            </p:cNvSpPr>
            <p:nvPr/>
          </p:nvSpPr>
          <p:spPr bwMode="auto">
            <a:xfrm>
              <a:off x="528" y="177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>
                  <a:solidFill>
                    <a:srgbClr val="2C1EDC"/>
                  </a:solidFill>
                </a:rPr>
                <a:t>If</a:t>
              </a:r>
            </a:p>
          </p:txBody>
        </p:sp>
        <p:sp>
          <p:nvSpPr>
            <p:cNvPr id="1902599" name="Text Box 7"/>
            <p:cNvSpPr txBox="1">
              <a:spLocks noChangeArrowheads="1"/>
            </p:cNvSpPr>
            <p:nvPr/>
          </p:nvSpPr>
          <p:spPr bwMode="auto">
            <a:xfrm>
              <a:off x="912" y="177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&lt;B&gt;</a:t>
              </a:r>
            </a:p>
          </p:txBody>
        </p:sp>
        <p:sp>
          <p:nvSpPr>
            <p:cNvPr id="1902600" name="Text Box 8"/>
            <p:cNvSpPr txBox="1">
              <a:spLocks noChangeArrowheads="1"/>
            </p:cNvSpPr>
            <p:nvPr/>
          </p:nvSpPr>
          <p:spPr bwMode="auto">
            <a:xfrm>
              <a:off x="2496" y="177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&lt;S1&gt;</a:t>
              </a:r>
            </a:p>
          </p:txBody>
        </p:sp>
        <p:sp>
          <p:nvSpPr>
            <p:cNvPr id="1902601" name="Text Box 9"/>
            <p:cNvSpPr txBox="1">
              <a:spLocks noChangeArrowheads="1"/>
            </p:cNvSpPr>
            <p:nvPr/>
          </p:nvSpPr>
          <p:spPr bwMode="auto">
            <a:xfrm>
              <a:off x="3504" y="177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>
                  <a:solidFill>
                    <a:srgbClr val="2C1EDC"/>
                  </a:solidFill>
                </a:rPr>
                <a:t>Else</a:t>
              </a:r>
            </a:p>
          </p:txBody>
        </p:sp>
        <p:sp>
          <p:nvSpPr>
            <p:cNvPr id="1902602" name="Text Box 10"/>
            <p:cNvSpPr txBox="1">
              <a:spLocks noChangeArrowheads="1"/>
            </p:cNvSpPr>
            <p:nvPr/>
          </p:nvSpPr>
          <p:spPr bwMode="auto">
            <a:xfrm>
              <a:off x="1872" y="177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>
                  <a:solidFill>
                    <a:srgbClr val="2C1EDC"/>
                  </a:solidFill>
                </a:rPr>
                <a:t>Then</a:t>
              </a:r>
            </a:p>
          </p:txBody>
        </p:sp>
        <p:sp>
          <p:nvSpPr>
            <p:cNvPr id="1902603" name="Text Box 11"/>
            <p:cNvSpPr txBox="1">
              <a:spLocks noChangeArrowheads="1"/>
            </p:cNvSpPr>
            <p:nvPr/>
          </p:nvSpPr>
          <p:spPr bwMode="auto">
            <a:xfrm>
              <a:off x="4224" y="177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&lt;S2&gt;</a:t>
              </a:r>
            </a:p>
          </p:txBody>
        </p:sp>
        <p:sp>
          <p:nvSpPr>
            <p:cNvPr id="1902604" name="Text Box 12"/>
            <p:cNvSpPr txBox="1">
              <a:spLocks noChangeArrowheads="1"/>
            </p:cNvSpPr>
            <p:nvPr/>
          </p:nvSpPr>
          <p:spPr bwMode="auto">
            <a:xfrm>
              <a:off x="2256" y="120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&lt;S&gt;</a:t>
              </a:r>
            </a:p>
          </p:txBody>
        </p:sp>
        <p:sp>
          <p:nvSpPr>
            <p:cNvPr id="1902605" name="Line 13"/>
            <p:cNvSpPr>
              <a:spLocks noChangeShapeType="1"/>
            </p:cNvSpPr>
            <p:nvPr/>
          </p:nvSpPr>
          <p:spPr bwMode="auto">
            <a:xfrm flipV="1">
              <a:off x="768" y="1536"/>
              <a:ext cx="19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06" name="Line 14"/>
            <p:cNvSpPr>
              <a:spLocks noChangeShapeType="1"/>
            </p:cNvSpPr>
            <p:nvPr/>
          </p:nvSpPr>
          <p:spPr bwMode="auto">
            <a:xfrm flipV="1">
              <a:off x="1536" y="1536"/>
              <a:ext cx="12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07" name="Line 15"/>
            <p:cNvSpPr>
              <a:spLocks noChangeShapeType="1"/>
            </p:cNvSpPr>
            <p:nvPr/>
          </p:nvSpPr>
          <p:spPr bwMode="auto">
            <a:xfrm flipV="1">
              <a:off x="2304" y="1536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08" name="Line 16"/>
            <p:cNvSpPr>
              <a:spLocks noChangeShapeType="1"/>
            </p:cNvSpPr>
            <p:nvPr/>
          </p:nvSpPr>
          <p:spPr bwMode="auto">
            <a:xfrm flipH="1" flipV="1">
              <a:off x="2736" y="153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09" name="Line 17"/>
            <p:cNvSpPr>
              <a:spLocks noChangeShapeType="1"/>
            </p:cNvSpPr>
            <p:nvPr/>
          </p:nvSpPr>
          <p:spPr bwMode="auto">
            <a:xfrm flipH="1" flipV="1">
              <a:off x="2784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10" name="Line 18"/>
            <p:cNvSpPr>
              <a:spLocks noChangeShapeType="1"/>
            </p:cNvSpPr>
            <p:nvPr/>
          </p:nvSpPr>
          <p:spPr bwMode="auto">
            <a:xfrm flipH="1" flipV="1">
              <a:off x="2832" y="1536"/>
              <a:ext cx="18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2625" name="Text Box 33"/>
            <p:cNvSpPr txBox="1">
              <a:spLocks noChangeArrowheads="1"/>
            </p:cNvSpPr>
            <p:nvPr/>
          </p:nvSpPr>
          <p:spPr bwMode="auto">
            <a:xfrm>
              <a:off x="3792" y="1056"/>
              <a:ext cx="1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Cây suy dẫn</a:t>
              </a:r>
            </a:p>
          </p:txBody>
        </p:sp>
      </p:grpSp>
      <p:sp>
        <p:nvSpPr>
          <p:cNvPr id="1902626" name="Text Box 34"/>
          <p:cNvSpPr txBox="1">
            <a:spLocks noChangeArrowheads="1"/>
          </p:cNvSpPr>
          <p:nvPr/>
        </p:nvSpPr>
        <p:spPr bwMode="auto">
          <a:xfrm>
            <a:off x="6172200" y="41910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Cây cú pháp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0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90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90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26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BFB3E-F339-4868-985A-ED4650C23A9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9036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Xây dựng cây cú pháp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Ví dụ 2</a:t>
            </a:r>
          </a:p>
        </p:txBody>
      </p:sp>
      <p:sp>
        <p:nvSpPr>
          <p:cNvPr id="190362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pSp>
        <p:nvGrpSpPr>
          <p:cNvPr id="1903672" name="Group 56"/>
          <p:cNvGrpSpPr>
            <a:grpSpLocks/>
          </p:cNvGrpSpPr>
          <p:nvPr/>
        </p:nvGrpSpPr>
        <p:grpSpPr bwMode="auto">
          <a:xfrm>
            <a:off x="5638800" y="1295400"/>
            <a:ext cx="2609850" cy="4862513"/>
            <a:chOff x="720" y="960"/>
            <a:chExt cx="1644" cy="3063"/>
          </a:xfrm>
        </p:grpSpPr>
        <p:sp>
          <p:nvSpPr>
            <p:cNvPr id="1903639" name="Text Box 23"/>
            <p:cNvSpPr txBox="1">
              <a:spLocks noChangeArrowheads="1"/>
            </p:cNvSpPr>
            <p:nvPr/>
          </p:nvSpPr>
          <p:spPr bwMode="auto">
            <a:xfrm>
              <a:off x="720" y="292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  <p:sp>
          <p:nvSpPr>
            <p:cNvPr id="1903640" name="Text Box 24"/>
            <p:cNvSpPr txBox="1">
              <a:spLocks noChangeArrowheads="1"/>
            </p:cNvSpPr>
            <p:nvPr/>
          </p:nvSpPr>
          <p:spPr bwMode="auto">
            <a:xfrm>
              <a:off x="732" y="338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5</a:t>
              </a:r>
            </a:p>
          </p:txBody>
        </p:sp>
        <p:sp>
          <p:nvSpPr>
            <p:cNvPr id="1903641" name="Line 25"/>
            <p:cNvSpPr>
              <a:spLocks noChangeShapeType="1"/>
            </p:cNvSpPr>
            <p:nvPr/>
          </p:nvSpPr>
          <p:spPr bwMode="auto">
            <a:xfrm flipV="1">
              <a:off x="912" y="3186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43" name="Text Box 27"/>
            <p:cNvSpPr txBox="1">
              <a:spLocks noChangeArrowheads="1"/>
            </p:cNvSpPr>
            <p:nvPr/>
          </p:nvSpPr>
          <p:spPr bwMode="auto">
            <a:xfrm>
              <a:off x="1104" y="187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3644" name="Text Box 28"/>
            <p:cNvSpPr txBox="1">
              <a:spLocks noChangeArrowheads="1"/>
            </p:cNvSpPr>
            <p:nvPr/>
          </p:nvSpPr>
          <p:spPr bwMode="auto">
            <a:xfrm>
              <a:off x="1152" y="240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*</a:t>
              </a:r>
            </a:p>
          </p:txBody>
        </p:sp>
        <p:sp>
          <p:nvSpPr>
            <p:cNvPr id="1903645" name="Line 29"/>
            <p:cNvSpPr>
              <a:spLocks noChangeShapeType="1"/>
            </p:cNvSpPr>
            <p:nvPr/>
          </p:nvSpPr>
          <p:spPr bwMode="auto">
            <a:xfrm flipV="1">
              <a:off x="1296" y="2130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48" name="Text Box 32"/>
            <p:cNvSpPr txBox="1">
              <a:spLocks noChangeArrowheads="1"/>
            </p:cNvSpPr>
            <p:nvPr/>
          </p:nvSpPr>
          <p:spPr bwMode="auto">
            <a:xfrm>
              <a:off x="1536" y="2985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2</a:t>
              </a:r>
            </a:p>
          </p:txBody>
        </p:sp>
        <p:sp>
          <p:nvSpPr>
            <p:cNvPr id="1903649" name="Line 33"/>
            <p:cNvSpPr>
              <a:spLocks noChangeShapeType="1"/>
            </p:cNvSpPr>
            <p:nvPr/>
          </p:nvSpPr>
          <p:spPr bwMode="auto">
            <a:xfrm flipV="1">
              <a:off x="1716" y="2727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03650" name="Group 34"/>
            <p:cNvGrpSpPr>
              <a:grpSpLocks/>
            </p:cNvGrpSpPr>
            <p:nvPr/>
          </p:nvGrpSpPr>
          <p:grpSpPr bwMode="auto">
            <a:xfrm>
              <a:off x="1536" y="960"/>
              <a:ext cx="396" cy="741"/>
              <a:chOff x="240" y="2448"/>
              <a:chExt cx="396" cy="741"/>
            </a:xfrm>
          </p:grpSpPr>
          <p:sp>
            <p:nvSpPr>
              <p:cNvPr id="1903651" name="Text Box 35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800" b="0">
                    <a:solidFill>
                      <a:srgbClr val="270076"/>
                    </a:solidFill>
                  </a:rPr>
                  <a:t>E</a:t>
                </a:r>
              </a:p>
            </p:txBody>
          </p:sp>
          <p:sp>
            <p:nvSpPr>
              <p:cNvPr id="1903652" name="Text Box 36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800" b="0">
                    <a:solidFill>
                      <a:srgbClr val="270076"/>
                    </a:solidFill>
                  </a:rPr>
                  <a:t>+</a:t>
                </a:r>
              </a:p>
            </p:txBody>
          </p:sp>
          <p:sp>
            <p:nvSpPr>
              <p:cNvPr id="1903653" name="Line 37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03654" name="Line 38"/>
            <p:cNvSpPr>
              <a:spLocks noChangeShapeType="1"/>
            </p:cNvSpPr>
            <p:nvPr/>
          </p:nvSpPr>
          <p:spPr bwMode="auto">
            <a:xfrm>
              <a:off x="1785" y="1212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55" name="Line 39"/>
            <p:cNvSpPr>
              <a:spLocks noChangeShapeType="1"/>
            </p:cNvSpPr>
            <p:nvPr/>
          </p:nvSpPr>
          <p:spPr bwMode="auto">
            <a:xfrm flipH="1">
              <a:off x="1392" y="1221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56" name="Line 40"/>
            <p:cNvSpPr>
              <a:spLocks noChangeShapeType="1"/>
            </p:cNvSpPr>
            <p:nvPr/>
          </p:nvSpPr>
          <p:spPr bwMode="auto">
            <a:xfrm flipH="1">
              <a:off x="912" y="2133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57" name="Line 41"/>
            <p:cNvSpPr>
              <a:spLocks noChangeShapeType="1"/>
            </p:cNvSpPr>
            <p:nvPr/>
          </p:nvSpPr>
          <p:spPr bwMode="auto">
            <a:xfrm>
              <a:off x="1413" y="2112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59" name="Text Box 43"/>
            <p:cNvSpPr txBox="1">
              <a:spLocks noChangeArrowheads="1"/>
            </p:cNvSpPr>
            <p:nvPr/>
          </p:nvSpPr>
          <p:spPr bwMode="auto">
            <a:xfrm>
              <a:off x="1968" y="139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3661" name="Line 45"/>
            <p:cNvSpPr>
              <a:spLocks noChangeShapeType="1"/>
            </p:cNvSpPr>
            <p:nvPr/>
          </p:nvSpPr>
          <p:spPr bwMode="auto">
            <a:xfrm flipV="1">
              <a:off x="2160" y="1677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62" name="Text Box 46"/>
            <p:cNvSpPr txBox="1">
              <a:spLocks noChangeArrowheads="1"/>
            </p:cNvSpPr>
            <p:nvPr/>
          </p:nvSpPr>
          <p:spPr bwMode="auto">
            <a:xfrm>
              <a:off x="750" y="240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3663" name="Text Box 47"/>
            <p:cNvSpPr txBox="1">
              <a:spLocks noChangeArrowheads="1"/>
            </p:cNvSpPr>
            <p:nvPr/>
          </p:nvSpPr>
          <p:spPr bwMode="auto">
            <a:xfrm>
              <a:off x="1536" y="240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  <p:sp>
          <p:nvSpPr>
            <p:cNvPr id="1903664" name="Line 48"/>
            <p:cNvSpPr>
              <a:spLocks noChangeShapeType="1"/>
            </p:cNvSpPr>
            <p:nvPr/>
          </p:nvSpPr>
          <p:spPr bwMode="auto">
            <a:xfrm flipV="1">
              <a:off x="912" y="2736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65" name="Text Box 49"/>
            <p:cNvSpPr txBox="1">
              <a:spLocks noChangeArrowheads="1"/>
            </p:cNvSpPr>
            <p:nvPr/>
          </p:nvSpPr>
          <p:spPr bwMode="auto">
            <a:xfrm>
              <a:off x="1968" y="189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  <p:sp>
          <p:nvSpPr>
            <p:cNvPr id="1903666" name="Text Box 50"/>
            <p:cNvSpPr txBox="1">
              <a:spLocks noChangeArrowheads="1"/>
            </p:cNvSpPr>
            <p:nvPr/>
          </p:nvSpPr>
          <p:spPr bwMode="auto">
            <a:xfrm>
              <a:off x="1980" y="23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4</a:t>
              </a:r>
            </a:p>
          </p:txBody>
        </p:sp>
        <p:sp>
          <p:nvSpPr>
            <p:cNvPr id="1903667" name="Line 51"/>
            <p:cNvSpPr>
              <a:spLocks noChangeShapeType="1"/>
            </p:cNvSpPr>
            <p:nvPr/>
          </p:nvSpPr>
          <p:spPr bwMode="auto">
            <a:xfrm flipV="1">
              <a:off x="2160" y="2130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68" name="Text Box 52"/>
            <p:cNvSpPr txBox="1">
              <a:spLocks noChangeArrowheads="1"/>
            </p:cNvSpPr>
            <p:nvPr/>
          </p:nvSpPr>
          <p:spPr bwMode="auto">
            <a:xfrm>
              <a:off x="1107" y="137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E</a:t>
              </a:r>
            </a:p>
          </p:txBody>
        </p:sp>
        <p:sp>
          <p:nvSpPr>
            <p:cNvPr id="1903669" name="Line 53"/>
            <p:cNvSpPr>
              <a:spLocks noChangeShapeType="1"/>
            </p:cNvSpPr>
            <p:nvPr/>
          </p:nvSpPr>
          <p:spPr bwMode="auto">
            <a:xfrm flipV="1">
              <a:off x="1296" y="1680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70" name="Text Box 54"/>
            <p:cNvSpPr txBox="1">
              <a:spLocks noChangeArrowheads="1"/>
            </p:cNvSpPr>
            <p:nvPr/>
          </p:nvSpPr>
          <p:spPr bwMode="auto">
            <a:xfrm>
              <a:off x="768" y="3696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Cây phân tích</a:t>
              </a:r>
            </a:p>
          </p:txBody>
        </p:sp>
      </p:grpSp>
      <p:sp>
        <p:nvSpPr>
          <p:cNvPr id="1903671" name="Text Box 55"/>
          <p:cNvSpPr txBox="1">
            <a:spLocks noChangeArrowheads="1"/>
          </p:cNvSpPr>
          <p:nvPr/>
        </p:nvSpPr>
        <p:spPr bwMode="auto">
          <a:xfrm>
            <a:off x="3429000" y="1143000"/>
            <a:ext cx="2438400" cy="528638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5 * 2 + 4</a:t>
            </a:r>
          </a:p>
        </p:txBody>
      </p:sp>
      <p:grpSp>
        <p:nvGrpSpPr>
          <p:cNvPr id="1903701" name="Group 85"/>
          <p:cNvGrpSpPr>
            <a:grpSpLocks/>
          </p:cNvGrpSpPr>
          <p:nvPr/>
        </p:nvGrpSpPr>
        <p:grpSpPr bwMode="auto">
          <a:xfrm>
            <a:off x="1143000" y="3352800"/>
            <a:ext cx="2619375" cy="2805113"/>
            <a:chOff x="3822" y="1152"/>
            <a:chExt cx="1650" cy="1767"/>
          </a:xfrm>
        </p:grpSpPr>
        <p:sp>
          <p:nvSpPr>
            <p:cNvPr id="1903677" name="Text Box 61"/>
            <p:cNvSpPr txBox="1">
              <a:spLocks noChangeArrowheads="1"/>
            </p:cNvSpPr>
            <p:nvPr/>
          </p:nvSpPr>
          <p:spPr bwMode="auto">
            <a:xfrm>
              <a:off x="4176" y="16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*</a:t>
              </a:r>
            </a:p>
          </p:txBody>
        </p:sp>
        <p:sp>
          <p:nvSpPr>
            <p:cNvPr id="1903683" name="Text Box 67"/>
            <p:cNvSpPr txBox="1">
              <a:spLocks noChangeArrowheads="1"/>
            </p:cNvSpPr>
            <p:nvPr/>
          </p:nvSpPr>
          <p:spPr bwMode="auto">
            <a:xfrm>
              <a:off x="4560" y="11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+</a:t>
              </a:r>
            </a:p>
          </p:txBody>
        </p:sp>
        <p:sp>
          <p:nvSpPr>
            <p:cNvPr id="1903686" name="Line 70"/>
            <p:cNvSpPr>
              <a:spLocks noChangeShapeType="1"/>
            </p:cNvSpPr>
            <p:nvPr/>
          </p:nvSpPr>
          <p:spPr bwMode="auto">
            <a:xfrm>
              <a:off x="4809" y="1404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87" name="Line 71"/>
            <p:cNvSpPr>
              <a:spLocks noChangeShapeType="1"/>
            </p:cNvSpPr>
            <p:nvPr/>
          </p:nvSpPr>
          <p:spPr bwMode="auto">
            <a:xfrm flipH="1">
              <a:off x="4416" y="1413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88" name="Line 72"/>
            <p:cNvSpPr>
              <a:spLocks noChangeShapeType="1"/>
            </p:cNvSpPr>
            <p:nvPr/>
          </p:nvSpPr>
          <p:spPr bwMode="auto">
            <a:xfrm flipH="1">
              <a:off x="3984" y="1893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89" name="Line 73"/>
            <p:cNvSpPr>
              <a:spLocks noChangeShapeType="1"/>
            </p:cNvSpPr>
            <p:nvPr/>
          </p:nvSpPr>
          <p:spPr bwMode="auto">
            <a:xfrm>
              <a:off x="4485" y="1872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3690" name="Text Box 74"/>
            <p:cNvSpPr txBox="1">
              <a:spLocks noChangeArrowheads="1"/>
            </p:cNvSpPr>
            <p:nvPr/>
          </p:nvSpPr>
          <p:spPr bwMode="auto">
            <a:xfrm>
              <a:off x="4992" y="158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4</a:t>
              </a:r>
            </a:p>
          </p:txBody>
        </p:sp>
        <p:sp>
          <p:nvSpPr>
            <p:cNvPr id="1903692" name="Text Box 76"/>
            <p:cNvSpPr txBox="1">
              <a:spLocks noChangeArrowheads="1"/>
            </p:cNvSpPr>
            <p:nvPr/>
          </p:nvSpPr>
          <p:spPr bwMode="auto">
            <a:xfrm>
              <a:off x="3822" y="216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5</a:t>
              </a:r>
            </a:p>
          </p:txBody>
        </p:sp>
        <p:sp>
          <p:nvSpPr>
            <p:cNvPr id="1903693" name="Text Box 77"/>
            <p:cNvSpPr txBox="1">
              <a:spLocks noChangeArrowheads="1"/>
            </p:cNvSpPr>
            <p:nvPr/>
          </p:nvSpPr>
          <p:spPr bwMode="auto">
            <a:xfrm>
              <a:off x="4608" y="2169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2</a:t>
              </a:r>
            </a:p>
          </p:txBody>
        </p:sp>
        <p:sp>
          <p:nvSpPr>
            <p:cNvPr id="1903700" name="Text Box 84"/>
            <p:cNvSpPr txBox="1">
              <a:spLocks noChangeArrowheads="1"/>
            </p:cNvSpPr>
            <p:nvPr/>
          </p:nvSpPr>
          <p:spPr bwMode="auto">
            <a:xfrm>
              <a:off x="3936" y="2592"/>
              <a:ext cx="15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Cây cú pháp</a:t>
              </a:r>
            </a:p>
          </p:txBody>
        </p:sp>
      </p:grpSp>
      <p:sp>
        <p:nvSpPr>
          <p:cNvPr id="1903702" name="Text Box 86"/>
          <p:cNvSpPr txBox="1">
            <a:spLocks noChangeArrowheads="1"/>
          </p:cNvSpPr>
          <p:nvPr/>
        </p:nvSpPr>
        <p:spPr bwMode="auto">
          <a:xfrm>
            <a:off x="304800" y="990600"/>
            <a:ext cx="2743200" cy="18081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25000"/>
              </a:spcBef>
            </a:pPr>
            <a:r>
              <a:rPr lang="en-US" altLang="en-US" sz="3200" b="0">
                <a:solidFill>
                  <a:srgbClr val="270076"/>
                </a:solidFill>
              </a:rPr>
              <a:t>E</a:t>
            </a:r>
            <a:r>
              <a:rPr lang="en-US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 E+T | T</a:t>
            </a:r>
          </a:p>
          <a:p>
            <a:pPr algn="l">
              <a:spcBef>
                <a:spcPct val="25000"/>
              </a:spcBef>
            </a:pPr>
            <a:r>
              <a:rPr lang="en-US" altLang="en-US" sz="3200" b="0">
                <a:solidFill>
                  <a:srgbClr val="270076"/>
                </a:solidFill>
              </a:rPr>
              <a:t>T</a:t>
            </a:r>
            <a:r>
              <a:rPr lang="en-US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 T*F | F</a:t>
            </a:r>
          </a:p>
          <a:p>
            <a:pPr algn="l">
              <a:spcBef>
                <a:spcPct val="25000"/>
              </a:spcBef>
            </a:pPr>
            <a:r>
              <a:rPr lang="en-US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F (E) | num</a:t>
            </a:r>
            <a:endParaRPr lang="fr-FR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0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39C169-1739-4BC9-B7FB-2E7FD5D818DE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901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2667000"/>
          </a:xfrm>
          <a:noFill/>
        </p:spPr>
        <p:txBody>
          <a:bodyPr lIns="0" rIns="0"/>
          <a:lstStyle/>
          <a:p>
            <a:pPr marL="536575" indent="-536575">
              <a:lnSpc>
                <a:spcPct val="120000"/>
              </a:lnSpc>
            </a:pPr>
            <a:r>
              <a:rPr lang="en-US" altLang="en-US"/>
              <a:t>Các ký hiệu không kết thúc có thuộc tính tổng hợp </a:t>
            </a:r>
            <a:r>
              <a:rPr lang="en-US" altLang="en-US" b="1" i="1">
                <a:solidFill>
                  <a:srgbClr val="2C1EDC"/>
                </a:solidFill>
              </a:rPr>
              <a:t>link</a:t>
            </a:r>
            <a:r>
              <a:rPr lang="en-US" altLang="en-US"/>
              <a:t> để lưu con trỏ, trỏ tới một nút trên cây cú pháp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en-US"/>
              <a:t>Sử dụng các hàm</a:t>
            </a:r>
          </a:p>
        </p:txBody>
      </p:sp>
      <p:sp>
        <p:nvSpPr>
          <p:cNvPr id="19015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Xây dựng cây cú pháp </a:t>
            </a:r>
            <a:r>
              <a:rPr lang="en-US" altLang="en-US">
                <a:sym typeface="Symbol" panose="05050102010706020507" pitchFamily="18" charset="2"/>
              </a:rPr>
              <a:t>cho biểu thức</a:t>
            </a:r>
          </a:p>
        </p:txBody>
      </p:sp>
      <p:sp>
        <p:nvSpPr>
          <p:cNvPr id="19015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pSp>
        <p:nvGrpSpPr>
          <p:cNvPr id="1901613" name="Group 45"/>
          <p:cNvGrpSpPr>
            <a:grpSpLocks/>
          </p:cNvGrpSpPr>
          <p:nvPr/>
        </p:nvGrpSpPr>
        <p:grpSpPr bwMode="auto">
          <a:xfrm>
            <a:off x="838200" y="3733800"/>
            <a:ext cx="3962400" cy="2128838"/>
            <a:chOff x="528" y="2352"/>
            <a:chExt cx="2496" cy="1341"/>
          </a:xfrm>
        </p:grpSpPr>
        <p:sp>
          <p:nvSpPr>
            <p:cNvPr id="1901598" name="Text Box 30"/>
            <p:cNvSpPr txBox="1">
              <a:spLocks noChangeArrowheads="1"/>
            </p:cNvSpPr>
            <p:nvPr/>
          </p:nvSpPr>
          <p:spPr bwMode="auto">
            <a:xfrm>
              <a:off x="528" y="2352"/>
              <a:ext cx="2496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ptr = mkLeaf(Num)</a:t>
              </a:r>
              <a:endParaRPr lang="fr-FR" altLang="en-US" sz="2800"/>
            </a:p>
          </p:txBody>
        </p:sp>
        <p:grpSp>
          <p:nvGrpSpPr>
            <p:cNvPr id="1901612" name="Group 44"/>
            <p:cNvGrpSpPr>
              <a:grpSpLocks/>
            </p:cNvGrpSpPr>
            <p:nvPr/>
          </p:nvGrpSpPr>
          <p:grpSpPr bwMode="auto">
            <a:xfrm>
              <a:off x="912" y="2841"/>
              <a:ext cx="1056" cy="852"/>
              <a:chOff x="912" y="2841"/>
              <a:chExt cx="1056" cy="852"/>
            </a:xfrm>
          </p:grpSpPr>
          <p:sp>
            <p:nvSpPr>
              <p:cNvPr id="1901600" name="Text Box 32"/>
              <p:cNvSpPr txBox="1">
                <a:spLocks noChangeArrowheads="1"/>
              </p:cNvSpPr>
              <p:nvPr/>
            </p:nvSpPr>
            <p:spPr bwMode="auto">
              <a:xfrm>
                <a:off x="1200" y="3360"/>
                <a:ext cx="768" cy="333"/>
              </a:xfrm>
              <a:prstGeom prst="rect">
                <a:avLst/>
              </a:prstGeom>
              <a:noFill/>
              <a:ln w="9525">
                <a:solidFill>
                  <a:srgbClr val="2C1ED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C1EDC"/>
                    </a:solidFill>
                  </a:rPr>
                  <a:t>Num</a:t>
                </a:r>
              </a:p>
            </p:txBody>
          </p:sp>
          <p:sp>
            <p:nvSpPr>
              <p:cNvPr id="1901601" name="Line 33"/>
              <p:cNvSpPr>
                <a:spLocks noChangeShapeType="1"/>
              </p:cNvSpPr>
              <p:nvPr/>
            </p:nvSpPr>
            <p:spPr bwMode="auto">
              <a:xfrm>
                <a:off x="1248" y="3120"/>
                <a:ext cx="336" cy="240"/>
              </a:xfrm>
              <a:prstGeom prst="line">
                <a:avLst/>
              </a:prstGeom>
              <a:noFill/>
              <a:ln w="38100">
                <a:solidFill>
                  <a:srgbClr val="2C1ED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02" name="Text Box 34"/>
              <p:cNvSpPr txBox="1">
                <a:spLocks noChangeArrowheads="1"/>
              </p:cNvSpPr>
              <p:nvPr/>
            </p:nvSpPr>
            <p:spPr bwMode="auto">
              <a:xfrm>
                <a:off x="912" y="2841"/>
                <a:ext cx="6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70076"/>
                    </a:solidFill>
                  </a:rPr>
                  <a:t>ptr</a:t>
                </a:r>
              </a:p>
            </p:txBody>
          </p:sp>
        </p:grpSp>
      </p:grpSp>
      <p:grpSp>
        <p:nvGrpSpPr>
          <p:cNvPr id="1901614" name="Group 46"/>
          <p:cNvGrpSpPr>
            <a:grpSpLocks/>
          </p:cNvGrpSpPr>
          <p:nvPr/>
        </p:nvGrpSpPr>
        <p:grpSpPr bwMode="auto">
          <a:xfrm>
            <a:off x="4419600" y="3733800"/>
            <a:ext cx="4191000" cy="2728913"/>
            <a:chOff x="2784" y="2352"/>
            <a:chExt cx="2640" cy="1719"/>
          </a:xfrm>
        </p:grpSpPr>
        <p:sp>
          <p:nvSpPr>
            <p:cNvPr id="1901599" name="Text Box 31"/>
            <p:cNvSpPr txBox="1">
              <a:spLocks noChangeArrowheads="1"/>
            </p:cNvSpPr>
            <p:nvPr/>
          </p:nvSpPr>
          <p:spPr bwMode="auto">
            <a:xfrm>
              <a:off x="2784" y="2352"/>
              <a:ext cx="2448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ptr = mkNode(op, L, R)</a:t>
              </a:r>
              <a:endParaRPr lang="fr-FR" altLang="en-US" sz="2800"/>
            </a:p>
          </p:txBody>
        </p:sp>
        <p:grpSp>
          <p:nvGrpSpPr>
            <p:cNvPr id="1901611" name="Group 43"/>
            <p:cNvGrpSpPr>
              <a:grpSpLocks/>
            </p:cNvGrpSpPr>
            <p:nvPr/>
          </p:nvGrpSpPr>
          <p:grpSpPr bwMode="auto">
            <a:xfrm>
              <a:off x="3840" y="2688"/>
              <a:ext cx="1584" cy="1383"/>
              <a:chOff x="3744" y="2784"/>
              <a:chExt cx="1584" cy="1383"/>
            </a:xfrm>
          </p:grpSpPr>
          <p:sp>
            <p:nvSpPr>
              <p:cNvPr id="1901603" name="Text Box 35"/>
              <p:cNvSpPr txBox="1">
                <a:spLocks noChangeArrowheads="1"/>
              </p:cNvSpPr>
              <p:nvPr/>
            </p:nvSpPr>
            <p:spPr bwMode="auto">
              <a:xfrm>
                <a:off x="4224" y="3303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C1ED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C1EDC"/>
                    </a:solidFill>
                  </a:rPr>
                  <a:t>op</a:t>
                </a:r>
              </a:p>
            </p:txBody>
          </p:sp>
          <p:sp>
            <p:nvSpPr>
              <p:cNvPr id="1901604" name="Line 36"/>
              <p:cNvSpPr>
                <a:spLocks noChangeShapeType="1"/>
              </p:cNvSpPr>
              <p:nvPr/>
            </p:nvSpPr>
            <p:spPr bwMode="auto">
              <a:xfrm>
                <a:off x="4128" y="3063"/>
                <a:ext cx="336" cy="240"/>
              </a:xfrm>
              <a:prstGeom prst="line">
                <a:avLst/>
              </a:prstGeom>
              <a:noFill/>
              <a:ln w="38100">
                <a:solidFill>
                  <a:srgbClr val="2C1ED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05" name="Text Box 37"/>
              <p:cNvSpPr txBox="1">
                <a:spLocks noChangeArrowheads="1"/>
              </p:cNvSpPr>
              <p:nvPr/>
            </p:nvSpPr>
            <p:spPr bwMode="auto">
              <a:xfrm>
                <a:off x="3792" y="2784"/>
                <a:ext cx="6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70076"/>
                    </a:solidFill>
                  </a:rPr>
                  <a:t>ptr</a:t>
                </a:r>
              </a:p>
            </p:txBody>
          </p:sp>
          <p:sp>
            <p:nvSpPr>
              <p:cNvPr id="1901606" name="Line 38"/>
              <p:cNvSpPr>
                <a:spLocks noChangeShapeType="1"/>
              </p:cNvSpPr>
              <p:nvPr/>
            </p:nvSpPr>
            <p:spPr bwMode="auto">
              <a:xfrm flipH="1">
                <a:off x="3744" y="3591"/>
                <a:ext cx="576" cy="384"/>
              </a:xfrm>
              <a:prstGeom prst="line">
                <a:avLst/>
              </a:prstGeom>
              <a:noFill/>
              <a:ln w="38100">
                <a:solidFill>
                  <a:srgbClr val="2C1ED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07" name="Line 39"/>
              <p:cNvSpPr>
                <a:spLocks noChangeShapeType="1"/>
              </p:cNvSpPr>
              <p:nvPr/>
            </p:nvSpPr>
            <p:spPr bwMode="auto">
              <a:xfrm>
                <a:off x="4704" y="3591"/>
                <a:ext cx="624" cy="432"/>
              </a:xfrm>
              <a:prstGeom prst="line">
                <a:avLst/>
              </a:prstGeom>
              <a:noFill/>
              <a:ln w="38100">
                <a:solidFill>
                  <a:srgbClr val="2C1ED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08" name="Text Box 40"/>
              <p:cNvSpPr txBox="1">
                <a:spLocks noChangeArrowheads="1"/>
              </p:cNvSpPr>
              <p:nvPr/>
            </p:nvSpPr>
            <p:spPr bwMode="auto">
              <a:xfrm>
                <a:off x="3840" y="3840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70076"/>
                    </a:solidFill>
                  </a:rPr>
                  <a:t>L</a:t>
                </a:r>
              </a:p>
            </p:txBody>
          </p:sp>
          <p:sp>
            <p:nvSpPr>
              <p:cNvPr id="1901609" name="Text Box 41"/>
              <p:cNvSpPr txBox="1">
                <a:spLocks noChangeArrowheads="1"/>
              </p:cNvSpPr>
              <p:nvPr/>
            </p:nvSpPr>
            <p:spPr bwMode="auto">
              <a:xfrm>
                <a:off x="4896" y="3831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>
                    <a:solidFill>
                      <a:srgbClr val="270076"/>
                    </a:solidFill>
                  </a:rPr>
                  <a:t>R</a:t>
                </a:r>
              </a:p>
            </p:txBody>
          </p:sp>
          <p:sp>
            <p:nvSpPr>
              <p:cNvPr id="1901610" name="Oval 42"/>
              <p:cNvSpPr>
                <a:spLocks noChangeArrowheads="1"/>
              </p:cNvSpPr>
              <p:nvPr/>
            </p:nvSpPr>
            <p:spPr bwMode="auto">
              <a:xfrm>
                <a:off x="4320" y="3312"/>
                <a:ext cx="384" cy="336"/>
              </a:xfrm>
              <a:prstGeom prst="ellipse">
                <a:avLst/>
              </a:prstGeom>
              <a:noFill/>
              <a:ln w="28575">
                <a:solidFill>
                  <a:srgbClr val="2C1ED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0ACEE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0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0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FF93F3-407B-456F-A43E-36E76B97271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9056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Cây cú pháp (Syntax tree)</a:t>
            </a:r>
          </a:p>
        </p:txBody>
      </p:sp>
      <p:sp>
        <p:nvSpPr>
          <p:cNvPr id="19056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905725" name="Group 61"/>
          <p:cNvGraphicFramePr>
            <a:graphicFrameLocks noGrp="1"/>
          </p:cNvGraphicFramePr>
          <p:nvPr>
            <p:ph idx="1"/>
          </p:nvPr>
        </p:nvGraphicFramePr>
        <p:xfrm>
          <a:off x="304800" y="1447800"/>
          <a:ext cx="8496300" cy="4989957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Luật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+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E.link 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:=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mkNode(+,E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.link,T.link)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E.link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:=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T.link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*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T.link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:=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mkNode(*,T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.link,F.link)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T.link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:=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F.link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F.link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:=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E.link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F.link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:=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mkLeaf(num)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Cây cú pháp được xây dựng từ dưới lên trên</a:t>
                      </a:r>
                    </a:p>
                    <a:p>
                      <a:pPr marL="742950" marR="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Sau khi phân tích xong một sản xuất mới gọi luật ngữ nghĩa tương ứng (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duyệt thứ tự sau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F302C-7805-4FEA-A893-BC8AA7AC682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9077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Xây dựng cây cú pháp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Ví dụ</a:t>
            </a:r>
          </a:p>
        </p:txBody>
      </p:sp>
      <p:sp>
        <p:nvSpPr>
          <p:cNvPr id="190771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pSp>
        <p:nvGrpSpPr>
          <p:cNvPr id="1907784" name="Group 72"/>
          <p:cNvGrpSpPr>
            <a:grpSpLocks/>
          </p:cNvGrpSpPr>
          <p:nvPr/>
        </p:nvGrpSpPr>
        <p:grpSpPr bwMode="auto">
          <a:xfrm>
            <a:off x="733425" y="4595813"/>
            <a:ext cx="609600" cy="838200"/>
            <a:chOff x="462" y="2895"/>
            <a:chExt cx="384" cy="528"/>
          </a:xfrm>
        </p:grpSpPr>
        <p:sp>
          <p:nvSpPr>
            <p:cNvPr id="1907718" name="Text Box 6"/>
            <p:cNvSpPr txBox="1">
              <a:spLocks noChangeArrowheads="1"/>
            </p:cNvSpPr>
            <p:nvPr/>
          </p:nvSpPr>
          <p:spPr bwMode="auto">
            <a:xfrm>
              <a:off x="462" y="309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5</a:t>
              </a:r>
            </a:p>
          </p:txBody>
        </p:sp>
        <p:sp>
          <p:nvSpPr>
            <p:cNvPr id="1907719" name="Line 7"/>
            <p:cNvSpPr>
              <a:spLocks noChangeShapeType="1"/>
            </p:cNvSpPr>
            <p:nvPr/>
          </p:nvSpPr>
          <p:spPr bwMode="auto">
            <a:xfrm flipV="1">
              <a:off x="642" y="2895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7787" name="Group 75"/>
          <p:cNvGrpSpPr>
            <a:grpSpLocks/>
          </p:cNvGrpSpPr>
          <p:nvPr/>
        </p:nvGrpSpPr>
        <p:grpSpPr bwMode="auto">
          <a:xfrm>
            <a:off x="4114800" y="3933825"/>
            <a:ext cx="609600" cy="928688"/>
            <a:chOff x="2592" y="2478"/>
            <a:chExt cx="384" cy="585"/>
          </a:xfrm>
        </p:grpSpPr>
        <p:sp>
          <p:nvSpPr>
            <p:cNvPr id="1907723" name="Text Box 11"/>
            <p:cNvSpPr txBox="1">
              <a:spLocks noChangeArrowheads="1"/>
            </p:cNvSpPr>
            <p:nvPr/>
          </p:nvSpPr>
          <p:spPr bwMode="auto">
            <a:xfrm>
              <a:off x="2592" y="27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2</a:t>
              </a:r>
            </a:p>
          </p:txBody>
        </p:sp>
        <p:sp>
          <p:nvSpPr>
            <p:cNvPr id="1907724" name="Line 12"/>
            <p:cNvSpPr>
              <a:spLocks noChangeShapeType="1"/>
            </p:cNvSpPr>
            <p:nvPr/>
          </p:nvSpPr>
          <p:spPr bwMode="auto">
            <a:xfrm flipV="1">
              <a:off x="2772" y="2478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7788" name="Group 76"/>
          <p:cNvGrpSpPr>
            <a:grpSpLocks/>
          </p:cNvGrpSpPr>
          <p:nvPr/>
        </p:nvGrpSpPr>
        <p:grpSpPr bwMode="auto">
          <a:xfrm>
            <a:off x="762000" y="3152775"/>
            <a:ext cx="3962400" cy="885825"/>
            <a:chOff x="480" y="1986"/>
            <a:chExt cx="2496" cy="558"/>
          </a:xfrm>
        </p:grpSpPr>
        <p:sp>
          <p:nvSpPr>
            <p:cNvPr id="1907721" name="Text Box 9"/>
            <p:cNvSpPr txBox="1">
              <a:spLocks noChangeArrowheads="1"/>
            </p:cNvSpPr>
            <p:nvPr/>
          </p:nvSpPr>
          <p:spPr bwMode="auto">
            <a:xfrm>
              <a:off x="1536" y="221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*</a:t>
              </a:r>
            </a:p>
          </p:txBody>
        </p:sp>
        <p:sp>
          <p:nvSpPr>
            <p:cNvPr id="1907722" name="Line 10"/>
            <p:cNvSpPr>
              <a:spLocks noChangeShapeType="1"/>
            </p:cNvSpPr>
            <p:nvPr/>
          </p:nvSpPr>
          <p:spPr bwMode="auto">
            <a:xfrm flipV="1">
              <a:off x="1725" y="2004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1" name="Line 19"/>
            <p:cNvSpPr>
              <a:spLocks noChangeShapeType="1"/>
            </p:cNvSpPr>
            <p:nvPr/>
          </p:nvSpPr>
          <p:spPr bwMode="auto">
            <a:xfrm flipH="1">
              <a:off x="768" y="2007"/>
              <a:ext cx="861" cy="15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2" name="Line 20"/>
            <p:cNvSpPr>
              <a:spLocks noChangeShapeType="1"/>
            </p:cNvSpPr>
            <p:nvPr/>
          </p:nvSpPr>
          <p:spPr bwMode="auto">
            <a:xfrm>
              <a:off x="1842" y="1986"/>
              <a:ext cx="846" cy="17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5" name="Text Box 23"/>
            <p:cNvSpPr txBox="1">
              <a:spLocks noChangeArrowheads="1"/>
            </p:cNvSpPr>
            <p:nvPr/>
          </p:nvSpPr>
          <p:spPr bwMode="auto">
            <a:xfrm>
              <a:off x="480" y="211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7736" name="Text Box 24"/>
            <p:cNvSpPr txBox="1">
              <a:spLocks noChangeArrowheads="1"/>
            </p:cNvSpPr>
            <p:nvPr/>
          </p:nvSpPr>
          <p:spPr bwMode="auto">
            <a:xfrm>
              <a:off x="2592" y="216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</p:grpSp>
      <p:grpSp>
        <p:nvGrpSpPr>
          <p:cNvPr id="1907783" name="Group 71"/>
          <p:cNvGrpSpPr>
            <a:grpSpLocks/>
          </p:cNvGrpSpPr>
          <p:nvPr/>
        </p:nvGrpSpPr>
        <p:grpSpPr bwMode="auto">
          <a:xfrm>
            <a:off x="714375" y="3881438"/>
            <a:ext cx="609600" cy="823912"/>
            <a:chOff x="450" y="2445"/>
            <a:chExt cx="384" cy="519"/>
          </a:xfrm>
        </p:grpSpPr>
        <p:sp>
          <p:nvSpPr>
            <p:cNvPr id="1907717" name="Text Box 5"/>
            <p:cNvSpPr txBox="1">
              <a:spLocks noChangeArrowheads="1"/>
            </p:cNvSpPr>
            <p:nvPr/>
          </p:nvSpPr>
          <p:spPr bwMode="auto">
            <a:xfrm>
              <a:off x="450" y="263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  <p:sp>
          <p:nvSpPr>
            <p:cNvPr id="1907737" name="Line 25"/>
            <p:cNvSpPr>
              <a:spLocks noChangeShapeType="1"/>
            </p:cNvSpPr>
            <p:nvPr/>
          </p:nvSpPr>
          <p:spPr bwMode="auto">
            <a:xfrm flipV="1">
              <a:off x="642" y="2445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7792" name="Group 80"/>
          <p:cNvGrpSpPr>
            <a:grpSpLocks/>
          </p:cNvGrpSpPr>
          <p:nvPr/>
        </p:nvGrpSpPr>
        <p:grpSpPr bwMode="auto">
          <a:xfrm>
            <a:off x="7391400" y="2314575"/>
            <a:ext cx="609600" cy="871538"/>
            <a:chOff x="4656" y="1458"/>
            <a:chExt cx="384" cy="549"/>
          </a:xfrm>
        </p:grpSpPr>
        <p:sp>
          <p:nvSpPr>
            <p:cNvPr id="1907734" name="Line 22"/>
            <p:cNvSpPr>
              <a:spLocks noChangeShapeType="1"/>
            </p:cNvSpPr>
            <p:nvPr/>
          </p:nvSpPr>
          <p:spPr bwMode="auto">
            <a:xfrm flipV="1">
              <a:off x="4848" y="1458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8" name="Text Box 26"/>
            <p:cNvSpPr txBox="1">
              <a:spLocks noChangeArrowheads="1"/>
            </p:cNvSpPr>
            <p:nvPr/>
          </p:nvSpPr>
          <p:spPr bwMode="auto">
            <a:xfrm>
              <a:off x="4656" y="1680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F</a:t>
              </a:r>
            </a:p>
          </p:txBody>
        </p:sp>
      </p:grpSp>
      <p:grpSp>
        <p:nvGrpSpPr>
          <p:cNvPr id="1907793" name="Group 81"/>
          <p:cNvGrpSpPr>
            <a:grpSpLocks/>
          </p:cNvGrpSpPr>
          <p:nvPr/>
        </p:nvGrpSpPr>
        <p:grpSpPr bwMode="auto">
          <a:xfrm>
            <a:off x="7410450" y="3033713"/>
            <a:ext cx="609600" cy="871537"/>
            <a:chOff x="4668" y="1911"/>
            <a:chExt cx="384" cy="549"/>
          </a:xfrm>
        </p:grpSpPr>
        <p:sp>
          <p:nvSpPr>
            <p:cNvPr id="1907739" name="Text Box 27"/>
            <p:cNvSpPr txBox="1">
              <a:spLocks noChangeArrowheads="1"/>
            </p:cNvSpPr>
            <p:nvPr/>
          </p:nvSpPr>
          <p:spPr bwMode="auto">
            <a:xfrm>
              <a:off x="4668" y="213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4</a:t>
              </a:r>
            </a:p>
          </p:txBody>
        </p:sp>
        <p:sp>
          <p:nvSpPr>
            <p:cNvPr id="1907740" name="Line 28"/>
            <p:cNvSpPr>
              <a:spLocks noChangeShapeType="1"/>
            </p:cNvSpPr>
            <p:nvPr/>
          </p:nvSpPr>
          <p:spPr bwMode="auto">
            <a:xfrm flipV="1">
              <a:off x="4848" y="1911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7797" name="Group 85"/>
          <p:cNvGrpSpPr>
            <a:grpSpLocks/>
          </p:cNvGrpSpPr>
          <p:nvPr/>
        </p:nvGrpSpPr>
        <p:grpSpPr bwMode="auto">
          <a:xfrm>
            <a:off x="2424113" y="1066800"/>
            <a:ext cx="5576887" cy="1314450"/>
            <a:chOff x="1527" y="672"/>
            <a:chExt cx="3513" cy="828"/>
          </a:xfrm>
        </p:grpSpPr>
        <p:sp>
          <p:nvSpPr>
            <p:cNvPr id="1907726" name="Text Box 14"/>
            <p:cNvSpPr txBox="1">
              <a:spLocks noChangeArrowheads="1"/>
            </p:cNvSpPr>
            <p:nvPr/>
          </p:nvSpPr>
          <p:spPr bwMode="auto">
            <a:xfrm>
              <a:off x="3072" y="67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E</a:t>
              </a:r>
            </a:p>
          </p:txBody>
        </p:sp>
        <p:sp>
          <p:nvSpPr>
            <p:cNvPr id="1907727" name="Text Box 15"/>
            <p:cNvSpPr txBox="1">
              <a:spLocks noChangeArrowheads="1"/>
            </p:cNvSpPr>
            <p:nvPr/>
          </p:nvSpPr>
          <p:spPr bwMode="auto">
            <a:xfrm>
              <a:off x="3084" y="108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+</a:t>
              </a:r>
            </a:p>
          </p:txBody>
        </p:sp>
        <p:sp>
          <p:nvSpPr>
            <p:cNvPr id="1907728" name="Line 16"/>
            <p:cNvSpPr>
              <a:spLocks noChangeShapeType="1"/>
            </p:cNvSpPr>
            <p:nvPr/>
          </p:nvSpPr>
          <p:spPr bwMode="auto">
            <a:xfrm flipV="1">
              <a:off x="3264" y="930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29" name="Line 17"/>
            <p:cNvSpPr>
              <a:spLocks noChangeShapeType="1"/>
            </p:cNvSpPr>
            <p:nvPr/>
          </p:nvSpPr>
          <p:spPr bwMode="auto">
            <a:xfrm>
              <a:off x="3321" y="924"/>
              <a:ext cx="1479" cy="32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0" name="Line 18"/>
            <p:cNvSpPr>
              <a:spLocks noChangeShapeType="1"/>
            </p:cNvSpPr>
            <p:nvPr/>
          </p:nvSpPr>
          <p:spPr bwMode="auto">
            <a:xfrm flipH="1">
              <a:off x="1728" y="933"/>
              <a:ext cx="1488" cy="26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33" name="Text Box 21"/>
            <p:cNvSpPr txBox="1">
              <a:spLocks noChangeArrowheads="1"/>
            </p:cNvSpPr>
            <p:nvPr/>
          </p:nvSpPr>
          <p:spPr bwMode="auto">
            <a:xfrm>
              <a:off x="4656" y="117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7741" name="Text Box 29"/>
            <p:cNvSpPr txBox="1">
              <a:spLocks noChangeArrowheads="1"/>
            </p:cNvSpPr>
            <p:nvPr/>
          </p:nvSpPr>
          <p:spPr bwMode="auto">
            <a:xfrm>
              <a:off x="1527" y="11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E</a:t>
              </a:r>
            </a:p>
          </p:txBody>
        </p:sp>
      </p:grpSp>
      <p:grpSp>
        <p:nvGrpSpPr>
          <p:cNvPr id="1907781" name="Group 69"/>
          <p:cNvGrpSpPr>
            <a:grpSpLocks/>
          </p:cNvGrpSpPr>
          <p:nvPr/>
        </p:nvGrpSpPr>
        <p:grpSpPr bwMode="auto">
          <a:xfrm>
            <a:off x="2433638" y="2466975"/>
            <a:ext cx="609600" cy="823913"/>
            <a:chOff x="1533" y="1554"/>
            <a:chExt cx="384" cy="519"/>
          </a:xfrm>
        </p:grpSpPr>
        <p:sp>
          <p:nvSpPr>
            <p:cNvPr id="1907720" name="Text Box 8"/>
            <p:cNvSpPr txBox="1">
              <a:spLocks noChangeArrowheads="1"/>
            </p:cNvSpPr>
            <p:nvPr/>
          </p:nvSpPr>
          <p:spPr bwMode="auto">
            <a:xfrm>
              <a:off x="1533" y="174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T</a:t>
              </a:r>
            </a:p>
          </p:txBody>
        </p:sp>
        <p:sp>
          <p:nvSpPr>
            <p:cNvPr id="1907742" name="Line 30"/>
            <p:cNvSpPr>
              <a:spLocks noChangeShapeType="1"/>
            </p:cNvSpPr>
            <p:nvPr/>
          </p:nvSpPr>
          <p:spPr bwMode="auto">
            <a:xfrm flipV="1">
              <a:off x="1725" y="1554"/>
              <a:ext cx="0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7743" name="Text Box 31"/>
          <p:cNvSpPr txBox="1">
            <a:spLocks noChangeArrowheads="1"/>
          </p:cNvSpPr>
          <p:nvPr/>
        </p:nvSpPr>
        <p:spPr bwMode="auto">
          <a:xfrm>
            <a:off x="6019800" y="9144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Cây phân tích</a:t>
            </a:r>
          </a:p>
        </p:txBody>
      </p:sp>
      <p:sp>
        <p:nvSpPr>
          <p:cNvPr id="1907744" name="Text Box 32"/>
          <p:cNvSpPr txBox="1">
            <a:spLocks noChangeArrowheads="1"/>
          </p:cNvSpPr>
          <p:nvPr/>
        </p:nvSpPr>
        <p:spPr bwMode="auto">
          <a:xfrm>
            <a:off x="304800" y="914400"/>
            <a:ext cx="2438400" cy="528638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5 * 2 + 4</a:t>
            </a:r>
          </a:p>
        </p:txBody>
      </p:sp>
      <p:sp>
        <p:nvSpPr>
          <p:cNvPr id="1907763" name="Text Box 51"/>
          <p:cNvSpPr txBox="1">
            <a:spLocks noChangeArrowheads="1"/>
          </p:cNvSpPr>
          <p:nvPr/>
        </p:nvSpPr>
        <p:spPr bwMode="auto">
          <a:xfrm>
            <a:off x="5562600" y="5715000"/>
            <a:ext cx="609600" cy="528638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2</a:t>
            </a:r>
          </a:p>
        </p:txBody>
      </p:sp>
      <p:grpSp>
        <p:nvGrpSpPr>
          <p:cNvPr id="1907786" name="Group 74"/>
          <p:cNvGrpSpPr>
            <a:grpSpLocks/>
          </p:cNvGrpSpPr>
          <p:nvPr/>
        </p:nvGrpSpPr>
        <p:grpSpPr bwMode="auto">
          <a:xfrm>
            <a:off x="1143000" y="4495800"/>
            <a:ext cx="1219200" cy="1976438"/>
            <a:chOff x="720" y="2832"/>
            <a:chExt cx="768" cy="1245"/>
          </a:xfrm>
        </p:grpSpPr>
        <p:sp>
          <p:nvSpPr>
            <p:cNvPr id="1907757" name="Text Box 45"/>
            <p:cNvSpPr txBox="1">
              <a:spLocks noChangeArrowheads="1"/>
            </p:cNvSpPr>
            <p:nvPr/>
          </p:nvSpPr>
          <p:spPr bwMode="auto">
            <a:xfrm>
              <a:off x="1104" y="3744"/>
              <a:ext cx="384" cy="333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800" b="0">
                  <a:solidFill>
                    <a:srgbClr val="270076"/>
                  </a:solidFill>
                </a:rPr>
                <a:t>5</a:t>
              </a:r>
            </a:p>
          </p:txBody>
        </p:sp>
        <p:sp>
          <p:nvSpPr>
            <p:cNvPr id="1907765" name="Line 53"/>
            <p:cNvSpPr>
              <a:spLocks noChangeShapeType="1"/>
            </p:cNvSpPr>
            <p:nvPr/>
          </p:nvSpPr>
          <p:spPr bwMode="auto">
            <a:xfrm>
              <a:off x="720" y="2832"/>
              <a:ext cx="48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7766" name="Line 54"/>
          <p:cNvSpPr>
            <a:spLocks noChangeShapeType="1"/>
          </p:cNvSpPr>
          <p:nvPr/>
        </p:nvSpPr>
        <p:spPr bwMode="auto">
          <a:xfrm>
            <a:off x="1219200" y="3657600"/>
            <a:ext cx="914400" cy="2286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7768" name="Line 56"/>
          <p:cNvSpPr>
            <a:spLocks noChangeShapeType="1"/>
          </p:cNvSpPr>
          <p:nvPr/>
        </p:nvSpPr>
        <p:spPr bwMode="auto">
          <a:xfrm>
            <a:off x="4572000" y="3810000"/>
            <a:ext cx="1219200" cy="182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7769" name="Text Box 57"/>
          <p:cNvSpPr txBox="1">
            <a:spLocks noChangeArrowheads="1"/>
          </p:cNvSpPr>
          <p:nvPr/>
        </p:nvSpPr>
        <p:spPr bwMode="auto">
          <a:xfrm>
            <a:off x="8229600" y="4648200"/>
            <a:ext cx="609600" cy="528638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270076"/>
                </a:solidFill>
              </a:rPr>
              <a:t>4</a:t>
            </a:r>
          </a:p>
        </p:txBody>
      </p:sp>
      <p:sp>
        <p:nvSpPr>
          <p:cNvPr id="1907770" name="Line 58"/>
          <p:cNvSpPr>
            <a:spLocks noChangeShapeType="1"/>
          </p:cNvSpPr>
          <p:nvPr/>
        </p:nvSpPr>
        <p:spPr bwMode="auto">
          <a:xfrm>
            <a:off x="7924800" y="2971800"/>
            <a:ext cx="68580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7771" name="Line 59"/>
          <p:cNvSpPr>
            <a:spLocks noChangeShapeType="1"/>
          </p:cNvSpPr>
          <p:nvPr/>
        </p:nvSpPr>
        <p:spPr bwMode="auto">
          <a:xfrm>
            <a:off x="2895600" y="2438400"/>
            <a:ext cx="457200" cy="182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7772" name="Line 60"/>
          <p:cNvSpPr>
            <a:spLocks noChangeShapeType="1"/>
          </p:cNvSpPr>
          <p:nvPr/>
        </p:nvSpPr>
        <p:spPr bwMode="auto">
          <a:xfrm>
            <a:off x="2819400" y="3048000"/>
            <a:ext cx="3810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07791" name="Group 79"/>
          <p:cNvGrpSpPr>
            <a:grpSpLocks/>
          </p:cNvGrpSpPr>
          <p:nvPr/>
        </p:nvGrpSpPr>
        <p:grpSpPr bwMode="auto">
          <a:xfrm>
            <a:off x="2286000" y="4343400"/>
            <a:ext cx="3124200" cy="1600200"/>
            <a:chOff x="1440" y="2736"/>
            <a:chExt cx="1968" cy="1008"/>
          </a:xfrm>
        </p:grpSpPr>
        <p:grpSp>
          <p:nvGrpSpPr>
            <p:cNvPr id="1907762" name="Group 50"/>
            <p:cNvGrpSpPr>
              <a:grpSpLocks/>
            </p:cNvGrpSpPr>
            <p:nvPr/>
          </p:nvGrpSpPr>
          <p:grpSpPr bwMode="auto">
            <a:xfrm>
              <a:off x="1872" y="2736"/>
              <a:ext cx="432" cy="384"/>
              <a:chOff x="1680" y="2928"/>
              <a:chExt cx="432" cy="384"/>
            </a:xfrm>
          </p:grpSpPr>
          <p:sp>
            <p:nvSpPr>
              <p:cNvPr id="1907758" name="Text Box 46"/>
              <p:cNvSpPr txBox="1">
                <a:spLocks noChangeArrowheads="1"/>
              </p:cNvSpPr>
              <p:nvPr/>
            </p:nvSpPr>
            <p:spPr bwMode="auto">
              <a:xfrm>
                <a:off x="1728" y="297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800" b="0">
                    <a:solidFill>
                      <a:srgbClr val="270076"/>
                    </a:solidFill>
                  </a:rPr>
                  <a:t>*</a:t>
                </a:r>
              </a:p>
            </p:txBody>
          </p:sp>
          <p:sp>
            <p:nvSpPr>
              <p:cNvPr id="1907760" name="Oval 48"/>
              <p:cNvSpPr>
                <a:spLocks noChangeArrowheads="1"/>
              </p:cNvSpPr>
              <p:nvPr/>
            </p:nvSpPr>
            <p:spPr bwMode="auto">
              <a:xfrm>
                <a:off x="1680" y="2928"/>
                <a:ext cx="432" cy="384"/>
              </a:xfrm>
              <a:prstGeom prst="ellipse">
                <a:avLst/>
              </a:prstGeom>
              <a:noFill/>
              <a:ln w="28575">
                <a:solidFill>
                  <a:srgbClr val="2C1ED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07773" name="Line 61"/>
            <p:cNvSpPr>
              <a:spLocks noChangeShapeType="1"/>
            </p:cNvSpPr>
            <p:nvPr/>
          </p:nvSpPr>
          <p:spPr bwMode="auto">
            <a:xfrm flipH="1">
              <a:off x="1440" y="3072"/>
              <a:ext cx="528" cy="672"/>
            </a:xfrm>
            <a:prstGeom prst="line">
              <a:avLst/>
            </a:prstGeom>
            <a:noFill/>
            <a:ln w="28575">
              <a:solidFill>
                <a:srgbClr val="2C1ED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74" name="Line 62"/>
            <p:cNvSpPr>
              <a:spLocks noChangeShapeType="1"/>
            </p:cNvSpPr>
            <p:nvPr/>
          </p:nvSpPr>
          <p:spPr bwMode="auto">
            <a:xfrm>
              <a:off x="2256" y="3072"/>
              <a:ext cx="1152" cy="624"/>
            </a:xfrm>
            <a:prstGeom prst="line">
              <a:avLst/>
            </a:prstGeom>
            <a:noFill/>
            <a:ln w="28575">
              <a:solidFill>
                <a:srgbClr val="2C1ED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7775" name="Line 63"/>
          <p:cNvSpPr>
            <a:spLocks noChangeShapeType="1"/>
          </p:cNvSpPr>
          <p:nvPr/>
        </p:nvSpPr>
        <p:spPr bwMode="auto">
          <a:xfrm>
            <a:off x="5334000" y="1600200"/>
            <a:ext cx="99060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7776" name="Line 64"/>
          <p:cNvSpPr>
            <a:spLocks noChangeShapeType="1"/>
          </p:cNvSpPr>
          <p:nvPr/>
        </p:nvSpPr>
        <p:spPr bwMode="auto">
          <a:xfrm>
            <a:off x="7772400" y="2133600"/>
            <a:ext cx="838200" cy="2438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07796" name="Group 84"/>
          <p:cNvGrpSpPr>
            <a:grpSpLocks/>
          </p:cNvGrpSpPr>
          <p:nvPr/>
        </p:nvGrpSpPr>
        <p:grpSpPr bwMode="auto">
          <a:xfrm>
            <a:off x="3733800" y="3124200"/>
            <a:ext cx="4495800" cy="1524000"/>
            <a:chOff x="2352" y="1968"/>
            <a:chExt cx="2832" cy="960"/>
          </a:xfrm>
        </p:grpSpPr>
        <p:grpSp>
          <p:nvGrpSpPr>
            <p:cNvPr id="1907764" name="Group 52"/>
            <p:cNvGrpSpPr>
              <a:grpSpLocks/>
            </p:cNvGrpSpPr>
            <p:nvPr/>
          </p:nvGrpSpPr>
          <p:grpSpPr bwMode="auto">
            <a:xfrm>
              <a:off x="3840" y="1968"/>
              <a:ext cx="432" cy="384"/>
              <a:chOff x="3840" y="2544"/>
              <a:chExt cx="432" cy="384"/>
            </a:xfrm>
          </p:grpSpPr>
          <p:sp>
            <p:nvSpPr>
              <p:cNvPr id="1907759" name="Oval 47"/>
              <p:cNvSpPr>
                <a:spLocks noChangeArrowheads="1"/>
              </p:cNvSpPr>
              <p:nvPr/>
            </p:nvSpPr>
            <p:spPr bwMode="auto">
              <a:xfrm>
                <a:off x="3840" y="2544"/>
                <a:ext cx="432" cy="384"/>
              </a:xfrm>
              <a:prstGeom prst="ellipse">
                <a:avLst/>
              </a:prstGeom>
              <a:noFill/>
              <a:ln w="28575">
                <a:solidFill>
                  <a:srgbClr val="2C1ED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07761" name="Text Box 49"/>
              <p:cNvSpPr txBox="1">
                <a:spLocks noChangeArrowheads="1"/>
              </p:cNvSpPr>
              <p:nvPr/>
            </p:nvSpPr>
            <p:spPr bwMode="auto">
              <a:xfrm>
                <a:off x="3867" y="257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800" b="0">
                    <a:solidFill>
                      <a:srgbClr val="270076"/>
                    </a:solidFill>
                  </a:rPr>
                  <a:t>+</a:t>
                </a:r>
              </a:p>
            </p:txBody>
          </p:sp>
        </p:grpSp>
        <p:sp>
          <p:nvSpPr>
            <p:cNvPr id="1907777" name="Line 65"/>
            <p:cNvSpPr>
              <a:spLocks noChangeShapeType="1"/>
            </p:cNvSpPr>
            <p:nvPr/>
          </p:nvSpPr>
          <p:spPr bwMode="auto">
            <a:xfrm>
              <a:off x="4272" y="2304"/>
              <a:ext cx="912" cy="624"/>
            </a:xfrm>
            <a:prstGeom prst="line">
              <a:avLst/>
            </a:prstGeom>
            <a:noFill/>
            <a:ln w="28575">
              <a:solidFill>
                <a:srgbClr val="2C1ED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7778" name="Line 66"/>
            <p:cNvSpPr>
              <a:spLocks noChangeShapeType="1"/>
            </p:cNvSpPr>
            <p:nvPr/>
          </p:nvSpPr>
          <p:spPr bwMode="auto">
            <a:xfrm flipH="1">
              <a:off x="2352" y="2304"/>
              <a:ext cx="1536" cy="480"/>
            </a:xfrm>
            <a:prstGeom prst="line">
              <a:avLst/>
            </a:prstGeom>
            <a:noFill/>
            <a:ln w="28575">
              <a:solidFill>
                <a:srgbClr val="2C1ED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7785" name="Text Box 73"/>
          <p:cNvSpPr txBox="1">
            <a:spLocks noChangeArrowheads="1"/>
          </p:cNvSpPr>
          <p:nvPr/>
        </p:nvSpPr>
        <p:spPr bwMode="auto">
          <a:xfrm>
            <a:off x="2590800" y="61722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>
                <a:solidFill>
                  <a:srgbClr val="270076"/>
                </a:solidFill>
              </a:rPr>
              <a:t>F.Link =mkLeaf(5)</a:t>
            </a:r>
          </a:p>
        </p:txBody>
      </p:sp>
      <p:sp>
        <p:nvSpPr>
          <p:cNvPr id="1907789" name="Text Box 77"/>
          <p:cNvSpPr txBox="1">
            <a:spLocks noChangeArrowheads="1"/>
          </p:cNvSpPr>
          <p:nvPr/>
        </p:nvSpPr>
        <p:spPr bwMode="auto">
          <a:xfrm>
            <a:off x="5791200" y="61722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>
                <a:solidFill>
                  <a:srgbClr val="270076"/>
                </a:solidFill>
              </a:rPr>
              <a:t>F.Link =mkLeaf(2)</a:t>
            </a:r>
          </a:p>
        </p:txBody>
      </p:sp>
      <p:sp>
        <p:nvSpPr>
          <p:cNvPr id="1907790" name="Text Box 78"/>
          <p:cNvSpPr txBox="1">
            <a:spLocks noChangeArrowheads="1"/>
          </p:cNvSpPr>
          <p:nvPr/>
        </p:nvSpPr>
        <p:spPr bwMode="auto">
          <a:xfrm>
            <a:off x="2438400" y="61722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>
                <a:solidFill>
                  <a:srgbClr val="270076"/>
                </a:solidFill>
              </a:rPr>
              <a:t>T.Link =mkNode(*,T1.Link,F.Link)</a:t>
            </a:r>
          </a:p>
        </p:txBody>
      </p:sp>
      <p:sp>
        <p:nvSpPr>
          <p:cNvPr id="1907794" name="Text Box 82"/>
          <p:cNvSpPr txBox="1">
            <a:spLocks noChangeArrowheads="1"/>
          </p:cNvSpPr>
          <p:nvPr/>
        </p:nvSpPr>
        <p:spPr bwMode="auto">
          <a:xfrm>
            <a:off x="6172200" y="52578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>
                <a:solidFill>
                  <a:srgbClr val="270076"/>
                </a:solidFill>
              </a:rPr>
              <a:t>F.Link =mkLeaf(4)</a:t>
            </a:r>
          </a:p>
        </p:txBody>
      </p:sp>
      <p:sp>
        <p:nvSpPr>
          <p:cNvPr id="1907795" name="Text Box 83"/>
          <p:cNvSpPr txBox="1">
            <a:spLocks noChangeArrowheads="1"/>
          </p:cNvSpPr>
          <p:nvPr/>
        </p:nvSpPr>
        <p:spPr bwMode="auto">
          <a:xfrm>
            <a:off x="3200400" y="61722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>
                <a:solidFill>
                  <a:srgbClr val="270076"/>
                </a:solidFill>
              </a:rPr>
              <a:t>F.Link =mkNode(+,E1.Link,T.Link)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0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0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0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0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0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0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0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907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0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0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90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0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90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907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0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90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90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19077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190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90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90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5" dur="500"/>
                                        <p:tgtEl>
                                          <p:spTgt spid="190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90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190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6" dur="500"/>
                                        <p:tgtEl>
                                          <p:spTgt spid="1907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190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90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90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6" dur="500"/>
                                        <p:tgtEl>
                                          <p:spTgt spid="190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1907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7763" grpId="0" animBg="1"/>
      <p:bldP spid="1907766" grpId="0" animBg="1"/>
      <p:bldP spid="1907768" grpId="0" animBg="1"/>
      <p:bldP spid="1907769" grpId="0" animBg="1"/>
      <p:bldP spid="1907770" grpId="0" animBg="1"/>
      <p:bldP spid="1907771" grpId="0" animBg="1"/>
      <p:bldP spid="1907772" grpId="0" animBg="1"/>
      <p:bldP spid="1907775" grpId="0" animBg="1"/>
      <p:bldP spid="1907776" grpId="0" animBg="1"/>
      <p:bldP spid="1907785" grpId="0"/>
      <p:bldP spid="1907785" grpId="1"/>
      <p:bldP spid="1907789" grpId="0"/>
      <p:bldP spid="1907789" grpId="1"/>
      <p:bldP spid="1907790" grpId="0"/>
      <p:bldP spid="1907790" grpId="1"/>
      <p:bldP spid="1907794" grpId="0"/>
      <p:bldP spid="1907794" grpId="1"/>
      <p:bldP spid="1907795" grpId="0"/>
      <p:bldP spid="190779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5DB6E-3FB8-4652-854C-F41AFC8C52C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93378" name="Rectangle 2"/>
          <p:cNvSpPr>
            <a:spLocks noChangeArrowheads="1"/>
          </p:cNvSpPr>
          <p:nvPr/>
        </p:nvSpPr>
        <p:spPr bwMode="auto">
          <a:xfrm>
            <a:off x="0" y="2057400"/>
            <a:ext cx="914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724900" cy="5943600"/>
          </a:xfrm>
        </p:spPr>
        <p:txBody>
          <a:bodyPr/>
          <a:lstStyle/>
          <a:p>
            <a:pPr marL="609600" indent="-609600"/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hướng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endParaRPr lang="en-US" altLang="en-US" dirty="0"/>
          </a:p>
          <a:p>
            <a:pPr marL="609600" indent="-609600"/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endParaRPr lang="en-US" altLang="en-US" dirty="0"/>
          </a:p>
          <a:p>
            <a:pPr marL="609600" indent="-609600"/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r>
              <a:rPr lang="en-US" altLang="en-US" dirty="0"/>
              <a:t> Ba </a:t>
            </a:r>
            <a:r>
              <a:rPr lang="en-US" altLang="en-US" dirty="0" err="1"/>
              <a:t>lan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endParaRPr lang="en-US" altLang="en-US" dirty="0"/>
          </a:p>
          <a:p>
            <a:pPr marL="609600" indent="-609600"/>
            <a:r>
              <a:rPr lang="en-US" altLang="en-US" dirty="0" err="1"/>
              <a:t>Mã</a:t>
            </a:r>
            <a:r>
              <a:rPr lang="en-US" altLang="en-US" dirty="0"/>
              <a:t> 3 </a:t>
            </a:r>
            <a:r>
              <a:rPr lang="en-US" altLang="en-US" dirty="0" err="1"/>
              <a:t>địa</a:t>
            </a:r>
            <a:r>
              <a:rPr lang="en-US" altLang="en-US" dirty="0"/>
              <a:t> </a:t>
            </a:r>
            <a:r>
              <a:rPr lang="en-US" altLang="en-US" dirty="0" err="1"/>
              <a:t>chỉ</a:t>
            </a:r>
            <a:endParaRPr lang="en-US" altLang="en-US" dirty="0"/>
          </a:p>
          <a:p>
            <a:pPr marL="990600" lvl="1" indent="-533400">
              <a:lnSpc>
                <a:spcPct val="105000"/>
              </a:lnSpc>
            </a:pP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dạng</a:t>
            </a:r>
            <a:r>
              <a:rPr lang="en-US" altLang="en-US" dirty="0"/>
              <a:t> </a:t>
            </a:r>
            <a:r>
              <a:rPr lang="en-US" altLang="en-US" dirty="0" err="1"/>
              <a:t>mã</a:t>
            </a:r>
            <a:endParaRPr lang="en-US" altLang="en-US" dirty="0"/>
          </a:p>
          <a:p>
            <a:pPr marL="990600" lvl="1" indent="-533400">
              <a:lnSpc>
                <a:spcPct val="105000"/>
              </a:lnSpc>
            </a:pPr>
            <a:r>
              <a:rPr lang="fr-FR" altLang="en-US" dirty="0" err="1"/>
              <a:t>Dịch</a:t>
            </a:r>
            <a:r>
              <a:rPr lang="fr-FR" altLang="en-US" dirty="0"/>
              <a:t> </a:t>
            </a:r>
            <a:r>
              <a:rPr lang="fr-FR" altLang="en-US" dirty="0" err="1"/>
              <a:t>trực</a:t>
            </a:r>
            <a:r>
              <a:rPr lang="fr-FR" altLang="en-US" dirty="0"/>
              <a:t> </a:t>
            </a:r>
            <a:r>
              <a:rPr lang="fr-FR" altLang="en-US" dirty="0" err="1"/>
              <a:t>tiếp</a:t>
            </a:r>
            <a:r>
              <a:rPr lang="fr-FR" altLang="en-US" dirty="0"/>
              <a:t> </a:t>
            </a:r>
            <a:r>
              <a:rPr lang="fr-FR" altLang="en-US" dirty="0" err="1"/>
              <a:t>cú</a:t>
            </a:r>
            <a:r>
              <a:rPr lang="fr-FR" altLang="en-US" dirty="0"/>
              <a:t> </a:t>
            </a:r>
            <a:r>
              <a:rPr lang="fr-FR" altLang="en-US" dirty="0" err="1"/>
              <a:t>pháp</a:t>
            </a:r>
            <a:r>
              <a:rPr lang="fr-FR" altLang="en-US" dirty="0"/>
              <a:t> </a:t>
            </a:r>
            <a:r>
              <a:rPr lang="fr-FR" altLang="en-US" dirty="0" err="1"/>
              <a:t>thành</a:t>
            </a:r>
            <a:r>
              <a:rPr lang="fr-FR" altLang="en-US" dirty="0"/>
              <a:t> </a:t>
            </a:r>
            <a:r>
              <a:rPr lang="fr-FR" altLang="en-US" dirty="0" err="1"/>
              <a:t>mã</a:t>
            </a:r>
            <a:r>
              <a:rPr lang="fr-FR" altLang="en-US" dirty="0"/>
              <a:t> 3 </a:t>
            </a:r>
            <a:r>
              <a:rPr lang="fr-FR" altLang="en-US" dirty="0" err="1"/>
              <a:t>địa</a:t>
            </a:r>
            <a:r>
              <a:rPr lang="fr-FR" altLang="en-US" dirty="0"/>
              <a:t> </a:t>
            </a:r>
            <a:r>
              <a:rPr lang="fr-FR" altLang="en-US" dirty="0" err="1"/>
              <a:t>chỉ</a:t>
            </a:r>
            <a:endParaRPr lang="en-US" altLang="en-US" dirty="0"/>
          </a:p>
          <a:p>
            <a:pPr marL="990600" lvl="1" indent="-533400">
              <a:lnSpc>
                <a:spcPct val="105000"/>
              </a:lnSpc>
            </a:pPr>
            <a:r>
              <a:rPr lang="fr-FR" altLang="en-US" dirty="0"/>
              <a:t>Sinh </a:t>
            </a:r>
            <a:r>
              <a:rPr lang="fr-FR" altLang="en-US" dirty="0" err="1"/>
              <a:t>mã</a:t>
            </a:r>
            <a:r>
              <a:rPr lang="fr-FR" altLang="en-US" dirty="0"/>
              <a:t> </a:t>
            </a:r>
            <a:r>
              <a:rPr lang="fr-FR" altLang="en-US" dirty="0" err="1"/>
              <a:t>cho</a:t>
            </a:r>
            <a:r>
              <a:rPr lang="fr-FR" altLang="en-US" dirty="0"/>
              <a:t> </a:t>
            </a:r>
            <a:r>
              <a:rPr lang="fr-FR" altLang="en-US" dirty="0" err="1"/>
              <a:t>khai</a:t>
            </a:r>
            <a:r>
              <a:rPr lang="fr-FR" altLang="en-US" dirty="0"/>
              <a:t> </a:t>
            </a:r>
            <a:r>
              <a:rPr lang="fr-FR" altLang="en-US" dirty="0" err="1"/>
              <a:t>báo</a:t>
            </a:r>
            <a:endParaRPr lang="fr-FR" altLang="en-US" dirty="0"/>
          </a:p>
          <a:p>
            <a:pPr marL="990600" lvl="1" indent="-533400">
              <a:lnSpc>
                <a:spcPct val="105000"/>
              </a:lnSpc>
            </a:pPr>
            <a:r>
              <a:rPr lang="en-US" altLang="en-US" dirty="0" err="1"/>
              <a:t>Sinh</a:t>
            </a:r>
            <a:r>
              <a:rPr lang="en-US" altLang="en-US" dirty="0"/>
              <a:t> </a:t>
            </a:r>
            <a:r>
              <a:rPr lang="en-US" altLang="en-US" dirty="0" err="1"/>
              <a:t>mã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</a:t>
            </a:r>
            <a:r>
              <a:rPr lang="en-US" altLang="en-US" dirty="0" err="1"/>
              <a:t>gán</a:t>
            </a:r>
            <a:endParaRPr lang="en-US" altLang="en-US" dirty="0"/>
          </a:p>
          <a:p>
            <a:pPr marL="990600" lvl="1" indent="-533400">
              <a:lnSpc>
                <a:spcPct val="105000"/>
              </a:lnSpc>
            </a:pPr>
            <a:r>
              <a:rPr lang="en-US" altLang="en-US" dirty="0" err="1"/>
              <a:t>Sinh</a:t>
            </a:r>
            <a:r>
              <a:rPr lang="en-US" altLang="en-US" dirty="0"/>
              <a:t> </a:t>
            </a:r>
            <a:r>
              <a:rPr lang="en-US" altLang="en-US" dirty="0" err="1"/>
              <a:t>mã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logic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 dirty="0" err="1"/>
              <a:t>Sinh</a:t>
            </a:r>
            <a:r>
              <a:rPr lang="en-US" altLang="en-US" dirty="0"/>
              <a:t> </a:t>
            </a:r>
            <a:r>
              <a:rPr lang="en-US" altLang="en-US" dirty="0" err="1"/>
              <a:t>mã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lập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endParaRPr lang="en-US" altLang="en-US" dirty="0"/>
          </a:p>
        </p:txBody>
      </p:sp>
      <p:sp>
        <p:nvSpPr>
          <p:cNvPr id="18933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Nội dung</a:t>
            </a:r>
            <a:endParaRPr lang="en-US" altLang="en-US"/>
          </a:p>
        </p:txBody>
      </p:sp>
      <p:sp>
        <p:nvSpPr>
          <p:cNvPr id="189338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9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337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214C0C-0BA1-4180-8FFB-99AB559A084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898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5715000"/>
          </a:xfrm>
          <a:noFill/>
        </p:spPr>
        <p:txBody>
          <a:bodyPr lIns="0" rIns="0"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fr-FR" altLang="en-US" b="1"/>
              <a:t>Ký pháp Ba lan:</a:t>
            </a:r>
            <a:r>
              <a:rPr lang="fr-FR" altLang="en-US"/>
              <a:t> Là một ký hiệu toán học trong đó dấu đặt trước/ sau toán hạng</a:t>
            </a:r>
          </a:p>
          <a:p>
            <a:pPr marL="914400" lvl="1" indent="-452438">
              <a:lnSpc>
                <a:spcPct val="120000"/>
              </a:lnSpc>
            </a:pPr>
            <a:r>
              <a:rPr lang="fr-FR" altLang="en-US"/>
              <a:t>Ký pháp thông thường (giữa):  5 + 6</a:t>
            </a:r>
          </a:p>
          <a:p>
            <a:pPr marL="914400" lvl="1" indent="-452438">
              <a:lnSpc>
                <a:spcPct val="120000"/>
              </a:lnSpc>
            </a:pPr>
            <a:r>
              <a:rPr lang="fr-FR" altLang="en-US"/>
              <a:t>Ký pháp Ba lan trước:  + 5 6</a:t>
            </a:r>
          </a:p>
          <a:p>
            <a:pPr marL="914400" lvl="1" indent="-452438">
              <a:lnSpc>
                <a:spcPct val="120000"/>
              </a:lnSpc>
            </a:pPr>
            <a:r>
              <a:rPr lang="fr-FR" altLang="en-US"/>
              <a:t>Ký pháp Ba lan sau (ngược): 5 6 +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fr-FR" altLang="en-US"/>
              <a:t>Mục đích: </a:t>
            </a:r>
          </a:p>
          <a:p>
            <a:pPr marL="914400" lvl="1" indent="-452438">
              <a:lnSpc>
                <a:spcPct val="120000"/>
              </a:lnSpc>
            </a:pPr>
            <a:r>
              <a:rPr lang="fr-FR" altLang="en-US"/>
              <a:t>Giảm thiểu bộ nhớ và dùng stack để tính toán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en-US"/>
              <a:t>Sử dung: </a:t>
            </a:r>
          </a:p>
          <a:p>
            <a:pPr marL="914400" lvl="1" indent="-452438">
              <a:lnSpc>
                <a:spcPct val="120000"/>
              </a:lnSpc>
            </a:pPr>
            <a:r>
              <a:rPr lang="en-US" altLang="en-US"/>
              <a:t>Trong một số loại máy tính tay</a:t>
            </a:r>
          </a:p>
        </p:txBody>
      </p:sp>
      <p:sp>
        <p:nvSpPr>
          <p:cNvPr id="189849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Ký pháp Ba lan sau (</a:t>
            </a:r>
            <a:r>
              <a:rPr lang="fr-FR" altLang="en-US"/>
              <a:t>Reverse Polish notation)</a:t>
            </a:r>
            <a:endParaRPr lang="en-US" altLang="en-US"/>
          </a:p>
        </p:txBody>
      </p:sp>
      <p:sp>
        <p:nvSpPr>
          <p:cNvPr id="189850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06910E-1629-4A1A-90E2-724F70CE8812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1896504" name="Group 56"/>
          <p:cNvGraphicFramePr>
            <a:graphicFrameLocks noGrp="1"/>
          </p:cNvGraphicFramePr>
          <p:nvPr>
            <p:ph sz="half" idx="2"/>
          </p:nvPr>
        </p:nvGraphicFramePr>
        <p:xfrm>
          <a:off x="304800" y="1295400"/>
          <a:ext cx="8229600" cy="362712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Ký pháp hậu tố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Ký pháp tiền tố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E+T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 T 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+ E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 *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  F 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* T 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digit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digit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digit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96481" name="Rectangle 3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Quy tắc dịch dạng trung tố 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dạng hậu tố</a:t>
            </a:r>
          </a:p>
        </p:txBody>
      </p:sp>
      <p:sp>
        <p:nvSpPr>
          <p:cNvPr id="1896482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C5FCF4-6463-4D65-ABD9-AEE892C88D6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897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382000" cy="4953000"/>
          </a:xfrm>
          <a:noFill/>
        </p:spPr>
        <p:txBody>
          <a:bodyPr lIns="0" rIns="0"/>
          <a:lstStyle/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/>
              <a:t>E	</a:t>
            </a:r>
            <a:r>
              <a:rPr lang="en-US" altLang="en-US" sz="2800">
                <a:sym typeface="Symbol" panose="05050102010706020507" pitchFamily="18" charset="2"/>
              </a:rPr>
              <a:t> E + T				E  E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E + T + T			    E T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T + T + T			    T  T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F + T + T			    F  T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T + T			    a  T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T *  F + T		    a  T  F *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F *  F + T		    a  F  F *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b *  F + T		    a  b  F *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b *  c + T		    a  b  c * + T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b *  c + F		    a  b  c * + F +</a:t>
            </a:r>
          </a:p>
          <a:p>
            <a:pPr marL="347663" indent="-347663">
              <a:spcBef>
                <a:spcPct val="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a + b *  c + d		    a  b  c * + d +</a:t>
            </a:r>
          </a:p>
        </p:txBody>
      </p:sp>
      <p:sp>
        <p:nvSpPr>
          <p:cNvPr id="18974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Ký pháp Ba lan sau 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Ví dụ 1</a:t>
            </a:r>
          </a:p>
        </p:txBody>
      </p:sp>
      <p:sp>
        <p:nvSpPr>
          <p:cNvPr id="18974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97477" name="Rectangle 5"/>
          <p:cNvSpPr>
            <a:spLocks noChangeArrowheads="1"/>
          </p:cNvSpPr>
          <p:nvPr/>
        </p:nvSpPr>
        <p:spPr bwMode="auto">
          <a:xfrm>
            <a:off x="3200400" y="914400"/>
            <a:ext cx="2514600" cy="6397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>
            <a:spAutoFit/>
          </a:bodyPr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4524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422400" indent="-3333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653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1082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654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022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79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937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b="0"/>
              <a:t>a+b*c+d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97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97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97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97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97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97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97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97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97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97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97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747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CECB70-B629-4ED7-A60C-F724E4A30A30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899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9113" y="1724025"/>
            <a:ext cx="8382000" cy="4953000"/>
          </a:xfrm>
          <a:noFill/>
        </p:spPr>
        <p:txBody>
          <a:bodyPr lIns="0" rIns="0"/>
          <a:lstStyle/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/>
              <a:t>E	</a:t>
            </a:r>
            <a:r>
              <a:rPr lang="en-US" altLang="en-US" sz="2800">
                <a:sym typeface="Symbol" panose="05050102010706020507" pitchFamily="18" charset="2"/>
              </a:rPr>
              <a:t> T				E  T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T * F				    T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F * F				    F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(E) * F				    E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(T + F) * F			    T  F +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(F + F) * F			    F  F +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F) * F			    a  F +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F			    a  b + F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(E)			    a  b + E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(T + F)		    a  b + T F +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(F + F)		    a  b + F F +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(c + F)		    a  b + c F + *</a:t>
            </a:r>
          </a:p>
          <a:p>
            <a:pPr marL="347663" indent="-347663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(a + b) * (c + d)		    a  b + c d + *</a:t>
            </a:r>
          </a:p>
        </p:txBody>
      </p:sp>
      <p:sp>
        <p:nvSpPr>
          <p:cNvPr id="18995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Ký pháp Ba lan sau 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Ví dụ 2</a:t>
            </a:r>
          </a:p>
        </p:txBody>
      </p:sp>
      <p:sp>
        <p:nvSpPr>
          <p:cNvPr id="18995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99525" name="Rectangle 5"/>
          <p:cNvSpPr>
            <a:spLocks noChangeArrowheads="1"/>
          </p:cNvSpPr>
          <p:nvPr/>
        </p:nvSpPr>
        <p:spPr bwMode="auto">
          <a:xfrm>
            <a:off x="3200400" y="914400"/>
            <a:ext cx="2514600" cy="6397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>
            <a:spAutoFit/>
          </a:bodyPr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4524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422400" indent="-3333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653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1082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654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022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79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937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b="0"/>
              <a:t>(a+b) * (c+d)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952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C26EDD-D65B-4910-890E-607D3AACF43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894402" name="Rectangle 2"/>
          <p:cNvSpPr>
            <a:spLocks noChangeArrowheads="1"/>
          </p:cNvSpPr>
          <p:nvPr/>
        </p:nvSpPr>
        <p:spPr bwMode="auto">
          <a:xfrm>
            <a:off x="0" y="2605088"/>
            <a:ext cx="914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724900" cy="5943600"/>
          </a:xfrm>
        </p:spPr>
        <p:txBody>
          <a:bodyPr/>
          <a:lstStyle/>
          <a:p>
            <a:pPr marL="609600" indent="-609600"/>
            <a:r>
              <a:rPr lang="en-US" altLang="en-US"/>
              <a:t>Chương trình dịch định hướng cú pháp</a:t>
            </a:r>
          </a:p>
          <a:p>
            <a:pPr marL="609600" indent="-609600"/>
            <a:r>
              <a:rPr lang="en-US" altLang="en-US"/>
              <a:t>Cây cú pháp</a:t>
            </a:r>
          </a:p>
          <a:p>
            <a:pPr marL="609600" indent="-609600"/>
            <a:r>
              <a:rPr lang="en-US" altLang="en-US"/>
              <a:t>Ký pháp Ba lan sau</a:t>
            </a:r>
          </a:p>
          <a:p>
            <a:pPr marL="609600" indent="-609600"/>
            <a:r>
              <a:rPr lang="en-US" altLang="en-US"/>
              <a:t>Mã 3 địa chỉ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Các dạng mã</a:t>
            </a:r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Dịch trực tiếp cú pháp thành mã 3 địa chỉ</a:t>
            </a:r>
            <a:endParaRPr lang="en-US" altLang="en-US"/>
          </a:p>
          <a:p>
            <a:pPr marL="990600" lvl="1" indent="-533400">
              <a:lnSpc>
                <a:spcPct val="105000"/>
              </a:lnSpc>
            </a:pPr>
            <a:r>
              <a:rPr lang="fr-FR" altLang="en-US"/>
              <a:t>Sinh mã cho khai báo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lệnh gán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biểu thức logic</a:t>
            </a:r>
          </a:p>
          <a:p>
            <a:pPr marL="990600" lvl="1" indent="-533400">
              <a:lnSpc>
                <a:spcPct val="105000"/>
              </a:lnSpc>
            </a:pPr>
            <a:r>
              <a:rPr lang="en-US" altLang="en-US"/>
              <a:t>Sinh mã cho các cấu trúc lập trình</a:t>
            </a:r>
          </a:p>
        </p:txBody>
      </p:sp>
      <p:sp>
        <p:nvSpPr>
          <p:cNvPr id="1894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Nội dung</a:t>
            </a:r>
            <a:endParaRPr lang="en-US" altLang="en-US"/>
          </a:p>
        </p:txBody>
      </p:sp>
      <p:sp>
        <p:nvSpPr>
          <p:cNvPr id="189440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9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0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745EB4-4886-4703-AD21-A17B73DCE05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744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/>
            <a:r>
              <a:rPr lang="en-US" altLang="en-US" sz="2800"/>
              <a:t>Là loại mã trung gian thường dùng, tương tự mã assembly</a:t>
            </a:r>
          </a:p>
          <a:p>
            <a:pPr marL="465138" indent="-465138"/>
            <a:r>
              <a:rPr lang="en-US" altLang="en-US" sz="2800"/>
              <a:t>Chương trình trung gian là một dãy các lệnh thuộc kiểu mã 3 địa chỉ</a:t>
            </a:r>
          </a:p>
          <a:p>
            <a:pPr marL="1030288" lvl="1" indent="-450850"/>
            <a:r>
              <a:rPr lang="en-US" altLang="en-US" sz="2400"/>
              <a:t>Mỗi lệnh gồm tối đa 3 toán hạng </a:t>
            </a:r>
          </a:p>
          <a:p>
            <a:pPr marL="1030288" lvl="1" indent="-450850"/>
            <a:r>
              <a:rPr lang="en-US" altLang="en-US" sz="2400"/>
              <a:t>Tồn tại nhiều nhất một toán tử ở vế phải cộng thêm một toán tử gán</a:t>
            </a:r>
          </a:p>
          <a:p>
            <a:pPr marL="465138" indent="-465138"/>
            <a:r>
              <a:rPr lang="en-US" altLang="en-US" sz="2800"/>
              <a:t>x,y,z là các địa chỉ, tức là tên, hằng hay các tên trung gian do trình biên dịch sinh ra</a:t>
            </a:r>
          </a:p>
          <a:p>
            <a:pPr marL="1030288" lvl="1" indent="-450850"/>
            <a:r>
              <a:rPr lang="en-US" altLang="en-US" sz="2400"/>
              <a:t>Tên trung gian phải được sinh để thực hiện các phép toán trung gian</a:t>
            </a:r>
          </a:p>
          <a:p>
            <a:pPr marL="1030288" lvl="1" indent="-450850"/>
            <a:r>
              <a:rPr lang="en-US" altLang="en-US" sz="2400"/>
              <a:t>Các địa chỉ được thực hiện như con trỏ tới phần tử tương ứng của nó trong bảng ký hiệu</a:t>
            </a:r>
          </a:p>
        </p:txBody>
      </p:sp>
      <p:sp>
        <p:nvSpPr>
          <p:cNvPr id="174489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Mã 3 địa chỉ</a:t>
            </a:r>
            <a:endParaRPr lang="en-US" altLang="en-US"/>
          </a:p>
        </p:txBody>
      </p:sp>
      <p:sp>
        <p:nvSpPr>
          <p:cNvPr id="174490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8C9011-64C2-471B-BA35-E3874407AAC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7459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>
              <a:lnSpc>
                <a:spcPct val="110000"/>
              </a:lnSpc>
            </a:pPr>
            <a:r>
              <a:rPr lang="fr-FR" altLang="en-US" sz="3600"/>
              <a:t>Câu lệnh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 sz="3200"/>
              <a:t>A = x + y * z</a:t>
            </a:r>
          </a:p>
          <a:p>
            <a:pPr marL="465138" indent="-465138">
              <a:lnSpc>
                <a:spcPct val="110000"/>
              </a:lnSpc>
            </a:pPr>
            <a:r>
              <a:rPr lang="fr-FR" altLang="en-US" sz="3600"/>
              <a:t>Chuyển thành mã 3 địa chỉ</a:t>
            </a:r>
          </a:p>
          <a:p>
            <a:pPr marL="1030288" lvl="1" indent="-450850">
              <a:lnSpc>
                <a:spcPct val="110000"/>
              </a:lnSpc>
              <a:buFontTx/>
              <a:buNone/>
            </a:pPr>
            <a:r>
              <a:rPr lang="fr-FR" altLang="en-US" sz="3200"/>
              <a:t>T = y * z</a:t>
            </a:r>
          </a:p>
          <a:p>
            <a:pPr marL="1030288" lvl="1" indent="-450850">
              <a:lnSpc>
                <a:spcPct val="110000"/>
              </a:lnSpc>
              <a:buFontTx/>
              <a:buNone/>
            </a:pPr>
            <a:r>
              <a:rPr lang="fr-FR" altLang="en-US" sz="3200"/>
              <a:t>A = x + T</a:t>
            </a:r>
          </a:p>
          <a:p>
            <a:pPr marL="465138" indent="-465138">
              <a:lnSpc>
                <a:spcPct val="110000"/>
              </a:lnSpc>
              <a:buFontTx/>
              <a:buNone/>
            </a:pPr>
            <a:r>
              <a:rPr lang="fr-FR" altLang="en-US" sz="3600"/>
              <a:t>T  là tên trung gian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/>
              <a:t>Được bộ sinh mã trung gian sinh ra cho các toán tử trung gian</a:t>
            </a:r>
            <a:endParaRPr lang="en-US" altLang="en-US"/>
          </a:p>
        </p:txBody>
      </p:sp>
      <p:sp>
        <p:nvSpPr>
          <p:cNvPr id="17459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Mã 3 địa chỉ </a:t>
            </a:r>
            <a:r>
              <a:rPr lang="fr-FR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17459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1EBB7A-EFAF-458D-8B98-F8DF63D0AC2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746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Mã 3 địa chỉ tương tự mã Assembly: </a:t>
            </a:r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Lệnh có thể có nhãn, </a:t>
            </a:r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Tồn tại những lệnh chuyển điều khiển cho các cấu trúc lập trình.</a:t>
            </a:r>
          </a:p>
          <a:p>
            <a:pPr marL="465138" indent="-465138">
              <a:lnSpc>
                <a:spcPct val="110000"/>
              </a:lnSpc>
              <a:spcBef>
                <a:spcPct val="25000"/>
              </a:spcBef>
            </a:pPr>
            <a:r>
              <a:rPr lang="fr-FR" altLang="en-US"/>
              <a:t>Các dạng lệnh</a:t>
            </a:r>
            <a:endParaRPr lang="en-US" altLang="en-US"/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i="1"/>
              <a:t>Lệnh gán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3539EB"/>
                </a:solidFill>
              </a:rPr>
              <a:t>x := y </a:t>
            </a:r>
            <a:r>
              <a:rPr lang="en-US" altLang="en-US" b="1" i="1">
                <a:solidFill>
                  <a:srgbClr val="3539EB"/>
                </a:solidFill>
              </a:rPr>
              <a:t>op </a:t>
            </a:r>
            <a:r>
              <a:rPr lang="en-US" altLang="en-US" b="1">
                <a:solidFill>
                  <a:srgbClr val="3539EB"/>
                </a:solidFill>
              </a:rPr>
              <a:t>z</a:t>
            </a:r>
            <a:r>
              <a:rPr lang="en-US" altLang="en-US"/>
              <a:t>.</a:t>
            </a:r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i="1"/>
              <a:t>Lệnh gán với phép toán 1 ngôi </a:t>
            </a:r>
            <a:r>
              <a:rPr lang="en-US" altLang="en-US"/>
              <a:t>: </a:t>
            </a:r>
            <a:r>
              <a:rPr lang="en-US" altLang="en-US" b="1">
                <a:solidFill>
                  <a:srgbClr val="3539EB"/>
                </a:solidFill>
              </a:rPr>
              <a:t>x := </a:t>
            </a:r>
            <a:r>
              <a:rPr lang="en-US" altLang="en-US" b="1" i="1">
                <a:solidFill>
                  <a:srgbClr val="3539EB"/>
                </a:solidFill>
              </a:rPr>
              <a:t>op </a:t>
            </a:r>
            <a:r>
              <a:rPr lang="en-US" altLang="en-US" b="1">
                <a:solidFill>
                  <a:srgbClr val="3539EB"/>
                </a:solidFill>
              </a:rPr>
              <a:t>y</a:t>
            </a:r>
            <a:r>
              <a:rPr lang="en-US" altLang="en-US"/>
              <a:t>.</a:t>
            </a:r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i="1"/>
              <a:t>Lệnh sao chép</a:t>
            </a:r>
            <a:r>
              <a:rPr lang="en-US" altLang="en-US"/>
              <a:t>: </a:t>
            </a:r>
            <a:r>
              <a:rPr lang="en-US" altLang="en-US" b="1">
                <a:solidFill>
                  <a:srgbClr val="3539EB"/>
                </a:solidFill>
              </a:rPr>
              <a:t>x := y.</a:t>
            </a:r>
          </a:p>
          <a:p>
            <a:pPr marL="1030288" lvl="1" indent="-45085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i="1"/>
              <a:t>Lệnh gán có chỉ số  </a:t>
            </a:r>
            <a:r>
              <a:rPr lang="en-US" altLang="en-US" b="1" i="1">
                <a:solidFill>
                  <a:srgbClr val="3539EB"/>
                </a:solidFill>
              </a:rPr>
              <a:t>X := y[i] hoặc x[i]= y</a:t>
            </a:r>
          </a:p>
        </p:txBody>
      </p:sp>
      <p:sp>
        <p:nvSpPr>
          <p:cNvPr id="17469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Mã 3 địa chỉ </a:t>
            </a:r>
            <a:r>
              <a:rPr lang="fr-FR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Các dạng phổ biến</a:t>
            </a:r>
          </a:p>
        </p:txBody>
      </p:sp>
      <p:sp>
        <p:nvSpPr>
          <p:cNvPr id="174694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0A141B-F587-40DC-B2A8-EEB26BC0091E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752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813800" cy="5486400"/>
          </a:xfrm>
        </p:spPr>
        <p:txBody>
          <a:bodyPr/>
          <a:lstStyle/>
          <a:p>
            <a:pPr marL="609600" indent="-6096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fr-FR" altLang="en-US" i="1"/>
              <a:t>Lệnh gán địa chỉ và con trỏ</a:t>
            </a:r>
          </a:p>
          <a:p>
            <a:pPr marL="1112838" lvl="1" indent="-53340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i="1"/>
              <a:t>	</a:t>
            </a:r>
            <a:r>
              <a:rPr lang="fr-FR" altLang="en-US" b="1" i="1">
                <a:solidFill>
                  <a:srgbClr val="3539EB"/>
                </a:solidFill>
              </a:rPr>
              <a:t>x = &amp;y;  x = * y;  *x = y</a:t>
            </a:r>
            <a:endParaRPr lang="en-US" altLang="en-US" b="1" i="1">
              <a:solidFill>
                <a:srgbClr val="3539EB"/>
              </a:solidFill>
            </a:endParaRPr>
          </a:p>
          <a:p>
            <a:pPr marL="609600" indent="-6096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i="1"/>
              <a:t>Lệnh nhảy không điều kiện</a:t>
            </a:r>
            <a:r>
              <a:rPr lang="en-US" altLang="en-US"/>
              <a:t>: </a:t>
            </a:r>
            <a:r>
              <a:rPr lang="en-US" altLang="en-US" b="1">
                <a:solidFill>
                  <a:srgbClr val="3539EB"/>
                </a:solidFill>
              </a:rPr>
              <a:t>goto L</a:t>
            </a:r>
            <a:r>
              <a:rPr lang="en-US" altLang="en-US"/>
              <a:t>, </a:t>
            </a:r>
          </a:p>
          <a:p>
            <a:pPr marL="1112838" lvl="1" indent="-533400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L là nhãn của một lệnh</a:t>
            </a:r>
          </a:p>
          <a:p>
            <a:pPr marL="609600" indent="-60960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Lệnh nhảy có điều kiện </a:t>
            </a:r>
            <a:r>
              <a:rPr lang="en-US" altLang="en-US" b="1">
                <a:solidFill>
                  <a:srgbClr val="3539EB"/>
                </a:solidFill>
              </a:rPr>
              <a:t>IF x </a:t>
            </a:r>
            <a:r>
              <a:rPr lang="en-US" altLang="en-US" b="1" i="1">
                <a:solidFill>
                  <a:srgbClr val="3539EB"/>
                </a:solidFill>
              </a:rPr>
              <a:t>relop </a:t>
            </a:r>
            <a:r>
              <a:rPr lang="en-US" altLang="en-US" b="1">
                <a:solidFill>
                  <a:srgbClr val="3539EB"/>
                </a:solidFill>
              </a:rPr>
              <a:t>y goto L</a:t>
            </a:r>
            <a:r>
              <a:rPr lang="en-US" altLang="en-US"/>
              <a:t>.</a:t>
            </a:r>
          </a:p>
          <a:p>
            <a:pPr marL="1112838" lvl="1" indent="-533400">
              <a:lnSpc>
                <a:spcPct val="110000"/>
              </a:lnSpc>
              <a:spcBef>
                <a:spcPct val="25000"/>
              </a:spcBef>
            </a:pPr>
            <a:r>
              <a:rPr lang="fr-FR" altLang="en-US" i="1"/>
              <a:t>Nếu thỏa mãn quan hệ relop (&gt;,&gt;=,&lt;,..) thì thực hiện lệnh tại nhãn L, </a:t>
            </a:r>
          </a:p>
          <a:p>
            <a:pPr marL="1112838" lvl="1" indent="-533400">
              <a:lnSpc>
                <a:spcPct val="110000"/>
              </a:lnSpc>
              <a:spcBef>
                <a:spcPct val="25000"/>
              </a:spcBef>
            </a:pPr>
            <a:r>
              <a:rPr lang="fr-FR" altLang="en-US" i="1"/>
              <a:t>Nếu không thỏa mãn, thực hiện câu lệnh ngay tiếp theo lệnh </a:t>
            </a:r>
            <a:r>
              <a:rPr lang="fr-FR" altLang="en-US" b="1" i="1">
                <a:solidFill>
                  <a:srgbClr val="3539EB"/>
                </a:solidFill>
              </a:rPr>
              <a:t>IF</a:t>
            </a:r>
            <a:endParaRPr lang="en-US" altLang="en-US" i="1"/>
          </a:p>
        </p:txBody>
      </p:sp>
      <p:sp>
        <p:nvSpPr>
          <p:cNvPr id="17520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Mã 3 địa chỉ </a:t>
            </a:r>
            <a:r>
              <a:rPr lang="fr-FR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Các dạng phổ biến</a:t>
            </a:r>
          </a:p>
        </p:txBody>
      </p:sp>
      <p:sp>
        <p:nvSpPr>
          <p:cNvPr id="17520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9B0880-364D-4E03-966D-80E899C50E75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753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en-US" sz="2800" i="1"/>
              <a:t>Gọi thủ tục với n tham số 	</a:t>
            </a:r>
            <a:r>
              <a:rPr lang="en-US" altLang="en-US" sz="2800" b="1" i="1">
                <a:solidFill>
                  <a:srgbClr val="3539EB"/>
                </a:solidFill>
              </a:rPr>
              <a:t>call p, n</a:t>
            </a:r>
            <a:r>
              <a:rPr lang="en-US" altLang="en-US" sz="2800" i="1"/>
              <a:t>.</a:t>
            </a:r>
          </a:p>
          <a:p>
            <a:pPr marL="1214438" lvl="1" indent="-474663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400" i="1"/>
              <a:t>	Khai báo tham số 		</a:t>
            </a:r>
            <a:r>
              <a:rPr lang="fr-FR" altLang="en-US" sz="2400" b="1" i="1">
                <a:solidFill>
                  <a:srgbClr val="3539EB"/>
                </a:solidFill>
              </a:rPr>
              <a:t>param x</a:t>
            </a:r>
          </a:p>
          <a:p>
            <a:pPr marL="1214438" lvl="1" indent="-474663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400" i="1"/>
              <a:t>	Trả về giá trị			</a:t>
            </a:r>
            <a:r>
              <a:rPr lang="fr-FR" altLang="en-US" sz="2400" b="1" i="1">
                <a:solidFill>
                  <a:srgbClr val="3539EB"/>
                </a:solidFill>
              </a:rPr>
              <a:t>return y</a:t>
            </a:r>
          </a:p>
          <a:p>
            <a:pPr marL="465138" indent="-465138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 i="1"/>
              <a:t>Thường dung với chuỗi lệnh 3 địa chỉ</a:t>
            </a:r>
          </a:p>
          <a:p>
            <a:pPr marL="465138" indent="-465138">
              <a:lnSpc>
                <a:spcPct val="110000"/>
              </a:lnSpc>
              <a:spcBef>
                <a:spcPct val="25000"/>
              </a:spcBef>
              <a:buFontTx/>
              <a:buChar char="–"/>
            </a:pPr>
            <a:r>
              <a:rPr lang="fr-FR" altLang="en-US" sz="2800" i="1"/>
              <a:t>Lời gọi chương trình con </a:t>
            </a:r>
            <a:r>
              <a:rPr lang="fr-FR" altLang="en-US" sz="2800" b="1" i="1">
                <a:solidFill>
                  <a:srgbClr val="3539EB"/>
                </a:solidFill>
              </a:rPr>
              <a:t>Call p(X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1</a:t>
            </a:r>
            <a:r>
              <a:rPr lang="fr-FR" altLang="en-US" sz="2800" b="1" i="1">
                <a:solidFill>
                  <a:srgbClr val="3539EB"/>
                </a:solidFill>
              </a:rPr>
              <a:t>, 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2</a:t>
            </a:r>
            <a:r>
              <a:rPr lang="fr-FR" altLang="en-US" sz="2800" b="1" i="1">
                <a:solidFill>
                  <a:srgbClr val="3539EB"/>
                </a:solidFill>
              </a:rPr>
              <a:t>,…x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n</a:t>
            </a:r>
            <a:r>
              <a:rPr lang="fr-FR" altLang="en-US" sz="2800" b="1" i="1">
                <a:solidFill>
                  <a:srgbClr val="3539EB"/>
                </a:solidFill>
              </a:rPr>
              <a:t>)</a:t>
            </a:r>
            <a:r>
              <a:rPr lang="fr-FR" altLang="en-US" sz="2800" i="1"/>
              <a:t> sinh ra</a:t>
            </a:r>
            <a:endParaRPr lang="fr-FR" altLang="en-US" sz="2400" i="1"/>
          </a:p>
          <a:p>
            <a:pPr marL="1836738" lvl="2" indent="-45720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 b="1" i="1">
                <a:solidFill>
                  <a:srgbClr val="3539EB"/>
                </a:solidFill>
              </a:rPr>
              <a:t>param 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1</a:t>
            </a:r>
          </a:p>
          <a:p>
            <a:pPr marL="1836738" lvl="2" indent="-45720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 b="1" i="1">
                <a:solidFill>
                  <a:srgbClr val="3539EB"/>
                </a:solidFill>
              </a:rPr>
              <a:t>param 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2</a:t>
            </a:r>
          </a:p>
          <a:p>
            <a:pPr marL="1836738" lvl="2" indent="-457200">
              <a:lnSpc>
                <a:spcPct val="110000"/>
              </a:lnSpc>
              <a:spcBef>
                <a:spcPct val="25000"/>
              </a:spcBef>
              <a:buFontTx/>
              <a:buNone/>
            </a:pPr>
            <a:endParaRPr lang="fr-FR" altLang="en-US" sz="2800" b="1" i="1">
              <a:solidFill>
                <a:srgbClr val="3539EB"/>
              </a:solidFill>
            </a:endParaRPr>
          </a:p>
          <a:p>
            <a:pPr marL="1836738" lvl="2" indent="-45720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 b="1" i="1">
                <a:solidFill>
                  <a:srgbClr val="3539EB"/>
                </a:solidFill>
              </a:rPr>
              <a:t>param x</a:t>
            </a:r>
            <a:r>
              <a:rPr lang="fr-FR" altLang="en-US" sz="2800" b="1" i="1" baseline="-25000">
                <a:solidFill>
                  <a:srgbClr val="3539EB"/>
                </a:solidFill>
              </a:rPr>
              <a:t>n</a:t>
            </a:r>
          </a:p>
          <a:p>
            <a:pPr marL="1836738" lvl="2" indent="-45720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 b="1" i="1">
                <a:solidFill>
                  <a:srgbClr val="3539EB"/>
                </a:solidFill>
              </a:rPr>
              <a:t>Call p, n</a:t>
            </a:r>
          </a:p>
        </p:txBody>
      </p:sp>
      <p:sp>
        <p:nvSpPr>
          <p:cNvPr id="17530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Mã 3 địa chỉ </a:t>
            </a:r>
            <a:r>
              <a:rPr lang="fr-FR" altLang="en-US">
                <a:sym typeface="Symbol" panose="05050102010706020507" pitchFamily="18" charset="2"/>
              </a:rPr>
              <a:t> </a:t>
            </a:r>
            <a:r>
              <a:rPr lang="en-US" altLang="en-US"/>
              <a:t>Các dạng phổ biến</a:t>
            </a:r>
          </a:p>
        </p:txBody>
      </p:sp>
      <p:sp>
        <p:nvSpPr>
          <p:cNvPr id="175309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FDCCCD-1A03-4DCD-9697-5CBC3CBEDE8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7479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686425"/>
          </a:xfrm>
        </p:spPr>
        <p:txBody>
          <a:bodyPr/>
          <a:lstStyle/>
          <a:p>
            <a:pPr marL="465138" indent="-465138"/>
            <a:r>
              <a:rPr lang="en-US" altLang="en-US" sz="2800"/>
              <a:t>Thuộc tính tổng hợp </a:t>
            </a:r>
            <a:r>
              <a:rPr lang="en-US" altLang="en-US" sz="2800" b="1">
                <a:solidFill>
                  <a:srgbClr val="3539EB"/>
                </a:solidFill>
              </a:rPr>
              <a:t>S.code</a:t>
            </a:r>
            <a:r>
              <a:rPr lang="en-US" altLang="en-US" sz="2800"/>
              <a:t> biểu diễn mã ba địa chỉ của lệnh </a:t>
            </a:r>
            <a:r>
              <a:rPr lang="en-US" altLang="en-US" sz="2800" b="1">
                <a:solidFill>
                  <a:srgbClr val="3539EB"/>
                </a:solidFill>
              </a:rPr>
              <a:t>S</a:t>
            </a:r>
          </a:p>
          <a:p>
            <a:pPr marL="465138" indent="-465138"/>
            <a:r>
              <a:rPr lang="en-US" altLang="en-US" sz="2800"/>
              <a:t>Các tên trung gian được sinh ra cho các tính toán trung gian</a:t>
            </a:r>
          </a:p>
          <a:p>
            <a:pPr marL="465138" indent="-465138"/>
            <a:r>
              <a:rPr lang="en-US" altLang="en-US" sz="2800"/>
              <a:t>Các ký hiệu không kết thúc E có 2 thuộc tính</a:t>
            </a:r>
          </a:p>
          <a:p>
            <a:pPr marL="877888" lvl="1" indent="-298450"/>
            <a:r>
              <a:rPr lang="en-US" altLang="en-US" sz="2400">
                <a:solidFill>
                  <a:srgbClr val="3539EB"/>
                </a:solidFill>
              </a:rPr>
              <a:t>E.place:</a:t>
            </a:r>
            <a:r>
              <a:rPr lang="en-US" altLang="en-US" sz="2400"/>
              <a:t> Thuộc tính địa chỉ/tên chứa giá trị của ký hiệu E</a:t>
            </a:r>
          </a:p>
          <a:p>
            <a:pPr marL="877888" lvl="1" indent="-298450"/>
            <a:r>
              <a:rPr lang="en-US" altLang="en-US" sz="2400">
                <a:solidFill>
                  <a:srgbClr val="3539EB"/>
                </a:solidFill>
              </a:rPr>
              <a:t>E.code:</a:t>
            </a:r>
            <a:r>
              <a:rPr lang="en-US" altLang="en-US" sz="2400"/>
              <a:t> Chứa chuỗi mã lệnh  địa chỉ để đánh giá E</a:t>
            </a:r>
          </a:p>
          <a:p>
            <a:pPr marL="465138" indent="-465138"/>
            <a:r>
              <a:rPr lang="en-US" altLang="en-US" sz="2800"/>
              <a:t>Hàm </a:t>
            </a:r>
            <a:r>
              <a:rPr lang="en-US" altLang="en-US" sz="2800" b="1">
                <a:solidFill>
                  <a:srgbClr val="3539EB"/>
                </a:solidFill>
              </a:rPr>
              <a:t>newtemp()</a:t>
            </a:r>
            <a:r>
              <a:rPr lang="en-US" altLang="en-US" sz="2800"/>
              <a:t> sinh ra các tên trung gian t1, t2,. . </a:t>
            </a:r>
          </a:p>
          <a:p>
            <a:pPr marL="465138" indent="-465138"/>
            <a:r>
              <a:rPr lang="en-US" altLang="en-US" sz="2800"/>
              <a:t>Sử dụng hàm </a:t>
            </a:r>
            <a:r>
              <a:rPr lang="en-US" altLang="en-US" sz="2800" b="1">
                <a:solidFill>
                  <a:srgbClr val="3539EB"/>
                </a:solidFill>
              </a:rPr>
              <a:t>gen(x ’:=‘ y ’+’ z)</a:t>
            </a:r>
            <a:r>
              <a:rPr lang="en-US" altLang="en-US" sz="2800"/>
              <a:t> thể hiện mã 3 địa chỉ câu lệnh x := y + z</a:t>
            </a:r>
          </a:p>
          <a:p>
            <a:pPr marL="877888" lvl="1" indent="-298450"/>
            <a:r>
              <a:rPr lang="fr-FR" altLang="en-US" sz="2400"/>
              <a:t>Các biểu thức ở các vị trí của x, y, z được đánh giá khi truyền vào hàm gen()</a:t>
            </a:r>
            <a:endParaRPr lang="en-US" altLang="en-US" sz="2400"/>
          </a:p>
        </p:txBody>
      </p:sp>
      <p:sp>
        <p:nvSpPr>
          <p:cNvPr id="17479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Dịch trực tiếp cú pháp thành mã 3 địa chỉ</a:t>
            </a:r>
            <a:endParaRPr lang="en-US" altLang="en-US" sz="2800"/>
          </a:p>
        </p:txBody>
      </p:sp>
      <p:sp>
        <p:nvSpPr>
          <p:cNvPr id="17479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A33376-AFDE-46D9-8DA5-71A4586BF80E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749028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Dịch trực tiếp cú pháp thành mã 3 địa chỉ</a:t>
            </a:r>
            <a:endParaRPr lang="en-US" altLang="en-US" sz="2800"/>
          </a:p>
        </p:txBody>
      </p:sp>
      <p:sp>
        <p:nvSpPr>
          <p:cNvPr id="17489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49050" name="Group 58"/>
          <p:cNvGraphicFramePr>
            <a:graphicFrameLocks noGrp="1"/>
          </p:cNvGraphicFramePr>
          <p:nvPr>
            <p:ph idx="1"/>
          </p:nvPr>
        </p:nvGraphicFramePr>
        <p:xfrm>
          <a:off x="266700" y="1066800"/>
          <a:ext cx="8724900" cy="5590223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Id:=E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S.Code=E.code||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(id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‘:=’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newTemp()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E.Code 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.code ||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.code 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‘+’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newTemp()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E.Code 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.code ||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.code 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‘*’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-E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newtemp()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E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.code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=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code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||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 ‘uminus’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; 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code =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id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; 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code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= ‘’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B7BA27-5F92-462C-988B-EBA6BC54F2C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7500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Dịch trực tiếp cú pháp thành mã 3 địa chỉ</a:t>
            </a:r>
            <a:endParaRPr lang="en-US" altLang="en-US" sz="2800"/>
          </a:p>
        </p:txBody>
      </p:sp>
      <p:sp>
        <p:nvSpPr>
          <p:cNvPr id="17500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914400"/>
            <a:ext cx="8039100" cy="685800"/>
          </a:xfrm>
        </p:spPr>
        <p:txBody>
          <a:bodyPr/>
          <a:lstStyle/>
          <a:p>
            <a:pPr marL="465138" indent="-465138">
              <a:lnSpc>
                <a:spcPct val="110000"/>
              </a:lnSpc>
              <a:buFontTx/>
              <a:buNone/>
            </a:pPr>
            <a:r>
              <a:rPr lang="en-US" altLang="en-US" sz="2800"/>
              <a:t>Câu lệnh gán:  a := b * -c + d</a:t>
            </a:r>
          </a:p>
        </p:txBody>
      </p:sp>
      <p:sp>
        <p:nvSpPr>
          <p:cNvPr id="175002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pic>
        <p:nvPicPr>
          <p:cNvPr id="175005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382000" cy="483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50078" name="Group 62"/>
          <p:cNvGrpSpPr>
            <a:grpSpLocks/>
          </p:cNvGrpSpPr>
          <p:nvPr/>
        </p:nvGrpSpPr>
        <p:grpSpPr bwMode="auto">
          <a:xfrm>
            <a:off x="3048000" y="3838575"/>
            <a:ext cx="5791200" cy="2105025"/>
            <a:chOff x="1920" y="2448"/>
            <a:chExt cx="3648" cy="1326"/>
          </a:xfrm>
        </p:grpSpPr>
        <p:sp>
          <p:nvSpPr>
            <p:cNvPr id="1750060" name="Oval 44"/>
            <p:cNvSpPr>
              <a:spLocks noChangeArrowheads="1"/>
            </p:cNvSpPr>
            <p:nvPr/>
          </p:nvSpPr>
          <p:spPr bwMode="auto">
            <a:xfrm>
              <a:off x="1920" y="2448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61" name="Line 45"/>
            <p:cNvSpPr>
              <a:spLocks noChangeShapeType="1"/>
            </p:cNvSpPr>
            <p:nvPr/>
          </p:nvSpPr>
          <p:spPr bwMode="auto">
            <a:xfrm>
              <a:off x="2208" y="2688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62" name="Text Box 46"/>
            <p:cNvSpPr txBox="1">
              <a:spLocks noChangeArrowheads="1"/>
            </p:cNvSpPr>
            <p:nvPr/>
          </p:nvSpPr>
          <p:spPr bwMode="auto">
            <a:xfrm>
              <a:off x="3024" y="2928"/>
              <a:ext cx="2544" cy="846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newtemp (t1)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E1.code ||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        Gen(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t1</a:t>
              </a:r>
              <a:r>
                <a:rPr lang="en-US" altLang="en-US" sz="2400" b="0" i="1">
                  <a:solidFill>
                    <a:srgbClr val="270076"/>
                  </a:solidFill>
                  <a:sym typeface="Symbol" panose="05050102010706020507" pitchFamily="18" charset="2"/>
                </a:rPr>
                <a:t>  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‘:=’  ‘uminus’ c</a:t>
              </a:r>
              <a:r>
                <a:rPr lang="fr-FR" altLang="en-US" sz="2400" b="0">
                  <a:solidFill>
                    <a:srgbClr val="270076"/>
                  </a:solidFill>
                </a:rPr>
                <a:t>)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</p:grpSp>
      <p:grpSp>
        <p:nvGrpSpPr>
          <p:cNvPr id="1750065" name="Group 49"/>
          <p:cNvGrpSpPr>
            <a:grpSpLocks/>
          </p:cNvGrpSpPr>
          <p:nvPr/>
        </p:nvGrpSpPr>
        <p:grpSpPr bwMode="auto">
          <a:xfrm>
            <a:off x="395288" y="3810000"/>
            <a:ext cx="2709862" cy="2914650"/>
            <a:chOff x="249" y="2400"/>
            <a:chExt cx="1707" cy="1836"/>
          </a:xfrm>
        </p:grpSpPr>
        <p:sp>
          <p:nvSpPr>
            <p:cNvPr id="1750055" name="Line 39"/>
            <p:cNvSpPr>
              <a:spLocks noChangeShapeType="1"/>
            </p:cNvSpPr>
            <p:nvPr/>
          </p:nvSpPr>
          <p:spPr bwMode="auto">
            <a:xfrm>
              <a:off x="480" y="2688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63" name="Oval 47"/>
            <p:cNvSpPr>
              <a:spLocks noChangeArrowheads="1"/>
            </p:cNvSpPr>
            <p:nvPr/>
          </p:nvSpPr>
          <p:spPr bwMode="auto">
            <a:xfrm>
              <a:off x="249" y="2400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64" name="Text Box 48"/>
            <p:cNvSpPr txBox="1">
              <a:spLocks noChangeArrowheads="1"/>
            </p:cNvSpPr>
            <p:nvPr/>
          </p:nvSpPr>
          <p:spPr bwMode="auto">
            <a:xfrm>
              <a:off x="516" y="3597"/>
              <a:ext cx="1440" cy="639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b</a:t>
              </a:r>
            </a:p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«  »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</p:grpSp>
      <p:grpSp>
        <p:nvGrpSpPr>
          <p:cNvPr id="1750067" name="Group 51"/>
          <p:cNvGrpSpPr>
            <a:grpSpLocks/>
          </p:cNvGrpSpPr>
          <p:nvPr/>
        </p:nvGrpSpPr>
        <p:grpSpPr bwMode="auto">
          <a:xfrm>
            <a:off x="3048000" y="4572000"/>
            <a:ext cx="4495800" cy="2081213"/>
            <a:chOff x="1920" y="2880"/>
            <a:chExt cx="2832" cy="1311"/>
          </a:xfrm>
        </p:grpSpPr>
        <p:sp>
          <p:nvSpPr>
            <p:cNvPr id="1750054" name="Oval 38"/>
            <p:cNvSpPr>
              <a:spLocks noChangeArrowheads="1"/>
            </p:cNvSpPr>
            <p:nvPr/>
          </p:nvSpPr>
          <p:spPr bwMode="auto">
            <a:xfrm>
              <a:off x="1920" y="2880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57" name="Text Box 41"/>
            <p:cNvSpPr txBox="1">
              <a:spLocks noChangeArrowheads="1"/>
            </p:cNvSpPr>
            <p:nvPr/>
          </p:nvSpPr>
          <p:spPr bwMode="auto">
            <a:xfrm>
              <a:off x="2448" y="3552"/>
              <a:ext cx="2304" cy="639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c</a:t>
              </a:r>
            </a:p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«  »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  <p:sp>
          <p:nvSpPr>
            <p:cNvPr id="1750066" name="Line 50"/>
            <p:cNvSpPr>
              <a:spLocks noChangeShapeType="1"/>
            </p:cNvSpPr>
            <p:nvPr/>
          </p:nvSpPr>
          <p:spPr bwMode="auto">
            <a:xfrm>
              <a:off x="2208" y="312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50074" name="Group 58"/>
          <p:cNvGrpSpPr>
            <a:grpSpLocks/>
          </p:cNvGrpSpPr>
          <p:nvPr/>
        </p:nvGrpSpPr>
        <p:grpSpPr bwMode="auto">
          <a:xfrm>
            <a:off x="4343400" y="3124200"/>
            <a:ext cx="2709863" cy="2914650"/>
            <a:chOff x="249" y="2400"/>
            <a:chExt cx="1707" cy="1836"/>
          </a:xfrm>
        </p:grpSpPr>
        <p:sp>
          <p:nvSpPr>
            <p:cNvPr id="1750075" name="Line 59"/>
            <p:cNvSpPr>
              <a:spLocks noChangeShapeType="1"/>
            </p:cNvSpPr>
            <p:nvPr/>
          </p:nvSpPr>
          <p:spPr bwMode="auto">
            <a:xfrm>
              <a:off x="480" y="2688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76" name="Oval 60"/>
            <p:cNvSpPr>
              <a:spLocks noChangeArrowheads="1"/>
            </p:cNvSpPr>
            <p:nvPr/>
          </p:nvSpPr>
          <p:spPr bwMode="auto">
            <a:xfrm>
              <a:off x="249" y="2400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77" name="Text Box 61"/>
            <p:cNvSpPr txBox="1">
              <a:spLocks noChangeArrowheads="1"/>
            </p:cNvSpPr>
            <p:nvPr/>
          </p:nvSpPr>
          <p:spPr bwMode="auto">
            <a:xfrm>
              <a:off x="516" y="3597"/>
              <a:ext cx="1440" cy="639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d</a:t>
              </a:r>
            </a:p>
            <a:p>
              <a:pPr algn="l">
                <a:spcBef>
                  <a:spcPct val="5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«  »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</p:grpSp>
      <p:grpSp>
        <p:nvGrpSpPr>
          <p:cNvPr id="1750080" name="Group 64"/>
          <p:cNvGrpSpPr>
            <a:grpSpLocks/>
          </p:cNvGrpSpPr>
          <p:nvPr/>
        </p:nvGrpSpPr>
        <p:grpSpPr bwMode="auto">
          <a:xfrm>
            <a:off x="1752600" y="2593975"/>
            <a:ext cx="7239000" cy="3883025"/>
            <a:chOff x="1104" y="1616"/>
            <a:chExt cx="4560" cy="2446"/>
          </a:xfrm>
        </p:grpSpPr>
        <p:sp>
          <p:nvSpPr>
            <p:cNvPr id="1750068" name="Text Box 52"/>
            <p:cNvSpPr txBox="1">
              <a:spLocks noChangeArrowheads="1"/>
            </p:cNvSpPr>
            <p:nvPr/>
          </p:nvSpPr>
          <p:spPr bwMode="auto">
            <a:xfrm>
              <a:off x="2688" y="3216"/>
              <a:ext cx="2976" cy="846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newtemp (t2)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E</a:t>
              </a:r>
              <a:r>
                <a:rPr lang="fr-FR" altLang="en-US" sz="2400" b="0" baseline="-25000">
                  <a:solidFill>
                    <a:srgbClr val="270076"/>
                  </a:solidFill>
                </a:rPr>
                <a:t>1</a:t>
              </a:r>
              <a:r>
                <a:rPr lang="fr-FR" altLang="en-US" sz="2400" b="0">
                  <a:solidFill>
                    <a:srgbClr val="270076"/>
                  </a:solidFill>
                </a:rPr>
                <a:t>.code ||E</a:t>
              </a:r>
              <a:r>
                <a:rPr lang="fr-FR" altLang="en-US" sz="2400" b="0" baseline="-25000">
                  <a:solidFill>
                    <a:srgbClr val="270076"/>
                  </a:solidFill>
                </a:rPr>
                <a:t>2</a:t>
              </a:r>
              <a:r>
                <a:rPr lang="fr-FR" altLang="en-US" sz="2400" b="0">
                  <a:solidFill>
                    <a:srgbClr val="270076"/>
                  </a:solidFill>
                </a:rPr>
                <a:t>.code ||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                        Gen(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t2</a:t>
              </a:r>
              <a:r>
                <a:rPr lang="en-US" altLang="en-US" sz="2400" b="0" i="1">
                  <a:solidFill>
                    <a:srgbClr val="270076"/>
                  </a:solidFill>
                  <a:sym typeface="Symbol" panose="05050102010706020507" pitchFamily="18" charset="2"/>
                </a:rPr>
                <a:t>  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‘:=’  b * t1</a:t>
              </a:r>
              <a:r>
                <a:rPr lang="fr-FR" altLang="en-US" sz="2400" b="0">
                  <a:solidFill>
                    <a:srgbClr val="270076"/>
                  </a:solidFill>
                </a:rPr>
                <a:t>)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  <p:sp>
          <p:nvSpPr>
            <p:cNvPr id="1750069" name="Oval 53"/>
            <p:cNvSpPr>
              <a:spLocks noChangeArrowheads="1"/>
            </p:cNvSpPr>
            <p:nvPr/>
          </p:nvSpPr>
          <p:spPr bwMode="auto">
            <a:xfrm>
              <a:off x="1104" y="1968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79" name="Freeform 63"/>
            <p:cNvSpPr>
              <a:spLocks/>
            </p:cNvSpPr>
            <p:nvPr/>
          </p:nvSpPr>
          <p:spPr bwMode="auto">
            <a:xfrm>
              <a:off x="1296" y="1616"/>
              <a:ext cx="3360" cy="1600"/>
            </a:xfrm>
            <a:custGeom>
              <a:avLst/>
              <a:gdLst>
                <a:gd name="T0" fmla="*/ 0 w 3360"/>
                <a:gd name="T1" fmla="*/ 352 h 1600"/>
                <a:gd name="T2" fmla="*/ 1200 w 3360"/>
                <a:gd name="T3" fmla="*/ 208 h 1600"/>
                <a:gd name="T4" fmla="*/ 3360 w 3360"/>
                <a:gd name="T5" fmla="*/ 1600 h 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0" h="1600">
                  <a:moveTo>
                    <a:pt x="0" y="352"/>
                  </a:moveTo>
                  <a:cubicBezTo>
                    <a:pt x="320" y="176"/>
                    <a:pt x="640" y="0"/>
                    <a:pt x="1200" y="208"/>
                  </a:cubicBezTo>
                  <a:cubicBezTo>
                    <a:pt x="1760" y="416"/>
                    <a:pt x="2560" y="1008"/>
                    <a:pt x="3360" y="16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50082" name="Group 66"/>
          <p:cNvGrpSpPr>
            <a:grpSpLocks/>
          </p:cNvGrpSpPr>
          <p:nvPr/>
        </p:nvGrpSpPr>
        <p:grpSpPr bwMode="auto">
          <a:xfrm>
            <a:off x="3048000" y="1692275"/>
            <a:ext cx="5943600" cy="5013325"/>
            <a:chOff x="1920" y="1048"/>
            <a:chExt cx="3744" cy="3158"/>
          </a:xfrm>
        </p:grpSpPr>
        <p:sp>
          <p:nvSpPr>
            <p:cNvPr id="1750070" name="Oval 54"/>
            <p:cNvSpPr>
              <a:spLocks noChangeArrowheads="1"/>
            </p:cNvSpPr>
            <p:nvPr/>
          </p:nvSpPr>
          <p:spPr bwMode="auto">
            <a:xfrm>
              <a:off x="1920" y="1536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72" name="Text Box 56"/>
            <p:cNvSpPr txBox="1">
              <a:spLocks noChangeArrowheads="1"/>
            </p:cNvSpPr>
            <p:nvPr/>
          </p:nvSpPr>
          <p:spPr bwMode="auto">
            <a:xfrm>
              <a:off x="3072" y="3360"/>
              <a:ext cx="2592" cy="846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E.Place = newtemp (t3)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E.Code = E1.code ||E.code||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           Gen(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t3</a:t>
              </a:r>
              <a:r>
                <a:rPr lang="en-US" altLang="en-US" sz="2400" b="0" i="1">
                  <a:solidFill>
                    <a:srgbClr val="270076"/>
                  </a:solidFill>
                  <a:sym typeface="Symbol" panose="05050102010706020507" pitchFamily="18" charset="2"/>
                </a:rPr>
                <a:t>  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‘:=’  t2 + d</a:t>
              </a:r>
              <a:r>
                <a:rPr lang="fr-FR" altLang="en-US" sz="2400" b="0">
                  <a:solidFill>
                    <a:srgbClr val="270076"/>
                  </a:solidFill>
                </a:rPr>
                <a:t>)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  <p:sp>
          <p:nvSpPr>
            <p:cNvPr id="1750081" name="Freeform 65"/>
            <p:cNvSpPr>
              <a:spLocks/>
            </p:cNvSpPr>
            <p:nvPr/>
          </p:nvSpPr>
          <p:spPr bwMode="auto">
            <a:xfrm>
              <a:off x="2160" y="1048"/>
              <a:ext cx="2784" cy="2312"/>
            </a:xfrm>
            <a:custGeom>
              <a:avLst/>
              <a:gdLst>
                <a:gd name="T0" fmla="*/ 0 w 2784"/>
                <a:gd name="T1" fmla="*/ 536 h 2312"/>
                <a:gd name="T2" fmla="*/ 1392 w 2784"/>
                <a:gd name="T3" fmla="*/ 296 h 2312"/>
                <a:gd name="T4" fmla="*/ 2784 w 2784"/>
                <a:gd name="T5" fmla="*/ 2312 h 2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84" h="2312">
                  <a:moveTo>
                    <a:pt x="0" y="536"/>
                  </a:moveTo>
                  <a:cubicBezTo>
                    <a:pt x="464" y="268"/>
                    <a:pt x="928" y="0"/>
                    <a:pt x="1392" y="296"/>
                  </a:cubicBezTo>
                  <a:cubicBezTo>
                    <a:pt x="1856" y="592"/>
                    <a:pt x="2320" y="1452"/>
                    <a:pt x="2784" y="23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50085" name="Group 69"/>
          <p:cNvGrpSpPr>
            <a:grpSpLocks/>
          </p:cNvGrpSpPr>
          <p:nvPr/>
        </p:nvGrpSpPr>
        <p:grpSpPr bwMode="auto">
          <a:xfrm>
            <a:off x="1752600" y="457200"/>
            <a:ext cx="7010400" cy="6124575"/>
            <a:chOff x="1104" y="312"/>
            <a:chExt cx="4416" cy="3858"/>
          </a:xfrm>
        </p:grpSpPr>
        <p:sp>
          <p:nvSpPr>
            <p:cNvPr id="1750071" name="Oval 55"/>
            <p:cNvSpPr>
              <a:spLocks noChangeArrowheads="1"/>
            </p:cNvSpPr>
            <p:nvPr/>
          </p:nvSpPr>
          <p:spPr bwMode="auto">
            <a:xfrm>
              <a:off x="1104" y="1104"/>
              <a:ext cx="288" cy="288"/>
            </a:xfrm>
            <a:prstGeom prst="ellipse">
              <a:avLst/>
            </a:prstGeom>
            <a:noFill/>
            <a:ln w="57150">
              <a:solidFill>
                <a:srgbClr val="FA06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0073" name="Text Box 57"/>
            <p:cNvSpPr txBox="1">
              <a:spLocks noChangeArrowheads="1"/>
            </p:cNvSpPr>
            <p:nvPr/>
          </p:nvSpPr>
          <p:spPr bwMode="auto">
            <a:xfrm>
              <a:off x="2928" y="3600"/>
              <a:ext cx="2592" cy="570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S.Code = E.code ||</a:t>
              </a:r>
            </a:p>
            <a:p>
              <a:pPr algn="l">
                <a:spcBef>
                  <a:spcPct val="20000"/>
                </a:spcBef>
              </a:pPr>
              <a:r>
                <a:rPr lang="fr-FR" altLang="en-US" sz="2400" b="0">
                  <a:solidFill>
                    <a:srgbClr val="270076"/>
                  </a:solidFill>
                </a:rPr>
                <a:t>Gen(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a</a:t>
              </a:r>
              <a:r>
                <a:rPr lang="en-US" altLang="en-US" sz="2400" b="0" i="1">
                  <a:solidFill>
                    <a:srgbClr val="270076"/>
                  </a:solidFill>
                  <a:sym typeface="Symbol" panose="05050102010706020507" pitchFamily="18" charset="2"/>
                </a:rPr>
                <a:t>  </a:t>
              </a:r>
              <a:r>
                <a:rPr lang="en-US" altLang="en-US" sz="2400" b="0">
                  <a:solidFill>
                    <a:srgbClr val="270076"/>
                  </a:solidFill>
                  <a:sym typeface="Symbol" panose="05050102010706020507" pitchFamily="18" charset="2"/>
                </a:rPr>
                <a:t>‘:=’  t3</a:t>
              </a:r>
              <a:r>
                <a:rPr lang="fr-FR" altLang="en-US" sz="2400" b="0">
                  <a:solidFill>
                    <a:srgbClr val="270076"/>
                  </a:solidFill>
                </a:rPr>
                <a:t>)</a:t>
              </a:r>
              <a:endParaRPr lang="en-US" altLang="en-US" sz="2400" b="0">
                <a:solidFill>
                  <a:srgbClr val="270076"/>
                </a:solidFill>
              </a:endParaRPr>
            </a:p>
          </p:txBody>
        </p:sp>
        <p:sp>
          <p:nvSpPr>
            <p:cNvPr id="1750084" name="Freeform 68"/>
            <p:cNvSpPr>
              <a:spLocks/>
            </p:cNvSpPr>
            <p:nvPr/>
          </p:nvSpPr>
          <p:spPr bwMode="auto">
            <a:xfrm>
              <a:off x="1296" y="312"/>
              <a:ext cx="3984" cy="3288"/>
            </a:xfrm>
            <a:custGeom>
              <a:avLst/>
              <a:gdLst>
                <a:gd name="T0" fmla="*/ 0 w 3984"/>
                <a:gd name="T1" fmla="*/ 840 h 3288"/>
                <a:gd name="T2" fmla="*/ 2832 w 3984"/>
                <a:gd name="T3" fmla="*/ 408 h 3288"/>
                <a:gd name="T4" fmla="*/ 3984 w 3984"/>
                <a:gd name="T5" fmla="*/ 3288 h 3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84" h="3288">
                  <a:moveTo>
                    <a:pt x="0" y="840"/>
                  </a:moveTo>
                  <a:cubicBezTo>
                    <a:pt x="1084" y="420"/>
                    <a:pt x="2168" y="0"/>
                    <a:pt x="2832" y="408"/>
                  </a:cubicBezTo>
                  <a:cubicBezTo>
                    <a:pt x="3496" y="816"/>
                    <a:pt x="3740" y="2052"/>
                    <a:pt x="3984" y="3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5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7500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5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5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7500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750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5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7500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5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5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750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50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5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750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CFE2FC-A060-422E-BCA6-B66B07DFECD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7510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Dịch trực tiếp cú pháp thành mã 3 địa chỉ</a:t>
            </a:r>
            <a:endParaRPr lang="en-US" altLang="en-US" sz="2800"/>
          </a:p>
        </p:txBody>
      </p:sp>
      <p:sp>
        <p:nvSpPr>
          <p:cNvPr id="175104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51107" name="Group 67"/>
          <p:cNvGraphicFramePr>
            <a:graphicFrameLocks noGrp="1"/>
          </p:cNvGraphicFramePr>
          <p:nvPr>
            <p:ph idx="1"/>
          </p:nvPr>
        </p:nvGraphicFramePr>
        <p:xfrm>
          <a:off x="266700" y="1066800"/>
          <a:ext cx="8724900" cy="5435981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Ví dụ: </a:t>
                      </a: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Câu lệnh lặp while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while E do S1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S.Begin = newLabel()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S.After = newLabel()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S.Code =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/*Sinh mã cho lệnh while gồm*/ </a:t>
                      </a: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gen(S.begin ‘:’) 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E.code||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/*Sinh mã cho lệnh đánh giá E*/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Gen(‘if’  E.place  ’=‘ 0 ‘goto’ S.After)||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S1.code||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/*Sinh mã cho lệnh S1*/</a:t>
                      </a: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gen(‘goto’ S.Begin)||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/*Sinh mã cho goto*/</a:t>
                      </a: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Gen(S.After ‘:’)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</a:rPr>
                        <a:t>/*Sinh mã cho nhãn mới*/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Hàm newLabel(): Sinh ra một nhãn mới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1100" name="Rectangle 60"/>
          <p:cNvSpPr>
            <a:spLocks noChangeArrowheads="1"/>
          </p:cNvSpPr>
          <p:nvPr/>
        </p:nvSpPr>
        <p:spPr bwMode="auto">
          <a:xfrm>
            <a:off x="0" y="2481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51105" name="Rectangle 65"/>
          <p:cNvSpPr>
            <a:spLocks noChangeArrowheads="1"/>
          </p:cNvSpPr>
          <p:nvPr/>
        </p:nvSpPr>
        <p:spPr bwMode="auto">
          <a:xfrm>
            <a:off x="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51104" name="Object 64"/>
          <p:cNvGraphicFramePr>
            <a:graphicFrameLocks noChangeAspect="1"/>
          </p:cNvGraphicFramePr>
          <p:nvPr/>
        </p:nvGraphicFramePr>
        <p:xfrm>
          <a:off x="228600" y="2932113"/>
          <a:ext cx="2895600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40278" imgH="1945843" progId="Visio.Drawing.11">
                  <p:embed/>
                </p:oleObj>
              </mc:Choice>
              <mc:Fallback>
                <p:oleObj name="Visio" r:id="rId2" imgW="3440278" imgH="1945843" progId="Visio.Drawing.11">
                  <p:embed/>
                  <p:pic>
                    <p:nvPicPr>
                      <p:cNvPr id="175110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32113"/>
                        <a:ext cx="2895600" cy="232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8E300E-96F3-4640-8E44-81A441EF270D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96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52600" y="914400"/>
            <a:ext cx="5791200" cy="762000"/>
          </a:xfrm>
          <a:ln>
            <a:solidFill>
              <a:srgbClr val="3F53E5"/>
            </a:solidFill>
            <a:miter lim="800000"/>
            <a:headEnd/>
            <a:tailEnd/>
          </a:ln>
        </p:spPr>
        <p:txBody>
          <a:bodyPr/>
          <a:lstStyle/>
          <a:p>
            <a:pPr marL="465138" indent="-465138" algn="ctr">
              <a:lnSpc>
                <a:spcPct val="110000"/>
              </a:lnSpc>
              <a:buFontTx/>
              <a:buNone/>
            </a:pPr>
            <a:r>
              <a:rPr lang="en-US" altLang="en-US"/>
              <a:t>While a + b Do a := a * b</a:t>
            </a:r>
            <a:endParaRPr lang="en-US" altLang="en-US" sz="3600"/>
          </a:p>
        </p:txBody>
      </p:sp>
      <p:sp>
        <p:nvSpPr>
          <p:cNvPr id="196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Ví dụ: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96915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969157" name="Rectangle 5"/>
          <p:cNvSpPr>
            <a:spLocks noChangeArrowheads="1"/>
          </p:cNvSpPr>
          <p:nvPr/>
        </p:nvSpPr>
        <p:spPr bwMode="auto">
          <a:xfrm>
            <a:off x="3505200" y="1905000"/>
            <a:ext cx="5334000" cy="4495800"/>
          </a:xfrm>
          <a:prstGeom prst="rect">
            <a:avLst/>
          </a:prstGeom>
          <a:noFill/>
          <a:ln w="9525">
            <a:solidFill>
              <a:srgbClr val="3F53E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5138" indent="-465138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450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S.Code =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L1: 	t1 := a + b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	If t1 = 0 goto L2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	t2 = a * b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	a := t2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	goto L1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/>
              <a:t>		L2:</a:t>
            </a:r>
          </a:p>
        </p:txBody>
      </p:sp>
      <p:sp>
        <p:nvSpPr>
          <p:cNvPr id="1969158" name="Rectangle 6"/>
          <p:cNvSpPr>
            <a:spLocks noChangeArrowheads="1"/>
          </p:cNvSpPr>
          <p:nvPr/>
        </p:nvSpPr>
        <p:spPr bwMode="auto">
          <a:xfrm>
            <a:off x="381000" y="2667000"/>
            <a:ext cx="2743200" cy="3200400"/>
          </a:xfrm>
          <a:prstGeom prst="rect">
            <a:avLst/>
          </a:prstGeom>
          <a:noFill/>
          <a:ln w="9525">
            <a:solidFill>
              <a:srgbClr val="3F53E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5138" indent="-465138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450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 sz="2800" b="0"/>
              <a:t>S.Begin = newLabel() = L1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sz="2800" b="0"/>
              <a:t>S.After = newLabel() = L2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6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9157" grpId="0" animBg="1"/>
      <p:bldP spid="196915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33A621-D8D2-40EC-86D8-FBA6E82E874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764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465138" indent="-465138">
              <a:lnSpc>
                <a:spcPct val="110000"/>
              </a:lnSpc>
            </a:pPr>
            <a:r>
              <a:rPr lang="fr-FR" altLang="en-US"/>
              <a:t>Sử dụng cấu trúc gồm 4 trường: </a:t>
            </a:r>
            <a:r>
              <a:rPr lang="fr-FR" altLang="en-US">
                <a:solidFill>
                  <a:srgbClr val="3F53E5"/>
                </a:solidFill>
              </a:rPr>
              <a:t>Op</a:t>
            </a:r>
            <a:r>
              <a:rPr lang="fr-FR" altLang="en-US"/>
              <a:t>, </a:t>
            </a:r>
            <a:r>
              <a:rPr lang="fr-FR" altLang="en-US">
                <a:solidFill>
                  <a:srgbClr val="3F53E5"/>
                </a:solidFill>
              </a:rPr>
              <a:t>Arg1</a:t>
            </a:r>
            <a:r>
              <a:rPr lang="fr-FR" altLang="en-US"/>
              <a:t>, </a:t>
            </a:r>
            <a:r>
              <a:rPr lang="fr-FR" altLang="en-US">
                <a:solidFill>
                  <a:srgbClr val="3F53E5"/>
                </a:solidFill>
              </a:rPr>
              <a:t>Arg2</a:t>
            </a:r>
            <a:r>
              <a:rPr lang="fr-FR" altLang="en-US"/>
              <a:t>, </a:t>
            </a:r>
            <a:r>
              <a:rPr lang="fr-FR" altLang="en-US">
                <a:solidFill>
                  <a:srgbClr val="3F53E5"/>
                </a:solidFill>
              </a:rPr>
              <a:t>Result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 b="1">
                <a:solidFill>
                  <a:srgbClr val="3539EB"/>
                </a:solidFill>
              </a:rPr>
              <a:t>Op:</a:t>
            </a:r>
            <a:r>
              <a:rPr lang="fr-FR" altLang="en-US"/>
              <a:t> Chứa mã nội bộ của toán tử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/>
              <a:t>Các trường </a:t>
            </a:r>
            <a:r>
              <a:rPr lang="fr-FR" altLang="en-US">
                <a:solidFill>
                  <a:srgbClr val="3539EB"/>
                </a:solidFill>
              </a:rPr>
              <a:t>Arg1, Arg2, Result</a:t>
            </a:r>
            <a:r>
              <a:rPr lang="fr-FR" altLang="en-US"/>
              <a:t> trỏ tới các ô trong bảng ký hiệu, ứng với các tên tương ứng</a:t>
            </a:r>
          </a:p>
          <a:p>
            <a:pPr marL="465138" indent="-465138">
              <a:lnSpc>
                <a:spcPct val="110000"/>
              </a:lnSpc>
            </a:pPr>
            <a:r>
              <a:rPr lang="fr-FR" altLang="en-US"/>
              <a:t>Câu lệnh dạng </a:t>
            </a:r>
            <a:r>
              <a:rPr lang="fr-FR" altLang="en-US" b="1">
                <a:solidFill>
                  <a:srgbClr val="3539EB"/>
                </a:solidFill>
              </a:rPr>
              <a:t>a:= b Op c</a:t>
            </a:r>
            <a:r>
              <a:rPr lang="fr-FR" altLang="en-US"/>
              <a:t> 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/>
              <a:t>Đặt b vào Arg1, c vào Arg2 và a vào Result</a:t>
            </a:r>
          </a:p>
          <a:p>
            <a:pPr marL="465138" indent="-465138">
              <a:lnSpc>
                <a:spcPct val="110000"/>
              </a:lnSpc>
            </a:pPr>
            <a:r>
              <a:rPr lang="fr-FR" altLang="en-US"/>
              <a:t>Câu lệnh một ngôi: </a:t>
            </a:r>
            <a:r>
              <a:rPr lang="fr-FR" altLang="en-US" b="1">
                <a:solidFill>
                  <a:srgbClr val="3539EB"/>
                </a:solidFill>
              </a:rPr>
              <a:t>a:= b</a:t>
            </a:r>
            <a:r>
              <a:rPr lang="fr-FR" altLang="en-US"/>
              <a:t>;  </a:t>
            </a:r>
            <a:r>
              <a:rPr lang="fr-FR" altLang="en-US" b="1">
                <a:solidFill>
                  <a:srgbClr val="3539EB"/>
                </a:solidFill>
              </a:rPr>
              <a:t>a:=-b</a:t>
            </a:r>
          </a:p>
          <a:p>
            <a:pPr marL="1030288" lvl="1" indent="-450850">
              <a:lnSpc>
                <a:spcPct val="110000"/>
              </a:lnSpc>
            </a:pPr>
            <a:r>
              <a:rPr lang="fr-FR" altLang="en-US"/>
              <a:t>Không sử dụng Arg2</a:t>
            </a:r>
            <a:endParaRPr lang="en-US" altLang="en-US"/>
          </a:p>
        </p:txBody>
      </p:sp>
      <p:sp>
        <p:nvSpPr>
          <p:cNvPr id="17643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Cài đặt lệnh 3 địa chỉ</a:t>
            </a:r>
            <a:r>
              <a:rPr lang="fr-FR" altLang="en-US">
                <a:sym typeface="Symbol" panose="05050102010706020507" pitchFamily="18" charset="2"/>
              </a:rPr>
              <a:t>Biểu diễn bộ bốn</a:t>
            </a:r>
          </a:p>
        </p:txBody>
      </p:sp>
      <p:sp>
        <p:nvSpPr>
          <p:cNvPr id="176435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9142B7-CDCA-4F64-8096-CB40B065A7DD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7653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Cài đặt lệnh 3 địa chỉ</a:t>
            </a:r>
            <a:r>
              <a:rPr lang="fr-FR" altLang="en-US">
                <a:sym typeface="Symbol" panose="05050102010706020507" pitchFamily="18" charset="2"/>
              </a:rPr>
              <a:t>Biểu diễn bộ bốn</a:t>
            </a:r>
          </a:p>
        </p:txBody>
      </p:sp>
      <p:sp>
        <p:nvSpPr>
          <p:cNvPr id="1765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066800"/>
            <a:ext cx="4286250" cy="762000"/>
          </a:xfrm>
        </p:spPr>
        <p:txBody>
          <a:bodyPr/>
          <a:lstStyle/>
          <a:p>
            <a:pPr marL="465138" indent="-465138">
              <a:lnSpc>
                <a:spcPct val="110000"/>
              </a:lnSpc>
              <a:buFontTx/>
              <a:buNone/>
            </a:pPr>
            <a:r>
              <a:rPr lang="fr-FR" altLang="en-US" sz="2800"/>
              <a:t>Ví dụ lệnh  a = -b * (c+d)</a:t>
            </a:r>
            <a:endParaRPr lang="en-US" altLang="en-US" sz="2800"/>
          </a:p>
        </p:txBody>
      </p:sp>
      <p:sp>
        <p:nvSpPr>
          <p:cNvPr id="176538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65381" name="Rectangle 5"/>
          <p:cNvSpPr>
            <a:spLocks noChangeArrowheads="1"/>
          </p:cNvSpPr>
          <p:nvPr/>
        </p:nvSpPr>
        <p:spPr bwMode="auto">
          <a:xfrm>
            <a:off x="457200" y="1905000"/>
            <a:ext cx="2743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5138" indent="-465138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450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Lệnh 3 địa chỉ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 t1 := -b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 t2 := c + d;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 t3 := t1 * t2;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 a := t3</a:t>
            </a:r>
            <a:endParaRPr lang="en-US" altLang="en-US" b="0"/>
          </a:p>
        </p:txBody>
      </p:sp>
      <p:sp>
        <p:nvSpPr>
          <p:cNvPr id="1765382" name="Text Box 6"/>
          <p:cNvSpPr txBox="1">
            <a:spLocks noChangeArrowheads="1"/>
          </p:cNvSpPr>
          <p:nvPr/>
        </p:nvSpPr>
        <p:spPr bwMode="auto">
          <a:xfrm>
            <a:off x="4648200" y="2057400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fr-FR" altLang="en-US" sz="1000"/>
          </a:p>
        </p:txBody>
      </p:sp>
      <p:sp>
        <p:nvSpPr>
          <p:cNvPr id="1765414" name="Text Box 38"/>
          <p:cNvSpPr txBox="1">
            <a:spLocks noChangeArrowheads="1"/>
          </p:cNvSpPr>
          <p:nvPr/>
        </p:nvSpPr>
        <p:spPr bwMode="auto">
          <a:xfrm>
            <a:off x="3962400" y="20574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altLang="en-US" sz="2800" b="0">
                <a:solidFill>
                  <a:srgbClr val="3539EB"/>
                </a:solidFill>
              </a:rPr>
              <a:t>Biểu diễn bởi dãy các bộ 4</a:t>
            </a:r>
            <a:endParaRPr lang="en-US" altLang="en-US" sz="2800" b="0">
              <a:solidFill>
                <a:srgbClr val="3539EB"/>
              </a:solidFill>
            </a:endParaRPr>
          </a:p>
        </p:txBody>
      </p:sp>
      <p:graphicFrame>
        <p:nvGraphicFramePr>
          <p:cNvPr id="1765514" name="Group 138"/>
          <p:cNvGraphicFramePr>
            <a:graphicFrameLocks noGrp="1"/>
          </p:cNvGraphicFramePr>
          <p:nvPr>
            <p:ph sz="half" idx="2"/>
          </p:nvPr>
        </p:nvGraphicFramePr>
        <p:xfrm>
          <a:off x="3200400" y="2667000"/>
          <a:ext cx="5638800" cy="28956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Op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Arg1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Arg2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Result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uminus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:=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65515" name="Rectangle 139"/>
          <p:cNvSpPr>
            <a:spLocks noChangeArrowheads="1"/>
          </p:cNvSpPr>
          <p:nvPr/>
        </p:nvSpPr>
        <p:spPr bwMode="auto">
          <a:xfrm>
            <a:off x="762000" y="5791200"/>
            <a:ext cx="784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5138" indent="-465138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4508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fr-FR" altLang="en-US" b="0"/>
              <a:t>Các tên tạm phải được đưa vào bảng ký hiệu</a:t>
            </a:r>
            <a:endParaRPr lang="en-US" altLang="en-US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6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6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65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65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5414" grpId="0"/>
      <p:bldP spid="17655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B81D05-C9E1-49D8-ADA7-E5BD8E1BCF38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7633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Cài đặt lệnh 3 địa chỉ</a:t>
            </a:r>
            <a:r>
              <a:rPr lang="fr-FR" altLang="en-US">
                <a:sym typeface="Symbol" panose="05050102010706020507" pitchFamily="18" charset="2"/>
              </a:rPr>
              <a:t>Biểu diễn bộ ba</a:t>
            </a:r>
          </a:p>
        </p:txBody>
      </p:sp>
      <p:sp>
        <p:nvSpPr>
          <p:cNvPr id="1763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066800"/>
            <a:ext cx="8496300" cy="3352800"/>
          </a:xfrm>
        </p:spPr>
        <p:txBody>
          <a:bodyPr/>
          <a:lstStyle/>
          <a:p>
            <a:pPr marL="465138" indent="-465138">
              <a:lnSpc>
                <a:spcPct val="110000"/>
              </a:lnSpc>
            </a:pPr>
            <a:r>
              <a:rPr lang="fr-FR" altLang="en-US" sz="2800"/>
              <a:t>Mục đích để trách đưa tên tạm vào bảng ký hiệu</a:t>
            </a:r>
          </a:p>
          <a:p>
            <a:pPr marL="465138" indent="-465138">
              <a:lnSpc>
                <a:spcPct val="110000"/>
              </a:lnSpc>
            </a:pPr>
            <a:r>
              <a:rPr lang="fr-FR" altLang="en-US" sz="2800"/>
              <a:t>Tham khảo tới giá trị tạm thời bằng vị trí lệnh sử dụng tính ra giá trị này</a:t>
            </a:r>
          </a:p>
          <a:p>
            <a:pPr marL="465138" indent="-465138">
              <a:lnSpc>
                <a:spcPct val="110000"/>
              </a:lnSpc>
            </a:pPr>
            <a:r>
              <a:rPr lang="fr-FR" altLang="en-US" sz="2800"/>
              <a:t>Bỏ trường </a:t>
            </a:r>
            <a:r>
              <a:rPr lang="fr-FR" altLang="en-US" sz="2800" b="1">
                <a:solidFill>
                  <a:srgbClr val="3539EB"/>
                </a:solidFill>
              </a:rPr>
              <a:t>Result</a:t>
            </a:r>
            <a:r>
              <a:rPr lang="fr-FR" altLang="en-US" sz="2800">
                <a:solidFill>
                  <a:srgbClr val="3539EB"/>
                </a:solidFill>
              </a:rPr>
              <a:t>,</a:t>
            </a:r>
            <a:r>
              <a:rPr lang="fr-FR" altLang="en-US" sz="2800"/>
              <a:t> Các trường </a:t>
            </a:r>
            <a:r>
              <a:rPr lang="fr-FR" altLang="en-US" sz="2800" b="1">
                <a:solidFill>
                  <a:schemeClr val="accent2"/>
                </a:solidFill>
              </a:rPr>
              <a:t>Arg1, Arg2</a:t>
            </a:r>
            <a:r>
              <a:rPr lang="fr-FR" altLang="en-US" sz="2800"/>
              <a:t> trỏ tới phần tử tương ứng trong bảng ký hiệu hoặc câu lệnh tương ứng</a:t>
            </a:r>
            <a:endParaRPr lang="en-US" altLang="en-US" sz="2800"/>
          </a:p>
        </p:txBody>
      </p:sp>
      <p:sp>
        <p:nvSpPr>
          <p:cNvPr id="176333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63384" name="Group 56"/>
          <p:cNvGraphicFramePr>
            <a:graphicFrameLocks noGrp="1"/>
          </p:cNvGraphicFramePr>
          <p:nvPr>
            <p:ph sz="half" idx="2"/>
          </p:nvPr>
        </p:nvGraphicFramePr>
        <p:xfrm>
          <a:off x="4343400" y="3886200"/>
          <a:ext cx="4438650" cy="2590800"/>
        </p:xfrm>
        <a:graphic>
          <a:graphicData uri="http://schemas.openxmlformats.org/drawingml/2006/table">
            <a:tbl>
              <a:tblPr/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Op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Arg1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Arg2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uminus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:=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6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4CAFD8-1266-4079-BFBA-C341E3591F2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7694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khai báo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694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066800"/>
            <a:ext cx="8496300" cy="5486400"/>
          </a:xfrm>
        </p:spPr>
        <p:txBody>
          <a:bodyPr/>
          <a:lstStyle/>
          <a:p>
            <a:pPr marL="465138" indent="-465138">
              <a:lnSpc>
                <a:spcPct val="115000"/>
              </a:lnSpc>
              <a:spcBef>
                <a:spcPct val="25000"/>
              </a:spcBef>
            </a:pPr>
            <a:r>
              <a:rPr lang="fr-FR" altLang="en-US"/>
              <a:t>Sử dụng biến toàn cục </a:t>
            </a:r>
            <a:r>
              <a:rPr lang="fr-FR" altLang="en-US">
                <a:solidFill>
                  <a:srgbClr val="2C1EDC"/>
                </a:solidFill>
              </a:rPr>
              <a:t>offset</a:t>
            </a:r>
          </a:p>
          <a:p>
            <a:pPr marL="1030288" lvl="1" indent="-450850">
              <a:lnSpc>
                <a:spcPct val="115000"/>
              </a:lnSpc>
              <a:spcBef>
                <a:spcPct val="25000"/>
              </a:spcBef>
            </a:pPr>
            <a:r>
              <a:rPr lang="fr-FR" altLang="en-US"/>
              <a:t>Trước khi bắt đầu khai báo: </a:t>
            </a:r>
            <a:r>
              <a:rPr lang="fr-FR" altLang="en-US">
                <a:solidFill>
                  <a:srgbClr val="2C1EDC"/>
                </a:solidFill>
              </a:rPr>
              <a:t>offset = 0</a:t>
            </a:r>
          </a:p>
          <a:p>
            <a:pPr marL="1030288" lvl="1" indent="-450850">
              <a:lnSpc>
                <a:spcPct val="115000"/>
              </a:lnSpc>
              <a:spcBef>
                <a:spcPct val="25000"/>
              </a:spcBef>
            </a:pPr>
            <a:r>
              <a:rPr lang="fr-FR" altLang="en-US"/>
              <a:t>Với mỗi khai báo biến sẽ đưa tên đối tượng, kiểu và giá trị của offset vào bảng ký hiệu</a:t>
            </a:r>
          </a:p>
          <a:p>
            <a:pPr marL="1030288" lvl="1" indent="-450850">
              <a:lnSpc>
                <a:spcPct val="115000"/>
              </a:lnSpc>
              <a:spcBef>
                <a:spcPct val="25000"/>
              </a:spcBef>
            </a:pPr>
            <a:r>
              <a:rPr lang="fr-FR" altLang="en-US"/>
              <a:t>Tăng offset lên bằng kích thước của dữ liệu</a:t>
            </a:r>
          </a:p>
          <a:p>
            <a:pPr marL="465138" indent="-465138">
              <a:lnSpc>
                <a:spcPct val="115000"/>
              </a:lnSpc>
              <a:spcBef>
                <a:spcPct val="25000"/>
              </a:spcBef>
            </a:pPr>
            <a:r>
              <a:rPr lang="en-US" altLang="en-US"/>
              <a:t>Các tên trong chương trình con được truy xuất thông qua địa chỉ tương đối </a:t>
            </a:r>
            <a:r>
              <a:rPr lang="en-US" altLang="en-US">
                <a:solidFill>
                  <a:srgbClr val="2C1EDC"/>
                </a:solidFill>
              </a:rPr>
              <a:t>offset</a:t>
            </a:r>
          </a:p>
          <a:p>
            <a:pPr marL="1030288" lvl="1" indent="-450850">
              <a:lnSpc>
                <a:spcPct val="115000"/>
              </a:lnSpc>
              <a:spcBef>
                <a:spcPct val="25000"/>
              </a:spcBef>
            </a:pPr>
            <a:r>
              <a:rPr lang="fr-FR" altLang="en-US"/>
              <a:t>Khi gặp tên đối tượng (biến), dựa vào trường </a:t>
            </a:r>
            <a:r>
              <a:rPr lang="fr-FR" altLang="en-US">
                <a:solidFill>
                  <a:srgbClr val="2C1EDC"/>
                </a:solidFill>
              </a:rPr>
              <a:t>offset</a:t>
            </a:r>
            <a:r>
              <a:rPr lang="fr-FR" altLang="en-US"/>
              <a:t> để biết vị trí trong vùng dữ liệu</a:t>
            </a:r>
            <a:endParaRPr lang="en-US" altLang="en-US"/>
          </a:p>
        </p:txBody>
      </p:sp>
      <p:sp>
        <p:nvSpPr>
          <p:cNvPr id="17694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FB8C-ACDD-4147-9371-EF8C52DBEED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77152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khai báo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715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71585" name="Group 65"/>
          <p:cNvGraphicFramePr>
            <a:graphicFrameLocks noGrp="1"/>
          </p:cNvGraphicFramePr>
          <p:nvPr>
            <p:ph sz="half" idx="2"/>
          </p:nvPr>
        </p:nvGraphicFramePr>
        <p:xfrm>
          <a:off x="304800" y="990600"/>
          <a:ext cx="8610600" cy="5648579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xuất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P MD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{}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{</a:t>
                      </a:r>
                      <a:r>
                        <a:rPr kumimoji="0" lang="fr-FR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Offset = 0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}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D ; D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1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Id : T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enter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id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.name, 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T.</a:t>
                      </a:r>
                      <a:r>
                        <a:rPr kumimoji="0" lang="en-US" altLang="en-US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offset)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Offset =Offset +</a:t>
                      </a:r>
                      <a:r>
                        <a:rPr kumimoji="0" lang="fr-FR" altLang="en-US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T.Width</a:t>
                      </a:r>
                      <a:r>
                        <a:rPr kumimoji="0" lang="fr-FR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en-US" sz="2400" b="0" i="1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fr-FR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.type = Interger; T.width = 2</a:t>
                      </a:r>
                      <a:endParaRPr kumimoji="0" lang="en-US" altLang="en-US" sz="2400" b="0" i="1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real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real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;  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width = 4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array[num] of T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array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(1..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num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val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,T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b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</a:b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width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num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.val * T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width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Hàm 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Enter(name, type, offset)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thêm một đối tượng vào bảng ký hiệu với tên (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name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), kiểu(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 và địa chỉ tương đối (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offset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 của vùng dữ liệu của nó.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D758D0-C0BC-4FA6-AF6A-ABD63C2AC27E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772546" name="Rectangle 2"/>
          <p:cNvSpPr>
            <a:spLocks noGrp="1" noChangeArrowheads="1"/>
          </p:cNvSpPr>
          <p:nvPr>
            <p:ph type="title" sz="quarter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khai báo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72579" name="Rectangle 35"/>
          <p:cNvSpPr>
            <a:spLocks noGrp="1" noChangeArrowheads="1"/>
          </p:cNvSpPr>
          <p:nvPr>
            <p:ph sz="quarter" idx="2"/>
          </p:nvPr>
        </p:nvSpPr>
        <p:spPr>
          <a:xfrm>
            <a:off x="228600" y="1219200"/>
            <a:ext cx="2457450" cy="3657600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fr-FR" altLang="en-US" sz="2800"/>
              <a:t>A: Interger;</a:t>
            </a:r>
          </a:p>
          <a:p>
            <a:pPr>
              <a:buFontTx/>
              <a:buNone/>
            </a:pPr>
            <a:r>
              <a:rPr lang="fr-FR" altLang="en-US" sz="2800"/>
              <a:t>B: Interger;</a:t>
            </a:r>
          </a:p>
          <a:p>
            <a:pPr>
              <a:buFontTx/>
              <a:buNone/>
            </a:pPr>
            <a:r>
              <a:rPr lang="fr-FR" altLang="en-US" sz="2800"/>
              <a:t>C:Interger;</a:t>
            </a:r>
          </a:p>
          <a:p>
            <a:pPr>
              <a:buFontTx/>
              <a:buNone/>
            </a:pPr>
            <a:endParaRPr lang="fr-FR" altLang="en-US" sz="2800"/>
          </a:p>
          <a:p>
            <a:pPr>
              <a:buFontTx/>
              <a:buNone/>
            </a:pPr>
            <a:r>
              <a:rPr lang="fr-FR" altLang="en-US" sz="2800"/>
              <a:t>B :=10</a:t>
            </a:r>
          </a:p>
          <a:p>
            <a:pPr>
              <a:buFontTx/>
              <a:buNone/>
            </a:pPr>
            <a:r>
              <a:rPr lang="fr-FR" altLang="en-US" sz="2800"/>
              <a:t>C:=20</a:t>
            </a:r>
          </a:p>
          <a:p>
            <a:pPr>
              <a:buFontTx/>
              <a:buNone/>
            </a:pPr>
            <a:r>
              <a:rPr lang="fr-FR" altLang="en-US" sz="2800"/>
              <a:t>A:=B*C</a:t>
            </a:r>
            <a:endParaRPr lang="en-US" altLang="en-US" sz="2800"/>
          </a:p>
        </p:txBody>
      </p:sp>
      <p:graphicFrame>
        <p:nvGraphicFramePr>
          <p:cNvPr id="1772582" name="Object 3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315200" y="1066800"/>
          <a:ext cx="1290638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65250" imgH="2407615" progId="Visio.Drawing.11">
                  <p:embed/>
                </p:oleObj>
              </mc:Choice>
              <mc:Fallback>
                <p:oleObj name="Visio" r:id="rId2" imgW="1165250" imgH="2407615" progId="Visio.Drawing.11">
                  <p:embed/>
                  <p:pic>
                    <p:nvPicPr>
                      <p:cNvPr id="177258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066800"/>
                        <a:ext cx="1290638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254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72636" name="Group 92"/>
          <p:cNvGraphicFramePr>
            <a:graphicFrameLocks noGrp="1"/>
          </p:cNvGraphicFramePr>
          <p:nvPr>
            <p:ph sz="quarter" idx="4"/>
          </p:nvPr>
        </p:nvGraphicFramePr>
        <p:xfrm>
          <a:off x="2895600" y="990600"/>
          <a:ext cx="2819400" cy="2286000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SymbolTable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72637" name="Object 93"/>
          <p:cNvGraphicFramePr>
            <a:graphicFrameLocks noChangeAspect="1"/>
          </p:cNvGraphicFramePr>
          <p:nvPr/>
        </p:nvGraphicFramePr>
        <p:xfrm>
          <a:off x="5357813" y="3810000"/>
          <a:ext cx="2452687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43379" imgH="2285695" progId="Visio.Drawing.11">
                  <p:embed/>
                </p:oleObj>
              </mc:Choice>
              <mc:Fallback>
                <p:oleObj name="Visio" r:id="rId4" imgW="2043379" imgH="2285695" progId="Visio.Drawing.11">
                  <p:embed/>
                  <p:pic>
                    <p:nvPicPr>
                      <p:cNvPr id="1772637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3810000"/>
                        <a:ext cx="2452687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2639" name="Freeform 95"/>
          <p:cNvSpPr>
            <a:spLocks/>
          </p:cNvSpPr>
          <p:nvPr/>
        </p:nvSpPr>
        <p:spPr bwMode="auto">
          <a:xfrm>
            <a:off x="4622800" y="2133600"/>
            <a:ext cx="1524000" cy="1905000"/>
          </a:xfrm>
          <a:custGeom>
            <a:avLst/>
            <a:gdLst>
              <a:gd name="T0" fmla="*/ 496 w 960"/>
              <a:gd name="T1" fmla="*/ 40 h 1768"/>
              <a:gd name="T2" fmla="*/ 832 w 960"/>
              <a:gd name="T3" fmla="*/ 184 h 1768"/>
              <a:gd name="T4" fmla="*/ 832 w 960"/>
              <a:gd name="T5" fmla="*/ 1144 h 1768"/>
              <a:gd name="T6" fmla="*/ 64 w 960"/>
              <a:gd name="T7" fmla="*/ 1240 h 1768"/>
              <a:gd name="T8" fmla="*/ 448 w 960"/>
              <a:gd name="T9" fmla="*/ 1768 h 1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0" h="1768">
                <a:moveTo>
                  <a:pt x="496" y="40"/>
                </a:moveTo>
                <a:cubicBezTo>
                  <a:pt x="636" y="20"/>
                  <a:pt x="776" y="0"/>
                  <a:pt x="832" y="184"/>
                </a:cubicBezTo>
                <a:cubicBezTo>
                  <a:pt x="888" y="368"/>
                  <a:pt x="960" y="968"/>
                  <a:pt x="832" y="1144"/>
                </a:cubicBezTo>
                <a:cubicBezTo>
                  <a:pt x="704" y="1320"/>
                  <a:pt x="128" y="1136"/>
                  <a:pt x="64" y="1240"/>
                </a:cubicBezTo>
                <a:cubicBezTo>
                  <a:pt x="0" y="1344"/>
                  <a:pt x="224" y="1556"/>
                  <a:pt x="448" y="1768"/>
                </a:cubicBezTo>
              </a:path>
            </a:pathLst>
          </a:custGeom>
          <a:noFill/>
          <a:ln w="381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2640" name="Freeform 96"/>
          <p:cNvSpPr>
            <a:spLocks/>
          </p:cNvSpPr>
          <p:nvPr/>
        </p:nvSpPr>
        <p:spPr bwMode="auto">
          <a:xfrm>
            <a:off x="5486400" y="1384300"/>
            <a:ext cx="3009900" cy="3111500"/>
          </a:xfrm>
          <a:custGeom>
            <a:avLst/>
            <a:gdLst>
              <a:gd name="T0" fmla="*/ 0 w 1896"/>
              <a:gd name="T1" fmla="*/ 184 h 1960"/>
              <a:gd name="T2" fmla="*/ 576 w 1896"/>
              <a:gd name="T3" fmla="*/ 184 h 1960"/>
              <a:gd name="T4" fmla="*/ 1008 w 1896"/>
              <a:gd name="T5" fmla="*/ 1288 h 1960"/>
              <a:gd name="T6" fmla="*/ 1824 w 1896"/>
              <a:gd name="T7" fmla="*/ 1528 h 1960"/>
              <a:gd name="T8" fmla="*/ 1440 w 1896"/>
              <a:gd name="T9" fmla="*/ 1960 h 1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6" h="1960">
                <a:moveTo>
                  <a:pt x="0" y="184"/>
                </a:moveTo>
                <a:cubicBezTo>
                  <a:pt x="204" y="92"/>
                  <a:pt x="408" y="0"/>
                  <a:pt x="576" y="184"/>
                </a:cubicBezTo>
                <a:cubicBezTo>
                  <a:pt x="744" y="368"/>
                  <a:pt x="800" y="1064"/>
                  <a:pt x="1008" y="1288"/>
                </a:cubicBezTo>
                <a:cubicBezTo>
                  <a:pt x="1216" y="1512"/>
                  <a:pt x="1752" y="1416"/>
                  <a:pt x="1824" y="1528"/>
                </a:cubicBezTo>
                <a:cubicBezTo>
                  <a:pt x="1896" y="1640"/>
                  <a:pt x="1668" y="1800"/>
                  <a:pt x="1440" y="1960"/>
                </a:cubicBezTo>
              </a:path>
            </a:pathLst>
          </a:custGeom>
          <a:noFill/>
          <a:ln w="381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2641" name="Freeform 97"/>
          <p:cNvSpPr>
            <a:spLocks/>
          </p:cNvSpPr>
          <p:nvPr/>
        </p:nvSpPr>
        <p:spPr bwMode="auto">
          <a:xfrm>
            <a:off x="7696200" y="2819400"/>
            <a:ext cx="1244600" cy="2209800"/>
          </a:xfrm>
          <a:custGeom>
            <a:avLst/>
            <a:gdLst>
              <a:gd name="T0" fmla="*/ 0 w 784"/>
              <a:gd name="T1" fmla="*/ 1392 h 1392"/>
              <a:gd name="T2" fmla="*/ 624 w 784"/>
              <a:gd name="T3" fmla="*/ 1152 h 1392"/>
              <a:gd name="T4" fmla="*/ 768 w 784"/>
              <a:gd name="T5" fmla="*/ 240 h 1392"/>
              <a:gd name="T6" fmla="*/ 528 w 784"/>
              <a:gd name="T7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84" h="1392">
                <a:moveTo>
                  <a:pt x="0" y="1392"/>
                </a:moveTo>
                <a:cubicBezTo>
                  <a:pt x="248" y="1368"/>
                  <a:pt x="496" y="1344"/>
                  <a:pt x="624" y="1152"/>
                </a:cubicBezTo>
                <a:cubicBezTo>
                  <a:pt x="752" y="960"/>
                  <a:pt x="784" y="432"/>
                  <a:pt x="768" y="240"/>
                </a:cubicBezTo>
                <a:cubicBezTo>
                  <a:pt x="752" y="48"/>
                  <a:pt x="640" y="24"/>
                  <a:pt x="528" y="0"/>
                </a:cubicBezTo>
              </a:path>
            </a:pathLst>
          </a:custGeom>
          <a:noFill/>
          <a:ln w="381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2642" name="Text Box 98"/>
          <p:cNvSpPr txBox="1">
            <a:spLocks noChangeArrowheads="1"/>
          </p:cNvSpPr>
          <p:nvPr/>
        </p:nvSpPr>
        <p:spPr bwMode="auto">
          <a:xfrm>
            <a:off x="685800" y="5181600"/>
            <a:ext cx="2819400" cy="5286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>
                <a:solidFill>
                  <a:srgbClr val="CC6600"/>
                </a:solidFill>
              </a:rPr>
              <a:t>A := A * B + C ?</a:t>
            </a:r>
          </a:p>
        </p:txBody>
      </p:sp>
      <p:sp>
        <p:nvSpPr>
          <p:cNvPr id="1772643" name="Text Box 99"/>
          <p:cNvSpPr txBox="1">
            <a:spLocks noChangeArrowheads="1"/>
          </p:cNvSpPr>
          <p:nvPr/>
        </p:nvSpPr>
        <p:spPr bwMode="auto">
          <a:xfrm>
            <a:off x="1300163" y="5738813"/>
            <a:ext cx="388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altLang="en-US" sz="2400" b="0">
                <a:solidFill>
                  <a:schemeClr val="accent2"/>
                </a:solidFill>
              </a:rPr>
              <a:t>Thêm biến tạm T vào bảng ký hiệu, T có offset là :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72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2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2642" grpId="0" animBg="1"/>
      <p:bldP spid="177264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D758D0-C0BC-4FA6-AF6A-ABD63C2AC27E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772546" name="Rectangle 2"/>
          <p:cNvSpPr>
            <a:spLocks noGrp="1" noChangeArrowheads="1"/>
          </p:cNvSpPr>
          <p:nvPr>
            <p:ph type="title" sz="quarter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khai báo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72579" name="Rectangle 35"/>
          <p:cNvSpPr>
            <a:spLocks noGrp="1" noChangeArrowheads="1"/>
          </p:cNvSpPr>
          <p:nvPr>
            <p:ph sz="quarter" idx="2"/>
          </p:nvPr>
        </p:nvSpPr>
        <p:spPr>
          <a:xfrm>
            <a:off x="4181960" y="802912"/>
            <a:ext cx="4867275" cy="1435100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fr-FR" altLang="en-US" sz="2400" dirty="0"/>
              <a:t>A: Real;</a:t>
            </a:r>
          </a:p>
          <a:p>
            <a:pPr>
              <a:buFontTx/>
              <a:buNone/>
            </a:pPr>
            <a:r>
              <a:rPr lang="fr-FR" altLang="en-US" sz="2400" dirty="0"/>
              <a:t>B:Array[10] of </a:t>
            </a:r>
            <a:r>
              <a:rPr lang="fr-FR" altLang="en-US" sz="2400" dirty="0" err="1"/>
              <a:t>Array</a:t>
            </a:r>
            <a:r>
              <a:rPr lang="fr-FR" altLang="en-US" sz="2400" dirty="0"/>
              <a:t>[20] of </a:t>
            </a:r>
            <a:r>
              <a:rPr lang="fr-FR" altLang="en-US" sz="2400" dirty="0" err="1"/>
              <a:t>Integer</a:t>
            </a:r>
            <a:r>
              <a:rPr lang="fr-FR" altLang="en-US" sz="2400" dirty="0"/>
              <a:t>;</a:t>
            </a:r>
          </a:p>
          <a:p>
            <a:pPr>
              <a:buFontTx/>
              <a:buNone/>
            </a:pPr>
            <a:r>
              <a:rPr lang="fr-FR" altLang="en-US" sz="2400" dirty="0"/>
              <a:t>C: </a:t>
            </a:r>
            <a:r>
              <a:rPr lang="fr-FR" altLang="en-US" sz="2400" dirty="0" err="1"/>
              <a:t>Integer</a:t>
            </a:r>
            <a:r>
              <a:rPr lang="fr-FR" altLang="en-US" sz="2400" dirty="0"/>
              <a:t>;</a:t>
            </a:r>
          </a:p>
        </p:txBody>
      </p:sp>
      <p:sp>
        <p:nvSpPr>
          <p:cNvPr id="177254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72642" name="Text Box 98"/>
          <p:cNvSpPr txBox="1">
            <a:spLocks noChangeArrowheads="1"/>
          </p:cNvSpPr>
          <p:nvPr/>
        </p:nvSpPr>
        <p:spPr bwMode="auto">
          <a:xfrm>
            <a:off x="5856528" y="2297728"/>
            <a:ext cx="16764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 dirty="0">
                <a:solidFill>
                  <a:srgbClr val="002060"/>
                </a:solidFill>
              </a:rPr>
              <a:t>Offset</a:t>
            </a:r>
          </a:p>
        </p:txBody>
      </p:sp>
      <p:sp>
        <p:nvSpPr>
          <p:cNvPr id="16" name="Text Box 98"/>
          <p:cNvSpPr txBox="1">
            <a:spLocks noChangeArrowheads="1"/>
          </p:cNvSpPr>
          <p:nvPr/>
        </p:nvSpPr>
        <p:spPr bwMode="auto">
          <a:xfrm>
            <a:off x="7468441" y="2374362"/>
            <a:ext cx="912791" cy="5286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 dirty="0">
                <a:solidFill>
                  <a:srgbClr val="002060"/>
                </a:solidFill>
              </a:rPr>
              <a:t>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59371" y="739524"/>
            <a:ext cx="7059583" cy="5813676"/>
            <a:chOff x="259371" y="739524"/>
            <a:chExt cx="7059583" cy="5813676"/>
          </a:xfrm>
        </p:grpSpPr>
        <p:sp>
          <p:nvSpPr>
            <p:cNvPr id="78" name="Line 26"/>
            <p:cNvSpPr>
              <a:spLocks noChangeShapeType="1"/>
            </p:cNvSpPr>
            <p:nvPr/>
          </p:nvSpPr>
          <p:spPr bwMode="auto">
            <a:xfrm>
              <a:off x="3046642" y="1768127"/>
              <a:ext cx="1305106" cy="639228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5" name="Line 24"/>
            <p:cNvSpPr>
              <a:spLocks noChangeShapeType="1"/>
            </p:cNvSpPr>
            <p:nvPr/>
          </p:nvSpPr>
          <p:spPr bwMode="auto">
            <a:xfrm flipH="1">
              <a:off x="3150994" y="2617963"/>
              <a:ext cx="1200754" cy="482058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6" name="Line 26"/>
            <p:cNvSpPr>
              <a:spLocks noChangeShapeType="1"/>
            </p:cNvSpPr>
            <p:nvPr/>
          </p:nvSpPr>
          <p:spPr bwMode="auto">
            <a:xfrm>
              <a:off x="4716756" y="2622301"/>
              <a:ext cx="1099134" cy="46684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>
              <a:off x="4556419" y="2742635"/>
              <a:ext cx="4763" cy="455613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8" name="Text Box 10"/>
            <p:cNvSpPr txBox="1">
              <a:spLocks noChangeArrowheads="1"/>
            </p:cNvSpPr>
            <p:nvPr/>
          </p:nvSpPr>
          <p:spPr bwMode="auto">
            <a:xfrm>
              <a:off x="4396081" y="3009989"/>
              <a:ext cx="3206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;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845493" y="2966545"/>
              <a:ext cx="2179625" cy="2011734"/>
              <a:chOff x="1845493" y="2966545"/>
              <a:chExt cx="2179625" cy="2011734"/>
            </a:xfrm>
          </p:grpSpPr>
          <p:sp>
            <p:nvSpPr>
              <p:cNvPr id="38" name="Text Box 10"/>
              <p:cNvSpPr txBox="1">
                <a:spLocks noChangeArrowheads="1"/>
              </p:cNvSpPr>
              <p:nvPr/>
            </p:nvSpPr>
            <p:spPr bwMode="auto">
              <a:xfrm>
                <a:off x="3704443" y="3828125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T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845493" y="3708184"/>
                <a:ext cx="59048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41" name="Line 24"/>
              <p:cNvSpPr>
                <a:spLocks noChangeShapeType="1"/>
              </p:cNvSpPr>
              <p:nvPr/>
            </p:nvSpPr>
            <p:spPr bwMode="auto">
              <a:xfrm flipH="1">
                <a:off x="2199526" y="3323749"/>
                <a:ext cx="665660" cy="39301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2" name="Line 26"/>
              <p:cNvSpPr>
                <a:spLocks noChangeShapeType="1"/>
              </p:cNvSpPr>
              <p:nvPr/>
            </p:nvSpPr>
            <p:spPr bwMode="auto">
              <a:xfrm>
                <a:off x="3102561" y="3310629"/>
                <a:ext cx="660290" cy="549734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3" name="Line 23"/>
              <p:cNvSpPr>
                <a:spLocks noChangeShapeType="1"/>
              </p:cNvSpPr>
              <p:nvPr/>
            </p:nvSpPr>
            <p:spPr bwMode="auto">
              <a:xfrm>
                <a:off x="2978807" y="3419118"/>
                <a:ext cx="4763" cy="45561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4" name="Text Box 10"/>
              <p:cNvSpPr txBox="1">
                <a:spLocks noChangeArrowheads="1"/>
              </p:cNvSpPr>
              <p:nvPr/>
            </p:nvSpPr>
            <p:spPr bwMode="auto">
              <a:xfrm>
                <a:off x="2806567" y="3763533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: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2097516" y="4116759"/>
                <a:ext cx="1182" cy="437526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6" name="Text Box 10"/>
              <p:cNvSpPr txBox="1">
                <a:spLocks noChangeArrowheads="1"/>
              </p:cNvSpPr>
              <p:nvPr/>
            </p:nvSpPr>
            <p:spPr bwMode="auto">
              <a:xfrm>
                <a:off x="1928744" y="4516614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B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9" name="Text Box 10"/>
              <p:cNvSpPr txBox="1">
                <a:spLocks noChangeArrowheads="1"/>
              </p:cNvSpPr>
              <p:nvPr/>
            </p:nvSpPr>
            <p:spPr bwMode="auto">
              <a:xfrm>
                <a:off x="2820852" y="2966545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</p:grpSp>
        <p:sp>
          <p:nvSpPr>
            <p:cNvPr id="90" name="Text Box 10"/>
            <p:cNvSpPr txBox="1">
              <a:spLocks noChangeArrowheads="1"/>
            </p:cNvSpPr>
            <p:nvPr/>
          </p:nvSpPr>
          <p:spPr bwMode="auto">
            <a:xfrm>
              <a:off x="4384096" y="2334395"/>
              <a:ext cx="3206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b="0" dirty="0">
                  <a:solidFill>
                    <a:srgbClr val="270076"/>
                  </a:solidFill>
                </a:rPr>
                <a:t>D</a:t>
              </a:r>
              <a:endParaRPr lang="en-US" altLang="en-US" sz="2400" b="0" dirty="0">
                <a:solidFill>
                  <a:srgbClr val="270076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876800" y="2971800"/>
              <a:ext cx="2442154" cy="1636372"/>
              <a:chOff x="4876800" y="2971800"/>
              <a:chExt cx="2442154" cy="1636372"/>
            </a:xfrm>
          </p:grpSpPr>
          <p:sp>
            <p:nvSpPr>
              <p:cNvPr id="49" name="Line 24"/>
              <p:cNvSpPr>
                <a:spLocks noChangeShapeType="1"/>
              </p:cNvSpPr>
              <p:nvPr/>
            </p:nvSpPr>
            <p:spPr bwMode="auto">
              <a:xfrm flipH="1">
                <a:off x="5203635" y="3336278"/>
                <a:ext cx="652893" cy="26558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5933684" y="3341941"/>
                <a:ext cx="545223" cy="25992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1" name="Line 23"/>
              <p:cNvSpPr>
                <a:spLocks noChangeShapeType="1"/>
              </p:cNvSpPr>
              <p:nvPr/>
            </p:nvSpPr>
            <p:spPr bwMode="auto">
              <a:xfrm flipH="1">
                <a:off x="5871611" y="3365753"/>
                <a:ext cx="1" cy="33923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2" name="Text Box 10"/>
              <p:cNvSpPr txBox="1">
                <a:spLocks noChangeArrowheads="1"/>
              </p:cNvSpPr>
              <p:nvPr/>
            </p:nvSpPr>
            <p:spPr bwMode="auto">
              <a:xfrm>
                <a:off x="5711274" y="3633107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: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Text Box 10"/>
              <p:cNvSpPr txBox="1">
                <a:spLocks noChangeArrowheads="1"/>
              </p:cNvSpPr>
              <p:nvPr/>
            </p:nvSpPr>
            <p:spPr bwMode="auto">
              <a:xfrm>
                <a:off x="4876800" y="3549948"/>
                <a:ext cx="59048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54" name="Text Box 10"/>
              <p:cNvSpPr txBox="1">
                <a:spLocks noChangeArrowheads="1"/>
              </p:cNvSpPr>
              <p:nvPr/>
            </p:nvSpPr>
            <p:spPr bwMode="auto">
              <a:xfrm>
                <a:off x="6395725" y="3562741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T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91" name="Text Box 10"/>
              <p:cNvSpPr txBox="1">
                <a:spLocks noChangeArrowheads="1"/>
              </p:cNvSpPr>
              <p:nvPr/>
            </p:nvSpPr>
            <p:spPr bwMode="auto">
              <a:xfrm>
                <a:off x="5729835" y="2971800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92" name="Line 23"/>
              <p:cNvSpPr>
                <a:spLocks noChangeShapeType="1"/>
              </p:cNvSpPr>
              <p:nvPr/>
            </p:nvSpPr>
            <p:spPr bwMode="auto">
              <a:xfrm flipH="1">
                <a:off x="6560457" y="3951086"/>
                <a:ext cx="1352" cy="30160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93" name="Text Box 10"/>
              <p:cNvSpPr txBox="1">
                <a:spLocks noChangeArrowheads="1"/>
              </p:cNvSpPr>
              <p:nvPr/>
            </p:nvSpPr>
            <p:spPr bwMode="auto">
              <a:xfrm>
                <a:off x="6031949" y="4146507"/>
                <a:ext cx="12870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 err="1">
                    <a:solidFill>
                      <a:srgbClr val="FF0000"/>
                    </a:solidFill>
                  </a:rPr>
                  <a:t>integer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Line 23"/>
              <p:cNvSpPr>
                <a:spLocks noChangeShapeType="1"/>
              </p:cNvSpPr>
              <p:nvPr/>
            </p:nvSpPr>
            <p:spPr bwMode="auto">
              <a:xfrm flipH="1">
                <a:off x="5152571" y="3893081"/>
                <a:ext cx="16253" cy="301547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95" name="Text Box 10"/>
              <p:cNvSpPr txBox="1">
                <a:spLocks noChangeArrowheads="1"/>
              </p:cNvSpPr>
              <p:nvPr/>
            </p:nvSpPr>
            <p:spPr bwMode="auto">
              <a:xfrm>
                <a:off x="4985871" y="4089469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C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3810409" y="4978279"/>
              <a:ext cx="3067549" cy="1574921"/>
              <a:chOff x="3810409" y="4978279"/>
              <a:chExt cx="3067549" cy="1574921"/>
            </a:xfrm>
          </p:grpSpPr>
          <p:sp>
            <p:nvSpPr>
              <p:cNvPr id="55" name="Line 24"/>
              <p:cNvSpPr>
                <a:spLocks noChangeShapeType="1"/>
              </p:cNvSpPr>
              <p:nvPr/>
            </p:nvSpPr>
            <p:spPr bwMode="auto">
              <a:xfrm flipH="1">
                <a:off x="3979438" y="4988955"/>
                <a:ext cx="1091323" cy="36834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6" name="Line 26"/>
              <p:cNvSpPr>
                <a:spLocks noChangeShapeType="1"/>
              </p:cNvSpPr>
              <p:nvPr/>
            </p:nvSpPr>
            <p:spPr bwMode="auto">
              <a:xfrm>
                <a:off x="5041019" y="4978279"/>
                <a:ext cx="1100696" cy="44112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7" name="Line 23"/>
              <p:cNvSpPr>
                <a:spLocks noChangeShapeType="1"/>
              </p:cNvSpPr>
              <p:nvPr/>
            </p:nvSpPr>
            <p:spPr bwMode="auto">
              <a:xfrm>
                <a:off x="5085842" y="5048045"/>
                <a:ext cx="264568" cy="386596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8" name="Text Box 10"/>
              <p:cNvSpPr txBox="1">
                <a:spLocks noChangeArrowheads="1"/>
              </p:cNvSpPr>
              <p:nvPr/>
            </p:nvSpPr>
            <p:spPr bwMode="auto">
              <a:xfrm>
                <a:off x="3810409" y="5287343"/>
                <a:ext cx="20605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 err="1">
                    <a:solidFill>
                      <a:srgbClr val="FF0000"/>
                    </a:solidFill>
                  </a:rPr>
                  <a:t>Arr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 [ </a:t>
                </a:r>
                <a:r>
                  <a:rPr lang="fr-FR" altLang="en-US" sz="2400" b="0" dirty="0" err="1">
                    <a:solidFill>
                      <a:srgbClr val="270076"/>
                    </a:solidFill>
                  </a:rPr>
                  <a:t>Num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] of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Text Box 10"/>
              <p:cNvSpPr txBox="1">
                <a:spLocks noChangeArrowheads="1"/>
              </p:cNvSpPr>
              <p:nvPr/>
            </p:nvSpPr>
            <p:spPr bwMode="auto">
              <a:xfrm>
                <a:off x="6006803" y="5328139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T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60" name="Line 23"/>
              <p:cNvSpPr>
                <a:spLocks noChangeShapeType="1"/>
              </p:cNvSpPr>
              <p:nvPr/>
            </p:nvSpPr>
            <p:spPr bwMode="auto">
              <a:xfrm flipH="1">
                <a:off x="4403431" y="5013037"/>
                <a:ext cx="682411" cy="391034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1" name="Line 23"/>
              <p:cNvSpPr>
                <a:spLocks noChangeShapeType="1"/>
              </p:cNvSpPr>
              <p:nvPr/>
            </p:nvSpPr>
            <p:spPr bwMode="auto">
              <a:xfrm flipH="1">
                <a:off x="4816927" y="5048045"/>
                <a:ext cx="229590" cy="380108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2" name="Text Box 10"/>
              <p:cNvSpPr txBox="1">
                <a:spLocks noChangeArrowheads="1"/>
              </p:cNvSpPr>
              <p:nvPr/>
            </p:nvSpPr>
            <p:spPr bwMode="auto">
              <a:xfrm>
                <a:off x="4582810" y="6091535"/>
                <a:ext cx="5999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FF0000"/>
                    </a:solidFill>
                  </a:rPr>
                  <a:t>20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3" name="Line 23"/>
              <p:cNvSpPr>
                <a:spLocks noChangeShapeType="1"/>
              </p:cNvSpPr>
              <p:nvPr/>
            </p:nvSpPr>
            <p:spPr bwMode="auto">
              <a:xfrm>
                <a:off x="4873595" y="5699825"/>
                <a:ext cx="4763" cy="45561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4" name="Text Box 10"/>
              <p:cNvSpPr txBox="1">
                <a:spLocks noChangeArrowheads="1"/>
              </p:cNvSpPr>
              <p:nvPr/>
            </p:nvSpPr>
            <p:spPr bwMode="auto">
              <a:xfrm>
                <a:off x="5700449" y="6077376"/>
                <a:ext cx="117750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 err="1">
                    <a:solidFill>
                      <a:srgbClr val="FF0000"/>
                    </a:solidFill>
                  </a:rPr>
                  <a:t>Integer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Line 23"/>
              <p:cNvSpPr>
                <a:spLocks noChangeShapeType="1"/>
              </p:cNvSpPr>
              <p:nvPr/>
            </p:nvSpPr>
            <p:spPr bwMode="auto">
              <a:xfrm>
                <a:off x="6188415" y="5707302"/>
                <a:ext cx="4763" cy="45561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98" name="Line 23"/>
              <p:cNvSpPr>
                <a:spLocks noChangeShapeType="1"/>
              </p:cNvSpPr>
              <p:nvPr/>
            </p:nvSpPr>
            <p:spPr bwMode="auto">
              <a:xfrm>
                <a:off x="5138057" y="5021943"/>
                <a:ext cx="436444" cy="382127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532356" y="4268410"/>
              <a:ext cx="2726647" cy="1603727"/>
              <a:chOff x="2532356" y="4268410"/>
              <a:chExt cx="2726647" cy="1603727"/>
            </a:xfrm>
          </p:grpSpPr>
          <p:sp>
            <p:nvSpPr>
              <p:cNvPr id="66" name="Line 24"/>
              <p:cNvSpPr>
                <a:spLocks noChangeShapeType="1"/>
              </p:cNvSpPr>
              <p:nvPr/>
            </p:nvSpPr>
            <p:spPr bwMode="auto">
              <a:xfrm flipH="1">
                <a:off x="2813382" y="4268410"/>
                <a:ext cx="1091323" cy="36834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7" name="Line 26"/>
              <p:cNvSpPr>
                <a:spLocks noChangeShapeType="1"/>
              </p:cNvSpPr>
              <p:nvPr/>
            </p:nvSpPr>
            <p:spPr bwMode="auto">
              <a:xfrm>
                <a:off x="3919786" y="4288664"/>
                <a:ext cx="1100696" cy="44112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8" name="Line 23"/>
              <p:cNvSpPr>
                <a:spLocks noChangeShapeType="1"/>
              </p:cNvSpPr>
              <p:nvPr/>
            </p:nvSpPr>
            <p:spPr bwMode="auto">
              <a:xfrm>
                <a:off x="3919786" y="4297887"/>
                <a:ext cx="448128" cy="41368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9" name="Text Box 10"/>
              <p:cNvSpPr txBox="1">
                <a:spLocks noChangeArrowheads="1"/>
              </p:cNvSpPr>
              <p:nvPr/>
            </p:nvSpPr>
            <p:spPr bwMode="auto">
              <a:xfrm>
                <a:off x="2532356" y="4588905"/>
                <a:ext cx="20605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 err="1">
                    <a:solidFill>
                      <a:srgbClr val="FF0000"/>
                    </a:solidFill>
                  </a:rPr>
                  <a:t>Arr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 [ </a:t>
                </a:r>
                <a:r>
                  <a:rPr lang="fr-FR" altLang="en-US" sz="2400" b="0" dirty="0" err="1">
                    <a:solidFill>
                      <a:srgbClr val="270076"/>
                    </a:solidFill>
                  </a:rPr>
                  <a:t>Num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] of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Text Box 10"/>
              <p:cNvSpPr txBox="1">
                <a:spLocks noChangeArrowheads="1"/>
              </p:cNvSpPr>
              <p:nvPr/>
            </p:nvSpPr>
            <p:spPr bwMode="auto">
              <a:xfrm>
                <a:off x="4938328" y="4587347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T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71" name="Text Box 10"/>
              <p:cNvSpPr txBox="1">
                <a:spLocks noChangeArrowheads="1"/>
              </p:cNvSpPr>
              <p:nvPr/>
            </p:nvSpPr>
            <p:spPr bwMode="auto">
              <a:xfrm>
                <a:off x="3319838" y="5410472"/>
                <a:ext cx="5999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FF0000"/>
                    </a:solidFill>
                  </a:rPr>
                  <a:t>10</a:t>
                </a:r>
                <a:endParaRPr lang="en-US" altLang="en-US" sz="2400" b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Line 23"/>
              <p:cNvSpPr>
                <a:spLocks noChangeShapeType="1"/>
              </p:cNvSpPr>
              <p:nvPr/>
            </p:nvSpPr>
            <p:spPr bwMode="auto">
              <a:xfrm>
                <a:off x="3619376" y="5043428"/>
                <a:ext cx="4763" cy="45561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3" name="Line 23"/>
              <p:cNvSpPr>
                <a:spLocks noChangeShapeType="1"/>
              </p:cNvSpPr>
              <p:nvPr/>
            </p:nvSpPr>
            <p:spPr bwMode="auto">
              <a:xfrm flipH="1">
                <a:off x="3237375" y="4292492"/>
                <a:ext cx="682411" cy="391034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4" name="Line 23"/>
              <p:cNvSpPr>
                <a:spLocks noChangeShapeType="1"/>
              </p:cNvSpPr>
              <p:nvPr/>
            </p:nvSpPr>
            <p:spPr bwMode="auto">
              <a:xfrm flipH="1">
                <a:off x="3650871" y="4327500"/>
                <a:ext cx="229590" cy="380108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00" name="Line 23"/>
              <p:cNvSpPr>
                <a:spLocks noChangeShapeType="1"/>
              </p:cNvSpPr>
              <p:nvPr/>
            </p:nvSpPr>
            <p:spPr bwMode="auto">
              <a:xfrm>
                <a:off x="3934867" y="4327500"/>
                <a:ext cx="193886" cy="393177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59371" y="739524"/>
              <a:ext cx="2898392" cy="2044526"/>
              <a:chOff x="259371" y="739524"/>
              <a:chExt cx="2898392" cy="2044526"/>
            </a:xfrm>
          </p:grpSpPr>
          <p:sp>
            <p:nvSpPr>
              <p:cNvPr id="17" name="Text Box 98"/>
              <p:cNvSpPr txBox="1">
                <a:spLocks noChangeArrowheads="1"/>
              </p:cNvSpPr>
              <p:nvPr/>
            </p:nvSpPr>
            <p:spPr bwMode="auto">
              <a:xfrm>
                <a:off x="1531136" y="739524"/>
                <a:ext cx="609600" cy="528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fr-FR" altLang="en-US" sz="2800" b="0" dirty="0">
                    <a:solidFill>
                      <a:srgbClr val="002060"/>
                    </a:solidFill>
                  </a:rPr>
                  <a:t>P</a:t>
                </a:r>
              </a:p>
            </p:txBody>
          </p:sp>
          <p:sp>
            <p:nvSpPr>
              <p:cNvPr id="77" name="Line 24"/>
              <p:cNvSpPr>
                <a:spLocks noChangeShapeType="1"/>
              </p:cNvSpPr>
              <p:nvPr/>
            </p:nvSpPr>
            <p:spPr bwMode="auto">
              <a:xfrm flipH="1">
                <a:off x="1585043" y="1762464"/>
                <a:ext cx="1384446" cy="571931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" name="Line 23"/>
              <p:cNvSpPr>
                <a:spLocks noChangeShapeType="1"/>
              </p:cNvSpPr>
              <p:nvPr/>
            </p:nvSpPr>
            <p:spPr bwMode="auto">
              <a:xfrm>
                <a:off x="2984570" y="1791940"/>
                <a:ext cx="4763" cy="45561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0" name="Text Box 10"/>
              <p:cNvSpPr txBox="1">
                <a:spLocks noChangeArrowheads="1"/>
              </p:cNvSpPr>
              <p:nvPr/>
            </p:nvSpPr>
            <p:spPr bwMode="auto">
              <a:xfrm>
                <a:off x="2824232" y="2059294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;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Text Box 10"/>
              <p:cNvSpPr txBox="1">
                <a:spLocks noChangeArrowheads="1"/>
              </p:cNvSpPr>
              <p:nvPr/>
            </p:nvSpPr>
            <p:spPr bwMode="auto">
              <a:xfrm>
                <a:off x="2837088" y="1355761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83" name="Text Box 10"/>
              <p:cNvSpPr txBox="1">
                <a:spLocks noChangeArrowheads="1"/>
              </p:cNvSpPr>
              <p:nvPr/>
            </p:nvSpPr>
            <p:spPr bwMode="auto">
              <a:xfrm>
                <a:off x="259371" y="1456492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M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97" name="Text Box 10"/>
              <p:cNvSpPr txBox="1">
                <a:spLocks noChangeArrowheads="1"/>
              </p:cNvSpPr>
              <p:nvPr/>
            </p:nvSpPr>
            <p:spPr bwMode="auto">
              <a:xfrm>
                <a:off x="287041" y="2322385"/>
                <a:ext cx="2930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  <a:sym typeface="Symbol" panose="05050102010706020507" pitchFamily="18" charset="2"/>
                  </a:rPr>
                  <a:t>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110" name="Line 26"/>
              <p:cNvSpPr>
                <a:spLocks noChangeShapeType="1"/>
              </p:cNvSpPr>
              <p:nvPr/>
            </p:nvSpPr>
            <p:spPr bwMode="auto">
              <a:xfrm>
                <a:off x="2034428" y="1136989"/>
                <a:ext cx="882943" cy="314439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13" name="Line 23"/>
              <p:cNvSpPr>
                <a:spLocks noChangeShapeType="1"/>
              </p:cNvSpPr>
              <p:nvPr/>
            </p:nvSpPr>
            <p:spPr bwMode="auto">
              <a:xfrm>
                <a:off x="415513" y="1897655"/>
                <a:ext cx="19915" cy="59880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14" name="Line 24"/>
              <p:cNvSpPr>
                <a:spLocks noChangeShapeType="1"/>
              </p:cNvSpPr>
              <p:nvPr/>
            </p:nvSpPr>
            <p:spPr bwMode="auto">
              <a:xfrm flipH="1">
                <a:off x="580045" y="1121816"/>
                <a:ext cx="999051" cy="334676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95218" y="2367406"/>
              <a:ext cx="1985785" cy="1463267"/>
              <a:chOff x="595218" y="2367406"/>
              <a:chExt cx="1985785" cy="1463267"/>
            </a:xfrm>
          </p:grpSpPr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1422344" y="2367406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102" name="Text Box 10"/>
              <p:cNvSpPr txBox="1">
                <a:spLocks noChangeArrowheads="1"/>
              </p:cNvSpPr>
              <p:nvPr/>
            </p:nvSpPr>
            <p:spPr bwMode="auto">
              <a:xfrm>
                <a:off x="1374313" y="2869188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: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3" name="Text Box 10"/>
              <p:cNvSpPr txBox="1">
                <a:spLocks noChangeArrowheads="1"/>
              </p:cNvSpPr>
              <p:nvPr/>
            </p:nvSpPr>
            <p:spPr bwMode="auto">
              <a:xfrm>
                <a:off x="595218" y="2829487"/>
                <a:ext cx="59048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104" name="Text Box 10"/>
              <p:cNvSpPr txBox="1">
                <a:spLocks noChangeArrowheads="1"/>
              </p:cNvSpPr>
              <p:nvPr/>
            </p:nvSpPr>
            <p:spPr bwMode="auto">
              <a:xfrm>
                <a:off x="2044121" y="2797426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T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105" name="Line 23"/>
              <p:cNvSpPr>
                <a:spLocks noChangeShapeType="1"/>
              </p:cNvSpPr>
              <p:nvPr/>
            </p:nvSpPr>
            <p:spPr bwMode="auto">
              <a:xfrm flipH="1">
                <a:off x="2206171" y="3185771"/>
                <a:ext cx="4034" cy="196058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06" name="Text Box 10"/>
              <p:cNvSpPr txBox="1">
                <a:spLocks noChangeArrowheads="1"/>
              </p:cNvSpPr>
              <p:nvPr/>
            </p:nvSpPr>
            <p:spPr bwMode="auto">
              <a:xfrm>
                <a:off x="1621853" y="3233405"/>
                <a:ext cx="95915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Real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7" name="Line 23"/>
              <p:cNvSpPr>
                <a:spLocks noChangeShapeType="1"/>
              </p:cNvSpPr>
              <p:nvPr/>
            </p:nvSpPr>
            <p:spPr bwMode="auto">
              <a:xfrm flipH="1">
                <a:off x="870989" y="3172620"/>
                <a:ext cx="16253" cy="301547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08" name="Text Box 10"/>
              <p:cNvSpPr txBox="1">
                <a:spLocks noChangeArrowheads="1"/>
              </p:cNvSpPr>
              <p:nvPr/>
            </p:nvSpPr>
            <p:spPr bwMode="auto">
              <a:xfrm>
                <a:off x="704289" y="3369008"/>
                <a:ext cx="3206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A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Line 24"/>
              <p:cNvSpPr>
                <a:spLocks noChangeShapeType="1"/>
              </p:cNvSpPr>
              <p:nvPr/>
            </p:nvSpPr>
            <p:spPr bwMode="auto">
              <a:xfrm flipH="1">
                <a:off x="881761" y="2785451"/>
                <a:ext cx="648247" cy="57384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11" name="Line 23"/>
              <p:cNvSpPr>
                <a:spLocks noChangeShapeType="1"/>
              </p:cNvSpPr>
              <p:nvPr/>
            </p:nvSpPr>
            <p:spPr bwMode="auto">
              <a:xfrm flipH="1">
                <a:off x="1538513" y="2814926"/>
                <a:ext cx="6579" cy="175017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15" name="Line 26"/>
              <p:cNvSpPr>
                <a:spLocks noChangeShapeType="1"/>
              </p:cNvSpPr>
              <p:nvPr/>
            </p:nvSpPr>
            <p:spPr bwMode="auto">
              <a:xfrm>
                <a:off x="1541802" y="2774704"/>
                <a:ext cx="652215" cy="111203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</p:grpSp>
      <p:sp>
        <p:nvSpPr>
          <p:cNvPr id="13" name="Oval 12"/>
          <p:cNvSpPr/>
          <p:nvPr/>
        </p:nvSpPr>
        <p:spPr bwMode="auto">
          <a:xfrm>
            <a:off x="56472" y="1350892"/>
            <a:ext cx="687353" cy="146403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1" name="Oval 120"/>
          <p:cNvSpPr/>
          <p:nvPr/>
        </p:nvSpPr>
        <p:spPr bwMode="auto">
          <a:xfrm>
            <a:off x="1185704" y="1389705"/>
            <a:ext cx="3894021" cy="1818157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" name="Oval 121"/>
          <p:cNvSpPr/>
          <p:nvPr/>
        </p:nvSpPr>
        <p:spPr bwMode="auto">
          <a:xfrm>
            <a:off x="543788" y="2440655"/>
            <a:ext cx="2219169" cy="83594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3" name="Oval 122"/>
          <p:cNvSpPr/>
          <p:nvPr/>
        </p:nvSpPr>
        <p:spPr bwMode="auto">
          <a:xfrm>
            <a:off x="356451" y="2815432"/>
            <a:ext cx="951506" cy="104493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4" name="Oval 123"/>
          <p:cNvSpPr/>
          <p:nvPr/>
        </p:nvSpPr>
        <p:spPr bwMode="auto">
          <a:xfrm>
            <a:off x="1720210" y="2815432"/>
            <a:ext cx="951506" cy="104493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" name="Text Box 98"/>
          <p:cNvSpPr txBox="1">
            <a:spLocks noChangeArrowheads="1"/>
          </p:cNvSpPr>
          <p:nvPr/>
        </p:nvSpPr>
        <p:spPr bwMode="auto">
          <a:xfrm>
            <a:off x="259371" y="5523378"/>
            <a:ext cx="227298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altLang="en-US" sz="2400" b="0" dirty="0" err="1">
                <a:solidFill>
                  <a:srgbClr val="002060"/>
                </a:solidFill>
              </a:rPr>
              <a:t>T.Type</a:t>
            </a:r>
            <a:r>
              <a:rPr lang="fr-FR" altLang="en-US" sz="2400" b="0" dirty="0">
                <a:solidFill>
                  <a:srgbClr val="002060"/>
                </a:solidFill>
              </a:rPr>
              <a:t> = Real</a:t>
            </a:r>
          </a:p>
          <a:p>
            <a:pPr algn="l">
              <a:spcBef>
                <a:spcPct val="50000"/>
              </a:spcBef>
            </a:pPr>
            <a:r>
              <a:rPr lang="fr-FR" altLang="en-US" sz="2400" b="0" dirty="0" err="1">
                <a:solidFill>
                  <a:srgbClr val="002060"/>
                </a:solidFill>
              </a:rPr>
              <a:t>T.width</a:t>
            </a:r>
            <a:r>
              <a:rPr lang="fr-FR" altLang="en-US" sz="2400" b="0" dirty="0">
                <a:solidFill>
                  <a:srgbClr val="002060"/>
                </a:solidFill>
              </a:rPr>
              <a:t>=4</a:t>
            </a:r>
          </a:p>
        </p:txBody>
      </p:sp>
      <p:cxnSp>
        <p:nvCxnSpPr>
          <p:cNvPr id="15" name="Straight Arrow Connector 14"/>
          <p:cNvCxnSpPr>
            <a:stCxn id="124" idx="3"/>
          </p:cNvCxnSpPr>
          <p:nvPr/>
        </p:nvCxnSpPr>
        <p:spPr bwMode="auto">
          <a:xfrm flipH="1">
            <a:off x="704289" y="3707336"/>
            <a:ext cx="1155266" cy="17917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Text Box 98"/>
          <p:cNvSpPr txBox="1">
            <a:spLocks noChangeArrowheads="1"/>
          </p:cNvSpPr>
          <p:nvPr/>
        </p:nvSpPr>
        <p:spPr bwMode="auto">
          <a:xfrm>
            <a:off x="156449" y="5720438"/>
            <a:ext cx="4354375" cy="88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algn="l">
              <a:spcBef>
                <a:spcPct val="15000"/>
              </a:spcBef>
            </a:pP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enter</a:t>
            </a:r>
            <a:r>
              <a:rPr lang="en-US" altLang="en-US" sz="2400" b="0" dirty="0">
                <a:solidFill>
                  <a:srgbClr val="270076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0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.name, </a:t>
            </a:r>
            <a:r>
              <a:rPr lang="en-US" altLang="en-US" sz="2400" b="0" dirty="0" err="1">
                <a:solidFill>
                  <a:srgbClr val="270076"/>
                </a:solidFill>
                <a:sym typeface="Symbol" panose="05050102010706020507" pitchFamily="18" charset="2"/>
              </a:rPr>
              <a:t>T.</a:t>
            </a:r>
            <a:r>
              <a:rPr lang="en-US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type</a:t>
            </a:r>
            <a:r>
              <a:rPr lang="en-US" altLang="en-US" sz="2400" b="0" dirty="0">
                <a:solidFill>
                  <a:srgbClr val="270076"/>
                </a:solidFill>
                <a:sym typeface="Symbol" panose="05050102010706020507" pitchFamily="18" charset="2"/>
              </a:rPr>
              <a:t>, 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offset)</a:t>
            </a:r>
          </a:p>
          <a:p>
            <a:pPr lvl="0" algn="l">
              <a:spcBef>
                <a:spcPct val="15000"/>
              </a:spcBef>
            </a:pPr>
            <a:r>
              <a:rPr lang="fr-FR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Offset =Offset +</a:t>
            </a:r>
            <a:r>
              <a:rPr lang="fr-FR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T.Width</a:t>
            </a:r>
            <a:r>
              <a:rPr lang="fr-FR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 </a:t>
            </a:r>
            <a:endParaRPr lang="en-US" altLang="en-US" sz="2400" b="0" i="1" dirty="0">
              <a:solidFill>
                <a:srgbClr val="270076"/>
              </a:solidFill>
              <a:sym typeface="Symbol" panose="05050102010706020507" pitchFamily="18" charset="2"/>
            </a:endParaRPr>
          </a:p>
        </p:txBody>
      </p:sp>
      <p:cxnSp>
        <p:nvCxnSpPr>
          <p:cNvPr id="99" name="Straight Arrow Connector 98"/>
          <p:cNvCxnSpPr/>
          <p:nvPr/>
        </p:nvCxnSpPr>
        <p:spPr bwMode="auto">
          <a:xfrm flipH="1">
            <a:off x="1249707" y="3259091"/>
            <a:ext cx="232542" cy="25307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8" name="Group 117"/>
          <p:cNvGrpSpPr/>
          <p:nvPr/>
        </p:nvGrpSpPr>
        <p:grpSpPr>
          <a:xfrm>
            <a:off x="6709683" y="4673076"/>
            <a:ext cx="2281916" cy="461666"/>
            <a:chOff x="6709683" y="4673076"/>
            <a:chExt cx="2281916" cy="461666"/>
          </a:xfrm>
        </p:grpSpPr>
        <p:sp>
          <p:nvSpPr>
            <p:cNvPr id="117" name="TextBox 116"/>
            <p:cNvSpPr txBox="1"/>
            <p:nvPr/>
          </p:nvSpPr>
          <p:spPr>
            <a:xfrm>
              <a:off x="6709683" y="4673077"/>
              <a:ext cx="542964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A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7811430" y="4673077"/>
              <a:ext cx="1180169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02060"/>
                  </a:solidFill>
                </a:rPr>
                <a:t>Real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260557" y="4673076"/>
              <a:ext cx="542964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</p:grpSp>
      <p:sp>
        <p:nvSpPr>
          <p:cNvPr id="140" name="Text Box 98"/>
          <p:cNvSpPr txBox="1">
            <a:spLocks noChangeArrowheads="1"/>
          </p:cNvSpPr>
          <p:nvPr/>
        </p:nvSpPr>
        <p:spPr bwMode="auto">
          <a:xfrm>
            <a:off x="7454337" y="2368410"/>
            <a:ext cx="912791" cy="5286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41" name="Oval 140"/>
          <p:cNvSpPr/>
          <p:nvPr/>
        </p:nvSpPr>
        <p:spPr bwMode="auto">
          <a:xfrm>
            <a:off x="2517928" y="2382529"/>
            <a:ext cx="3929171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" name="Oval 141"/>
          <p:cNvSpPr/>
          <p:nvPr/>
        </p:nvSpPr>
        <p:spPr bwMode="auto">
          <a:xfrm>
            <a:off x="1809083" y="3052537"/>
            <a:ext cx="2648279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Oval 142"/>
          <p:cNvSpPr/>
          <p:nvPr/>
        </p:nvSpPr>
        <p:spPr bwMode="auto">
          <a:xfrm>
            <a:off x="1504086" y="3689843"/>
            <a:ext cx="1197149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4" name="Oval 143"/>
          <p:cNvSpPr/>
          <p:nvPr/>
        </p:nvSpPr>
        <p:spPr bwMode="auto">
          <a:xfrm>
            <a:off x="2650313" y="3866006"/>
            <a:ext cx="2648279" cy="1355229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Oval 144"/>
          <p:cNvSpPr/>
          <p:nvPr/>
        </p:nvSpPr>
        <p:spPr bwMode="auto">
          <a:xfrm>
            <a:off x="3057442" y="4559577"/>
            <a:ext cx="1197149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Oval 145"/>
          <p:cNvSpPr/>
          <p:nvPr/>
        </p:nvSpPr>
        <p:spPr bwMode="auto">
          <a:xfrm>
            <a:off x="3836557" y="4679683"/>
            <a:ext cx="2648279" cy="1355229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Oval 146"/>
          <p:cNvSpPr/>
          <p:nvPr/>
        </p:nvSpPr>
        <p:spPr bwMode="auto">
          <a:xfrm>
            <a:off x="4377352" y="5271234"/>
            <a:ext cx="1197149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Oval 147"/>
          <p:cNvSpPr/>
          <p:nvPr/>
        </p:nvSpPr>
        <p:spPr bwMode="auto">
          <a:xfrm>
            <a:off x="5654174" y="5328139"/>
            <a:ext cx="1197149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Text Box 98"/>
          <p:cNvSpPr txBox="1">
            <a:spLocks noChangeArrowheads="1"/>
          </p:cNvSpPr>
          <p:nvPr/>
        </p:nvSpPr>
        <p:spPr bwMode="auto">
          <a:xfrm>
            <a:off x="259371" y="5497168"/>
            <a:ext cx="28553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altLang="en-US" sz="2400" b="0" dirty="0" err="1">
                <a:solidFill>
                  <a:srgbClr val="002060"/>
                </a:solidFill>
              </a:rPr>
              <a:t>T.Type</a:t>
            </a:r>
            <a:r>
              <a:rPr lang="fr-FR" altLang="en-US" sz="2400" b="0" dirty="0">
                <a:solidFill>
                  <a:srgbClr val="002060"/>
                </a:solidFill>
              </a:rPr>
              <a:t> = </a:t>
            </a:r>
            <a:r>
              <a:rPr lang="fr-FR" altLang="en-US" sz="2400" b="0" dirty="0" err="1">
                <a:solidFill>
                  <a:srgbClr val="002060"/>
                </a:solidFill>
              </a:rPr>
              <a:t>Integer</a:t>
            </a:r>
            <a:endParaRPr lang="fr-FR" altLang="en-US" sz="2400" b="0" dirty="0">
              <a:solidFill>
                <a:srgbClr val="00206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fr-FR" altLang="en-US" sz="2400" b="0" dirty="0" err="1">
                <a:solidFill>
                  <a:srgbClr val="002060"/>
                </a:solidFill>
              </a:rPr>
              <a:t>T.width</a:t>
            </a:r>
            <a:r>
              <a:rPr lang="fr-FR" altLang="en-US" sz="2400" b="0" dirty="0">
                <a:solidFill>
                  <a:srgbClr val="002060"/>
                </a:solidFill>
              </a:rPr>
              <a:t>=2</a:t>
            </a:r>
          </a:p>
        </p:txBody>
      </p:sp>
      <p:cxnSp>
        <p:nvCxnSpPr>
          <p:cNvPr id="120" name="Straight Arrow Connector 119"/>
          <p:cNvCxnSpPr/>
          <p:nvPr/>
        </p:nvCxnSpPr>
        <p:spPr bwMode="auto">
          <a:xfrm flipH="1">
            <a:off x="2946400" y="6096000"/>
            <a:ext cx="27508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" name="Text Box 98"/>
          <p:cNvSpPr txBox="1">
            <a:spLocks noChangeArrowheads="1"/>
          </p:cNvSpPr>
          <p:nvPr/>
        </p:nvSpPr>
        <p:spPr bwMode="auto">
          <a:xfrm>
            <a:off x="114575" y="5809628"/>
            <a:ext cx="3153991" cy="88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algn="l">
              <a:spcBef>
                <a:spcPct val="15000"/>
              </a:spcBef>
            </a:pPr>
            <a:r>
              <a:rPr lang="en-US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T.Type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=</a:t>
            </a:r>
            <a:r>
              <a:rPr lang="en-US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arr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&lt;20,int&gt;</a:t>
            </a:r>
          </a:p>
          <a:p>
            <a:pPr lvl="0" algn="l">
              <a:spcBef>
                <a:spcPct val="15000"/>
              </a:spcBef>
            </a:pPr>
            <a:r>
              <a:rPr lang="fr-FR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T.Width</a:t>
            </a:r>
            <a:r>
              <a:rPr lang="fr-FR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=20x2 </a:t>
            </a:r>
            <a:endParaRPr lang="en-US" altLang="en-US" sz="2400" b="0" i="1" dirty="0">
              <a:solidFill>
                <a:srgbClr val="270076"/>
              </a:solidFill>
              <a:sym typeface="Symbol" panose="05050102010706020507" pitchFamily="18" charset="2"/>
            </a:endParaRPr>
          </a:p>
        </p:txBody>
      </p:sp>
      <p:cxnSp>
        <p:nvCxnSpPr>
          <p:cNvPr id="129" name="Straight Arrow Connector 128"/>
          <p:cNvCxnSpPr/>
          <p:nvPr/>
        </p:nvCxnSpPr>
        <p:spPr bwMode="auto">
          <a:xfrm flipH="1">
            <a:off x="3281900" y="5875524"/>
            <a:ext cx="1068817" cy="3450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6" name="Text Box 98"/>
          <p:cNvSpPr txBox="1">
            <a:spLocks noChangeArrowheads="1"/>
          </p:cNvSpPr>
          <p:nvPr/>
        </p:nvSpPr>
        <p:spPr bwMode="auto">
          <a:xfrm>
            <a:off x="97566" y="5794379"/>
            <a:ext cx="4051850" cy="88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algn="l">
              <a:spcBef>
                <a:spcPct val="15000"/>
              </a:spcBef>
            </a:pPr>
            <a:r>
              <a:rPr lang="en-US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T.Type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=</a:t>
            </a:r>
            <a:r>
              <a:rPr lang="en-US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arr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&lt;10,arr&lt;20,int&gt;&gt;</a:t>
            </a:r>
          </a:p>
          <a:p>
            <a:pPr lvl="0" algn="l">
              <a:spcBef>
                <a:spcPct val="15000"/>
              </a:spcBef>
            </a:pPr>
            <a:r>
              <a:rPr lang="fr-FR" altLang="en-US" sz="2400" b="0" i="1" dirty="0" err="1">
                <a:solidFill>
                  <a:srgbClr val="270076"/>
                </a:solidFill>
                <a:sym typeface="Symbol" panose="05050102010706020507" pitchFamily="18" charset="2"/>
              </a:rPr>
              <a:t>T.Width</a:t>
            </a:r>
            <a:r>
              <a:rPr lang="fr-FR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=10x40 </a:t>
            </a:r>
            <a:endParaRPr lang="en-US" altLang="en-US" sz="2400" b="0" i="1" dirty="0">
              <a:solidFill>
                <a:srgbClr val="270076"/>
              </a:solidFill>
              <a:sym typeface="Symbol" panose="05050102010706020507" pitchFamily="18" charset="2"/>
            </a:endParaRPr>
          </a:p>
        </p:txBody>
      </p:sp>
      <p:cxnSp>
        <p:nvCxnSpPr>
          <p:cNvPr id="131" name="Straight Arrow Connector 130"/>
          <p:cNvCxnSpPr/>
          <p:nvPr/>
        </p:nvCxnSpPr>
        <p:spPr bwMode="auto">
          <a:xfrm flipH="1">
            <a:off x="1791185" y="4976773"/>
            <a:ext cx="1136941" cy="10832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Arrow Connector 132"/>
          <p:cNvCxnSpPr/>
          <p:nvPr/>
        </p:nvCxnSpPr>
        <p:spPr bwMode="auto">
          <a:xfrm flipH="1">
            <a:off x="2249419" y="4327500"/>
            <a:ext cx="696982" cy="15446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1" name="Text Box 98"/>
          <p:cNvSpPr txBox="1">
            <a:spLocks noChangeArrowheads="1"/>
          </p:cNvSpPr>
          <p:nvPr/>
        </p:nvSpPr>
        <p:spPr bwMode="auto">
          <a:xfrm>
            <a:off x="127889" y="5783842"/>
            <a:ext cx="4387009" cy="88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algn="l">
              <a:spcBef>
                <a:spcPct val="15000"/>
              </a:spcBef>
            </a:pP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Enter(</a:t>
            </a:r>
            <a:r>
              <a:rPr lang="en-US" altLang="en-US" sz="2400" b="0" dirty="0">
                <a:solidFill>
                  <a:srgbClr val="270076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, </a:t>
            </a:r>
            <a:r>
              <a:rPr lang="en-US" altLang="en-US" sz="2400" b="0" dirty="0" err="1">
                <a:solidFill>
                  <a:srgbClr val="270076"/>
                </a:solidFill>
                <a:sym typeface="Symbol" panose="05050102010706020507" pitchFamily="18" charset="2"/>
              </a:rPr>
              <a:t>arr</a:t>
            </a:r>
            <a:r>
              <a:rPr lang="en-US" altLang="en-US" sz="2400" b="0" dirty="0">
                <a:solidFill>
                  <a:srgbClr val="270076"/>
                </a:solidFill>
                <a:sym typeface="Symbol" panose="05050102010706020507" pitchFamily="18" charset="2"/>
              </a:rPr>
              <a:t>&lt;10,arr(20,int&gt;&gt;,4</a:t>
            </a:r>
            <a:r>
              <a:rPr lang="en-US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)</a:t>
            </a:r>
          </a:p>
          <a:p>
            <a:pPr lvl="0" algn="l">
              <a:spcBef>
                <a:spcPct val="15000"/>
              </a:spcBef>
            </a:pPr>
            <a:r>
              <a:rPr lang="fr-FR" altLang="en-US" sz="2400" b="0" i="1" dirty="0">
                <a:solidFill>
                  <a:srgbClr val="270076"/>
                </a:solidFill>
                <a:sym typeface="Symbol" panose="05050102010706020507" pitchFamily="18" charset="2"/>
              </a:rPr>
              <a:t>Offset =4 +400</a:t>
            </a:r>
            <a:endParaRPr lang="en-US" altLang="en-US" sz="2400" b="0" i="1" dirty="0">
              <a:solidFill>
                <a:srgbClr val="270076"/>
              </a:solidFill>
              <a:sym typeface="Symbol" panose="05050102010706020507" pitchFamily="18" charset="2"/>
            </a:endParaRPr>
          </a:p>
        </p:txBody>
      </p:sp>
      <p:sp>
        <p:nvSpPr>
          <p:cNvPr id="163" name="Text Box 98"/>
          <p:cNvSpPr txBox="1">
            <a:spLocks noChangeArrowheads="1"/>
          </p:cNvSpPr>
          <p:nvPr/>
        </p:nvSpPr>
        <p:spPr bwMode="auto">
          <a:xfrm>
            <a:off x="7493633" y="2368410"/>
            <a:ext cx="912791" cy="5286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 dirty="0">
                <a:solidFill>
                  <a:srgbClr val="002060"/>
                </a:solidFill>
              </a:rPr>
              <a:t>404</a:t>
            </a:r>
          </a:p>
        </p:txBody>
      </p:sp>
      <p:grpSp>
        <p:nvGrpSpPr>
          <p:cNvPr id="164" name="Group 163"/>
          <p:cNvGrpSpPr/>
          <p:nvPr/>
        </p:nvGrpSpPr>
        <p:grpSpPr>
          <a:xfrm>
            <a:off x="6709684" y="5145834"/>
            <a:ext cx="2281916" cy="461666"/>
            <a:chOff x="6709683" y="4673076"/>
            <a:chExt cx="2281916" cy="461666"/>
          </a:xfrm>
        </p:grpSpPr>
        <p:sp>
          <p:nvSpPr>
            <p:cNvPr id="165" name="TextBox 164"/>
            <p:cNvSpPr txBox="1"/>
            <p:nvPr/>
          </p:nvSpPr>
          <p:spPr>
            <a:xfrm>
              <a:off x="6709683" y="4673077"/>
              <a:ext cx="542964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B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811430" y="4673077"/>
              <a:ext cx="1180169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dirty="0" err="1">
                  <a:solidFill>
                    <a:srgbClr val="002060"/>
                  </a:solidFill>
                </a:rPr>
                <a:t>arr</a:t>
              </a:r>
              <a:r>
                <a:rPr lang="en-US" sz="2400" dirty="0">
                  <a:solidFill>
                    <a:srgbClr val="002060"/>
                  </a:solidFill>
                </a:rPr>
                <a:t>&lt;&gt;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7260557" y="4673076"/>
              <a:ext cx="542964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4</a:t>
              </a:r>
            </a:p>
          </p:txBody>
        </p:sp>
      </p:grpSp>
      <p:sp>
        <p:nvSpPr>
          <p:cNvPr id="168" name="Oval 167"/>
          <p:cNvSpPr/>
          <p:nvPr/>
        </p:nvSpPr>
        <p:spPr bwMode="auto">
          <a:xfrm>
            <a:off x="4774380" y="2965272"/>
            <a:ext cx="2073614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" name="Oval 168"/>
          <p:cNvSpPr/>
          <p:nvPr/>
        </p:nvSpPr>
        <p:spPr bwMode="auto">
          <a:xfrm>
            <a:off x="4667273" y="3399020"/>
            <a:ext cx="958195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0" name="Oval 169"/>
          <p:cNvSpPr/>
          <p:nvPr/>
        </p:nvSpPr>
        <p:spPr bwMode="auto">
          <a:xfrm>
            <a:off x="6147934" y="3484963"/>
            <a:ext cx="958195" cy="127222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71" name="Group 170"/>
          <p:cNvGrpSpPr/>
          <p:nvPr/>
        </p:nvGrpSpPr>
        <p:grpSpPr>
          <a:xfrm>
            <a:off x="6721962" y="5613137"/>
            <a:ext cx="2281916" cy="461666"/>
            <a:chOff x="6709683" y="4673076"/>
            <a:chExt cx="2281916" cy="461666"/>
          </a:xfrm>
        </p:grpSpPr>
        <p:sp>
          <p:nvSpPr>
            <p:cNvPr id="172" name="TextBox 171"/>
            <p:cNvSpPr txBox="1"/>
            <p:nvPr/>
          </p:nvSpPr>
          <p:spPr>
            <a:xfrm>
              <a:off x="6709683" y="4673077"/>
              <a:ext cx="542964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2060"/>
                  </a:solidFill>
                </a:rPr>
                <a:t>C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7998506" y="4673077"/>
              <a:ext cx="993093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dirty="0" err="1">
                  <a:solidFill>
                    <a:srgbClr val="002060"/>
                  </a:solidFill>
                </a:rPr>
                <a:t>int</a:t>
              </a:r>
              <a:endParaRPr 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7260556" y="4673076"/>
              <a:ext cx="717763" cy="46166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0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404</a:t>
              </a:r>
            </a:p>
          </p:txBody>
        </p:sp>
      </p:grpSp>
      <p:sp>
        <p:nvSpPr>
          <p:cNvPr id="175" name="Text Box 98"/>
          <p:cNvSpPr txBox="1">
            <a:spLocks noChangeArrowheads="1"/>
          </p:cNvSpPr>
          <p:nvPr/>
        </p:nvSpPr>
        <p:spPr bwMode="auto">
          <a:xfrm>
            <a:off x="7461389" y="2386372"/>
            <a:ext cx="912791" cy="528638"/>
          </a:xfrm>
          <a:prstGeom prst="rect">
            <a:avLst/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800" b="0" dirty="0">
                <a:solidFill>
                  <a:srgbClr val="002060"/>
                </a:solidFill>
              </a:rPr>
              <a:t>406</a:t>
            </a:r>
          </a:p>
        </p:txBody>
      </p:sp>
    </p:spTree>
    <p:extLst>
      <p:ext uri="{BB962C8B-B14F-4D97-AF65-F5344CB8AC3E}">
        <p14:creationId xmlns:p14="http://schemas.microsoft.com/office/powerpoint/2010/main" val="288494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0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2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2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5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75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7" dur="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750"/>
                            </p:stCondLst>
                            <p:childTnLst>
                              <p:par>
                                <p:cTn id="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9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50"/>
                            </p:stCondLst>
                            <p:childTnLst>
                              <p:par>
                                <p:cTn id="24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6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1" dur="2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1" dur="2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2642" grpId="0"/>
      <p:bldP spid="16" grpId="0" animBg="1"/>
      <p:bldP spid="16" grpId="1" animBg="1"/>
      <p:bldP spid="13" grpId="0" animBg="1"/>
      <p:bldP spid="13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/>
      <p:bldP spid="125" grpId="1"/>
      <p:bldP spid="128" grpId="0"/>
      <p:bldP spid="128" grpId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/>
      <p:bldP spid="149" grpId="1"/>
      <p:bldP spid="153" grpId="0"/>
      <p:bldP spid="153" grpId="1"/>
      <p:bldP spid="156" grpId="0"/>
      <p:bldP spid="156" grpId="1"/>
      <p:bldP spid="161" grpId="0"/>
      <p:bldP spid="161" grpId="1"/>
      <p:bldP spid="163" grpId="0" animBg="1"/>
      <p:bldP spid="163" grpId="1" animBg="1"/>
      <p:bldP spid="168" grpId="0" animBg="1"/>
      <p:bldP spid="168" grpId="1" animBg="1"/>
      <p:bldP spid="169" grpId="0" animBg="1"/>
      <p:bldP spid="169" grpId="1" animBg="1"/>
      <p:bldP spid="170" grpId="0" animBg="1"/>
      <p:bldP spid="170" grpId="1" animBg="1"/>
      <p:bldP spid="17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01026-E1FA-4060-96B6-5F0198D0CBFA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7766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Lưu trữ thông tin về phạm vi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76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8839200" cy="5486400"/>
          </a:xfrm>
        </p:spPr>
        <p:txBody>
          <a:bodyPr/>
          <a:lstStyle/>
          <a:p>
            <a:pPr marL="231775" indent="-231775">
              <a:lnSpc>
                <a:spcPct val="105000"/>
              </a:lnSpc>
            </a:pPr>
            <a:r>
              <a:rPr lang="fr-FR" altLang="en-US" sz="2800" dirty="0" err="1"/>
              <a:t>Văn</a:t>
            </a:r>
            <a:r>
              <a:rPr lang="fr-FR" altLang="en-US" sz="2800" dirty="0"/>
              <a:t> </a:t>
            </a:r>
            <a:r>
              <a:rPr lang="fr-FR" altLang="en-US" sz="2800" dirty="0" err="1"/>
              <a:t>phạm</a:t>
            </a:r>
            <a:r>
              <a:rPr lang="fr-FR" altLang="en-US" sz="2800" dirty="0"/>
              <a:t> </a:t>
            </a:r>
            <a:r>
              <a:rPr lang="fr-FR" altLang="en-US" sz="2800" dirty="0" err="1"/>
              <a:t>cho</a:t>
            </a:r>
            <a:r>
              <a:rPr lang="fr-FR" altLang="en-US" sz="2800" dirty="0"/>
              <a:t> </a:t>
            </a:r>
            <a:r>
              <a:rPr lang="fr-FR" altLang="en-US" sz="2800" dirty="0" err="1"/>
              <a:t>phép</a:t>
            </a:r>
            <a:r>
              <a:rPr lang="fr-FR" altLang="en-US" sz="2800" dirty="0"/>
              <a:t> </a:t>
            </a:r>
            <a:r>
              <a:rPr lang="fr-FR" altLang="en-US" sz="2800" dirty="0" err="1"/>
              <a:t>các</a:t>
            </a:r>
            <a:r>
              <a:rPr lang="fr-FR" altLang="en-US" sz="2800" dirty="0"/>
              <a:t> </a:t>
            </a:r>
            <a:r>
              <a:rPr lang="fr-FR" altLang="en-US" sz="2800" dirty="0" err="1"/>
              <a:t>chương</a:t>
            </a:r>
            <a:r>
              <a:rPr lang="fr-FR" altLang="en-US" sz="2800" dirty="0"/>
              <a:t> </a:t>
            </a:r>
            <a:r>
              <a:rPr lang="fr-FR" altLang="en-US" sz="2800" dirty="0" err="1"/>
              <a:t>trình</a:t>
            </a:r>
            <a:r>
              <a:rPr lang="fr-FR" altLang="en-US" sz="2800" dirty="0"/>
              <a:t> con </a:t>
            </a:r>
            <a:r>
              <a:rPr lang="fr-FR" altLang="en-US" sz="2800" dirty="0" err="1"/>
              <a:t>bao</a:t>
            </a:r>
            <a:r>
              <a:rPr lang="fr-FR" altLang="en-US" sz="2800" dirty="0"/>
              <a:t> </a:t>
            </a:r>
            <a:r>
              <a:rPr lang="fr-FR" altLang="en-US" sz="2800" dirty="0" err="1"/>
              <a:t>nhau</a:t>
            </a:r>
            <a:endParaRPr lang="fr-FR" altLang="en-US" sz="2800" dirty="0"/>
          </a:p>
          <a:p>
            <a:pPr marL="914400" lvl="1" indent="-334963">
              <a:lnSpc>
                <a:spcPct val="105000"/>
              </a:lnSpc>
            </a:pPr>
            <a:r>
              <a:rPr lang="fr-FR" altLang="en-US" sz="2400" dirty="0"/>
              <a:t>Khi </a:t>
            </a:r>
            <a:r>
              <a:rPr lang="fr-FR" altLang="en-US" sz="2400" dirty="0" err="1"/>
              <a:t>bắt</a:t>
            </a:r>
            <a:r>
              <a:rPr lang="fr-FR" altLang="en-US" sz="2400" dirty="0"/>
              <a:t> </a:t>
            </a:r>
            <a:r>
              <a:rPr lang="fr-FR" altLang="en-US" sz="2400" dirty="0" err="1"/>
              <a:t>đầu</a:t>
            </a:r>
            <a:r>
              <a:rPr lang="fr-FR" altLang="en-US" sz="2400" dirty="0"/>
              <a:t> </a:t>
            </a:r>
            <a:r>
              <a:rPr lang="fr-FR" altLang="en-US" sz="2400" dirty="0" err="1"/>
              <a:t>phân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tích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chương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trình</a:t>
            </a:r>
            <a:r>
              <a:rPr lang="fr-FR" altLang="en-US" sz="2400" dirty="0"/>
              <a:t> con, </a:t>
            </a:r>
            <a:r>
              <a:rPr lang="fr-FR" altLang="en-US" sz="2400" dirty="0" err="1"/>
              <a:t>phần</a:t>
            </a:r>
            <a:r>
              <a:rPr lang="fr-FR" altLang="en-US" sz="2400" dirty="0"/>
              <a:t> </a:t>
            </a:r>
            <a:r>
              <a:rPr lang="fr-FR" altLang="en-US" sz="2400" dirty="0" err="1"/>
              <a:t>khai</a:t>
            </a:r>
            <a:r>
              <a:rPr lang="fr-FR" altLang="en-US" sz="2400" dirty="0"/>
              <a:t> </a:t>
            </a:r>
            <a:r>
              <a:rPr lang="fr-FR" altLang="en-US" sz="2400" dirty="0" err="1"/>
              <a:t>báo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của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chương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trình</a:t>
            </a:r>
            <a:r>
              <a:rPr lang="fr-FR" altLang="en-US" sz="2400" dirty="0"/>
              <a:t> </a:t>
            </a:r>
            <a:r>
              <a:rPr lang="fr-FR" altLang="en-US" sz="2400" dirty="0" err="1"/>
              <a:t>bao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tạm</a:t>
            </a:r>
            <a:r>
              <a:rPr lang="fr-FR" altLang="en-US" sz="2400" dirty="0"/>
              <a:t> </a:t>
            </a:r>
            <a:r>
              <a:rPr lang="fr-FR" altLang="en-US" sz="2400" dirty="0" err="1"/>
              <a:t>dừng</a:t>
            </a:r>
            <a:endParaRPr lang="fr-FR" altLang="en-US" sz="2400" dirty="0"/>
          </a:p>
          <a:p>
            <a:pPr marL="914400" lvl="1" indent="-334963">
              <a:lnSpc>
                <a:spcPct val="105000"/>
              </a:lnSpc>
            </a:pPr>
            <a:r>
              <a:rPr lang="fr-FR" altLang="en-US" sz="2400" dirty="0" err="1"/>
              <a:t>Dùng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một</a:t>
            </a:r>
            <a:r>
              <a:rPr lang="fr-FR" altLang="en-US" sz="2400" dirty="0"/>
              <a:t> </a:t>
            </a:r>
            <a:r>
              <a:rPr lang="fr-FR" altLang="en-US" sz="2400" dirty="0" err="1"/>
              <a:t>bảng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ký</a:t>
            </a:r>
            <a:r>
              <a:rPr lang="fr-FR" altLang="en-US" sz="2400" dirty="0"/>
              <a:t> </a:t>
            </a:r>
            <a:r>
              <a:rPr lang="fr-FR" altLang="en-US" sz="2400" dirty="0" err="1"/>
              <a:t>hiệu</a:t>
            </a:r>
            <a:r>
              <a:rPr lang="fr-FR" altLang="en-US" sz="2400" dirty="0"/>
              <a:t> </a:t>
            </a:r>
            <a:r>
              <a:rPr lang="fr-FR" altLang="en-US" sz="2400" dirty="0" err="1"/>
              <a:t>riêng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cho</a:t>
            </a:r>
            <a:r>
              <a:rPr lang="fr-FR" altLang="en-US" sz="2400" dirty="0"/>
              <a:t> </a:t>
            </a:r>
            <a:r>
              <a:rPr lang="fr-FR" altLang="en-US" sz="2400" dirty="0" err="1"/>
              <a:t>mỗi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chương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trình</a:t>
            </a:r>
            <a:r>
              <a:rPr lang="fr-FR" altLang="en-US" sz="2400" dirty="0"/>
              <a:t> con</a:t>
            </a:r>
            <a:endParaRPr lang="en-US" altLang="en-US" sz="2400" dirty="0"/>
          </a:p>
          <a:p>
            <a:pPr marL="231775" indent="-231775">
              <a:lnSpc>
                <a:spcPct val="105000"/>
              </a:lnSpc>
            </a:pPr>
            <a:r>
              <a:rPr lang="en-US" altLang="en-US" sz="2800" dirty="0" err="1"/>
              <a:t>Văn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phạm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:</a:t>
            </a:r>
          </a:p>
          <a:p>
            <a:pPr marL="231775" indent="-231775">
              <a:lnSpc>
                <a:spcPct val="105000"/>
              </a:lnSpc>
              <a:buFontTx/>
              <a:buNone/>
            </a:pPr>
            <a:r>
              <a:rPr lang="en-US" altLang="en-US" sz="2800" b="1" dirty="0"/>
              <a:t>          P </a:t>
            </a:r>
            <a:r>
              <a:rPr lang="en-US" altLang="en-US" sz="2800" b="1" dirty="0">
                <a:sym typeface="Symbol" panose="05050102010706020507" pitchFamily="18" charset="2"/>
              </a:rPr>
              <a:t> D</a:t>
            </a:r>
          </a:p>
          <a:p>
            <a:pPr marL="231775" indent="-231775">
              <a:lnSpc>
                <a:spcPct val="105000"/>
              </a:lnSpc>
              <a:buFontTx/>
              <a:buNone/>
            </a:pPr>
            <a:r>
              <a:rPr lang="en-US" altLang="en-US" sz="2800" b="1" dirty="0">
                <a:sym typeface="Symbol" panose="05050102010706020507" pitchFamily="18" charset="2"/>
              </a:rPr>
              <a:t>          D  D; D | id : T | </a:t>
            </a:r>
            <a:r>
              <a:rPr lang="en-US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proc id ; </a:t>
            </a:r>
            <a:r>
              <a:rPr lang="en-US" altLang="en-US" sz="2800" b="1" dirty="0">
                <a:sym typeface="Symbol" panose="05050102010706020507" pitchFamily="18" charset="2"/>
              </a:rPr>
              <a:t>D </a:t>
            </a:r>
            <a:r>
              <a:rPr lang="en-US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;</a:t>
            </a:r>
            <a:r>
              <a:rPr lang="en-US" altLang="en-US" sz="2800" b="1" dirty="0">
                <a:sym typeface="Symbol" panose="05050102010706020507" pitchFamily="18" charset="2"/>
              </a:rPr>
              <a:t> S</a:t>
            </a:r>
          </a:p>
          <a:p>
            <a:pPr marL="231775" indent="-231775">
              <a:lnSpc>
                <a:spcPct val="105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con </a:t>
            </a:r>
            <a:r>
              <a:rPr lang="en-US" altLang="en-US" sz="2800" dirty="0">
                <a:solidFill>
                  <a:srgbClr val="2C1EDC"/>
                </a:solidFill>
              </a:rPr>
              <a:t>D </a:t>
            </a:r>
            <a:r>
              <a:rPr lang="en-US" altLang="en-US" sz="2800" b="1" dirty="0">
                <a:solidFill>
                  <a:srgbClr val="2C1EDC"/>
                </a:solidFill>
                <a:sym typeface="Symbol" panose="05050102010706020507" pitchFamily="18" charset="2"/>
              </a:rPr>
              <a:t> proc</a:t>
            </a:r>
            <a:r>
              <a:rPr lang="en-US" altLang="en-US" sz="2800" dirty="0">
                <a:solidFill>
                  <a:srgbClr val="2C1EDC"/>
                </a:solidFill>
                <a:sym typeface="Symbol" panose="05050102010706020507" pitchFamily="18" charset="2"/>
              </a:rPr>
              <a:t> id D1; S</a:t>
            </a:r>
            <a:r>
              <a:rPr lang="en-US" altLang="en-US" sz="2800" b="1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được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phân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tích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thì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các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khai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báo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trong</a:t>
            </a:r>
            <a:r>
              <a:rPr lang="en-US" altLang="en-US" sz="2800" dirty="0">
                <a:sym typeface="Symbol" panose="05050102010706020507" pitchFamily="18" charset="2"/>
              </a:rPr>
              <a:t> D1 </a:t>
            </a:r>
            <a:r>
              <a:rPr lang="en-US" altLang="en-US" sz="2800" dirty="0" err="1">
                <a:sym typeface="Symbol" panose="05050102010706020507" pitchFamily="18" charset="2"/>
              </a:rPr>
              <a:t>được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lưu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trong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bảng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kí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hiệu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mới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  <a:endParaRPr lang="en-US" altLang="en-US" dirty="0"/>
          </a:p>
        </p:txBody>
      </p:sp>
      <p:sp>
        <p:nvSpPr>
          <p:cNvPr id="177664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5172BD-F2F0-45CF-BBD6-454E25438226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77766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Lưu trữ thông tin về phạm vi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776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533400" y="914400"/>
            <a:ext cx="80772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>
                <a:solidFill>
                  <a:srgbClr val="1E23E6"/>
                </a:solidFill>
              </a:rPr>
              <a:t>Program</a:t>
            </a:r>
            <a:r>
              <a:rPr lang="en-US" altLang="en-US" sz="2400" b="0"/>
              <a:t> sort;	//</a:t>
            </a:r>
            <a:r>
              <a:rPr lang="en-US" altLang="en-US" sz="2400" b="0">
                <a:solidFill>
                  <a:schemeClr val="bg2"/>
                </a:solidFill>
              </a:rPr>
              <a:t>Chương trình Quicksort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 i="1"/>
              <a:t>Var  a: array[0..10] of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 i="1"/>
              <a:t>        x: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</a:t>
            </a:r>
            <a:r>
              <a:rPr lang="en-US" altLang="en-US" sz="2400">
                <a:solidFill>
                  <a:srgbClr val="1E23E6"/>
                </a:solidFill>
              </a:rPr>
              <a:t>Procedure</a:t>
            </a:r>
            <a:r>
              <a:rPr lang="en-US" altLang="en-US" sz="2400" b="0"/>
              <a:t> readarray;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  </a:t>
            </a:r>
            <a:r>
              <a:rPr lang="en-US" altLang="en-US" sz="2400" b="0" i="1"/>
              <a:t>Var i: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 i="1"/>
              <a:t>         Begin …… end {readarray};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</a:t>
            </a:r>
            <a:r>
              <a:rPr lang="en-US" altLang="en-US" sz="2400">
                <a:solidFill>
                  <a:srgbClr val="1E23E6"/>
                </a:solidFill>
              </a:rPr>
              <a:t>Procedure</a:t>
            </a:r>
            <a:r>
              <a:rPr lang="en-US" altLang="en-US" sz="2400" b="0"/>
              <a:t> exchange(i, j: integer);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  </a:t>
            </a:r>
            <a:r>
              <a:rPr lang="en-US" altLang="en-US" sz="2400" b="0" i="1"/>
              <a:t>Begin {exchange} end;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</a:t>
            </a:r>
            <a:r>
              <a:rPr lang="en-US" altLang="en-US" sz="2400">
                <a:solidFill>
                  <a:srgbClr val="1E23E6"/>
                </a:solidFill>
              </a:rPr>
              <a:t>Procedure</a:t>
            </a:r>
            <a:r>
              <a:rPr lang="en-US" altLang="en-US" sz="2400" b="0"/>
              <a:t> quicksort(m, n: integer);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  </a:t>
            </a:r>
            <a:r>
              <a:rPr lang="en-US" altLang="en-US" sz="2400" b="0" i="1"/>
              <a:t>Var k, v: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</a:t>
            </a:r>
            <a:r>
              <a:rPr lang="en-US" altLang="en-US" sz="2400">
                <a:solidFill>
                  <a:srgbClr val="1E23E6"/>
                </a:solidFill>
              </a:rPr>
              <a:t>Function</a:t>
            </a:r>
            <a:r>
              <a:rPr lang="en-US" altLang="en-US" sz="2400" b="0"/>
              <a:t> partition(y,z: integer):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  Var i, j : integer;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/>
              <a:t>         </a:t>
            </a:r>
            <a:r>
              <a:rPr lang="en-US" altLang="en-US" sz="2400" b="0" i="1"/>
              <a:t>Begin ……exchange(i,j) end; {partition}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 i="1"/>
              <a:t>     Begin … end; {quicksort}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AutoNum type="arabicParenR"/>
            </a:pPr>
            <a:r>
              <a:rPr lang="en-US" altLang="en-US" sz="2400" b="0" i="1"/>
              <a:t>Begin … end; {sort}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1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1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1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61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1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1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1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1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61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4805A-A8CB-48E7-BEB9-A03D1C381E03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77869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Lưu trữ thông tin về phạm vi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78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6858000" cy="533400"/>
          </a:xfrm>
        </p:spPr>
        <p:txBody>
          <a:bodyPr/>
          <a:lstStyle/>
          <a:p>
            <a:pPr marL="231775" indent="-231775">
              <a:lnSpc>
                <a:spcPct val="105000"/>
              </a:lnSpc>
            </a:pPr>
            <a:r>
              <a:rPr lang="fr-FR" altLang="en-US" sz="2800"/>
              <a:t>Các bảng ký hiệu của chương trình sort</a:t>
            </a:r>
            <a:endParaRPr lang="en-US" altLang="en-US" sz="2800"/>
          </a:p>
        </p:txBody>
      </p:sp>
      <p:sp>
        <p:nvSpPr>
          <p:cNvPr id="177869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pic>
        <p:nvPicPr>
          <p:cNvPr id="263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077200" cy="5181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CF419C-4908-443D-97D2-69BCBC0F3681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7797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Quy tắc ngữ nghĩa </a:t>
            </a:r>
            <a:r>
              <a:rPr lang="fr-FR" altLang="en-US">
                <a:sym typeface="Symbol" panose="05050102010706020507" pitchFamily="18" charset="2"/>
              </a:rPr>
              <a:t></a:t>
            </a:r>
            <a:r>
              <a:rPr lang="fr-FR" altLang="en-US"/>
              <a:t>Các thao tác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797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867400"/>
          </a:xfrm>
        </p:spPr>
        <p:txBody>
          <a:bodyPr/>
          <a:lstStyle/>
          <a:p>
            <a:pPr marL="231775" indent="-231775">
              <a:lnSpc>
                <a:spcPct val="110000"/>
              </a:lnSpc>
            </a:pPr>
            <a:r>
              <a:rPr lang="en-US" altLang="en-US" sz="2800" b="1"/>
              <a:t>mktable(previous)</a:t>
            </a:r>
            <a:r>
              <a:rPr lang="en-US" altLang="en-US" sz="2800"/>
              <a:t> – tạo một bảng kí hiệu mới, bảng này có </a:t>
            </a:r>
            <a:r>
              <a:rPr lang="en-US" altLang="en-US" sz="2800" i="1">
                <a:solidFill>
                  <a:srgbClr val="1E23E6"/>
                </a:solidFill>
              </a:rPr>
              <a:t>previous</a:t>
            </a:r>
            <a:r>
              <a:rPr lang="en-US" altLang="en-US" sz="2800"/>
              <a:t> chỉ đến bảng cha của nó.</a:t>
            </a:r>
          </a:p>
          <a:p>
            <a:pPr marL="231775" indent="-231775">
              <a:lnSpc>
                <a:spcPct val="110000"/>
              </a:lnSpc>
            </a:pPr>
            <a:r>
              <a:rPr lang="en-US" altLang="en-US" sz="2800" b="1"/>
              <a:t>enter(table,name,type,offset)</a:t>
            </a:r>
            <a:r>
              <a:rPr lang="en-US" altLang="en-US" sz="2800"/>
              <a:t> – thêm một đối tượng mới có tên </a:t>
            </a:r>
            <a:r>
              <a:rPr lang="en-US" altLang="en-US" sz="2800" i="1">
                <a:solidFill>
                  <a:srgbClr val="1E23E6"/>
                </a:solidFill>
              </a:rPr>
              <a:t>name</a:t>
            </a:r>
            <a:r>
              <a:rPr lang="en-US" altLang="en-US" sz="2800"/>
              <a:t>  vào bảng kí hiệu được chỉ ra bởi </a:t>
            </a:r>
            <a:r>
              <a:rPr lang="en-US" altLang="en-US" sz="2800" i="1">
                <a:solidFill>
                  <a:srgbClr val="1E23E6"/>
                </a:solidFill>
              </a:rPr>
              <a:t>table</a:t>
            </a:r>
            <a:r>
              <a:rPr lang="en-US" altLang="en-US" sz="2800"/>
              <a:t> và đặt kiểu là </a:t>
            </a:r>
            <a:r>
              <a:rPr lang="en-US" altLang="en-US" sz="2800" i="1">
                <a:solidFill>
                  <a:srgbClr val="1E23E6"/>
                </a:solidFill>
              </a:rPr>
              <a:t>type</a:t>
            </a:r>
            <a:r>
              <a:rPr lang="en-US" altLang="en-US" sz="2800"/>
              <a:t> và địa chỉ tương đối là </a:t>
            </a:r>
            <a:r>
              <a:rPr lang="en-US" altLang="en-US" sz="2800" i="1">
                <a:solidFill>
                  <a:srgbClr val="1E23E6"/>
                </a:solidFill>
              </a:rPr>
              <a:t>offset</a:t>
            </a:r>
            <a:r>
              <a:rPr lang="en-US" altLang="en-US" sz="2800"/>
              <a:t> vào các trường tương ứng.</a:t>
            </a:r>
          </a:p>
          <a:p>
            <a:pPr marL="231775" indent="-231775">
              <a:lnSpc>
                <a:spcPct val="110000"/>
              </a:lnSpc>
            </a:pPr>
            <a:r>
              <a:rPr lang="en-US" altLang="en-US" sz="2800" b="1"/>
              <a:t>enterproc(table,name,newbtable)</a:t>
            </a:r>
            <a:r>
              <a:rPr lang="en-US" altLang="en-US" sz="2800"/>
              <a:t> – tạo một phần tử mới trong bảng </a:t>
            </a:r>
            <a:r>
              <a:rPr lang="en-US" altLang="en-US" sz="2800">
                <a:solidFill>
                  <a:srgbClr val="1E23E6"/>
                </a:solidFill>
              </a:rPr>
              <a:t>table</a:t>
            </a:r>
            <a:r>
              <a:rPr lang="en-US" altLang="en-US" sz="2800"/>
              <a:t> cho chương trình con </a:t>
            </a:r>
            <a:r>
              <a:rPr lang="en-US" altLang="en-US" sz="2800">
                <a:solidFill>
                  <a:srgbClr val="1E23E6"/>
                </a:solidFill>
              </a:rPr>
              <a:t>name</a:t>
            </a:r>
            <a:r>
              <a:rPr lang="en-US" altLang="en-US" sz="2800"/>
              <a:t>, </a:t>
            </a:r>
            <a:r>
              <a:rPr lang="en-US" altLang="en-US" sz="2800">
                <a:solidFill>
                  <a:srgbClr val="1E23E6"/>
                </a:solidFill>
              </a:rPr>
              <a:t>newtable</a:t>
            </a:r>
            <a:r>
              <a:rPr lang="en-US" altLang="en-US" sz="2800"/>
              <a:t> trỏ tới bảng kí hiệu của CTC này.</a:t>
            </a:r>
          </a:p>
          <a:p>
            <a:pPr marL="231775" indent="-231775">
              <a:lnSpc>
                <a:spcPct val="110000"/>
              </a:lnSpc>
            </a:pPr>
            <a:r>
              <a:rPr lang="en-US" altLang="en-US" sz="2800" b="1"/>
              <a:t>addwidth(table,width)</a:t>
            </a:r>
            <a:r>
              <a:rPr lang="en-US" altLang="en-US" sz="2800"/>
              <a:t> – ghi tổng kích thước của tất cả các p/tử trong bảng kí hiệu vào header của bảng.</a:t>
            </a:r>
          </a:p>
        </p:txBody>
      </p:sp>
      <p:sp>
        <p:nvSpPr>
          <p:cNvPr id="177971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0BF253-C6B5-4BDF-9EB2-69B9A5384557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7807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Khai báo trong chương trình con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8074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80830" name="Group 94"/>
          <p:cNvGraphicFramePr>
            <a:graphicFrameLocks noGrp="1"/>
          </p:cNvGraphicFramePr>
          <p:nvPr>
            <p:ph sz="half" idx="2"/>
          </p:nvPr>
        </p:nvGraphicFramePr>
        <p:xfrm>
          <a:off x="304800" y="838200"/>
          <a:ext cx="8610600" cy="5981192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P MD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addwidth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(offset));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(tblptr);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t:=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mktable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(null); 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push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(t, tblptr);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push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(0, offset)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D ; D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1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D 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1E23E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proc id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;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   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ND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;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t:=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(tblpr);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addwidth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(t,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(tblptr);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enterproc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(tblptr),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id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.name, 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  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t:=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mktable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(tblptr));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push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(t,tblptr);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push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(0,offset);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D 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id :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enter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(tblptr),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id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.name,T.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type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(offset):=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top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(offset) + T.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width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1E23E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Tblptr: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là Stack dùng chứa các con trỏ trỏ tới bảng ký hiệu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1E23E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Offset: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Là Stack dùng lưu trữ các Offset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76A0-E8D6-4517-80C4-4360ED752E1F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7827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Xử lý các khai báo trong chương trình con</a:t>
            </a:r>
          </a:p>
        </p:txBody>
      </p:sp>
      <p:sp>
        <p:nvSpPr>
          <p:cNvPr id="1782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38200"/>
            <a:ext cx="8839200" cy="5791200"/>
          </a:xfrm>
        </p:spPr>
        <p:txBody>
          <a:bodyPr/>
          <a:lstStyle/>
          <a:p>
            <a:pPr marL="231775" indent="-231775"/>
            <a:r>
              <a:rPr lang="en-US" altLang="en-US" sz="2800"/>
              <a:t>Sản xuất:</a:t>
            </a:r>
            <a:r>
              <a:rPr lang="en-US" altLang="en-US" sz="2800" b="1"/>
              <a:t> P</a:t>
            </a:r>
            <a:r>
              <a:rPr lang="en-US" altLang="en-US" sz="2800" b="1">
                <a:sym typeface="Symbol" panose="05050102010706020507" pitchFamily="18" charset="2"/>
              </a:rPr>
              <a:t>MD</a:t>
            </a:r>
            <a:r>
              <a:rPr lang="en-US" altLang="en-US" sz="2800">
                <a:sym typeface="Symbol" panose="05050102010706020507" pitchFamily="18" charset="2"/>
              </a:rPr>
              <a:t> : </a:t>
            </a: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Hoạt động của cây con M được thực hiện trước </a:t>
            </a:r>
          </a:p>
          <a:p>
            <a:pPr marL="231775" indent="-231775"/>
            <a:r>
              <a:rPr lang="en-US" altLang="en-US" sz="2800"/>
              <a:t>Sản xuất:</a:t>
            </a:r>
            <a:r>
              <a:rPr lang="en-US" altLang="en-US" sz="2800" b="1"/>
              <a:t> </a:t>
            </a:r>
            <a:r>
              <a:rPr lang="en-US" altLang="en-US" sz="2800" b="1">
                <a:sym typeface="Symbol" panose="05050102010706020507" pitchFamily="18" charset="2"/>
              </a:rPr>
              <a:t>M  :  </a:t>
            </a:r>
          </a:p>
          <a:p>
            <a:pPr marL="914400" lvl="1" indent="-334963"/>
            <a:r>
              <a:rPr lang="fr-FR" altLang="en-US" sz="2400">
                <a:sym typeface="Symbol" panose="05050102010706020507" pitchFamily="18" charset="2"/>
              </a:rPr>
              <a:t>Tạo bảng ký hiệu</a:t>
            </a:r>
            <a:r>
              <a:rPr lang="fr-FR" altLang="en-US" sz="2400" b="1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cho phạm vi ngoài cùng (</a:t>
            </a:r>
            <a:r>
              <a:rPr lang="en-US" altLang="en-US" sz="2400" i="1">
                <a:sym typeface="Symbol" panose="05050102010706020507" pitchFamily="18" charset="2"/>
              </a:rPr>
              <a:t>chương trình sort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  <a:r>
              <a:rPr lang="fr-FR" altLang="en-US" sz="2400" b="1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bằng lệnh </a:t>
            </a:r>
            <a:r>
              <a:rPr lang="en-US" altLang="en-US" sz="2400" b="1" i="1">
                <a:solidFill>
                  <a:srgbClr val="1E23E6"/>
                </a:solidFill>
                <a:sym typeface="Symbol" panose="05050102010706020507" pitchFamily="18" charset="2"/>
              </a:rPr>
              <a:t>mktable(nil)</a:t>
            </a:r>
            <a:r>
              <a:rPr lang="en-US" altLang="en-US" sz="2400" b="1" i="1">
                <a:solidFill>
                  <a:srgbClr val="666633"/>
                </a:solidFill>
                <a:sym typeface="Symbol" panose="05050102010706020507" pitchFamily="18" charset="2"/>
              </a:rPr>
              <a:t> //</a:t>
            </a:r>
            <a:r>
              <a:rPr lang="en-US" altLang="en-US" sz="2400" b="1" i="1">
                <a:solidFill>
                  <a:schemeClr val="bg2"/>
                </a:solidFill>
                <a:sym typeface="Symbol" panose="05050102010706020507" pitchFamily="18" charset="2"/>
              </a:rPr>
              <a:t>Không có SymTab cha</a:t>
            </a:r>
            <a:endParaRPr lang="en-US" altLang="en-US" sz="2400" b="1">
              <a:solidFill>
                <a:schemeClr val="bg2"/>
              </a:solidFill>
              <a:sym typeface="Symbol" panose="05050102010706020507" pitchFamily="18" charset="2"/>
            </a:endParaRP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Khởi tạo stack </a:t>
            </a:r>
            <a:r>
              <a:rPr lang="en-US" altLang="en-US" sz="2400" b="1" i="1">
                <a:solidFill>
                  <a:srgbClr val="1E23E6"/>
                </a:solidFill>
                <a:sym typeface="Symbol" panose="05050102010706020507" pitchFamily="18" charset="2"/>
              </a:rPr>
              <a:t>tblptr</a:t>
            </a:r>
            <a:r>
              <a:rPr lang="en-US" altLang="en-US" sz="2400">
                <a:sym typeface="Symbol" panose="05050102010706020507" pitchFamily="18" charset="2"/>
              </a:rPr>
              <a:t> với bảng ký hiệu vừa tạo ra</a:t>
            </a: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Đặt offset = 0.</a:t>
            </a:r>
          </a:p>
          <a:p>
            <a:pPr marL="231775" indent="-231775"/>
            <a:r>
              <a:rPr lang="en-US" altLang="en-US" sz="2800"/>
              <a:t>Sản xuất:</a:t>
            </a:r>
            <a:r>
              <a:rPr lang="en-US" altLang="en-US" sz="2800" b="1"/>
              <a:t> </a:t>
            </a:r>
            <a:r>
              <a:rPr lang="en-US" altLang="en-US" sz="2800" b="1">
                <a:sym typeface="Symbol" panose="05050102010706020507" pitchFamily="18" charset="2"/>
              </a:rPr>
              <a:t>N  :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Tạo ra một bảng mới </a:t>
            </a:r>
            <a:r>
              <a:rPr lang="en-US" altLang="en-US" sz="2400" b="1" i="1">
                <a:solidFill>
                  <a:srgbClr val="1E23E6"/>
                </a:solidFill>
                <a:sym typeface="Symbol" panose="05050102010706020507" pitchFamily="18" charset="2"/>
              </a:rPr>
              <a:t>mktable</a:t>
            </a:r>
            <a:r>
              <a:rPr lang="en-US" altLang="en-US" sz="2400" b="1">
                <a:solidFill>
                  <a:srgbClr val="1E23E6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rgbClr val="1E23E6"/>
                </a:solidFill>
                <a:sym typeface="Symbol" panose="05050102010706020507" pitchFamily="18" charset="2"/>
              </a:rPr>
              <a:t>top</a:t>
            </a:r>
            <a:r>
              <a:rPr lang="en-US" altLang="en-US" sz="2400" b="1">
                <a:solidFill>
                  <a:srgbClr val="1E23E6"/>
                </a:solidFill>
                <a:sym typeface="Symbol" panose="05050102010706020507" pitchFamily="18" charset="2"/>
              </a:rPr>
              <a:t>(tblptr))</a:t>
            </a:r>
          </a:p>
          <a:p>
            <a:pPr marL="1373188" lvl="2"/>
            <a:r>
              <a:rPr lang="en-US" altLang="en-US" sz="2000">
                <a:sym typeface="Symbol" panose="05050102010706020507" pitchFamily="18" charset="2"/>
              </a:rPr>
              <a:t>Tham số </a:t>
            </a:r>
            <a:r>
              <a:rPr lang="en-US" altLang="en-US" sz="2000" b="1" i="1">
                <a:solidFill>
                  <a:srgbClr val="1E23E6"/>
                </a:solidFill>
                <a:sym typeface="Symbol" panose="05050102010706020507" pitchFamily="18" charset="2"/>
              </a:rPr>
              <a:t>top</a:t>
            </a:r>
            <a:r>
              <a:rPr lang="en-US" altLang="en-US" sz="2000" b="1">
                <a:solidFill>
                  <a:srgbClr val="1E23E6"/>
                </a:solidFill>
                <a:sym typeface="Symbol" panose="05050102010706020507" pitchFamily="18" charset="2"/>
              </a:rPr>
              <a:t>(tblptr)</a:t>
            </a:r>
            <a:r>
              <a:rPr lang="en-US" altLang="en-US" sz="2000" b="1">
                <a:sym typeface="Symbol" panose="05050102010706020507" pitchFamily="18" charset="2"/>
              </a:rPr>
              <a:t> </a:t>
            </a:r>
            <a:r>
              <a:rPr lang="en-US" altLang="en-US" sz="2000">
                <a:sym typeface="Symbol" panose="05050102010706020507" pitchFamily="18" charset="2"/>
              </a:rPr>
              <a:t>cho giá trị con trỏ tới bảng cha</a:t>
            </a: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Thêm bảng mới vào đỉnh stack</a:t>
            </a:r>
            <a:r>
              <a:rPr lang="en-US" altLang="en-US" sz="2400" b="1">
                <a:sym typeface="Symbol" panose="05050102010706020507" pitchFamily="18" charset="2"/>
              </a:rPr>
              <a:t> </a:t>
            </a:r>
            <a:r>
              <a:rPr lang="en-US" altLang="en-US" sz="2400" b="1">
                <a:solidFill>
                  <a:srgbClr val="1E23E6"/>
                </a:solidFill>
                <a:sym typeface="Symbol" panose="05050102010706020507" pitchFamily="18" charset="2"/>
              </a:rPr>
              <a:t>tblptr</a:t>
            </a:r>
            <a:r>
              <a:rPr lang="en-US" altLang="en-US" sz="2400">
                <a:sym typeface="Symbol" panose="05050102010706020507" pitchFamily="18" charset="2"/>
              </a:rPr>
              <a:t> //</a:t>
            </a:r>
            <a:r>
              <a:rPr lang="en-US" altLang="en-US" sz="2400">
                <a:solidFill>
                  <a:schemeClr val="bg2"/>
                </a:solidFill>
                <a:sym typeface="Symbol" panose="05050102010706020507" pitchFamily="18" charset="2"/>
              </a:rPr>
              <a:t>push(t,tblptr)</a:t>
            </a:r>
          </a:p>
          <a:p>
            <a:pPr marL="914400" lvl="1" indent="-334963"/>
            <a:r>
              <a:rPr lang="en-US" altLang="en-US" sz="2400">
                <a:sym typeface="Symbol" panose="05050102010706020507" pitchFamily="18" charset="2"/>
              </a:rPr>
              <a:t>0 được đẩy vào stack</a:t>
            </a:r>
            <a:r>
              <a:rPr lang="en-US" altLang="en-US" sz="2400" b="1" i="1">
                <a:solidFill>
                  <a:srgbClr val="1E23E6"/>
                </a:solidFill>
                <a:sym typeface="Symbol" panose="05050102010706020507" pitchFamily="18" charset="2"/>
              </a:rPr>
              <a:t> offset</a:t>
            </a:r>
            <a:r>
              <a:rPr lang="en-US" altLang="en-US" sz="2400">
                <a:sym typeface="Symbol" panose="05050102010706020507" pitchFamily="18" charset="2"/>
              </a:rPr>
              <a:t> 	//</a:t>
            </a:r>
            <a:r>
              <a:rPr lang="en-US" altLang="en-US" sz="2400">
                <a:solidFill>
                  <a:schemeClr val="bg2"/>
                </a:solidFill>
                <a:sym typeface="Symbol" panose="05050102010706020507" pitchFamily="18" charset="2"/>
              </a:rPr>
              <a:t>push(0,Offset)</a:t>
            </a:r>
            <a:endParaRPr lang="en-US" altLang="en-US" sz="2400">
              <a:sym typeface="Symbol" panose="05050102010706020507" pitchFamily="18" charset="2"/>
            </a:endParaRPr>
          </a:p>
          <a:p>
            <a:pPr marL="914400" lvl="1" indent="-334963">
              <a:buFontTx/>
              <a:buNone/>
            </a:pPr>
            <a:r>
              <a:rPr lang="en-US" altLang="en-US" sz="2400" i="1">
                <a:solidFill>
                  <a:schemeClr val="bg2"/>
                </a:solidFill>
                <a:sym typeface="Symbol" panose="05050102010706020507" pitchFamily="18" charset="2"/>
              </a:rPr>
              <a:t>N đóng vai trò tương tự M khi một khai báo CTC xuất hiện</a:t>
            </a:r>
          </a:p>
        </p:txBody>
      </p:sp>
      <p:sp>
        <p:nvSpPr>
          <p:cNvPr id="178278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4C7DF9-75D1-4564-8430-D304EE6AC04F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78381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Xử lý các khai báo trong chương trình con</a:t>
            </a:r>
          </a:p>
        </p:txBody>
      </p:sp>
      <p:sp>
        <p:nvSpPr>
          <p:cNvPr id="1783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14400"/>
            <a:ext cx="8839200" cy="5638800"/>
          </a:xfrm>
        </p:spPr>
        <p:txBody>
          <a:bodyPr/>
          <a:lstStyle/>
          <a:p>
            <a:pPr marL="231775" indent="-231775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Với mỗi khai báo </a:t>
            </a:r>
            <a:r>
              <a:rPr lang="en-US" altLang="en-US" sz="2800" b="1">
                <a:sym typeface="Symbol" panose="05050102010706020507" pitchFamily="18" charset="2"/>
              </a:rPr>
              <a:t>id: T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một phần tử mới được tạo ra cho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 id</a:t>
            </a:r>
            <a:r>
              <a:rPr lang="en-US" altLang="en-US" sz="2400">
                <a:sym typeface="Symbol" panose="05050102010706020507" pitchFamily="18" charset="2"/>
              </a:rPr>
              <a:t> trong bảng kí hiệu hiện hành (</a:t>
            </a:r>
            <a:r>
              <a:rPr lang="en-US" altLang="en-US" sz="2400" i="1">
                <a:solidFill>
                  <a:srgbClr val="2C1EDC"/>
                </a:solidFill>
                <a:sym typeface="Symbol" panose="05050102010706020507" pitchFamily="18" charset="2"/>
              </a:rPr>
              <a:t>top(tblptr)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Stack tblptr không đổi,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Giá trị </a:t>
            </a:r>
            <a:r>
              <a:rPr lang="en-US" altLang="en-US" sz="2400" b="1">
                <a:solidFill>
                  <a:srgbClr val="2C1EDC"/>
                </a:solidFill>
                <a:sym typeface="Symbol" panose="05050102010706020507" pitchFamily="18" charset="2"/>
              </a:rPr>
              <a:t>top(offset)</a:t>
            </a:r>
            <a:r>
              <a:rPr lang="en-US" altLang="en-US" sz="2400">
                <a:sym typeface="Symbol" panose="05050102010706020507" pitchFamily="18" charset="2"/>
              </a:rPr>
              <a:t> được tăng lên bởi 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T.width</a:t>
            </a:r>
            <a:r>
              <a:rPr lang="en-US" altLang="en-US" sz="2400">
                <a:sym typeface="Symbol" panose="05050102010706020507" pitchFamily="18" charset="2"/>
              </a:rPr>
              <a:t>.</a:t>
            </a:r>
          </a:p>
          <a:p>
            <a:pPr marL="231775" indent="-231775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Khi </a:t>
            </a:r>
            <a:r>
              <a:rPr lang="en-US" altLang="en-US" sz="2800" b="1">
                <a:sym typeface="Symbol" panose="05050102010706020507" pitchFamily="18" charset="2"/>
              </a:rPr>
              <a:t>D </a:t>
            </a:r>
            <a:r>
              <a:rPr lang="en-US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proc id ; </a:t>
            </a:r>
            <a:r>
              <a:rPr lang="en-US" altLang="en-US" sz="2800" b="1">
                <a:sym typeface="Symbol" panose="05050102010706020507" pitchFamily="18" charset="2"/>
              </a:rPr>
              <a:t>N D</a:t>
            </a:r>
            <a:r>
              <a:rPr lang="en-US" altLang="en-US" sz="2800" b="1" baseline="-25000">
                <a:sym typeface="Symbol" panose="05050102010706020507" pitchFamily="18" charset="2"/>
              </a:rPr>
              <a:t>1 </a:t>
            </a:r>
            <a:r>
              <a:rPr lang="en-US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;</a:t>
            </a:r>
            <a:r>
              <a:rPr lang="en-US" altLang="en-US" sz="2800" b="1">
                <a:sym typeface="Symbol" panose="05050102010706020507" pitchFamily="18" charset="2"/>
              </a:rPr>
              <a:t> S </a:t>
            </a:r>
            <a:r>
              <a:rPr lang="en-US" altLang="en-US" sz="2800">
                <a:sym typeface="Symbol" panose="05050102010706020507" pitchFamily="18" charset="2"/>
              </a:rPr>
              <a:t>diễn ra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Kích thước của tất cả các đối tượng dữ liệu khai báo trong D</a:t>
            </a:r>
            <a:r>
              <a:rPr lang="en-US" altLang="en-US" sz="2400" baseline="-25000"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 sẽ nằm trên đỉnh stack 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offset</a:t>
            </a:r>
            <a:r>
              <a:rPr lang="en-US" altLang="en-US" sz="2400">
                <a:sym typeface="Symbol" panose="05050102010706020507" pitchFamily="18" charset="2"/>
              </a:rPr>
              <a:t>.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Kích thước này được lưu trữ bằng cách dùng Addwidth(),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Các stack 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tblptr</a:t>
            </a:r>
            <a:r>
              <a:rPr lang="en-US" altLang="en-US" sz="2400">
                <a:sym typeface="Symbol" panose="05050102010706020507" pitchFamily="18" charset="2"/>
              </a:rPr>
              <a:t> và 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offset</a:t>
            </a:r>
            <a:r>
              <a:rPr lang="en-US" altLang="en-US" sz="2400">
                <a:sym typeface="Symbol" panose="05050102010706020507" pitchFamily="18" charset="2"/>
              </a:rPr>
              <a:t> bị lấy mất phần tử trên cùng (</a:t>
            </a:r>
            <a:r>
              <a:rPr lang="en-US" altLang="en-US" sz="2400">
                <a:solidFill>
                  <a:srgbClr val="2C1EDC"/>
                </a:solidFill>
                <a:sym typeface="Symbol" panose="05050102010706020507" pitchFamily="18" charset="2"/>
              </a:rPr>
              <a:t>pop()</a:t>
            </a:r>
            <a:r>
              <a:rPr lang="en-US" altLang="en-US" sz="2400">
                <a:sym typeface="Symbol" panose="05050102010706020507" pitchFamily="18" charset="2"/>
              </a:rPr>
              <a:t> ) </a:t>
            </a:r>
          </a:p>
          <a:p>
            <a:pPr marL="914400" lvl="1" indent="-334963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Thao tác thực hiện trên các khai báo của chương trình con.</a:t>
            </a:r>
          </a:p>
        </p:txBody>
      </p:sp>
      <p:sp>
        <p:nvSpPr>
          <p:cNvPr id="178381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4C7DF9-75D1-4564-8430-D304EE6AC04F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78381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dirty="0" err="1"/>
              <a:t>Ví</a:t>
            </a:r>
            <a:r>
              <a:rPr lang="fr-FR" altLang="en-US" dirty="0"/>
              <a:t> </a:t>
            </a:r>
            <a:r>
              <a:rPr lang="fr-FR" altLang="en-US" dirty="0" err="1"/>
              <a:t>dụ</a:t>
            </a:r>
            <a:endParaRPr lang="fr-FR" altLang="en-US" dirty="0"/>
          </a:p>
        </p:txBody>
      </p:sp>
      <p:sp>
        <p:nvSpPr>
          <p:cNvPr id="178381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9269" y="1055623"/>
            <a:ext cx="3200400" cy="5653087"/>
          </a:xfrm>
          <a:ln>
            <a:solidFill>
              <a:srgbClr val="B205FF"/>
            </a:solidFill>
          </a:ln>
        </p:spPr>
        <p:txBody>
          <a:bodyPr/>
          <a:lstStyle/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X:int;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M:Array[10] of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Proc A;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      X:int;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	    N : int;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	    Proc B;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	         X:int;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	         S</a:t>
            </a:r>
            <a:r>
              <a:rPr lang="en-US" altLang="en-US" sz="2800" baseline="-25000" dirty="0"/>
              <a:t>B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	    S</a:t>
            </a:r>
            <a:r>
              <a:rPr lang="en-US" altLang="en-US" sz="2800" baseline="-25000" dirty="0"/>
              <a:t>A</a:t>
            </a:r>
          </a:p>
          <a:p>
            <a:pPr marL="231775" indent="-231775" eaLnBrk="1" hangingPunct="1">
              <a:lnSpc>
                <a:spcPct val="105000"/>
              </a:lnSpc>
              <a:buFontTx/>
              <a:buNone/>
            </a:pPr>
            <a:r>
              <a:rPr lang="en-US" altLang="en-US" sz="2800" dirty="0"/>
              <a:t>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EAE73D9-6B50-4A6B-9C9E-80CBEB5E2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669" y="914400"/>
            <a:ext cx="5505061" cy="565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-"/>
            </a:pPr>
            <a:r>
              <a:rPr lang="en-US" sz="2800" b="0" dirty="0" err="1"/>
              <a:t>Xây</a:t>
            </a:r>
            <a:r>
              <a:rPr lang="en-US" sz="2800" b="0" dirty="0"/>
              <a:t> </a:t>
            </a:r>
            <a:r>
              <a:rPr lang="en-US" sz="2800" b="0" dirty="0" err="1"/>
              <a:t>dựng</a:t>
            </a:r>
            <a:r>
              <a:rPr lang="en-US" sz="2800" b="0" dirty="0"/>
              <a:t> </a:t>
            </a:r>
            <a:r>
              <a:rPr lang="en-US" sz="2800" b="0" dirty="0" err="1"/>
              <a:t>cây</a:t>
            </a:r>
            <a:r>
              <a:rPr lang="en-US" sz="2800" b="0" dirty="0"/>
              <a:t> </a:t>
            </a:r>
            <a:r>
              <a:rPr lang="en-US" sz="2800" b="0" dirty="0" err="1"/>
              <a:t>phân</a:t>
            </a:r>
            <a:r>
              <a:rPr lang="en-US" sz="2800" b="0" dirty="0"/>
              <a:t> </a:t>
            </a:r>
            <a:r>
              <a:rPr lang="en-US" sz="2800" b="0" dirty="0" err="1"/>
              <a:t>tích</a:t>
            </a:r>
            <a:r>
              <a:rPr lang="en-US" sz="2800" b="0" dirty="0"/>
              <a:t> </a:t>
            </a:r>
            <a:r>
              <a:rPr lang="en-US" sz="2800" b="0" dirty="0" err="1"/>
              <a:t>có</a:t>
            </a:r>
            <a:r>
              <a:rPr lang="en-US" sz="2800" b="0" dirty="0"/>
              <a:t> </a:t>
            </a:r>
            <a:r>
              <a:rPr lang="en-US" sz="2800" b="0" dirty="0" err="1"/>
              <a:t>chú</a:t>
            </a:r>
            <a:r>
              <a:rPr lang="en-US" sz="2800" b="0" dirty="0"/>
              <a:t> </a:t>
            </a:r>
            <a:r>
              <a:rPr lang="en-US" sz="2800" b="0" dirty="0" err="1"/>
              <a:t>giải</a:t>
            </a:r>
            <a:r>
              <a:rPr lang="en-US" sz="2800" b="0" dirty="0"/>
              <a:t> </a:t>
            </a:r>
            <a:r>
              <a:rPr lang="en-US" sz="2800" b="0" dirty="0" err="1"/>
              <a:t>cho</a:t>
            </a:r>
            <a:r>
              <a:rPr lang="en-US" sz="2800" b="0" dirty="0"/>
              <a:t> </a:t>
            </a:r>
            <a:r>
              <a:rPr lang="en-US" sz="2800" b="0" dirty="0" err="1"/>
              <a:t>chương</a:t>
            </a:r>
            <a:r>
              <a:rPr lang="en-US" sz="2800" b="0" dirty="0"/>
              <a:t> </a:t>
            </a:r>
            <a:r>
              <a:rPr lang="en-US" sz="2800" b="0" dirty="0" err="1"/>
              <a:t>trình</a:t>
            </a:r>
            <a:r>
              <a:rPr lang="en-US" sz="2800" b="0" dirty="0"/>
              <a:t> </a:t>
            </a:r>
            <a:r>
              <a:rPr lang="en-US" sz="2800" b="0" dirty="0" err="1"/>
              <a:t>bên</a:t>
            </a:r>
            <a:r>
              <a:rPr lang="en-US" sz="2800" b="0" dirty="0"/>
              <a:t>.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800" b="0" dirty="0" err="1"/>
              <a:t>Xây</a:t>
            </a:r>
            <a:r>
              <a:rPr lang="en-US" sz="2800" b="0" dirty="0"/>
              <a:t> </a:t>
            </a:r>
            <a:r>
              <a:rPr lang="en-US" sz="2800" b="0" dirty="0" err="1"/>
              <a:t>dựng</a:t>
            </a:r>
            <a:r>
              <a:rPr lang="en-US" sz="2800" b="0" dirty="0"/>
              <a:t> </a:t>
            </a:r>
            <a:r>
              <a:rPr lang="en-US" sz="2800" b="0" dirty="0" err="1"/>
              <a:t>bảng</a:t>
            </a:r>
            <a:r>
              <a:rPr lang="en-US" sz="2800" b="0" dirty="0"/>
              <a:t> </a:t>
            </a:r>
            <a:r>
              <a:rPr lang="en-US" sz="2800" b="0" dirty="0" err="1"/>
              <a:t>ký</a:t>
            </a:r>
            <a:r>
              <a:rPr lang="en-US" sz="2800" b="0" dirty="0"/>
              <a:t> </a:t>
            </a:r>
            <a:r>
              <a:rPr lang="en-US" sz="2800" b="0" dirty="0" err="1"/>
              <a:t>hiệu</a:t>
            </a:r>
            <a:r>
              <a:rPr lang="en-US" sz="2800" b="0" dirty="0"/>
              <a:t>, </a:t>
            </a:r>
            <a:r>
              <a:rPr lang="en-US" sz="2800" b="0" dirty="0" err="1"/>
              <a:t>có</a:t>
            </a:r>
            <a:r>
              <a:rPr lang="en-US" sz="2800" b="0" dirty="0"/>
              <a:t> </a:t>
            </a:r>
            <a:r>
              <a:rPr lang="en-US" sz="2800" b="0" dirty="0" err="1"/>
              <a:t>chỉ</a:t>
            </a:r>
            <a:r>
              <a:rPr lang="en-US" sz="2800" b="0" dirty="0"/>
              <a:t> </a:t>
            </a:r>
            <a:r>
              <a:rPr lang="en-US" sz="2800" b="0" dirty="0" err="1"/>
              <a:t>rõ</a:t>
            </a:r>
            <a:r>
              <a:rPr lang="en-US" sz="2800" b="0" dirty="0"/>
              <a:t> </a:t>
            </a:r>
            <a:r>
              <a:rPr lang="en-US" sz="2800" b="0" dirty="0" err="1"/>
              <a:t>vị</a:t>
            </a:r>
            <a:r>
              <a:rPr lang="en-US" sz="2800" b="0" dirty="0"/>
              <a:t> </a:t>
            </a:r>
            <a:r>
              <a:rPr lang="en-US" sz="2800" b="0" dirty="0" err="1"/>
              <a:t>trí</a:t>
            </a:r>
            <a:r>
              <a:rPr lang="en-US" sz="2800" b="0" dirty="0"/>
              <a:t> </a:t>
            </a:r>
            <a:r>
              <a:rPr lang="en-US" sz="2800" b="0" dirty="0" err="1"/>
              <a:t>các</a:t>
            </a:r>
            <a:r>
              <a:rPr lang="en-US" sz="2800" b="0" dirty="0"/>
              <a:t> </a:t>
            </a:r>
            <a:r>
              <a:rPr lang="en-US" sz="2800" b="0" dirty="0" err="1"/>
              <a:t>biến</a:t>
            </a:r>
            <a:endParaRPr lang="en-US" sz="2800" b="0" dirty="0"/>
          </a:p>
          <a:p>
            <a:pPr>
              <a:buFont typeface="Arial" panose="020B0604020202020204" pitchFamily="34" charset="0"/>
              <a:buChar char="-"/>
            </a:pPr>
            <a:r>
              <a:rPr lang="en-US" sz="2800" b="0" dirty="0" err="1"/>
              <a:t>Nếu</a:t>
            </a:r>
            <a:r>
              <a:rPr lang="en-US" sz="2800" b="0" dirty="0"/>
              <a:t> </a:t>
            </a:r>
            <a:r>
              <a:rPr lang="en-US" sz="2800" dirty="0">
                <a:solidFill>
                  <a:srgbClr val="3F53E5"/>
                </a:solidFill>
              </a:rPr>
              <a:t>S</a:t>
            </a:r>
            <a:r>
              <a:rPr lang="en-US" sz="2800" baseline="-25000" dirty="0">
                <a:solidFill>
                  <a:srgbClr val="3F53E5"/>
                </a:solidFill>
              </a:rPr>
              <a:t>B</a:t>
            </a:r>
            <a:r>
              <a:rPr lang="en-US" sz="2800" b="0" dirty="0"/>
              <a:t> </a:t>
            </a:r>
            <a:r>
              <a:rPr lang="en-US" sz="2800" b="0" dirty="0" err="1"/>
              <a:t>là</a:t>
            </a:r>
            <a:r>
              <a:rPr lang="en-US" sz="2800" b="0" dirty="0"/>
              <a:t> </a:t>
            </a:r>
            <a:r>
              <a:rPr lang="en-US" sz="2800" b="0" dirty="0" err="1"/>
              <a:t>lệnh</a:t>
            </a:r>
            <a:r>
              <a:rPr lang="en-US" sz="2800" b="0" dirty="0"/>
              <a:t> </a:t>
            </a:r>
            <a:r>
              <a:rPr lang="en-US" sz="2800" b="0" dirty="0">
                <a:solidFill>
                  <a:srgbClr val="3F53E5"/>
                </a:solidFill>
              </a:rPr>
              <a:t>M[4] + N * X; </a:t>
            </a:r>
            <a:r>
              <a:rPr lang="en-US" sz="2800" b="0" dirty="0"/>
              <a:t>Cho </a:t>
            </a:r>
            <a:r>
              <a:rPr lang="en-US" sz="2800" b="0" dirty="0" err="1"/>
              <a:t>biết</a:t>
            </a:r>
            <a:r>
              <a:rPr lang="en-US" sz="2800" b="0" dirty="0"/>
              <a:t> </a:t>
            </a:r>
            <a:r>
              <a:rPr lang="en-US" sz="2800" b="0" dirty="0" err="1"/>
              <a:t>địa</a:t>
            </a:r>
            <a:r>
              <a:rPr lang="en-US" sz="2800" b="0" dirty="0"/>
              <a:t> </a:t>
            </a:r>
            <a:r>
              <a:rPr lang="en-US" sz="2800" b="0" dirty="0" err="1"/>
              <a:t>chỉ</a:t>
            </a:r>
            <a:r>
              <a:rPr lang="en-US" sz="2800" b="0" dirty="0"/>
              <a:t> </a:t>
            </a:r>
            <a:r>
              <a:rPr lang="en-US" sz="2800" b="0" dirty="0" err="1"/>
              <a:t>của</a:t>
            </a:r>
            <a:r>
              <a:rPr lang="en-US" sz="2800" b="0" dirty="0"/>
              <a:t> </a:t>
            </a:r>
            <a:r>
              <a:rPr lang="en-US" sz="2800" b="0" dirty="0" err="1"/>
              <a:t>các</a:t>
            </a:r>
            <a:r>
              <a:rPr lang="en-US" sz="2800" b="0" dirty="0"/>
              <a:t> </a:t>
            </a:r>
            <a:r>
              <a:rPr lang="en-US" sz="2800" b="0" dirty="0" err="1"/>
              <a:t>đối</a:t>
            </a:r>
            <a:r>
              <a:rPr lang="en-US" sz="2800" b="0" dirty="0"/>
              <a:t> </a:t>
            </a:r>
            <a:r>
              <a:rPr lang="en-US" sz="2800" b="0" dirty="0" err="1"/>
              <a:t>tượng</a:t>
            </a:r>
            <a:r>
              <a:rPr lang="en-US" sz="2800" b="0" dirty="0"/>
              <a:t> </a:t>
            </a:r>
            <a:r>
              <a:rPr lang="en-US" sz="2800" b="0" dirty="0" err="1"/>
              <a:t>trong</a:t>
            </a:r>
            <a:r>
              <a:rPr lang="en-US" sz="2800" b="0" dirty="0"/>
              <a:t> </a:t>
            </a:r>
            <a:r>
              <a:rPr lang="en-US" sz="2800" b="0" dirty="0" err="1"/>
              <a:t>lệnh</a:t>
            </a:r>
            <a:r>
              <a:rPr lang="en-US" sz="2800" b="0" dirty="0"/>
              <a:t> </a:t>
            </a:r>
            <a:r>
              <a:rPr lang="en-US" sz="2800" b="0" dirty="0" err="1"/>
              <a:t>trên</a:t>
            </a:r>
            <a:endParaRPr lang="en-US" sz="2800" b="0" dirty="0"/>
          </a:p>
          <a:p>
            <a:pPr>
              <a:buFont typeface="Arial" panose="020B0604020202020204" pitchFamily="34" charset="0"/>
              <a:buChar char="-"/>
            </a:pPr>
            <a:r>
              <a:rPr lang="en-US" sz="2800" b="0" dirty="0" err="1"/>
              <a:t>Nếu</a:t>
            </a:r>
            <a:r>
              <a:rPr lang="en-US" sz="2800" b="0" dirty="0"/>
              <a:t> </a:t>
            </a:r>
            <a:r>
              <a:rPr lang="en-US" sz="2800" dirty="0">
                <a:solidFill>
                  <a:srgbClr val="3F53E5"/>
                </a:solidFill>
              </a:rPr>
              <a:t>S</a:t>
            </a:r>
            <a:r>
              <a:rPr lang="en-US" sz="2800" baseline="-25000" dirty="0">
                <a:solidFill>
                  <a:srgbClr val="3F53E5"/>
                </a:solidFill>
              </a:rPr>
              <a:t>B</a:t>
            </a:r>
            <a:r>
              <a:rPr lang="en-US" sz="2800" b="0" dirty="0"/>
              <a:t> </a:t>
            </a:r>
            <a:r>
              <a:rPr lang="en-US" sz="2800" b="0" dirty="0" err="1"/>
              <a:t>là</a:t>
            </a:r>
            <a:r>
              <a:rPr lang="en-US" sz="2800" b="0" dirty="0"/>
              <a:t> </a:t>
            </a:r>
            <a:r>
              <a:rPr lang="en-US" sz="2800" b="0" dirty="0" err="1"/>
              <a:t>câu</a:t>
            </a:r>
            <a:r>
              <a:rPr lang="en-US" sz="2800" b="0" dirty="0"/>
              <a:t> </a:t>
            </a:r>
            <a:r>
              <a:rPr lang="en-US" sz="2800" b="0" dirty="0" err="1"/>
              <a:t>lệnh</a:t>
            </a:r>
            <a:r>
              <a:rPr lang="en-US" sz="2800" b="0" dirty="0"/>
              <a:t> </a:t>
            </a:r>
            <a:r>
              <a:rPr lang="en-US" sz="2800" b="0" dirty="0">
                <a:solidFill>
                  <a:srgbClr val="3F53E5"/>
                </a:solidFill>
              </a:rPr>
              <a:t>CALL A;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US" sz="2400" b="0" dirty="0" err="1"/>
              <a:t>Lệnh</a:t>
            </a:r>
            <a:r>
              <a:rPr lang="en-US" sz="2400" b="0" dirty="0"/>
              <a:t> </a:t>
            </a:r>
            <a:r>
              <a:rPr lang="en-US" sz="2400" b="0" dirty="0" err="1"/>
              <a:t>thực</a:t>
            </a:r>
            <a:r>
              <a:rPr lang="en-US" sz="2400" b="0" dirty="0"/>
              <a:t> </a:t>
            </a:r>
            <a:r>
              <a:rPr lang="en-US" sz="2400" b="0" dirty="0" err="1"/>
              <a:t>hiện</a:t>
            </a:r>
            <a:r>
              <a:rPr lang="en-US" sz="2400" b="0" dirty="0"/>
              <a:t> </a:t>
            </a:r>
            <a:r>
              <a:rPr lang="en-US" sz="2400" b="0" dirty="0" err="1"/>
              <a:t>được</a:t>
            </a:r>
            <a:r>
              <a:rPr lang="en-US" sz="2400" b="0" dirty="0"/>
              <a:t> </a:t>
            </a:r>
            <a:r>
              <a:rPr lang="en-US" sz="2400" b="0" dirty="0" err="1"/>
              <a:t>không</a:t>
            </a:r>
            <a:r>
              <a:rPr lang="en-US" sz="2400" b="0" dirty="0"/>
              <a:t>? </a:t>
            </a:r>
            <a:r>
              <a:rPr lang="en-US" sz="2400" b="0" dirty="0" err="1"/>
              <a:t>Hãy</a:t>
            </a:r>
            <a:r>
              <a:rPr lang="en-US" sz="2400" b="0" dirty="0"/>
              <a:t> </a:t>
            </a:r>
            <a:r>
              <a:rPr lang="en-US" sz="2400" b="0" dirty="0" err="1"/>
              <a:t>giải</a:t>
            </a:r>
            <a:r>
              <a:rPr lang="en-US" sz="2400" b="0" dirty="0"/>
              <a:t> </a:t>
            </a:r>
            <a:r>
              <a:rPr lang="en-US" sz="2400" b="0" dirty="0" err="1"/>
              <a:t>thích</a:t>
            </a:r>
            <a:r>
              <a:rPr lang="en-US" sz="2400" b="0" dirty="0"/>
              <a:t> 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US" sz="2400" b="0" dirty="0" err="1"/>
              <a:t>Cần</a:t>
            </a:r>
            <a:r>
              <a:rPr lang="en-US" sz="2400" b="0" dirty="0"/>
              <a:t> </a:t>
            </a:r>
            <a:r>
              <a:rPr lang="en-US" sz="2400" b="0" dirty="0" err="1"/>
              <a:t>sửa</a:t>
            </a:r>
            <a:r>
              <a:rPr lang="en-US" sz="2400" b="0" dirty="0"/>
              <a:t> </a:t>
            </a:r>
            <a:r>
              <a:rPr lang="en-US" sz="2400" b="0" dirty="0" err="1"/>
              <a:t>lại</a:t>
            </a:r>
            <a:r>
              <a:rPr lang="en-US" sz="2400" b="0" dirty="0"/>
              <a:t> </a:t>
            </a:r>
            <a:r>
              <a:rPr lang="en-US" sz="2400" b="0" dirty="0" err="1"/>
              <a:t>như</a:t>
            </a:r>
            <a:r>
              <a:rPr lang="en-US" sz="2400" b="0" dirty="0"/>
              <a:t> </a:t>
            </a:r>
            <a:r>
              <a:rPr lang="en-US" sz="2400" b="0" dirty="0" err="1"/>
              <a:t>thế</a:t>
            </a:r>
            <a:r>
              <a:rPr lang="en-US" sz="2400" b="0" dirty="0"/>
              <a:t> </a:t>
            </a:r>
            <a:r>
              <a:rPr lang="en-US" sz="2400" b="0" dirty="0" err="1"/>
              <a:t>nào</a:t>
            </a:r>
            <a:r>
              <a:rPr lang="en-US" sz="2400" b="0" dirty="0"/>
              <a:t> </a:t>
            </a:r>
            <a:r>
              <a:rPr lang="en-US" sz="2400" b="0" dirty="0" err="1"/>
              <a:t>để</a:t>
            </a:r>
            <a:r>
              <a:rPr lang="en-US" sz="2400" b="0" dirty="0"/>
              <a:t> </a:t>
            </a:r>
            <a:r>
              <a:rPr lang="en-US" sz="2400" b="0" dirty="0" err="1"/>
              <a:t>lệnh</a:t>
            </a:r>
            <a:r>
              <a:rPr lang="en-US" sz="2400" b="0" dirty="0"/>
              <a:t> </a:t>
            </a:r>
            <a:r>
              <a:rPr lang="en-US" sz="2400" b="0" dirty="0" err="1"/>
              <a:t>thực</a:t>
            </a:r>
            <a:r>
              <a:rPr lang="en-US" sz="2400" b="0" dirty="0"/>
              <a:t> </a:t>
            </a:r>
            <a:r>
              <a:rPr lang="en-US" sz="2400" b="0" dirty="0" err="1"/>
              <a:t>hiện</a:t>
            </a:r>
            <a:r>
              <a:rPr lang="en-US" sz="2400" b="0" dirty="0"/>
              <a:t> </a:t>
            </a:r>
            <a:r>
              <a:rPr lang="en-US" sz="2400" b="0" dirty="0" err="1"/>
              <a:t>được</a:t>
            </a:r>
            <a:r>
              <a:rPr lang="en-US" sz="2400" b="0" dirty="0"/>
              <a:t> </a:t>
            </a:r>
            <a:r>
              <a:rPr lang="en-US" sz="2400" b="0" dirty="0" err="1"/>
              <a:t>như</a:t>
            </a:r>
            <a:r>
              <a:rPr lang="en-US" sz="2400" b="0" dirty="0"/>
              <a:t> </a:t>
            </a:r>
            <a:r>
              <a:rPr lang="en-US" sz="2400" b="0" dirty="0" err="1"/>
              <a:t>bình</a:t>
            </a:r>
            <a:r>
              <a:rPr lang="en-US" sz="2400" b="0" dirty="0"/>
              <a:t> </a:t>
            </a:r>
            <a:r>
              <a:rPr lang="en-US" sz="2400" b="0" dirty="0" err="1"/>
              <a:t>thường</a:t>
            </a:r>
            <a:r>
              <a:rPr lang="en-US" sz="24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94558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45091-4460-4531-B57E-4829B17CCC42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78483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lệnh gán </a:t>
            </a:r>
            <a:r>
              <a:rPr lang="fr-FR" altLang="en-US">
                <a:sym typeface="Symbol" panose="05050102010706020507" pitchFamily="18" charset="2"/>
              </a:rPr>
              <a:t> Các hàm</a:t>
            </a:r>
          </a:p>
        </p:txBody>
      </p:sp>
      <p:sp>
        <p:nvSpPr>
          <p:cNvPr id="178483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84873" name="Rectangle 41"/>
          <p:cNvSpPr>
            <a:spLocks noChangeArrowheads="1"/>
          </p:cNvSpPr>
          <p:nvPr/>
        </p:nvSpPr>
        <p:spPr bwMode="auto">
          <a:xfrm>
            <a:off x="228600" y="838199"/>
            <a:ext cx="8724900" cy="593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4213" indent="-2746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973138" indent="-17462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800" b="0" dirty="0" err="1"/>
              <a:t>Hàm</a:t>
            </a:r>
            <a:r>
              <a:rPr lang="en-US" altLang="en-US" sz="2800" b="0" dirty="0"/>
              <a:t> lookup()</a:t>
            </a:r>
          </a:p>
          <a:p>
            <a:pPr lvl="1">
              <a:lnSpc>
                <a:spcPct val="110000"/>
              </a:lnSpc>
            </a:pPr>
            <a:r>
              <a:rPr lang="en-US" altLang="en-US" sz="2400" b="0" dirty="0" err="1"/>
              <a:t>Tìm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trong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bảng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kí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hiệu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xem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một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tên</a:t>
            </a:r>
            <a:r>
              <a:rPr lang="en-US" altLang="en-US" sz="2400" b="0" dirty="0"/>
              <a:t> (</a:t>
            </a:r>
            <a:r>
              <a:rPr lang="en-US" altLang="en-US" sz="2400" b="0" i="1" dirty="0">
                <a:solidFill>
                  <a:srgbClr val="2C1EDC"/>
                </a:solidFill>
              </a:rPr>
              <a:t>id.name</a:t>
            </a:r>
            <a:r>
              <a:rPr lang="en-US" altLang="en-US" sz="2400" b="0" i="1" dirty="0"/>
              <a:t>)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đã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tồn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tại</a:t>
            </a:r>
            <a:endParaRPr lang="en-US" altLang="en-US" sz="2400" b="0" dirty="0"/>
          </a:p>
          <a:p>
            <a:pPr lvl="2">
              <a:lnSpc>
                <a:spcPct val="110000"/>
              </a:lnSpc>
            </a:pPr>
            <a:r>
              <a:rPr lang="fr-FR" altLang="en-US" sz="2000" b="0" dirty="0" err="1"/>
              <a:t>Tìm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trong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bảng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ký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hiệu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hiện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thời</a:t>
            </a:r>
            <a:r>
              <a:rPr lang="fr-FR" altLang="en-US" sz="2000" b="0" dirty="0"/>
              <a:t> ( </a:t>
            </a:r>
            <a:r>
              <a:rPr lang="fr-FR" altLang="en-US" sz="2000" b="0" dirty="0">
                <a:solidFill>
                  <a:srgbClr val="2C1EDC"/>
                </a:solidFill>
              </a:rPr>
              <a:t>top(</a:t>
            </a:r>
            <a:r>
              <a:rPr lang="fr-FR" altLang="en-US" sz="2000" b="0" dirty="0" err="1">
                <a:solidFill>
                  <a:srgbClr val="2C1EDC"/>
                </a:solidFill>
              </a:rPr>
              <a:t>tblptr</a:t>
            </a:r>
            <a:r>
              <a:rPr lang="fr-FR" altLang="en-US" sz="2000" b="0" dirty="0">
                <a:solidFill>
                  <a:srgbClr val="2C1EDC"/>
                </a:solidFill>
              </a:rPr>
              <a:t>)</a:t>
            </a:r>
            <a:r>
              <a:rPr lang="fr-FR" altLang="en-US" sz="2000" b="0" dirty="0"/>
              <a:t> )</a:t>
            </a:r>
          </a:p>
          <a:p>
            <a:pPr lvl="2">
              <a:lnSpc>
                <a:spcPct val="110000"/>
              </a:lnSpc>
            </a:pPr>
            <a:r>
              <a:rPr lang="fr-FR" altLang="en-US" sz="2000" b="0" dirty="0" err="1"/>
              <a:t>Nếu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không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có</a:t>
            </a:r>
            <a:r>
              <a:rPr lang="fr-FR" altLang="en-US" sz="2000" b="0" dirty="0"/>
              <a:t>, </a:t>
            </a:r>
            <a:r>
              <a:rPr lang="fr-FR" altLang="en-US" sz="2000" b="0" dirty="0" err="1"/>
              <a:t>tìm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trong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các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bảng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ký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mức</a:t>
            </a:r>
            <a:r>
              <a:rPr lang="fr-FR" altLang="en-US" sz="2000" b="0" dirty="0"/>
              <a:t> </a:t>
            </a:r>
            <a:r>
              <a:rPr lang="fr-FR" altLang="en-US" sz="2000" b="0" dirty="0" err="1"/>
              <a:t>cha</a:t>
            </a:r>
            <a:r>
              <a:rPr lang="fr-FR" altLang="en-US" sz="2000" b="0" dirty="0"/>
              <a:t> (</a:t>
            </a:r>
            <a:r>
              <a:rPr lang="fr-FR" altLang="en-US" sz="2000" b="0" i="1" dirty="0"/>
              <a:t>con </a:t>
            </a:r>
            <a:r>
              <a:rPr lang="fr-FR" altLang="en-US" sz="2000" b="0" i="1" dirty="0" err="1"/>
              <a:t>trỏ</a:t>
            </a:r>
            <a:r>
              <a:rPr lang="fr-FR" altLang="en-US" sz="2000" b="0" i="1" dirty="0"/>
              <a:t> </a:t>
            </a:r>
            <a:r>
              <a:rPr lang="fr-FR" altLang="en-US" sz="2000" b="0" i="1" dirty="0" err="1"/>
              <a:t>trong</a:t>
            </a:r>
            <a:r>
              <a:rPr lang="fr-FR" altLang="en-US" sz="2000" b="0" i="1" dirty="0"/>
              <a:t> </a:t>
            </a:r>
            <a:r>
              <a:rPr lang="fr-FR" altLang="en-US" sz="2000" b="0" i="1" dirty="0" err="1"/>
              <a:t>phần</a:t>
            </a:r>
            <a:r>
              <a:rPr lang="fr-FR" altLang="en-US" sz="2000" b="0" i="1" dirty="0"/>
              <a:t> header </a:t>
            </a:r>
            <a:r>
              <a:rPr lang="fr-FR" altLang="en-US" sz="2000" b="0" i="1" dirty="0" err="1"/>
              <a:t>của</a:t>
            </a:r>
            <a:r>
              <a:rPr lang="fr-FR" altLang="en-US" sz="2000" b="0" i="1" dirty="0"/>
              <a:t> </a:t>
            </a:r>
            <a:r>
              <a:rPr lang="fr-FR" altLang="en-US" sz="2000" b="0" i="1" dirty="0" err="1"/>
              <a:t>bảng</a:t>
            </a:r>
            <a:r>
              <a:rPr lang="fr-FR" altLang="en-US" sz="2000" b="0" i="1" dirty="0"/>
              <a:t> </a:t>
            </a:r>
            <a:r>
              <a:rPr lang="fr-FR" altLang="en-US" sz="2000" b="0" i="1" dirty="0" err="1"/>
              <a:t>ký</a:t>
            </a:r>
            <a:r>
              <a:rPr lang="fr-FR" altLang="en-US" sz="2000" b="0" i="1" dirty="0"/>
              <a:t> </a:t>
            </a:r>
            <a:r>
              <a:rPr lang="fr-FR" altLang="en-US" sz="2000" b="0" i="1" dirty="0" err="1"/>
              <a:t>hiệu</a:t>
            </a:r>
            <a:r>
              <a:rPr lang="fr-FR" altLang="en-US" sz="2000" b="0" dirty="0"/>
              <a:t>)</a:t>
            </a:r>
            <a:endParaRPr lang="en-US" altLang="en-US" sz="2000" b="0" dirty="0"/>
          </a:p>
          <a:p>
            <a:pPr lvl="1">
              <a:lnSpc>
                <a:spcPct val="110000"/>
              </a:lnSpc>
            </a:pPr>
            <a:r>
              <a:rPr lang="en-US" altLang="en-US" sz="2400" b="0" dirty="0" err="1"/>
              <a:t>Nếu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tồn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tại</a:t>
            </a:r>
            <a:r>
              <a:rPr lang="en-US" altLang="en-US" sz="2400" b="0" dirty="0"/>
              <a:t>, </a:t>
            </a:r>
            <a:r>
              <a:rPr lang="en-US" altLang="en-US" sz="2400" b="0" dirty="0" err="1"/>
              <a:t>trả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về</a:t>
            </a:r>
            <a:r>
              <a:rPr lang="en-US" altLang="en-US" sz="2400" b="0" dirty="0"/>
              <a:t> con </a:t>
            </a:r>
            <a:r>
              <a:rPr lang="en-US" altLang="en-US" sz="2400" b="0" dirty="0" err="1"/>
              <a:t>trỏ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tới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vị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trí</a:t>
            </a:r>
            <a:r>
              <a:rPr lang="en-US" altLang="en-US" sz="2400" b="0" dirty="0"/>
              <a:t>; </a:t>
            </a:r>
            <a:r>
              <a:rPr lang="en-US" altLang="en-US" sz="2400" b="0" dirty="0" err="1"/>
              <a:t>ngược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lại</a:t>
            </a:r>
            <a:r>
              <a:rPr lang="en-US" altLang="en-US" sz="2400" b="0" dirty="0"/>
              <a:t>, </a:t>
            </a:r>
            <a:r>
              <a:rPr lang="en-US" altLang="en-US" sz="2400" b="0" dirty="0" err="1"/>
              <a:t>trả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về</a:t>
            </a:r>
            <a:r>
              <a:rPr lang="en-US" altLang="en-US" sz="2400" b="0" dirty="0"/>
              <a:t> </a:t>
            </a:r>
            <a:r>
              <a:rPr lang="en-US" altLang="en-US" sz="2400" b="0" dirty="0">
                <a:solidFill>
                  <a:srgbClr val="2C1EDC"/>
                </a:solidFill>
              </a:rPr>
              <a:t>nil.</a:t>
            </a:r>
          </a:p>
          <a:p>
            <a:pPr lvl="2">
              <a:lnSpc>
                <a:spcPct val="110000"/>
              </a:lnSpc>
            </a:pPr>
            <a:r>
              <a:rPr lang="en-US" altLang="en-US" sz="2000" dirty="0" err="1">
                <a:solidFill>
                  <a:srgbClr val="002060"/>
                </a:solidFill>
              </a:rPr>
              <a:t>Vị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 err="1">
                <a:solidFill>
                  <a:srgbClr val="002060"/>
                </a:solidFill>
              </a:rPr>
              <a:t>trí</a:t>
            </a:r>
            <a:r>
              <a:rPr lang="en-US" altLang="en-US" sz="2000" dirty="0">
                <a:solidFill>
                  <a:srgbClr val="002060"/>
                </a:solidFill>
              </a:rPr>
              <a:t> Id: </a:t>
            </a:r>
            <a:r>
              <a:rPr lang="en-US" altLang="en-US" sz="2000" b="0" dirty="0" err="1">
                <a:solidFill>
                  <a:srgbClr val="002060"/>
                </a:solidFill>
              </a:rPr>
              <a:t>Vị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trí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trong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bảng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và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độ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lệch</a:t>
            </a:r>
            <a:r>
              <a:rPr lang="en-US" altLang="en-US" sz="2000" b="0" dirty="0">
                <a:solidFill>
                  <a:srgbClr val="002060"/>
                </a:solidFill>
              </a:rPr>
              <a:t> </a:t>
            </a:r>
            <a:r>
              <a:rPr lang="en-US" altLang="en-US" sz="2000" b="0" dirty="0" err="1">
                <a:solidFill>
                  <a:srgbClr val="002060"/>
                </a:solidFill>
              </a:rPr>
              <a:t>mức</a:t>
            </a:r>
            <a:endParaRPr lang="en-US" altLang="en-US" sz="2000" b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800" b="0" dirty="0" err="1"/>
              <a:t>Thủ</a:t>
            </a:r>
            <a:r>
              <a:rPr lang="en-US" altLang="en-US" sz="2800" b="0" dirty="0"/>
              <a:t> </a:t>
            </a:r>
            <a:r>
              <a:rPr lang="en-US" altLang="en-US" sz="2800" b="0" dirty="0" err="1"/>
              <a:t>tục</a:t>
            </a:r>
            <a:r>
              <a:rPr lang="en-US" altLang="en-US" sz="2800" b="0" dirty="0"/>
              <a:t> emit() </a:t>
            </a:r>
          </a:p>
          <a:p>
            <a:pPr lvl="1">
              <a:lnSpc>
                <a:spcPct val="110000"/>
              </a:lnSpc>
            </a:pPr>
            <a:r>
              <a:rPr lang="en-US" altLang="en-US" sz="2400" b="0" dirty="0" err="1"/>
              <a:t>Ghi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mã</a:t>
            </a:r>
            <a:r>
              <a:rPr lang="en-US" altLang="en-US" sz="2400" b="0" dirty="0"/>
              <a:t> 3 </a:t>
            </a:r>
            <a:r>
              <a:rPr lang="en-US" altLang="en-US" sz="2400" b="0" dirty="0" err="1"/>
              <a:t>địa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chỉ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vào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một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tập</a:t>
            </a:r>
            <a:r>
              <a:rPr lang="en-US" altLang="en-US" sz="2400" b="0" dirty="0"/>
              <a:t> tin output </a:t>
            </a:r>
          </a:p>
          <a:p>
            <a:pPr lvl="2">
              <a:lnSpc>
                <a:spcPct val="110000"/>
              </a:lnSpc>
            </a:pPr>
            <a:r>
              <a:rPr lang="en-US" altLang="en-US" sz="2000" b="0" dirty="0"/>
              <a:t> gen() </a:t>
            </a:r>
            <a:r>
              <a:rPr lang="en-US" altLang="en-US" sz="2000" b="0" dirty="0" err="1"/>
              <a:t>xây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dựng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thuộc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tính</a:t>
            </a:r>
            <a:r>
              <a:rPr lang="en-US" altLang="en-US" sz="2000" b="0" dirty="0"/>
              <a:t> </a:t>
            </a:r>
            <a:r>
              <a:rPr lang="en-US" altLang="en-US" sz="2000" b="0" dirty="0">
                <a:solidFill>
                  <a:srgbClr val="2C1EDC"/>
                </a:solidFill>
              </a:rPr>
              <a:t>code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cho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các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kí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hiệu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chưa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kết</a:t>
            </a:r>
            <a:r>
              <a:rPr lang="en-US" altLang="en-US" sz="2000" b="0" dirty="0"/>
              <a:t> </a:t>
            </a:r>
            <a:r>
              <a:rPr lang="en-US" altLang="en-US" sz="2000" b="0" dirty="0" err="1"/>
              <a:t>thúc</a:t>
            </a:r>
            <a:endParaRPr lang="en-US" altLang="en-US" sz="2000" b="0" dirty="0"/>
          </a:p>
          <a:p>
            <a:pPr lvl="1">
              <a:lnSpc>
                <a:spcPct val="110000"/>
              </a:lnSpc>
            </a:pPr>
            <a:r>
              <a:rPr lang="en-US" altLang="en-US" sz="2400" b="0" dirty="0" err="1"/>
              <a:t>Khi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thuộc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tính</a:t>
            </a:r>
            <a:r>
              <a:rPr lang="en-US" altLang="en-US" sz="2400" b="0" dirty="0"/>
              <a:t> code </a:t>
            </a:r>
            <a:r>
              <a:rPr lang="en-US" altLang="en-US" sz="2400" b="0" dirty="0" err="1"/>
              <a:t>của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kí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hiệu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không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kết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thúc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trong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vế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trái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sản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xuất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được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tạo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ra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bằng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cách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nối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thuộc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tính</a:t>
            </a:r>
            <a:r>
              <a:rPr lang="en-US" altLang="en-US" sz="2400" b="0" dirty="0"/>
              <a:t> code </a:t>
            </a:r>
            <a:r>
              <a:rPr lang="en-US" altLang="en-US" sz="2400" b="0" dirty="0" err="1"/>
              <a:t>của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kí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hiệu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không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kết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thúc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trong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vế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phải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theo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đúng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thứ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tự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xuất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hiện</a:t>
            </a:r>
            <a:r>
              <a:rPr lang="en-US" altLang="en-US" sz="2400" b="0" dirty="0"/>
              <a:t>, </a:t>
            </a:r>
            <a:r>
              <a:rPr lang="en-US" altLang="en-US" sz="2400" b="0" dirty="0" err="1"/>
              <a:t>sẽ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ghi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ra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tập</a:t>
            </a:r>
            <a:r>
              <a:rPr lang="en-US" altLang="en-US" sz="2400" b="0" dirty="0"/>
              <a:t> tin </a:t>
            </a:r>
            <a:r>
              <a:rPr lang="en-US" altLang="en-US" sz="2400" b="0" dirty="0" err="1"/>
              <a:t>bên</a:t>
            </a:r>
            <a:r>
              <a:rPr lang="en-US" altLang="en-US" sz="2400" b="0" dirty="0"/>
              <a:t> </a:t>
            </a:r>
            <a:r>
              <a:rPr lang="en-US" altLang="en-US" sz="2400" b="0" dirty="0" err="1"/>
              <a:t>ngoài</a:t>
            </a:r>
            <a:endParaRPr lang="en-US" altLang="en-US" sz="2400" b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07E021-57EA-427E-818E-DADD1A99719A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78893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lệnh gán</a:t>
            </a:r>
          </a:p>
        </p:txBody>
      </p:sp>
      <p:sp>
        <p:nvSpPr>
          <p:cNvPr id="178893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aphicFrame>
        <p:nvGraphicFramePr>
          <p:cNvPr id="1788932" name="Group 4"/>
          <p:cNvGraphicFramePr>
            <a:graphicFrameLocks noGrp="1"/>
          </p:cNvGraphicFramePr>
          <p:nvPr>
            <p:ph idx="1"/>
          </p:nvPr>
        </p:nvGraphicFramePr>
        <p:xfrm>
          <a:off x="266700" y="990600"/>
          <a:ext cx="8724900" cy="5229797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Id:=E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p := lookup(id.name)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p&lt;&gt;nil then emit(p ‘:=‘ E.place) else error()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newTemp()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emit(E.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‘+’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newTemp()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emit(E.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‘*’ 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-E</a:t>
                      </a:r>
                      <a:r>
                        <a:rPr kumimoji="0" lang="en-US" alt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newtemp()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emit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 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‘:=’  ‘uminus’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= E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.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place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; </a:t>
                      </a:r>
                      <a:endParaRPr kumimoji="0" lang="en-US" altLang="en-US" sz="2400" b="0" i="1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p := lookup(id.name)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if p&lt;&gt;nil then E.place := p else error()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CCC9C3-7C32-4F13-A6EE-DA588B6C68FC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78995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Địa chỉ hóa các phần tử của mảng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8995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89956" name="Rectangle 4"/>
          <p:cNvSpPr>
            <a:spLocks noChangeArrowheads="1"/>
          </p:cNvSpPr>
          <p:nvPr/>
        </p:nvSpPr>
        <p:spPr bwMode="auto">
          <a:xfrm>
            <a:off x="266700" y="838200"/>
            <a:ext cx="87249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39775" indent="-2746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</a:pPr>
            <a:r>
              <a:rPr lang="en-US" altLang="en-US" sz="2800" b="0"/>
              <a:t>Các phần tử của mảng được lưu trữ trong một khối ô nhớ kế tiếp nhau để truy xuất nhanh</a:t>
            </a: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</a:pPr>
            <a:r>
              <a:rPr lang="en-US" altLang="en-US" sz="2800"/>
              <a:t>Mảng một chiều:</a:t>
            </a:r>
            <a:r>
              <a:rPr lang="en-US" altLang="en-US" sz="2800" b="0"/>
              <a:t> nếu kích thước một phần tử là </a:t>
            </a:r>
            <a:r>
              <a:rPr lang="en-US" altLang="en-US" sz="2800" b="0">
                <a:solidFill>
                  <a:srgbClr val="2C1EDC"/>
                </a:solidFill>
              </a:rPr>
              <a:t>w</a:t>
            </a:r>
            <a:r>
              <a:rPr lang="en-US" altLang="en-US" sz="2800" b="0"/>
              <a:t>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/>
              <a:t> địa chỉ tương đối phần tử thứ </a:t>
            </a:r>
            <a:r>
              <a:rPr lang="en-US" altLang="en-US" sz="2800" i="1">
                <a:solidFill>
                  <a:schemeClr val="accent2"/>
                </a:solidFill>
              </a:rPr>
              <a:t>i</a:t>
            </a:r>
            <a:r>
              <a:rPr lang="en-US" altLang="en-US" sz="2800" b="0"/>
              <a:t> của mảng A là</a:t>
            </a: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  <a:buFontTx/>
              <a:buNone/>
            </a:pPr>
            <a:r>
              <a:rPr lang="en-US" altLang="en-US" sz="2800">
                <a:solidFill>
                  <a:srgbClr val="2C1EDC"/>
                </a:solidFill>
              </a:rPr>
              <a:t>			A[i] = base + (i-low)*w</a:t>
            </a: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  <a:buFontTx/>
              <a:buNone/>
            </a:pPr>
            <a:r>
              <a:rPr lang="en-US" altLang="en-US" sz="2800" b="0"/>
              <a:t>			A[i] = i*w + (base – low*w)</a:t>
            </a:r>
            <a:endParaRPr lang="en-US" altLang="en-US" sz="2800">
              <a:solidFill>
                <a:srgbClr val="2C1EDC"/>
              </a:solidFill>
            </a:endParaRPr>
          </a:p>
          <a:p>
            <a:pPr lvl="1"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</a:pPr>
            <a:r>
              <a:rPr lang="en-US" altLang="en-US" sz="2400" b="0" i="1">
                <a:solidFill>
                  <a:srgbClr val="1E23E6"/>
                </a:solidFill>
              </a:rPr>
              <a:t>Low</a:t>
            </a:r>
            <a:r>
              <a:rPr lang="en-US" altLang="en-US" sz="2400" b="0"/>
              <a:t>: cận dưới tập chỉ số. Một số ngôn ngữ, low = 0//1</a:t>
            </a:r>
          </a:p>
          <a:p>
            <a:pPr lvl="1">
              <a:lnSpc>
                <a:spcPct val="105000"/>
              </a:lnSpc>
              <a:spcBef>
                <a:spcPct val="25000"/>
              </a:spcBef>
              <a:spcAft>
                <a:spcPct val="5000"/>
              </a:spcAft>
            </a:pPr>
            <a:r>
              <a:rPr lang="en-US" altLang="en-US" sz="2400" b="0" i="1"/>
              <a:t>Base</a:t>
            </a:r>
            <a:r>
              <a:rPr lang="en-US" altLang="en-US" sz="2400" b="0"/>
              <a:t>: địa chỉ tương đối của vùng nhớ cấp phát cho mảng(địa chỉ tương đối của phần tử  A[low])</a:t>
            </a:r>
          </a:p>
          <a:p>
            <a:pPr lvl="1">
              <a:lnSpc>
                <a:spcPct val="105000"/>
              </a:lnSpc>
              <a:spcBef>
                <a:spcPct val="25000"/>
              </a:spcBef>
            </a:pPr>
            <a:r>
              <a:rPr lang="en-US" altLang="en-US" sz="2400" b="0"/>
              <a:t>c = base – low*w có thể được tính tại thời gian dịch và lưu trong bảng kí hiệu. Vậy</a:t>
            </a:r>
            <a:r>
              <a:rPr lang="en-US" altLang="en-US" sz="2400" b="0">
                <a:sym typeface="Symbol" panose="05050102010706020507" pitchFamily="18" charset="2"/>
              </a:rPr>
              <a:t> </a:t>
            </a:r>
            <a:r>
              <a:rPr lang="en-US" altLang="en-US" b="0">
                <a:solidFill>
                  <a:srgbClr val="2C1EDC"/>
                </a:solidFill>
                <a:sym typeface="Symbol" panose="05050102010706020507" pitchFamily="18" charset="2"/>
              </a:rPr>
              <a:t>A[i] = i*w + c</a:t>
            </a:r>
            <a:r>
              <a:rPr lang="en-US" altLang="en-US" sz="2400" b="0">
                <a:solidFill>
                  <a:srgbClr val="2C1EDC"/>
                </a:solidFill>
              </a:rPr>
              <a:t> </a:t>
            </a:r>
          </a:p>
          <a:p>
            <a:pPr>
              <a:lnSpc>
                <a:spcPct val="105000"/>
              </a:lnSpc>
              <a:spcBef>
                <a:spcPct val="15000"/>
              </a:spcBef>
            </a:pPr>
            <a:r>
              <a:rPr lang="fr-FR" altLang="en-US" sz="2800">
                <a:solidFill>
                  <a:schemeClr val="accent2"/>
                </a:solidFill>
              </a:rPr>
              <a:t>Mảng 2 chiều:</a:t>
            </a:r>
            <a:r>
              <a:rPr lang="fr-FR" altLang="en-US" sz="2800" b="0">
                <a:solidFill>
                  <a:schemeClr val="accent2"/>
                </a:solidFill>
              </a:rPr>
              <a:t> mảng của mảng 1 chiều</a:t>
            </a:r>
            <a:endParaRPr lang="en-US" altLang="en-US" sz="2800" b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0FD2B-7551-43F9-8F1B-D1186649E23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79302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biểu thức logic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9302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3028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39775" indent="-2746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0"/>
              <a:t>Biểu thức logic được sỉnh bởi văn phạm sau:</a:t>
            </a:r>
          </a:p>
          <a:p>
            <a:pPr lvl="1">
              <a:buFontTx/>
              <a:buNone/>
            </a:pPr>
            <a:r>
              <a:rPr lang="en-US" altLang="en-US" sz="3200" b="0"/>
              <a:t>E</a:t>
            </a:r>
            <a:r>
              <a:rPr lang="en-US" altLang="en-US" sz="3200" b="0">
                <a:cs typeface="Times New Roman" panose="02020603050405020304" pitchFamily="18" charset="0"/>
              </a:rPr>
              <a:t>→ E or E | E and E | not E </a:t>
            </a:r>
          </a:p>
          <a:p>
            <a:pPr lvl="1">
              <a:buFontTx/>
              <a:buNone/>
            </a:pPr>
            <a:r>
              <a:rPr lang="en-US" altLang="en-US" sz="3200" b="0">
                <a:cs typeface="Times New Roman" panose="02020603050405020304" pitchFamily="18" charset="0"/>
              </a:rPr>
              <a:t>			| (E) | id relop id | true |false</a:t>
            </a:r>
          </a:p>
          <a:p>
            <a:r>
              <a:rPr lang="en-US" altLang="en-US" b="0">
                <a:cs typeface="Times New Roman" panose="02020603050405020304" pitchFamily="18" charset="0"/>
              </a:rPr>
              <a:t>Trong đó:</a:t>
            </a:r>
          </a:p>
          <a:p>
            <a:pPr lvl="1"/>
            <a:r>
              <a:rPr lang="en-US" altLang="en-US" sz="3200">
                <a:solidFill>
                  <a:srgbClr val="1E23E6"/>
                </a:solidFill>
                <a:cs typeface="Times New Roman" panose="02020603050405020304" pitchFamily="18" charset="0"/>
              </a:rPr>
              <a:t>Or</a:t>
            </a:r>
            <a:r>
              <a:rPr lang="en-US" altLang="en-US" sz="3200" b="0">
                <a:cs typeface="Times New Roman" panose="02020603050405020304" pitchFamily="18" charset="0"/>
              </a:rPr>
              <a:t> và </a:t>
            </a:r>
            <a:r>
              <a:rPr lang="en-US" altLang="en-US" sz="3200" b="0">
                <a:solidFill>
                  <a:srgbClr val="1E23E6"/>
                </a:solidFill>
                <a:cs typeface="Times New Roman" panose="02020603050405020304" pitchFamily="18" charset="0"/>
              </a:rPr>
              <a:t>And</a:t>
            </a:r>
            <a:r>
              <a:rPr lang="en-US" altLang="en-US" sz="3200" b="0">
                <a:cs typeface="Times New Roman" panose="02020603050405020304" pitchFamily="18" charset="0"/>
              </a:rPr>
              <a:t> kết hợp trái</a:t>
            </a:r>
          </a:p>
          <a:p>
            <a:pPr lvl="1"/>
            <a:r>
              <a:rPr lang="en-US" altLang="en-US" sz="3200" b="0">
                <a:solidFill>
                  <a:srgbClr val="1E23E6"/>
                </a:solidFill>
                <a:cs typeface="Times New Roman" panose="02020603050405020304" pitchFamily="18" charset="0"/>
              </a:rPr>
              <a:t>Or</a:t>
            </a:r>
            <a:r>
              <a:rPr lang="en-US" altLang="en-US" sz="3200" b="0">
                <a:cs typeface="Times New Roman" panose="02020603050405020304" pitchFamily="18" charset="0"/>
              </a:rPr>
              <a:t> có độ ưu tiên thấp nhất tiếp theo là </a:t>
            </a:r>
            <a:r>
              <a:rPr lang="en-US" altLang="en-US" sz="3200" b="0">
                <a:solidFill>
                  <a:srgbClr val="1E23E6"/>
                </a:solidFill>
                <a:cs typeface="Times New Roman" panose="02020603050405020304" pitchFamily="18" charset="0"/>
              </a:rPr>
              <a:t>And</a:t>
            </a:r>
            <a:r>
              <a:rPr lang="en-US" altLang="en-US" sz="3200" b="0">
                <a:cs typeface="Times New Roman" panose="02020603050405020304" pitchFamily="18" charset="0"/>
              </a:rPr>
              <a:t>, và </a:t>
            </a:r>
            <a:r>
              <a:rPr lang="en-US" altLang="en-US" sz="3200" b="0">
                <a:solidFill>
                  <a:srgbClr val="1E23E6"/>
                </a:solidFill>
                <a:cs typeface="Times New Roman" panose="02020603050405020304" pitchFamily="18" charset="0"/>
              </a:rPr>
              <a:t>Not </a:t>
            </a:r>
            <a:r>
              <a:rPr lang="en-US" altLang="en-US" sz="3200" b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3200" b="0" i="1">
                <a:solidFill>
                  <a:schemeClr val="bg2"/>
                </a:solidFill>
                <a:cs typeface="Times New Roman" panose="02020603050405020304" pitchFamily="18" charset="0"/>
              </a:rPr>
              <a:t>Văn phạm trên nhập nhằng</a:t>
            </a:r>
            <a:r>
              <a:rPr lang="en-US" altLang="en-US" sz="3200" b="0">
                <a:solidFill>
                  <a:schemeClr val="bg2"/>
                </a:solidFill>
                <a:cs typeface="Times New Roman" panose="02020603050405020304" pitchFamily="18" charset="0"/>
              </a:rPr>
              <a:t>)</a:t>
            </a:r>
          </a:p>
          <a:p>
            <a:r>
              <a:rPr lang="fr-FR" altLang="en-US" b="0">
                <a:solidFill>
                  <a:schemeClr val="accent2"/>
                </a:solidFill>
              </a:rPr>
              <a:t>Mã hóa giá trị logic true/false</a:t>
            </a:r>
          </a:p>
          <a:p>
            <a:pPr lvl="1"/>
            <a:r>
              <a:rPr lang="fr-FR" altLang="en-US" b="0">
                <a:solidFill>
                  <a:schemeClr val="accent2"/>
                </a:solidFill>
              </a:rPr>
              <a:t>Mã hóa bằng số; đánh giá một biểu thức logic như một biểu thức số học</a:t>
            </a:r>
          </a:p>
          <a:p>
            <a:pPr lvl="1"/>
            <a:r>
              <a:rPr lang="fr-FR" altLang="en-US" b="0">
                <a:solidFill>
                  <a:schemeClr val="accent2"/>
                </a:solidFill>
              </a:rPr>
              <a:t>Biểu diễn số </a:t>
            </a:r>
            <a:r>
              <a:rPr lang="fr-FR" altLang="en-US">
                <a:solidFill>
                  <a:srgbClr val="2C1EDC"/>
                </a:solidFill>
              </a:rPr>
              <a:t>1: true, 0: false</a:t>
            </a:r>
            <a:endParaRPr lang="en-US" altLang="en-US">
              <a:solidFill>
                <a:srgbClr val="2C1EDC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B7CFD-2704-47D0-8DA8-8439D4DD8F83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79405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biểu thức logic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9405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4052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en-US" b="0"/>
              <a:t>Biểu thức </a:t>
            </a:r>
            <a:r>
              <a:rPr lang="en-US" altLang="en-US">
                <a:solidFill>
                  <a:srgbClr val="1E23E6"/>
                </a:solidFill>
              </a:rPr>
              <a:t>a or b and not c</a:t>
            </a:r>
          </a:p>
          <a:p>
            <a:pPr lvl="1">
              <a:spcBef>
                <a:spcPct val="10000"/>
              </a:spcBef>
            </a:pPr>
            <a:r>
              <a:rPr lang="en-US" altLang="en-US" b="0"/>
              <a:t>Mã 3 địa chỉ: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sz="2800" b="0"/>
              <a:t>t1 = not c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sz="2800" b="0"/>
              <a:t>t2 = b and t1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sz="2800" b="0"/>
              <a:t>t3 = a or t2</a:t>
            </a:r>
          </a:p>
          <a:p>
            <a:pPr>
              <a:spcBef>
                <a:spcPct val="10000"/>
              </a:spcBef>
            </a:pPr>
            <a:r>
              <a:rPr lang="en-US" altLang="en-US" b="0"/>
              <a:t>Biểu thức  </a:t>
            </a:r>
            <a:r>
              <a:rPr lang="en-US" altLang="en-US">
                <a:solidFill>
                  <a:srgbClr val="2C1EDC"/>
                </a:solidFill>
              </a:rPr>
              <a:t>a &lt; b</a:t>
            </a:r>
            <a:r>
              <a:rPr lang="en-US" altLang="en-US" b="0"/>
              <a:t> </a:t>
            </a:r>
          </a:p>
          <a:p>
            <a:pPr lvl="1">
              <a:spcBef>
                <a:spcPct val="10000"/>
              </a:spcBef>
            </a:pPr>
            <a:r>
              <a:rPr lang="en-US" altLang="en-US" b="0"/>
              <a:t>Tương đương lệnh </a:t>
            </a:r>
            <a:r>
              <a:rPr lang="en-US" altLang="en-US">
                <a:solidFill>
                  <a:srgbClr val="1E23E6"/>
                </a:solidFill>
              </a:rPr>
              <a:t>if a&lt;b then 1 else 0</a:t>
            </a:r>
            <a:r>
              <a:rPr lang="en-US" altLang="en-US" b="0"/>
              <a:t>. </a:t>
            </a:r>
          </a:p>
          <a:p>
            <a:pPr lvl="1">
              <a:spcBef>
                <a:spcPct val="10000"/>
              </a:spcBef>
            </a:pPr>
            <a:r>
              <a:rPr lang="en-US" altLang="en-US" b="0"/>
              <a:t>Mã 3 địa chỉ tương ứng (</a:t>
            </a:r>
            <a:r>
              <a:rPr lang="en-US" altLang="en-US" b="0" i="1">
                <a:solidFill>
                  <a:schemeClr val="bg2"/>
                </a:solidFill>
              </a:rPr>
              <a:t>g/thiết lệnh bắt đầu 100</a:t>
            </a:r>
            <a:r>
              <a:rPr lang="en-US" altLang="en-US" b="0"/>
              <a:t>)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b="0"/>
              <a:t>100: if a&lt;b goto 103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b="0"/>
              <a:t>101: t:=0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b="0"/>
              <a:t>102: goto 104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b="0"/>
              <a:t>103: t:= 1</a:t>
            </a:r>
          </a:p>
          <a:p>
            <a:pPr lvl="2">
              <a:spcBef>
                <a:spcPct val="10000"/>
              </a:spcBef>
              <a:buFontTx/>
              <a:buNone/>
            </a:pPr>
            <a:r>
              <a:rPr lang="en-US" altLang="en-US" b="0"/>
              <a:t>104: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611DFA-DA9E-43C6-BDB6-F332EFA431AF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79507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biểu thức logic: biểu diễn số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9507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5076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endParaRPr lang="fr-FR" altLang="en-US" b="0"/>
          </a:p>
        </p:txBody>
      </p:sp>
      <p:graphicFrame>
        <p:nvGraphicFramePr>
          <p:cNvPr id="1795131" name="Group 59"/>
          <p:cNvGraphicFramePr>
            <a:graphicFrameLocks noGrp="1"/>
          </p:cNvGraphicFramePr>
          <p:nvPr>
            <p:ph idx="1"/>
          </p:nvPr>
        </p:nvGraphicFramePr>
        <p:xfrm>
          <a:off x="228600" y="847725"/>
          <a:ext cx="8724900" cy="5876862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or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E1.place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or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E2.place)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and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E1.place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and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E2.place)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not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  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not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E1.place)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3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Id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relop Id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Emit(‘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if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id1.place relop id2.place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nextstat+3’)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Emit(E.place 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0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’); Emit(‘goto’ nextstat+2);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9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’);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True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  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 False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E.Place =newTemp();   Emit(E.place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:=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0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Nextstat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(</a:t>
                      </a:r>
                      <a:r>
                        <a:rPr kumimoji="0" lang="fr-FR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next statement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) cho biêt chỉ số của câu lệnh 3 địa chỉ tiếp theo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9735FE-ABE7-4712-B7F1-3C8434C9E427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79609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biểu thức logic</a:t>
            </a:r>
            <a:r>
              <a:rPr lang="fr-FR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79609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6100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1157287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fr-FR" altLang="en-US" b="0"/>
              <a:t>Biểu thức    a&lt; b AND c &gt; d</a:t>
            </a:r>
          </a:p>
          <a:p>
            <a:pPr lvl="1">
              <a:spcBef>
                <a:spcPct val="10000"/>
              </a:spcBef>
            </a:pPr>
            <a:r>
              <a:rPr lang="fr-FR" altLang="en-US" b="0"/>
              <a:t>E</a:t>
            </a:r>
            <a:r>
              <a:rPr lang="fr-FR" altLang="en-US" b="0">
                <a:sym typeface="Symbol" panose="05050102010706020507" pitchFamily="18" charset="2"/>
              </a:rPr>
              <a:t>E and E  Id &lt;Id and E  Id&lt;Id and Id &gt; Id</a:t>
            </a:r>
          </a:p>
        </p:txBody>
      </p:sp>
      <p:sp>
        <p:nvSpPr>
          <p:cNvPr id="1796101" name="Rectangle 5"/>
          <p:cNvSpPr>
            <a:spLocks noChangeArrowheads="1"/>
          </p:cNvSpPr>
          <p:nvPr/>
        </p:nvSpPr>
        <p:spPr bwMode="auto">
          <a:xfrm>
            <a:off x="228600" y="2133600"/>
            <a:ext cx="87249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100: if a &lt; b goto 103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101: t1 := 0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102: goto 104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103: t1 := 1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104: if c &gt; d goto 107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105: t2 := 0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106: goto 108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107: t2 := 1;</a:t>
            </a:r>
          </a:p>
          <a:p>
            <a:pPr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fr-FR" altLang="en-US" sz="2800" b="0"/>
              <a:t>108: t3 := t1 and t2</a:t>
            </a:r>
            <a:endParaRPr lang="en-US" altLang="en-US" sz="2800" b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CDF53A-C08C-4ACB-91E0-D771EC7A95FF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79712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các cấu trúc lập trình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9712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7124" name="Rectangle 4"/>
          <p:cNvSpPr>
            <a:spLocks noChangeArrowheads="1"/>
          </p:cNvSpPr>
          <p:nvPr/>
        </p:nvSpPr>
        <p:spPr bwMode="auto">
          <a:xfrm>
            <a:off x="152400" y="900113"/>
            <a:ext cx="8839200" cy="580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fr-FR" altLang="en-US" sz="2800" b="0" dirty="0" err="1"/>
              <a:t>Cấu</a:t>
            </a:r>
            <a:r>
              <a:rPr lang="fr-FR" altLang="en-US" sz="2800" b="0" dirty="0"/>
              <a:t> </a:t>
            </a:r>
            <a:r>
              <a:rPr lang="fr-FR" altLang="en-US" sz="2800" b="0" dirty="0" err="1"/>
              <a:t>trúc</a:t>
            </a:r>
            <a:r>
              <a:rPr lang="fr-FR" altLang="en-US" sz="2800" b="0" dirty="0"/>
              <a:t>: S </a:t>
            </a:r>
            <a:r>
              <a:rPr lang="fr-FR" altLang="en-US" sz="2800" b="0" dirty="0">
                <a:sym typeface="Symbol" panose="05050102010706020507" pitchFamily="18" charset="2"/>
              </a:rPr>
              <a:t> 	if E </a:t>
            </a:r>
            <a:r>
              <a:rPr lang="fr-FR" altLang="en-US" sz="2800" b="0" dirty="0" err="1">
                <a:sym typeface="Symbol" panose="05050102010706020507" pitchFamily="18" charset="2"/>
              </a:rPr>
              <a:t>then</a:t>
            </a:r>
            <a:r>
              <a:rPr lang="fr-FR" altLang="en-US" sz="2800" b="0" dirty="0">
                <a:sym typeface="Symbol" panose="05050102010706020507" pitchFamily="18" charset="2"/>
              </a:rPr>
              <a:t> S</a:t>
            </a:r>
            <a:r>
              <a:rPr lang="fr-FR" altLang="en-US" sz="2800" b="0" baseline="-25000" dirty="0">
                <a:sym typeface="Symbol" panose="05050102010706020507" pitchFamily="18" charset="2"/>
              </a:rPr>
              <a:t>1</a:t>
            </a:r>
            <a:r>
              <a:rPr lang="fr-FR" altLang="en-US" sz="2800" b="0" dirty="0">
                <a:sym typeface="Symbol" panose="05050102010706020507" pitchFamily="18" charset="2"/>
              </a:rPr>
              <a:t> |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 dirty="0">
                <a:sym typeface="Symbol" panose="05050102010706020507" pitchFamily="18" charset="2"/>
              </a:rPr>
              <a:t>					if E </a:t>
            </a:r>
            <a:r>
              <a:rPr lang="fr-FR" altLang="en-US" sz="2800" b="0" dirty="0" err="1">
                <a:sym typeface="Symbol" panose="05050102010706020507" pitchFamily="18" charset="2"/>
              </a:rPr>
              <a:t>then</a:t>
            </a:r>
            <a:r>
              <a:rPr lang="fr-FR" altLang="en-US" sz="2800" b="0" dirty="0">
                <a:sym typeface="Symbol" panose="05050102010706020507" pitchFamily="18" charset="2"/>
              </a:rPr>
              <a:t> S</a:t>
            </a:r>
            <a:r>
              <a:rPr lang="fr-FR" altLang="en-US" sz="2800" b="0" baseline="-25000" dirty="0">
                <a:sym typeface="Symbol" panose="05050102010706020507" pitchFamily="18" charset="2"/>
              </a:rPr>
              <a:t>1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else</a:t>
            </a:r>
            <a:r>
              <a:rPr lang="fr-FR" altLang="en-US" sz="2800" b="0" dirty="0">
                <a:sym typeface="Symbol" panose="05050102010706020507" pitchFamily="18" charset="2"/>
              </a:rPr>
              <a:t> S</a:t>
            </a:r>
            <a:r>
              <a:rPr lang="fr-FR" altLang="en-US" sz="2800" b="0" baseline="-25000" dirty="0">
                <a:sym typeface="Symbol" panose="05050102010706020507" pitchFamily="18" charset="2"/>
              </a:rPr>
              <a:t>2 </a:t>
            </a:r>
            <a:r>
              <a:rPr lang="fr-FR" altLang="en-US" sz="2800" b="0" dirty="0">
                <a:sym typeface="Symbol" panose="05050102010706020507" pitchFamily="18" charset="2"/>
              </a:rPr>
              <a:t>|</a:t>
            </a:r>
            <a:endParaRPr lang="fr-FR" altLang="en-US" sz="2800" b="0" baseline="-25000" dirty="0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 dirty="0">
                <a:sym typeface="Symbol" panose="05050102010706020507" pitchFamily="18" charset="2"/>
              </a:rPr>
              <a:t>					</a:t>
            </a:r>
            <a:r>
              <a:rPr lang="fr-FR" altLang="en-US" sz="2800" b="0" dirty="0" err="1">
                <a:sym typeface="Symbol" panose="05050102010706020507" pitchFamily="18" charset="2"/>
              </a:rPr>
              <a:t>while</a:t>
            </a:r>
            <a:r>
              <a:rPr lang="fr-FR" altLang="en-US" sz="2800" b="0" dirty="0">
                <a:sym typeface="Symbol" panose="05050102010706020507" pitchFamily="18" charset="2"/>
              </a:rPr>
              <a:t> E do S</a:t>
            </a:r>
            <a:r>
              <a:rPr lang="fr-FR" altLang="en-US" sz="2800" b="0" baseline="-25000" dirty="0">
                <a:sym typeface="Symbol" panose="05050102010706020507" pitchFamily="18" charset="2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fr-FR" altLang="en-US" sz="2800" dirty="0">
                <a:solidFill>
                  <a:srgbClr val="1E23E6"/>
                </a:solidFill>
                <a:sym typeface="Symbol" panose="05050102010706020507" pitchFamily="18" charset="2"/>
              </a:rPr>
              <a:t>E</a:t>
            </a:r>
            <a:r>
              <a:rPr lang="fr-FR" altLang="en-US" sz="2800" b="0" dirty="0">
                <a:sym typeface="Symbol" panose="05050102010706020507" pitchFamily="18" charset="2"/>
              </a:rPr>
              <a:t> là </a:t>
            </a:r>
            <a:r>
              <a:rPr lang="fr-FR" altLang="en-US" sz="2800" b="0" dirty="0" err="1">
                <a:sym typeface="Symbol" panose="05050102010706020507" pitchFamily="18" charset="2"/>
              </a:rPr>
              <a:t>biểu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thức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logic</a:t>
            </a:r>
            <a:r>
              <a:rPr lang="fr-FR" altLang="en-US" sz="2800" b="0" dirty="0">
                <a:sym typeface="Symbol" panose="05050102010706020507" pitchFamily="18" charset="2"/>
              </a:rPr>
              <a:t>. E </a:t>
            </a:r>
            <a:r>
              <a:rPr lang="fr-FR" altLang="en-US" sz="2800" b="0" dirty="0" err="1">
                <a:sym typeface="Symbol" panose="05050102010706020507" pitchFamily="18" charset="2"/>
              </a:rPr>
              <a:t>có</a:t>
            </a:r>
            <a:r>
              <a:rPr lang="fr-FR" altLang="en-US" sz="2800" b="0" dirty="0">
                <a:sym typeface="Symbol" panose="05050102010706020507" pitchFamily="18" charset="2"/>
              </a:rPr>
              <a:t> 2 </a:t>
            </a:r>
            <a:r>
              <a:rPr lang="fr-FR" altLang="en-US" sz="2800" b="0" dirty="0" err="1">
                <a:sym typeface="Symbol" panose="05050102010706020507" pitchFamily="18" charset="2"/>
              </a:rPr>
              <a:t>nhãn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thuộc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tính</a:t>
            </a:r>
            <a:endParaRPr lang="fr-FR" altLang="en-US" sz="2800" b="0" dirty="0">
              <a:sym typeface="Symbol" panose="05050102010706020507" pitchFamily="18" charset="2"/>
            </a:endParaRPr>
          </a:p>
          <a:p>
            <a:pPr lvl="1">
              <a:spcBef>
                <a:spcPct val="10000"/>
              </a:spcBef>
            </a:pPr>
            <a:r>
              <a:rPr lang="fr-FR" altLang="en-US" sz="2400" dirty="0" err="1">
                <a:solidFill>
                  <a:srgbClr val="1E23E6"/>
                </a:solidFill>
                <a:sym typeface="Symbol" panose="05050102010706020507" pitchFamily="18" charset="2"/>
              </a:rPr>
              <a:t>E.true</a:t>
            </a:r>
            <a:r>
              <a:rPr lang="fr-FR" altLang="en-US" sz="2400" b="0" dirty="0">
                <a:sym typeface="Symbol" panose="05050102010706020507" pitchFamily="18" charset="2"/>
              </a:rPr>
              <a:t>: </a:t>
            </a:r>
            <a:r>
              <a:rPr lang="fr-FR" altLang="en-US" sz="2400" b="0" dirty="0" err="1">
                <a:sym typeface="Symbol" panose="05050102010706020507" pitchFamily="18" charset="2"/>
              </a:rPr>
              <a:t>Thuộc</a:t>
            </a:r>
            <a:r>
              <a:rPr lang="fr-FR" altLang="en-US" sz="2400" b="0" dirty="0">
                <a:sym typeface="Symbol" panose="05050102010706020507" pitchFamily="18" charset="2"/>
              </a:rPr>
              <a:t> </a:t>
            </a:r>
            <a:r>
              <a:rPr lang="fr-FR" altLang="en-US" sz="2400" b="0" dirty="0" err="1">
                <a:sym typeface="Symbol" panose="05050102010706020507" pitchFamily="18" charset="2"/>
              </a:rPr>
              <a:t>tính</a:t>
            </a:r>
            <a:r>
              <a:rPr lang="fr-FR" altLang="en-US" sz="2400" b="0" dirty="0">
                <a:sym typeface="Symbol" panose="05050102010706020507" pitchFamily="18" charset="2"/>
              </a:rPr>
              <a:t> </a:t>
            </a:r>
            <a:r>
              <a:rPr lang="fr-FR" altLang="en-US" sz="2400" b="0" dirty="0" err="1">
                <a:sym typeface="Symbol" panose="05050102010706020507" pitchFamily="18" charset="2"/>
              </a:rPr>
              <a:t>chứa</a:t>
            </a:r>
            <a:r>
              <a:rPr lang="fr-FR" altLang="en-US" sz="2400" b="0" dirty="0"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nhãn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dòng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nếu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thức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3F53E5"/>
                </a:solidFill>
                <a:cs typeface="Times New Roman" panose="02020603050405020304" pitchFamily="18" charset="0"/>
              </a:rPr>
              <a:t>E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là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3F53E5"/>
                </a:solidFill>
                <a:cs typeface="Times New Roman" panose="02020603050405020304" pitchFamily="18" charset="0"/>
              </a:rPr>
              <a:t>true</a:t>
            </a:r>
          </a:p>
          <a:p>
            <a:pPr lvl="1"/>
            <a:r>
              <a:rPr lang="en-US" altLang="en-US" sz="2400" dirty="0" err="1">
                <a:solidFill>
                  <a:srgbClr val="1E23E6"/>
                </a:solidFill>
                <a:cs typeface="Times New Roman" panose="02020603050405020304" pitchFamily="18" charset="0"/>
              </a:rPr>
              <a:t>E.false</a:t>
            </a:r>
            <a:r>
              <a:rPr lang="en-US" altLang="en-US" sz="2400" b="0" dirty="0">
                <a:cs typeface="Times New Roman" panose="02020603050405020304" pitchFamily="18" charset="0"/>
              </a:rPr>
              <a:t>: </a:t>
            </a:r>
            <a:r>
              <a:rPr lang="fr-FR" altLang="en-US" sz="2400" b="0" dirty="0" err="1">
                <a:sym typeface="Symbol" panose="05050102010706020507" pitchFamily="18" charset="2"/>
              </a:rPr>
              <a:t>Thuộc</a:t>
            </a:r>
            <a:r>
              <a:rPr lang="fr-FR" altLang="en-US" sz="2400" b="0" dirty="0">
                <a:sym typeface="Symbol" panose="05050102010706020507" pitchFamily="18" charset="2"/>
              </a:rPr>
              <a:t> </a:t>
            </a:r>
            <a:r>
              <a:rPr lang="fr-FR" altLang="en-US" sz="2400" b="0" dirty="0" err="1">
                <a:sym typeface="Symbol" panose="05050102010706020507" pitchFamily="18" charset="2"/>
              </a:rPr>
              <a:t>tính</a:t>
            </a:r>
            <a:r>
              <a:rPr lang="fr-FR" altLang="en-US" sz="2400" b="0" dirty="0">
                <a:sym typeface="Symbol" panose="05050102010706020507" pitchFamily="18" charset="2"/>
              </a:rPr>
              <a:t> </a:t>
            </a:r>
            <a:r>
              <a:rPr lang="fr-FR" altLang="en-US" sz="2400" b="0" dirty="0" err="1">
                <a:sym typeface="Symbol" panose="05050102010706020507" pitchFamily="18" charset="2"/>
              </a:rPr>
              <a:t>chứa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nhãn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dòng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nếu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biểu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thức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3F53E5"/>
                </a:solidFill>
                <a:cs typeface="Times New Roman" panose="02020603050405020304" pitchFamily="18" charset="0"/>
              </a:rPr>
              <a:t>E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cs typeface="Times New Roman" panose="02020603050405020304" pitchFamily="18" charset="0"/>
              </a:rPr>
              <a:t>là</a:t>
            </a:r>
            <a:r>
              <a:rPr lang="en-US" altLang="en-US" sz="2400" b="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3F53E5"/>
                </a:solidFill>
                <a:cs typeface="Times New Roman" panose="02020603050405020304" pitchFamily="18" charset="0"/>
              </a:rPr>
              <a:t>false</a:t>
            </a:r>
          </a:p>
          <a:p>
            <a:r>
              <a:rPr lang="fr-FR" altLang="en-US" sz="2800" dirty="0" err="1">
                <a:solidFill>
                  <a:srgbClr val="1E23E6"/>
                </a:solidFill>
                <a:cs typeface="Times New Roman" panose="02020603050405020304" pitchFamily="18" charset="0"/>
              </a:rPr>
              <a:t>S.code</a:t>
            </a:r>
            <a:r>
              <a:rPr lang="fr-FR" altLang="en-US" sz="2800" b="0" dirty="0">
                <a:cs typeface="Times New Roman" panose="02020603050405020304" pitchFamily="18" charset="0"/>
              </a:rPr>
              <a:t>: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Dãy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lệnh</a:t>
            </a:r>
            <a:r>
              <a:rPr lang="en-US" altLang="en-US" sz="2800" b="0" dirty="0">
                <a:cs typeface="Times New Roman" panose="02020603050405020304" pitchFamily="18" charset="0"/>
              </a:rPr>
              <a:t> 3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địa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b="0" dirty="0">
                <a:cs typeface="Times New Roman" panose="02020603050405020304" pitchFamily="18" charset="0"/>
              </a:rPr>
              <a:t> ra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3F53E5"/>
                </a:solidFill>
                <a:cs typeface="Times New Roman" panose="02020603050405020304" pitchFamily="18" charset="0"/>
              </a:rPr>
              <a:t>S</a:t>
            </a:r>
          </a:p>
          <a:p>
            <a:r>
              <a:rPr lang="en-US" altLang="en-US" sz="2800" dirty="0" err="1">
                <a:solidFill>
                  <a:srgbClr val="1E23E6"/>
                </a:solidFill>
                <a:cs typeface="Times New Roman" panose="02020603050405020304" pitchFamily="18" charset="0"/>
              </a:rPr>
              <a:t>S.next</a:t>
            </a:r>
            <a:r>
              <a:rPr lang="en-US" altLang="en-US" sz="2800" b="0" dirty="0">
                <a:cs typeface="Times New Roman" panose="02020603050405020304" pitchFamily="18" charset="0"/>
              </a:rPr>
              <a:t>: </a:t>
            </a:r>
            <a:r>
              <a:rPr lang="fr-FR" altLang="en-US" sz="2800" b="0" dirty="0" err="1">
                <a:sym typeface="Symbol" panose="05050102010706020507" pitchFamily="18" charset="2"/>
              </a:rPr>
              <a:t>Th.tính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chứa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fr-FR" altLang="en-US" sz="2800" b="0" dirty="0" err="1">
                <a:sym typeface="Symbol" panose="05050102010706020507" pitchFamily="18" charset="2"/>
              </a:rPr>
              <a:t>nhãn</a:t>
            </a:r>
            <a:r>
              <a:rPr lang="fr-FR" altLang="en-US" sz="2800" b="0" dirty="0"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địa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lệnh</a:t>
            </a:r>
            <a:r>
              <a:rPr lang="en-US" altLang="en-US" sz="2800" b="0" dirty="0">
                <a:cs typeface="Times New Roman" panose="02020603050405020304" pitchFamily="18" charset="0"/>
              </a:rPr>
              <a:t> 3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địa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đầu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tiên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sẽ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thực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hiện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sau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dãy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lệnh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cấu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trúc</a:t>
            </a:r>
            <a:r>
              <a:rPr lang="en-US" altLang="en-US" sz="2800" b="0" dirty="0">
                <a:cs typeface="Times New Roman" panose="02020603050405020304" pitchFamily="18" charset="0"/>
              </a:rPr>
              <a:t> S</a:t>
            </a:r>
          </a:p>
          <a:p>
            <a:r>
              <a:rPr lang="en-US" altLang="en-US" sz="2800" dirty="0" err="1">
                <a:solidFill>
                  <a:srgbClr val="1E23E6"/>
                </a:solidFill>
                <a:cs typeface="Times New Roman" panose="02020603050405020304" pitchFamily="18" charset="0"/>
              </a:rPr>
              <a:t>S.begin</a:t>
            </a:r>
            <a:r>
              <a:rPr lang="en-US" altLang="en-US" sz="2800" dirty="0">
                <a:solidFill>
                  <a:srgbClr val="1E23E6"/>
                </a:solidFill>
                <a:cs typeface="Times New Roman" panose="02020603050405020304" pitchFamily="18" charset="0"/>
              </a:rPr>
              <a:t>: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nhãn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địa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lệnh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đầu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tiên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sinh</a:t>
            </a:r>
            <a:r>
              <a:rPr lang="en-US" altLang="en-US" sz="2800" b="0" dirty="0">
                <a:cs typeface="Times New Roman" panose="02020603050405020304" pitchFamily="18" charset="0"/>
              </a:rPr>
              <a:t> ra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cấu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trúc</a:t>
            </a:r>
            <a:r>
              <a:rPr lang="en-US" altLang="en-US" sz="2800" b="0" dirty="0">
                <a:cs typeface="Times New Roman" panose="02020603050405020304" pitchFamily="18" charset="0"/>
              </a:rPr>
              <a:t> S</a:t>
            </a:r>
            <a:endParaRPr lang="fr-FR" altLang="en-US" sz="2800" b="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7C657B-F5D1-4F5F-87A8-3A1127B63E6E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179814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Sinh mã cho các cấu trúc lập trình</a:t>
            </a:r>
            <a:endParaRPr lang="fr-FR" altLang="en-US">
              <a:sym typeface="Symbol" panose="05050102010706020507" pitchFamily="18" charset="2"/>
            </a:endParaRPr>
          </a:p>
        </p:txBody>
      </p:sp>
      <p:sp>
        <p:nvSpPr>
          <p:cNvPr id="179814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pic>
        <p:nvPicPr>
          <p:cNvPr id="179814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5988"/>
            <a:ext cx="8839200" cy="5865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25AE56-3091-411F-AB3B-27AD3E9F5713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180019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Dịch trực tiếp cú pháp cho các cấu trúc lập trình</a:t>
            </a:r>
          </a:p>
        </p:txBody>
      </p:sp>
      <p:sp>
        <p:nvSpPr>
          <p:cNvPr id="180019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0196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endParaRPr lang="fr-FR" altLang="en-US" b="0"/>
          </a:p>
        </p:txBody>
      </p:sp>
      <p:graphicFrame>
        <p:nvGraphicFramePr>
          <p:cNvPr id="1800256" name="Group 6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262011"/>
              </p:ext>
            </p:extLst>
          </p:nvPr>
        </p:nvGraphicFramePr>
        <p:xfrm>
          <a:off x="228600" y="847725"/>
          <a:ext cx="8724900" cy="5779008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xuất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	if E then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E.True = newLabel();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E.False = S.next;     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.next = S.next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S.Code = E.code  ||  gen(E.true ‘ 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 ||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if E then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       else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E.True = newLabel();   E.False = newLabel();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.next = S.next;       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.next = S.next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S.Code = E.code  ||  gen(E.true ‘ 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 || 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 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                gen(‘goto’ S.next)||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                gen(E.false ‘ 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 ||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while E do S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S.Begin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=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newLabel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();  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E.True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=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newLabel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();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E.False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=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S.next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;   S</a:t>
                      </a:r>
                      <a:r>
                        <a:rPr kumimoji="0" lang="fr-FR" alt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.next =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S.Begin</a:t>
                      </a:r>
                      <a:endParaRPr kumimoji="0" lang="fr-FR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S.Code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=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S.begin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‘</a:t>
                      </a:r>
                      <a:r>
                        <a:rPr kumimoji="0" lang="fr-F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 ||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||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E.true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’</a:t>
                      </a:r>
                      <a:r>
                        <a:rPr kumimoji="0" lang="fr-F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             ||S</a:t>
                      </a:r>
                      <a:r>
                        <a:rPr kumimoji="0" lang="fr-FR" alt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 ||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(‘</a:t>
                      </a:r>
                      <a:r>
                        <a:rPr kumimoji="0" lang="fr-F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‘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S.Begin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);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EAC2CF-18C9-43EA-B7B6-6562CAD5EB51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79917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trong cấu trúc lập trình</a:t>
            </a:r>
            <a:endParaRPr lang="fr-FR" altLang="en-US" sz="2800">
              <a:sym typeface="Symbol" panose="05050102010706020507" pitchFamily="18" charset="2"/>
            </a:endParaRPr>
          </a:p>
        </p:txBody>
      </p:sp>
      <p:sp>
        <p:nvSpPr>
          <p:cNvPr id="179917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799172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0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0"/>
              <a:t>Nếu E có dạng: </a:t>
            </a:r>
            <a:r>
              <a:rPr lang="en-US" altLang="en-US">
                <a:solidFill>
                  <a:srgbClr val="2C1EDC"/>
                </a:solidFill>
              </a:rPr>
              <a:t>a &lt; b</a:t>
            </a:r>
            <a:r>
              <a:rPr lang="en-US" altLang="en-US" b="0"/>
              <a:t> </a:t>
            </a:r>
          </a:p>
          <a:p>
            <a:pPr lvl="1"/>
            <a:r>
              <a:rPr lang="en-US" altLang="en-US" b="0"/>
              <a:t>Mã lệnh sinh ra có dạng</a:t>
            </a:r>
          </a:p>
          <a:p>
            <a:pPr lvl="1">
              <a:buFontTx/>
              <a:buNone/>
            </a:pPr>
            <a:r>
              <a:rPr lang="en-US" altLang="en-US" b="0"/>
              <a:t>		 If a&lt;b then goto E.true </a:t>
            </a:r>
          </a:p>
          <a:p>
            <a:pPr lvl="1">
              <a:buFontTx/>
              <a:buNone/>
            </a:pPr>
            <a:r>
              <a:rPr lang="en-US" altLang="en-US" b="0"/>
              <a:t>		 goto E.false</a:t>
            </a:r>
          </a:p>
          <a:p>
            <a:r>
              <a:rPr lang="en-US" altLang="en-US" b="0"/>
              <a:t>Nếu E có dạng: </a:t>
            </a:r>
            <a:r>
              <a:rPr lang="en-US" altLang="en-US">
                <a:solidFill>
                  <a:srgbClr val="2C1EDC"/>
                </a:solidFill>
              </a:rPr>
              <a:t>E</a:t>
            </a:r>
            <a:r>
              <a:rPr lang="en-US" altLang="en-US" baseline="-25000">
                <a:solidFill>
                  <a:srgbClr val="2C1EDC"/>
                </a:solidFill>
              </a:rPr>
              <a:t>1</a:t>
            </a:r>
            <a:r>
              <a:rPr lang="en-US" altLang="en-US">
                <a:solidFill>
                  <a:srgbClr val="2C1EDC"/>
                </a:solidFill>
              </a:rPr>
              <a:t> or E</a:t>
            </a:r>
            <a:r>
              <a:rPr lang="en-US" altLang="en-US" baseline="-25000">
                <a:solidFill>
                  <a:srgbClr val="2C1EDC"/>
                </a:solidFill>
              </a:rPr>
              <a:t>2</a:t>
            </a:r>
            <a:r>
              <a:rPr lang="en-US" altLang="en-US" b="0"/>
              <a:t> thì </a:t>
            </a:r>
          </a:p>
          <a:p>
            <a:pPr lvl="1"/>
            <a:r>
              <a:rPr lang="en-US" altLang="en-US" b="0"/>
              <a:t>Nếu E</a:t>
            </a:r>
            <a:r>
              <a:rPr lang="en-US" altLang="en-US" b="0" baseline="-25000"/>
              <a:t>1</a:t>
            </a:r>
            <a:r>
              <a:rPr lang="en-US" altLang="en-US" b="0"/>
              <a:t> là true thì E cũng là true</a:t>
            </a:r>
          </a:p>
          <a:p>
            <a:pPr lvl="1"/>
            <a:r>
              <a:rPr lang="en-US" altLang="en-US" b="0"/>
              <a:t>Nếu E</a:t>
            </a:r>
            <a:r>
              <a:rPr lang="en-US" altLang="en-US" b="0" baseline="-25000"/>
              <a:t>1 </a:t>
            </a:r>
            <a:r>
              <a:rPr lang="en-US" altLang="en-US" b="0"/>
              <a:t>là false thì phải đánh giá E</a:t>
            </a:r>
            <a:r>
              <a:rPr lang="en-US" altLang="en-US" b="0" baseline="-25000"/>
              <a:t>2</a:t>
            </a:r>
            <a:r>
              <a:rPr lang="en-US" altLang="en-US" b="0"/>
              <a:t>; E sẽ là true hay false phụ thuộc E2</a:t>
            </a:r>
          </a:p>
          <a:p>
            <a:r>
              <a:rPr lang="en-US" altLang="en-US" b="0"/>
              <a:t>Tương tự với </a:t>
            </a:r>
            <a:r>
              <a:rPr lang="en-US" altLang="en-US">
                <a:solidFill>
                  <a:srgbClr val="2C1EDC"/>
                </a:solidFill>
              </a:rPr>
              <a:t>E</a:t>
            </a:r>
            <a:r>
              <a:rPr lang="en-US" altLang="en-US" baseline="-25000">
                <a:solidFill>
                  <a:srgbClr val="2C1EDC"/>
                </a:solidFill>
              </a:rPr>
              <a:t>1</a:t>
            </a:r>
            <a:r>
              <a:rPr lang="en-US" altLang="en-US">
                <a:solidFill>
                  <a:srgbClr val="2C1EDC"/>
                </a:solidFill>
              </a:rPr>
              <a:t> and E</a:t>
            </a:r>
            <a:r>
              <a:rPr lang="en-US" altLang="en-US" baseline="-25000">
                <a:solidFill>
                  <a:srgbClr val="2C1EDC"/>
                </a:solidFill>
              </a:rPr>
              <a:t>2</a:t>
            </a:r>
          </a:p>
          <a:p>
            <a:r>
              <a:rPr lang="fr-FR" altLang="en-US" b="0"/>
              <a:t>Nếu E có dạng </a:t>
            </a:r>
            <a:r>
              <a:rPr lang="fr-FR" altLang="en-US">
                <a:solidFill>
                  <a:srgbClr val="2C1EDC"/>
                </a:solidFill>
              </a:rPr>
              <a:t>not E</a:t>
            </a:r>
            <a:r>
              <a:rPr lang="fr-FR" altLang="en-US" baseline="-25000">
                <a:solidFill>
                  <a:srgbClr val="2C1EDC"/>
                </a:solidFill>
              </a:rPr>
              <a:t>1</a:t>
            </a:r>
          </a:p>
          <a:p>
            <a:pPr lvl="1"/>
            <a:r>
              <a:rPr lang="fr-FR" altLang="en-US" b="0">
                <a:cs typeface="Times New Roman" panose="02020603050405020304" pitchFamily="18" charset="0"/>
              </a:rPr>
              <a:t>Nếu E</a:t>
            </a:r>
            <a:r>
              <a:rPr lang="fr-FR" altLang="en-US" b="0" baseline="-25000">
                <a:cs typeface="Times New Roman" panose="02020603050405020304" pitchFamily="18" charset="0"/>
              </a:rPr>
              <a:t>1</a:t>
            </a:r>
            <a:r>
              <a:rPr lang="fr-FR" altLang="en-US" b="0">
                <a:cs typeface="Times New Roman" panose="02020603050405020304" pitchFamily="18" charset="0"/>
              </a:rPr>
              <a:t> là true, E là false và ngược lại</a:t>
            </a:r>
          </a:p>
        </p:txBody>
      </p:sp>
      <p:sp>
        <p:nvSpPr>
          <p:cNvPr id="1799173" name="Text Box 5"/>
          <p:cNvSpPr txBox="1">
            <a:spLocks noChangeArrowheads="1"/>
          </p:cNvSpPr>
          <p:nvPr/>
        </p:nvSpPr>
        <p:spPr bwMode="auto">
          <a:xfrm>
            <a:off x="5943600" y="1143000"/>
            <a:ext cx="2819400" cy="831850"/>
          </a:xfrm>
          <a:prstGeom prst="rect">
            <a:avLst/>
          </a:prstGeom>
          <a:noFill/>
          <a:ln w="9525">
            <a:solidFill>
              <a:srgbClr val="FA0617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400"/>
              <a:t>E.Code sinh ra như thế nào?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917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BE4B29-1A6F-4FA0-93B6-27F08EECDA97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180224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trong cấu trúc lập trình</a:t>
            </a:r>
          </a:p>
        </p:txBody>
      </p:sp>
      <p:sp>
        <p:nvSpPr>
          <p:cNvPr id="180224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2244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endParaRPr lang="fr-FR" altLang="en-US" b="0"/>
          </a:p>
        </p:txBody>
      </p:sp>
      <p:graphicFrame>
        <p:nvGraphicFramePr>
          <p:cNvPr id="1802313" name="Group 73"/>
          <p:cNvGraphicFramePr>
            <a:graphicFrameLocks noGrp="1"/>
          </p:cNvGraphicFramePr>
          <p:nvPr>
            <p:ph idx="1"/>
          </p:nvPr>
        </p:nvGraphicFramePr>
        <p:xfrm>
          <a:off x="228600" y="962025"/>
          <a:ext cx="8724900" cy="5340096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5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or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E.true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newLabel()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E.true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E.false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 || gen (E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‘) ||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14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and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newLabel()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E.false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E.true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E.false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 || gen (E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‘</a:t>
                      </a:r>
                      <a:r>
                        <a:rPr kumimoji="0" lang="fr-FR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: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‘) ||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Chú ý: E.True và E.false là các thuộc tính kế thừa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383712-B709-4245-B405-2213BD65EA1A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180326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trong cấu trúc lập trình</a:t>
            </a:r>
          </a:p>
        </p:txBody>
      </p:sp>
      <p:sp>
        <p:nvSpPr>
          <p:cNvPr id="180326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3268" name="Rectangle 4"/>
          <p:cNvSpPr>
            <a:spLocks noChangeArrowheads="1"/>
          </p:cNvSpPr>
          <p:nvPr/>
        </p:nvSpPr>
        <p:spPr bwMode="auto">
          <a:xfrm>
            <a:off x="266700" y="900113"/>
            <a:ext cx="87249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endParaRPr lang="fr-FR" altLang="en-US" b="0"/>
          </a:p>
        </p:txBody>
      </p:sp>
      <p:graphicFrame>
        <p:nvGraphicFramePr>
          <p:cNvPr id="1803309" name="Group 45"/>
          <p:cNvGraphicFramePr>
            <a:graphicFrameLocks noGrp="1"/>
          </p:cNvGraphicFramePr>
          <p:nvPr>
            <p:ph idx="1"/>
          </p:nvPr>
        </p:nvGraphicFramePr>
        <p:xfrm>
          <a:off x="228600" y="962025"/>
          <a:ext cx="8724900" cy="493776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xuất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ngữ nghĩa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not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endParaRPr kumimoji="0" lang="en-US" altLang="en-US" sz="2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E.false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E.true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(E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 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.True := E.true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.false := E.false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:= E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.code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3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Id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relop Id</a:t>
                      </a:r>
                      <a:r>
                        <a:rPr kumimoji="0" lang="fr-FR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:=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(‘</a:t>
                      </a:r>
                      <a:r>
                        <a:rPr kumimoji="0" lang="fr-F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if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id1.place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relop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 id2.place ‘</a:t>
                      </a:r>
                      <a:r>
                        <a:rPr kumimoji="0" lang="fr-FR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E.true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gen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( ‘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</a:t>
                      </a:r>
                      <a:r>
                        <a:rPr kumimoji="0" lang="fr-F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E.false</a:t>
                      </a:r>
                      <a:r>
                        <a:rPr kumimoji="0" lang="fr-F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);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True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:= gen(‘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E.true)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False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E.Code := gen(‘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C1EDC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goto</a:t>
                      </a: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 Narrow" panose="020B0606020202030204" pitchFamily="34" charset="0"/>
                          <a:sym typeface="Symbol" panose="05050102010706020507" pitchFamily="18" charset="2"/>
                        </a:rPr>
                        <a:t>’ E.false)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 Narrow" panose="020B0606020202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307150-F8CB-4303-973B-F4ECC423B2B4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180121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1</a:t>
            </a:r>
          </a:p>
        </p:txBody>
      </p:sp>
      <p:sp>
        <p:nvSpPr>
          <p:cNvPr id="180121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1220" name="Rectangle 4"/>
          <p:cNvSpPr>
            <a:spLocks noChangeArrowheads="1"/>
          </p:cNvSpPr>
          <p:nvPr/>
        </p:nvSpPr>
        <p:spPr bwMode="auto">
          <a:xfrm>
            <a:off x="266700" y="1676400"/>
            <a:ext cx="87249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fr-FR" altLang="en-US" b="0">
                <a:cs typeface="Times New Roman" panose="02020603050405020304" pitchFamily="18" charset="0"/>
              </a:rPr>
              <a:t>Giả thiết Ltrue và Lfalse là nhãn đi đến ứng với các giá trị true và false của biểu thức</a:t>
            </a:r>
          </a:p>
          <a:p>
            <a:pPr>
              <a:lnSpc>
                <a:spcPct val="105000"/>
              </a:lnSpc>
            </a:pPr>
            <a:r>
              <a:rPr lang="fr-FR" altLang="en-US" b="0">
                <a:cs typeface="Times New Roman" panose="02020603050405020304" pitchFamily="18" charset="0"/>
              </a:rPr>
              <a:t>Dựa trên quy tắc ngữ nghĩa, sinh ra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			if a &lt; b goto Ltrue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			goto L1: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L1: 	if c &lt; d goto L2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			goto Lfalse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L2: 	if e &lt; f goto Ltrue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cs typeface="Times New Roman" panose="02020603050405020304" pitchFamily="18" charset="0"/>
              </a:rPr>
              <a:t>			goto Lfalse</a:t>
            </a:r>
          </a:p>
        </p:txBody>
      </p:sp>
      <p:sp>
        <p:nvSpPr>
          <p:cNvPr id="1801221" name="Text Box 5"/>
          <p:cNvSpPr txBox="1">
            <a:spLocks noChangeArrowheads="1"/>
          </p:cNvSpPr>
          <p:nvPr/>
        </p:nvSpPr>
        <p:spPr bwMode="auto">
          <a:xfrm>
            <a:off x="1219200" y="990600"/>
            <a:ext cx="67056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3200" b="0"/>
              <a:t> a &lt; b or c &lt; d  and e &lt; f</a:t>
            </a:r>
            <a:endParaRPr lang="en-US" altLang="en-US" sz="3200" b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B210A-0F2B-4F80-A75B-AFFBC4749E22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180429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1</a:t>
            </a:r>
          </a:p>
        </p:txBody>
      </p:sp>
      <p:sp>
        <p:nvSpPr>
          <p:cNvPr id="180429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4292" name="Rectangle 4"/>
          <p:cNvSpPr>
            <a:spLocks noChangeArrowheads="1"/>
          </p:cNvSpPr>
          <p:nvPr/>
        </p:nvSpPr>
        <p:spPr bwMode="auto">
          <a:xfrm>
            <a:off x="252413" y="962025"/>
            <a:ext cx="8724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fr-FR" altLang="en-US">
                <a:latin typeface="Arial Narrow" panose="020B0606020202030204" pitchFamily="34" charset="0"/>
              </a:rPr>
              <a:t>E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a &lt; b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  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	E.code = if a &lt; b goto E.true goto E.false</a:t>
            </a:r>
          </a:p>
          <a:p>
            <a:pPr>
              <a:lnSpc>
                <a:spcPct val="105000"/>
              </a:lnSpc>
            </a:pPr>
            <a:r>
              <a:rPr lang="fr-FR" altLang="en-US">
                <a:latin typeface="Arial Narrow" panose="020B0606020202030204" pitchFamily="34" charset="0"/>
              </a:rPr>
              <a:t>E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E</a:t>
            </a:r>
            <a:r>
              <a:rPr lang="fr-FR" altLang="en-US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 or E</a:t>
            </a:r>
            <a:r>
              <a:rPr lang="fr-FR" altLang="en-US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:= E.true 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= Ltrue </a:t>
            </a:r>
          </a:p>
          <a:p>
            <a:pPr lvl="2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Ltrue là nhãn đi tới nếu biểu thức là true</a:t>
            </a:r>
          </a:p>
          <a:p>
            <a:pPr lvl="2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Lfalse là nhãn đi tới nếu biểu thức là false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:= L1; //</a:t>
            </a:r>
            <a:r>
              <a:rPr lang="fr-FR" altLang="en-US" b="0">
                <a:solidFill>
                  <a:srgbClr val="B9B6BE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E1.False = newLabel()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:= E.true= Ltrue;  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:= E.false = Lfalse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E.Code =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 || gen (E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‘</a:t>
            </a:r>
            <a:r>
              <a:rPr lang="fr-FR" altLang="en-US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: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‘)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</a:t>
            </a:r>
            <a:endParaRPr lang="en-US" altLang="en-US" b="0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		  if a &lt; b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		  </a:t>
            </a:r>
            <a:r>
              <a:rPr lang="fr-FR" altLang="en-US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if a &lt; b goto Ltrue goto L1  L1: || E</a:t>
            </a:r>
            <a:r>
              <a:rPr lang="fr-FR" altLang="en-US" baseline="-25000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.code   </a:t>
            </a:r>
            <a:r>
              <a:rPr lang="fr-FR" altLang="en-US">
                <a:solidFill>
                  <a:schemeClr val="bg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4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04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04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04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04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04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04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04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04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1034CD-D22F-4FF3-89C4-1D4FBC9324B4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18053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1</a:t>
            </a:r>
          </a:p>
        </p:txBody>
      </p:sp>
      <p:sp>
        <p:nvSpPr>
          <p:cNvPr id="180531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5316" name="Rectangle 4"/>
          <p:cNvSpPr>
            <a:spLocks noChangeArrowheads="1"/>
          </p:cNvSpPr>
          <p:nvPr/>
        </p:nvSpPr>
        <p:spPr bwMode="auto">
          <a:xfrm>
            <a:off x="252413" y="962025"/>
            <a:ext cx="8724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fr-FR" altLang="en-US">
                <a:latin typeface="Arial Narrow" panose="020B0606020202030204" pitchFamily="34" charset="0"/>
              </a:rPr>
              <a:t>E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c &lt; d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  E.code = if c &lt; d goto E.true goto E.false</a:t>
            </a:r>
          </a:p>
          <a:p>
            <a:pPr>
              <a:lnSpc>
                <a:spcPct val="105000"/>
              </a:lnSpc>
            </a:pPr>
            <a:r>
              <a:rPr lang="fr-FR" altLang="en-US">
                <a:latin typeface="Arial Narrow" panose="020B0606020202030204" pitchFamily="34" charset="0"/>
              </a:rPr>
              <a:t>E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e &lt; f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  E.code = if e &lt; f goto E.true goto E.false</a:t>
            </a:r>
            <a:endParaRPr lang="fr-FR" altLang="en-US">
              <a:latin typeface="Arial Narrow" panose="020B0606020202030204" pitchFamily="34" charset="0"/>
            </a:endParaRPr>
          </a:p>
          <a:p>
            <a:pPr>
              <a:lnSpc>
                <a:spcPct val="105000"/>
              </a:lnSpc>
            </a:pPr>
            <a:r>
              <a:rPr lang="fr-FR" altLang="en-US">
                <a:latin typeface="Arial Narrow" panose="020B0606020202030204" pitchFamily="34" charset="0"/>
              </a:rPr>
              <a:t>E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E</a:t>
            </a:r>
            <a:r>
              <a:rPr lang="fr-FR" altLang="en-US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>
                <a:latin typeface="Arial Narrow" panose="020B0606020202030204" pitchFamily="34" charset="0"/>
                <a:sym typeface="Symbol" panose="05050102010706020507" pitchFamily="18" charset="2"/>
              </a:rPr>
              <a:t> and E</a:t>
            </a:r>
            <a:r>
              <a:rPr lang="fr-FR" altLang="en-US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:=  L2 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:= E.false = LFalse; 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:= E.true= Ltrue;  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:= E.false = Lfalse</a:t>
            </a:r>
          </a:p>
          <a:p>
            <a:pPr lvl="1">
              <a:lnSpc>
                <a:spcPct val="105000"/>
              </a:lnSpc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E.Code =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 || gen (E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‘</a:t>
            </a:r>
            <a:r>
              <a:rPr lang="fr-FR" altLang="en-US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: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‘)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</a:t>
            </a:r>
            <a:endParaRPr lang="en-US" altLang="en-US" b="0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if c &lt; d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: ||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.code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 if c&lt;d goto L2 goto Lfalse L2: if e &lt; f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.true goto E</a:t>
            </a:r>
            <a:r>
              <a:rPr lang="fr-FR" altLang="en-US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2</a:t>
            </a:r>
            <a:r>
              <a:rPr lang="fr-FR" altLang="en-US" b="0">
                <a:latin typeface="Arial Narrow" panose="020B0606020202030204" pitchFamily="34" charset="0"/>
                <a:sym typeface="Symbol" panose="05050102010706020507" pitchFamily="18" charset="2"/>
              </a:rPr>
              <a:t>.false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fr-FR" altLang="en-US" b="0">
                <a:solidFill>
                  <a:srgbClr val="1E23E6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if c&lt;d goto L2 goto Lfalse L2: if e &lt; f goto Lttue goto Lfalse </a:t>
            </a:r>
            <a:r>
              <a:rPr lang="fr-FR" altLang="en-US" b="0">
                <a:solidFill>
                  <a:schemeClr val="bg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05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05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05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05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05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05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05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05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7D0B7-79AA-4284-8687-FCE25F966884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19087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2</a:t>
            </a:r>
          </a:p>
        </p:txBody>
      </p:sp>
      <p:sp>
        <p:nvSpPr>
          <p:cNvPr id="190873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908741" name="Text Box 5"/>
          <p:cNvSpPr txBox="1">
            <a:spLocks noChangeArrowheads="1"/>
          </p:cNvSpPr>
          <p:nvPr/>
        </p:nvSpPr>
        <p:spPr bwMode="auto">
          <a:xfrm>
            <a:off x="1219200" y="990600"/>
            <a:ext cx="6705600" cy="27352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</a:pPr>
            <a:r>
              <a:rPr lang="fr-FR" altLang="en-US" sz="3200">
                <a:solidFill>
                  <a:srgbClr val="2C1EDC"/>
                </a:solidFill>
              </a:rPr>
              <a:t>While</a:t>
            </a:r>
            <a:r>
              <a:rPr lang="fr-FR" altLang="en-US" sz="3200" b="0">
                <a:solidFill>
                  <a:srgbClr val="270076"/>
                </a:solidFill>
              </a:rPr>
              <a:t> a </a:t>
            </a: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 b </a:t>
            </a:r>
            <a:r>
              <a:rPr lang="fr-FR" altLang="en-US" sz="3200">
                <a:solidFill>
                  <a:srgbClr val="2C1EDC"/>
                </a:solidFill>
                <a:sym typeface="Symbol" panose="05050102010706020507" pitchFamily="18" charset="2"/>
              </a:rPr>
              <a:t>do</a:t>
            </a:r>
          </a:p>
          <a:p>
            <a:pPr algn="l">
              <a:spcBef>
                <a:spcPct val="10000"/>
              </a:spcBef>
            </a:pP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	</a:t>
            </a:r>
            <a:r>
              <a:rPr lang="fr-FR" altLang="en-US" sz="3200">
                <a:solidFill>
                  <a:srgbClr val="2C1EDC"/>
                </a:solidFill>
                <a:sym typeface="Symbol" panose="05050102010706020507" pitchFamily="18" charset="2"/>
              </a:rPr>
              <a:t>If</a:t>
            </a: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 a &gt; b </a:t>
            </a:r>
            <a:r>
              <a:rPr lang="fr-FR" altLang="en-US" sz="3200">
                <a:solidFill>
                  <a:srgbClr val="2C1EDC"/>
                </a:solidFill>
                <a:sym typeface="Symbol" panose="05050102010706020507" pitchFamily="18" charset="2"/>
              </a:rPr>
              <a:t>Then</a:t>
            </a:r>
          </a:p>
          <a:p>
            <a:pPr algn="l">
              <a:spcBef>
                <a:spcPct val="10000"/>
              </a:spcBef>
            </a:pP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		a := a – b	</a:t>
            </a:r>
            <a:r>
              <a:rPr lang="fr-FR" altLang="en-US" sz="3200" b="0">
                <a:solidFill>
                  <a:schemeClr val="bg2"/>
                </a:solidFill>
                <a:sym typeface="Symbol" panose="05050102010706020507" pitchFamily="18" charset="2"/>
              </a:rPr>
              <a:t>//  (S</a:t>
            </a:r>
            <a:r>
              <a:rPr lang="fr-FR" altLang="en-US" sz="3200" b="0" baseline="-25000">
                <a:solidFill>
                  <a:schemeClr val="bg2"/>
                </a:solidFill>
                <a:sym typeface="Symbol" panose="05050102010706020507" pitchFamily="18" charset="2"/>
              </a:rPr>
              <a:t>1</a:t>
            </a:r>
            <a:r>
              <a:rPr lang="fr-FR" altLang="en-US" sz="3200" b="0">
                <a:solidFill>
                  <a:schemeClr val="bg2"/>
                </a:solidFill>
                <a:sym typeface="Symbol" panose="05050102010706020507" pitchFamily="18" charset="2"/>
              </a:rPr>
              <a:t>)</a:t>
            </a:r>
          </a:p>
          <a:p>
            <a:pPr algn="l">
              <a:spcBef>
                <a:spcPct val="10000"/>
              </a:spcBef>
            </a:pP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	</a:t>
            </a:r>
            <a:r>
              <a:rPr lang="fr-FR" altLang="en-US" sz="3200">
                <a:solidFill>
                  <a:srgbClr val="2C1EDC"/>
                </a:solidFill>
                <a:sym typeface="Symbol" panose="05050102010706020507" pitchFamily="18" charset="2"/>
              </a:rPr>
              <a:t>Else</a:t>
            </a:r>
          </a:p>
          <a:p>
            <a:pPr algn="l">
              <a:spcBef>
                <a:spcPct val="10000"/>
              </a:spcBef>
            </a:pPr>
            <a:r>
              <a:rPr lang="fr-FR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		b := b – a  </a:t>
            </a:r>
            <a:r>
              <a:rPr lang="fr-FR" altLang="en-US" sz="3200" b="0">
                <a:solidFill>
                  <a:schemeClr val="bg2"/>
                </a:solidFill>
                <a:sym typeface="Symbol" panose="05050102010706020507" pitchFamily="18" charset="2"/>
              </a:rPr>
              <a:t>//  (S</a:t>
            </a:r>
            <a:r>
              <a:rPr lang="fr-FR" altLang="en-US" sz="3200" b="0" baseline="-25000">
                <a:solidFill>
                  <a:schemeClr val="bg2"/>
                </a:solidFill>
                <a:sym typeface="Symbol" panose="05050102010706020507" pitchFamily="18" charset="2"/>
              </a:rPr>
              <a:t>2</a:t>
            </a:r>
            <a:r>
              <a:rPr lang="fr-FR" altLang="en-US" sz="3200" b="0">
                <a:solidFill>
                  <a:schemeClr val="bg2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1908750" name="Group 14"/>
          <p:cNvGrpSpPr>
            <a:grpSpLocks/>
          </p:cNvGrpSpPr>
          <p:nvPr/>
        </p:nvGrpSpPr>
        <p:grpSpPr bwMode="auto">
          <a:xfrm>
            <a:off x="533400" y="3962400"/>
            <a:ext cx="8305800" cy="2306638"/>
            <a:chOff x="336" y="2496"/>
            <a:chExt cx="5232" cy="1453"/>
          </a:xfrm>
        </p:grpSpPr>
        <p:sp>
          <p:nvSpPr>
            <p:cNvPr id="1908742" name="Text Box 6"/>
            <p:cNvSpPr txBox="1">
              <a:spLocks noChangeArrowheads="1"/>
            </p:cNvSpPr>
            <p:nvPr/>
          </p:nvSpPr>
          <p:spPr bwMode="auto">
            <a:xfrm>
              <a:off x="336" y="2496"/>
              <a:ext cx="4992" cy="333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fr-FR" altLang="en-US" sz="2800" b="0">
                  <a:solidFill>
                    <a:srgbClr val="270076"/>
                  </a:solidFill>
                  <a:sym typeface="Symbol" panose="05050102010706020507" pitchFamily="18" charset="2"/>
                </a:rPr>
                <a:t>S Id := E  Id :=E</a:t>
              </a:r>
              <a:r>
                <a:rPr lang="fr-FR" altLang="en-US" sz="2800" b="0" baseline="-25000">
                  <a:solidFill>
                    <a:srgbClr val="270076"/>
                  </a:solidFill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solidFill>
                    <a:srgbClr val="270076"/>
                  </a:solidFill>
                  <a:sym typeface="Symbol" panose="05050102010706020507" pitchFamily="18" charset="2"/>
                </a:rPr>
                <a:t> – E</a:t>
              </a:r>
              <a:r>
                <a:rPr lang="fr-FR" altLang="en-US" sz="2800" b="0" baseline="-25000">
                  <a:solidFill>
                    <a:srgbClr val="270076"/>
                  </a:solidFill>
                  <a:sym typeface="Symbol" panose="05050102010706020507" pitchFamily="18" charset="2"/>
                </a:rPr>
                <a:t>2  </a:t>
              </a:r>
              <a:r>
                <a:rPr lang="fr-FR" altLang="en-US" sz="2800" b="0">
                  <a:solidFill>
                    <a:srgbClr val="270076"/>
                  </a:solidFill>
                  <a:sym typeface="Symbol" panose="05050102010706020507" pitchFamily="18" charset="2"/>
                </a:rPr>
                <a:t>Id :=Id – Id</a:t>
              </a:r>
            </a:p>
          </p:txBody>
        </p:sp>
        <p:sp>
          <p:nvSpPr>
            <p:cNvPr id="1908743" name="Text Box 7"/>
            <p:cNvSpPr txBox="1">
              <a:spLocks noChangeArrowheads="1"/>
            </p:cNvSpPr>
            <p:nvPr/>
          </p:nvSpPr>
          <p:spPr bwMode="auto">
            <a:xfrm>
              <a:off x="912" y="3024"/>
              <a:ext cx="1776" cy="925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fr-FR" altLang="en-US" sz="2800">
                  <a:solidFill>
                    <a:srgbClr val="270076"/>
                  </a:solidFill>
                  <a:sym typeface="Symbol" panose="05050102010706020507" pitchFamily="18" charset="2"/>
                </a:rPr>
                <a:t>S</a:t>
              </a:r>
              <a:r>
                <a:rPr lang="fr-FR" altLang="en-US" sz="2800" baseline="-25000">
                  <a:solidFill>
                    <a:srgbClr val="270076"/>
                  </a:solidFill>
                  <a:sym typeface="Symbol" panose="05050102010706020507" pitchFamily="18" charset="2"/>
                </a:rPr>
                <a:t>1</a:t>
              </a:r>
              <a:r>
                <a:rPr lang="fr-FR" altLang="en-US" sz="2800">
                  <a:solidFill>
                    <a:srgbClr val="270076"/>
                  </a:solidFill>
                  <a:sym typeface="Symbol" panose="05050102010706020507" pitchFamily="18" charset="2"/>
                </a:rPr>
                <a:t>.Code</a:t>
              </a:r>
            </a:p>
            <a:p>
              <a:pPr lvl="1" algn="l">
                <a:spcBef>
                  <a:spcPct val="10000"/>
                </a:spcBef>
              </a:pPr>
              <a:r>
                <a:rPr lang="fr-FR" altLang="en-US" sz="2800" b="0">
                  <a:solidFill>
                    <a:srgbClr val="2C1EDC"/>
                  </a:solidFill>
                  <a:sym typeface="Symbol" panose="05050102010706020507" pitchFamily="18" charset="2"/>
                </a:rPr>
                <a:t>t1 := a – b</a:t>
              </a:r>
            </a:p>
            <a:p>
              <a:pPr lvl="1" algn="l">
                <a:spcBef>
                  <a:spcPct val="10000"/>
                </a:spcBef>
              </a:pPr>
              <a:r>
                <a:rPr lang="fr-FR" altLang="en-US" sz="2800" b="0">
                  <a:solidFill>
                    <a:srgbClr val="2C1EDC"/>
                  </a:solidFill>
                  <a:sym typeface="Symbol" panose="05050102010706020507" pitchFamily="18" charset="2"/>
                </a:rPr>
                <a:t>a := t1</a:t>
              </a:r>
            </a:p>
          </p:txBody>
        </p:sp>
        <p:sp>
          <p:nvSpPr>
            <p:cNvPr id="1908744" name="Text Box 8"/>
            <p:cNvSpPr txBox="1">
              <a:spLocks noChangeArrowheads="1"/>
            </p:cNvSpPr>
            <p:nvPr/>
          </p:nvSpPr>
          <p:spPr bwMode="auto">
            <a:xfrm>
              <a:off x="3264" y="3024"/>
              <a:ext cx="1776" cy="925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fr-FR" altLang="en-US" sz="2800">
                  <a:solidFill>
                    <a:srgbClr val="270076"/>
                  </a:solidFill>
                  <a:sym typeface="Symbol" panose="05050102010706020507" pitchFamily="18" charset="2"/>
                </a:rPr>
                <a:t>S</a:t>
              </a:r>
              <a:r>
                <a:rPr lang="fr-FR" altLang="en-US" sz="2800" baseline="-25000">
                  <a:solidFill>
                    <a:srgbClr val="270076"/>
                  </a:solidFill>
                  <a:sym typeface="Symbol" panose="05050102010706020507" pitchFamily="18" charset="2"/>
                </a:rPr>
                <a:t>2</a:t>
              </a:r>
              <a:r>
                <a:rPr lang="fr-FR" altLang="en-US" sz="2800">
                  <a:solidFill>
                    <a:srgbClr val="270076"/>
                  </a:solidFill>
                  <a:sym typeface="Symbol" panose="05050102010706020507" pitchFamily="18" charset="2"/>
                </a:rPr>
                <a:t>.Code</a:t>
              </a:r>
            </a:p>
            <a:p>
              <a:pPr lvl="1" algn="l">
                <a:spcBef>
                  <a:spcPct val="10000"/>
                </a:spcBef>
              </a:pPr>
              <a:r>
                <a:rPr lang="fr-FR" altLang="en-US" sz="2800" b="0">
                  <a:solidFill>
                    <a:srgbClr val="2C1EDC"/>
                  </a:solidFill>
                  <a:sym typeface="Symbol" panose="05050102010706020507" pitchFamily="18" charset="2"/>
                </a:rPr>
                <a:t>t2 := b – a</a:t>
              </a:r>
            </a:p>
            <a:p>
              <a:pPr lvl="1" algn="l">
                <a:spcBef>
                  <a:spcPct val="10000"/>
                </a:spcBef>
              </a:pPr>
              <a:r>
                <a:rPr lang="fr-FR" altLang="en-US" sz="2800" b="0">
                  <a:solidFill>
                    <a:srgbClr val="2C1EDC"/>
                  </a:solidFill>
                  <a:sym typeface="Symbol" panose="05050102010706020507" pitchFamily="18" charset="2"/>
                </a:rPr>
                <a:t>a := t2</a:t>
              </a:r>
            </a:p>
          </p:txBody>
        </p:sp>
        <p:sp>
          <p:nvSpPr>
            <p:cNvPr id="1908748" name="Text Box 12"/>
            <p:cNvSpPr txBox="1">
              <a:spLocks noChangeArrowheads="1"/>
            </p:cNvSpPr>
            <p:nvPr/>
          </p:nvSpPr>
          <p:spPr bwMode="auto">
            <a:xfrm>
              <a:off x="432" y="3408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(A)</a:t>
              </a:r>
            </a:p>
          </p:txBody>
        </p:sp>
        <p:sp>
          <p:nvSpPr>
            <p:cNvPr id="1908749" name="Text Box 13"/>
            <p:cNvSpPr txBox="1">
              <a:spLocks noChangeArrowheads="1"/>
            </p:cNvSpPr>
            <p:nvPr/>
          </p:nvSpPr>
          <p:spPr bwMode="auto">
            <a:xfrm>
              <a:off x="5088" y="3427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(B)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7D0B7-79AA-4284-8687-FCE25F966884}" type="slidenum">
              <a:rPr lang="en-US" altLang="en-US"/>
              <a:pPr/>
              <a:t>63</a:t>
            </a:fld>
            <a:endParaRPr lang="en-US" altLang="en-US" dirty="0"/>
          </a:p>
        </p:txBody>
      </p:sp>
      <p:sp>
        <p:nvSpPr>
          <p:cNvPr id="19087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2</a:t>
            </a:r>
          </a:p>
        </p:txBody>
      </p:sp>
      <p:sp>
        <p:nvSpPr>
          <p:cNvPr id="190873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2258084"/>
            <a:ext cx="8860572" cy="4409076"/>
            <a:chOff x="94742" y="2033970"/>
            <a:chExt cx="9063934" cy="4409076"/>
          </a:xfrm>
        </p:grpSpPr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2937621" y="2033970"/>
              <a:ext cx="323781" cy="579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fr-FR" altLang="en-US" sz="3200" b="0" dirty="0">
                  <a:solidFill>
                    <a:srgbClr val="270076"/>
                  </a:solidFill>
                </a:rPr>
                <a:t>S</a:t>
              </a:r>
              <a:endParaRPr lang="en-US" altLang="en-US" sz="3200" b="0" dirty="0">
                <a:solidFill>
                  <a:srgbClr val="270076"/>
                </a:solidFill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V="1">
              <a:off x="1176292" y="2403215"/>
              <a:ext cx="1741276" cy="599547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3168936" y="2404083"/>
              <a:ext cx="2070150" cy="69749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3074189" y="2521752"/>
              <a:ext cx="708709" cy="530679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>
              <a:off x="1563121" y="3359746"/>
              <a:ext cx="475410" cy="524198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2106309" y="3317879"/>
              <a:ext cx="498913" cy="566065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10"/>
            <p:cNvSpPr txBox="1">
              <a:spLocks noChangeArrowheads="1"/>
            </p:cNvSpPr>
            <p:nvPr/>
          </p:nvSpPr>
          <p:spPr bwMode="auto">
            <a:xfrm>
              <a:off x="94742" y="2934665"/>
              <a:ext cx="596079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b="0" dirty="0" err="1">
                  <a:solidFill>
                    <a:srgbClr val="FF0000"/>
                  </a:solidFill>
                </a:rPr>
                <a:t>While</a:t>
              </a:r>
              <a:r>
                <a:rPr lang="fr-FR" altLang="en-US" sz="2400" b="0" dirty="0">
                  <a:solidFill>
                    <a:srgbClr val="FF0000"/>
                  </a:solidFill>
                </a:rPr>
                <a:t>        </a:t>
              </a:r>
              <a:r>
                <a:rPr lang="fr-FR" altLang="en-US" sz="2400" b="0" dirty="0">
                  <a:solidFill>
                    <a:srgbClr val="002060"/>
                  </a:solidFill>
                </a:rPr>
                <a:t>E</a:t>
              </a:r>
              <a:r>
                <a:rPr lang="fr-FR" altLang="en-US" sz="2400" b="0" baseline="-25000" dirty="0">
                  <a:solidFill>
                    <a:srgbClr val="002060"/>
                  </a:solidFill>
                </a:rPr>
                <a:t>1</a:t>
              </a:r>
              <a:r>
                <a:rPr lang="fr-FR" altLang="en-US" sz="2400" b="0" dirty="0">
                  <a:solidFill>
                    <a:srgbClr val="002060"/>
                  </a:solidFill>
                </a:rPr>
                <a:t>                  </a:t>
              </a:r>
              <a:r>
                <a:rPr lang="fr-FR" altLang="en-US" sz="2400" b="0" dirty="0">
                  <a:solidFill>
                    <a:srgbClr val="FF0000"/>
                  </a:solidFill>
                </a:rPr>
                <a:t> Do              </a:t>
              </a:r>
              <a:r>
                <a:rPr lang="fr-FR" altLang="en-US" sz="2400" b="0" dirty="0">
                  <a:solidFill>
                    <a:srgbClr val="002060"/>
                  </a:solidFill>
                </a:rPr>
                <a:t>S</a:t>
              </a:r>
              <a:r>
                <a:rPr lang="fr-FR" altLang="en-US" sz="2400" b="0" baseline="-25000" dirty="0">
                  <a:solidFill>
                    <a:srgbClr val="002060"/>
                  </a:solidFill>
                </a:rPr>
                <a:t>1</a:t>
              </a:r>
              <a:endParaRPr lang="en-US" altLang="en-US" sz="2400" b="0" baseline="-25000" dirty="0">
                <a:solidFill>
                  <a:srgbClr val="002060"/>
                </a:solidFill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2115049" y="3471706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>
              <a:off x="5525812" y="3448863"/>
              <a:ext cx="544841" cy="474799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>
              <a:off x="5571038" y="3391082"/>
              <a:ext cx="1148902" cy="541606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auto">
            <a:xfrm flipH="1">
              <a:off x="4898002" y="3374227"/>
              <a:ext cx="629605" cy="59613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249152" y="3809242"/>
              <a:ext cx="1633720" cy="1266843"/>
              <a:chOff x="1249152" y="3809242"/>
              <a:chExt cx="1633720" cy="1266843"/>
            </a:xfrm>
          </p:grpSpPr>
          <p:sp>
            <p:nvSpPr>
              <p:cNvPr id="27" name="Text Box 10"/>
              <p:cNvSpPr txBox="1">
                <a:spLocks noChangeArrowheads="1"/>
              </p:cNvSpPr>
              <p:nvPr/>
            </p:nvSpPr>
            <p:spPr bwMode="auto">
              <a:xfrm>
                <a:off x="1996059" y="3809242"/>
                <a:ext cx="2807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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 Box 10"/>
              <p:cNvSpPr txBox="1">
                <a:spLocks noChangeArrowheads="1"/>
              </p:cNvSpPr>
              <p:nvPr/>
            </p:nvSpPr>
            <p:spPr bwMode="auto">
              <a:xfrm>
                <a:off x="1249152" y="3849333"/>
                <a:ext cx="59283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29" name="Text Box 10"/>
              <p:cNvSpPr txBox="1">
                <a:spLocks noChangeArrowheads="1"/>
              </p:cNvSpPr>
              <p:nvPr/>
            </p:nvSpPr>
            <p:spPr bwMode="auto">
              <a:xfrm>
                <a:off x="2361648" y="3849334"/>
                <a:ext cx="52122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2482739" y="4614420"/>
                <a:ext cx="32378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b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Line 23"/>
              <p:cNvSpPr>
                <a:spLocks noChangeShapeType="1"/>
              </p:cNvSpPr>
              <p:nvPr/>
            </p:nvSpPr>
            <p:spPr bwMode="auto">
              <a:xfrm>
                <a:off x="2596892" y="4232292"/>
                <a:ext cx="3589" cy="45527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0" name="Text Box 10"/>
              <p:cNvSpPr txBox="1">
                <a:spLocks noChangeArrowheads="1"/>
              </p:cNvSpPr>
              <p:nvPr/>
            </p:nvSpPr>
            <p:spPr bwMode="auto">
              <a:xfrm>
                <a:off x="1399689" y="4579630"/>
                <a:ext cx="32378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dirty="0">
                    <a:solidFill>
                      <a:srgbClr val="FF0000"/>
                    </a:solidFill>
                  </a:rPr>
                  <a:t>a</a:t>
                </a:r>
                <a:endParaRPr lang="en-US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Line 23"/>
              <p:cNvSpPr>
                <a:spLocks noChangeShapeType="1"/>
              </p:cNvSpPr>
              <p:nvPr/>
            </p:nvSpPr>
            <p:spPr bwMode="auto">
              <a:xfrm>
                <a:off x="1582016" y="4270907"/>
                <a:ext cx="3589" cy="45527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 flipH="1">
              <a:off x="2273216" y="2521753"/>
              <a:ext cx="787396" cy="57982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5665933" y="3373600"/>
              <a:ext cx="2150930" cy="61591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30"/>
            <p:cNvSpPr>
              <a:spLocks noChangeShapeType="1"/>
            </p:cNvSpPr>
            <p:nvPr/>
          </p:nvSpPr>
          <p:spPr bwMode="auto">
            <a:xfrm flipH="1">
              <a:off x="3244432" y="3373600"/>
              <a:ext cx="2121645" cy="510344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Box 10"/>
            <p:cNvSpPr txBox="1">
              <a:spLocks noChangeArrowheads="1"/>
            </p:cNvSpPr>
            <p:nvPr/>
          </p:nvSpPr>
          <p:spPr bwMode="auto">
            <a:xfrm>
              <a:off x="2843507" y="3797768"/>
              <a:ext cx="45404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b="0" dirty="0">
                  <a:solidFill>
                    <a:srgbClr val="FF0000"/>
                  </a:solidFill>
                </a:rPr>
                <a:t>If      </a:t>
              </a:r>
              <a:r>
                <a:rPr lang="fr-FR" altLang="en-US" sz="2400" b="0" dirty="0">
                  <a:solidFill>
                    <a:srgbClr val="002060"/>
                  </a:solidFill>
                </a:rPr>
                <a:t>E</a:t>
              </a:r>
              <a:r>
                <a:rPr lang="fr-FR" altLang="en-US" sz="2400" b="0" baseline="-25000" dirty="0">
                  <a:solidFill>
                    <a:srgbClr val="002060"/>
                  </a:solidFill>
                </a:rPr>
                <a:t>2</a:t>
              </a:r>
              <a:r>
                <a:rPr lang="fr-FR" altLang="en-US" sz="2400" b="0" dirty="0">
                  <a:solidFill>
                    <a:srgbClr val="FF0000"/>
                  </a:solidFill>
                </a:rPr>
                <a:t>      </a:t>
              </a:r>
              <a:r>
                <a:rPr lang="fr-FR" altLang="en-US" sz="2400" b="0" dirty="0" err="1">
                  <a:solidFill>
                    <a:srgbClr val="FF0000"/>
                  </a:solidFill>
                </a:rPr>
                <a:t>Then</a:t>
              </a:r>
              <a:r>
                <a:rPr lang="fr-FR" altLang="en-US" sz="2400" b="0" dirty="0">
                  <a:solidFill>
                    <a:srgbClr val="FF0000"/>
                  </a:solidFill>
                </a:rPr>
                <a:t>                 </a:t>
              </a:r>
              <a:r>
                <a:rPr lang="fr-FR" altLang="en-US" sz="2400" b="0" dirty="0" err="1">
                  <a:solidFill>
                    <a:srgbClr val="FF0000"/>
                  </a:solidFill>
                </a:rPr>
                <a:t>Else</a:t>
              </a:r>
              <a:endParaRPr lang="en-US" altLang="en-US" sz="2400" b="0" dirty="0">
                <a:solidFill>
                  <a:srgbClr val="FF0000"/>
                </a:solidFill>
              </a:endParaRPr>
            </a:p>
          </p:txBody>
        </p:sp>
        <p:sp>
          <p:nvSpPr>
            <p:cNvPr id="53" name="Line 23"/>
            <p:cNvSpPr>
              <a:spLocks noChangeShapeType="1"/>
            </p:cNvSpPr>
            <p:nvPr/>
          </p:nvSpPr>
          <p:spPr bwMode="auto">
            <a:xfrm flipH="1">
              <a:off x="4033900" y="3381246"/>
              <a:ext cx="1476689" cy="551441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7260338" y="3932688"/>
              <a:ext cx="1898338" cy="1772458"/>
              <a:chOff x="7213710" y="3779034"/>
              <a:chExt cx="1898338" cy="1772458"/>
            </a:xfrm>
          </p:grpSpPr>
          <p:sp>
            <p:nvSpPr>
              <p:cNvPr id="23" name="Line 30"/>
              <p:cNvSpPr>
                <a:spLocks noChangeShapeType="1"/>
              </p:cNvSpPr>
              <p:nvPr/>
            </p:nvSpPr>
            <p:spPr bwMode="auto">
              <a:xfrm flipH="1">
                <a:off x="7521278" y="4135515"/>
                <a:ext cx="326078" cy="355871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23"/>
              <p:cNvSpPr>
                <a:spLocks noChangeShapeType="1"/>
              </p:cNvSpPr>
              <p:nvPr/>
            </p:nvSpPr>
            <p:spPr bwMode="auto">
              <a:xfrm>
                <a:off x="7918285" y="4144685"/>
                <a:ext cx="0" cy="33753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Box 10"/>
              <p:cNvSpPr txBox="1">
                <a:spLocks noChangeArrowheads="1"/>
              </p:cNvSpPr>
              <p:nvPr/>
            </p:nvSpPr>
            <p:spPr bwMode="auto">
              <a:xfrm>
                <a:off x="7665074" y="3779034"/>
                <a:ext cx="5819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S</a:t>
                </a:r>
                <a:r>
                  <a:rPr lang="fr-FR" altLang="en-US" sz="2400" b="0" baseline="-25000" dirty="0">
                    <a:solidFill>
                      <a:srgbClr val="270076"/>
                    </a:solidFill>
                  </a:rPr>
                  <a:t>2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8515696" y="4748616"/>
                <a:ext cx="345443" cy="368809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Box 15"/>
              <p:cNvSpPr txBox="1">
                <a:spLocks noChangeArrowheads="1"/>
              </p:cNvSpPr>
              <p:nvPr/>
            </p:nvSpPr>
            <p:spPr bwMode="auto">
              <a:xfrm>
                <a:off x="7213710" y="4405438"/>
                <a:ext cx="143759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 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:=</a:t>
                </a:r>
                <a:r>
                  <a:rPr lang="en-US" altLang="en-US" sz="2400" b="0" baseline="-25000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0" dirty="0">
                    <a:solidFill>
                      <a:srgbClr val="FF0000"/>
                    </a:solidFill>
                  </a:rPr>
                  <a:t> 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E</a:t>
                </a:r>
                <a:endParaRPr lang="en-US" altLang="en-US" sz="2400" b="0" baseline="-2500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31" name="Text Box 10"/>
              <p:cNvSpPr txBox="1">
                <a:spLocks noChangeArrowheads="1"/>
              </p:cNvSpPr>
              <p:nvPr/>
            </p:nvSpPr>
            <p:spPr bwMode="auto">
              <a:xfrm>
                <a:off x="7770235" y="5089827"/>
                <a:ext cx="134181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  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-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   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33" name="Line 23"/>
              <p:cNvSpPr>
                <a:spLocks noChangeShapeType="1"/>
              </p:cNvSpPr>
              <p:nvPr/>
            </p:nvSpPr>
            <p:spPr bwMode="auto">
              <a:xfrm flipH="1">
                <a:off x="7932507" y="4764387"/>
                <a:ext cx="371139" cy="38590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23"/>
              <p:cNvSpPr>
                <a:spLocks noChangeShapeType="1"/>
              </p:cNvSpPr>
              <p:nvPr/>
            </p:nvSpPr>
            <p:spPr bwMode="auto">
              <a:xfrm flipH="1">
                <a:off x="8412162" y="4818743"/>
                <a:ext cx="6124" cy="351476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23"/>
              <p:cNvSpPr>
                <a:spLocks noChangeShapeType="1"/>
              </p:cNvSpPr>
              <p:nvPr/>
            </p:nvSpPr>
            <p:spPr bwMode="auto">
              <a:xfrm>
                <a:off x="7974175" y="4167588"/>
                <a:ext cx="359859" cy="295705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5366078" y="3849335"/>
              <a:ext cx="1898338" cy="1772458"/>
              <a:chOff x="7213710" y="3779034"/>
              <a:chExt cx="1898338" cy="1772458"/>
            </a:xfrm>
          </p:grpSpPr>
          <p:sp>
            <p:nvSpPr>
              <p:cNvPr id="74" name="Line 30"/>
              <p:cNvSpPr>
                <a:spLocks noChangeShapeType="1"/>
              </p:cNvSpPr>
              <p:nvPr/>
            </p:nvSpPr>
            <p:spPr bwMode="auto">
              <a:xfrm flipH="1">
                <a:off x="7521278" y="4135515"/>
                <a:ext cx="326078" cy="355871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7918285" y="4144685"/>
                <a:ext cx="0" cy="337532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 Box 10"/>
              <p:cNvSpPr txBox="1">
                <a:spLocks noChangeArrowheads="1"/>
              </p:cNvSpPr>
              <p:nvPr/>
            </p:nvSpPr>
            <p:spPr bwMode="auto">
              <a:xfrm>
                <a:off x="7605052" y="3779034"/>
                <a:ext cx="63408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S</a:t>
                </a:r>
                <a:r>
                  <a:rPr lang="fr-FR" altLang="en-US" sz="2400" b="0" baseline="-25000" dirty="0">
                    <a:solidFill>
                      <a:srgbClr val="270076"/>
                    </a:solidFill>
                  </a:rPr>
                  <a:t>1</a:t>
                </a:r>
                <a:endParaRPr lang="en-US" altLang="en-US" sz="2400" b="0" baseline="-2500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>
                <a:off x="8515696" y="4748616"/>
                <a:ext cx="345443" cy="368809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 Box 15"/>
              <p:cNvSpPr txBox="1">
                <a:spLocks noChangeArrowheads="1"/>
              </p:cNvSpPr>
              <p:nvPr/>
            </p:nvSpPr>
            <p:spPr bwMode="auto">
              <a:xfrm>
                <a:off x="7213710" y="4405438"/>
                <a:ext cx="143759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 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:=</a:t>
                </a:r>
                <a:r>
                  <a:rPr lang="en-US" altLang="en-US" sz="2400" b="0" baseline="-25000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en-US" sz="2400" b="0" dirty="0">
                    <a:solidFill>
                      <a:srgbClr val="FF0000"/>
                    </a:solidFill>
                  </a:rPr>
                  <a:t> 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E</a:t>
                </a:r>
                <a:endParaRPr lang="en-US" altLang="en-US" sz="2400" b="0" baseline="-2500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79" name="Text Box 10"/>
              <p:cNvSpPr txBox="1">
                <a:spLocks noChangeArrowheads="1"/>
              </p:cNvSpPr>
              <p:nvPr/>
            </p:nvSpPr>
            <p:spPr bwMode="auto">
              <a:xfrm>
                <a:off x="7770235" y="5089827"/>
                <a:ext cx="134181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fr-FR" altLang="en-US" sz="2400" b="0" dirty="0">
                    <a:solidFill>
                      <a:srgbClr val="270076"/>
                    </a:solidFill>
                  </a:rPr>
                  <a:t>Id   </a:t>
                </a:r>
                <a:r>
                  <a:rPr lang="fr-FR" altLang="en-US" sz="2400" b="0" dirty="0">
                    <a:solidFill>
                      <a:srgbClr val="FF0000"/>
                    </a:solidFill>
                  </a:rPr>
                  <a:t>-</a:t>
                </a:r>
                <a:r>
                  <a:rPr lang="fr-FR" altLang="en-US" sz="2400" b="0" dirty="0">
                    <a:solidFill>
                      <a:srgbClr val="270076"/>
                    </a:solidFill>
                  </a:rPr>
                  <a:t>   Id</a:t>
                </a:r>
                <a:endParaRPr lang="en-US" altLang="en-US" sz="2400" b="0" dirty="0">
                  <a:solidFill>
                    <a:srgbClr val="270076"/>
                  </a:solidFill>
                </a:endParaRPr>
              </a:p>
            </p:txBody>
          </p:sp>
          <p:sp>
            <p:nvSpPr>
              <p:cNvPr id="80" name="Line 23"/>
              <p:cNvSpPr>
                <a:spLocks noChangeShapeType="1"/>
              </p:cNvSpPr>
              <p:nvPr/>
            </p:nvSpPr>
            <p:spPr bwMode="auto">
              <a:xfrm flipH="1">
                <a:off x="7932507" y="4764387"/>
                <a:ext cx="371139" cy="385900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23"/>
              <p:cNvSpPr>
                <a:spLocks noChangeShapeType="1"/>
              </p:cNvSpPr>
              <p:nvPr/>
            </p:nvSpPr>
            <p:spPr bwMode="auto">
              <a:xfrm flipH="1">
                <a:off x="8412162" y="4818743"/>
                <a:ext cx="6124" cy="351476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23"/>
              <p:cNvSpPr>
                <a:spLocks noChangeShapeType="1"/>
              </p:cNvSpPr>
              <p:nvPr/>
            </p:nvSpPr>
            <p:spPr bwMode="auto">
              <a:xfrm>
                <a:off x="7974175" y="4167588"/>
                <a:ext cx="359859" cy="295705"/>
              </a:xfrm>
              <a:prstGeom prst="line">
                <a:avLst/>
              </a:prstGeom>
              <a:noFill/>
              <a:ln w="28575">
                <a:solidFill>
                  <a:srgbClr val="27007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5" name="Text Box 10"/>
            <p:cNvSpPr txBox="1">
              <a:spLocks noChangeArrowheads="1"/>
            </p:cNvSpPr>
            <p:nvPr/>
          </p:nvSpPr>
          <p:spPr bwMode="auto">
            <a:xfrm>
              <a:off x="3785503" y="4683601"/>
              <a:ext cx="2807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  <a:sym typeface="Symbol" panose="05050102010706020507" pitchFamily="18" charset="2"/>
                </a:rPr>
                <a:t>&gt;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3038596" y="4723692"/>
              <a:ext cx="5928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b="0" dirty="0">
                  <a:solidFill>
                    <a:srgbClr val="270076"/>
                  </a:solidFill>
                </a:rPr>
                <a:t>Id</a:t>
              </a:r>
              <a:endParaRPr lang="en-US" altLang="en-US" sz="2400" b="0" dirty="0">
                <a:solidFill>
                  <a:srgbClr val="270076"/>
                </a:solidFill>
              </a:endParaRPr>
            </a:p>
          </p:txBody>
        </p:sp>
        <p:sp>
          <p:nvSpPr>
            <p:cNvPr id="87" name="Text Box 10"/>
            <p:cNvSpPr txBox="1">
              <a:spLocks noChangeArrowheads="1"/>
            </p:cNvSpPr>
            <p:nvPr/>
          </p:nvSpPr>
          <p:spPr bwMode="auto">
            <a:xfrm>
              <a:off x="4151092" y="4723693"/>
              <a:ext cx="5212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b="0" dirty="0">
                  <a:solidFill>
                    <a:srgbClr val="270076"/>
                  </a:solidFill>
                </a:rPr>
                <a:t>Id</a:t>
              </a:r>
              <a:endParaRPr lang="en-US" altLang="en-US" sz="2400" b="0" dirty="0">
                <a:solidFill>
                  <a:srgbClr val="270076"/>
                </a:solidFill>
              </a:endParaRPr>
            </a:p>
          </p:txBody>
        </p:sp>
        <p:sp>
          <p:nvSpPr>
            <p:cNvPr id="88" name="Text Box 10"/>
            <p:cNvSpPr txBox="1">
              <a:spLocks noChangeArrowheads="1"/>
            </p:cNvSpPr>
            <p:nvPr/>
          </p:nvSpPr>
          <p:spPr bwMode="auto">
            <a:xfrm>
              <a:off x="4272183" y="5488779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b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89" name="Line 23"/>
            <p:cNvSpPr>
              <a:spLocks noChangeShapeType="1"/>
            </p:cNvSpPr>
            <p:nvPr/>
          </p:nvSpPr>
          <p:spPr bwMode="auto">
            <a:xfrm>
              <a:off x="4386336" y="5106651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0" name="Text Box 10"/>
            <p:cNvSpPr txBox="1">
              <a:spLocks noChangeArrowheads="1"/>
            </p:cNvSpPr>
            <p:nvPr/>
          </p:nvSpPr>
          <p:spPr bwMode="auto">
            <a:xfrm>
              <a:off x="3189133" y="5453989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a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91" name="Line 23"/>
            <p:cNvSpPr>
              <a:spLocks noChangeShapeType="1"/>
            </p:cNvSpPr>
            <p:nvPr/>
          </p:nvSpPr>
          <p:spPr bwMode="auto">
            <a:xfrm>
              <a:off x="3371460" y="5145266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2" name="Line 24"/>
            <p:cNvSpPr>
              <a:spLocks noChangeShapeType="1"/>
            </p:cNvSpPr>
            <p:nvPr/>
          </p:nvSpPr>
          <p:spPr bwMode="auto">
            <a:xfrm flipH="1">
              <a:off x="3334278" y="4230285"/>
              <a:ext cx="475410" cy="524198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3877466" y="4188418"/>
              <a:ext cx="498913" cy="566065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23"/>
            <p:cNvSpPr>
              <a:spLocks noChangeShapeType="1"/>
            </p:cNvSpPr>
            <p:nvPr/>
          </p:nvSpPr>
          <p:spPr bwMode="auto">
            <a:xfrm>
              <a:off x="3886206" y="4342245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8" name="Text Box 10"/>
            <p:cNvSpPr txBox="1">
              <a:spLocks noChangeArrowheads="1"/>
            </p:cNvSpPr>
            <p:nvPr/>
          </p:nvSpPr>
          <p:spPr bwMode="auto">
            <a:xfrm>
              <a:off x="5509584" y="5210993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a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5691911" y="4902270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0" name="Text Box 10"/>
            <p:cNvSpPr txBox="1">
              <a:spLocks noChangeArrowheads="1"/>
            </p:cNvSpPr>
            <p:nvPr/>
          </p:nvSpPr>
          <p:spPr bwMode="auto">
            <a:xfrm>
              <a:off x="5949142" y="5878584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a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1" name="Line 23"/>
            <p:cNvSpPr>
              <a:spLocks noChangeShapeType="1"/>
            </p:cNvSpPr>
            <p:nvPr/>
          </p:nvSpPr>
          <p:spPr bwMode="auto">
            <a:xfrm>
              <a:off x="6131469" y="5569861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2" name="Text Box 10"/>
            <p:cNvSpPr txBox="1">
              <a:spLocks noChangeArrowheads="1"/>
            </p:cNvSpPr>
            <p:nvPr/>
          </p:nvSpPr>
          <p:spPr bwMode="auto">
            <a:xfrm>
              <a:off x="8699446" y="5981381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a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3" name="Line 23"/>
            <p:cNvSpPr>
              <a:spLocks noChangeShapeType="1"/>
            </p:cNvSpPr>
            <p:nvPr/>
          </p:nvSpPr>
          <p:spPr bwMode="auto">
            <a:xfrm>
              <a:off x="8881773" y="5672658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4" name="Text Box 10"/>
            <p:cNvSpPr txBox="1">
              <a:spLocks noChangeArrowheads="1"/>
            </p:cNvSpPr>
            <p:nvPr/>
          </p:nvSpPr>
          <p:spPr bwMode="auto">
            <a:xfrm>
              <a:off x="7893014" y="5925587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b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5" name="Line 23"/>
            <p:cNvSpPr>
              <a:spLocks noChangeShapeType="1"/>
            </p:cNvSpPr>
            <p:nvPr/>
          </p:nvSpPr>
          <p:spPr bwMode="auto">
            <a:xfrm>
              <a:off x="8075341" y="5616864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6" name="Text Box 10"/>
            <p:cNvSpPr txBox="1">
              <a:spLocks noChangeArrowheads="1"/>
            </p:cNvSpPr>
            <p:nvPr/>
          </p:nvSpPr>
          <p:spPr bwMode="auto">
            <a:xfrm>
              <a:off x="7387921" y="5292080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b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7" name="Line 23"/>
            <p:cNvSpPr>
              <a:spLocks noChangeShapeType="1"/>
            </p:cNvSpPr>
            <p:nvPr/>
          </p:nvSpPr>
          <p:spPr bwMode="auto">
            <a:xfrm>
              <a:off x="7570248" y="4983357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8" name="Text Box 10"/>
            <p:cNvSpPr txBox="1">
              <a:spLocks noChangeArrowheads="1"/>
            </p:cNvSpPr>
            <p:nvPr/>
          </p:nvSpPr>
          <p:spPr bwMode="auto">
            <a:xfrm>
              <a:off x="6848254" y="5871279"/>
              <a:ext cx="3237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FR" altLang="en-US" sz="2400" dirty="0">
                  <a:solidFill>
                    <a:srgbClr val="FF0000"/>
                  </a:solidFill>
                </a:rPr>
                <a:t>b</a:t>
              </a:r>
              <a:endParaRPr lang="en-US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9" name="Line 23"/>
            <p:cNvSpPr>
              <a:spLocks noChangeShapeType="1"/>
            </p:cNvSpPr>
            <p:nvPr/>
          </p:nvSpPr>
          <p:spPr bwMode="auto">
            <a:xfrm>
              <a:off x="7030581" y="5562556"/>
              <a:ext cx="3589" cy="455272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591386" y="839587"/>
            <a:ext cx="5444594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S.Begin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=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newLabel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();   E</a:t>
            </a:r>
            <a:r>
              <a:rPr kumimoji="0" lang="fr-FR" altLang="en-US" sz="2400" b="0" i="0" u="none" strike="noStrike" cap="none" normalizeH="0" baseline="-2500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kumimoji="0" lang="fr-FR" altLang="en-US" sz="2400" b="0" i="0" u="none" strike="noStrike" cap="none" normalizeH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.True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=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newLabel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(); </a:t>
            </a:r>
          </a:p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kumimoji="0" lang="fr-FR" altLang="en-US" sz="2400" b="0" i="0" u="none" strike="noStrike" cap="none" normalizeH="0" baseline="-2500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.False =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S.next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;   S</a:t>
            </a:r>
            <a:r>
              <a:rPr kumimoji="0" lang="fr-FR" altLang="en-US" sz="2400" b="0" i="0" u="none" strike="noStrike" cap="none" normalizeH="0" baseline="-2500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.next =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S.Begin</a:t>
            </a:r>
            <a:endParaRPr kumimoji="0" lang="fr-FR" altLang="en-US" sz="2400" b="0" i="0" u="none" strike="noStrike" cap="none" normalizeH="0" baseline="0" dirty="0">
              <a:ln>
                <a:noFill/>
              </a:ln>
              <a:solidFill>
                <a:srgbClr val="270076"/>
              </a:solidFill>
              <a:effectLst/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S.Code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=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gen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S.begin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‘</a:t>
            </a:r>
            <a:r>
              <a:rPr lang="fr-FR" altLang="en-US" sz="2400" dirty="0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: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’) ||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E.code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||</a:t>
            </a:r>
          </a:p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gen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E.true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’</a:t>
            </a:r>
            <a:r>
              <a:rPr lang="fr-FR" altLang="en-US" sz="2400" dirty="0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: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’) || S</a:t>
            </a:r>
            <a:r>
              <a:rPr kumimoji="0" lang="fr-FR" altLang="en-US" sz="2400" b="0" i="0" u="none" strike="noStrike" cap="none" normalizeH="0" baseline="-2500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.code ||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gen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(‘</a:t>
            </a:r>
            <a:r>
              <a:rPr lang="fr-FR" altLang="en-US" sz="2400" dirty="0" err="1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goto</a:t>
            </a:r>
            <a:r>
              <a:rPr lang="fr-FR" altLang="en-US" sz="2400" dirty="0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 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‘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S.Begin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0076"/>
              </a:solidFill>
              <a:effectLst/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656" y="5553745"/>
            <a:ext cx="5455372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</a:t>
            </a:r>
            <a:r>
              <a:rPr kumimoji="0" lang="fr-FR" altLang="en-US" sz="2400" b="0" i="0" u="none" strike="noStrike" cap="none" normalizeH="0" baseline="-2500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1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.Code := </a:t>
            </a:r>
          </a:p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gen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(‘</a:t>
            </a:r>
            <a:r>
              <a:rPr lang="fr-FR" altLang="en-US" sz="2400" dirty="0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if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’ id1.place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relop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id2.place ‘</a:t>
            </a:r>
            <a:r>
              <a:rPr lang="fr-FR" altLang="en-US" sz="2400" dirty="0" err="1">
                <a:solidFill>
                  <a:srgbClr val="2C1ED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goto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’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E.true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</a:p>
          <a:p>
            <a:pPr lvl="0" algn="l">
              <a:spcBef>
                <a:spcPct val="20000"/>
              </a:spcBef>
            </a:pP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                   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gen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( ‘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C1EDC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goto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’ </a:t>
            </a:r>
            <a:r>
              <a:rPr kumimoji="0" lang="fr-FR" altLang="en-US" sz="2400" b="0" i="0" u="none" strike="noStrike" cap="none" normalizeH="0" baseline="0" dirty="0" err="1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E.false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70076"/>
                </a:solidFill>
                <a:effectLst/>
                <a:latin typeface="Arial Narrow" panose="020B0606020202030204" pitchFamily="34" charset="0"/>
                <a:sym typeface="Symbol" panose="05050102010706020507" pitchFamily="18" charset="2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0076"/>
              </a:solidFill>
              <a:effectLst/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634499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5A3025-E7CD-463A-926A-D77D3376C3FC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19107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2</a:t>
            </a:r>
          </a:p>
        </p:txBody>
      </p:sp>
      <p:sp>
        <p:nvSpPr>
          <p:cNvPr id="191078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910789" name="Text Box 5"/>
          <p:cNvSpPr txBox="1">
            <a:spLocks noChangeArrowheads="1"/>
          </p:cNvSpPr>
          <p:nvPr/>
        </p:nvSpPr>
        <p:spPr bwMode="auto">
          <a:xfrm>
            <a:off x="381000" y="990600"/>
            <a:ext cx="38100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3200" b="0">
                <a:solidFill>
                  <a:srgbClr val="270076"/>
                </a:solidFill>
              </a:rPr>
              <a:t>S </a:t>
            </a:r>
            <a:r>
              <a:rPr lang="en-US" altLang="en-US" sz="3200" b="0">
                <a:solidFill>
                  <a:srgbClr val="270076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3200">
                <a:solidFill>
                  <a:srgbClr val="2C1EDC"/>
                </a:solidFill>
              </a:rPr>
              <a:t>While</a:t>
            </a:r>
            <a:r>
              <a:rPr lang="en-US" altLang="en-US" sz="3200" b="0">
                <a:solidFill>
                  <a:srgbClr val="270076"/>
                </a:solidFill>
              </a:rPr>
              <a:t> E </a:t>
            </a:r>
            <a:r>
              <a:rPr lang="en-US" altLang="en-US" sz="3200">
                <a:solidFill>
                  <a:srgbClr val="2C1EDC"/>
                </a:solidFill>
              </a:rPr>
              <a:t>do</a:t>
            </a:r>
            <a:r>
              <a:rPr lang="en-US" altLang="en-US" sz="3200" b="0">
                <a:solidFill>
                  <a:srgbClr val="270076"/>
                </a:solidFill>
              </a:rPr>
              <a:t> S</a:t>
            </a:r>
            <a:r>
              <a:rPr lang="en-US" altLang="en-US" sz="3200" b="0" baseline="-25000">
                <a:solidFill>
                  <a:srgbClr val="270076"/>
                </a:solidFill>
              </a:rPr>
              <a:t>1</a:t>
            </a:r>
          </a:p>
        </p:txBody>
      </p:sp>
      <p:sp>
        <p:nvSpPr>
          <p:cNvPr id="1910791" name="Text Box 7"/>
          <p:cNvSpPr txBox="1">
            <a:spLocks noChangeArrowheads="1"/>
          </p:cNvSpPr>
          <p:nvPr/>
        </p:nvSpPr>
        <p:spPr bwMode="auto">
          <a:xfrm>
            <a:off x="304800" y="4572000"/>
            <a:ext cx="24384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3200" b="0">
                <a:solidFill>
                  <a:schemeClr val="accent2"/>
                </a:solidFill>
              </a:rPr>
              <a:t>E </a:t>
            </a:r>
            <a:r>
              <a:rPr lang="en-US" altLang="en-US" sz="3200" b="0">
                <a:solidFill>
                  <a:schemeClr val="accent2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3200">
                <a:solidFill>
                  <a:schemeClr val="accent2"/>
                </a:solidFill>
              </a:rPr>
              <a:t>a </a:t>
            </a:r>
            <a:r>
              <a:rPr lang="fr-FR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3200">
                <a:solidFill>
                  <a:schemeClr val="accent2"/>
                </a:solidFill>
              </a:rPr>
              <a:t> b</a:t>
            </a:r>
          </a:p>
        </p:txBody>
      </p:sp>
      <p:grpSp>
        <p:nvGrpSpPr>
          <p:cNvPr id="1910794" name="Group 10"/>
          <p:cNvGrpSpPr>
            <a:grpSpLocks/>
          </p:cNvGrpSpPr>
          <p:nvPr/>
        </p:nvGrpSpPr>
        <p:grpSpPr bwMode="auto">
          <a:xfrm>
            <a:off x="1295400" y="1676400"/>
            <a:ext cx="7543800" cy="2743200"/>
            <a:chOff x="816" y="1056"/>
            <a:chExt cx="4752" cy="1728"/>
          </a:xfrm>
        </p:grpSpPr>
        <p:sp>
          <p:nvSpPr>
            <p:cNvPr id="1910788" name="Rectangle 4"/>
            <p:cNvSpPr>
              <a:spLocks noChangeArrowheads="1"/>
            </p:cNvSpPr>
            <p:nvPr/>
          </p:nvSpPr>
          <p:spPr bwMode="auto">
            <a:xfrm>
              <a:off x="816" y="1056"/>
              <a:ext cx="4704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7007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7663" indent="-347663" algn="l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98513" indent="-336550" algn="l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262063" indent="-231775" algn="l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 algn="l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 algn="l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5000"/>
                </a:lnSpc>
                <a:buFontTx/>
                <a:buNone/>
              </a:pPr>
              <a:r>
                <a:rPr lang="fr-FR" altLang="en-US" sz="2800" b="0">
                  <a:cs typeface="Times New Roman" panose="02020603050405020304" pitchFamily="18" charset="0"/>
                </a:rPr>
                <a:t>S.Begin = L1 	// </a:t>
              </a:r>
              <a:r>
                <a:rPr lang="fr-FR" altLang="en-US" sz="2800" b="0">
                  <a:solidFill>
                    <a:srgbClr val="B9B6BE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S.Begin=newLabel();</a:t>
              </a:r>
              <a:r>
                <a:rPr lang="fr-FR" altLang="en-US" sz="2800" b="0">
                  <a:solidFill>
                    <a:schemeClr val="bg2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   </a:t>
              </a:r>
            </a:p>
            <a:p>
              <a:pPr>
                <a:lnSpc>
                  <a:spcPct val="105000"/>
                </a:lnSpc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E.True = L2 	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E.True = newLabel();</a:t>
              </a:r>
              <a:r>
                <a:rPr lang="fr-FR" altLang="en-US" sz="2800" b="0">
                  <a:solidFill>
                    <a:schemeClr val="bg2"/>
                  </a:solidFill>
                  <a:cs typeface="Times New Roman" panose="02020603050405020304" pitchFamily="18" charset="0"/>
                </a:rPr>
                <a:t> 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E.False = Next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E.False = S.next();</a:t>
              </a:r>
              <a:r>
                <a:rPr lang="fr-FR" altLang="en-US" sz="2800" b="0">
                  <a:solidFill>
                    <a:srgbClr val="D0ACEE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   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.next = L1	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.next = S.Begin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S.Code = </a:t>
              </a:r>
              <a:r>
                <a:rPr lang="fr-FR" altLang="en-US" sz="2800" b="0">
                  <a:solidFill>
                    <a:srgbClr val="2C1EDC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L1: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|| </a:t>
              </a:r>
              <a:r>
                <a:rPr lang="fr-FR" altLang="en-US" sz="2800" b="0">
                  <a:solidFill>
                    <a:schemeClr val="folHlink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E.code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|| </a:t>
              </a:r>
              <a:r>
                <a:rPr lang="fr-FR" altLang="en-US" sz="2800" b="0">
                  <a:solidFill>
                    <a:srgbClr val="2C1EDC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L2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|| </a:t>
              </a:r>
              <a:r>
                <a:rPr lang="fr-FR" altLang="en-US" sz="2800" b="0">
                  <a:solidFill>
                    <a:schemeClr val="folHlink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solidFill>
                    <a:schemeClr val="folHlink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solidFill>
                    <a:schemeClr val="folHlink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.code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|| </a:t>
              </a:r>
              <a:r>
                <a:rPr lang="fr-FR" altLang="en-US" sz="2800" b="0">
                  <a:solidFill>
                    <a:srgbClr val="2C1EDC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 L1</a:t>
              </a:r>
              <a:endParaRPr lang="fr-FR" altLang="en-US" sz="2800" b="0">
                <a:cs typeface="Times New Roman" panose="02020603050405020304" pitchFamily="18" charset="0"/>
              </a:endParaRPr>
            </a:p>
          </p:txBody>
        </p:sp>
        <p:sp>
          <p:nvSpPr>
            <p:cNvPr id="1910792" name="Text Box 8"/>
            <p:cNvSpPr txBox="1">
              <a:spLocks noChangeArrowheads="1"/>
            </p:cNvSpPr>
            <p:nvPr/>
          </p:nvSpPr>
          <p:spPr bwMode="auto">
            <a:xfrm>
              <a:off x="5040" y="2352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(1)</a:t>
              </a:r>
            </a:p>
          </p:txBody>
        </p:sp>
      </p:grpSp>
      <p:grpSp>
        <p:nvGrpSpPr>
          <p:cNvPr id="1910795" name="Group 11"/>
          <p:cNvGrpSpPr>
            <a:grpSpLocks/>
          </p:cNvGrpSpPr>
          <p:nvPr/>
        </p:nvGrpSpPr>
        <p:grpSpPr bwMode="auto">
          <a:xfrm>
            <a:off x="609600" y="5029200"/>
            <a:ext cx="8305800" cy="1600200"/>
            <a:chOff x="384" y="3168"/>
            <a:chExt cx="5232" cy="1008"/>
          </a:xfrm>
        </p:grpSpPr>
        <p:sp>
          <p:nvSpPr>
            <p:cNvPr id="1910790" name="Rectangle 6"/>
            <p:cNvSpPr>
              <a:spLocks noChangeArrowheads="1"/>
            </p:cNvSpPr>
            <p:nvPr/>
          </p:nvSpPr>
          <p:spPr bwMode="auto">
            <a:xfrm>
              <a:off x="384" y="3264"/>
              <a:ext cx="5232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7007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7663" indent="-347663" algn="l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98513" indent="-336550" algn="l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262063" indent="-231775" algn="l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 algn="l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 algn="l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E.Code := </a:t>
              </a:r>
              <a:r>
                <a:rPr lang="fr-FR" altLang="en-US" sz="280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if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  a </a:t>
              </a:r>
              <a:r>
                <a:rPr lang="fr-FR" altLang="en-US">
                  <a:solidFill>
                    <a:schemeClr val="accent2"/>
                  </a:solidFill>
                  <a:sym typeface="Symbol" panose="05050102010706020507" pitchFamily="18" charset="2"/>
                </a:rPr>
                <a:t></a:t>
              </a:r>
              <a:r>
                <a:rPr lang="en-US" altLang="en-US" b="0"/>
                <a:t> 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b </a:t>
              </a:r>
              <a:r>
                <a:rPr lang="fr-FR" altLang="en-US" sz="280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 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L2  goto Next</a:t>
              </a:r>
              <a:endParaRPr lang="en-US" altLang="en-US" sz="2800" b="0">
                <a:solidFill>
                  <a:srgbClr val="3F53E5"/>
                </a:solidFill>
                <a:latin typeface="Arial Narrow" panose="020B0606020202030204" pitchFamily="34" charset="0"/>
                <a:sym typeface="Symbol" panose="05050102010706020507" pitchFamily="18" charset="2"/>
              </a:endParaRPr>
            </a:p>
            <a:p>
              <a:pPr>
                <a:buFontTx/>
                <a:buNone/>
              </a:pP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		E.Code:=gen(‘</a:t>
              </a:r>
              <a:r>
                <a:rPr lang="fr-FR" altLang="en-US" sz="28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if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’ id1.place relop id2.place ‘</a:t>
              </a:r>
              <a:r>
                <a:rPr lang="fr-FR" altLang="en-US" sz="28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’ E.true)  	gen( ‘goto’ E.false);</a:t>
              </a:r>
            </a:p>
          </p:txBody>
        </p:sp>
        <p:sp>
          <p:nvSpPr>
            <p:cNvPr id="1910793" name="Text Box 9"/>
            <p:cNvSpPr txBox="1">
              <a:spLocks noChangeArrowheads="1"/>
            </p:cNvSpPr>
            <p:nvPr/>
          </p:nvSpPr>
          <p:spPr bwMode="auto">
            <a:xfrm>
              <a:off x="4992" y="3168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(2)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1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1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1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079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7404BB-5676-4C86-9AB6-BDD1B781B7BA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190976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2</a:t>
            </a:r>
          </a:p>
        </p:txBody>
      </p:sp>
      <p:sp>
        <p:nvSpPr>
          <p:cNvPr id="190976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909765" name="Text Box 5"/>
          <p:cNvSpPr txBox="1">
            <a:spLocks noChangeArrowheads="1"/>
          </p:cNvSpPr>
          <p:nvPr/>
        </p:nvSpPr>
        <p:spPr bwMode="auto">
          <a:xfrm>
            <a:off x="381000" y="990600"/>
            <a:ext cx="48006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3200" b="0">
                <a:solidFill>
                  <a:schemeClr val="accent2"/>
                </a:solidFill>
              </a:rPr>
              <a:t>S </a:t>
            </a:r>
            <a:r>
              <a:rPr lang="en-US" altLang="en-US" sz="3200" b="0">
                <a:solidFill>
                  <a:schemeClr val="accent2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3200">
                <a:solidFill>
                  <a:schemeClr val="accent2"/>
                </a:solidFill>
              </a:rPr>
              <a:t>if </a:t>
            </a:r>
            <a:r>
              <a:rPr lang="en-US" altLang="en-US" sz="3200" b="0">
                <a:solidFill>
                  <a:schemeClr val="accent2"/>
                </a:solidFill>
              </a:rPr>
              <a:t>E </a:t>
            </a:r>
            <a:r>
              <a:rPr lang="en-US" altLang="en-US" sz="3200">
                <a:solidFill>
                  <a:schemeClr val="accent2"/>
                </a:solidFill>
              </a:rPr>
              <a:t>then</a:t>
            </a:r>
            <a:r>
              <a:rPr lang="en-US" altLang="en-US" sz="3200" b="0">
                <a:solidFill>
                  <a:schemeClr val="accent2"/>
                </a:solidFill>
              </a:rPr>
              <a:t> S</a:t>
            </a:r>
            <a:r>
              <a:rPr lang="en-US" altLang="en-US" sz="3200" b="0" baseline="-25000">
                <a:solidFill>
                  <a:schemeClr val="accent2"/>
                </a:solidFill>
              </a:rPr>
              <a:t>1</a:t>
            </a:r>
            <a:r>
              <a:rPr lang="en-US" altLang="en-US" sz="3200" b="0">
                <a:solidFill>
                  <a:schemeClr val="accent2"/>
                </a:solidFill>
              </a:rPr>
              <a:t> </a:t>
            </a:r>
            <a:r>
              <a:rPr lang="en-US" altLang="en-US" sz="3200">
                <a:solidFill>
                  <a:schemeClr val="accent2"/>
                </a:solidFill>
              </a:rPr>
              <a:t>else</a:t>
            </a:r>
            <a:r>
              <a:rPr lang="en-US" altLang="en-US" sz="3200" b="0">
                <a:solidFill>
                  <a:schemeClr val="accent2"/>
                </a:solidFill>
              </a:rPr>
              <a:t> S</a:t>
            </a:r>
            <a:r>
              <a:rPr lang="en-US" altLang="en-US" sz="3200" b="0" baseline="-25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909767" name="Text Box 7"/>
          <p:cNvSpPr txBox="1">
            <a:spLocks noChangeArrowheads="1"/>
          </p:cNvSpPr>
          <p:nvPr/>
        </p:nvSpPr>
        <p:spPr bwMode="auto">
          <a:xfrm>
            <a:off x="304800" y="4572000"/>
            <a:ext cx="24384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3200" b="0">
                <a:solidFill>
                  <a:schemeClr val="accent2"/>
                </a:solidFill>
              </a:rPr>
              <a:t>E </a:t>
            </a:r>
            <a:r>
              <a:rPr lang="en-US" altLang="en-US" sz="3200" b="0">
                <a:solidFill>
                  <a:schemeClr val="accent2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3200">
                <a:solidFill>
                  <a:schemeClr val="accent2"/>
                </a:solidFill>
              </a:rPr>
              <a:t>a &gt; b</a:t>
            </a:r>
            <a:endParaRPr lang="en-US" altLang="en-US" sz="3200" b="0" baseline="-25000">
              <a:solidFill>
                <a:schemeClr val="accent2"/>
              </a:solidFill>
            </a:endParaRPr>
          </a:p>
        </p:txBody>
      </p:sp>
      <p:grpSp>
        <p:nvGrpSpPr>
          <p:cNvPr id="1909772" name="Group 12"/>
          <p:cNvGrpSpPr>
            <a:grpSpLocks/>
          </p:cNvGrpSpPr>
          <p:nvPr/>
        </p:nvGrpSpPr>
        <p:grpSpPr bwMode="auto">
          <a:xfrm>
            <a:off x="609600" y="5105400"/>
            <a:ext cx="8305800" cy="1524000"/>
            <a:chOff x="384" y="3216"/>
            <a:chExt cx="5232" cy="960"/>
          </a:xfrm>
        </p:grpSpPr>
        <p:sp>
          <p:nvSpPr>
            <p:cNvPr id="1909766" name="Rectangle 6"/>
            <p:cNvSpPr>
              <a:spLocks noChangeArrowheads="1"/>
            </p:cNvSpPr>
            <p:nvPr/>
          </p:nvSpPr>
          <p:spPr bwMode="auto">
            <a:xfrm>
              <a:off x="384" y="3264"/>
              <a:ext cx="5232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7007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7663" indent="-347663" algn="l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98513" indent="-336550" algn="l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262063" indent="-231775" algn="l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 algn="l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 algn="l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E.Code := </a:t>
              </a:r>
              <a:r>
                <a:rPr lang="fr-FR" altLang="en-US" sz="280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if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  a &gt; b </a:t>
              </a:r>
              <a:r>
                <a:rPr lang="fr-FR" altLang="en-US" sz="280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 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L3  goto L4</a:t>
              </a:r>
              <a:endParaRPr lang="en-US" altLang="en-US" sz="2800" b="0">
                <a:solidFill>
                  <a:srgbClr val="3F53E5"/>
                </a:solidFill>
                <a:latin typeface="Arial Narrow" panose="020B0606020202030204" pitchFamily="34" charset="0"/>
                <a:sym typeface="Symbol" panose="05050102010706020507" pitchFamily="18" charset="2"/>
              </a:endParaRPr>
            </a:p>
            <a:p>
              <a:pPr>
                <a:buFontTx/>
                <a:buNone/>
              </a:pP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		E.Code:=gen(‘</a:t>
              </a:r>
              <a:r>
                <a:rPr lang="fr-FR" altLang="en-US" sz="28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if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’ id1.place relop id2.place ‘</a:t>
              </a:r>
              <a:r>
                <a:rPr lang="fr-FR" altLang="en-US" sz="28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’ E.true)  	gen( ‘goto’ E.false);</a:t>
              </a:r>
              <a:endParaRPr lang="fr-FR" altLang="en-US" b="0">
                <a:solidFill>
                  <a:srgbClr val="A29EA8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909769" name="Text Box 9"/>
            <p:cNvSpPr txBox="1">
              <a:spLocks noChangeArrowheads="1"/>
            </p:cNvSpPr>
            <p:nvPr/>
          </p:nvSpPr>
          <p:spPr bwMode="auto">
            <a:xfrm>
              <a:off x="3984" y="3216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(4)</a:t>
              </a:r>
            </a:p>
          </p:txBody>
        </p:sp>
      </p:grpSp>
      <p:grpSp>
        <p:nvGrpSpPr>
          <p:cNvPr id="1909771" name="Group 11"/>
          <p:cNvGrpSpPr>
            <a:grpSpLocks/>
          </p:cNvGrpSpPr>
          <p:nvPr/>
        </p:nvGrpSpPr>
        <p:grpSpPr bwMode="auto">
          <a:xfrm>
            <a:off x="266700" y="1676400"/>
            <a:ext cx="8496300" cy="2743200"/>
            <a:chOff x="168" y="1056"/>
            <a:chExt cx="5352" cy="1728"/>
          </a:xfrm>
        </p:grpSpPr>
        <p:sp>
          <p:nvSpPr>
            <p:cNvPr id="1909764" name="Rectangle 4"/>
            <p:cNvSpPr>
              <a:spLocks noChangeArrowheads="1"/>
            </p:cNvSpPr>
            <p:nvPr/>
          </p:nvSpPr>
          <p:spPr bwMode="auto">
            <a:xfrm>
              <a:off x="168" y="1056"/>
              <a:ext cx="5352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7007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7663" indent="-347663" algn="l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98513" indent="-336550" algn="l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262063" indent="-231775" algn="l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 algn="l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 algn="l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E.True = L3	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E.True = newLabel();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 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E.False = L4	 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E.False = newLabel(); 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.next = L1	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1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.next = S.next;        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2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.next = L1		// 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S</a:t>
              </a:r>
              <a:r>
                <a:rPr lang="fr-FR" altLang="en-US" sz="2800" b="0" baseline="-2500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2</a:t>
              </a:r>
              <a:r>
                <a:rPr lang="fr-FR" altLang="en-US" sz="2800" b="0">
                  <a:solidFill>
                    <a:srgbClr val="A29EA8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.next = S.next</a:t>
              </a:r>
            </a:p>
            <a:p>
              <a:pPr>
                <a:buFontTx/>
                <a:buNone/>
              </a:pP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S.Code = </a:t>
              </a:r>
              <a:r>
                <a:rPr lang="fr-FR" altLang="en-US" sz="2800" b="0">
                  <a:solidFill>
                    <a:schemeClr val="folHlink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E.code 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||  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L3 </a:t>
              </a:r>
              <a:r>
                <a:rPr lang="fr-FR" altLang="en-US" sz="280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:</a:t>
              </a:r>
              <a:r>
                <a:rPr lang="fr-FR" altLang="en-US" sz="2800">
                  <a:solidFill>
                    <a:srgbClr val="2C1EDC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 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||  S1.code || </a:t>
              </a:r>
              <a:r>
                <a:rPr lang="fr-FR" altLang="en-US" sz="2800" b="0">
                  <a:solidFill>
                    <a:srgbClr val="3F53E5"/>
                  </a:solidFill>
                  <a:latin typeface="Arial Narrow" panose="020B0606020202030204" pitchFamily="34" charset="0"/>
                  <a:sym typeface="Symbol" panose="05050102010706020507" pitchFamily="18" charset="2"/>
                </a:rPr>
                <a:t>goto L1  L4 :</a:t>
              </a:r>
              <a:r>
                <a:rPr lang="fr-FR" altLang="en-US" sz="2800" b="0">
                  <a:latin typeface="Arial Narrow" panose="020B0606020202030204" pitchFamily="34" charset="0"/>
                  <a:sym typeface="Symbol" panose="05050102010706020507" pitchFamily="18" charset="2"/>
                </a:rPr>
                <a:t> || S2.code</a:t>
              </a:r>
            </a:p>
          </p:txBody>
        </p:sp>
        <p:sp>
          <p:nvSpPr>
            <p:cNvPr id="1909770" name="Text Box 10"/>
            <p:cNvSpPr txBox="1">
              <a:spLocks noChangeArrowheads="1"/>
            </p:cNvSpPr>
            <p:nvPr/>
          </p:nvSpPr>
          <p:spPr bwMode="auto">
            <a:xfrm>
              <a:off x="4800" y="1968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3200" b="0">
                  <a:solidFill>
                    <a:schemeClr val="accent2"/>
                  </a:solidFill>
                </a:rPr>
                <a:t>(3)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0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0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976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7A5C9D-EFA5-4C08-9D6F-A947CCD775EE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191181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Sinh mã cho biểu thức logic </a:t>
            </a:r>
            <a:r>
              <a:rPr lang="fr-FR" altLang="en-US" sz="2800">
                <a:sym typeface="Symbol" panose="05050102010706020507" pitchFamily="18" charset="2"/>
              </a:rPr>
              <a:t> Ví dụ 2</a:t>
            </a:r>
          </a:p>
        </p:txBody>
      </p:sp>
      <p:sp>
        <p:nvSpPr>
          <p:cNvPr id="191181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911812" name="Rectangle 4"/>
          <p:cNvSpPr>
            <a:spLocks noChangeArrowheads="1"/>
          </p:cNvSpPr>
          <p:nvPr/>
        </p:nvSpPr>
        <p:spPr bwMode="auto">
          <a:xfrm>
            <a:off x="1981200" y="1600200"/>
            <a:ext cx="5486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L1 : 	</a:t>
            </a:r>
            <a:r>
              <a:rPr lang="fr-FR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  a    b </a:t>
            </a:r>
            <a:r>
              <a:rPr lang="fr-FR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goto </a:t>
            </a: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L2 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		goto Next</a:t>
            </a:r>
            <a:endParaRPr lang="en-US" altLang="en-US" sz="2800" b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L2 :  	</a:t>
            </a:r>
            <a:r>
              <a:rPr lang="fr-FR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  a &gt; b </a:t>
            </a:r>
            <a:r>
              <a:rPr lang="fr-FR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goto </a:t>
            </a: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L3 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		goto L4</a:t>
            </a:r>
            <a:endParaRPr lang="en-US" altLang="en-US" sz="2800" b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L3 :	t1 := a – b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fr-FR" altLang="en-US" b="0">
                <a:solidFill>
                  <a:schemeClr val="accent2"/>
                </a:solidFill>
                <a:sym typeface="Symbol" panose="05050102010706020507" pitchFamily="18" charset="2"/>
              </a:rPr>
              <a:t>		a := t1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fr-FR" altLang="en-US" b="0">
                <a:solidFill>
                  <a:schemeClr val="accent2"/>
                </a:solidFill>
                <a:sym typeface="Symbol" panose="05050102010706020507" pitchFamily="18" charset="2"/>
              </a:rPr>
              <a:t>  		goto L1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L4: 	t2 := b – a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		a := t2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		goto L1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fr-FR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Next:</a:t>
            </a:r>
          </a:p>
        </p:txBody>
      </p:sp>
      <p:sp>
        <p:nvSpPr>
          <p:cNvPr id="1911813" name="Text Box 5"/>
          <p:cNvSpPr txBox="1">
            <a:spLocks noChangeArrowheads="1"/>
          </p:cNvSpPr>
          <p:nvPr/>
        </p:nvSpPr>
        <p:spPr bwMode="auto">
          <a:xfrm>
            <a:off x="381000" y="914400"/>
            <a:ext cx="4800600" cy="588963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3200" b="0">
                <a:solidFill>
                  <a:schemeClr val="accent2"/>
                </a:solidFill>
              </a:rPr>
              <a:t>1 + 2 + + 4 + A + B</a:t>
            </a:r>
            <a:endParaRPr lang="en-US" altLang="en-US" sz="3200" b="0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3A8A62-F49C-40D2-8078-48DF8A3B494D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180736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Biểu thức hỗn hợp</a:t>
            </a:r>
            <a:endParaRPr lang="fr-FR" altLang="en-US" sz="2800">
              <a:sym typeface="Symbol" panose="05050102010706020507" pitchFamily="18" charset="2"/>
            </a:endParaRPr>
          </a:p>
        </p:txBody>
      </p:sp>
      <p:sp>
        <p:nvSpPr>
          <p:cNvPr id="180736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Sinh mã trung gian</a:t>
            </a:r>
          </a:p>
        </p:txBody>
      </p:sp>
      <p:sp>
        <p:nvSpPr>
          <p:cNvPr id="1807364" name="Rectangle 4"/>
          <p:cNvSpPr>
            <a:spLocks noChangeArrowheads="1"/>
          </p:cNvSpPr>
          <p:nvPr/>
        </p:nvSpPr>
        <p:spPr bwMode="auto">
          <a:xfrm>
            <a:off x="252413" y="962025"/>
            <a:ext cx="8724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365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62063" indent="-231775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0"/>
              <a:t>Thực tế, các biểu thức logic thường chứa các biểu thức số học </a:t>
            </a:r>
          </a:p>
          <a:p>
            <a:pPr lvl="1"/>
            <a:r>
              <a:rPr lang="en-US" altLang="en-US" b="0"/>
              <a:t> (a+b)&lt;c</a:t>
            </a:r>
          </a:p>
          <a:p>
            <a:r>
              <a:rPr lang="fr-FR" altLang="en-US" b="0"/>
              <a:t>Xét văn phạm</a:t>
            </a:r>
          </a:p>
          <a:p>
            <a:pPr lvl="1">
              <a:buFontTx/>
              <a:buNone/>
            </a:pPr>
            <a:r>
              <a:rPr lang="fr-FR" altLang="en-US" b="0"/>
              <a:t>E </a:t>
            </a:r>
            <a:r>
              <a:rPr lang="fr-FR" altLang="en-US" b="0">
                <a:sym typeface="Symbol" panose="05050102010706020507" pitchFamily="18" charset="2"/>
              </a:rPr>
              <a:t>E + E | E and E | E relop E| Id</a:t>
            </a:r>
          </a:p>
          <a:p>
            <a:pPr lvl="1">
              <a:buFontTx/>
              <a:buNone/>
            </a:pPr>
            <a:r>
              <a:rPr lang="fr-FR" altLang="en-US" b="0">
                <a:sym typeface="Symbol" panose="05050102010706020507" pitchFamily="18" charset="2"/>
              </a:rPr>
              <a:t>	E and E  đòi hỏi 2 đối số phải là logic</a:t>
            </a:r>
          </a:p>
          <a:p>
            <a:pPr lvl="1">
              <a:buFontTx/>
              <a:buNone/>
            </a:pPr>
            <a:r>
              <a:rPr lang="fr-FR" altLang="en-US" b="0">
                <a:sym typeface="Symbol" panose="05050102010706020507" pitchFamily="18" charset="2"/>
              </a:rPr>
              <a:t>	E + E, E relop E: Các đối số là biểu thức toán học</a:t>
            </a:r>
          </a:p>
          <a:p>
            <a:r>
              <a:rPr lang="fr-FR" altLang="en-US" b="0">
                <a:sym typeface="Symbol" panose="05050102010706020507" pitchFamily="18" charset="2"/>
              </a:rPr>
              <a:t>Để sinh mã trong trường hợp phức hợp</a:t>
            </a:r>
          </a:p>
          <a:p>
            <a:pPr lvl="1"/>
            <a:r>
              <a:rPr lang="fr-FR" altLang="en-US" b="0">
                <a:sym typeface="Symbol" panose="05050102010706020507" pitchFamily="18" charset="2"/>
              </a:rPr>
              <a:t>Dùng thuôc tính tổng hợp E.Type cho biết  kiểu là </a:t>
            </a:r>
            <a:r>
              <a:rPr lang="fr-FR" altLang="en-US" b="0" i="1">
                <a:solidFill>
                  <a:srgbClr val="2C1EDC"/>
                </a:solidFill>
                <a:sym typeface="Symbol" panose="05050102010706020507" pitchFamily="18" charset="2"/>
              </a:rPr>
              <a:t>arith</a:t>
            </a:r>
            <a:r>
              <a:rPr lang="fr-FR" altLang="en-US" b="0">
                <a:sym typeface="Symbol" panose="05050102010706020507" pitchFamily="18" charset="2"/>
              </a:rPr>
              <a:t> hay </a:t>
            </a:r>
            <a:r>
              <a:rPr lang="fr-FR" altLang="en-US" b="0" i="1">
                <a:solidFill>
                  <a:srgbClr val="2C1EDC"/>
                </a:solidFill>
                <a:sym typeface="Symbol" panose="05050102010706020507" pitchFamily="18" charset="2"/>
              </a:rPr>
              <a:t>logic</a:t>
            </a:r>
            <a:r>
              <a:rPr lang="fr-FR" altLang="en-US" b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77D633-CCD3-4065-B8D5-77B4E21B9888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1808386" name="Rectangle 2"/>
          <p:cNvSpPr>
            <a:spLocks noChangeArrowheads="1"/>
          </p:cNvSpPr>
          <p:nvPr/>
        </p:nvSpPr>
        <p:spPr bwMode="auto">
          <a:xfrm>
            <a:off x="0" y="28194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8387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r>
              <a:rPr lang="en-US" altLang="en-US" sz="4000"/>
              <a:t>Chương 5: Sinh mã</a:t>
            </a:r>
          </a:p>
        </p:txBody>
      </p:sp>
      <p:sp>
        <p:nvSpPr>
          <p:cNvPr id="1808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3344862"/>
          </a:xfrm>
        </p:spPr>
        <p:txBody>
          <a:bodyPr/>
          <a:lstStyle/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trung gian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đích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fr-FR" altLang="en-US" sz="4000"/>
              <a:t>Tối ưu mã</a:t>
            </a:r>
            <a:endParaRPr lang="en-US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838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A154AA-F4BC-4B0B-8E67-C83315764DFD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1809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8674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/>
              <a:t>Giới thiệu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Môi trường thực hiện: Máy ngăn xếp</a:t>
            </a:r>
          </a:p>
          <a:p>
            <a:pPr marL="990600" lvl="1" indent="-533400"/>
            <a:r>
              <a:rPr lang="en-US" altLang="en-US"/>
              <a:t>Bộ thông dịch cho máy ngăn xếp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Sinh mã đích từ mã trung gian</a:t>
            </a:r>
          </a:p>
          <a:p>
            <a:pPr marL="990600" lvl="1" indent="-533400">
              <a:buFontTx/>
              <a:buChar char="•"/>
            </a:pPr>
            <a:r>
              <a:rPr lang="en-US" altLang="en-US"/>
              <a:t>Mã trung gian là cây cú pháp</a:t>
            </a:r>
          </a:p>
          <a:p>
            <a:pPr marL="990600" lvl="1" indent="-533400">
              <a:buFontTx/>
              <a:buChar char="•"/>
            </a:pPr>
            <a:r>
              <a:rPr lang="en-US" altLang="en-US"/>
              <a:t>Mã trung gian là ký pháp Ba lan sau</a:t>
            </a:r>
          </a:p>
          <a:p>
            <a:pPr marL="990600" lvl="1" indent="-533400">
              <a:buFontTx/>
              <a:buChar char="•"/>
            </a:pPr>
            <a:r>
              <a:rPr lang="en-US" altLang="en-US"/>
              <a:t>Mã trung gian là mã 3 địa chỉ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Sinh mã đích từ mã nguồn</a:t>
            </a:r>
          </a:p>
          <a:p>
            <a:pPr marL="990600" lvl="1" indent="-533400"/>
            <a:r>
              <a:rPr lang="en-US" altLang="en-US"/>
              <a:t>Xây dựng bảng ký hiệu</a:t>
            </a:r>
          </a:p>
          <a:p>
            <a:pPr marL="990600" lvl="1" indent="-533400"/>
            <a:r>
              <a:rPr lang="en-US" altLang="en-US"/>
              <a:t>Sinh mã cho câu lệnh</a:t>
            </a:r>
          </a:p>
        </p:txBody>
      </p:sp>
      <p:sp>
        <p:nvSpPr>
          <p:cNvPr id="1809416" name="Rectangle 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/>
              <a:t>Nội dung</a:t>
            </a:r>
          </a:p>
        </p:txBody>
      </p:sp>
      <p:sp>
        <p:nvSpPr>
          <p:cNvPr id="1809417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4DA807-2959-4040-B99B-477D7F2A8822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181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867400"/>
          </a:xfrm>
        </p:spPr>
        <p:txBody>
          <a:bodyPr/>
          <a:lstStyle/>
          <a:p>
            <a:pPr marL="609600" indent="-609600"/>
            <a:r>
              <a:rPr lang="en-US" altLang="en-US"/>
              <a:t>Chương trình đich viết trên một ngôn ngữ trung gian</a:t>
            </a:r>
          </a:p>
          <a:p>
            <a:pPr marL="609600" indent="-609600"/>
            <a:r>
              <a:rPr lang="en-US" altLang="en-US"/>
              <a:t>Là dạng Assembly của máy giả định </a:t>
            </a:r>
          </a:p>
          <a:p>
            <a:pPr marL="990600" lvl="1" indent="-533400"/>
            <a:r>
              <a:rPr lang="en-US" altLang="en-US"/>
              <a:t>Máy ảo (</a:t>
            </a:r>
            <a:r>
              <a:rPr lang="en-US" altLang="en-US" i="1">
                <a:solidFill>
                  <a:srgbClr val="3F53E5"/>
                </a:solidFill>
              </a:rPr>
              <a:t>Máy ảo làm việc với bộ nhớ stack</a:t>
            </a:r>
            <a:r>
              <a:rPr lang="en-US" altLang="en-US"/>
              <a:t>)</a:t>
            </a:r>
          </a:p>
          <a:p>
            <a:pPr marL="609600" indent="-609600"/>
            <a:r>
              <a:rPr lang="en-US" altLang="en-US"/>
              <a:t>Việc thực hiện chương trình thông qua một bộ thông dich </a:t>
            </a:r>
            <a:r>
              <a:rPr lang="en-US" altLang="en-US" i="1">
                <a:solidFill>
                  <a:srgbClr val="3F53E5"/>
                </a:solidFill>
              </a:rPr>
              <a:t>interpreter</a:t>
            </a:r>
          </a:p>
          <a:p>
            <a:pPr marL="990600" lvl="1" indent="-533400"/>
            <a:r>
              <a:rPr lang="en-US" altLang="en-US" i="1">
                <a:solidFill>
                  <a:srgbClr val="3F53E5"/>
                </a:solidFill>
              </a:rPr>
              <a:t>Interpreter</a:t>
            </a:r>
            <a:r>
              <a:rPr lang="en-US" altLang="en-US"/>
              <a:t> mô phỏng hành động của máy ảo</a:t>
            </a:r>
          </a:p>
          <a:p>
            <a:pPr marL="990600" lvl="1" indent="-533400"/>
            <a:r>
              <a:rPr lang="en-US" altLang="en-US"/>
              <a:t>Thực hiện tập lệnh assembly của nó</a:t>
            </a:r>
          </a:p>
          <a:p>
            <a:pPr marL="609600" indent="-609600"/>
            <a:r>
              <a:rPr lang="fr-FR" altLang="en-US"/>
              <a:t>Chương trình đích được dịch từ	</a:t>
            </a:r>
          </a:p>
          <a:p>
            <a:pPr marL="990600" lvl="1" indent="-533400"/>
            <a:r>
              <a:rPr lang="fr-FR" altLang="en-US"/>
              <a:t>Mã trung gian </a:t>
            </a:r>
          </a:p>
          <a:p>
            <a:pPr marL="990600" lvl="1" indent="-533400"/>
            <a:r>
              <a:rPr lang="fr-FR" altLang="en-US"/>
              <a:t>Mã nguồn</a:t>
            </a:r>
            <a:endParaRPr lang="en-US" altLang="en-US"/>
          </a:p>
        </p:txBody>
      </p:sp>
      <p:sp>
        <p:nvSpPr>
          <p:cNvPr id="1810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1. Giới thiệu</a:t>
            </a:r>
            <a:endParaRPr lang="en-US" altLang="en-US" sz="2800"/>
          </a:p>
        </p:txBody>
      </p:sp>
      <p:sp>
        <p:nvSpPr>
          <p:cNvPr id="181043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705A13-EF6E-4DF2-BCD7-AE4A2A03A992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1811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867400"/>
          </a:xfrm>
        </p:spPr>
        <p:txBody>
          <a:bodyPr/>
          <a:lstStyle/>
          <a:p>
            <a:pPr marL="609600" indent="-609600"/>
            <a:r>
              <a:rPr lang="en-US" altLang="en-US"/>
              <a:t>Sử dụng máy ảo là máy ngăn xếp</a:t>
            </a:r>
          </a:p>
          <a:p>
            <a:pPr marL="609600" indent="-609600"/>
            <a:r>
              <a:rPr lang="en-US" altLang="en-US"/>
              <a:t>Máy ngăn xếp là một hệ thống tính toán</a:t>
            </a:r>
          </a:p>
          <a:p>
            <a:pPr marL="990600" lvl="1" indent="-533400"/>
            <a:r>
              <a:rPr lang="en-US" altLang="en-US"/>
              <a:t>Sử dụng ngăn xếp để lưu trữ các kết quả trung gian của quá trình tính toán</a:t>
            </a:r>
          </a:p>
          <a:p>
            <a:pPr marL="990600" lvl="1" indent="-533400"/>
            <a:r>
              <a:rPr lang="en-US" altLang="en-US"/>
              <a:t>Kiến trúc đơn giản</a:t>
            </a:r>
          </a:p>
          <a:p>
            <a:pPr marL="990600" lvl="1" indent="-533400"/>
            <a:r>
              <a:rPr lang="en-US" altLang="en-US"/>
              <a:t>Bộ lệnh đơn giản</a:t>
            </a:r>
          </a:p>
          <a:p>
            <a:pPr marL="609600" indent="-609600"/>
            <a:r>
              <a:rPr lang="en-US" altLang="en-US"/>
              <a:t>Máy ngăn xếp có hai vùng bộ nhớ chính</a:t>
            </a:r>
          </a:p>
          <a:p>
            <a:pPr marL="990600" lvl="1" indent="-533400"/>
            <a:r>
              <a:rPr lang="en-US" altLang="en-US" b="1"/>
              <a:t>Khối lệnh:</a:t>
            </a:r>
            <a:r>
              <a:rPr lang="en-US" altLang="en-US"/>
              <a:t> </a:t>
            </a:r>
          </a:p>
          <a:p>
            <a:pPr marL="1371600" lvl="2" indent="-457200"/>
            <a:r>
              <a:rPr lang="en-US" altLang="en-US"/>
              <a:t>Chứa mã thực thi của chương trình</a:t>
            </a:r>
          </a:p>
          <a:p>
            <a:pPr marL="990600" lvl="1" indent="-533400"/>
            <a:r>
              <a:rPr lang="en-US" altLang="en-US" b="1"/>
              <a:t>Ngăn xếp:</a:t>
            </a:r>
            <a:r>
              <a:rPr lang="en-US" altLang="en-US"/>
              <a:t> </a:t>
            </a:r>
          </a:p>
          <a:p>
            <a:pPr marL="1371600" lvl="2" indent="-457200"/>
            <a:r>
              <a:rPr lang="en-US" altLang="en-US"/>
              <a:t>Lưu trữ các kết quả trung gian</a:t>
            </a:r>
          </a:p>
        </p:txBody>
      </p:sp>
      <p:sp>
        <p:nvSpPr>
          <p:cNvPr id="18114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81146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Môi trường thực hiện</a:t>
            </a:r>
            <a:endParaRPr lang="en-US" altLang="en-US" sz="2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EA0781-5696-428A-B271-86EFC4586EDA}" type="slidenum">
              <a:rPr lang="en-US" altLang="en-US"/>
              <a:pPr/>
              <a:t>72</a:t>
            </a:fld>
            <a:endParaRPr lang="en-US" altLang="en-US"/>
          </a:p>
        </p:txBody>
      </p:sp>
      <p:grpSp>
        <p:nvGrpSpPr>
          <p:cNvPr id="1812483" name="Group 3"/>
          <p:cNvGrpSpPr>
            <a:grpSpLocks/>
          </p:cNvGrpSpPr>
          <p:nvPr/>
        </p:nvGrpSpPr>
        <p:grpSpPr bwMode="auto">
          <a:xfrm>
            <a:off x="533400" y="1600200"/>
            <a:ext cx="8153400" cy="5029200"/>
            <a:chOff x="336" y="1008"/>
            <a:chExt cx="5136" cy="3168"/>
          </a:xfrm>
        </p:grpSpPr>
        <p:sp>
          <p:nvSpPr>
            <p:cNvPr id="1812484" name="Rectangle 5"/>
            <p:cNvSpPr>
              <a:spLocks noChangeArrowheads="1"/>
            </p:cNvSpPr>
            <p:nvPr/>
          </p:nvSpPr>
          <p:spPr bwMode="auto">
            <a:xfrm>
              <a:off x="1392" y="1200"/>
              <a:ext cx="912" cy="288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JMP 2</a:t>
              </a:r>
            </a:p>
          </p:txBody>
        </p:sp>
        <p:sp>
          <p:nvSpPr>
            <p:cNvPr id="1812485" name="Rectangle 6"/>
            <p:cNvSpPr>
              <a:spLocks noChangeArrowheads="1"/>
            </p:cNvSpPr>
            <p:nvPr/>
          </p:nvSpPr>
          <p:spPr bwMode="auto">
            <a:xfrm>
              <a:off x="1392" y="1488"/>
              <a:ext cx="912" cy="288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INC 4</a:t>
              </a:r>
            </a:p>
          </p:txBody>
        </p:sp>
        <p:sp>
          <p:nvSpPr>
            <p:cNvPr id="1812486" name="Rectangle 7"/>
            <p:cNvSpPr>
              <a:spLocks noChangeArrowheads="1"/>
            </p:cNvSpPr>
            <p:nvPr/>
          </p:nvSpPr>
          <p:spPr bwMode="auto">
            <a:xfrm>
              <a:off x="1392" y="1776"/>
              <a:ext cx="912" cy="288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LA 0,4</a:t>
              </a:r>
            </a:p>
          </p:txBody>
        </p:sp>
        <p:sp>
          <p:nvSpPr>
            <p:cNvPr id="1812487" name="Rectangle 8"/>
            <p:cNvSpPr>
              <a:spLocks noChangeArrowheads="1"/>
            </p:cNvSpPr>
            <p:nvPr/>
          </p:nvSpPr>
          <p:spPr bwMode="auto">
            <a:xfrm>
              <a:off x="1392" y="2064"/>
              <a:ext cx="912" cy="288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LC 1</a:t>
              </a:r>
            </a:p>
          </p:txBody>
        </p:sp>
        <p:sp>
          <p:nvSpPr>
            <p:cNvPr id="1812488" name="Rectangle 9"/>
            <p:cNvSpPr>
              <a:spLocks noChangeArrowheads="1"/>
            </p:cNvSpPr>
            <p:nvPr/>
          </p:nvSpPr>
          <p:spPr bwMode="auto">
            <a:xfrm>
              <a:off x="1392" y="2352"/>
              <a:ext cx="912" cy="288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ST</a:t>
              </a:r>
            </a:p>
          </p:txBody>
        </p:sp>
        <p:sp>
          <p:nvSpPr>
            <p:cNvPr id="1812489" name="Rectangle 10"/>
            <p:cNvSpPr>
              <a:spLocks noChangeArrowheads="1"/>
            </p:cNvSpPr>
            <p:nvPr/>
          </p:nvSpPr>
          <p:spPr bwMode="auto">
            <a:xfrm>
              <a:off x="1392" y="2640"/>
              <a:ext cx="912" cy="1056"/>
            </a:xfrm>
            <a:prstGeom prst="rect">
              <a:avLst/>
            </a:prstGeom>
            <a:solidFill>
              <a:srgbClr val="00B8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fr-FR" altLang="en-US" sz="2400" b="0">
                <a:cs typeface="Arial" panose="020B0604020202020204" pitchFamily="34" charset="0"/>
              </a:endParaRPr>
            </a:p>
          </p:txBody>
        </p:sp>
        <p:sp>
          <p:nvSpPr>
            <p:cNvPr id="1812490" name="Rectangle 11"/>
            <p:cNvSpPr>
              <a:spLocks noChangeArrowheads="1"/>
            </p:cNvSpPr>
            <p:nvPr/>
          </p:nvSpPr>
          <p:spPr bwMode="auto">
            <a:xfrm>
              <a:off x="3408" y="1020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RV</a:t>
              </a:r>
            </a:p>
          </p:txBody>
        </p:sp>
        <p:sp>
          <p:nvSpPr>
            <p:cNvPr id="1812491" name="Rectangle 12"/>
            <p:cNvSpPr>
              <a:spLocks noChangeArrowheads="1"/>
            </p:cNvSpPr>
            <p:nvPr/>
          </p:nvSpPr>
          <p:spPr bwMode="auto">
            <a:xfrm>
              <a:off x="3408" y="1308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DL</a:t>
              </a:r>
            </a:p>
          </p:txBody>
        </p:sp>
        <p:sp>
          <p:nvSpPr>
            <p:cNvPr id="1812492" name="Rectangle 13"/>
            <p:cNvSpPr>
              <a:spLocks noChangeArrowheads="1"/>
            </p:cNvSpPr>
            <p:nvPr/>
          </p:nvSpPr>
          <p:spPr bwMode="auto">
            <a:xfrm>
              <a:off x="3408" y="1596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RA</a:t>
              </a:r>
            </a:p>
          </p:txBody>
        </p:sp>
        <p:sp>
          <p:nvSpPr>
            <p:cNvPr id="1812493" name="Rectangle 14"/>
            <p:cNvSpPr>
              <a:spLocks noChangeArrowheads="1"/>
            </p:cNvSpPr>
            <p:nvPr/>
          </p:nvSpPr>
          <p:spPr bwMode="auto">
            <a:xfrm>
              <a:off x="3408" y="1884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SL</a:t>
              </a:r>
            </a:p>
          </p:txBody>
        </p:sp>
        <p:sp>
          <p:nvSpPr>
            <p:cNvPr id="1812494" name="Rectangle 15"/>
            <p:cNvSpPr>
              <a:spLocks noChangeArrowheads="1"/>
            </p:cNvSpPr>
            <p:nvPr/>
          </p:nvSpPr>
          <p:spPr bwMode="auto">
            <a:xfrm>
              <a:off x="3408" y="2172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P1</a:t>
              </a:r>
            </a:p>
          </p:txBody>
        </p:sp>
        <p:sp>
          <p:nvSpPr>
            <p:cNvPr id="1812495" name="Rectangle 16"/>
            <p:cNvSpPr>
              <a:spLocks noChangeArrowheads="1"/>
            </p:cNvSpPr>
            <p:nvPr/>
          </p:nvSpPr>
          <p:spPr bwMode="auto">
            <a:xfrm>
              <a:off x="3408" y="2460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P2</a:t>
              </a:r>
            </a:p>
          </p:txBody>
        </p:sp>
        <p:sp>
          <p:nvSpPr>
            <p:cNvPr id="1812496" name="Rectangle 17"/>
            <p:cNvSpPr>
              <a:spLocks noChangeArrowheads="1"/>
            </p:cNvSpPr>
            <p:nvPr/>
          </p:nvSpPr>
          <p:spPr bwMode="auto">
            <a:xfrm>
              <a:off x="3408" y="2748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V1</a:t>
              </a:r>
            </a:p>
          </p:txBody>
        </p:sp>
        <p:sp>
          <p:nvSpPr>
            <p:cNvPr id="1812497" name="Rectangle 18"/>
            <p:cNvSpPr>
              <a:spLocks noChangeArrowheads="1"/>
            </p:cNvSpPr>
            <p:nvPr/>
          </p:nvSpPr>
          <p:spPr bwMode="auto">
            <a:xfrm>
              <a:off x="3408" y="3036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1812498" name="Rectangle 19"/>
            <p:cNvSpPr>
              <a:spLocks noChangeArrowheads="1"/>
            </p:cNvSpPr>
            <p:nvPr/>
          </p:nvSpPr>
          <p:spPr bwMode="auto">
            <a:xfrm>
              <a:off x="3408" y="3324"/>
              <a:ext cx="912" cy="282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tmp1</a:t>
              </a:r>
            </a:p>
          </p:txBody>
        </p:sp>
        <p:sp>
          <p:nvSpPr>
            <p:cNvPr id="1812499" name="Rectangle 20"/>
            <p:cNvSpPr>
              <a:spLocks noChangeArrowheads="1"/>
            </p:cNvSpPr>
            <p:nvPr/>
          </p:nvSpPr>
          <p:spPr bwMode="auto">
            <a:xfrm>
              <a:off x="3408" y="3606"/>
              <a:ext cx="912" cy="288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endParaRPr lang="fr-FR" altLang="en-US" sz="2400" b="0">
                <a:cs typeface="Arial" panose="020B0604020202020204" pitchFamily="34" charset="0"/>
              </a:endParaRPr>
            </a:p>
          </p:txBody>
        </p:sp>
        <p:sp>
          <p:nvSpPr>
            <p:cNvPr id="1812500" name="TextBox 23"/>
            <p:cNvSpPr txBox="1">
              <a:spLocks noChangeArrowheads="1"/>
            </p:cNvSpPr>
            <p:nvPr/>
          </p:nvSpPr>
          <p:spPr bwMode="auto">
            <a:xfrm>
              <a:off x="336" y="1440"/>
              <a:ext cx="558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27007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1812501" name="TextBox 24"/>
            <p:cNvSpPr txBox="1">
              <a:spLocks noChangeArrowheads="1"/>
            </p:cNvSpPr>
            <p:nvPr/>
          </p:nvSpPr>
          <p:spPr bwMode="auto">
            <a:xfrm>
              <a:off x="4992" y="1008"/>
              <a:ext cx="432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27007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812502" name="TextBox 25"/>
            <p:cNvSpPr txBox="1">
              <a:spLocks noChangeArrowheads="1"/>
            </p:cNvSpPr>
            <p:nvPr/>
          </p:nvSpPr>
          <p:spPr bwMode="auto">
            <a:xfrm>
              <a:off x="5040" y="3318"/>
              <a:ext cx="432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27007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T</a:t>
              </a:r>
            </a:p>
          </p:txBody>
        </p:sp>
        <p:cxnSp>
          <p:nvCxnSpPr>
            <p:cNvPr id="1812503" name="Straight Arrow Connector 27"/>
            <p:cNvCxnSpPr>
              <a:cxnSpLocks noChangeShapeType="1"/>
              <a:endCxn id="1812485" idx="1"/>
            </p:cNvCxnSpPr>
            <p:nvPr/>
          </p:nvCxnSpPr>
          <p:spPr bwMode="auto">
            <a:xfrm>
              <a:off x="912" y="1631"/>
              <a:ext cx="480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12504" name="Straight Arrow Connector 29"/>
            <p:cNvCxnSpPr>
              <a:cxnSpLocks noChangeShapeType="1"/>
              <a:stCxn id="1812501" idx="1"/>
              <a:endCxn id="1812490" idx="3"/>
            </p:cNvCxnSpPr>
            <p:nvPr/>
          </p:nvCxnSpPr>
          <p:spPr bwMode="auto">
            <a:xfrm flipH="1">
              <a:off x="4320" y="1155"/>
              <a:ext cx="672" cy="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12505" name="Straight Arrow Connector 31"/>
            <p:cNvCxnSpPr>
              <a:cxnSpLocks noChangeShapeType="1"/>
              <a:stCxn id="1812502" idx="1"/>
              <a:endCxn id="1812498" idx="3"/>
            </p:cNvCxnSpPr>
            <p:nvPr/>
          </p:nvCxnSpPr>
          <p:spPr bwMode="auto">
            <a:xfrm flipH="1">
              <a:off x="4320" y="3465"/>
              <a:ext cx="72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12506" name="Line 30"/>
            <p:cNvSpPr>
              <a:spLocks noChangeShapeType="1"/>
            </p:cNvSpPr>
            <p:nvPr/>
          </p:nvSpPr>
          <p:spPr bwMode="auto">
            <a:xfrm>
              <a:off x="3216" y="1590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2507" name="TextBox 25"/>
            <p:cNvSpPr txBox="1">
              <a:spLocks noChangeArrowheads="1"/>
            </p:cNvSpPr>
            <p:nvPr/>
          </p:nvSpPr>
          <p:spPr bwMode="auto">
            <a:xfrm>
              <a:off x="2736" y="2256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1800" b="0">
                  <a:cs typeface="Arial" panose="020B0604020202020204" pitchFamily="34" charset="0"/>
                </a:rPr>
                <a:t>T </a:t>
              </a:r>
              <a:r>
                <a:rPr lang="en-US" altLang="en-US" sz="1800" b="0">
                  <a:cs typeface="Arial" panose="020B0604020202020204" pitchFamily="34" charset="0"/>
                  <a:sym typeface="Symbol" panose="05050102010706020507" pitchFamily="18" charset="2"/>
                </a:rPr>
                <a:t></a:t>
              </a:r>
            </a:p>
          </p:txBody>
        </p:sp>
        <p:sp>
          <p:nvSpPr>
            <p:cNvPr id="1812508" name="TextBox 22"/>
            <p:cNvSpPr txBox="1">
              <a:spLocks noChangeArrowheads="1"/>
            </p:cNvSpPr>
            <p:nvPr/>
          </p:nvSpPr>
          <p:spPr bwMode="auto">
            <a:xfrm>
              <a:off x="3600" y="3888"/>
              <a:ext cx="5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Stack</a:t>
              </a:r>
            </a:p>
          </p:txBody>
        </p:sp>
        <p:sp>
          <p:nvSpPr>
            <p:cNvPr id="1812509" name="TextBox 21"/>
            <p:cNvSpPr txBox="1">
              <a:spLocks noChangeArrowheads="1"/>
            </p:cNvSpPr>
            <p:nvPr/>
          </p:nvSpPr>
          <p:spPr bwMode="auto">
            <a:xfrm>
              <a:off x="1344" y="3792"/>
              <a:ext cx="1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defTabSz="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altLang="en-US" sz="2400" b="0">
                  <a:cs typeface="Arial" panose="020B0604020202020204" pitchFamily="34" charset="0"/>
                </a:rPr>
                <a:t>Code buffer</a:t>
              </a:r>
            </a:p>
          </p:txBody>
        </p:sp>
      </p:grpSp>
      <p:sp>
        <p:nvSpPr>
          <p:cNvPr id="1812510" name="Text Box 30"/>
          <p:cNvSpPr txBox="1">
            <a:spLocks noChangeArrowheads="1"/>
          </p:cNvSpPr>
          <p:nvPr/>
        </p:nvSpPr>
        <p:spPr bwMode="auto">
          <a:xfrm>
            <a:off x="228600" y="838200"/>
            <a:ext cx="815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altLang="en-US" sz="3200"/>
              <a:t>PC, B, T</a:t>
            </a:r>
            <a:r>
              <a:rPr lang="fr-FR" altLang="en-US" sz="3200" b="0"/>
              <a:t>  là các thanh ghi của máy</a:t>
            </a:r>
            <a:endParaRPr lang="en-US" altLang="en-US" sz="3200" b="0"/>
          </a:p>
        </p:txBody>
      </p:sp>
      <p:sp>
        <p:nvSpPr>
          <p:cNvPr id="1812511" name="Text Box 31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812513" name="Rectangle 3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2. Máy ngăn xếp</a:t>
            </a:r>
            <a:endParaRPr lang="en-US" altLang="en-US" sz="2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5B7EA7-926A-48C3-97A1-21B2F32EA660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1813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20000"/>
              </a:lnSpc>
            </a:pPr>
            <a:r>
              <a:rPr lang="en-US" altLang="en-US" b="1"/>
              <a:t>PC (program counter):</a:t>
            </a:r>
            <a:r>
              <a:rPr lang="en-US" altLang="en-US"/>
              <a:t> 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Con trỏ lệnh trỏ tới lệnh hiện tại đang thực thi trên bộ đệm chương trình</a:t>
            </a:r>
          </a:p>
          <a:p>
            <a:pPr marL="347663" indent="-347663">
              <a:lnSpc>
                <a:spcPct val="120000"/>
              </a:lnSpc>
            </a:pPr>
            <a:r>
              <a:rPr lang="en-US" altLang="en-US" b="1"/>
              <a:t>B (base):</a:t>
            </a:r>
            <a:r>
              <a:rPr lang="en-US" altLang="en-US"/>
              <a:t> 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Con trỏ trỏ tới địa chỉ cơ sở của </a:t>
            </a:r>
            <a:r>
              <a:rPr lang="en-US" altLang="en-US" b="1"/>
              <a:t>vùng nhớ cục bộ</a:t>
            </a:r>
            <a:r>
              <a:rPr lang="en-US" altLang="en-US"/>
              <a:t>. Các biến cục bộ được truy xuất gián tiếp qua con trỏ này</a:t>
            </a:r>
          </a:p>
          <a:p>
            <a:pPr marL="347663" indent="-347663">
              <a:lnSpc>
                <a:spcPct val="120000"/>
              </a:lnSpc>
            </a:pPr>
            <a:r>
              <a:rPr lang="en-US" altLang="en-US" b="1"/>
              <a:t>T (top);</a:t>
            </a:r>
            <a:r>
              <a:rPr lang="en-US" altLang="en-US"/>
              <a:t> 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Con trỏ, trỏ tới đỉnh của ngăn xếp</a:t>
            </a:r>
          </a:p>
        </p:txBody>
      </p:sp>
      <p:sp>
        <p:nvSpPr>
          <p:cNvPr id="1813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Máy ngăn xếp </a:t>
            </a:r>
            <a:r>
              <a:rPr lang="en-US" altLang="en-US" sz="2800">
                <a:sym typeface="Symbol" panose="05050102010706020507" pitchFamily="18" charset="2"/>
              </a:rPr>
              <a:t> Thanh ghi</a:t>
            </a:r>
          </a:p>
        </p:txBody>
      </p:sp>
      <p:sp>
        <p:nvSpPr>
          <p:cNvPr id="181350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5277F0-EFD6-4C86-9589-26326027F7AF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1814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20000"/>
              </a:lnSpc>
            </a:pPr>
            <a:r>
              <a:rPr lang="en-US" altLang="en-US"/>
              <a:t>Không gian nhớ cấp phát cho mỗi chương trình con (</a:t>
            </a:r>
            <a:r>
              <a:rPr lang="en-US" altLang="en-US" i="1"/>
              <a:t>hàm/thủ tục/chương trình chính</a:t>
            </a:r>
            <a:r>
              <a:rPr lang="en-US" altLang="en-US"/>
              <a:t>) khi chúng được kích hoạt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Lưu giá trị tham số 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Lưu giá trị biến cục bộ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/>
              <a:t>Lưu các thông tin quan trọng khác: </a:t>
            </a:r>
          </a:p>
          <a:p>
            <a:pPr marL="1257300" lvl="2">
              <a:lnSpc>
                <a:spcPct val="120000"/>
              </a:lnSpc>
            </a:pPr>
            <a:r>
              <a:rPr lang="en-US" altLang="en-US"/>
              <a:t>RV, DL, RA, SL</a:t>
            </a:r>
          </a:p>
          <a:p>
            <a:pPr marL="347663" indent="-347663">
              <a:lnSpc>
                <a:spcPct val="120000"/>
              </a:lnSpc>
            </a:pPr>
            <a:r>
              <a:rPr lang="en-US" altLang="en-US"/>
              <a:t>Một chương trình con có thể có nhiều bản hoạt động</a:t>
            </a:r>
          </a:p>
        </p:txBody>
      </p:sp>
      <p:sp>
        <p:nvSpPr>
          <p:cNvPr id="1814536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814537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2. Máy ngăn xếp </a:t>
            </a:r>
            <a:r>
              <a:rPr lang="fr-FR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>
                <a:sym typeface="Symbol" panose="05050102010706020507" pitchFamily="18" charset="2"/>
              </a:rPr>
              <a:t>Bản hoạt động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DCCDFA-605A-4095-9913-9C09A9A09F4E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1815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926137"/>
          </a:xfrm>
        </p:spPr>
        <p:txBody>
          <a:bodyPr/>
          <a:lstStyle/>
          <a:p>
            <a:pPr marL="347663" indent="-347663">
              <a:lnSpc>
                <a:spcPct val="85000"/>
              </a:lnSpc>
            </a:pPr>
            <a:r>
              <a:rPr lang="en-US" altLang="en-US" sz="2800"/>
              <a:t>RV (</a:t>
            </a:r>
            <a:r>
              <a:rPr lang="en-US" altLang="en-US" sz="2800" i="1">
                <a:solidFill>
                  <a:srgbClr val="0033CC"/>
                </a:solidFill>
              </a:rPr>
              <a:t>return value</a:t>
            </a:r>
            <a:r>
              <a:rPr lang="en-US" altLang="en-US" sz="2800"/>
              <a:t>):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Lưu trữ giá trị trả về cho mỗi hàm</a:t>
            </a:r>
          </a:p>
          <a:p>
            <a:pPr marL="347663" indent="-347663">
              <a:lnSpc>
                <a:spcPct val="85000"/>
              </a:lnSpc>
            </a:pPr>
            <a:r>
              <a:rPr lang="en-US" altLang="en-US" sz="2800"/>
              <a:t>DL (</a:t>
            </a:r>
            <a:r>
              <a:rPr lang="en-US" altLang="en-US" sz="2800" i="1">
                <a:solidFill>
                  <a:srgbClr val="0033CC"/>
                </a:solidFill>
              </a:rPr>
              <a:t>dynamic link</a:t>
            </a:r>
            <a:r>
              <a:rPr lang="en-US" altLang="en-US" sz="2800"/>
              <a:t>):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Địa chỉ cơ sở của bản hoạt động của chương trình con gọi tới nó (caller).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Được sử dụng để hồi phục ngữ cảnh của chương trình gọi (caller) khi chương trình được gọi (called) kết thúc</a:t>
            </a:r>
          </a:p>
          <a:p>
            <a:pPr marL="347663" indent="-347663">
              <a:lnSpc>
                <a:spcPct val="85000"/>
              </a:lnSpc>
            </a:pPr>
            <a:r>
              <a:rPr lang="en-US" altLang="en-US" sz="2800"/>
              <a:t>RA (</a:t>
            </a:r>
            <a:r>
              <a:rPr lang="en-US" altLang="en-US" sz="2800" i="1">
                <a:solidFill>
                  <a:srgbClr val="0033CC"/>
                </a:solidFill>
              </a:rPr>
              <a:t>return address</a:t>
            </a:r>
            <a:r>
              <a:rPr lang="en-US" altLang="en-US" sz="2800"/>
              <a:t>):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Địa chỉ lệnh quay về khi kết thúc chương trình con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Sử dụng để tìm tới lệnh tiếp theo của caller khi called kết thúc</a:t>
            </a:r>
          </a:p>
          <a:p>
            <a:pPr marL="347663" indent="-347663">
              <a:lnSpc>
                <a:spcPct val="85000"/>
              </a:lnSpc>
            </a:pPr>
            <a:r>
              <a:rPr lang="en-US" altLang="en-US" sz="2800"/>
              <a:t>SL (</a:t>
            </a:r>
            <a:r>
              <a:rPr lang="en-US" altLang="en-US" sz="2800" i="1">
                <a:solidFill>
                  <a:srgbClr val="0033CC"/>
                </a:solidFill>
              </a:rPr>
              <a:t>static link</a:t>
            </a:r>
            <a:r>
              <a:rPr lang="en-US" altLang="en-US" sz="2800"/>
              <a:t>):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Địa chỉ cơ sở của bản hoạt động của chương trình con bao ngoài chương trình được gọi 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/>
              <a:t>Sử dụng để truy nhập các biến phi cục bộ</a:t>
            </a:r>
          </a:p>
        </p:txBody>
      </p:sp>
      <p:sp>
        <p:nvSpPr>
          <p:cNvPr id="181555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815558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fr-FR" altLang="en-US" sz="2800"/>
              <a:t>2. Máy ngăn xếp </a:t>
            </a:r>
            <a:r>
              <a:rPr lang="fr-FR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>
                <a:sym typeface="Symbol" panose="05050102010706020507" pitchFamily="18" charset="2"/>
              </a:rPr>
              <a:t>Bản hoạt động (stack frame)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65879511-B9FF-AF76-B540-82532213D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C0E372-1EC8-4868-81BC-AB1B9ED21C09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339" name="Text Box 59">
            <a:extLst>
              <a:ext uri="{FF2B5EF4-FFF2-40B4-BE49-F238E27FC236}">
                <a16:creationId xmlns:a16="http://schemas.microsoft.com/office/drawing/2014/main" id="{1228D1E4-B55D-9AC7-8533-39E74FF61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9013"/>
            <a:ext cx="4267200" cy="55943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Procedure P(I : integer);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Var a : integer;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Function Q;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Var x : char;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Begin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	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  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End;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Procedure R(X: integer);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Var y : char;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Begin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  y = Call Q;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End;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Begin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Call R(1);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Courier New" panose="02070309020205020404" pitchFamily="49" charset="0"/>
              </a:rPr>
              <a:t>  End;</a:t>
            </a: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AA2710EB-EF91-913B-CD5A-C1110933C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bg1"/>
                </a:solidFill>
              </a:rPr>
              <a:t>Máy ngăn xếp </a:t>
            </a:r>
            <a:r>
              <a:rPr lang="en-US" altLang="en-US" sz="3600">
                <a:solidFill>
                  <a:schemeClr val="bg1"/>
                </a:solidFill>
                <a:sym typeface="Symbol" panose="05050102010706020507" pitchFamily="18" charset="2"/>
              </a:rPr>
              <a:t> Bản hoạt động  Ví dụ</a:t>
            </a:r>
          </a:p>
        </p:txBody>
      </p:sp>
      <p:sp>
        <p:nvSpPr>
          <p:cNvPr id="14341" name="Rectangle 28">
            <a:extLst>
              <a:ext uri="{FF2B5EF4-FFF2-40B4-BE49-F238E27FC236}">
                <a16:creationId xmlns:a16="http://schemas.microsoft.com/office/drawing/2014/main" id="{4536BF9B-2F3D-031D-CFB5-E8D642B36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1600200"/>
            <a:ext cx="1447800" cy="3048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342" name="Rectangle 30">
            <a:extLst>
              <a:ext uri="{FF2B5EF4-FFF2-40B4-BE49-F238E27FC236}">
                <a16:creationId xmlns:a16="http://schemas.microsoft.com/office/drawing/2014/main" id="{195F03A4-988D-51A6-5BF9-AE5C7532C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1905000"/>
            <a:ext cx="1447800" cy="15240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RV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DL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RA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SL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Param I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Local a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chemeClr val="tx1"/>
                </a:solidFill>
                <a:cs typeface="Arial" panose="020B0604020202020204" pitchFamily="34" charset="0"/>
              </a:rPr>
              <a:t>…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en-US" altLang="en-US" sz="1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4343" name="Right Brace 68">
            <a:extLst>
              <a:ext uri="{FF2B5EF4-FFF2-40B4-BE49-F238E27FC236}">
                <a16:creationId xmlns:a16="http://schemas.microsoft.com/office/drawing/2014/main" id="{143F0804-31B2-3606-516E-57C1841C6B7C}"/>
              </a:ext>
            </a:extLst>
          </p:cNvPr>
          <p:cNvSpPr>
            <a:spLocks/>
          </p:cNvSpPr>
          <p:nvPr/>
        </p:nvSpPr>
        <p:spPr bwMode="auto">
          <a:xfrm>
            <a:off x="7688263" y="1905000"/>
            <a:ext cx="228600" cy="15240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fr-FR" altLang="en-US" sz="18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344" name="TextBox 69">
            <a:extLst>
              <a:ext uri="{FF2B5EF4-FFF2-40B4-BE49-F238E27FC236}">
                <a16:creationId xmlns:a16="http://schemas.microsoft.com/office/drawing/2014/main" id="{338DFCF6-7E20-6817-B37E-6FD7C0BC7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0663" y="2514600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>
                <a:solidFill>
                  <a:schemeClr val="tx1"/>
                </a:solidFill>
                <a:cs typeface="Arial" panose="020B0604020202020204" pitchFamily="34" charset="0"/>
              </a:rPr>
              <a:t>P frame</a:t>
            </a:r>
          </a:p>
        </p:txBody>
      </p:sp>
      <p:sp>
        <p:nvSpPr>
          <p:cNvPr id="1496124" name="AutoShape 60">
            <a:extLst>
              <a:ext uri="{FF2B5EF4-FFF2-40B4-BE49-F238E27FC236}">
                <a16:creationId xmlns:a16="http://schemas.microsoft.com/office/drawing/2014/main" id="{996F6A5C-F42C-E568-C1FF-1E01B2421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400675"/>
            <a:ext cx="914400" cy="161925"/>
          </a:xfrm>
          <a:prstGeom prst="rightArrow">
            <a:avLst>
              <a:gd name="adj1" fmla="val 50000"/>
              <a:gd name="adj2" fmla="val 1411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25" name="AutoShape 61">
            <a:extLst>
              <a:ext uri="{FF2B5EF4-FFF2-40B4-BE49-F238E27FC236}">
                <a16:creationId xmlns:a16="http://schemas.microsoft.com/office/drawing/2014/main" id="{E44DD393-DCFB-B438-1B80-3B1688537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7912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26" name="AutoShape 62">
            <a:extLst>
              <a:ext uri="{FF2B5EF4-FFF2-40B4-BE49-F238E27FC236}">
                <a16:creationId xmlns:a16="http://schemas.microsoft.com/office/drawing/2014/main" id="{7B896AE6-80C1-9C5E-79C8-F1226B0F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3995738"/>
            <a:ext cx="947737" cy="130175"/>
          </a:xfrm>
          <a:prstGeom prst="rightArrow">
            <a:avLst>
              <a:gd name="adj1" fmla="val 50000"/>
              <a:gd name="adj2" fmla="val 1820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27" name="AutoShape 63">
            <a:extLst>
              <a:ext uri="{FF2B5EF4-FFF2-40B4-BE49-F238E27FC236}">
                <a16:creationId xmlns:a16="http://schemas.microsoft.com/office/drawing/2014/main" id="{B0C1C760-515D-46FA-BDFC-51DDFEB5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419600"/>
            <a:ext cx="1143000" cy="152400"/>
          </a:xfrm>
          <a:prstGeom prst="rightArrow">
            <a:avLst>
              <a:gd name="adj1" fmla="val 50000"/>
              <a:gd name="adj2" fmla="val 1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28" name="AutoShape 64">
            <a:extLst>
              <a:ext uri="{FF2B5EF4-FFF2-40B4-BE49-F238E27FC236}">
                <a16:creationId xmlns:a16="http://schemas.microsoft.com/office/drawing/2014/main" id="{85132A51-07F9-1651-50F0-AE9E3F317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314575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29" name="AutoShape 65">
            <a:extLst>
              <a:ext uri="{FF2B5EF4-FFF2-40B4-BE49-F238E27FC236}">
                <a16:creationId xmlns:a16="http://schemas.microsoft.com/office/drawing/2014/main" id="{7D924F51-423F-85A3-96D9-3FB1DB8B6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74320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30" name="AutoShape 66">
            <a:extLst>
              <a:ext uri="{FF2B5EF4-FFF2-40B4-BE49-F238E27FC236}">
                <a16:creationId xmlns:a16="http://schemas.microsoft.com/office/drawing/2014/main" id="{7FAAADC3-AC3F-4E67-AE4B-54D4591FD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572000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96131" name="AutoShape 67">
            <a:extLst>
              <a:ext uri="{FF2B5EF4-FFF2-40B4-BE49-F238E27FC236}">
                <a16:creationId xmlns:a16="http://schemas.microsoft.com/office/drawing/2014/main" id="{E62658B8-6122-18A0-98ED-C48DDC6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0198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sp>
        <p:nvSpPr>
          <p:cNvPr id="14353" name="Text Box 68">
            <a:extLst>
              <a:ext uri="{FF2B5EF4-FFF2-40B4-BE49-F238E27FC236}">
                <a16:creationId xmlns:a16="http://schemas.microsoft.com/office/drawing/2014/main" id="{C2FE89DC-A1FC-5776-5968-AFB7C4327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0668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>
                <a:solidFill>
                  <a:schemeClr val="tx1"/>
                </a:solidFill>
              </a:rPr>
              <a:t>Stack</a:t>
            </a:r>
          </a:p>
        </p:txBody>
      </p:sp>
      <p:grpSp>
        <p:nvGrpSpPr>
          <p:cNvPr id="1496137" name="Group 73">
            <a:extLst>
              <a:ext uri="{FF2B5EF4-FFF2-40B4-BE49-F238E27FC236}">
                <a16:creationId xmlns:a16="http://schemas.microsoft.com/office/drawing/2014/main" id="{B9B551F4-E9FD-9917-8449-8D8C7A9870B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19288"/>
            <a:ext cx="7315200" cy="4100512"/>
            <a:chOff x="1008" y="1209"/>
            <a:chExt cx="4608" cy="2583"/>
          </a:xfrm>
        </p:grpSpPr>
        <p:sp>
          <p:nvSpPr>
            <p:cNvPr id="14363" name="TextBox 70">
              <a:extLst>
                <a:ext uri="{FF2B5EF4-FFF2-40B4-BE49-F238E27FC236}">
                  <a16:creationId xmlns:a16="http://schemas.microsoft.com/office/drawing/2014/main" id="{533871A8-F957-A668-54A0-2613A19B5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8" y="2448"/>
              <a:ext cx="6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cs typeface="Arial" panose="020B0604020202020204" pitchFamily="34" charset="0"/>
                </a:rPr>
                <a:t>R frame</a:t>
              </a:r>
            </a:p>
          </p:txBody>
        </p:sp>
        <p:sp>
          <p:nvSpPr>
            <p:cNvPr id="14364" name="Rectangle 33">
              <a:extLst>
                <a:ext uri="{FF2B5EF4-FFF2-40B4-BE49-F238E27FC236}">
                  <a16:creationId xmlns:a16="http://schemas.microsoft.com/office/drawing/2014/main" id="{D58217AD-17E8-CC01-03F5-31079DF6E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2160"/>
              <a:ext cx="912" cy="10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RV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DL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RA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SL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param x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Local y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…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US" altLang="en-US" sz="140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65" name="Right Brace 67">
              <a:extLst>
                <a:ext uri="{FF2B5EF4-FFF2-40B4-BE49-F238E27FC236}">
                  <a16:creationId xmlns:a16="http://schemas.microsoft.com/office/drawing/2014/main" id="{C3B9BBA5-CD38-CCCC-7E35-3B10A7C48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" y="2160"/>
              <a:ext cx="143" cy="1008"/>
            </a:xfrm>
            <a:prstGeom prst="rightBrace">
              <a:avLst>
                <a:gd name="adj1" fmla="val 10378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fr-FR" altLang="en-US" sz="1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66" name="Freeform 70">
              <a:extLst>
                <a:ext uri="{FF2B5EF4-FFF2-40B4-BE49-F238E27FC236}">
                  <a16:creationId xmlns:a16="http://schemas.microsoft.com/office/drawing/2014/main" id="{8226ECEE-54EB-9FA2-CAC7-EFFEE9522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209"/>
              <a:ext cx="585" cy="1200"/>
            </a:xfrm>
            <a:custGeom>
              <a:avLst/>
              <a:gdLst>
                <a:gd name="T0" fmla="*/ 336 w 672"/>
                <a:gd name="T1" fmla="*/ 1200 h 1200"/>
                <a:gd name="T2" fmla="*/ 0 w 672"/>
                <a:gd name="T3" fmla="*/ 1200 h 1200"/>
                <a:gd name="T4" fmla="*/ 0 w 672"/>
                <a:gd name="T5" fmla="*/ 0 h 1200"/>
                <a:gd name="T6" fmla="*/ 145 w 672"/>
                <a:gd name="T7" fmla="*/ 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2" h="1200">
                  <a:moveTo>
                    <a:pt x="672" y="1200"/>
                  </a:moveTo>
                  <a:lnTo>
                    <a:pt x="0" y="1200"/>
                  </a:ln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28575" cmpd="sng">
              <a:solidFill>
                <a:srgbClr val="0033CC"/>
              </a:solidFill>
              <a:round/>
              <a:headEnd type="diamond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71">
              <a:extLst>
                <a:ext uri="{FF2B5EF4-FFF2-40B4-BE49-F238E27FC236}">
                  <a16:creationId xmlns:a16="http://schemas.microsoft.com/office/drawing/2014/main" id="{F5187CB9-70C9-F134-08F0-A202FC976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209"/>
              <a:ext cx="672" cy="1440"/>
            </a:xfrm>
            <a:custGeom>
              <a:avLst/>
              <a:gdLst>
                <a:gd name="T0" fmla="*/ 672 w 672"/>
                <a:gd name="T1" fmla="*/ 2987 h 1200"/>
                <a:gd name="T2" fmla="*/ 0 w 672"/>
                <a:gd name="T3" fmla="*/ 2987 h 1200"/>
                <a:gd name="T4" fmla="*/ 0 w 672"/>
                <a:gd name="T5" fmla="*/ 0 h 1200"/>
                <a:gd name="T6" fmla="*/ 288 w 672"/>
                <a:gd name="T7" fmla="*/ 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2" h="1200">
                  <a:moveTo>
                    <a:pt x="672" y="1200"/>
                  </a:moveTo>
                  <a:lnTo>
                    <a:pt x="0" y="1200"/>
                  </a:ln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28575" cmpd="sng">
              <a:solidFill>
                <a:srgbClr val="0033CC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72">
              <a:extLst>
                <a:ext uri="{FF2B5EF4-FFF2-40B4-BE49-F238E27FC236}">
                  <a16:creationId xmlns:a16="http://schemas.microsoft.com/office/drawing/2014/main" id="{0137B68B-31FD-1705-9C1C-E01EB7152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2496"/>
              <a:ext cx="2736" cy="1296"/>
            </a:xfrm>
            <a:custGeom>
              <a:avLst/>
              <a:gdLst>
                <a:gd name="T0" fmla="*/ 2736 w 2736"/>
                <a:gd name="T1" fmla="*/ 0 h 1296"/>
                <a:gd name="T2" fmla="*/ 2160 w 2736"/>
                <a:gd name="T3" fmla="*/ 0 h 1296"/>
                <a:gd name="T4" fmla="*/ 1776 w 2736"/>
                <a:gd name="T5" fmla="*/ 1296 h 1296"/>
                <a:gd name="T6" fmla="*/ 0 w 2736"/>
                <a:gd name="T7" fmla="*/ 1296 h 12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36" h="1296">
                  <a:moveTo>
                    <a:pt x="2736" y="0"/>
                  </a:moveTo>
                  <a:lnTo>
                    <a:pt x="2160" y="0"/>
                  </a:lnTo>
                  <a:lnTo>
                    <a:pt x="1776" y="1296"/>
                  </a:lnTo>
                  <a:lnTo>
                    <a:pt x="0" y="1296"/>
                  </a:lnTo>
                </a:path>
              </a:pathLst>
            </a:custGeom>
            <a:noFill/>
            <a:ln w="28575" cmpd="sng">
              <a:solidFill>
                <a:srgbClr val="0033CC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96142" name="Group 78">
            <a:extLst>
              <a:ext uri="{FF2B5EF4-FFF2-40B4-BE49-F238E27FC236}">
                <a16:creationId xmlns:a16="http://schemas.microsoft.com/office/drawing/2014/main" id="{A550D9BF-236C-F04C-F630-EFF32923791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05000"/>
            <a:ext cx="7310438" cy="4495800"/>
            <a:chOff x="1008" y="1200"/>
            <a:chExt cx="4605" cy="2832"/>
          </a:xfrm>
        </p:grpSpPr>
        <p:sp>
          <p:nvSpPr>
            <p:cNvPr id="14357" name="Rectangle 34">
              <a:extLst>
                <a:ext uri="{FF2B5EF4-FFF2-40B4-BE49-F238E27FC236}">
                  <a16:creationId xmlns:a16="http://schemas.microsoft.com/office/drawing/2014/main" id="{22698840-6F13-043F-8452-9C16C557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168"/>
              <a:ext cx="911" cy="864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RV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DL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RA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SL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cs typeface="Arial" panose="020B0604020202020204" pitchFamily="34" charset="0"/>
                </a:rPr>
                <a:t>Local x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US" altLang="en-US" sz="1400">
                <a:solidFill>
                  <a:schemeClr val="tx1"/>
                </a:solidFill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US" altLang="en-US" sz="1400">
                <a:solidFill>
                  <a:schemeClr val="tx1"/>
                </a:solidFill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en-US" altLang="en-US" sz="140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58" name="Right Brace 66">
              <a:extLst>
                <a:ext uri="{FF2B5EF4-FFF2-40B4-BE49-F238E27FC236}">
                  <a16:creationId xmlns:a16="http://schemas.microsoft.com/office/drawing/2014/main" id="{0931346F-3342-7A80-DFF0-CBBE9199C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3168"/>
              <a:ext cx="144" cy="816"/>
            </a:xfrm>
            <a:prstGeom prst="rightBrace">
              <a:avLst>
                <a:gd name="adj1" fmla="val 834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fr-FR" altLang="en-US" sz="1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59" name="TextBox 71">
              <a:extLst>
                <a:ext uri="{FF2B5EF4-FFF2-40B4-BE49-F238E27FC236}">
                  <a16:creationId xmlns:a16="http://schemas.microsoft.com/office/drawing/2014/main" id="{E6DE70BA-226D-9B25-32DB-588CEB5F4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7" y="3312"/>
              <a:ext cx="6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457200">
                <a:spcBef>
                  <a:spcPct val="20000"/>
                </a:spcBef>
                <a:buChar char="•"/>
                <a:defRPr sz="3200">
                  <a:solidFill>
                    <a:srgbClr val="220076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rgbClr val="220076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rgbClr val="220076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2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cs typeface="Arial" panose="020B0604020202020204" pitchFamily="34" charset="0"/>
                </a:rPr>
                <a:t>Q frame</a:t>
              </a:r>
            </a:p>
          </p:txBody>
        </p:sp>
        <p:sp>
          <p:nvSpPr>
            <p:cNvPr id="14360" name="Freeform 74">
              <a:extLst>
                <a:ext uri="{FF2B5EF4-FFF2-40B4-BE49-F238E27FC236}">
                  <a16:creationId xmlns:a16="http://schemas.microsoft.com/office/drawing/2014/main" id="{6C2F694D-5840-8AF0-DBBA-A59EDB0EA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2928"/>
              <a:ext cx="2736" cy="624"/>
            </a:xfrm>
            <a:custGeom>
              <a:avLst/>
              <a:gdLst>
                <a:gd name="T0" fmla="*/ 2736 w 2736"/>
                <a:gd name="T1" fmla="*/ 624 h 624"/>
                <a:gd name="T2" fmla="*/ 2160 w 2736"/>
                <a:gd name="T3" fmla="*/ 624 h 624"/>
                <a:gd name="T4" fmla="*/ 1776 w 2736"/>
                <a:gd name="T5" fmla="*/ 0 h 624"/>
                <a:gd name="T6" fmla="*/ 0 w 2736"/>
                <a:gd name="T7" fmla="*/ 0 h 6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36" h="624">
                  <a:moveTo>
                    <a:pt x="2736" y="624"/>
                  </a:moveTo>
                  <a:lnTo>
                    <a:pt x="2160" y="624"/>
                  </a:lnTo>
                  <a:lnTo>
                    <a:pt x="1776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996600"/>
              </a:solidFill>
              <a:round/>
              <a:headEnd type="diamond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75">
              <a:extLst>
                <a:ext uri="{FF2B5EF4-FFF2-40B4-BE49-F238E27FC236}">
                  <a16:creationId xmlns:a16="http://schemas.microsoft.com/office/drawing/2014/main" id="{408B571D-E2DA-6BFA-9991-A25524AC4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160"/>
              <a:ext cx="528" cy="1248"/>
            </a:xfrm>
            <a:custGeom>
              <a:avLst/>
              <a:gdLst>
                <a:gd name="T0" fmla="*/ 0 w 528"/>
                <a:gd name="T1" fmla="*/ 1248 h 1248"/>
                <a:gd name="T2" fmla="*/ 528 w 528"/>
                <a:gd name="T3" fmla="*/ 1248 h 1248"/>
                <a:gd name="T4" fmla="*/ 528 w 528"/>
                <a:gd name="T5" fmla="*/ 0 h 1248"/>
                <a:gd name="T6" fmla="*/ 336 w 528"/>
                <a:gd name="T7" fmla="*/ 0 h 12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1248">
                  <a:moveTo>
                    <a:pt x="0" y="1248"/>
                  </a:moveTo>
                  <a:lnTo>
                    <a:pt x="528" y="1248"/>
                  </a:lnTo>
                  <a:lnTo>
                    <a:pt x="528" y="0"/>
                  </a:lnTo>
                  <a:lnTo>
                    <a:pt x="336" y="0"/>
                  </a:lnTo>
                </a:path>
              </a:pathLst>
            </a:custGeom>
            <a:noFill/>
            <a:ln w="28575" cmpd="sng">
              <a:solidFill>
                <a:srgbClr val="996600"/>
              </a:solidFill>
              <a:round/>
              <a:headEnd type="diamond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76">
              <a:extLst>
                <a:ext uri="{FF2B5EF4-FFF2-40B4-BE49-F238E27FC236}">
                  <a16:creationId xmlns:a16="http://schemas.microsoft.com/office/drawing/2014/main" id="{19E4E241-B44C-C35C-DF01-D8D8DC904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200"/>
              <a:ext cx="672" cy="2496"/>
            </a:xfrm>
            <a:custGeom>
              <a:avLst/>
              <a:gdLst>
                <a:gd name="T0" fmla="*/ 0 w 672"/>
                <a:gd name="T1" fmla="*/ 2496 h 2496"/>
                <a:gd name="T2" fmla="*/ 672 w 672"/>
                <a:gd name="T3" fmla="*/ 2496 h 2496"/>
                <a:gd name="T4" fmla="*/ 672 w 672"/>
                <a:gd name="T5" fmla="*/ 0 h 2496"/>
                <a:gd name="T6" fmla="*/ 336 w 672"/>
                <a:gd name="T7" fmla="*/ 0 h 24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2" h="2496">
                  <a:moveTo>
                    <a:pt x="0" y="2496"/>
                  </a:moveTo>
                  <a:lnTo>
                    <a:pt x="672" y="2496"/>
                  </a:lnTo>
                  <a:lnTo>
                    <a:pt x="672" y="0"/>
                  </a:lnTo>
                  <a:lnTo>
                    <a:pt x="336" y="0"/>
                  </a:lnTo>
                </a:path>
              </a:pathLst>
            </a:custGeom>
            <a:noFill/>
            <a:ln w="28575" cmpd="sng">
              <a:solidFill>
                <a:srgbClr val="996600"/>
              </a:solidFill>
              <a:round/>
              <a:headEnd type="diamond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96143" name="Text Box 79">
            <a:extLst>
              <a:ext uri="{FF2B5EF4-FFF2-40B4-BE49-F238E27FC236}">
                <a16:creationId xmlns:a16="http://schemas.microsoft.com/office/drawing/2014/main" id="{CAD60FB3-44A2-451D-6247-C6EFEB243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5029200"/>
            <a:ext cx="1447800" cy="2222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2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2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2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1400">
                <a:solidFill>
                  <a:schemeClr val="tx1"/>
                </a:solidFill>
              </a:rPr>
              <a:t>RV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96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496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9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9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496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9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496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9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9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496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9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496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496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9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9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496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1496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49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496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6124" grpId="0" animBg="1"/>
      <p:bldP spid="1496125" grpId="0" animBg="1"/>
      <p:bldP spid="1496125" grpId="1" animBg="1"/>
      <p:bldP spid="1496126" grpId="0" animBg="1"/>
      <p:bldP spid="1496126" grpId="1" animBg="1"/>
      <p:bldP spid="1496127" grpId="0" animBg="1"/>
      <p:bldP spid="1496127" grpId="1" animBg="1"/>
      <p:bldP spid="1496128" grpId="0" animBg="1"/>
      <p:bldP spid="1496128" grpId="1" animBg="1"/>
      <p:bldP spid="1496129" grpId="0" animBg="1"/>
      <p:bldP spid="1496129" grpId="1" animBg="1"/>
      <p:bldP spid="1496130" grpId="0" animBg="1"/>
      <p:bldP spid="1496130" grpId="1" animBg="1"/>
      <p:bldP spid="1496131" grpId="0" animBg="1"/>
      <p:bldP spid="1496143" grpId="0" animBg="1"/>
      <p:bldP spid="1496143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929A4-47B4-4BB7-866A-50E99170CBF9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1817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tabLst>
                <a:tab pos="739775" algn="l"/>
              </a:tabLst>
            </a:pPr>
            <a:r>
              <a:rPr lang="fr-FR" altLang="en-US" sz="3600"/>
              <a:t>Lệnh máy có dạng : </a:t>
            </a:r>
            <a:r>
              <a:rPr lang="fr-FR" altLang="en-US" sz="3600" b="1"/>
              <a:t>Op</a:t>
            </a:r>
            <a:r>
              <a:rPr lang="fr-FR" altLang="en-US" sz="3600"/>
              <a:t>  </a:t>
            </a:r>
            <a:r>
              <a:rPr lang="fr-FR" altLang="en-US" sz="3600" b="1"/>
              <a:t>p</a:t>
            </a:r>
            <a:r>
              <a:rPr lang="fr-FR" altLang="en-US" sz="3600"/>
              <a:t>  </a:t>
            </a:r>
            <a:r>
              <a:rPr lang="fr-FR" altLang="en-US" sz="3600" b="1"/>
              <a:t>q</a:t>
            </a:r>
          </a:p>
          <a:p>
            <a:pPr marL="912813" lvl="1" indent="-450850">
              <a:lnSpc>
                <a:spcPct val="120000"/>
              </a:lnSpc>
              <a:tabLst>
                <a:tab pos="739775" algn="l"/>
              </a:tabLst>
            </a:pPr>
            <a:r>
              <a:rPr lang="fr-FR" altLang="en-US" sz="3200"/>
              <a:t> Op  : Mã lệnh</a:t>
            </a:r>
          </a:p>
          <a:p>
            <a:pPr marL="912813" lvl="1" indent="-450850">
              <a:lnSpc>
                <a:spcPct val="120000"/>
              </a:lnSpc>
              <a:tabLst>
                <a:tab pos="739775" algn="l"/>
              </a:tabLst>
            </a:pPr>
            <a:r>
              <a:rPr lang="fr-FR" altLang="en-US" sz="3200"/>
              <a:t> p, q : Các toán hạng. </a:t>
            </a:r>
          </a:p>
          <a:p>
            <a:pPr marL="1255713" lvl="2">
              <a:lnSpc>
                <a:spcPct val="120000"/>
              </a:lnSpc>
              <a:tabLst>
                <a:tab pos="739775" algn="l"/>
              </a:tabLst>
            </a:pPr>
            <a:r>
              <a:rPr lang="fr-FR" altLang="en-US" sz="2800"/>
              <a:t>Các toán hạng có thể tồn tại đầy đủ, có thể chỉ có 1 toán hạng, có thể không tồn tại</a:t>
            </a:r>
          </a:p>
          <a:p>
            <a:pPr marL="1255713" lvl="2">
              <a:lnSpc>
                <a:spcPct val="120000"/>
              </a:lnSpc>
              <a:tabLst>
                <a:tab pos="739775" algn="l"/>
              </a:tabLst>
            </a:pPr>
            <a:r>
              <a:rPr lang="fr-FR" altLang="en-US" sz="2800"/>
              <a:t>Ví dụ</a:t>
            </a:r>
          </a:p>
          <a:p>
            <a:pPr lvl="4" indent="-4619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 sz="2400" b="1">
                <a:solidFill>
                  <a:srgbClr val="0033CC"/>
                </a:solidFill>
              </a:rPr>
              <a:t>J</a:t>
            </a:r>
            <a:r>
              <a:rPr lang="fr-FR" altLang="en-US" sz="2400"/>
              <a:t> 1  	% Nhảy đến địa chỉ 1</a:t>
            </a:r>
          </a:p>
          <a:p>
            <a:pPr lvl="4" indent="-4619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 sz="2400" b="1">
                <a:solidFill>
                  <a:srgbClr val="0033CC"/>
                </a:solidFill>
              </a:rPr>
              <a:t>LA</a:t>
            </a:r>
            <a:r>
              <a:rPr lang="fr-FR" altLang="en-US" sz="2400"/>
              <a:t> 0, 4	% Nạp địa chỉ từ số 0+4 lên đỉnh stack</a:t>
            </a:r>
          </a:p>
          <a:p>
            <a:pPr lvl="4" indent="-4619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 sz="2400" b="1">
                <a:solidFill>
                  <a:srgbClr val="0033CC"/>
                </a:solidFill>
              </a:rPr>
              <a:t>HLT</a:t>
            </a:r>
            <a:r>
              <a:rPr lang="fr-FR" altLang="en-US" sz="2400"/>
              <a:t>	%Kết thúc chương trình</a:t>
            </a:r>
            <a:endParaRPr lang="en-US" altLang="en-US" sz="2400"/>
          </a:p>
        </p:txBody>
      </p:sp>
      <p:sp>
        <p:nvSpPr>
          <p:cNvPr id="18176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Lệnh</a:t>
            </a:r>
          </a:p>
        </p:txBody>
      </p:sp>
      <p:sp>
        <p:nvSpPr>
          <p:cNvPr id="181760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EB3735-2A26-4A59-82D3-FF756348D31E}" type="slidenum">
              <a:rPr lang="en-US" altLang="en-US"/>
              <a:pPr/>
              <a:t>78</a:t>
            </a:fld>
            <a:endParaRPr lang="en-US" altLang="en-US"/>
          </a:p>
        </p:txBody>
      </p:sp>
      <p:graphicFrame>
        <p:nvGraphicFramePr>
          <p:cNvPr id="1818662" name="Group 38"/>
          <p:cNvGraphicFramePr>
            <a:graphicFrameLocks noGrp="1"/>
          </p:cNvGraphicFramePr>
          <p:nvPr>
            <p:ph idx="1"/>
          </p:nvPr>
        </p:nvGraphicFramePr>
        <p:xfrm>
          <a:off x="381000" y="1917700"/>
          <a:ext cx="8382000" cy="4191000"/>
        </p:xfrm>
        <a:graphic>
          <a:graphicData uri="http://schemas.openxmlformats.org/drawingml/2006/table">
            <a:tbl>
              <a:tblPr/>
              <a:tblGrid>
                <a:gridCol w="117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Load Address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t:=t+1;  s[t]:=base(p)+q;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LV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ＭＳ Ｐゴシック" panose="020B0600070205080204" pitchFamily="34" charset="-128"/>
                        <a:ea typeface="ＭＳ 明朝" charset="-128"/>
                        <a:cs typeface="ＭＳ Ｐゴシック" panose="020B0600070205080204" pitchFamily="34" charset="-128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Load Value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t:=t+1;  s[t]:=s[base(p)+q];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LC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Load Constant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t:=t+1;  s[t]:=q;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LI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Load Indirect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s[t]:=s[s[t]];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Increment 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t:=t+q;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DCT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Decrement 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t:=t-q;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18657" name="Rectangle 36"/>
          <p:cNvSpPr>
            <a:spLocks noChangeArrowheads="1"/>
          </p:cNvSpPr>
          <p:nvPr/>
        </p:nvSpPr>
        <p:spPr bwMode="auto">
          <a:xfrm>
            <a:off x="2895600" y="1143000"/>
            <a:ext cx="8382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op</a:t>
            </a:r>
          </a:p>
        </p:txBody>
      </p:sp>
      <p:sp>
        <p:nvSpPr>
          <p:cNvPr id="1818658" name="Rectangle 37"/>
          <p:cNvSpPr>
            <a:spLocks noChangeArrowheads="1"/>
          </p:cNvSpPr>
          <p:nvPr/>
        </p:nvSpPr>
        <p:spPr bwMode="auto">
          <a:xfrm>
            <a:off x="3733800" y="11430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1818659" name="Rectangle 38"/>
          <p:cNvSpPr>
            <a:spLocks noChangeArrowheads="1"/>
          </p:cNvSpPr>
          <p:nvPr/>
        </p:nvSpPr>
        <p:spPr bwMode="auto">
          <a:xfrm>
            <a:off x="4419600" y="11430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q</a:t>
            </a:r>
          </a:p>
        </p:txBody>
      </p:sp>
      <p:sp>
        <p:nvSpPr>
          <p:cNvPr id="1818660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Bộ lệnh (1/5)</a:t>
            </a:r>
          </a:p>
        </p:txBody>
      </p:sp>
      <p:sp>
        <p:nvSpPr>
          <p:cNvPr id="1818661" name="Text Box 3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9D79CF-9C2D-4B39-8C38-D43EC26B12C7}" type="slidenum">
              <a:rPr lang="en-US" altLang="en-US"/>
              <a:pPr/>
              <a:t>79</a:t>
            </a:fld>
            <a:endParaRPr lang="en-US" altLang="en-US"/>
          </a:p>
        </p:txBody>
      </p:sp>
      <p:sp>
        <p:nvSpPr>
          <p:cNvPr id="1819651" name="Rectangle 36"/>
          <p:cNvSpPr>
            <a:spLocks noChangeArrowheads="1"/>
          </p:cNvSpPr>
          <p:nvPr/>
        </p:nvSpPr>
        <p:spPr bwMode="auto">
          <a:xfrm>
            <a:off x="3048000" y="990600"/>
            <a:ext cx="8382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op</a:t>
            </a:r>
          </a:p>
        </p:txBody>
      </p:sp>
      <p:sp>
        <p:nvSpPr>
          <p:cNvPr id="1819652" name="Rectangle 37"/>
          <p:cNvSpPr>
            <a:spLocks noChangeArrowheads="1"/>
          </p:cNvSpPr>
          <p:nvPr/>
        </p:nvSpPr>
        <p:spPr bwMode="auto">
          <a:xfrm>
            <a:off x="38862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1819653" name="Rectangle 38"/>
          <p:cNvSpPr>
            <a:spLocks noChangeArrowheads="1"/>
          </p:cNvSpPr>
          <p:nvPr/>
        </p:nvSpPr>
        <p:spPr bwMode="auto">
          <a:xfrm>
            <a:off x="45720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q</a:t>
            </a:r>
          </a:p>
        </p:txBody>
      </p:sp>
      <p:graphicFrame>
        <p:nvGraphicFramePr>
          <p:cNvPr id="1819654" name="Group 6"/>
          <p:cNvGraphicFramePr>
            <a:graphicFrameLocks noGrp="1"/>
          </p:cNvGraphicFramePr>
          <p:nvPr>
            <p:ph idx="1"/>
          </p:nvPr>
        </p:nvGraphicFramePr>
        <p:xfrm>
          <a:off x="266700" y="1752600"/>
          <a:ext cx="8724900" cy="4876803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Jump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pc:=q;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FJ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False Jump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if  s[t]=0  then  pc:=q;  t:=t-1;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HLT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Halt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Halt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Store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s[s[t-1]]:=s[t];  t:=t-2;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CALL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Call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s[t+2]:=b; s[t+3]:=pc;  s[t+4]:=base(p);  b:=t+1;  pc:=q;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Century" panose="02040604050505020304" pitchFamily="18" charset="0"/>
                        <a:ea typeface="ＭＳ 明朝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8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EP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Exit Procedure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t:=b-1;  pc:=s[b+2];  b:=s[b+1];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EF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Exit Function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t:=b;  pc:=s[b+2];  b:=s[b+1];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19688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Bộ lệnh (2/5)</a:t>
            </a:r>
          </a:p>
        </p:txBody>
      </p:sp>
      <p:sp>
        <p:nvSpPr>
          <p:cNvPr id="1819689" name="Text Box 41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FDFD9-8FA1-40E4-ACCB-F8B1AA279B23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1820675" name="Rectangle 36"/>
          <p:cNvSpPr>
            <a:spLocks noChangeArrowheads="1"/>
          </p:cNvSpPr>
          <p:nvPr/>
        </p:nvSpPr>
        <p:spPr bwMode="auto">
          <a:xfrm>
            <a:off x="3048000" y="990600"/>
            <a:ext cx="8382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op</a:t>
            </a:r>
          </a:p>
        </p:txBody>
      </p:sp>
      <p:sp>
        <p:nvSpPr>
          <p:cNvPr id="1820676" name="Rectangle 37"/>
          <p:cNvSpPr>
            <a:spLocks noChangeArrowheads="1"/>
          </p:cNvSpPr>
          <p:nvPr/>
        </p:nvSpPr>
        <p:spPr bwMode="auto">
          <a:xfrm>
            <a:off x="38862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1820677" name="Rectangle 38"/>
          <p:cNvSpPr>
            <a:spLocks noChangeArrowheads="1"/>
          </p:cNvSpPr>
          <p:nvPr/>
        </p:nvSpPr>
        <p:spPr bwMode="auto">
          <a:xfrm>
            <a:off x="45720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q</a:t>
            </a:r>
          </a:p>
        </p:txBody>
      </p:sp>
      <p:graphicFrame>
        <p:nvGraphicFramePr>
          <p:cNvPr id="1820706" name="Group 34"/>
          <p:cNvGraphicFramePr>
            <a:graphicFrameLocks noGrp="1"/>
          </p:cNvGraphicFramePr>
          <p:nvPr>
            <p:ph idx="1"/>
          </p:nvPr>
        </p:nvGraphicFramePr>
        <p:xfrm>
          <a:off x="266700" y="1839913"/>
          <a:ext cx="8724900" cy="4495801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8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RC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Read Character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read one character into s[s[t]];  t:=t-1;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RI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Read Integer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read integer to s[s[t]];  t:=t-1;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WRC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Write Character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write one character from s[t];  t:=t-1;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WRI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Write Integer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write integer from s[t];  t:=t-1;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WLN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New Line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CR &amp; LF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0704" name="Text Box 3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820705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Bộ lệnh (3/5)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5DF3BE-9CE0-4E5E-B4D1-744E44427B22}" type="slidenum">
              <a:rPr lang="en-US" altLang="en-US"/>
              <a:pPr/>
              <a:t>81</a:t>
            </a:fld>
            <a:endParaRPr lang="en-US" altLang="en-US"/>
          </a:p>
        </p:txBody>
      </p:sp>
      <p:sp>
        <p:nvSpPr>
          <p:cNvPr id="1821699" name="Rectangle 36"/>
          <p:cNvSpPr>
            <a:spLocks noChangeArrowheads="1"/>
          </p:cNvSpPr>
          <p:nvPr/>
        </p:nvSpPr>
        <p:spPr bwMode="auto">
          <a:xfrm>
            <a:off x="3048000" y="990600"/>
            <a:ext cx="8382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op</a:t>
            </a:r>
          </a:p>
        </p:txBody>
      </p:sp>
      <p:sp>
        <p:nvSpPr>
          <p:cNvPr id="1821700" name="Rectangle 37"/>
          <p:cNvSpPr>
            <a:spLocks noChangeArrowheads="1"/>
          </p:cNvSpPr>
          <p:nvPr/>
        </p:nvSpPr>
        <p:spPr bwMode="auto">
          <a:xfrm>
            <a:off x="38862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1821701" name="Rectangle 38"/>
          <p:cNvSpPr>
            <a:spLocks noChangeArrowheads="1"/>
          </p:cNvSpPr>
          <p:nvPr/>
        </p:nvSpPr>
        <p:spPr bwMode="auto">
          <a:xfrm>
            <a:off x="45720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q</a:t>
            </a:r>
          </a:p>
        </p:txBody>
      </p:sp>
      <p:graphicFrame>
        <p:nvGraphicFramePr>
          <p:cNvPr id="1821702" name="Group 6"/>
          <p:cNvGraphicFramePr>
            <a:graphicFrameLocks noGrp="1"/>
          </p:cNvGraphicFramePr>
          <p:nvPr>
            <p:ph idx="1"/>
          </p:nvPr>
        </p:nvGraphicFramePr>
        <p:xfrm>
          <a:off x="266700" y="1752600"/>
          <a:ext cx="8572500" cy="472694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ADD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Add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s[t]:=s[t]+s[t+1];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SUB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Subtract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s[t]:=s[t]-s[t+1];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MUL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Multiply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s[t]:=s[t]*s[t+1];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DIV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Divide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s[t]:=s[t]/s[t+1];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NEG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s[t]:=-s[t];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CV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Copy Top of Stack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s[t+1]:=s[t];  t:=t+1;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21732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Bộ lệnh (4/5)</a:t>
            </a:r>
          </a:p>
        </p:txBody>
      </p:sp>
      <p:sp>
        <p:nvSpPr>
          <p:cNvPr id="1821733" name="Text Box 3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6AE977-99E4-436A-9475-73F532CC2E2B}" type="slidenum">
              <a:rPr lang="en-US" altLang="en-US"/>
              <a:pPr/>
              <a:t>82</a:t>
            </a:fld>
            <a:endParaRPr lang="en-US" altLang="en-US"/>
          </a:p>
        </p:txBody>
      </p:sp>
      <p:sp>
        <p:nvSpPr>
          <p:cNvPr id="1822723" name="Rectangle 36"/>
          <p:cNvSpPr>
            <a:spLocks noChangeArrowheads="1"/>
          </p:cNvSpPr>
          <p:nvPr/>
        </p:nvSpPr>
        <p:spPr bwMode="auto">
          <a:xfrm>
            <a:off x="3048000" y="990600"/>
            <a:ext cx="8382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op</a:t>
            </a:r>
          </a:p>
        </p:txBody>
      </p:sp>
      <p:sp>
        <p:nvSpPr>
          <p:cNvPr id="1822724" name="Rectangle 37"/>
          <p:cNvSpPr>
            <a:spLocks noChangeArrowheads="1"/>
          </p:cNvSpPr>
          <p:nvPr/>
        </p:nvSpPr>
        <p:spPr bwMode="auto">
          <a:xfrm>
            <a:off x="38862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1822725" name="Rectangle 38"/>
          <p:cNvSpPr>
            <a:spLocks noChangeArrowheads="1"/>
          </p:cNvSpPr>
          <p:nvPr/>
        </p:nvSpPr>
        <p:spPr bwMode="auto">
          <a:xfrm>
            <a:off x="4572000" y="990600"/>
            <a:ext cx="685800" cy="6096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3200" b="0">
                <a:solidFill>
                  <a:srgbClr val="E9E943"/>
                </a:solidFill>
                <a:cs typeface="Arial" panose="020B0604020202020204" pitchFamily="34" charset="0"/>
              </a:rPr>
              <a:t>q</a:t>
            </a:r>
          </a:p>
        </p:txBody>
      </p:sp>
      <p:graphicFrame>
        <p:nvGraphicFramePr>
          <p:cNvPr id="1822726" name="Group 6"/>
          <p:cNvGraphicFramePr>
            <a:graphicFrameLocks noGrp="1"/>
          </p:cNvGraphicFramePr>
          <p:nvPr>
            <p:ph idx="1"/>
          </p:nvPr>
        </p:nvGraphicFramePr>
        <p:xfrm>
          <a:off x="266700" y="1676400"/>
          <a:ext cx="8724900" cy="512064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EQ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Equal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=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NE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Not Equal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</a:t>
                      </a:r>
                      <a:r>
                        <a:rPr kumimoji="0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=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GT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Greater Than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&gt;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LT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Less Than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&lt;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Greater or Equal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&gt;=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LE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Less or Equal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  <a:ea typeface="ＭＳ 明朝" charset="-128"/>
                          <a:cs typeface="Times New Roman" panose="02020603050405020304" pitchFamily="18" charset="0"/>
                        </a:rPr>
                        <a:t>t:=t-1;  if s[t] &lt;= s[t+1] then s[t]:=1 else s[t]:=0;</a:t>
                      </a: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22756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Bộ lệnh (5/5)</a:t>
            </a:r>
          </a:p>
        </p:txBody>
      </p:sp>
      <p:sp>
        <p:nvSpPr>
          <p:cNvPr id="1822757" name="Text Box 3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563D9A-2E80-4A19-88CC-F91C31EE1BB0}" type="slidenum">
              <a:rPr lang="en-US" altLang="en-US"/>
              <a:pPr/>
              <a:t>83</a:t>
            </a:fld>
            <a:endParaRPr lang="en-US" altLang="en-US"/>
          </a:p>
        </p:txBody>
      </p:sp>
      <p:graphicFrame>
        <p:nvGraphicFramePr>
          <p:cNvPr id="1823747" name="Group 3"/>
          <p:cNvGraphicFramePr>
            <a:graphicFrameLocks noGrp="1"/>
          </p:cNvGraphicFramePr>
          <p:nvPr>
            <p:ph idx="1"/>
          </p:nvPr>
        </p:nvGraphicFramePr>
        <p:xfrm>
          <a:off x="1676400" y="1095375"/>
          <a:ext cx="1905000" cy="55473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 1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 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LA 0, 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LC 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LA 0,4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LC 10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LV 0, 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MUL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LV 0,4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WRI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WLN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HLT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823794" name="Rectangle 11"/>
          <p:cNvSpPr>
            <a:spLocks noChangeArrowheads="1"/>
          </p:cNvSpPr>
          <p:nvPr/>
        </p:nvSpPr>
        <p:spPr bwMode="auto">
          <a:xfrm>
            <a:off x="5410200" y="161925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795" name="Rectangle 12"/>
          <p:cNvSpPr>
            <a:spLocks noChangeArrowheads="1"/>
          </p:cNvSpPr>
          <p:nvPr/>
        </p:nvSpPr>
        <p:spPr bwMode="auto">
          <a:xfrm>
            <a:off x="5410200" y="207645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796" name="Rectangle 14"/>
          <p:cNvSpPr>
            <a:spLocks noChangeArrowheads="1"/>
          </p:cNvSpPr>
          <p:nvPr/>
        </p:nvSpPr>
        <p:spPr bwMode="auto">
          <a:xfrm>
            <a:off x="5410200" y="251460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797" name="Rectangle 15"/>
          <p:cNvSpPr>
            <a:spLocks noChangeArrowheads="1"/>
          </p:cNvSpPr>
          <p:nvPr/>
        </p:nvSpPr>
        <p:spPr bwMode="auto">
          <a:xfrm>
            <a:off x="5410200" y="297180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798" name="Rectangle 16"/>
          <p:cNvSpPr>
            <a:spLocks noChangeArrowheads="1"/>
          </p:cNvSpPr>
          <p:nvPr/>
        </p:nvSpPr>
        <p:spPr bwMode="auto">
          <a:xfrm>
            <a:off x="5410200" y="342900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799" name="Rectangle 17"/>
          <p:cNvSpPr>
            <a:spLocks noChangeArrowheads="1"/>
          </p:cNvSpPr>
          <p:nvPr/>
        </p:nvSpPr>
        <p:spPr bwMode="auto">
          <a:xfrm>
            <a:off x="5410200" y="3886200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800" name="Rectangle 18"/>
          <p:cNvSpPr>
            <a:spLocks noChangeArrowheads="1"/>
          </p:cNvSpPr>
          <p:nvPr/>
        </p:nvSpPr>
        <p:spPr bwMode="auto">
          <a:xfrm>
            <a:off x="5410200" y="43386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801" name="Rectangle 19"/>
          <p:cNvSpPr>
            <a:spLocks noChangeArrowheads="1"/>
          </p:cNvSpPr>
          <p:nvPr/>
        </p:nvSpPr>
        <p:spPr bwMode="auto">
          <a:xfrm>
            <a:off x="5410200" y="4794250"/>
            <a:ext cx="1447800" cy="447675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802" name="Rectangle 20"/>
          <p:cNvSpPr>
            <a:spLocks noChangeArrowheads="1"/>
          </p:cNvSpPr>
          <p:nvPr/>
        </p:nvSpPr>
        <p:spPr bwMode="auto">
          <a:xfrm>
            <a:off x="5410200" y="5241925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FR" altLang="en-US" sz="2400" b="0">
              <a:cs typeface="Arial" panose="020B0604020202020204" pitchFamily="34" charset="0"/>
            </a:endParaRPr>
          </a:p>
        </p:txBody>
      </p:sp>
      <p:sp>
        <p:nvSpPr>
          <p:cNvPr id="1823803" name="TextBox 24"/>
          <p:cNvSpPr txBox="1">
            <a:spLocks noChangeArrowheads="1"/>
          </p:cNvSpPr>
          <p:nvPr/>
        </p:nvSpPr>
        <p:spPr bwMode="auto">
          <a:xfrm>
            <a:off x="7772400" y="1600200"/>
            <a:ext cx="838200" cy="4667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27007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400" b="0">
                <a:cs typeface="Arial" panose="020B0604020202020204" pitchFamily="34" charset="0"/>
              </a:rPr>
              <a:t>B=0</a:t>
            </a:r>
          </a:p>
        </p:txBody>
      </p:sp>
      <p:cxnSp>
        <p:nvCxnSpPr>
          <p:cNvPr id="1823804" name="Straight Arrow Connector 29"/>
          <p:cNvCxnSpPr>
            <a:cxnSpLocks noChangeShapeType="1"/>
            <a:stCxn id="1823803" idx="1"/>
            <a:endCxn id="1823794" idx="3"/>
          </p:cNvCxnSpPr>
          <p:nvPr/>
        </p:nvCxnSpPr>
        <p:spPr bwMode="auto">
          <a:xfrm flipH="1">
            <a:off x="6858000" y="1833563"/>
            <a:ext cx="914400" cy="142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23805" name="TextBox 22"/>
          <p:cNvSpPr txBox="1">
            <a:spLocks noChangeArrowheads="1"/>
          </p:cNvSpPr>
          <p:nvPr/>
        </p:nvSpPr>
        <p:spPr bwMode="auto">
          <a:xfrm>
            <a:off x="5715000" y="569595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400" b="0">
                <a:cs typeface="Arial" panose="020B0604020202020204" pitchFamily="34" charset="0"/>
              </a:rPr>
              <a:t>Stack</a:t>
            </a:r>
          </a:p>
        </p:txBody>
      </p:sp>
      <p:grpSp>
        <p:nvGrpSpPr>
          <p:cNvPr id="1823806" name="Group 62"/>
          <p:cNvGrpSpPr>
            <a:grpSpLocks/>
          </p:cNvGrpSpPr>
          <p:nvPr/>
        </p:nvGrpSpPr>
        <p:grpSpPr bwMode="auto">
          <a:xfrm>
            <a:off x="352425" y="914400"/>
            <a:ext cx="1295400" cy="547688"/>
            <a:chOff x="240" y="567"/>
            <a:chExt cx="816" cy="345"/>
          </a:xfrm>
        </p:grpSpPr>
        <p:sp>
          <p:nvSpPr>
            <p:cNvPr id="1823807" name="AutoShape 63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08" name="Text Box 64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09" name="Group 65"/>
          <p:cNvGrpSpPr>
            <a:grpSpLocks/>
          </p:cNvGrpSpPr>
          <p:nvPr/>
        </p:nvGrpSpPr>
        <p:grpSpPr bwMode="auto">
          <a:xfrm>
            <a:off x="3962400" y="914400"/>
            <a:ext cx="1447800" cy="547688"/>
            <a:chOff x="2592" y="903"/>
            <a:chExt cx="816" cy="345"/>
          </a:xfrm>
        </p:grpSpPr>
        <p:sp>
          <p:nvSpPr>
            <p:cNvPr id="1823810" name="AutoShape 66"/>
            <p:cNvSpPr>
              <a:spLocks noChangeArrowheads="1"/>
            </p:cNvSpPr>
            <p:nvPr/>
          </p:nvSpPr>
          <p:spPr bwMode="auto">
            <a:xfrm>
              <a:off x="2592" y="1104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11" name="Text Box 67"/>
            <p:cNvSpPr txBox="1">
              <a:spLocks noChangeArrowheads="1"/>
            </p:cNvSpPr>
            <p:nvPr/>
          </p:nvSpPr>
          <p:spPr bwMode="auto">
            <a:xfrm>
              <a:off x="2688" y="9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T=-1</a:t>
              </a:r>
              <a:endParaRPr lang="en-US" altLang="en-US" sz="2400" b="0"/>
            </a:p>
          </p:txBody>
        </p:sp>
      </p:grpSp>
      <p:grpSp>
        <p:nvGrpSpPr>
          <p:cNvPr id="1823812" name="Group 68"/>
          <p:cNvGrpSpPr>
            <a:grpSpLocks/>
          </p:cNvGrpSpPr>
          <p:nvPr/>
        </p:nvGrpSpPr>
        <p:grpSpPr bwMode="auto">
          <a:xfrm>
            <a:off x="333375" y="1295400"/>
            <a:ext cx="1295400" cy="547688"/>
            <a:chOff x="240" y="567"/>
            <a:chExt cx="816" cy="345"/>
          </a:xfrm>
        </p:grpSpPr>
        <p:sp>
          <p:nvSpPr>
            <p:cNvPr id="1823813" name="AutoShape 69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14" name="Text Box 70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15" name="Group 71"/>
          <p:cNvGrpSpPr>
            <a:grpSpLocks/>
          </p:cNvGrpSpPr>
          <p:nvPr/>
        </p:nvGrpSpPr>
        <p:grpSpPr bwMode="auto">
          <a:xfrm>
            <a:off x="381000" y="1676400"/>
            <a:ext cx="1295400" cy="547688"/>
            <a:chOff x="240" y="567"/>
            <a:chExt cx="816" cy="345"/>
          </a:xfrm>
        </p:grpSpPr>
        <p:sp>
          <p:nvSpPr>
            <p:cNvPr id="1823816" name="AutoShape 72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17" name="Text Box 73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18" name="Group 74"/>
          <p:cNvGrpSpPr>
            <a:grpSpLocks/>
          </p:cNvGrpSpPr>
          <p:nvPr/>
        </p:nvGrpSpPr>
        <p:grpSpPr bwMode="auto">
          <a:xfrm>
            <a:off x="381000" y="2057400"/>
            <a:ext cx="1295400" cy="547688"/>
            <a:chOff x="240" y="567"/>
            <a:chExt cx="816" cy="345"/>
          </a:xfrm>
        </p:grpSpPr>
        <p:sp>
          <p:nvSpPr>
            <p:cNvPr id="1823819" name="AutoShape 75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20" name="Text Box 76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21" name="Group 77"/>
          <p:cNvGrpSpPr>
            <a:grpSpLocks/>
          </p:cNvGrpSpPr>
          <p:nvPr/>
        </p:nvGrpSpPr>
        <p:grpSpPr bwMode="auto">
          <a:xfrm>
            <a:off x="381000" y="2438400"/>
            <a:ext cx="1295400" cy="547688"/>
            <a:chOff x="240" y="567"/>
            <a:chExt cx="816" cy="345"/>
          </a:xfrm>
        </p:grpSpPr>
        <p:sp>
          <p:nvSpPr>
            <p:cNvPr id="1823822" name="AutoShape 78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23" name="Text Box 79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24" name="Group 80"/>
          <p:cNvGrpSpPr>
            <a:grpSpLocks/>
          </p:cNvGrpSpPr>
          <p:nvPr/>
        </p:nvGrpSpPr>
        <p:grpSpPr bwMode="auto">
          <a:xfrm>
            <a:off x="381000" y="2819400"/>
            <a:ext cx="1295400" cy="547688"/>
            <a:chOff x="240" y="567"/>
            <a:chExt cx="816" cy="345"/>
          </a:xfrm>
        </p:grpSpPr>
        <p:sp>
          <p:nvSpPr>
            <p:cNvPr id="1823825" name="AutoShape 81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26" name="Text Box 82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27" name="Group 83"/>
          <p:cNvGrpSpPr>
            <a:grpSpLocks/>
          </p:cNvGrpSpPr>
          <p:nvPr/>
        </p:nvGrpSpPr>
        <p:grpSpPr bwMode="auto">
          <a:xfrm>
            <a:off x="381000" y="3200400"/>
            <a:ext cx="1295400" cy="547688"/>
            <a:chOff x="240" y="567"/>
            <a:chExt cx="816" cy="345"/>
          </a:xfrm>
        </p:grpSpPr>
        <p:sp>
          <p:nvSpPr>
            <p:cNvPr id="1823828" name="AutoShape 84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29" name="Text Box 85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30" name="Group 86"/>
          <p:cNvGrpSpPr>
            <a:grpSpLocks/>
          </p:cNvGrpSpPr>
          <p:nvPr/>
        </p:nvGrpSpPr>
        <p:grpSpPr bwMode="auto">
          <a:xfrm>
            <a:off x="381000" y="3657600"/>
            <a:ext cx="1295400" cy="547688"/>
            <a:chOff x="240" y="567"/>
            <a:chExt cx="816" cy="345"/>
          </a:xfrm>
        </p:grpSpPr>
        <p:sp>
          <p:nvSpPr>
            <p:cNvPr id="1823831" name="AutoShape 87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32" name="Text Box 88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33" name="Group 89"/>
          <p:cNvGrpSpPr>
            <a:grpSpLocks/>
          </p:cNvGrpSpPr>
          <p:nvPr/>
        </p:nvGrpSpPr>
        <p:grpSpPr bwMode="auto">
          <a:xfrm>
            <a:off x="381000" y="4038600"/>
            <a:ext cx="1295400" cy="547688"/>
            <a:chOff x="240" y="567"/>
            <a:chExt cx="816" cy="345"/>
          </a:xfrm>
        </p:grpSpPr>
        <p:sp>
          <p:nvSpPr>
            <p:cNvPr id="1823834" name="AutoShape 90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35" name="Text Box 91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36" name="Group 92"/>
          <p:cNvGrpSpPr>
            <a:grpSpLocks/>
          </p:cNvGrpSpPr>
          <p:nvPr/>
        </p:nvGrpSpPr>
        <p:grpSpPr bwMode="auto">
          <a:xfrm>
            <a:off x="381000" y="4419600"/>
            <a:ext cx="1295400" cy="547688"/>
            <a:chOff x="240" y="567"/>
            <a:chExt cx="816" cy="345"/>
          </a:xfrm>
        </p:grpSpPr>
        <p:sp>
          <p:nvSpPr>
            <p:cNvPr id="1823837" name="AutoShape 93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38" name="Text Box 94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39" name="Group 95"/>
          <p:cNvGrpSpPr>
            <a:grpSpLocks/>
          </p:cNvGrpSpPr>
          <p:nvPr/>
        </p:nvGrpSpPr>
        <p:grpSpPr bwMode="auto">
          <a:xfrm>
            <a:off x="381000" y="4800600"/>
            <a:ext cx="1295400" cy="547688"/>
            <a:chOff x="240" y="567"/>
            <a:chExt cx="816" cy="345"/>
          </a:xfrm>
        </p:grpSpPr>
        <p:sp>
          <p:nvSpPr>
            <p:cNvPr id="1823840" name="AutoShape 96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41" name="Text Box 97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42" name="Group 98"/>
          <p:cNvGrpSpPr>
            <a:grpSpLocks/>
          </p:cNvGrpSpPr>
          <p:nvPr/>
        </p:nvGrpSpPr>
        <p:grpSpPr bwMode="auto">
          <a:xfrm>
            <a:off x="381000" y="5181600"/>
            <a:ext cx="1295400" cy="547688"/>
            <a:chOff x="240" y="567"/>
            <a:chExt cx="816" cy="345"/>
          </a:xfrm>
        </p:grpSpPr>
        <p:sp>
          <p:nvSpPr>
            <p:cNvPr id="1823843" name="AutoShape 99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44" name="Text Box 100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45" name="Group 101"/>
          <p:cNvGrpSpPr>
            <a:grpSpLocks/>
          </p:cNvGrpSpPr>
          <p:nvPr/>
        </p:nvGrpSpPr>
        <p:grpSpPr bwMode="auto">
          <a:xfrm>
            <a:off x="381000" y="5562600"/>
            <a:ext cx="1295400" cy="547688"/>
            <a:chOff x="240" y="567"/>
            <a:chExt cx="816" cy="345"/>
          </a:xfrm>
        </p:grpSpPr>
        <p:sp>
          <p:nvSpPr>
            <p:cNvPr id="1823846" name="AutoShape 102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47" name="Text Box 103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48" name="Group 104"/>
          <p:cNvGrpSpPr>
            <a:grpSpLocks/>
          </p:cNvGrpSpPr>
          <p:nvPr/>
        </p:nvGrpSpPr>
        <p:grpSpPr bwMode="auto">
          <a:xfrm>
            <a:off x="304800" y="6019800"/>
            <a:ext cx="1295400" cy="547688"/>
            <a:chOff x="240" y="567"/>
            <a:chExt cx="816" cy="345"/>
          </a:xfrm>
        </p:grpSpPr>
        <p:sp>
          <p:nvSpPr>
            <p:cNvPr id="1823849" name="AutoShape 105"/>
            <p:cNvSpPr>
              <a:spLocks noChangeArrowheads="1"/>
            </p:cNvSpPr>
            <p:nvPr/>
          </p:nvSpPr>
          <p:spPr bwMode="auto">
            <a:xfrm>
              <a:off x="240" y="768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50" name="Text Box 106"/>
            <p:cNvSpPr txBox="1">
              <a:spLocks noChangeArrowheads="1"/>
            </p:cNvSpPr>
            <p:nvPr/>
          </p:nvSpPr>
          <p:spPr bwMode="auto">
            <a:xfrm>
              <a:off x="336" y="567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PC</a:t>
              </a:r>
              <a:endParaRPr lang="en-US" altLang="en-US" sz="2400" b="0"/>
            </a:p>
          </p:txBody>
        </p:sp>
      </p:grpSp>
      <p:grpSp>
        <p:nvGrpSpPr>
          <p:cNvPr id="1823851" name="Group 107"/>
          <p:cNvGrpSpPr>
            <a:grpSpLocks/>
          </p:cNvGrpSpPr>
          <p:nvPr/>
        </p:nvGrpSpPr>
        <p:grpSpPr bwMode="auto">
          <a:xfrm>
            <a:off x="4081463" y="3257550"/>
            <a:ext cx="1295400" cy="547688"/>
            <a:chOff x="2592" y="903"/>
            <a:chExt cx="816" cy="345"/>
          </a:xfrm>
        </p:grpSpPr>
        <p:sp>
          <p:nvSpPr>
            <p:cNvPr id="1823852" name="AutoShape 108"/>
            <p:cNvSpPr>
              <a:spLocks noChangeArrowheads="1"/>
            </p:cNvSpPr>
            <p:nvPr/>
          </p:nvSpPr>
          <p:spPr bwMode="auto">
            <a:xfrm>
              <a:off x="2592" y="1104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53" name="Text Box 109"/>
            <p:cNvSpPr txBox="1">
              <a:spLocks noChangeArrowheads="1"/>
            </p:cNvSpPr>
            <p:nvPr/>
          </p:nvSpPr>
          <p:spPr bwMode="auto">
            <a:xfrm>
              <a:off x="2688" y="9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T</a:t>
              </a:r>
              <a:endParaRPr lang="en-US" altLang="en-US" sz="2400" b="0"/>
            </a:p>
          </p:txBody>
        </p:sp>
      </p:grpSp>
      <p:grpSp>
        <p:nvGrpSpPr>
          <p:cNvPr id="1823854" name="Group 110"/>
          <p:cNvGrpSpPr>
            <a:grpSpLocks/>
          </p:cNvGrpSpPr>
          <p:nvPr/>
        </p:nvGrpSpPr>
        <p:grpSpPr bwMode="auto">
          <a:xfrm>
            <a:off x="4114800" y="3714750"/>
            <a:ext cx="1295400" cy="547688"/>
            <a:chOff x="2592" y="903"/>
            <a:chExt cx="816" cy="345"/>
          </a:xfrm>
        </p:grpSpPr>
        <p:sp>
          <p:nvSpPr>
            <p:cNvPr id="1823855" name="AutoShape 111"/>
            <p:cNvSpPr>
              <a:spLocks noChangeArrowheads="1"/>
            </p:cNvSpPr>
            <p:nvPr/>
          </p:nvSpPr>
          <p:spPr bwMode="auto">
            <a:xfrm>
              <a:off x="2592" y="1104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56" name="Text Box 112"/>
            <p:cNvSpPr txBox="1">
              <a:spLocks noChangeArrowheads="1"/>
            </p:cNvSpPr>
            <p:nvPr/>
          </p:nvSpPr>
          <p:spPr bwMode="auto">
            <a:xfrm>
              <a:off x="2688" y="9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T</a:t>
              </a:r>
              <a:endParaRPr lang="en-US" altLang="en-US" sz="2400" b="0"/>
            </a:p>
          </p:txBody>
        </p:sp>
      </p:grpSp>
      <p:sp>
        <p:nvSpPr>
          <p:cNvPr id="1823857" name="Rectangle 17"/>
          <p:cNvSpPr>
            <a:spLocks noChangeArrowheads="1"/>
          </p:cNvSpPr>
          <p:nvPr/>
        </p:nvSpPr>
        <p:spPr bwMode="auto">
          <a:xfrm>
            <a:off x="5410200" y="38814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4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grpSp>
        <p:nvGrpSpPr>
          <p:cNvPr id="1823858" name="Group 114"/>
          <p:cNvGrpSpPr>
            <a:grpSpLocks/>
          </p:cNvGrpSpPr>
          <p:nvPr/>
        </p:nvGrpSpPr>
        <p:grpSpPr bwMode="auto">
          <a:xfrm>
            <a:off x="4114800" y="4157663"/>
            <a:ext cx="1295400" cy="547687"/>
            <a:chOff x="2592" y="903"/>
            <a:chExt cx="816" cy="345"/>
          </a:xfrm>
        </p:grpSpPr>
        <p:sp>
          <p:nvSpPr>
            <p:cNvPr id="1823859" name="AutoShape 115"/>
            <p:cNvSpPr>
              <a:spLocks noChangeArrowheads="1"/>
            </p:cNvSpPr>
            <p:nvPr/>
          </p:nvSpPr>
          <p:spPr bwMode="auto">
            <a:xfrm>
              <a:off x="2592" y="1104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60" name="Text Box 116"/>
            <p:cNvSpPr txBox="1">
              <a:spLocks noChangeArrowheads="1"/>
            </p:cNvSpPr>
            <p:nvPr/>
          </p:nvSpPr>
          <p:spPr bwMode="auto">
            <a:xfrm>
              <a:off x="2688" y="9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T</a:t>
              </a:r>
              <a:endParaRPr lang="en-US" altLang="en-US" sz="2400" b="0"/>
            </a:p>
          </p:txBody>
        </p:sp>
      </p:grpSp>
      <p:sp>
        <p:nvSpPr>
          <p:cNvPr id="1823861" name="Rectangle 18"/>
          <p:cNvSpPr>
            <a:spLocks noChangeArrowheads="1"/>
          </p:cNvSpPr>
          <p:nvPr/>
        </p:nvSpPr>
        <p:spPr bwMode="auto">
          <a:xfrm>
            <a:off x="5410200" y="43386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62" name="Rectangle 16"/>
          <p:cNvSpPr>
            <a:spLocks noChangeArrowheads="1"/>
          </p:cNvSpPr>
          <p:nvPr/>
        </p:nvSpPr>
        <p:spPr bwMode="auto">
          <a:xfrm>
            <a:off x="5410200" y="34242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63" name="Rectangle 18"/>
          <p:cNvSpPr>
            <a:spLocks noChangeArrowheads="1"/>
          </p:cNvSpPr>
          <p:nvPr/>
        </p:nvSpPr>
        <p:spPr bwMode="auto">
          <a:xfrm>
            <a:off x="5410200" y="43386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10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grpSp>
        <p:nvGrpSpPr>
          <p:cNvPr id="1823864" name="Group 120"/>
          <p:cNvGrpSpPr>
            <a:grpSpLocks/>
          </p:cNvGrpSpPr>
          <p:nvPr/>
        </p:nvGrpSpPr>
        <p:grpSpPr bwMode="auto">
          <a:xfrm>
            <a:off x="4114800" y="4552950"/>
            <a:ext cx="1295400" cy="547688"/>
            <a:chOff x="2592" y="903"/>
            <a:chExt cx="816" cy="345"/>
          </a:xfrm>
        </p:grpSpPr>
        <p:sp>
          <p:nvSpPr>
            <p:cNvPr id="1823865" name="AutoShape 121"/>
            <p:cNvSpPr>
              <a:spLocks noChangeArrowheads="1"/>
            </p:cNvSpPr>
            <p:nvPr/>
          </p:nvSpPr>
          <p:spPr bwMode="auto">
            <a:xfrm>
              <a:off x="2592" y="1104"/>
              <a:ext cx="816" cy="144"/>
            </a:xfrm>
            <a:prstGeom prst="rightArrow">
              <a:avLst>
                <a:gd name="adj1" fmla="val 50000"/>
                <a:gd name="adj2" fmla="val 141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3866" name="Text Box 122"/>
            <p:cNvSpPr txBox="1">
              <a:spLocks noChangeArrowheads="1"/>
            </p:cNvSpPr>
            <p:nvPr/>
          </p:nvSpPr>
          <p:spPr bwMode="auto">
            <a:xfrm>
              <a:off x="2688" y="9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T</a:t>
              </a:r>
              <a:endParaRPr lang="en-US" altLang="en-US" sz="2400" b="0"/>
            </a:p>
          </p:txBody>
        </p:sp>
      </p:grpSp>
      <p:sp>
        <p:nvSpPr>
          <p:cNvPr id="1823867" name="Rectangle 19"/>
          <p:cNvSpPr>
            <a:spLocks noChangeArrowheads="1"/>
          </p:cNvSpPr>
          <p:nvPr/>
        </p:nvSpPr>
        <p:spPr bwMode="auto">
          <a:xfrm>
            <a:off x="5410200" y="4794250"/>
            <a:ext cx="1447800" cy="447675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68" name="Rectangle 18"/>
          <p:cNvSpPr>
            <a:spLocks noChangeArrowheads="1"/>
          </p:cNvSpPr>
          <p:nvPr/>
        </p:nvSpPr>
        <p:spPr bwMode="auto">
          <a:xfrm>
            <a:off x="5410200" y="43386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50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69" name="Rectangle 16"/>
          <p:cNvSpPr>
            <a:spLocks noChangeArrowheads="1"/>
          </p:cNvSpPr>
          <p:nvPr/>
        </p:nvSpPr>
        <p:spPr bwMode="auto">
          <a:xfrm>
            <a:off x="5410200" y="34242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50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70" name="Rectangle 17"/>
          <p:cNvSpPr>
            <a:spLocks noChangeArrowheads="1"/>
          </p:cNvSpPr>
          <p:nvPr/>
        </p:nvSpPr>
        <p:spPr bwMode="auto">
          <a:xfrm>
            <a:off x="5410200" y="3881438"/>
            <a:ext cx="1447800" cy="4572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fr-FR" altLang="en-US" sz="2400" b="0">
                <a:cs typeface="Arial" panose="020B0604020202020204" pitchFamily="34" charset="0"/>
              </a:rPr>
              <a:t>50</a:t>
            </a:r>
            <a:endParaRPr lang="en-US" altLang="en-US" sz="2400" b="0">
              <a:cs typeface="Arial" panose="020B0604020202020204" pitchFamily="34" charset="0"/>
            </a:endParaRPr>
          </a:p>
        </p:txBody>
      </p:sp>
      <p:sp>
        <p:nvSpPr>
          <p:cNvPr id="1823871" name="Text Box 127"/>
          <p:cNvSpPr txBox="1">
            <a:spLocks noChangeArrowheads="1"/>
          </p:cNvSpPr>
          <p:nvPr/>
        </p:nvSpPr>
        <p:spPr bwMode="auto">
          <a:xfrm>
            <a:off x="6996113" y="4343400"/>
            <a:ext cx="2057400" cy="2057400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1600" b="0"/>
              <a:t>Program Example1; </a:t>
            </a:r>
          </a:p>
          <a:p>
            <a:pPr algn="l"/>
            <a:r>
              <a:rPr lang="en-US" altLang="en-US" sz="1600" b="0"/>
              <a:t>Var n : integer;</a:t>
            </a:r>
          </a:p>
          <a:p>
            <a:pPr algn="l"/>
            <a:r>
              <a:rPr lang="en-US" altLang="en-US" sz="1600" b="0"/>
              <a:t>Begin</a:t>
            </a:r>
          </a:p>
          <a:p>
            <a:pPr algn="l"/>
            <a:r>
              <a:rPr lang="en-US" altLang="en-US" sz="1600" b="0"/>
              <a:t>  n := 5;</a:t>
            </a:r>
          </a:p>
          <a:p>
            <a:pPr algn="l"/>
            <a:r>
              <a:rPr lang="en-US" altLang="en-US" sz="1600" b="0"/>
              <a:t>  n := 10 * n;</a:t>
            </a:r>
          </a:p>
          <a:p>
            <a:pPr algn="l"/>
            <a:r>
              <a:rPr lang="en-US" altLang="en-US" sz="1600" b="0"/>
              <a:t>  CALL WRITEI(n);</a:t>
            </a:r>
          </a:p>
          <a:p>
            <a:pPr algn="l"/>
            <a:r>
              <a:rPr lang="en-US" altLang="en-US" sz="1600" b="0"/>
              <a:t>  CALL WRITELN;</a:t>
            </a:r>
          </a:p>
          <a:p>
            <a:pPr algn="l"/>
            <a:r>
              <a:rPr lang="en-US" altLang="en-US" sz="1600" b="0"/>
              <a:t>End. </a:t>
            </a:r>
          </a:p>
        </p:txBody>
      </p:sp>
      <p:sp>
        <p:nvSpPr>
          <p:cNvPr id="1823872" name="Rectangle 1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1823873" name="Text Box 12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238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2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8238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2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8238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823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2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2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823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2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2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18238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2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2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823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2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18238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82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82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1823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82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6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82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82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7" dur="500"/>
                                        <p:tgtEl>
                                          <p:spTgt spid="1823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82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3" dur="500"/>
                                        <p:tgtEl>
                                          <p:spTgt spid="1823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82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1823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82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1823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82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1" dur="500"/>
                                        <p:tgtEl>
                                          <p:spTgt spid="1823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82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82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8" dur="500"/>
                                        <p:tgtEl>
                                          <p:spTgt spid="1823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82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4" dur="500"/>
                                        <p:tgtEl>
                                          <p:spTgt spid="1823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82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2" dur="500"/>
                                        <p:tgtEl>
                                          <p:spTgt spid="1823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82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1823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857" grpId="0" animBg="1"/>
      <p:bldP spid="1823861" grpId="0" animBg="1"/>
      <p:bldP spid="1823862" grpId="0" animBg="1"/>
      <p:bldP spid="1823863" grpId="0" animBg="1"/>
      <p:bldP spid="1823867" grpId="0" animBg="1"/>
      <p:bldP spid="1823868" grpId="0" animBg="1"/>
      <p:bldP spid="1823869" grpId="0" animBg="1"/>
      <p:bldP spid="182387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0B7EEB-52E4-4A61-9E9E-C855760CE34C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19128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3133725" cy="592138"/>
          </a:xfrm>
          <a:noFill/>
        </p:spPr>
        <p:txBody>
          <a:bodyPr tIns="0" bIns="0"/>
          <a:lstStyle/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/>
              <a:t>Mã lệnh máy</a:t>
            </a:r>
          </a:p>
        </p:txBody>
      </p:sp>
      <p:sp>
        <p:nvSpPr>
          <p:cNvPr id="19128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 sz="2800"/>
              <a:t>Máy ngăn xếp </a:t>
            </a:r>
            <a:r>
              <a:rPr lang="en-US" altLang="en-US" sz="2800">
                <a:sym typeface="Symbol" panose="05050102010706020507" pitchFamily="18" charset="2"/>
              </a:rPr>
              <a:t> Xây dựng máy ảo</a:t>
            </a:r>
          </a:p>
        </p:txBody>
      </p:sp>
      <p:sp>
        <p:nvSpPr>
          <p:cNvPr id="191283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6" name="Folded Corner 5"/>
          <p:cNvSpPr>
            <a:spLocks noChangeArrowheads="1"/>
          </p:cNvSpPr>
          <p:nvPr/>
        </p:nvSpPr>
        <p:spPr bwMode="auto">
          <a:xfrm>
            <a:off x="457200" y="1828800"/>
            <a:ext cx="4114800" cy="4724400"/>
          </a:xfrm>
          <a:prstGeom prst="foldedCorner">
            <a:avLst>
              <a:gd name="adj" fmla="val 0"/>
            </a:avLst>
          </a:prstGeom>
          <a:solidFill>
            <a:srgbClr val="EBEBF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3F53E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enum</a:t>
            </a: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OP_LA,   // Load Address: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OP_LV,   // Load Value: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OP_LC,   // load Constant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OP_LI,   // Load Indirect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OP_INT,  // Increment t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OP_DCT,  // Decrement t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OP_J,    // Jump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OP_FJ,   // False Jump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OP_HL,   // Halt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OP_ST,   // Store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OP_CALL, // Call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OP_EP,   // Exit Procedure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OP_EF,   // Exit Function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7" name="Folded Corner 6"/>
          <p:cNvSpPr>
            <a:spLocks noChangeArrowheads="1"/>
          </p:cNvSpPr>
          <p:nvPr/>
        </p:nvSpPr>
        <p:spPr bwMode="auto">
          <a:xfrm>
            <a:off x="4648200" y="1066800"/>
            <a:ext cx="4343400" cy="5486400"/>
          </a:xfrm>
          <a:prstGeom prst="foldedCorner">
            <a:avLst>
              <a:gd name="adj" fmla="val 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B2B2FF"/>
                </a:solidFill>
              </a14:hiddenFill>
            </a:ext>
          </a:extLst>
        </p:spPr>
        <p:txBody>
          <a:bodyPr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OP_RC,   // Read Char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OP_RI,   // Read Integer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OP_WRC,  // Write Char   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OP_WRI,  // Write Int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OP_WLN,  // WriteLN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OP_ADD,  // Add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OP_SUB,  // Substract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OP_MUL,  // Multiple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OP_DIV,  // Divide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OP_NEG,  // Negative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OP_CV,   // Copy Top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OP_EQ,   // Equal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OP_NE,   // Not Equal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OP_GT,   // Greater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OP_LT,   // Less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OP_GE,   // Greater or Equal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OP_LE,   // Less or Equal</a:t>
            </a:r>
          </a:p>
          <a:p>
            <a:pPr eaLnBrk="0" hangingPunct="0"/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  OP_BP    // Break point.</a:t>
            </a:r>
          </a:p>
          <a:p>
            <a:pPr eaLnBrk="0" hangingPunct="0"/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800" b="0"/>
              <a:t>OpCode</a:t>
            </a:r>
            <a:r>
              <a:rPr lang="en-US" altLang="en-US" sz="1800"/>
              <a:t> </a:t>
            </a:r>
            <a:r>
              <a:rPr lang="en-US" altLang="en-US" sz="1800" b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C08CA3-F6D9-4DAA-AF4C-21472BBE3C8E}" type="slidenum">
              <a:rPr lang="en-US" altLang="en-US"/>
              <a:pPr/>
              <a:t>85</a:t>
            </a:fld>
            <a:endParaRPr lang="en-US" altLang="en-US"/>
          </a:p>
        </p:txBody>
      </p:sp>
      <p:sp>
        <p:nvSpPr>
          <p:cNvPr id="191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2. </a:t>
            </a:r>
            <a:r>
              <a:rPr lang="en-US" altLang="en-US" sz="2800"/>
              <a:t>Máy ngăn xếp </a:t>
            </a:r>
            <a:r>
              <a:rPr lang="en-US" altLang="en-US" sz="2800">
                <a:sym typeface="Symbol" panose="05050102010706020507" pitchFamily="18" charset="2"/>
              </a:rPr>
              <a:t> Xây dựng máy ảo</a:t>
            </a:r>
          </a:p>
        </p:txBody>
      </p:sp>
      <p:sp>
        <p:nvSpPr>
          <p:cNvPr id="191385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13862" name="Text Box 6"/>
          <p:cNvSpPr txBox="1">
            <a:spLocks noChangeArrowheads="1"/>
          </p:cNvSpPr>
          <p:nvPr/>
        </p:nvSpPr>
        <p:spPr bwMode="auto">
          <a:xfrm>
            <a:off x="3581400" y="1371600"/>
            <a:ext cx="4114800" cy="2236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typedef struct{</a:t>
            </a:r>
          </a:p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  	OpCode Op;</a:t>
            </a:r>
          </a:p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  	int p;</a:t>
            </a:r>
          </a:p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  	int q;</a:t>
            </a:r>
          </a:p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} Instruction;</a:t>
            </a:r>
          </a:p>
        </p:txBody>
      </p:sp>
      <p:sp>
        <p:nvSpPr>
          <p:cNvPr id="19138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3133725" cy="592138"/>
          </a:xfrm>
          <a:noFill/>
          <a:ln/>
        </p:spPr>
        <p:txBody>
          <a:bodyPr tIns="0" bIns="0"/>
          <a:lstStyle/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 sz="2800"/>
              <a:t>Cấu trúc một lệnh</a:t>
            </a:r>
          </a:p>
        </p:txBody>
      </p:sp>
      <p:sp>
        <p:nvSpPr>
          <p:cNvPr id="1913864" name="Text Box 8"/>
          <p:cNvSpPr txBox="1">
            <a:spLocks noChangeArrowheads="1"/>
          </p:cNvSpPr>
          <p:nvPr/>
        </p:nvSpPr>
        <p:spPr bwMode="auto">
          <a:xfrm>
            <a:off x="2514600" y="4572000"/>
            <a:ext cx="5257800" cy="5286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Instruction Code [MAX_CODE];</a:t>
            </a:r>
          </a:p>
        </p:txBody>
      </p:sp>
      <p:sp>
        <p:nvSpPr>
          <p:cNvPr id="1913865" name="Rectangle 9"/>
          <p:cNvSpPr>
            <a:spLocks noChangeArrowheads="1"/>
          </p:cNvSpPr>
          <p:nvPr/>
        </p:nvSpPr>
        <p:spPr bwMode="auto">
          <a:xfrm>
            <a:off x="457200" y="3886200"/>
            <a:ext cx="4800600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fr-FR" altLang="en-US" sz="2800" b="0"/>
              <a:t>Cấu trúc đoạn mã lệnh</a:t>
            </a:r>
          </a:p>
        </p:txBody>
      </p:sp>
      <p:sp>
        <p:nvSpPr>
          <p:cNvPr id="1913866" name="Text Box 10"/>
          <p:cNvSpPr txBox="1">
            <a:spLocks noChangeArrowheads="1"/>
          </p:cNvSpPr>
          <p:nvPr/>
        </p:nvSpPr>
        <p:spPr bwMode="auto">
          <a:xfrm>
            <a:off x="2895600" y="6019800"/>
            <a:ext cx="5257800" cy="5286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800" b="0">
                <a:solidFill>
                  <a:schemeClr val="accent2"/>
                </a:solidFill>
              </a:rPr>
              <a:t>int Stack[MAX_DATA];</a:t>
            </a:r>
          </a:p>
        </p:txBody>
      </p:sp>
      <p:sp>
        <p:nvSpPr>
          <p:cNvPr id="1913867" name="Rectangle 11"/>
          <p:cNvSpPr>
            <a:spLocks noChangeArrowheads="1"/>
          </p:cNvSpPr>
          <p:nvPr/>
        </p:nvSpPr>
        <p:spPr bwMode="auto">
          <a:xfrm>
            <a:off x="381000" y="5410200"/>
            <a:ext cx="4800600" cy="59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fr-FR" altLang="en-US" sz="2800" b="0"/>
              <a:t>Cấu trúc đoạn dữ liệu (stack)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59253-A03D-4251-B1B7-01BF02758F5D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191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Xây dựng máy ảo</a:t>
            </a:r>
          </a:p>
        </p:txBody>
      </p:sp>
      <p:sp>
        <p:nvSpPr>
          <p:cNvPr id="191795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17956" name="Text Box 4"/>
          <p:cNvSpPr txBox="1">
            <a:spLocks noChangeArrowheads="1"/>
          </p:cNvSpPr>
          <p:nvPr/>
        </p:nvSpPr>
        <p:spPr bwMode="auto">
          <a:xfrm>
            <a:off x="228600" y="1295400"/>
            <a:ext cx="8686800" cy="52133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void intepreter(){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int pc = 0, t = -1, b = 0;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do {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switch (Code[pc].Op) {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	case OP_LA:   t ++;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	Stack[t] = base(Code[pc].p) + Code[pc].q;                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	break;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	case OP_LV:   t ++;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 	Stack[t] = Stack[base(Code[pc].p) + Code[pc].q];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 	break;</a:t>
            </a:r>
          </a:p>
          <a:p>
            <a:pPr algn="l"/>
            <a:r>
              <a:rPr lang="en-US" altLang="en-US" sz="2400">
                <a:solidFill>
                  <a:schemeClr val="accent2"/>
                </a:solidFill>
              </a:rPr>
              <a:t> 	</a:t>
            </a:r>
            <a:r>
              <a:rPr lang="en-US" altLang="en-US" sz="2400" b="0">
                <a:solidFill>
                  <a:schemeClr val="accent2"/>
                </a:solidFill>
              </a:rPr>
              <a:t>case OP_INT: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        t += Code[pc].q;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                    break;</a:t>
            </a:r>
          </a:p>
          <a:p>
            <a:pPr algn="l"/>
            <a:r>
              <a:rPr lang="en-US" altLang="en-US" sz="2400" b="0">
                <a:solidFill>
                  <a:schemeClr val="accent2"/>
                </a:solidFill>
              </a:rPr>
              <a:t>	case OP_DCT: …</a:t>
            </a:r>
          </a:p>
        </p:txBody>
      </p:sp>
      <p:sp>
        <p:nvSpPr>
          <p:cNvPr id="19179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3133725" cy="592138"/>
          </a:xfrm>
          <a:noFill/>
          <a:ln/>
        </p:spPr>
        <p:txBody>
          <a:bodyPr tIns="0" bIns="0"/>
          <a:lstStyle/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fr-FR" altLang="en-US" sz="2800"/>
              <a:t>Bộ thực hiện lệnh</a:t>
            </a:r>
          </a:p>
        </p:txBody>
      </p:sp>
      <p:sp>
        <p:nvSpPr>
          <p:cNvPr id="1917958" name="Text Box 6"/>
          <p:cNvSpPr txBox="1">
            <a:spLocks noChangeArrowheads="1"/>
          </p:cNvSpPr>
          <p:nvPr/>
        </p:nvSpPr>
        <p:spPr bwMode="auto">
          <a:xfrm>
            <a:off x="4800600" y="990600"/>
            <a:ext cx="38100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</a:pPr>
            <a:r>
              <a:rPr lang="fr-FR" altLang="en-US" sz="2800" b="0">
                <a:solidFill>
                  <a:schemeClr val="accent2"/>
                </a:solidFill>
              </a:rPr>
              <a:t>Hàm </a:t>
            </a:r>
            <a:r>
              <a:rPr lang="fr-FR" altLang="en-US" sz="2800">
                <a:solidFill>
                  <a:schemeClr val="accent2"/>
                </a:solidFill>
              </a:rPr>
              <a:t>base(int L)</a:t>
            </a:r>
            <a:r>
              <a:rPr lang="fr-FR" altLang="en-US" sz="2800" b="0">
                <a:solidFill>
                  <a:schemeClr val="accent2"/>
                </a:solidFill>
              </a:rPr>
              <a:t> dùng để tính địa chỉ cơ sở của chương trình con bao bên ngoài L mức</a:t>
            </a:r>
          </a:p>
        </p:txBody>
      </p:sp>
      <p:grpSp>
        <p:nvGrpSpPr>
          <p:cNvPr id="1917969" name="Group 17"/>
          <p:cNvGrpSpPr>
            <a:grpSpLocks/>
          </p:cNvGrpSpPr>
          <p:nvPr/>
        </p:nvGrpSpPr>
        <p:grpSpPr bwMode="auto">
          <a:xfrm>
            <a:off x="5257800" y="4724400"/>
            <a:ext cx="3429000" cy="1981200"/>
            <a:chOff x="3312" y="2976"/>
            <a:chExt cx="2160" cy="1248"/>
          </a:xfrm>
        </p:grpSpPr>
        <p:sp>
          <p:nvSpPr>
            <p:cNvPr id="1917959" name="Rectangle 7"/>
            <p:cNvSpPr>
              <a:spLocks noChangeArrowheads="1"/>
            </p:cNvSpPr>
            <p:nvPr/>
          </p:nvSpPr>
          <p:spPr bwMode="auto">
            <a:xfrm>
              <a:off x="3312" y="2976"/>
              <a:ext cx="2160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7960" name="Rectangle 8"/>
            <p:cNvSpPr>
              <a:spLocks noChangeArrowheads="1"/>
            </p:cNvSpPr>
            <p:nvPr/>
          </p:nvSpPr>
          <p:spPr bwMode="auto">
            <a:xfrm>
              <a:off x="3408" y="3120"/>
              <a:ext cx="1968" cy="8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7961" name="Rectangle 9"/>
            <p:cNvSpPr>
              <a:spLocks noChangeArrowheads="1"/>
            </p:cNvSpPr>
            <p:nvPr/>
          </p:nvSpPr>
          <p:spPr bwMode="auto">
            <a:xfrm>
              <a:off x="3552" y="3216"/>
              <a:ext cx="1680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7962" name="Rectangle 10"/>
            <p:cNvSpPr>
              <a:spLocks noChangeArrowheads="1"/>
            </p:cNvSpPr>
            <p:nvPr/>
          </p:nvSpPr>
          <p:spPr bwMode="auto">
            <a:xfrm>
              <a:off x="3600" y="3312"/>
              <a:ext cx="96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7963" name="Freeform 11"/>
            <p:cNvSpPr>
              <a:spLocks/>
            </p:cNvSpPr>
            <p:nvPr/>
          </p:nvSpPr>
          <p:spPr bwMode="auto">
            <a:xfrm>
              <a:off x="4464" y="3216"/>
              <a:ext cx="480" cy="280"/>
            </a:xfrm>
            <a:custGeom>
              <a:avLst/>
              <a:gdLst>
                <a:gd name="T0" fmla="*/ 0 w 480"/>
                <a:gd name="T1" fmla="*/ 240 h 280"/>
                <a:gd name="T2" fmla="*/ 288 w 480"/>
                <a:gd name="T3" fmla="*/ 240 h 280"/>
                <a:gd name="T4" fmla="*/ 480 w 480"/>
                <a:gd name="T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0" h="280">
                  <a:moveTo>
                    <a:pt x="0" y="240"/>
                  </a:moveTo>
                  <a:cubicBezTo>
                    <a:pt x="104" y="260"/>
                    <a:pt x="208" y="280"/>
                    <a:pt x="288" y="240"/>
                  </a:cubicBezTo>
                  <a:cubicBezTo>
                    <a:pt x="368" y="200"/>
                    <a:pt x="424" y="100"/>
                    <a:pt x="4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7964" name="Freeform 12"/>
            <p:cNvSpPr>
              <a:spLocks/>
            </p:cNvSpPr>
            <p:nvPr/>
          </p:nvSpPr>
          <p:spPr bwMode="auto">
            <a:xfrm>
              <a:off x="4416" y="3168"/>
              <a:ext cx="720" cy="496"/>
            </a:xfrm>
            <a:custGeom>
              <a:avLst/>
              <a:gdLst>
                <a:gd name="T0" fmla="*/ 0 w 720"/>
                <a:gd name="T1" fmla="*/ 384 h 496"/>
                <a:gd name="T2" fmla="*/ 480 w 720"/>
                <a:gd name="T3" fmla="*/ 432 h 496"/>
                <a:gd name="T4" fmla="*/ 720 w 720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496">
                  <a:moveTo>
                    <a:pt x="0" y="384"/>
                  </a:moveTo>
                  <a:cubicBezTo>
                    <a:pt x="180" y="440"/>
                    <a:pt x="360" y="496"/>
                    <a:pt x="480" y="432"/>
                  </a:cubicBezTo>
                  <a:cubicBezTo>
                    <a:pt x="600" y="368"/>
                    <a:pt x="660" y="184"/>
                    <a:pt x="72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7965" name="Freeform 13"/>
            <p:cNvSpPr>
              <a:spLocks/>
            </p:cNvSpPr>
            <p:nvPr/>
          </p:nvSpPr>
          <p:spPr bwMode="auto">
            <a:xfrm>
              <a:off x="4320" y="3024"/>
              <a:ext cx="960" cy="856"/>
            </a:xfrm>
            <a:custGeom>
              <a:avLst/>
              <a:gdLst>
                <a:gd name="T0" fmla="*/ 0 w 960"/>
                <a:gd name="T1" fmla="*/ 528 h 856"/>
                <a:gd name="T2" fmla="*/ 528 w 960"/>
                <a:gd name="T3" fmla="*/ 768 h 856"/>
                <a:gd name="T4" fmla="*/ 960 w 960"/>
                <a:gd name="T5" fmla="*/ 0 h 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0" h="856">
                  <a:moveTo>
                    <a:pt x="0" y="528"/>
                  </a:moveTo>
                  <a:cubicBezTo>
                    <a:pt x="184" y="692"/>
                    <a:pt x="368" y="856"/>
                    <a:pt x="528" y="768"/>
                  </a:cubicBezTo>
                  <a:cubicBezTo>
                    <a:pt x="688" y="680"/>
                    <a:pt x="824" y="340"/>
                    <a:pt x="96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7966" name="Text Box 14"/>
            <p:cNvSpPr txBox="1">
              <a:spLocks noChangeArrowheads="1"/>
            </p:cNvSpPr>
            <p:nvPr/>
          </p:nvSpPr>
          <p:spPr bwMode="auto">
            <a:xfrm>
              <a:off x="4512" y="360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3</a:t>
              </a:r>
            </a:p>
          </p:txBody>
        </p:sp>
        <p:sp>
          <p:nvSpPr>
            <p:cNvPr id="1917967" name="Text Box 15"/>
            <p:cNvSpPr txBox="1">
              <a:spLocks noChangeArrowheads="1"/>
            </p:cNvSpPr>
            <p:nvPr/>
          </p:nvSpPr>
          <p:spPr bwMode="auto">
            <a:xfrm>
              <a:off x="4512" y="32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1</a:t>
              </a:r>
            </a:p>
          </p:txBody>
        </p:sp>
        <p:sp>
          <p:nvSpPr>
            <p:cNvPr id="1917968" name="Text Box 16"/>
            <p:cNvSpPr txBox="1">
              <a:spLocks noChangeArrowheads="1"/>
            </p:cNvSpPr>
            <p:nvPr/>
          </p:nvSpPr>
          <p:spPr bwMode="auto">
            <a:xfrm>
              <a:off x="4608" y="336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altLang="en-US" sz="2400" b="0"/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1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1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795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F30478-57CA-4959-823C-91766C3847EA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191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2. </a:t>
            </a:r>
            <a:r>
              <a:rPr lang="en-US" altLang="en-US"/>
              <a:t>Máy ngăn xếp </a:t>
            </a:r>
            <a:r>
              <a:rPr lang="en-US" altLang="en-US">
                <a:sym typeface="Symbol" panose="05050102010706020507" pitchFamily="18" charset="2"/>
              </a:rPr>
              <a:t> Xây dựng máy ảo</a:t>
            </a:r>
          </a:p>
        </p:txBody>
      </p:sp>
      <p:sp>
        <p:nvSpPr>
          <p:cNvPr id="191897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189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724900" cy="56388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		……..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		</a:t>
            </a:r>
            <a:r>
              <a:rPr lang="fr-FR" altLang="en-US" sz="2400"/>
              <a:t>case OP_CALL: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                    Stack[t+2] = b;                 </a:t>
            </a:r>
            <a:r>
              <a:rPr lang="fr-FR" altLang="en-US" sz="2400">
                <a:solidFill>
                  <a:schemeClr val="bg2"/>
                </a:solidFill>
              </a:rPr>
              <a:t>// Dynamic Link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                    Stack[t+3] = pc;                </a:t>
            </a:r>
            <a:r>
              <a:rPr lang="fr-FR" altLang="en-US" sz="2400">
                <a:solidFill>
                  <a:schemeClr val="bg2"/>
                </a:solidFill>
              </a:rPr>
              <a:t>// Return Address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                    Stack[t+4] = </a:t>
            </a:r>
            <a:r>
              <a:rPr lang="fr-FR" altLang="en-US" sz="2400" b="1">
                <a:solidFill>
                  <a:srgbClr val="3F53E5"/>
                </a:solidFill>
              </a:rPr>
              <a:t>base</a:t>
            </a:r>
            <a:r>
              <a:rPr lang="fr-FR" altLang="en-US" sz="2400"/>
              <a:t>(Code[pc].p);  </a:t>
            </a:r>
            <a:r>
              <a:rPr lang="fr-FR" altLang="en-US" sz="2400">
                <a:solidFill>
                  <a:schemeClr val="bg2"/>
                </a:solidFill>
              </a:rPr>
              <a:t>// Static Link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                    b = t + 1;                      </a:t>
            </a:r>
            <a:r>
              <a:rPr lang="fr-FR" altLang="en-US" sz="2400">
                <a:solidFill>
                  <a:schemeClr val="bg2"/>
                </a:solidFill>
              </a:rPr>
              <a:t>// Base &amp; Result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                    pc = </a:t>
            </a:r>
            <a:r>
              <a:rPr lang="fr-FR" altLang="en-US" sz="2400" b="1"/>
              <a:t>Code[pc].q - 1</a:t>
            </a:r>
            <a:r>
              <a:rPr lang="fr-FR" altLang="en-US" sz="2400"/>
              <a:t>;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		         break;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		case OP_J: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                   </a:t>
            </a:r>
            <a:r>
              <a:rPr lang="en-US" altLang="en-US" sz="2400" b="1"/>
              <a:t>pc = Code[pc].q - 1;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                   break;</a:t>
            </a:r>
            <a:endParaRPr lang="fr-FR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		} </a:t>
            </a:r>
            <a:r>
              <a:rPr lang="en-US" altLang="en-US" sz="2400">
                <a:solidFill>
                  <a:schemeClr val="bg2"/>
                </a:solidFill>
              </a:rPr>
              <a:t>//switch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		pc++;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	}while(Exit == 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fr-FR" altLang="en-US" sz="2400"/>
              <a:t>}</a:t>
            </a:r>
            <a:r>
              <a:rPr lang="fr-FR" altLang="en-US" sz="2400">
                <a:solidFill>
                  <a:schemeClr val="bg2"/>
                </a:solidFill>
              </a:rPr>
              <a:t>//intepreter</a:t>
            </a:r>
          </a:p>
        </p:txBody>
      </p:sp>
      <p:sp>
        <p:nvSpPr>
          <p:cNvPr id="1918981" name="Text Box 5"/>
          <p:cNvSpPr txBox="1">
            <a:spLocks noChangeArrowheads="1"/>
          </p:cNvSpPr>
          <p:nvPr/>
        </p:nvSpPr>
        <p:spPr bwMode="auto">
          <a:xfrm>
            <a:off x="5638800" y="3733800"/>
            <a:ext cx="3276600" cy="3022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int base(int L) {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int c = b;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while (L &gt; 0) {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  c = Stack[c + 3];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  L --;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}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  return c;</a:t>
            </a:r>
          </a:p>
          <a:p>
            <a:pPr algn="l"/>
            <a:r>
              <a:rPr lang="fr-FR" altLang="en-US" sz="2400" b="0">
                <a:solidFill>
                  <a:schemeClr val="accent2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1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898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263031-774C-449F-A301-883C804964DD}" type="slidenum">
              <a:rPr lang="en-US" altLang="en-US"/>
              <a:pPr/>
              <a:t>88</a:t>
            </a:fld>
            <a:endParaRPr lang="en-US" altLang="en-US"/>
          </a:p>
        </p:txBody>
      </p:sp>
      <p:sp>
        <p:nvSpPr>
          <p:cNvPr id="19210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/>
              <a:t>Mã trung gian là ký pháp Ba lan sau</a:t>
            </a:r>
          </a:p>
          <a:p>
            <a:pPr marL="347663" indent="-347663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Gặp các toán hạng: </a:t>
            </a:r>
          </a:p>
          <a:p>
            <a:pPr marL="912813" lvl="1" indent="-450850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Sinh mã lệnh đưa giá trị toán hạng lên stack</a:t>
            </a:r>
          </a:p>
          <a:p>
            <a:pPr marL="1255713" lvl="2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Nếu toán hạng là hằng số: LC</a:t>
            </a:r>
          </a:p>
          <a:p>
            <a:pPr marL="1255713" lvl="2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Toán hạng là một địa chỉ : LV </a:t>
            </a:r>
          </a:p>
          <a:p>
            <a:pPr marL="347663" indent="-347663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Gặp các toán tử: </a:t>
            </a:r>
          </a:p>
          <a:p>
            <a:pPr marL="912813" lvl="1" indent="-450850">
              <a:lnSpc>
                <a:spcPct val="120000"/>
              </a:lnSpc>
              <a:tabLst>
                <a:tab pos="739775" algn="l"/>
              </a:tabLst>
            </a:pPr>
            <a:r>
              <a:rPr lang="en-US" altLang="en-US"/>
              <a:t>Sinh mã của toán tử tương ứng</a:t>
            </a:r>
          </a:p>
        </p:txBody>
      </p:sp>
      <p:sp>
        <p:nvSpPr>
          <p:cNvPr id="19210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3. </a:t>
            </a:r>
            <a:r>
              <a:rPr lang="en-US" altLang="en-US"/>
              <a:t>Sinh mã đích từ mã trung gian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102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47142D-DC52-4EA0-A2B4-4E0B49C5AE38}" type="slidenum">
              <a:rPr lang="en-US" altLang="en-US"/>
              <a:pPr/>
              <a:t>89</a:t>
            </a:fld>
            <a:endParaRPr lang="en-US" altLang="en-US"/>
          </a:p>
        </p:txBody>
      </p:sp>
      <p:sp>
        <p:nvSpPr>
          <p:cNvPr id="1923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b="1"/>
              <a:t>Ví dụ:</a:t>
            </a:r>
            <a:r>
              <a:rPr lang="en-US" altLang="en-US"/>
              <a:t>  biểu thức 1 + 2 * 3 + 4 </a:t>
            </a:r>
            <a:r>
              <a:rPr lang="en-US" altLang="en-US">
                <a:sym typeface="Symbol" panose="05050102010706020507" pitchFamily="18" charset="2"/>
              </a:rPr>
              <a:t> </a:t>
            </a:r>
            <a:r>
              <a:rPr lang="en-US" altLang="en-US"/>
              <a:t>1 2 3 * + 4 +</a:t>
            </a:r>
          </a:p>
          <a:p>
            <a:pPr marL="347663" indent="-347663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/>
              <a:t>Sinh mã: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LC 1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LC 2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LC 3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MUL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ADD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LC 4</a:t>
            </a:r>
          </a:p>
          <a:p>
            <a:pPr marL="1763713" lvl="3" indent="-393700">
              <a:lnSpc>
                <a:spcPct val="120000"/>
              </a:lnSpc>
              <a:buFontTx/>
              <a:buNone/>
              <a:tabLst>
                <a:tab pos="739775" algn="l"/>
              </a:tabLst>
            </a:pPr>
            <a:r>
              <a:rPr lang="en-US" altLang="en-US" sz="2800"/>
              <a:t>AD</a:t>
            </a:r>
          </a:p>
        </p:txBody>
      </p:sp>
      <p:sp>
        <p:nvSpPr>
          <p:cNvPr id="19230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3. </a:t>
            </a:r>
            <a:r>
              <a:rPr lang="en-US" altLang="en-US"/>
              <a:t>Sinh mã đích từ mã trung gian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30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23077" name="Text Box 5"/>
          <p:cNvSpPr txBox="1">
            <a:spLocks noChangeArrowheads="1"/>
          </p:cNvSpPr>
          <p:nvPr/>
        </p:nvSpPr>
        <p:spPr bwMode="auto">
          <a:xfrm>
            <a:off x="3429000" y="2286000"/>
            <a:ext cx="5410200" cy="41592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704975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146425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325813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5052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962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419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876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334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(a + b) * (c + d)   a  b + c d + *</a:t>
            </a:r>
          </a:p>
          <a:p>
            <a:pPr>
              <a:lnSpc>
                <a:spcPct val="90000"/>
              </a:lnSpc>
            </a:pPr>
            <a:r>
              <a:rPr lang="en-US" altLang="en-US" sz="2800" b="0">
                <a:solidFill>
                  <a:schemeClr val="bg2"/>
                </a:solidFill>
                <a:sym typeface="Symbol" panose="05050102010706020507" pitchFamily="18" charset="2"/>
              </a:rPr>
              <a:t>//a, b, c, d là các hằng số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LC a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LC b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ADD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LC c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LC d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ADD</a:t>
            </a:r>
          </a:p>
          <a:p>
            <a:pPr lvl="1">
              <a:lnSpc>
                <a:spcPct val="110000"/>
              </a:lnSpc>
            </a:pPr>
            <a:r>
              <a:rPr lang="en-US" altLang="en-US" sz="2800" b="0">
                <a:solidFill>
                  <a:srgbClr val="270076"/>
                </a:solidFill>
                <a:sym typeface="Symbol" panose="05050102010706020507" pitchFamily="18" charset="2"/>
              </a:rPr>
              <a:t>MUL</a:t>
            </a:r>
            <a:endParaRPr lang="fr-FR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2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307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CBFA87-8DEB-4B55-AE00-4CD9964E07B8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19220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/>
              <a:t>Mã trung gian là mã 3 địa chỉ</a:t>
            </a:r>
          </a:p>
          <a:p>
            <a:pPr marL="912813" lvl="1" indent="-450850">
              <a:lnSpc>
                <a:spcPct val="110000"/>
              </a:lnSpc>
              <a:tabLst>
                <a:tab pos="739775" algn="l"/>
              </a:tabLst>
            </a:pPr>
            <a:r>
              <a:rPr lang="en-US" altLang="en-US" b="1"/>
              <a:t>Nguyên tắc:</a:t>
            </a:r>
            <a:r>
              <a:rPr lang="en-US" altLang="en-US"/>
              <a:t> </a:t>
            </a:r>
          </a:p>
          <a:p>
            <a:pPr marL="1255713" lvl="2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Ánh xạ mỗi câu lệnh mã 3 địa chỉ bội thành dãy các lệnh mã máy tương ứng</a:t>
            </a:r>
          </a:p>
          <a:p>
            <a:pPr marL="912813" lvl="1" indent="-450850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Giả thiết </a:t>
            </a:r>
          </a:p>
          <a:p>
            <a:pPr marL="1255713" lvl="2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A là một đối đượng, A.addr là địa chỉ của A trong bảng ký hiệu</a:t>
            </a:r>
          </a:p>
          <a:p>
            <a:pPr marL="912813" lvl="1" indent="-450850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Chú ý: </a:t>
            </a:r>
          </a:p>
          <a:p>
            <a:pPr marL="1255713" lvl="2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Các câu lệnh gán 3 đia chỉ có thể chuyển đổi thành dạng hậu tố</a:t>
            </a:r>
          </a:p>
          <a:p>
            <a:pPr marL="1255713" lvl="2">
              <a:lnSpc>
                <a:spcPct val="110000"/>
              </a:lnSpc>
              <a:tabLst>
                <a:tab pos="739775" algn="l"/>
              </a:tabLst>
            </a:pPr>
            <a:r>
              <a:rPr lang="en-US" altLang="en-US"/>
              <a:t>Ví dụ: a := b + c </a:t>
            </a:r>
            <a:r>
              <a:rPr lang="en-US" altLang="en-US">
                <a:sym typeface="Symbol" panose="05050102010706020507" pitchFamily="18" charset="2"/>
              </a:rPr>
              <a:t> a  b  c + :=</a:t>
            </a:r>
          </a:p>
        </p:txBody>
      </p:sp>
      <p:sp>
        <p:nvSpPr>
          <p:cNvPr id="19220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3. </a:t>
            </a:r>
            <a:r>
              <a:rPr lang="en-US" altLang="en-US"/>
              <a:t>Sinh mã đích từ mã trung gian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205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928E61-D090-4C0B-83D0-886D885ABB38}" type="slidenum">
              <a:rPr lang="en-US" altLang="en-US"/>
              <a:pPr/>
              <a:t>91</a:t>
            </a:fld>
            <a:endParaRPr lang="en-US" altLang="en-US"/>
          </a:p>
        </p:txBody>
      </p:sp>
      <p:sp>
        <p:nvSpPr>
          <p:cNvPr id="192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3590925" cy="3792538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 b="1">
                <a:sym typeface="Symbol" panose="05050102010706020507" pitchFamily="18" charset="2"/>
              </a:rPr>
              <a:t>a := b + c</a:t>
            </a:r>
          </a:p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>
                <a:sym typeface="Symbol" panose="05050102010706020507" pitchFamily="18" charset="2"/>
              </a:rPr>
              <a:t>LA  a.Addr</a:t>
            </a:r>
          </a:p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>
                <a:sym typeface="Symbol" panose="05050102010706020507" pitchFamily="18" charset="2"/>
              </a:rPr>
              <a:t>LV  b.Addr //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LC b</a:t>
            </a:r>
          </a:p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>
                <a:sym typeface="Symbol" panose="05050102010706020507" pitchFamily="18" charset="2"/>
              </a:rPr>
              <a:t>LV	c.Addr //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LC c</a:t>
            </a:r>
          </a:p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>
                <a:sym typeface="Symbol" panose="05050102010706020507" pitchFamily="18" charset="2"/>
              </a:rPr>
              <a:t>ADD</a:t>
            </a:r>
          </a:p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>
                <a:sym typeface="Symbol" panose="05050102010706020507" pitchFamily="18" charset="2"/>
              </a:rPr>
              <a:t>ST</a:t>
            </a:r>
          </a:p>
        </p:txBody>
      </p:sp>
      <p:sp>
        <p:nvSpPr>
          <p:cNvPr id="192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3. </a:t>
            </a:r>
            <a:r>
              <a:rPr lang="en-US" altLang="en-US"/>
              <a:t>Sinh mã đích từ mã trung gian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410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24101" name="Rectangle 5"/>
          <p:cNvSpPr>
            <a:spLocks noChangeArrowheads="1"/>
          </p:cNvSpPr>
          <p:nvPr/>
        </p:nvSpPr>
        <p:spPr bwMode="auto">
          <a:xfrm>
            <a:off x="4943475" y="1295400"/>
            <a:ext cx="3590925" cy="37925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a := b * c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LA  a.Addr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LV  b.Addr //</a:t>
            </a:r>
            <a:r>
              <a:rPr lang="en-US" altLang="en-US" b="0">
                <a:solidFill>
                  <a:schemeClr val="bg2"/>
                </a:solidFill>
                <a:sym typeface="Symbol" panose="05050102010706020507" pitchFamily="18" charset="2"/>
              </a:rPr>
              <a:t>LC b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LV	c.Addr //</a:t>
            </a:r>
            <a:r>
              <a:rPr lang="en-US" altLang="en-US" b="0">
                <a:solidFill>
                  <a:schemeClr val="bg2"/>
                </a:solidFill>
                <a:sym typeface="Symbol" panose="05050102010706020507" pitchFamily="18" charset="2"/>
              </a:rPr>
              <a:t>LC c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MUL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ST</a:t>
            </a:r>
          </a:p>
        </p:txBody>
      </p:sp>
      <p:sp>
        <p:nvSpPr>
          <p:cNvPr id="1924102" name="Rectangle 6"/>
          <p:cNvSpPr>
            <a:spLocks noChangeArrowheads="1"/>
          </p:cNvSpPr>
          <p:nvPr/>
        </p:nvSpPr>
        <p:spPr bwMode="auto">
          <a:xfrm>
            <a:off x="457200" y="5351463"/>
            <a:ext cx="8229600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a.Addr</a:t>
            </a:r>
            <a:r>
              <a:rPr lang="en-US" altLang="en-US" sz="2800" b="0">
                <a:sym typeface="Symbol" panose="05050102010706020507" pitchFamily="18" charset="2"/>
              </a:rPr>
              <a:t> : Địa chỉ của a trong đoạn dữ liệu (stack) </a:t>
            </a:r>
          </a:p>
          <a:p>
            <a:pPr lvl="1">
              <a:lnSpc>
                <a:spcPct val="110000"/>
              </a:lnSpc>
            </a:pPr>
            <a:r>
              <a:rPr lang="en-US" altLang="en-US" sz="2400" b="0">
                <a:sym typeface="Symbol" panose="05050102010706020507" pitchFamily="18" charset="2"/>
              </a:rPr>
              <a:t>	Tính toán dựa vào trường offset trong bảng ký hiệu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CDF085-9890-482A-8112-03D777F8B0E5}" type="slidenum">
              <a:rPr lang="en-US" altLang="en-US"/>
              <a:pPr/>
              <a:t>92</a:t>
            </a:fld>
            <a:endParaRPr lang="en-US" altLang="en-US"/>
          </a:p>
        </p:txBody>
      </p:sp>
      <p:sp>
        <p:nvSpPr>
          <p:cNvPr id="192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3124200" cy="14478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347663" indent="-347663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 b="1">
                <a:sym typeface="Symbol" panose="05050102010706020507" pitchFamily="18" charset="2"/>
              </a:rPr>
              <a:t>goto L</a:t>
            </a:r>
          </a:p>
          <a:p>
            <a:pPr marL="912813" lvl="1" indent="-450850">
              <a:lnSpc>
                <a:spcPct val="110000"/>
              </a:lnSpc>
              <a:buFontTx/>
              <a:buNone/>
              <a:tabLst>
                <a:tab pos="739775" algn="l"/>
              </a:tabLst>
            </a:pPr>
            <a:r>
              <a:rPr lang="en-US" altLang="en-US" sz="3200">
                <a:sym typeface="Symbol" panose="05050102010706020507" pitchFamily="18" charset="2"/>
              </a:rPr>
              <a:t>J f(L)</a:t>
            </a:r>
          </a:p>
        </p:txBody>
      </p:sp>
      <p:sp>
        <p:nvSpPr>
          <p:cNvPr id="19251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3. </a:t>
            </a:r>
            <a:r>
              <a:rPr lang="en-US" altLang="en-US"/>
              <a:t>Sinh mã đích từ mã trung gian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51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25125" name="Rectangle 5"/>
          <p:cNvSpPr>
            <a:spLocks noChangeArrowheads="1"/>
          </p:cNvSpPr>
          <p:nvPr/>
        </p:nvSpPr>
        <p:spPr bwMode="auto">
          <a:xfrm>
            <a:off x="533400" y="2895600"/>
            <a:ext cx="3048000" cy="3200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if a goto L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LV a.Addr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LC 0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EQ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FJ f(L)</a:t>
            </a:r>
          </a:p>
        </p:txBody>
      </p:sp>
      <p:sp>
        <p:nvSpPr>
          <p:cNvPr id="1925126" name="Rectangle 6"/>
          <p:cNvSpPr>
            <a:spLocks noChangeArrowheads="1"/>
          </p:cNvSpPr>
          <p:nvPr/>
        </p:nvSpPr>
        <p:spPr bwMode="auto">
          <a:xfrm>
            <a:off x="4191000" y="2895600"/>
            <a:ext cx="3048000" cy="33528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if a &gt; 10 goto L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LV a.Addr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LC 10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LE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en-US" altLang="en-US" sz="3200" b="0">
                <a:sym typeface="Symbol" panose="05050102010706020507" pitchFamily="18" charset="2"/>
              </a:rPr>
              <a:t>FJ f(L)</a:t>
            </a:r>
          </a:p>
        </p:txBody>
      </p:sp>
      <p:sp>
        <p:nvSpPr>
          <p:cNvPr id="1925127" name="Rectangle 7"/>
          <p:cNvSpPr>
            <a:spLocks noChangeArrowheads="1"/>
          </p:cNvSpPr>
          <p:nvPr/>
        </p:nvSpPr>
        <p:spPr bwMode="auto">
          <a:xfrm>
            <a:off x="4038600" y="1143000"/>
            <a:ext cx="4572000" cy="1143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73977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tabLst>
                <a:tab pos="73977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5713" indent="-228600" algn="l">
              <a:spcBef>
                <a:spcPct val="20000"/>
              </a:spcBef>
              <a:buChar char="•"/>
              <a:tabLst>
                <a:tab pos="73977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481138" indent="-111125" algn="l">
              <a:spcBef>
                <a:spcPct val="20000"/>
              </a:spcBef>
              <a:buChar char="–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461963" algn="l">
              <a:spcBef>
                <a:spcPct val="20000"/>
              </a:spcBef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461963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73977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f(L):  Là hàm ánh xạ từ nhãn L thành một địa chỉ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7DD13A-6D46-4D5B-9BA4-D7DC21D33F2A}" type="slidenum">
              <a:rPr lang="en-US" altLang="en-US"/>
              <a:pPr/>
              <a:t>93</a:t>
            </a:fld>
            <a:endParaRPr lang="en-US" altLang="en-US"/>
          </a:p>
        </p:txBody>
      </p:sp>
      <p:sp>
        <p:nvSpPr>
          <p:cNvPr id="192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609600" indent="-6096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Xây dựng lại bảng ký hiệu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Bổ sung thông tin cho biến 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Bổ sung thông tin cho tham số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Bổ sung thông tin cho hàm/thủ tục/chương trình</a:t>
            </a:r>
          </a:p>
          <a:p>
            <a:pPr marL="609600" indent="-6096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Sinh mã cho các câu lệnh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Câu lệnh gán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Câu lệnh rẽ nhánh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Câu lệnh lặp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Câu lệnh lấy địa chỉ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Gọi thủ tục</a:t>
            </a:r>
          </a:p>
        </p:txBody>
      </p:sp>
      <p:sp>
        <p:nvSpPr>
          <p:cNvPr id="19261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4. </a:t>
            </a:r>
            <a:r>
              <a:rPr lang="en-US" altLang="en-US"/>
              <a:t>Sinh mã đích trực tiếp từ mã nguồn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614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AB3C56-9542-485B-9218-B9EC3253700D}" type="slidenum">
              <a:rPr lang="en-US" altLang="en-US"/>
              <a:pPr/>
              <a:t>94</a:t>
            </a:fld>
            <a:endParaRPr lang="en-US" altLang="en-US"/>
          </a:p>
        </p:txBody>
      </p:sp>
      <p:sp>
        <p:nvSpPr>
          <p:cNvPr id="192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931863"/>
            <a:ext cx="8813800" cy="5773737"/>
          </a:xfrm>
        </p:spPr>
        <p:txBody>
          <a:bodyPr/>
          <a:lstStyle/>
          <a:p>
            <a:pPr marL="609600" indent="-609600">
              <a:lnSpc>
                <a:spcPct val="105000"/>
              </a:lnSpc>
              <a:buFontTx/>
              <a:buNone/>
              <a:tabLst>
                <a:tab pos="739775" algn="l"/>
              </a:tabLst>
            </a:pPr>
            <a:r>
              <a:rPr lang="en-US" altLang="en-US"/>
              <a:t>Xây dựng lại bảng ký hiệu</a:t>
            </a:r>
          </a:p>
          <a:p>
            <a:pPr marL="609600" indent="-6096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Với biến 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Vị trí trên bản hoạt động của biến</a:t>
            </a:r>
          </a:p>
          <a:p>
            <a:pPr marL="609600" indent="-6096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Với tham số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Vị trí trên bản hoạt động của tham số</a:t>
            </a:r>
          </a:p>
          <a:p>
            <a:pPr marL="1484313" lvl="2" indent="-4572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Vị trí tính từ base của Frame</a:t>
            </a:r>
          </a:p>
          <a:p>
            <a:pPr marL="609600" indent="-6096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Với thủ tục</a:t>
            </a:r>
          </a:p>
          <a:p>
            <a:pPr marL="995363" lvl="1" indent="-533400">
              <a:lnSpc>
                <a:spcPct val="105000"/>
              </a:lnSpc>
              <a:tabLst>
                <a:tab pos="739775" algn="l"/>
              </a:tabLst>
            </a:pPr>
            <a:r>
              <a:rPr lang="en-US" altLang="en-US"/>
              <a:t>Số lượng tham số</a:t>
            </a:r>
          </a:p>
        </p:txBody>
      </p:sp>
      <p:sp>
        <p:nvSpPr>
          <p:cNvPr id="1927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4. </a:t>
            </a:r>
            <a:r>
              <a:rPr lang="en-US" altLang="en-US"/>
              <a:t>Sinh mã đích trực tiếp từ mã nguồn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9271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232E2E-1F43-465A-B849-D53E0F4E2522}" type="slidenum">
              <a:rPr lang="en-US" altLang="en-US"/>
              <a:pPr/>
              <a:t>95</a:t>
            </a:fld>
            <a:endParaRPr lang="en-US" altLang="en-US"/>
          </a:p>
        </p:txBody>
      </p:sp>
      <p:sp>
        <p:nvSpPr>
          <p:cNvPr id="197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 </a:t>
            </a:r>
            <a:r>
              <a:rPr lang="en-US" altLang="en-US">
                <a:sym typeface="Symbol" panose="05050102010706020507" pitchFamily="18" charset="2"/>
              </a:rPr>
              <a:t> Biểu thức</a:t>
            </a:r>
          </a:p>
        </p:txBody>
      </p:sp>
      <p:sp>
        <p:nvSpPr>
          <p:cNvPr id="197325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graphicFrame>
        <p:nvGraphicFramePr>
          <p:cNvPr id="1973252" name="Group 4"/>
          <p:cNvGraphicFramePr>
            <a:graphicFrameLocks noGrp="1"/>
          </p:cNvGraphicFramePr>
          <p:nvPr>
            <p:ph sz="half" idx="2"/>
          </p:nvPr>
        </p:nvGraphicFramePr>
        <p:xfrm>
          <a:off x="457200" y="990600"/>
          <a:ext cx="8077200" cy="4433952"/>
        </p:xfrm>
        <a:graphic>
          <a:graphicData uri="http://schemas.openxmlformats.org/drawingml/2006/table">
            <a:tbl>
              <a:tblPr/>
              <a:tblGrid>
                <a:gridCol w="199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Ba lan sau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 sinh mã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T{+T}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T{T+}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GenT() {genT() ADD}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F{*F}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F{F*}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GenF() {genF() ML}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LV Id.Addr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LC 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(E)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genE(), genT(), genF(): hàm sinh mã cho ký hiệu E, T, 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-  genE(), genT(): Là lời gọi tới thủ tục phân tích E,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-  genF(): Tùy thuộc vào sản xuất được sử dụng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73284" name="Rectangle 3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5562600"/>
            <a:ext cx="22860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>
                <a:solidFill>
                  <a:srgbClr val="CC6600"/>
                </a:solidFill>
              </a:rPr>
              <a:t>F </a:t>
            </a:r>
            <a:r>
              <a:rPr lang="en-US" altLang="en-US" sz="2800">
                <a:solidFill>
                  <a:srgbClr val="CC6600"/>
                </a:solidFill>
                <a:sym typeface="Symbol" panose="05050102010706020507" pitchFamily="18" charset="2"/>
              </a:rPr>
              <a:t> Id[E] ?</a:t>
            </a:r>
            <a:endParaRPr lang="fr-FR" altLang="en-US" sz="2800">
              <a:solidFill>
                <a:srgbClr val="CC6600"/>
              </a:solidFill>
            </a:endParaRPr>
          </a:p>
        </p:txBody>
      </p:sp>
      <p:sp>
        <p:nvSpPr>
          <p:cNvPr id="1973285" name="Rectangle 37"/>
          <p:cNvSpPr>
            <a:spLocks noChangeArrowheads="1"/>
          </p:cNvSpPr>
          <p:nvPr/>
        </p:nvSpPr>
        <p:spPr bwMode="auto">
          <a:xfrm>
            <a:off x="304800" y="6157913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LA Id.Addr; LC Id.widthType; genE();MUL;  ADD; LI; </a:t>
            </a:r>
            <a:endParaRPr lang="fr-FR" altLang="en-US" b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3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3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3284" grpId="0" build="p"/>
      <p:bldP spid="197328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D50A2E-6CEB-488D-9DC6-98A49A34DFF3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197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 </a:t>
            </a:r>
            <a:r>
              <a:rPr lang="en-US" altLang="en-US">
                <a:sym typeface="Symbol" panose="05050102010706020507" pitchFamily="18" charset="2"/>
              </a:rPr>
              <a:t> Biểu thức</a:t>
            </a:r>
          </a:p>
        </p:txBody>
      </p:sp>
      <p:sp>
        <p:nvSpPr>
          <p:cNvPr id="197222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72260" name="Rectangle 36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1371600"/>
            <a:ext cx="8191500" cy="5334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/>
              <a:t>void term(){</a:t>
            </a:r>
          </a:p>
          <a:p>
            <a:pPr>
              <a:buFontTx/>
              <a:buNone/>
            </a:pPr>
            <a:r>
              <a:rPr lang="en-US" altLang="en-US" sz="2800"/>
              <a:t>	factor();</a:t>
            </a:r>
          </a:p>
          <a:p>
            <a:pPr>
              <a:buFontTx/>
              <a:buNone/>
            </a:pPr>
            <a:r>
              <a:rPr lang="en-US" altLang="en-US" sz="2800"/>
              <a:t>	while(Token == TIMES || Token == SLASH){</a:t>
            </a:r>
          </a:p>
          <a:p>
            <a:pPr>
              <a:buFontTx/>
              <a:buNone/>
            </a:pPr>
            <a:r>
              <a:rPr lang="en-US" altLang="en-US" sz="2800"/>
              <a:t>		</a:t>
            </a:r>
            <a:r>
              <a:rPr lang="en-US" altLang="en-US" sz="2800">
                <a:solidFill>
                  <a:srgbClr val="CC6600"/>
                </a:solidFill>
              </a:rPr>
              <a:t>Op = Token</a:t>
            </a:r>
            <a:r>
              <a:rPr lang="en-US" altLang="en-US" sz="2800"/>
              <a:t>;</a:t>
            </a:r>
          </a:p>
          <a:p>
            <a:pPr>
              <a:buFontTx/>
              <a:buNone/>
            </a:pPr>
            <a:r>
              <a:rPr lang="en-US" altLang="en-US" sz="2800"/>
              <a:t>		Token = getToken();</a:t>
            </a:r>
          </a:p>
          <a:p>
            <a:pPr>
              <a:buFontTx/>
              <a:buNone/>
            </a:pPr>
            <a:r>
              <a:rPr lang="en-US" altLang="en-US" sz="2800"/>
              <a:t>		factor();</a:t>
            </a:r>
          </a:p>
          <a:p>
            <a:pPr>
              <a:buFontTx/>
              <a:buNone/>
            </a:pPr>
            <a:r>
              <a:rPr lang="en-US" altLang="en-US" sz="2800"/>
              <a:t>		</a:t>
            </a:r>
            <a:r>
              <a:rPr lang="en-US" altLang="en-US" sz="2800">
                <a:solidFill>
                  <a:srgbClr val="CC6600"/>
                </a:solidFill>
              </a:rPr>
              <a:t>if (Op == TIMES) genCode(OP_ML);</a:t>
            </a:r>
          </a:p>
          <a:p>
            <a:pPr>
              <a:buFontTx/>
              <a:buNone/>
            </a:pPr>
            <a:r>
              <a:rPr lang="en-US" altLang="en-US" sz="2800">
                <a:solidFill>
                  <a:srgbClr val="CC6600"/>
                </a:solidFill>
              </a:rPr>
              <a:t>		else genCode(OP_DV);</a:t>
            </a:r>
          </a:p>
          <a:p>
            <a:pPr>
              <a:buFontTx/>
              <a:buNone/>
            </a:pPr>
            <a:r>
              <a:rPr lang="en-US" altLang="en-US" sz="2800"/>
              <a:t>	}</a:t>
            </a:r>
          </a:p>
          <a:p>
            <a:pPr>
              <a:buFontTx/>
              <a:buNone/>
            </a:pPr>
            <a:r>
              <a:rPr lang="en-US" altLang="en-US" sz="2800"/>
              <a:t>}</a:t>
            </a:r>
            <a:endParaRPr lang="fr-FR" altLang="en-US" sz="2800"/>
          </a:p>
        </p:txBody>
      </p:sp>
      <p:pic>
        <p:nvPicPr>
          <p:cNvPr id="19722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895350"/>
            <a:ext cx="5562600" cy="1390650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2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72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72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1A27C3-F0C6-4AED-95A3-8D9120CA517C}" type="slidenum">
              <a:rPr lang="en-US" altLang="en-US"/>
              <a:pPr/>
              <a:t>97</a:t>
            </a:fld>
            <a:endParaRPr lang="en-US" altLang="en-US"/>
          </a:p>
        </p:txBody>
      </p:sp>
      <p:sp>
        <p:nvSpPr>
          <p:cNvPr id="192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 </a:t>
            </a:r>
            <a:r>
              <a:rPr lang="en-US" altLang="en-US">
                <a:sym typeface="Symbol" panose="05050102010706020507" pitchFamily="18" charset="2"/>
              </a:rPr>
              <a:t> Biểu thức</a:t>
            </a:r>
          </a:p>
        </p:txBody>
      </p:sp>
      <p:sp>
        <p:nvSpPr>
          <p:cNvPr id="19281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28273" name="Rectangle 81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905000"/>
            <a:ext cx="3124200" cy="4114800"/>
          </a:xfrm>
        </p:spPr>
        <p:txBody>
          <a:bodyPr/>
          <a:lstStyle/>
          <a:p>
            <a:r>
              <a:rPr lang="fr-FR" altLang="en-US" sz="2800"/>
              <a:t>LV 15</a:t>
            </a:r>
          </a:p>
          <a:p>
            <a:r>
              <a:rPr lang="fr-FR" altLang="en-US" sz="2800"/>
              <a:t>LC 10</a:t>
            </a:r>
          </a:p>
          <a:p>
            <a:r>
              <a:rPr lang="fr-FR" altLang="en-US" sz="2800"/>
              <a:t>LV 20</a:t>
            </a:r>
          </a:p>
          <a:p>
            <a:r>
              <a:rPr lang="fr-FR" altLang="en-US" sz="2800"/>
              <a:t>LC 5</a:t>
            </a:r>
          </a:p>
          <a:p>
            <a:r>
              <a:rPr lang="fr-FR" altLang="en-US" sz="2800"/>
              <a:t>ADD</a:t>
            </a:r>
          </a:p>
          <a:p>
            <a:r>
              <a:rPr lang="fr-FR" altLang="en-US" sz="2800"/>
              <a:t>MUL</a:t>
            </a:r>
          </a:p>
          <a:p>
            <a:r>
              <a:rPr lang="fr-FR" altLang="en-US" sz="2800"/>
              <a:t>ADD</a:t>
            </a:r>
          </a:p>
        </p:txBody>
      </p:sp>
      <p:sp>
        <p:nvSpPr>
          <p:cNvPr id="1928299" name="Rectangle 107"/>
          <p:cNvSpPr>
            <a:spLocks noGrp="1" noChangeArrowheads="1"/>
          </p:cNvSpPr>
          <p:nvPr>
            <p:ph sz="half" idx="2"/>
          </p:nvPr>
        </p:nvSpPr>
        <p:spPr>
          <a:xfrm>
            <a:off x="2057400" y="990600"/>
            <a:ext cx="3219450" cy="609600"/>
          </a:xfrm>
          <a:ln>
            <a:solidFill>
              <a:srgbClr val="3F53E5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buFontTx/>
              <a:buNone/>
            </a:pPr>
            <a:r>
              <a:rPr lang="fr-FR" altLang="en-US" sz="2800"/>
              <a:t>a+10 * (b+5)</a:t>
            </a:r>
          </a:p>
        </p:txBody>
      </p:sp>
      <p:grpSp>
        <p:nvGrpSpPr>
          <p:cNvPr id="1928302" name="Group 110"/>
          <p:cNvGrpSpPr>
            <a:grpSpLocks/>
          </p:cNvGrpSpPr>
          <p:nvPr/>
        </p:nvGrpSpPr>
        <p:grpSpPr bwMode="auto">
          <a:xfrm>
            <a:off x="5791200" y="838200"/>
            <a:ext cx="2438400" cy="1066800"/>
            <a:chOff x="3648" y="528"/>
            <a:chExt cx="1536" cy="672"/>
          </a:xfrm>
        </p:grpSpPr>
        <p:sp>
          <p:nvSpPr>
            <p:cNvPr id="1928300" name="Rectangle 108"/>
            <p:cNvSpPr>
              <a:spLocks noChangeArrowheads="1"/>
            </p:cNvSpPr>
            <p:nvPr/>
          </p:nvSpPr>
          <p:spPr bwMode="auto">
            <a:xfrm>
              <a:off x="3792" y="528"/>
              <a:ext cx="139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F53E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fr-FR" altLang="en-US" b="0"/>
                <a:t>a.Addr = 15</a:t>
              </a:r>
            </a:p>
            <a:p>
              <a:pPr>
                <a:buFontTx/>
                <a:buNone/>
              </a:pPr>
              <a:r>
                <a:rPr lang="fr-FR" altLang="en-US" b="0"/>
                <a:t>b.Addr = 20</a:t>
              </a:r>
            </a:p>
          </p:txBody>
        </p:sp>
        <p:sp>
          <p:nvSpPr>
            <p:cNvPr id="1928301" name="AutoShape 109"/>
            <p:cNvSpPr>
              <a:spLocks/>
            </p:cNvSpPr>
            <p:nvPr/>
          </p:nvSpPr>
          <p:spPr bwMode="auto">
            <a:xfrm>
              <a:off x="3648" y="576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28303" name="Rectangle 111"/>
          <p:cNvSpPr>
            <a:spLocks noChangeArrowheads="1"/>
          </p:cNvSpPr>
          <p:nvPr/>
        </p:nvSpPr>
        <p:spPr bwMode="auto">
          <a:xfrm>
            <a:off x="5562600" y="3581400"/>
            <a:ext cx="3219450" cy="1752600"/>
          </a:xfrm>
          <a:prstGeom prst="rect">
            <a:avLst/>
          </a:prstGeom>
          <a:noFill/>
          <a:ln w="9525">
            <a:solidFill>
              <a:srgbClr val="3F53E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Tx/>
              <a:buNone/>
            </a:pPr>
            <a:r>
              <a:rPr lang="fr-FR" altLang="en-US" b="0"/>
              <a:t>Ba lan sau</a:t>
            </a:r>
          </a:p>
          <a:p>
            <a:pPr algn="ctr">
              <a:buFontTx/>
              <a:buNone/>
            </a:pPr>
            <a:r>
              <a:rPr lang="fr-FR" altLang="en-US" b="0"/>
              <a:t>a 10  b 5 + * 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2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28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28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28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28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28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28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28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8273" grpId="0" uiExpand="1" build="p"/>
      <p:bldP spid="192830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07F1A3-0E72-46C7-BA52-0490FB70A09F}" type="slidenum">
              <a:rPr lang="en-US" altLang="en-US"/>
              <a:pPr/>
              <a:t>98</a:t>
            </a:fld>
            <a:endParaRPr lang="en-US" altLang="en-US"/>
          </a:p>
        </p:txBody>
      </p:sp>
      <p:sp>
        <p:nvSpPr>
          <p:cNvPr id="197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 </a:t>
            </a:r>
            <a:r>
              <a:rPr lang="en-US" altLang="en-US">
                <a:sym typeface="Symbol" panose="05050102010706020507" pitchFamily="18" charset="2"/>
              </a:rPr>
              <a:t> Khái niệm Lvalue</a:t>
            </a:r>
          </a:p>
        </p:txBody>
      </p:sp>
      <p:sp>
        <p:nvSpPr>
          <p:cNvPr id="19701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838200"/>
            <a:ext cx="8191500" cy="1600200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spcBef>
                <a:spcPct val="40000"/>
              </a:spcBef>
            </a:pPr>
            <a:r>
              <a:rPr lang="en-US" altLang="en-US" sz="2800" b="1"/>
              <a:t>Lvalue</a:t>
            </a:r>
            <a:endParaRPr lang="fr-FR" altLang="en-US" sz="2800"/>
          </a:p>
          <a:p>
            <a:pPr marL="877888" lvl="1" indent="-415925"/>
            <a:r>
              <a:rPr lang="en-US" altLang="en-US" sz="2400">
                <a:solidFill>
                  <a:schemeClr val="accent2"/>
                </a:solidFill>
              </a:rPr>
              <a:t>Danh biểu, có địa chỉ: Biến, tham biến</a:t>
            </a:r>
          </a:p>
          <a:p>
            <a:pPr marL="877888" lvl="1" indent="-415925"/>
            <a:r>
              <a:rPr lang="en-US" altLang="en-US" sz="2400">
                <a:solidFill>
                  <a:schemeClr val="accent2"/>
                </a:solidFill>
              </a:rPr>
              <a:t>Tính toán địa chỉ theo phạm vi và vị trí trong đó</a:t>
            </a:r>
          </a:p>
        </p:txBody>
      </p:sp>
      <p:sp>
        <p:nvSpPr>
          <p:cNvPr id="197018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graphicFrame>
        <p:nvGraphicFramePr>
          <p:cNvPr id="1970215" name="Group 39"/>
          <p:cNvGraphicFramePr>
            <a:graphicFrameLocks noGrp="1"/>
          </p:cNvGraphicFramePr>
          <p:nvPr>
            <p:ph sz="half" idx="2"/>
          </p:nvPr>
        </p:nvGraphicFramePr>
        <p:xfrm>
          <a:off x="1066800" y="3352800"/>
          <a:ext cx="3124200" cy="236220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Sub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SubProc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....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......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....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Main SymTable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70266" name="Group 90"/>
          <p:cNvGraphicFramePr>
            <a:graphicFrameLocks noGrp="1"/>
          </p:cNvGraphicFramePr>
          <p:nvPr/>
        </p:nvGraphicFramePr>
        <p:xfrm>
          <a:off x="4648200" y="2438400"/>
          <a:ext cx="3124200" cy="1417638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Foo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SubProc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Sub Proc. SymTable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70243" name="Group 67"/>
          <p:cNvGraphicFramePr>
            <a:graphicFrameLocks noGrp="1"/>
          </p:cNvGraphicFramePr>
          <p:nvPr/>
        </p:nvGraphicFramePr>
        <p:xfrm>
          <a:off x="5486400" y="4267200"/>
          <a:ext cx="3124200" cy="1417638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Interger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B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FooProc.  SymTable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70261" name="Line 85"/>
          <p:cNvSpPr>
            <a:spLocks noChangeShapeType="1"/>
          </p:cNvSpPr>
          <p:nvPr/>
        </p:nvSpPr>
        <p:spPr bwMode="auto">
          <a:xfrm flipV="1">
            <a:off x="3886200" y="36576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0262" name="Line 86"/>
          <p:cNvSpPr>
            <a:spLocks noChangeShapeType="1"/>
          </p:cNvSpPr>
          <p:nvPr/>
        </p:nvSpPr>
        <p:spPr bwMode="auto">
          <a:xfrm>
            <a:off x="7620000" y="3124200"/>
            <a:ext cx="8382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0263" name="Freeform 87"/>
          <p:cNvSpPr>
            <a:spLocks/>
          </p:cNvSpPr>
          <p:nvPr/>
        </p:nvSpPr>
        <p:spPr bwMode="auto">
          <a:xfrm>
            <a:off x="5041900" y="3886200"/>
            <a:ext cx="673100" cy="2108200"/>
          </a:xfrm>
          <a:custGeom>
            <a:avLst/>
            <a:gdLst>
              <a:gd name="T0" fmla="*/ 424 w 424"/>
              <a:gd name="T1" fmla="*/ 1056 h 1328"/>
              <a:gd name="T2" fmla="*/ 40 w 424"/>
              <a:gd name="T3" fmla="*/ 1152 h 1328"/>
              <a:gd name="T4" fmla="*/ 184 w 424"/>
              <a:gd name="T5" fmla="*/ 0 h 1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4" h="1328">
                <a:moveTo>
                  <a:pt x="424" y="1056"/>
                </a:moveTo>
                <a:cubicBezTo>
                  <a:pt x="252" y="1192"/>
                  <a:pt x="80" y="1328"/>
                  <a:pt x="40" y="1152"/>
                </a:cubicBezTo>
                <a:cubicBezTo>
                  <a:pt x="0" y="976"/>
                  <a:pt x="92" y="488"/>
                  <a:pt x="1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0264" name="Freeform 88"/>
          <p:cNvSpPr>
            <a:spLocks/>
          </p:cNvSpPr>
          <p:nvPr/>
        </p:nvSpPr>
        <p:spPr bwMode="auto">
          <a:xfrm>
            <a:off x="3657600" y="3810000"/>
            <a:ext cx="1295400" cy="2514600"/>
          </a:xfrm>
          <a:custGeom>
            <a:avLst/>
            <a:gdLst>
              <a:gd name="T0" fmla="*/ 816 w 816"/>
              <a:gd name="T1" fmla="*/ 0 h 1656"/>
              <a:gd name="T2" fmla="*/ 576 w 816"/>
              <a:gd name="T3" fmla="*/ 1440 h 1656"/>
              <a:gd name="T4" fmla="*/ 0 w 816"/>
              <a:gd name="T5" fmla="*/ 129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1656">
                <a:moveTo>
                  <a:pt x="816" y="0"/>
                </a:moveTo>
                <a:cubicBezTo>
                  <a:pt x="764" y="612"/>
                  <a:pt x="712" y="1224"/>
                  <a:pt x="576" y="1440"/>
                </a:cubicBezTo>
                <a:cubicBezTo>
                  <a:pt x="440" y="1656"/>
                  <a:pt x="220" y="1476"/>
                  <a:pt x="0" y="12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0267" name="Text Box 91"/>
          <p:cNvSpPr txBox="1">
            <a:spLocks noChangeArrowheads="1"/>
          </p:cNvSpPr>
          <p:nvPr/>
        </p:nvSpPr>
        <p:spPr bwMode="auto">
          <a:xfrm>
            <a:off x="533400" y="5867400"/>
            <a:ext cx="82296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</a:pPr>
            <a:r>
              <a:rPr lang="fr-FR" altLang="en-US" sz="2400" b="0">
                <a:solidFill>
                  <a:schemeClr val="accent2"/>
                </a:solidFill>
              </a:rPr>
              <a:t>Dùng biến B trong Foo Procedure: Địa chỉ 2, 4</a:t>
            </a:r>
          </a:p>
          <a:p>
            <a:pPr algn="l">
              <a:spcBef>
                <a:spcPct val="10000"/>
              </a:spcBef>
            </a:pPr>
            <a:r>
              <a:rPr lang="fr-FR" altLang="en-US" sz="2400" b="0">
                <a:solidFill>
                  <a:schemeClr val="accent2"/>
                </a:solidFill>
              </a:rPr>
              <a:t>Dùng biến B trong Foo Procedure: Địa chỉ 1, 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EF6681-0076-4035-A58C-9C88ADD387CE}" type="slidenum">
              <a:rPr lang="en-US" altLang="en-US"/>
              <a:pPr/>
              <a:t>99</a:t>
            </a:fld>
            <a:endParaRPr lang="en-US" altLang="en-US"/>
          </a:p>
        </p:txBody>
      </p:sp>
      <p:sp>
        <p:nvSpPr>
          <p:cNvPr id="197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 </a:t>
            </a:r>
            <a:r>
              <a:rPr lang="en-US" altLang="en-US">
                <a:sym typeface="Symbol" panose="05050102010706020507" pitchFamily="18" charset="2"/>
              </a:rPr>
              <a:t> Lệnh gán</a:t>
            </a:r>
          </a:p>
        </p:txBody>
      </p:sp>
      <p:sp>
        <p:nvSpPr>
          <p:cNvPr id="197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90600"/>
            <a:ext cx="8191500" cy="2133600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spcBef>
                <a:spcPct val="40000"/>
              </a:spcBef>
            </a:pPr>
            <a:r>
              <a:rPr lang="en-US" altLang="en-US" sz="2800" b="1"/>
              <a:t>Lệnh gán</a:t>
            </a:r>
            <a:r>
              <a:rPr lang="en-US" altLang="en-US" sz="2800"/>
              <a:t> </a:t>
            </a:r>
            <a:r>
              <a:rPr lang="fr-FR" altLang="en-US" sz="2800"/>
              <a:t>V := Exp</a:t>
            </a:r>
          </a:p>
          <a:p>
            <a:pPr marL="682625" lvl="1" indent="-220663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&lt;code of Lvalue v</a:t>
            </a:r>
            <a:r>
              <a:rPr lang="en-US" altLang="en-US" sz="2400">
                <a:solidFill>
                  <a:schemeClr val="bg2"/>
                </a:solidFill>
              </a:rPr>
              <a:t>&gt;// đẩy địa chỉ của v lên stack</a:t>
            </a:r>
          </a:p>
          <a:p>
            <a:pPr marL="682625" lvl="1" indent="-220663"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&lt;code of exp&gt;        </a:t>
            </a:r>
            <a:r>
              <a:rPr lang="en-US" altLang="en-US" sz="2400">
                <a:solidFill>
                  <a:schemeClr val="bg2"/>
                </a:solidFill>
              </a:rPr>
              <a:t>// đẩy giá trị của exp lên stack</a:t>
            </a:r>
          </a:p>
          <a:p>
            <a:pPr marL="682625" lvl="1" indent="-220663">
              <a:buFontTx/>
              <a:buNone/>
            </a:pPr>
            <a:r>
              <a:rPr lang="en-US" altLang="en-US" sz="2400" b="1">
                <a:solidFill>
                  <a:srgbClr val="2C1EDC"/>
                </a:solidFill>
              </a:rPr>
              <a:t>ST</a:t>
            </a:r>
            <a:r>
              <a:rPr lang="en-US" altLang="en-US" sz="2400">
                <a:solidFill>
                  <a:schemeClr val="tx1"/>
                </a:solidFill>
              </a:rPr>
              <a:t>                          </a:t>
            </a:r>
            <a:r>
              <a:rPr lang="en-US" altLang="en-US" sz="2400">
                <a:solidFill>
                  <a:schemeClr val="bg2"/>
                </a:solidFill>
              </a:rPr>
              <a:t>//S[S[t-1]] = S[t]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97734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77349" name="Text Box 5"/>
          <p:cNvSpPr txBox="1">
            <a:spLocks noChangeArrowheads="1"/>
          </p:cNvSpPr>
          <p:nvPr/>
        </p:nvSpPr>
        <p:spPr bwMode="auto">
          <a:xfrm>
            <a:off x="457200" y="3048000"/>
            <a:ext cx="8153400" cy="344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Ví dụ trong thủ tục Foo: </a:t>
            </a:r>
            <a:r>
              <a:rPr lang="en-US" altLang="en-US" sz="2800">
                <a:solidFill>
                  <a:schemeClr val="accent2"/>
                </a:solidFill>
              </a:rPr>
              <a:t>B := M *10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	LA 2, 4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	LV 0, 0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	LC 10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	MUL</a:t>
            </a:r>
          </a:p>
          <a:p>
            <a:pPr algn="l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	ST</a:t>
            </a:r>
            <a:endParaRPr lang="en-US" altLang="en-US" sz="28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A735B3-8056-43B7-9DAE-8E9004BC3216}" type="slidenum">
              <a:rPr lang="en-US" altLang="en-US"/>
              <a:pPr/>
              <a:t>100</a:t>
            </a:fld>
            <a:endParaRPr lang="en-US" altLang="en-US"/>
          </a:p>
        </p:txBody>
      </p:sp>
      <p:sp>
        <p:nvSpPr>
          <p:cNvPr id="192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575675" cy="533400"/>
          </a:xfrm>
        </p:spPr>
        <p:txBody>
          <a:bodyPr/>
          <a:lstStyle/>
          <a:p>
            <a:pPr marL="347663" indent="-347663">
              <a:spcBef>
                <a:spcPct val="10000"/>
              </a:spcBef>
              <a:buFontTx/>
              <a:buNone/>
            </a:pPr>
            <a:r>
              <a:rPr lang="en-US" altLang="en-US" sz="2800" b="1">
                <a:solidFill>
                  <a:srgbClr val="2C1EDC"/>
                </a:solidFill>
              </a:rPr>
              <a:t>If &lt;dk&gt; Then statement</a:t>
            </a:r>
          </a:p>
        </p:txBody>
      </p:sp>
      <p:sp>
        <p:nvSpPr>
          <p:cNvPr id="1929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 b="1"/>
              <a:t>Lệnh rẽ nhánh</a:t>
            </a:r>
            <a:r>
              <a:rPr lang="en-US" altLang="en-US"/>
              <a:t> </a:t>
            </a:r>
          </a:p>
        </p:txBody>
      </p:sp>
      <p:sp>
        <p:nvSpPr>
          <p:cNvPr id="192922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29221" name="Rectangle 5"/>
          <p:cNvSpPr>
            <a:spLocks noChangeArrowheads="1"/>
          </p:cNvSpPr>
          <p:nvPr/>
        </p:nvSpPr>
        <p:spPr bwMode="auto">
          <a:xfrm>
            <a:off x="914400" y="1295400"/>
            <a:ext cx="7696200" cy="19812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8738" indent="-58738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465138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&lt;code of dk&gt;     </a:t>
            </a:r>
            <a:r>
              <a:rPr lang="en-US" altLang="en-US" sz="2400" b="0">
                <a:solidFill>
                  <a:schemeClr val="bg2"/>
                </a:solidFill>
              </a:rPr>
              <a:t>// đẩy giá trị điều kiện dk lên stack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en-US" sz="2400">
                <a:solidFill>
                  <a:srgbClr val="2C1EDC"/>
                </a:solidFill>
              </a:rPr>
              <a:t>FJ</a:t>
            </a:r>
            <a:r>
              <a:rPr lang="en-US" altLang="en-US" sz="2400" b="0">
                <a:solidFill>
                  <a:schemeClr val="accent2"/>
                </a:solidFill>
              </a:rPr>
              <a:t>  L		//Nhảy có điều kiện, L = 0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&lt;code of statement&gt; //</a:t>
            </a:r>
            <a:r>
              <a:rPr lang="en-US" altLang="en-US" sz="2400" b="0">
                <a:solidFill>
                  <a:schemeClr val="bg2"/>
                </a:solidFill>
              </a:rPr>
              <a:t>Sinh mã cho statement</a:t>
            </a:r>
            <a:r>
              <a:rPr lang="en-US" altLang="en-US" sz="2400" b="0">
                <a:solidFill>
                  <a:schemeClr val="accent2"/>
                </a:solidFill>
              </a:rPr>
              <a:t>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L:	//Cập nhật lại nhãn L bằng kích thước đoạn mã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		//được sinh ra bởi statement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929222" name="Rectangle 6"/>
          <p:cNvSpPr>
            <a:spLocks noChangeArrowheads="1"/>
          </p:cNvSpPr>
          <p:nvPr/>
        </p:nvSpPr>
        <p:spPr bwMode="auto">
          <a:xfrm>
            <a:off x="304800" y="3324225"/>
            <a:ext cx="857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220663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rgbClr val="2C1EDC"/>
                </a:solidFill>
              </a:rPr>
              <a:t>If &lt;dk&gt; Then st1 Else st2</a:t>
            </a:r>
            <a:r>
              <a:rPr lang="en-US" altLang="en-US" sz="2800" b="0">
                <a:solidFill>
                  <a:schemeClr val="accent2"/>
                </a:solidFill>
              </a:rPr>
              <a:t> 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929223" name="Rectangle 7"/>
          <p:cNvSpPr>
            <a:spLocks noChangeArrowheads="1"/>
          </p:cNvSpPr>
          <p:nvPr/>
        </p:nvSpPr>
        <p:spPr bwMode="auto">
          <a:xfrm>
            <a:off x="914400" y="3810000"/>
            <a:ext cx="7543800" cy="28194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220663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	&lt;code of dk&gt; </a:t>
            </a:r>
            <a:r>
              <a:rPr lang="en-US" altLang="en-US" sz="2400" b="0">
                <a:solidFill>
                  <a:schemeClr val="bg2"/>
                </a:solidFill>
              </a:rPr>
              <a:t>// đẩy giá trị điều kiện dk lên stack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	</a:t>
            </a:r>
            <a:r>
              <a:rPr lang="en-US" altLang="en-US" sz="2400">
                <a:solidFill>
                  <a:srgbClr val="2C1EDC"/>
                </a:solidFill>
              </a:rPr>
              <a:t>FJ</a:t>
            </a:r>
            <a:r>
              <a:rPr lang="en-US" altLang="en-US" sz="2400" b="0">
                <a:solidFill>
                  <a:schemeClr val="accent2"/>
                </a:solidFill>
              </a:rPr>
              <a:t> L1	//L1 hiện giờ bằng 0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	&lt;code of st1&gt; 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>
                <a:solidFill>
                  <a:srgbClr val="2C1EDC"/>
                </a:solidFill>
              </a:rPr>
              <a:t>	J</a:t>
            </a:r>
            <a:r>
              <a:rPr lang="en-US" altLang="en-US" sz="2400" b="0">
                <a:solidFill>
                  <a:schemeClr val="accent2"/>
                </a:solidFill>
              </a:rPr>
              <a:t> L2	//L2 = 0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L1:  		//Cập nhật lại nhãn cho L1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	&lt;code of st2&gt;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L2:		//Cập nhật lại nhãn cho L2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54A096-1A59-4D17-927D-1E401B617432}" type="slidenum">
              <a:rPr lang="en-US" altLang="en-US"/>
              <a:pPr/>
              <a:t>101</a:t>
            </a:fld>
            <a:endParaRPr lang="en-US" altLang="en-US"/>
          </a:p>
        </p:txBody>
      </p:sp>
      <p:sp>
        <p:nvSpPr>
          <p:cNvPr id="193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762000"/>
            <a:ext cx="8575675" cy="533400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	</a:t>
            </a:r>
            <a:r>
              <a:rPr lang="en-US" altLang="en-US" sz="2800" b="1">
                <a:solidFill>
                  <a:srgbClr val="2C1EDC"/>
                </a:solidFill>
              </a:rPr>
              <a:t>While &lt;dk&gt; Do statement</a:t>
            </a:r>
            <a:r>
              <a:rPr lang="en-US" altLang="en-US" sz="2800"/>
              <a:t> 	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193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 b="1"/>
              <a:t>Lệnh lặp while</a:t>
            </a:r>
            <a:r>
              <a:rPr lang="en-US" altLang="en-US"/>
              <a:t> </a:t>
            </a:r>
          </a:p>
        </p:txBody>
      </p:sp>
      <p:sp>
        <p:nvSpPr>
          <p:cNvPr id="193024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30245" name="Rectangle 5"/>
          <p:cNvSpPr>
            <a:spLocks noChangeArrowheads="1"/>
          </p:cNvSpPr>
          <p:nvPr/>
        </p:nvSpPr>
        <p:spPr bwMode="auto">
          <a:xfrm>
            <a:off x="644525" y="1371600"/>
            <a:ext cx="8194675" cy="26670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220663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L1: 	</a:t>
            </a:r>
            <a:r>
              <a:rPr lang="en-US" altLang="en-US" sz="2800" b="0">
                <a:solidFill>
                  <a:schemeClr val="accent2"/>
                </a:solidFill>
              </a:rPr>
              <a:t>&lt;code of dk&gt; // Nhãn L1 xác định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  		</a:t>
            </a:r>
            <a:r>
              <a:rPr lang="en-US" altLang="en-US" sz="2400">
                <a:solidFill>
                  <a:srgbClr val="2C1EDC"/>
                </a:solidFill>
              </a:rPr>
              <a:t>FJ</a:t>
            </a:r>
            <a:r>
              <a:rPr lang="en-US" altLang="en-US" sz="2400" b="0">
                <a:solidFill>
                  <a:schemeClr val="accent2"/>
                </a:solidFill>
              </a:rPr>
              <a:t> L2		//genFJ(0)	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  		&lt;code of statement&gt;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  		</a:t>
            </a:r>
            <a:r>
              <a:rPr lang="en-US" altLang="en-US" sz="2400">
                <a:solidFill>
                  <a:srgbClr val="2C1EDC"/>
                </a:solidFill>
              </a:rPr>
              <a:t>J</a:t>
            </a:r>
            <a:r>
              <a:rPr lang="en-US" altLang="en-US" sz="2400" b="0">
                <a:solidFill>
                  <a:schemeClr val="accent2"/>
                </a:solidFill>
              </a:rPr>
              <a:t> L1</a:t>
            </a:r>
          </a:p>
          <a:p>
            <a:pPr>
              <a:lnSpc>
                <a:spcPct val="105000"/>
              </a:lnSpc>
              <a:buFontTx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L2:		//Cập nhật giá trị cho nhãn L2</a:t>
            </a:r>
          </a:p>
        </p:txBody>
      </p:sp>
      <p:sp>
        <p:nvSpPr>
          <p:cNvPr id="1930246" name="Rectangle 6"/>
          <p:cNvSpPr>
            <a:spLocks noChangeArrowheads="1"/>
          </p:cNvSpPr>
          <p:nvPr/>
        </p:nvSpPr>
        <p:spPr bwMode="auto">
          <a:xfrm>
            <a:off x="685800" y="4114800"/>
            <a:ext cx="8077200" cy="25908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220663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fr-FR" altLang="en-US" sz="2400" b="0">
                <a:solidFill>
                  <a:schemeClr val="accent2"/>
                </a:solidFill>
              </a:rPr>
              <a:t>begin = getCurentCodeAddress()//Xác định L1</a:t>
            </a:r>
          </a:p>
          <a:p>
            <a:pPr>
              <a:buFontTx/>
              <a:buNone/>
            </a:pPr>
            <a:r>
              <a:rPr lang="fr-FR" altLang="en-US" sz="2400" b="0">
                <a:solidFill>
                  <a:schemeClr val="accent2"/>
                </a:solidFill>
              </a:rPr>
              <a:t>compileCondition()			//sinh mã cho Condition</a:t>
            </a:r>
          </a:p>
          <a:p>
            <a:pPr>
              <a:buFontTx/>
              <a:buNone/>
            </a:pPr>
            <a:r>
              <a:rPr lang="fr-FR" altLang="en-US" sz="2400">
                <a:solidFill>
                  <a:srgbClr val="2C1EDC"/>
                </a:solidFill>
              </a:rPr>
              <a:t>Jmp = genFJ(0)</a:t>
            </a:r>
            <a:r>
              <a:rPr lang="fr-FR" altLang="en-US" sz="2400" b="0">
                <a:solidFill>
                  <a:schemeClr val="accent2"/>
                </a:solidFill>
              </a:rPr>
              <a:t>	//Sinh ra mã lệnh nhay tơi dia chi 0</a:t>
            </a:r>
          </a:p>
          <a:p>
            <a:pPr>
              <a:buFontTx/>
              <a:buNone/>
            </a:pPr>
            <a:r>
              <a:rPr lang="fr-FR" altLang="en-US" sz="2400" b="0">
                <a:solidFill>
                  <a:schemeClr val="accent2"/>
                </a:solidFill>
              </a:rPr>
              <a:t>compileStatement()</a:t>
            </a:r>
          </a:p>
          <a:p>
            <a:pPr>
              <a:buFontTx/>
              <a:buNone/>
            </a:pPr>
            <a:r>
              <a:rPr lang="fr-FR" altLang="en-US" sz="2400">
                <a:solidFill>
                  <a:srgbClr val="2C1EDC"/>
                </a:solidFill>
              </a:rPr>
              <a:t>GenJ(begin)</a:t>
            </a:r>
          </a:p>
          <a:p>
            <a:pPr>
              <a:buFontTx/>
              <a:buNone/>
            </a:pPr>
            <a:r>
              <a:rPr lang="fr-FR" altLang="en-US" sz="2400" i="1">
                <a:solidFill>
                  <a:schemeClr val="accent2"/>
                </a:solidFill>
              </a:rPr>
              <a:t>Jmp.q</a:t>
            </a:r>
            <a:r>
              <a:rPr lang="fr-FR" altLang="en-US" sz="2400" b="0">
                <a:solidFill>
                  <a:schemeClr val="accent2"/>
                </a:solidFill>
              </a:rPr>
              <a:t> = getCurrentCodeAddress()//sua la dia chi nhay toi</a:t>
            </a:r>
            <a:endParaRPr lang="en-US" altLang="en-US" sz="2400" b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8B6EE9-34AB-4FA2-9F7E-CBA415FB2332}" type="slidenum">
              <a:rPr lang="en-US" altLang="en-US"/>
              <a:pPr/>
              <a:t>102</a:t>
            </a:fld>
            <a:endParaRPr lang="en-US" altLang="en-US"/>
          </a:p>
        </p:txBody>
      </p:sp>
      <p:sp>
        <p:nvSpPr>
          <p:cNvPr id="193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762000"/>
            <a:ext cx="8575675" cy="457200"/>
          </a:xfrm>
          <a:noFill/>
        </p:spPr>
        <p:txBody>
          <a:bodyPr tIns="0"/>
          <a:lstStyle/>
          <a:p>
            <a:pPr marL="347663" indent="-347663">
              <a:lnSpc>
                <a:spcPct val="120000"/>
              </a:lnSpc>
              <a:buFontTx/>
              <a:buNone/>
            </a:pPr>
            <a:r>
              <a:rPr lang="en-US" altLang="en-US" sz="2800" b="1">
                <a:solidFill>
                  <a:srgbClr val="2C1EDC"/>
                </a:solidFill>
              </a:rPr>
              <a:t>	For v := exp1 to exp2 do statement</a:t>
            </a:r>
            <a:r>
              <a:rPr lang="en-US" altLang="en-US" sz="2800">
                <a:solidFill>
                  <a:srgbClr val="2C1EDC"/>
                </a:solidFill>
              </a:rPr>
              <a:t>	</a:t>
            </a:r>
          </a:p>
        </p:txBody>
      </p:sp>
      <p:sp>
        <p:nvSpPr>
          <p:cNvPr id="19312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4.Sinh mã cho các lệnh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 b="1"/>
              <a:t>Lệnh lặp for</a:t>
            </a:r>
            <a:r>
              <a:rPr lang="en-US" altLang="en-US"/>
              <a:t> </a:t>
            </a:r>
          </a:p>
        </p:txBody>
      </p:sp>
      <p:sp>
        <p:nvSpPr>
          <p:cNvPr id="19312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31269" name="Rectangle 5"/>
          <p:cNvSpPr>
            <a:spLocks noChangeArrowheads="1"/>
          </p:cNvSpPr>
          <p:nvPr/>
        </p:nvSpPr>
        <p:spPr bwMode="auto">
          <a:xfrm>
            <a:off x="304800" y="1219200"/>
            <a:ext cx="8686800" cy="5602288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220663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	&lt;code of Lvalue v&gt;		//</a:t>
            </a:r>
            <a:r>
              <a:rPr lang="en-US" altLang="en-US" sz="2000" b="0" i="1">
                <a:solidFill>
                  <a:schemeClr val="bg2"/>
                </a:solidFill>
              </a:rPr>
              <a:t>Đặt địa chỉ v lên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genCV   // </a:t>
            </a:r>
            <a:r>
              <a:rPr lang="en-US" altLang="en-US" sz="2000" b="0" i="1">
                <a:solidFill>
                  <a:schemeClr val="bg2"/>
                </a:solidFill>
              </a:rPr>
              <a:t>Sinh mã CV: nhân đôi địa chỉ của v =Copy địa chỉ V lên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&lt;code of exp1&gt;		//</a:t>
            </a:r>
            <a:r>
              <a:rPr lang="en-US" altLang="en-US" sz="2000" b="0" i="1">
                <a:solidFill>
                  <a:schemeClr val="bg2"/>
                </a:solidFill>
              </a:rPr>
              <a:t>Đặt giá trị của biểu thức exp1 lên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genST()   // </a:t>
            </a:r>
            <a:r>
              <a:rPr lang="en-US" altLang="en-US" sz="2000" b="0">
                <a:solidFill>
                  <a:schemeClr val="bg2"/>
                </a:solidFill>
              </a:rPr>
              <a:t>Sinh mã lệnh ST: lưu giá trị của exp1 vào giá trị cua 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L1:		//</a:t>
            </a:r>
            <a:r>
              <a:rPr lang="en-US" altLang="en-US" sz="2000" b="0" i="1">
                <a:solidFill>
                  <a:schemeClr val="bg2"/>
                </a:solidFill>
              </a:rPr>
              <a:t>Sinh đia chi cho nhan L1: getCurrentCodeAddress()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genCV()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genLI()        // </a:t>
            </a:r>
            <a:r>
              <a:rPr lang="en-US" altLang="en-US" sz="2000" b="0" i="1">
                <a:solidFill>
                  <a:schemeClr val="bg2"/>
                </a:solidFill>
              </a:rPr>
              <a:t>lấy giá trị của v &amp; lưu vào đỉnh stack. Đỉnh stack là giá trị 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&lt;code of exp2&gt;//</a:t>
            </a:r>
            <a:r>
              <a:rPr lang="en-US" altLang="en-US" sz="2000" b="0" i="1">
                <a:solidFill>
                  <a:schemeClr val="bg2"/>
                </a:solidFill>
              </a:rPr>
              <a:t>Sinh mã để đặt giá trị của exp2 lên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genLE ()	//</a:t>
            </a:r>
            <a:r>
              <a:rPr lang="en-US" altLang="en-US" sz="2000" b="0">
                <a:solidFill>
                  <a:schemeClr val="bg2"/>
                </a:solidFill>
              </a:rPr>
              <a:t>Lệnh LE để so sánh 2 giá trị trên đỉnh stack: v và Exp2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genFJ(L2)	//</a:t>
            </a:r>
            <a:r>
              <a:rPr lang="en-US" altLang="en-US" sz="2000" b="0">
                <a:solidFill>
                  <a:schemeClr val="bg2"/>
                </a:solidFill>
              </a:rPr>
              <a:t>sinh mã lệnh FJ, nhay tới nhãn L2 chưa xác định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&lt;code of statement&gt; //</a:t>
            </a:r>
            <a:r>
              <a:rPr lang="en-US" altLang="en-US" sz="2000" b="0">
                <a:solidFill>
                  <a:schemeClr val="bg2"/>
                </a:solidFill>
              </a:rPr>
              <a:t>Sinh mã lệnh cho phần segment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genCV() || genCV();	//</a:t>
            </a:r>
            <a:r>
              <a:rPr lang="en-US" altLang="en-US" sz="2000" b="0">
                <a:solidFill>
                  <a:schemeClr val="bg2"/>
                </a:solidFill>
              </a:rPr>
              <a:t>Đỉnh satck là địa chỉ của v, Sao chép 2 lần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	genLI();		//</a:t>
            </a:r>
            <a:r>
              <a:rPr lang="en-US" altLang="en-US" sz="2000" b="0">
                <a:solidFill>
                  <a:schemeClr val="bg2"/>
                </a:solidFill>
              </a:rPr>
              <a:t>Đinh stack là giá trị của 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	genLC(1) || genAD(); //</a:t>
            </a:r>
            <a:r>
              <a:rPr lang="en-US" altLang="en-US" sz="2000" b="0">
                <a:solidFill>
                  <a:schemeClr val="bg2"/>
                </a:solidFill>
              </a:rPr>
              <a:t>Dặt lên stack 1 rồi cộng với giá trị của</a:t>
            </a:r>
            <a:r>
              <a:rPr lang="en-US" altLang="en-US" sz="2000" b="0">
                <a:solidFill>
                  <a:schemeClr val="accent2"/>
                </a:solidFill>
              </a:rPr>
              <a:t> v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	genST();  		// </a:t>
            </a:r>
            <a:r>
              <a:rPr lang="en-US" altLang="en-US" sz="2000" b="0">
                <a:solidFill>
                  <a:schemeClr val="bg2"/>
                </a:solidFill>
              </a:rPr>
              <a:t>Lưu giá trị mới của v (v+1) vào vị trí của v</a:t>
            </a:r>
            <a:r>
              <a:rPr lang="en-US" altLang="en-US" sz="2000" b="0">
                <a:solidFill>
                  <a:schemeClr val="accent2"/>
                </a:solidFill>
              </a:rPr>
              <a:t>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	genJ( L1)		//</a:t>
            </a:r>
            <a:r>
              <a:rPr lang="en-US" altLang="en-US" sz="2000" b="0">
                <a:solidFill>
                  <a:schemeClr val="bg2"/>
                </a:solidFill>
              </a:rPr>
              <a:t>nhảy tới nhãn L1 đã tính</a:t>
            </a:r>
            <a:r>
              <a:rPr lang="en-US" altLang="en-US" sz="2000" b="0">
                <a:solidFill>
                  <a:schemeClr val="accent2"/>
                </a:solidFill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L2:			//</a:t>
            </a:r>
            <a:r>
              <a:rPr lang="en-US" altLang="en-US" sz="2000" b="0">
                <a:solidFill>
                  <a:schemeClr val="bg2"/>
                </a:solidFill>
              </a:rPr>
              <a:t>Tính toán nhãn L2 và cập nhật L2 tương ứng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accent2"/>
                </a:solidFill>
              </a:rPr>
              <a:t>  	DCT 1		//</a:t>
            </a:r>
            <a:r>
              <a:rPr lang="en-US" altLang="en-US" sz="2000" b="0">
                <a:solidFill>
                  <a:schemeClr val="bg2"/>
                </a:solidFill>
              </a:rPr>
              <a:t>Giảm thanh ghi T1 đơn vị do đỉnh stack là v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6A7767-182B-4FDE-8060-9AAB00A925DB}" type="slidenum">
              <a:rPr lang="en-US" altLang="en-US"/>
              <a:pPr/>
              <a:t>103</a:t>
            </a:fld>
            <a:endParaRPr lang="en-US" altLang="en-US"/>
          </a:p>
        </p:txBody>
      </p:sp>
      <p:sp>
        <p:nvSpPr>
          <p:cNvPr id="193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75675" cy="5562600"/>
          </a:xfrm>
        </p:spPr>
        <p:txBody>
          <a:bodyPr/>
          <a:lstStyle/>
          <a:p>
            <a:pPr marL="347663" indent="-347663">
              <a:lnSpc>
                <a:spcPct val="110000"/>
              </a:lnSpc>
            </a:pPr>
            <a:r>
              <a:rPr lang="en-US" altLang="en-US">
                <a:solidFill>
                  <a:schemeClr val="accent2"/>
                </a:solidFill>
              </a:rPr>
              <a:t>Khi lấy địa chỉ/giá trị một biến cần tính đến phạm vi của biến</a:t>
            </a:r>
          </a:p>
          <a:p>
            <a:pPr marL="682625" lvl="1" indent="-220663">
              <a:lnSpc>
                <a:spcPct val="110000"/>
              </a:lnSpc>
            </a:pPr>
            <a:r>
              <a:rPr lang="en-US" altLang="en-US">
                <a:solidFill>
                  <a:schemeClr val="accent2"/>
                </a:solidFill>
              </a:rPr>
              <a:t>Biến cục bộ được lấy từ frame hiện tại</a:t>
            </a:r>
          </a:p>
          <a:p>
            <a:pPr marL="682625" lvl="1" indent="-220663">
              <a:lnSpc>
                <a:spcPct val="110000"/>
              </a:lnSpc>
            </a:pPr>
            <a:r>
              <a:rPr lang="en-US" altLang="en-US">
                <a:solidFill>
                  <a:schemeClr val="accent2"/>
                </a:solidFill>
              </a:rPr>
              <a:t>Biến phi cục bộ được lấy theo các </a:t>
            </a:r>
            <a:r>
              <a:rPr lang="en-US" altLang="en-US">
                <a:solidFill>
                  <a:srgbClr val="2C1EDC"/>
                </a:solidFill>
              </a:rPr>
              <a:t>StaticLink</a:t>
            </a:r>
            <a:r>
              <a:rPr lang="en-US" altLang="en-US">
                <a:solidFill>
                  <a:schemeClr val="accent2"/>
                </a:solidFill>
              </a:rPr>
              <a:t> với cấp độ lấy theo “độ sâu” của phạm vi hiện tại so với phạm vi hiện thời</a:t>
            </a:r>
          </a:p>
        </p:txBody>
      </p:sp>
      <p:sp>
        <p:nvSpPr>
          <p:cNvPr id="193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Lấy địa chỉ/giá trị biến </a:t>
            </a:r>
          </a:p>
        </p:txBody>
      </p:sp>
      <p:sp>
        <p:nvSpPr>
          <p:cNvPr id="193229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E914D0-B0F9-44E2-9D84-6AEB94E1836D}" type="slidenum">
              <a:rPr lang="en-US" altLang="en-US"/>
              <a:pPr/>
              <a:t>104</a:t>
            </a:fld>
            <a:endParaRPr lang="en-US" altLang="en-US"/>
          </a:p>
        </p:txBody>
      </p:sp>
      <p:sp>
        <p:nvSpPr>
          <p:cNvPr id="193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144588"/>
            <a:ext cx="8575675" cy="5102225"/>
          </a:xfrm>
        </p:spPr>
        <p:txBody>
          <a:bodyPr/>
          <a:lstStyle/>
          <a:p>
            <a:pPr marL="347663" indent="-347663">
              <a:lnSpc>
                <a:spcPct val="120000"/>
              </a:lnSpc>
            </a:pPr>
            <a:r>
              <a:rPr lang="en-US" altLang="en-US">
                <a:solidFill>
                  <a:schemeClr val="accent2"/>
                </a:solidFill>
              </a:rPr>
              <a:t>Khi tính toán giá trị của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</a:t>
            </a:r>
          </a:p>
          <a:p>
            <a:pPr marL="347663" indent="-347663">
              <a:lnSpc>
                <a:spcPct val="120000"/>
              </a:lnSpc>
            </a:pPr>
            <a:r>
              <a:rPr lang="en-US" altLang="en-US">
                <a:solidFill>
                  <a:schemeClr val="accent2"/>
                </a:solidFill>
              </a:rPr>
              <a:t>Cũng cần tính độ sâu như biến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>
                <a:solidFill>
                  <a:schemeClr val="accent2"/>
                </a:solidFill>
              </a:rPr>
              <a:t>Nếu là tham trị: </a:t>
            </a:r>
            <a:r>
              <a:rPr lang="en-US" altLang="en-US">
                <a:solidFill>
                  <a:srgbClr val="2C1EDC"/>
                </a:solidFill>
              </a:rPr>
              <a:t>giá trị của tham trị</a:t>
            </a:r>
            <a:r>
              <a:rPr lang="en-US" altLang="en-US">
                <a:solidFill>
                  <a:schemeClr val="accent2"/>
                </a:solidFill>
              </a:rPr>
              <a:t> chính là giá trị cần lấy.</a:t>
            </a:r>
          </a:p>
          <a:p>
            <a:pPr marL="912813" lvl="1" indent="-450850">
              <a:lnSpc>
                <a:spcPct val="120000"/>
              </a:lnSpc>
            </a:pPr>
            <a:r>
              <a:rPr lang="en-US" altLang="en-US">
                <a:solidFill>
                  <a:schemeClr val="accent2"/>
                </a:solidFill>
              </a:rPr>
              <a:t>Nếu là tham biến: </a:t>
            </a:r>
            <a:r>
              <a:rPr lang="en-US" altLang="en-US">
                <a:solidFill>
                  <a:srgbClr val="2C1EDC"/>
                </a:solidFill>
              </a:rPr>
              <a:t>giá trị của tham số</a:t>
            </a:r>
            <a:r>
              <a:rPr lang="en-US" altLang="en-US">
                <a:solidFill>
                  <a:schemeClr val="accent2"/>
                </a:solidFill>
              </a:rPr>
              <a:t> là địa chỉ của giá trị cần lấy.</a:t>
            </a:r>
          </a:p>
        </p:txBody>
      </p:sp>
      <p:sp>
        <p:nvSpPr>
          <p:cNvPr id="1934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Lấy giá trị của tham số hình thức</a:t>
            </a:r>
          </a:p>
        </p:txBody>
      </p:sp>
      <p:sp>
        <p:nvSpPr>
          <p:cNvPr id="193434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E3C06D-2B3B-4895-95B4-81C34165CA6D}" type="slidenum">
              <a:rPr lang="en-US" altLang="en-US"/>
              <a:pPr/>
              <a:t>105</a:t>
            </a:fld>
            <a:endParaRPr lang="en-US" altLang="en-US"/>
          </a:p>
        </p:txBody>
      </p:sp>
      <p:sp>
        <p:nvSpPr>
          <p:cNvPr id="193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144588"/>
            <a:ext cx="8575675" cy="5102225"/>
          </a:xfrm>
        </p:spPr>
        <p:txBody>
          <a:bodyPr/>
          <a:lstStyle/>
          <a:p>
            <a:pPr marL="347663" indent="-347663"/>
            <a:r>
              <a:rPr lang="en-US" altLang="en-US">
                <a:solidFill>
                  <a:schemeClr val="accent2"/>
                </a:solidFill>
              </a:rPr>
              <a:t>Lời gọi</a:t>
            </a:r>
          </a:p>
          <a:p>
            <a:pPr marL="912813" lvl="1" indent="-450850"/>
            <a:r>
              <a:rPr lang="en-US" altLang="en-US">
                <a:solidFill>
                  <a:schemeClr val="accent2"/>
                </a:solidFill>
              </a:rPr>
              <a:t>Thủ tục gặp trong sinh mã lệnh </a:t>
            </a:r>
            <a:r>
              <a:rPr lang="en-US" altLang="en-US" b="1">
                <a:solidFill>
                  <a:schemeClr val="accent2"/>
                </a:solidFill>
              </a:rPr>
              <a:t>CallSt</a:t>
            </a:r>
          </a:p>
          <a:p>
            <a:pPr marL="347663" indent="-347663"/>
            <a:r>
              <a:rPr lang="en-US" altLang="en-US">
                <a:solidFill>
                  <a:schemeClr val="accent2"/>
                </a:solidFill>
              </a:rPr>
              <a:t>Trước khi sinh lời gọi thủ tục cần phải nạp giá trị cho các tham số hình thức bằng cách</a:t>
            </a:r>
          </a:p>
          <a:p>
            <a:pPr marL="912813" lvl="1" indent="-450850"/>
            <a:r>
              <a:rPr lang="en-US" altLang="en-US">
                <a:solidFill>
                  <a:schemeClr val="accent2"/>
                </a:solidFill>
              </a:rPr>
              <a:t>Tăng giá trị T lên 4 (bỏ qua RV,DL,RA,SL)</a:t>
            </a:r>
          </a:p>
          <a:p>
            <a:pPr marL="912813" lvl="1" indent="-450850"/>
            <a:r>
              <a:rPr lang="en-US" altLang="en-US">
                <a:solidFill>
                  <a:schemeClr val="accent2"/>
                </a:solidFill>
              </a:rPr>
              <a:t>Sinh mã cho k tham số thực tế</a:t>
            </a:r>
          </a:p>
          <a:p>
            <a:pPr marL="1257300" lvl="2"/>
            <a:r>
              <a:rPr lang="en-US" altLang="en-US">
                <a:solidFill>
                  <a:schemeClr val="accent2"/>
                </a:solidFill>
              </a:rPr>
              <a:t>Tham trị: compileExpression()</a:t>
            </a:r>
          </a:p>
          <a:p>
            <a:pPr marL="1257300" lvl="2"/>
            <a:r>
              <a:rPr lang="en-US" altLang="en-US">
                <a:solidFill>
                  <a:schemeClr val="accent2"/>
                </a:solidFill>
              </a:rPr>
              <a:t>Tham biến: compileLValue()</a:t>
            </a:r>
          </a:p>
          <a:p>
            <a:pPr marL="912813" lvl="1" indent="-450850"/>
            <a:r>
              <a:rPr lang="en-US" altLang="en-US">
                <a:solidFill>
                  <a:schemeClr val="accent2"/>
                </a:solidFill>
              </a:rPr>
              <a:t>Giảm giá trị  T đi 4 + k</a:t>
            </a:r>
          </a:p>
          <a:p>
            <a:pPr marL="912813" lvl="1" indent="-450850"/>
            <a:r>
              <a:rPr lang="en-US" altLang="en-US">
                <a:solidFill>
                  <a:schemeClr val="accent2"/>
                </a:solidFill>
              </a:rPr>
              <a:t>Sinh lệnh CALL</a:t>
            </a:r>
          </a:p>
        </p:txBody>
      </p:sp>
      <p:sp>
        <p:nvSpPr>
          <p:cNvPr id="193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Sinh lời gọi hàm/thủ tục</a:t>
            </a:r>
          </a:p>
        </p:txBody>
      </p:sp>
      <p:sp>
        <p:nvSpPr>
          <p:cNvPr id="193638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816929-236B-4425-9E57-696989378E3A}" type="slidenum">
              <a:rPr lang="en-US" altLang="en-US"/>
              <a:pPr/>
              <a:t>106</a:t>
            </a:fld>
            <a:endParaRPr lang="en-US" altLang="en-US"/>
          </a:p>
        </p:txBody>
      </p:sp>
      <p:sp>
        <p:nvSpPr>
          <p:cNvPr id="19783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6781800" cy="1217613"/>
          </a:xfrm>
        </p:spPr>
        <p:txBody>
          <a:bodyPr/>
          <a:lstStyle/>
          <a:p>
            <a:pPr marL="347663" indent="-347663"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Procedure Foo(VAR A, B)</a:t>
            </a:r>
          </a:p>
          <a:p>
            <a:pPr marL="347663" indent="-347663">
              <a:buFontTx/>
              <a:buNone/>
            </a:pPr>
            <a:r>
              <a:rPr lang="en-US" altLang="en-US">
                <a:solidFill>
                  <a:schemeClr val="accent2"/>
                </a:solidFill>
              </a:rPr>
              <a:t>			CALL Foo(N, A*10)</a:t>
            </a:r>
          </a:p>
        </p:txBody>
      </p:sp>
      <p:sp>
        <p:nvSpPr>
          <p:cNvPr id="19783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Sinh lời gọi hàm/thủ tục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9783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  <p:sp>
        <p:nvSpPr>
          <p:cNvPr id="1978373" name="Rectangle 5"/>
          <p:cNvSpPr>
            <a:spLocks noChangeArrowheads="1"/>
          </p:cNvSpPr>
          <p:nvPr/>
        </p:nvSpPr>
        <p:spPr bwMode="auto">
          <a:xfrm>
            <a:off x="5486400" y="2057400"/>
            <a:ext cx="35052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2813" indent="-450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INT 4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LA Lvalue(N)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LV Lvalue(A)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LC 10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MUL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DCT 6</a:t>
            </a:r>
          </a:p>
          <a:p>
            <a:pPr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CALL Lvalue(Foo)</a:t>
            </a:r>
          </a:p>
        </p:txBody>
      </p:sp>
      <p:sp>
        <p:nvSpPr>
          <p:cNvPr id="1978374" name="Rectangle 6"/>
          <p:cNvSpPr>
            <a:spLocks noChangeArrowheads="1"/>
          </p:cNvSpPr>
          <p:nvPr/>
        </p:nvSpPr>
        <p:spPr bwMode="auto">
          <a:xfrm>
            <a:off x="304800" y="2971800"/>
            <a:ext cx="48768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93775" indent="-450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401763" indent="-2286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809750" indent="-22860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17738" indent="-22860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7493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3213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933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46538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en-US" b="0">
                <a:solidFill>
                  <a:schemeClr val="accent2"/>
                </a:solidFill>
              </a:rPr>
              <a:t>Lvalue(Ident) trả về địa chỉ của Ident gồm </a:t>
            </a:r>
          </a:p>
          <a:p>
            <a:pPr lvl="1">
              <a:lnSpc>
                <a:spcPct val="120000"/>
              </a:lnSpc>
            </a:pPr>
            <a:r>
              <a:rPr lang="en-US" altLang="en-US" b="0">
                <a:solidFill>
                  <a:schemeClr val="accent2"/>
                </a:solidFill>
              </a:rPr>
              <a:t>Độ lệch frame </a:t>
            </a:r>
          </a:p>
          <a:p>
            <a:pPr lvl="1">
              <a:lnSpc>
                <a:spcPct val="120000"/>
              </a:lnSpc>
            </a:pPr>
            <a:r>
              <a:rPr lang="en-US" altLang="en-US" b="0">
                <a:solidFill>
                  <a:schemeClr val="accent2"/>
                </a:solidFill>
              </a:rPr>
              <a:t>Offset trong frame</a:t>
            </a:r>
          </a:p>
        </p:txBody>
      </p:sp>
      <p:sp>
        <p:nvSpPr>
          <p:cNvPr id="1978375" name="AutoShape 7"/>
          <p:cNvSpPr>
            <a:spLocks/>
          </p:cNvSpPr>
          <p:nvPr/>
        </p:nvSpPr>
        <p:spPr bwMode="auto">
          <a:xfrm>
            <a:off x="5257800" y="2133600"/>
            <a:ext cx="304800" cy="39624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13A37C-77C6-4B70-8C1F-F5D2D617D386}" type="slidenum">
              <a:rPr lang="en-US" altLang="en-US"/>
              <a:pPr/>
              <a:t>107</a:t>
            </a:fld>
            <a:endParaRPr lang="en-US" altLang="en-US"/>
          </a:p>
        </p:txBody>
      </p:sp>
      <p:sp>
        <p:nvSpPr>
          <p:cNvPr id="193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857250"/>
            <a:ext cx="8575675" cy="5943600"/>
          </a:xfrm>
        </p:spPr>
        <p:txBody>
          <a:bodyPr/>
          <a:lstStyle/>
          <a:p>
            <a:pPr marL="347663" indent="-347663">
              <a:lnSpc>
                <a:spcPct val="85000"/>
              </a:lnSpc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Giả sử cần sinh lệnh CALL cho hàm/thủ tục A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Lệnh CALL  có hai tham số: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p: 	Độ sâu của lệnh CALL, chứa static link.</a:t>
            </a:r>
          </a:p>
          <a:p>
            <a:pPr marL="912813" lvl="1" indent="-450850">
              <a:lnSpc>
                <a:spcPct val="85000"/>
              </a:lnSpc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			Base(p) = base của frame chương trình con chứa khai báo của A.</a:t>
            </a:r>
          </a:p>
          <a:p>
            <a:pPr marL="912813" lvl="1" indent="-450850">
              <a:lnSpc>
                <a:spcPct val="85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q:	Địa chỉ lệnh mới</a:t>
            </a:r>
          </a:p>
          <a:p>
            <a:pPr marL="912813" lvl="1" indent="-450850">
              <a:lnSpc>
                <a:spcPct val="85000"/>
              </a:lnSpc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			q + 1 = địa chỉ đầu tiên của dãy lệnh cần thực hiện khi gọi A.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</a:rPr>
              <a:t>CALL (p, q)</a:t>
            </a:r>
            <a:r>
              <a:rPr lang="en-US" altLang="en-US" sz="2800">
                <a:solidFill>
                  <a:schemeClr val="accent2"/>
                </a:solidFill>
              </a:rPr>
              <a:t>	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en-US" altLang="en-US" sz="2800">
                <a:solidFill>
                  <a:schemeClr val="accent2"/>
                </a:solidFill>
              </a:rPr>
              <a:t>		</a:t>
            </a:r>
            <a:r>
              <a:rPr lang="fr-FR" altLang="en-US" sz="2800">
                <a:solidFill>
                  <a:schemeClr val="accent2"/>
                </a:solidFill>
              </a:rPr>
              <a:t>s[t+2]:=b</a:t>
            </a:r>
            <a:r>
              <a:rPr lang="fr-FR" altLang="en-US" sz="2800" b="1">
                <a:solidFill>
                  <a:schemeClr val="accent2"/>
                </a:solidFill>
              </a:rPr>
              <a:t>; 		</a:t>
            </a:r>
            <a:r>
              <a:rPr lang="fr-FR" altLang="en-US" sz="2800" i="1">
                <a:solidFill>
                  <a:schemeClr val="accent2"/>
                </a:solidFill>
              </a:rPr>
              <a:t>// Lưu lại dynamic link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fr-FR" altLang="en-US" sz="2800">
                <a:solidFill>
                  <a:schemeClr val="accent2"/>
                </a:solidFill>
              </a:rPr>
              <a:t>		s[t+3]:=pc; 		</a:t>
            </a:r>
            <a:r>
              <a:rPr lang="fr-FR" altLang="en-US" sz="2800" i="1">
                <a:solidFill>
                  <a:schemeClr val="accent2"/>
                </a:solidFill>
              </a:rPr>
              <a:t>// Lưu lại return address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fr-FR" altLang="en-US" sz="2800">
                <a:solidFill>
                  <a:schemeClr val="accent2"/>
                </a:solidFill>
              </a:rPr>
              <a:t>		s[t+4]:=base(p); 	</a:t>
            </a:r>
            <a:r>
              <a:rPr lang="fr-FR" altLang="en-US" sz="2800" i="1">
                <a:solidFill>
                  <a:schemeClr val="accent2"/>
                </a:solidFill>
              </a:rPr>
              <a:t>// Lưu lại static link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fr-FR" altLang="en-US" sz="2800">
                <a:solidFill>
                  <a:schemeClr val="accent2"/>
                </a:solidFill>
              </a:rPr>
              <a:t>		b:=t+1;       	</a:t>
            </a:r>
            <a:r>
              <a:rPr lang="fr-FR" altLang="en-US" sz="2800" i="1">
                <a:solidFill>
                  <a:schemeClr val="accent2"/>
                </a:solidFill>
              </a:rPr>
              <a:t>// Base mới và return value</a:t>
            </a:r>
          </a:p>
          <a:p>
            <a:pPr marL="347663" indent="-347663">
              <a:lnSpc>
                <a:spcPct val="85000"/>
              </a:lnSpc>
              <a:buFontTx/>
              <a:buNone/>
            </a:pPr>
            <a:r>
              <a:rPr lang="fr-FR" altLang="en-US" sz="2800">
                <a:solidFill>
                  <a:schemeClr val="accent2"/>
                </a:solidFill>
              </a:rPr>
              <a:t>		pc:=q; 		</a:t>
            </a:r>
            <a:r>
              <a:rPr lang="fr-FR" altLang="en-US" sz="2800" i="1">
                <a:solidFill>
                  <a:schemeClr val="accent2"/>
                </a:solidFill>
              </a:rPr>
              <a:t>// </a:t>
            </a:r>
            <a:r>
              <a:rPr lang="en-US" altLang="en-US" sz="2800" i="1">
                <a:solidFill>
                  <a:schemeClr val="accent2"/>
                </a:solidFill>
              </a:rPr>
              <a:t>địa chỉ lệnh mới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93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Sinh mã cho lệnh CALL (p, q)</a:t>
            </a:r>
          </a:p>
        </p:txBody>
      </p:sp>
      <p:sp>
        <p:nvSpPr>
          <p:cNvPr id="193741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0BF79E-5FC7-4ADA-B138-C5E23952167D}" type="slidenum">
              <a:rPr lang="en-US" altLang="en-US"/>
              <a:pPr/>
              <a:t>108</a:t>
            </a:fld>
            <a:endParaRPr lang="en-US" altLang="en-US"/>
          </a:p>
        </p:txBody>
      </p:sp>
      <p:sp>
        <p:nvSpPr>
          <p:cNvPr id="193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75675" cy="5562600"/>
          </a:xfrm>
        </p:spPr>
        <p:txBody>
          <a:bodyPr/>
          <a:lstStyle/>
          <a:p>
            <a:pPr marL="609600" indent="-609600">
              <a:lnSpc>
                <a:spcPct val="110000"/>
              </a:lnSpc>
              <a:spcBef>
                <a:spcPct val="25000"/>
              </a:spcBef>
            </a:pPr>
            <a:r>
              <a:rPr lang="en-US" altLang="en-US">
                <a:solidFill>
                  <a:schemeClr val="accent2"/>
                </a:solidFill>
              </a:rPr>
              <a:t>Thực hiện các lệnh và stack biến đổi tương ứng.</a:t>
            </a:r>
          </a:p>
          <a:p>
            <a:pPr marL="609600" indent="-609600">
              <a:lnSpc>
                <a:spcPct val="110000"/>
              </a:lnSpc>
              <a:spcBef>
                <a:spcPct val="25000"/>
              </a:spcBef>
            </a:pPr>
            <a:r>
              <a:rPr lang="en-US" altLang="en-US">
                <a:solidFill>
                  <a:schemeClr val="accent2"/>
                </a:solidFill>
              </a:rPr>
              <a:t>Khi kết thúc</a:t>
            </a:r>
          </a:p>
          <a:p>
            <a:pPr marL="1214438" lvl="1" indent="-533400">
              <a:lnSpc>
                <a:spcPct val="110000"/>
              </a:lnSpc>
              <a:spcBef>
                <a:spcPct val="25000"/>
              </a:spcBef>
            </a:pPr>
            <a:r>
              <a:rPr lang="en-US" altLang="en-US">
                <a:solidFill>
                  <a:schemeClr val="accent2"/>
                </a:solidFill>
              </a:rPr>
              <a:t>Thủ tục (lệnh </a:t>
            </a:r>
            <a:r>
              <a:rPr lang="en-US" altLang="en-US" b="1">
                <a:solidFill>
                  <a:srgbClr val="2C1EDC"/>
                </a:solidFill>
              </a:rPr>
              <a:t>EP</a:t>
            </a:r>
            <a:r>
              <a:rPr lang="en-US" altLang="en-US">
                <a:solidFill>
                  <a:schemeClr val="accent2"/>
                </a:solidFill>
              </a:rPr>
              <a:t>): toàn bộ frame được giải phóng, con trỏ </a:t>
            </a:r>
            <a:r>
              <a:rPr lang="en-US" altLang="en-US" b="1">
                <a:solidFill>
                  <a:srgbClr val="2C1EDC"/>
                </a:solidFill>
              </a:rPr>
              <a:t>T</a:t>
            </a:r>
            <a:r>
              <a:rPr lang="en-US" altLang="en-US">
                <a:solidFill>
                  <a:schemeClr val="accent2"/>
                </a:solidFill>
              </a:rPr>
              <a:t> đặt lên đỉnh frame cũ.</a:t>
            </a:r>
          </a:p>
          <a:p>
            <a:pPr marL="1214438" lvl="1" indent="-533400">
              <a:lnSpc>
                <a:spcPct val="110000"/>
              </a:lnSpc>
              <a:spcBef>
                <a:spcPct val="25000"/>
              </a:spcBef>
            </a:pPr>
            <a:r>
              <a:rPr lang="en-US" altLang="en-US">
                <a:solidFill>
                  <a:schemeClr val="accent2"/>
                </a:solidFill>
              </a:rPr>
              <a:t>Hàm (lệnh </a:t>
            </a:r>
            <a:r>
              <a:rPr lang="en-US" altLang="en-US" b="1">
                <a:solidFill>
                  <a:srgbClr val="2C1EDC"/>
                </a:solidFill>
              </a:rPr>
              <a:t>EF</a:t>
            </a:r>
            <a:r>
              <a:rPr lang="en-US" altLang="en-US">
                <a:solidFill>
                  <a:schemeClr val="accent2"/>
                </a:solidFill>
              </a:rPr>
              <a:t>): frame được giải phóng, chỉ chừa giá trị trả về tại offset 0, con trỏ </a:t>
            </a:r>
            <a:r>
              <a:rPr lang="en-US" altLang="en-US" b="1">
                <a:solidFill>
                  <a:srgbClr val="2C1EDC"/>
                </a:solidFill>
              </a:rPr>
              <a:t>T</a:t>
            </a:r>
            <a:r>
              <a:rPr lang="en-US" altLang="en-US">
                <a:solidFill>
                  <a:schemeClr val="accent2"/>
                </a:solidFill>
              </a:rPr>
              <a:t> đặt lên đầu frame hiện thời (offset 0).</a:t>
            </a:r>
          </a:p>
        </p:txBody>
      </p:sp>
      <p:sp>
        <p:nvSpPr>
          <p:cNvPr id="19394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Hoạt đông khi thực hiện lệnh CALL (p, q)</a:t>
            </a:r>
          </a:p>
        </p:txBody>
      </p:sp>
      <p:sp>
        <p:nvSpPr>
          <p:cNvPr id="193946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Sinh mã đích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9D67D8-D7C1-4188-8B62-25A7C5A03EBF}" type="slidenum">
              <a:rPr lang="en-US" altLang="en-US"/>
              <a:pPr/>
              <a:t>109</a:t>
            </a:fld>
            <a:endParaRPr lang="en-US" altLang="en-US"/>
          </a:p>
        </p:txBody>
      </p:sp>
      <p:sp>
        <p:nvSpPr>
          <p:cNvPr id="1940482" name="Rectangle 2"/>
          <p:cNvSpPr>
            <a:spLocks noChangeArrowheads="1"/>
          </p:cNvSpPr>
          <p:nvPr/>
        </p:nvSpPr>
        <p:spPr bwMode="auto">
          <a:xfrm>
            <a:off x="0" y="4052888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r>
              <a:rPr lang="en-US" altLang="en-US" sz="4000"/>
              <a:t>Chương 5: Sinh mã</a:t>
            </a:r>
          </a:p>
        </p:txBody>
      </p:sp>
      <p:sp>
        <p:nvSpPr>
          <p:cNvPr id="194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3344862"/>
          </a:xfrm>
        </p:spPr>
        <p:txBody>
          <a:bodyPr/>
          <a:lstStyle/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trung gian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en-US" altLang="en-US" sz="4000">
                <a:solidFill>
                  <a:srgbClr val="1E0068"/>
                </a:solidFill>
              </a:rPr>
              <a:t>Sinh mã đích</a:t>
            </a:r>
          </a:p>
          <a:p>
            <a:pPr marL="609600" indent="-609600">
              <a:spcBef>
                <a:spcPct val="100000"/>
              </a:spcBef>
              <a:buFontTx/>
              <a:buAutoNum type="arabicPeriod"/>
            </a:pPr>
            <a:r>
              <a:rPr lang="fr-FR" altLang="en-US" sz="4000"/>
              <a:t>Tối ưu mã</a:t>
            </a:r>
            <a:endParaRPr lang="en-US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048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53EB60-2004-43E9-AD8E-1E14CC6E230C}" type="slidenum">
              <a:rPr lang="en-US" altLang="en-US"/>
              <a:pPr/>
              <a:t>110</a:t>
            </a:fld>
            <a:endParaRPr lang="en-US" altLang="en-US"/>
          </a:p>
        </p:txBody>
      </p:sp>
      <p:sp>
        <p:nvSpPr>
          <p:cNvPr id="194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r>
              <a:rPr lang="en-US" altLang="en-US" sz="4000"/>
              <a:t>Giới thiệu</a:t>
            </a:r>
          </a:p>
        </p:txBody>
      </p:sp>
      <p:sp>
        <p:nvSpPr>
          <p:cNvPr id="194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724900" cy="5638800"/>
          </a:xfrm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en-US" b="1"/>
              <a:t>Yêu cầu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Chương trình sau khi tối ưu phải tương đương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Tốc độ thực hiện trung bình tăng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Hiệu quả đạt được tương xứng với công sức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en-US" b="1"/>
              <a:t>Có thể tối ưu mã vào lúc nào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Mã nguồn</a:t>
            </a:r>
          </a:p>
          <a:p>
            <a:pPr marL="1601788" lvl="2" indent="-457200">
              <a:lnSpc>
                <a:spcPct val="120000"/>
              </a:lnSpc>
            </a:pPr>
            <a:r>
              <a:rPr lang="en-US" altLang="en-US"/>
              <a:t>Do người lập trình (giải thuật)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Mã trung gian</a:t>
            </a:r>
          </a:p>
          <a:p>
            <a:pPr marL="566738" lvl="1" indent="-334963">
              <a:lnSpc>
                <a:spcPct val="120000"/>
              </a:lnSpc>
            </a:pPr>
            <a:r>
              <a:rPr lang="en-US" altLang="en-US"/>
              <a:t>Mã đích</a:t>
            </a:r>
            <a:endParaRPr lang="en-US" altLang="en-US" sz="36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C54A09-BB96-49EE-857D-9C6E745A6F3C}" type="slidenum">
              <a:rPr lang="en-US" altLang="en-US"/>
              <a:pPr/>
              <a:t>111</a:t>
            </a:fld>
            <a:endParaRPr lang="en-US" altLang="en-US"/>
          </a:p>
        </p:txBody>
      </p:sp>
      <p:sp>
        <p:nvSpPr>
          <p:cNvPr id="194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575675" cy="5867400"/>
          </a:xfrm>
        </p:spPr>
        <p:txBody>
          <a:bodyPr/>
          <a:lstStyle/>
          <a:p>
            <a:pPr marL="609600" indent="-609600">
              <a:lnSpc>
                <a:spcPct val="105000"/>
              </a:lnSpc>
            </a:pPr>
            <a:r>
              <a:rPr lang="en-US" altLang="en-US"/>
              <a:t>Nguyên tắc</a:t>
            </a:r>
          </a:p>
          <a:p>
            <a:pPr marL="1214438" lvl="1" indent="-533400">
              <a:lnSpc>
                <a:spcPct val="105000"/>
              </a:lnSpc>
            </a:pPr>
            <a:r>
              <a:rPr lang="en-US" altLang="en-US"/>
              <a:t>Xem xét một dãy lệnh trong mã đích và thay thế chúng bằng những đoạn mã ngắn hơn và hiệu quả hơn</a:t>
            </a:r>
          </a:p>
          <a:p>
            <a:pPr marL="609600" indent="-609600">
              <a:lnSpc>
                <a:spcPct val="105000"/>
              </a:lnSpc>
            </a:pPr>
            <a:r>
              <a:rPr lang="en-US" altLang="en-US"/>
              <a:t>Xu hướng chính</a:t>
            </a:r>
          </a:p>
          <a:p>
            <a:pPr marL="1214438" lvl="1" indent="-533400">
              <a:lnSpc>
                <a:spcPct val="105000"/>
              </a:lnSpc>
            </a:pPr>
            <a:r>
              <a:rPr lang="en-US" altLang="en-US"/>
              <a:t>Loại bỏ lệnh dư thừa</a:t>
            </a:r>
          </a:p>
          <a:p>
            <a:pPr marL="1214438" lvl="1" indent="-533400">
              <a:lnSpc>
                <a:spcPct val="105000"/>
              </a:lnSpc>
            </a:pPr>
            <a:r>
              <a:rPr lang="en-US" altLang="en-US"/>
              <a:t>Thông tin dòng điều khiển</a:t>
            </a:r>
          </a:p>
          <a:p>
            <a:pPr marL="1214438" lvl="1" indent="-533400">
              <a:lnSpc>
                <a:spcPct val="105000"/>
              </a:lnSpc>
            </a:pPr>
            <a:r>
              <a:rPr lang="fr-FR" altLang="en-US"/>
              <a:t>Loại bỏ biểu thức con chung</a:t>
            </a:r>
          </a:p>
          <a:p>
            <a:pPr marL="1214438" lvl="1" indent="-533400">
              <a:lnSpc>
                <a:spcPct val="105000"/>
              </a:lnSpc>
            </a:pPr>
            <a:r>
              <a:rPr lang="fr-FR" altLang="en-US"/>
              <a:t>Tính toán giá trị hằng</a:t>
            </a:r>
          </a:p>
          <a:p>
            <a:pPr marL="1214438" lvl="1" indent="-533400">
              <a:lnSpc>
                <a:spcPct val="105000"/>
              </a:lnSpc>
            </a:pPr>
            <a:r>
              <a:rPr lang="en-US" altLang="en-US"/>
              <a:t>Giảm chi phí tính toán</a:t>
            </a:r>
          </a:p>
          <a:p>
            <a:pPr marL="1214438" lvl="1" indent="-533400">
              <a:lnSpc>
                <a:spcPct val="105000"/>
              </a:lnSpc>
            </a:pPr>
            <a:r>
              <a:rPr lang="fr-FR" altLang="en-US"/>
              <a:t>Lan truyền biến gán…..</a:t>
            </a:r>
          </a:p>
        </p:txBody>
      </p:sp>
      <p:sp>
        <p:nvSpPr>
          <p:cNvPr id="1942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Tối ưu mã cục bộ</a:t>
            </a:r>
          </a:p>
        </p:txBody>
      </p:sp>
      <p:sp>
        <p:nvSpPr>
          <p:cNvPr id="194253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FA4018-10CF-422A-8DB5-14D22BEB0C08}" type="slidenum">
              <a:rPr lang="en-US" altLang="en-US"/>
              <a:pPr/>
              <a:t>112</a:t>
            </a:fld>
            <a:endParaRPr lang="en-US" altLang="en-US"/>
          </a:p>
        </p:txBody>
      </p:sp>
      <p:sp>
        <p:nvSpPr>
          <p:cNvPr id="194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75675" cy="5638800"/>
          </a:xfrm>
        </p:spPr>
        <p:txBody>
          <a:bodyPr/>
          <a:lstStyle/>
          <a:p>
            <a:pPr marL="465138" indent="-465138"/>
            <a:r>
              <a:rPr lang="en-US" altLang="en-US" sz="2800" b="1"/>
              <a:t>Mã không đến được</a:t>
            </a:r>
            <a:r>
              <a:rPr lang="en-US" altLang="en-US" sz="2800"/>
              <a:t>   </a:t>
            </a:r>
          </a:p>
          <a:p>
            <a:pPr marL="1785938" lvl="2" indent="-457200">
              <a:buFontTx/>
              <a:buNone/>
            </a:pPr>
            <a:r>
              <a:rPr lang="en-US" altLang="en-US" sz="2800"/>
              <a:t>goto L2    </a:t>
            </a:r>
          </a:p>
          <a:p>
            <a:pPr marL="1785938" lvl="2" indent="-457200">
              <a:buFontTx/>
              <a:buNone/>
            </a:pPr>
            <a:r>
              <a:rPr lang="en-US" altLang="en-US" sz="2800"/>
              <a:t>x := x + 1     	</a:t>
            </a:r>
            <a:r>
              <a:rPr lang="en-US" altLang="en-US" sz="2800">
                <a:sym typeface="Wingdings" panose="05000000000000000000" pitchFamily="2" charset="2"/>
              </a:rPr>
              <a:t> </a:t>
            </a:r>
            <a:r>
              <a:rPr lang="en-US" altLang="en-US" sz="2800"/>
              <a:t>  Không cần</a:t>
            </a:r>
          </a:p>
          <a:p>
            <a:pPr marL="1785938" lvl="2" indent="-457200">
              <a:buFontTx/>
              <a:buNone/>
            </a:pPr>
            <a:r>
              <a:rPr lang="fr-FR" altLang="en-US" sz="2800"/>
              <a:t>L2:…</a:t>
            </a:r>
            <a:endParaRPr lang="en-US" altLang="en-US" sz="2800"/>
          </a:p>
          <a:p>
            <a:pPr marL="465138" indent="-465138">
              <a:lnSpc>
                <a:spcPct val="110000"/>
              </a:lnSpc>
              <a:spcBef>
                <a:spcPct val="40000"/>
              </a:spcBef>
            </a:pPr>
            <a:r>
              <a:rPr lang="en-US" altLang="en-US" b="1"/>
              <a:t>Mã chết</a:t>
            </a:r>
            <a:r>
              <a:rPr lang="en-US" altLang="en-US" b="1" u="sng">
                <a:solidFill>
                  <a:srgbClr val="CC3300"/>
                </a:solidFill>
              </a:rPr>
              <a:t>  </a:t>
            </a:r>
          </a:p>
          <a:p>
            <a:pPr marL="1785938" lvl="2" indent="-457200">
              <a:buFontTx/>
              <a:buNone/>
            </a:pPr>
            <a:r>
              <a:rPr lang="en-US" altLang="en-US" sz="2800"/>
              <a:t>x := 32  </a:t>
            </a:r>
          </a:p>
          <a:p>
            <a:pPr marL="1785938" lvl="2" indent="-457200">
              <a:buFontTx/>
              <a:buNone/>
            </a:pPr>
            <a:r>
              <a:rPr lang="en-US" altLang="en-US" sz="2800"/>
              <a:t>y := x + y</a:t>
            </a:r>
            <a:r>
              <a:rPr lang="en-US" altLang="en-US"/>
              <a:t>                 </a:t>
            </a:r>
          </a:p>
          <a:p>
            <a:pPr marL="739775" lvl="1" indent="-1588">
              <a:buFontTx/>
              <a:buNone/>
            </a:pPr>
            <a:r>
              <a:rPr lang="en-US" altLang="en-US"/>
              <a:t>Nếu x không được dùng trong những lệnh tiếp theo, có thể  chuyển thành:	</a:t>
            </a:r>
          </a:p>
          <a:p>
            <a:pPr marL="1785938" lvl="2" indent="-457200">
              <a:buFontTx/>
              <a:buNone/>
            </a:pPr>
            <a:r>
              <a:rPr lang="en-US" altLang="en-US"/>
              <a:t>	</a:t>
            </a:r>
            <a:r>
              <a:rPr lang="en-US" altLang="en-US" sz="2800"/>
              <a:t>y := 32 + y </a:t>
            </a:r>
          </a:p>
        </p:txBody>
      </p:sp>
      <p:sp>
        <p:nvSpPr>
          <p:cNvPr id="1943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Loại bỏ lệnh dư thừa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4355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44FBCB-C941-4791-AB8D-947FBF9B0FD9}" type="slidenum">
              <a:rPr lang="en-US" altLang="en-US"/>
              <a:pPr/>
              <a:t>113</a:t>
            </a:fld>
            <a:endParaRPr lang="en-US" altLang="en-US"/>
          </a:p>
        </p:txBody>
      </p:sp>
      <p:sp>
        <p:nvSpPr>
          <p:cNvPr id="194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75675" cy="55626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/>
              <a:t>	goto L1</a:t>
            </a:r>
          </a:p>
          <a:p>
            <a:pPr marL="1214438" lvl="1" indent="-533400">
              <a:buFontTx/>
              <a:buNone/>
            </a:pPr>
            <a:r>
              <a:rPr lang="en-US" altLang="en-US"/>
              <a:t>  …</a:t>
            </a:r>
          </a:p>
          <a:p>
            <a:pPr marL="1214438" lvl="1" indent="-533400">
              <a:buFontTx/>
              <a:buNone/>
            </a:pPr>
            <a:r>
              <a:rPr lang="en-US" altLang="en-US"/>
              <a:t>L1: goto L2   </a:t>
            </a:r>
            <a:r>
              <a:rPr lang="en-US" altLang="en-US">
                <a:sym typeface="Wingdings" panose="05000000000000000000" pitchFamily="2" charset="2"/>
              </a:rPr>
              <a:t> </a:t>
            </a:r>
            <a:r>
              <a:rPr lang="en-US" altLang="en-US"/>
              <a:t>  Không cần</a:t>
            </a:r>
          </a:p>
          <a:p>
            <a:pPr marL="609600" indent="-609600">
              <a:spcBef>
                <a:spcPct val="100000"/>
              </a:spcBef>
              <a:buFontTx/>
              <a:buNone/>
            </a:pPr>
            <a:r>
              <a:rPr lang="en-US" altLang="en-US"/>
              <a:t>chuyển thành</a:t>
            </a:r>
          </a:p>
          <a:p>
            <a:pPr marL="609600" indent="-609600">
              <a:buFontTx/>
              <a:buNone/>
            </a:pPr>
            <a:r>
              <a:rPr lang="en-US" altLang="en-US"/>
              <a:t>	goto L2</a:t>
            </a:r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Thông tin dòng điều khiển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4458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270E-0B3B-4F6C-94C9-172A573AC37F}" type="slidenum">
              <a:rPr lang="en-US" altLang="en-US"/>
              <a:pPr/>
              <a:t>114</a:t>
            </a:fld>
            <a:endParaRPr lang="en-US" altLang="en-US"/>
          </a:p>
        </p:txBody>
      </p:sp>
      <p:sp>
        <p:nvSpPr>
          <p:cNvPr id="194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75675" cy="1600200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spcBef>
                <a:spcPct val="25000"/>
              </a:spcBef>
            </a:pPr>
            <a:r>
              <a:rPr lang="fr-FR" altLang="en-US"/>
              <a:t>Ví dụ câu lệnh 	a[i+1] = b[i+1]</a:t>
            </a:r>
          </a:p>
          <a:p>
            <a:pPr marL="609600" indent="-609600">
              <a:lnSpc>
                <a:spcPct val="120000"/>
              </a:lnSpc>
              <a:spcBef>
                <a:spcPct val="25000"/>
              </a:spcBef>
            </a:pPr>
            <a:r>
              <a:rPr lang="fr-FR" altLang="en-US"/>
              <a:t>Sinh ra mã</a:t>
            </a:r>
            <a:endParaRPr lang="en-US" altLang="en-US"/>
          </a:p>
        </p:txBody>
      </p:sp>
      <p:sp>
        <p:nvSpPr>
          <p:cNvPr id="19456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Loại bỏ biểu thức con chung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4560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sp>
        <p:nvSpPr>
          <p:cNvPr id="1945605" name="Rectangle 3"/>
          <p:cNvSpPr>
            <a:spLocks noChangeArrowheads="1"/>
          </p:cNvSpPr>
          <p:nvPr/>
        </p:nvSpPr>
        <p:spPr bwMode="auto">
          <a:xfrm>
            <a:off x="2057400" y="3048000"/>
            <a:ext cx="21780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0"/>
              <a:t>t1 = i+1</a:t>
            </a:r>
          </a:p>
          <a:p>
            <a:pPr>
              <a:buFontTx/>
              <a:buNone/>
            </a:pPr>
            <a:r>
              <a:rPr lang="en-US" altLang="en-US" sz="2400" b="0"/>
              <a:t>t2 = b[t1]</a:t>
            </a:r>
          </a:p>
          <a:p>
            <a:pPr>
              <a:buFontTx/>
              <a:buNone/>
            </a:pPr>
            <a:r>
              <a:rPr lang="en-US" altLang="en-US" sz="2400" b="0"/>
              <a:t>t3 = i + 1</a:t>
            </a:r>
          </a:p>
          <a:p>
            <a:pPr>
              <a:buFontTx/>
              <a:buNone/>
            </a:pPr>
            <a:r>
              <a:rPr lang="en-US" altLang="en-US" sz="2400" b="0"/>
              <a:t>a[t3] = t2</a:t>
            </a:r>
          </a:p>
        </p:txBody>
      </p:sp>
      <p:grpSp>
        <p:nvGrpSpPr>
          <p:cNvPr id="1945606" name="Group 6"/>
          <p:cNvGrpSpPr>
            <a:grpSpLocks/>
          </p:cNvGrpSpPr>
          <p:nvPr/>
        </p:nvGrpSpPr>
        <p:grpSpPr bwMode="auto">
          <a:xfrm>
            <a:off x="1905000" y="3886200"/>
            <a:ext cx="4343400" cy="485775"/>
            <a:chOff x="624" y="2448"/>
            <a:chExt cx="2736" cy="306"/>
          </a:xfrm>
        </p:grpSpPr>
        <p:sp>
          <p:nvSpPr>
            <p:cNvPr id="1945607" name="Rectangle 4"/>
            <p:cNvSpPr>
              <a:spLocks noChangeArrowheads="1"/>
            </p:cNvSpPr>
            <p:nvPr/>
          </p:nvSpPr>
          <p:spPr bwMode="auto">
            <a:xfrm>
              <a:off x="2208" y="2448"/>
              <a:ext cx="11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 b="0" i="1">
                  <a:sym typeface="Wingdings" panose="05000000000000000000" pitchFamily="2" charset="2"/>
                </a:rPr>
                <a:t>Không cần</a:t>
              </a:r>
              <a:endParaRPr lang="en-US" altLang="en-US" sz="2400" b="0"/>
            </a:p>
          </p:txBody>
        </p:sp>
        <p:sp>
          <p:nvSpPr>
            <p:cNvPr id="1945608" name="Rectangle 8"/>
            <p:cNvSpPr>
              <a:spLocks noChangeArrowheads="1"/>
            </p:cNvSpPr>
            <p:nvPr/>
          </p:nvSpPr>
          <p:spPr bwMode="auto">
            <a:xfrm>
              <a:off x="624" y="2466"/>
              <a:ext cx="100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5609" name="AutoShape 9"/>
            <p:cNvSpPr>
              <a:spLocks noChangeArrowheads="1"/>
            </p:cNvSpPr>
            <p:nvPr/>
          </p:nvSpPr>
          <p:spPr bwMode="auto">
            <a:xfrm>
              <a:off x="1632" y="2544"/>
              <a:ext cx="624" cy="96"/>
            </a:xfrm>
            <a:prstGeom prst="leftArrow">
              <a:avLst>
                <a:gd name="adj1" fmla="val 50000"/>
                <a:gd name="adj2" fmla="val 1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5610" name="Rectangle 3"/>
          <p:cNvSpPr>
            <a:spLocks noChangeArrowheads="1"/>
          </p:cNvSpPr>
          <p:nvPr/>
        </p:nvSpPr>
        <p:spPr bwMode="auto">
          <a:xfrm>
            <a:off x="2060575" y="3048000"/>
            <a:ext cx="2178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0"/>
              <a:t>t1 = i+1</a:t>
            </a:r>
          </a:p>
          <a:p>
            <a:pPr>
              <a:buFontTx/>
              <a:buNone/>
            </a:pPr>
            <a:r>
              <a:rPr lang="en-US" altLang="en-US" sz="2400" b="0"/>
              <a:t>t2 = b[t1]</a:t>
            </a:r>
          </a:p>
          <a:p>
            <a:pPr>
              <a:buFontTx/>
              <a:buNone/>
            </a:pPr>
            <a:r>
              <a:rPr lang="en-US" altLang="en-US" sz="2400" b="0"/>
              <a:t>a[t1] = t2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1945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05" grpId="0"/>
      <p:bldP spid="1945610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A7131-B2F6-4B1A-AFE8-D7739582BCB3}" type="slidenum">
              <a:rPr lang="en-US" altLang="en-US"/>
              <a:pPr/>
              <a:t>115</a:t>
            </a:fld>
            <a:endParaRPr lang="en-US" altLang="en-US"/>
          </a:p>
        </p:txBody>
      </p:sp>
      <p:sp>
        <p:nvSpPr>
          <p:cNvPr id="194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Tính giá trị hằng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4662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sp>
        <p:nvSpPr>
          <p:cNvPr id="1946628" name="Rectangle 2"/>
          <p:cNvSpPr>
            <a:spLocks noChangeArrowheads="1"/>
          </p:cNvSpPr>
          <p:nvPr/>
        </p:nvSpPr>
        <p:spPr bwMode="auto">
          <a:xfrm>
            <a:off x="609600" y="2057400"/>
            <a:ext cx="2286000" cy="18288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0"/>
              <a:t>i = 4</a:t>
            </a:r>
          </a:p>
          <a:p>
            <a:pPr>
              <a:buFontTx/>
              <a:buNone/>
            </a:pPr>
            <a:r>
              <a:rPr lang="en-US" altLang="en-US" sz="2400" b="0"/>
              <a:t>t1 = i+1</a:t>
            </a:r>
          </a:p>
          <a:p>
            <a:pPr>
              <a:buFontTx/>
              <a:buNone/>
            </a:pPr>
            <a:r>
              <a:rPr lang="en-US" altLang="en-US" sz="2400" b="0"/>
              <a:t>t2 = b[t1]</a:t>
            </a:r>
          </a:p>
          <a:p>
            <a:pPr>
              <a:buFontTx/>
              <a:buNone/>
            </a:pPr>
            <a:r>
              <a:rPr lang="en-US" altLang="en-US" sz="2400" b="0"/>
              <a:t>a[t1] = t2</a:t>
            </a:r>
          </a:p>
        </p:txBody>
      </p:sp>
      <p:grpSp>
        <p:nvGrpSpPr>
          <p:cNvPr id="1946629" name="Group 5"/>
          <p:cNvGrpSpPr>
            <a:grpSpLocks/>
          </p:cNvGrpSpPr>
          <p:nvPr/>
        </p:nvGrpSpPr>
        <p:grpSpPr bwMode="auto">
          <a:xfrm>
            <a:off x="6096000" y="3886200"/>
            <a:ext cx="2362200" cy="2362200"/>
            <a:chOff x="3840" y="2208"/>
            <a:chExt cx="1488" cy="1872"/>
          </a:xfrm>
        </p:grpSpPr>
        <p:sp>
          <p:nvSpPr>
            <p:cNvPr id="1946630" name="Rectangle 5"/>
            <p:cNvSpPr>
              <a:spLocks noChangeArrowheads="1"/>
            </p:cNvSpPr>
            <p:nvPr/>
          </p:nvSpPr>
          <p:spPr bwMode="auto">
            <a:xfrm>
              <a:off x="3840" y="2592"/>
              <a:ext cx="1488" cy="1488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</a:extLst>
          </p:spPr>
          <p:txBody>
            <a:bodyPr/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en-US" sz="2400" b="0"/>
                <a:t>i = 4</a:t>
              </a:r>
            </a:p>
            <a:p>
              <a:pPr>
                <a:spcBef>
                  <a:spcPct val="20000"/>
                </a:spcBef>
              </a:pPr>
              <a:r>
                <a:rPr lang="en-US" altLang="en-US" sz="2400" b="0"/>
                <a:t>t1 = 5 </a:t>
              </a:r>
            </a:p>
            <a:p>
              <a:pPr>
                <a:spcBef>
                  <a:spcPct val="20000"/>
                </a:spcBef>
              </a:pPr>
              <a:r>
                <a:rPr lang="en-US" altLang="en-US" sz="2400" b="0"/>
                <a:t>t2 = b[5]</a:t>
              </a:r>
              <a:endParaRPr lang="en-US" altLang="en-US" sz="2400" b="0" i="1"/>
            </a:p>
            <a:p>
              <a:pPr>
                <a:spcBef>
                  <a:spcPct val="20000"/>
                </a:spcBef>
              </a:pPr>
              <a:r>
                <a:rPr lang="en-US" altLang="en-US" sz="2400" b="0"/>
                <a:t>a[5] = t2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946631" name="AutoShape 7"/>
            <p:cNvSpPr>
              <a:spLocks noChangeArrowheads="1"/>
            </p:cNvSpPr>
            <p:nvPr/>
          </p:nvSpPr>
          <p:spPr bwMode="auto">
            <a:xfrm rot="2190664">
              <a:off x="3936" y="2208"/>
              <a:ext cx="768" cy="192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46632" name="Group 8"/>
          <p:cNvGrpSpPr>
            <a:grpSpLocks/>
          </p:cNvGrpSpPr>
          <p:nvPr/>
        </p:nvGrpSpPr>
        <p:grpSpPr bwMode="auto">
          <a:xfrm>
            <a:off x="2971800" y="2133600"/>
            <a:ext cx="3352800" cy="1828800"/>
            <a:chOff x="1872" y="672"/>
            <a:chExt cx="2112" cy="1440"/>
          </a:xfrm>
        </p:grpSpPr>
        <p:sp>
          <p:nvSpPr>
            <p:cNvPr id="1946633" name="Rectangle 3"/>
            <p:cNvSpPr>
              <a:spLocks noChangeArrowheads="1"/>
            </p:cNvSpPr>
            <p:nvPr/>
          </p:nvSpPr>
          <p:spPr bwMode="auto">
            <a:xfrm>
              <a:off x="2640" y="672"/>
              <a:ext cx="1344" cy="1440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</a:extLst>
          </p:spPr>
          <p:txBody>
            <a:bodyPr/>
            <a:lstStyle>
              <a:lvl1pPr marL="342900" indent="-342900" algn="l">
                <a:spcBef>
                  <a:spcPct val="20000"/>
                </a:spcBef>
                <a:buChar char="•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 b="0"/>
                <a:t>i = 4</a:t>
              </a:r>
            </a:p>
            <a:p>
              <a:pPr>
                <a:buFontTx/>
                <a:buNone/>
              </a:pPr>
              <a:r>
                <a:rPr lang="en-US" altLang="en-US" sz="2400" b="0"/>
                <a:t>t1 = 5</a:t>
              </a:r>
            </a:p>
            <a:p>
              <a:pPr>
                <a:buFontTx/>
                <a:buNone/>
              </a:pPr>
              <a:r>
                <a:rPr lang="en-US" altLang="en-US" sz="2400" b="0"/>
                <a:t>t2 = b[t1]</a:t>
              </a:r>
              <a:endParaRPr lang="en-US" altLang="en-US" sz="2400" b="0" i="1"/>
            </a:p>
            <a:p>
              <a:pPr>
                <a:buFontTx/>
                <a:buNone/>
              </a:pPr>
              <a:r>
                <a:rPr lang="en-US" altLang="en-US" sz="2400" b="0"/>
                <a:t>a[t1] = t2</a:t>
              </a:r>
            </a:p>
          </p:txBody>
        </p:sp>
        <p:sp>
          <p:nvSpPr>
            <p:cNvPr id="1946634" name="AutoShape 10"/>
            <p:cNvSpPr>
              <a:spLocks noChangeArrowheads="1"/>
            </p:cNvSpPr>
            <p:nvPr/>
          </p:nvSpPr>
          <p:spPr bwMode="auto">
            <a:xfrm>
              <a:off x="1872" y="1248"/>
              <a:ext cx="768" cy="192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46635" name="Group 11"/>
          <p:cNvGrpSpPr>
            <a:grpSpLocks/>
          </p:cNvGrpSpPr>
          <p:nvPr/>
        </p:nvGrpSpPr>
        <p:grpSpPr bwMode="auto">
          <a:xfrm>
            <a:off x="1828800" y="4724400"/>
            <a:ext cx="4267200" cy="1371600"/>
            <a:chOff x="1152" y="2736"/>
            <a:chExt cx="2688" cy="1200"/>
          </a:xfrm>
        </p:grpSpPr>
        <p:sp>
          <p:nvSpPr>
            <p:cNvPr id="1946636" name="Rectangle 6"/>
            <p:cNvSpPr>
              <a:spLocks noChangeArrowheads="1"/>
            </p:cNvSpPr>
            <p:nvPr/>
          </p:nvSpPr>
          <p:spPr bwMode="auto">
            <a:xfrm>
              <a:off x="1152" y="2736"/>
              <a:ext cx="1584" cy="1200"/>
            </a:xfrm>
            <a:prstGeom prst="rect">
              <a:avLst/>
            </a:prstGeom>
            <a:noFill/>
            <a:ln w="9525">
              <a:solidFill>
                <a:srgbClr val="2C1ED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</a:extLst>
          </p:spPr>
          <p:txBody>
            <a:bodyPr/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en-US" sz="2400" b="0"/>
                <a:t>i = 4</a:t>
              </a:r>
            </a:p>
            <a:p>
              <a:pPr>
                <a:spcBef>
                  <a:spcPct val="20000"/>
                </a:spcBef>
              </a:pPr>
              <a:r>
                <a:rPr lang="en-US" altLang="en-US" sz="2400" b="0"/>
                <a:t>t2 = b[5]</a:t>
              </a:r>
              <a:endParaRPr lang="en-US" altLang="en-US" sz="2400" b="0" i="1"/>
            </a:p>
            <a:p>
              <a:pPr>
                <a:spcBef>
                  <a:spcPct val="20000"/>
                </a:spcBef>
              </a:pPr>
              <a:r>
                <a:rPr lang="en-US" altLang="en-US" sz="2400" b="0"/>
                <a:t>a[5] = t2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946637" name="AutoShape 13"/>
            <p:cNvSpPr>
              <a:spLocks noChangeArrowheads="1"/>
            </p:cNvSpPr>
            <p:nvPr/>
          </p:nvSpPr>
          <p:spPr bwMode="auto">
            <a:xfrm>
              <a:off x="2736" y="3168"/>
              <a:ext cx="1104" cy="192"/>
            </a:xfrm>
            <a:prstGeom prst="leftArrow">
              <a:avLst>
                <a:gd name="adj1" fmla="val 50000"/>
                <a:gd name="adj2" fmla="val 1437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6638" name="Rectangle 2"/>
          <p:cNvSpPr>
            <a:spLocks noChangeArrowheads="1"/>
          </p:cNvSpPr>
          <p:nvPr/>
        </p:nvSpPr>
        <p:spPr bwMode="auto">
          <a:xfrm>
            <a:off x="609600" y="914400"/>
            <a:ext cx="8077200" cy="914400"/>
          </a:xfrm>
          <a:prstGeom prst="rect">
            <a:avLst/>
          </a:prstGeom>
          <a:noFill/>
          <a:ln w="9525">
            <a:solidFill>
              <a:srgbClr val="2C1ED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lvl="1">
              <a:buFontTx/>
              <a:buNone/>
            </a:pPr>
            <a:r>
              <a:rPr lang="en-US" altLang="en-US" b="0"/>
              <a:t>x := 32                   trở thành      x := 64    </a:t>
            </a:r>
          </a:p>
          <a:p>
            <a:pPr lvl="1">
              <a:buFontTx/>
              <a:buNone/>
            </a:pPr>
            <a:r>
              <a:rPr lang="en-US" altLang="en-US" b="0"/>
              <a:t>x := x + 32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94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4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2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F2B41B-3F05-4763-A1C1-5BEA72607F3A}" type="slidenum">
              <a:rPr lang="en-US" altLang="en-US"/>
              <a:pPr/>
              <a:t>116</a:t>
            </a:fld>
            <a:endParaRPr lang="en-US" altLang="en-US"/>
          </a:p>
        </p:txBody>
      </p:sp>
      <p:sp>
        <p:nvSpPr>
          <p:cNvPr id="194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458200" cy="5562600"/>
          </a:xfrm>
        </p:spPr>
        <p:txBody>
          <a:bodyPr/>
          <a:lstStyle/>
          <a:p>
            <a:pPr marL="465138" indent="-465138">
              <a:lnSpc>
                <a:spcPct val="110000"/>
              </a:lnSpc>
            </a:pPr>
            <a:r>
              <a:rPr lang="en-US" altLang="en-US" sz="2800" b="1"/>
              <a:t>Tối ưu vòng lặp</a:t>
            </a:r>
            <a:r>
              <a:rPr lang="en-US" altLang="en-US" sz="2400"/>
              <a:t> </a:t>
            </a:r>
          </a:p>
          <a:p>
            <a:pPr marL="1214438" lvl="1" indent="-358775">
              <a:lnSpc>
                <a:spcPct val="110000"/>
              </a:lnSpc>
              <a:buFontTx/>
              <a:buNone/>
            </a:pPr>
            <a:r>
              <a:rPr lang="en-US" altLang="en-US" sz="2400"/>
              <a:t>Chuyển những đoạn mã bất biến ra ngoài vòng lặp: </a:t>
            </a:r>
          </a:p>
          <a:p>
            <a:pPr marL="1785938" lvl="2" indent="-457200">
              <a:lnSpc>
                <a:spcPct val="11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/>
              <a:t>while (i &lt;=  limit - 2)    </a:t>
            </a:r>
          </a:p>
          <a:p>
            <a:pPr marL="1785938" lvl="2" indent="-457200">
              <a:lnSpc>
                <a:spcPct val="110000"/>
              </a:lnSpc>
              <a:buFontTx/>
              <a:buNone/>
            </a:pPr>
            <a:r>
              <a:rPr lang="fr-FR" altLang="en-US"/>
              <a:t>	</a:t>
            </a:r>
            <a:r>
              <a:rPr lang="fr-FR" altLang="en-US">
                <a:sym typeface="Symbol" panose="05050102010706020507" pitchFamily="18" charset="2"/>
              </a:rPr>
              <a:t></a:t>
            </a:r>
          </a:p>
          <a:p>
            <a:pPr marL="1785938" lvl="2" indent="-457200">
              <a:lnSpc>
                <a:spcPct val="110000"/>
              </a:lnSpc>
              <a:buFontTx/>
              <a:buNone/>
            </a:pPr>
            <a:r>
              <a:rPr lang="en-US" altLang="en-US"/>
              <a:t>	t := limit - 2      </a:t>
            </a:r>
          </a:p>
          <a:p>
            <a:pPr marL="1785938" lvl="2" indent="-457200">
              <a:lnSpc>
                <a:spcPct val="110000"/>
              </a:lnSpc>
              <a:buFontTx/>
              <a:buNone/>
            </a:pPr>
            <a:r>
              <a:rPr lang="en-US" altLang="en-US"/>
              <a:t>	while (i &lt;= t)</a:t>
            </a:r>
            <a:r>
              <a:rPr lang="en-US" altLang="en-US" sz="2000"/>
              <a:t>  </a:t>
            </a:r>
          </a:p>
          <a:p>
            <a:pPr marL="465138" indent="-465138">
              <a:lnSpc>
                <a:spcPct val="110000"/>
              </a:lnSpc>
            </a:pPr>
            <a:r>
              <a:rPr lang="en-US" altLang="en-US" sz="2800" b="1"/>
              <a:t>Tối ưu toán học</a:t>
            </a:r>
          </a:p>
          <a:p>
            <a:pPr marL="1214438" lvl="1" indent="-358775">
              <a:lnSpc>
                <a:spcPct val="110000"/>
              </a:lnSpc>
              <a:buFontTx/>
              <a:buNone/>
            </a:pPr>
            <a:r>
              <a:rPr lang="en-US" altLang="en-US" sz="2400"/>
              <a:t>x := x + 0   	</a:t>
            </a:r>
            <a:r>
              <a:rPr lang="en-US" altLang="en-US" sz="2400">
                <a:sym typeface="Wingdings" panose="05000000000000000000" pitchFamily="2" charset="2"/>
              </a:rPr>
              <a:t> </a:t>
            </a:r>
            <a:r>
              <a:rPr lang="en-US" altLang="en-US" sz="2400"/>
              <a:t>  Không cần</a:t>
            </a:r>
            <a:r>
              <a:rPr lang="en-US" altLang="en-US" sz="2000"/>
              <a:t> </a:t>
            </a:r>
          </a:p>
          <a:p>
            <a:pPr marL="1214438" lvl="1" indent="-358775">
              <a:lnSpc>
                <a:spcPct val="110000"/>
              </a:lnSpc>
              <a:buFontTx/>
              <a:buNone/>
            </a:pPr>
            <a:r>
              <a:rPr lang="fr-FR" altLang="en-US" sz="2400"/>
              <a:t>A  := sqrt(x) 	</a:t>
            </a:r>
            <a:r>
              <a:rPr lang="en-US" altLang="en-US" sz="2400">
                <a:sym typeface="Wingdings" panose="05000000000000000000" pitchFamily="2" charset="2"/>
              </a:rPr>
              <a:t> A := x * x</a:t>
            </a:r>
            <a:endParaRPr lang="en-US" altLang="en-US" sz="2400"/>
          </a:p>
          <a:p>
            <a:pPr marL="1214438" lvl="1" indent="-358775">
              <a:lnSpc>
                <a:spcPct val="110000"/>
              </a:lnSpc>
              <a:buFontTx/>
              <a:buNone/>
            </a:pPr>
            <a:r>
              <a:rPr lang="en-US" altLang="en-US" sz="2400"/>
              <a:t>x := x * 2        	</a:t>
            </a: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/>
              <a:t>x := x + x </a:t>
            </a:r>
          </a:p>
          <a:p>
            <a:pPr marL="1214438" lvl="1" indent="-358775">
              <a:lnSpc>
                <a:spcPct val="110000"/>
              </a:lnSpc>
              <a:buFontTx/>
              <a:buNone/>
            </a:pPr>
            <a:r>
              <a:rPr lang="en-US" altLang="en-US" sz="2400"/>
              <a:t>x   :=   x * 8	</a:t>
            </a: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/>
              <a:t>x := x &lt;&lt; 3</a:t>
            </a:r>
            <a:r>
              <a:rPr lang="en-US" altLang="en-US"/>
              <a:t> </a:t>
            </a:r>
          </a:p>
        </p:txBody>
      </p:sp>
      <p:sp>
        <p:nvSpPr>
          <p:cNvPr id="194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Giảm chi phí tính toán</a:t>
            </a:r>
            <a:endParaRPr lang="en-US" altLang="en-US"/>
          </a:p>
        </p:txBody>
      </p:sp>
      <p:sp>
        <p:nvSpPr>
          <p:cNvPr id="194765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A09B5C-0E7A-433A-AB77-5157B47906D3}" type="slidenum">
              <a:rPr lang="en-US" altLang="en-US"/>
              <a:pPr/>
              <a:t>117</a:t>
            </a:fld>
            <a:endParaRPr lang="en-US" altLang="en-US"/>
          </a:p>
        </p:txBody>
      </p:sp>
      <p:sp>
        <p:nvSpPr>
          <p:cNvPr id="194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4114800" cy="30480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/>
              <a:t>tmp2 = tmp1 ;</a:t>
            </a:r>
          </a:p>
          <a:p>
            <a:pPr marL="609600" indent="-609600">
              <a:buFontTx/>
              <a:buNone/>
            </a:pPr>
            <a:r>
              <a:rPr lang="en-US" altLang="en-US"/>
              <a:t>tmp3 = tmp2 * tmp1;</a:t>
            </a:r>
          </a:p>
          <a:p>
            <a:pPr marL="609600" indent="-609600">
              <a:buFontTx/>
              <a:buNone/>
            </a:pPr>
            <a:r>
              <a:rPr lang="en-US" altLang="en-US"/>
              <a:t>tmp4 = tmp3 ;</a:t>
            </a:r>
          </a:p>
          <a:p>
            <a:pPr marL="609600" indent="-609600">
              <a:buFontTx/>
              <a:buNone/>
            </a:pPr>
            <a:r>
              <a:rPr lang="en-US" altLang="en-US"/>
              <a:t>tmp5 = tmp3 * tmp2 ;</a:t>
            </a:r>
          </a:p>
          <a:p>
            <a:pPr marL="609600" indent="-609600">
              <a:buFontTx/>
              <a:buNone/>
            </a:pPr>
            <a:r>
              <a:rPr lang="en-US" altLang="en-US"/>
              <a:t>c = tmp5 + tmp4 ;</a:t>
            </a:r>
          </a:p>
        </p:txBody>
      </p:sp>
      <p:sp>
        <p:nvSpPr>
          <p:cNvPr id="19486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Lan truyền biến gán</a:t>
            </a:r>
            <a:endParaRPr lang="en-US" altLang="en-US" sz="2800"/>
          </a:p>
        </p:txBody>
      </p:sp>
      <p:sp>
        <p:nvSpPr>
          <p:cNvPr id="19486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pSp>
        <p:nvGrpSpPr>
          <p:cNvPr id="1948677" name="Group 5"/>
          <p:cNvGrpSpPr>
            <a:grpSpLocks/>
          </p:cNvGrpSpPr>
          <p:nvPr/>
        </p:nvGrpSpPr>
        <p:grpSpPr bwMode="auto">
          <a:xfrm>
            <a:off x="4038600" y="2590800"/>
            <a:ext cx="4876800" cy="1981200"/>
            <a:chOff x="2544" y="1632"/>
            <a:chExt cx="3072" cy="1248"/>
          </a:xfrm>
        </p:grpSpPr>
        <p:sp>
          <p:nvSpPr>
            <p:cNvPr id="1948678" name="Rectangle 6"/>
            <p:cNvSpPr>
              <a:spLocks noChangeArrowheads="1"/>
            </p:cNvSpPr>
            <p:nvPr/>
          </p:nvSpPr>
          <p:spPr bwMode="auto">
            <a:xfrm>
              <a:off x="3024" y="1632"/>
              <a:ext cx="2592" cy="1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609600" indent="-609600" algn="l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214438" indent="-533400" algn="l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785938" indent="-457200" algn="l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81238" indent="-381000" algn="l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76538" indent="-381000" algn="l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233738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90938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148138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605338" indent="-3810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b="0"/>
                <a:t>tmp3 = tmp1 * tmp1;</a:t>
              </a:r>
            </a:p>
            <a:p>
              <a:pPr>
                <a:buFontTx/>
                <a:buNone/>
              </a:pPr>
              <a:r>
                <a:rPr lang="en-US" altLang="en-US" b="0"/>
                <a:t>tmp5 = tmp3 * tmp1 ;</a:t>
              </a:r>
            </a:p>
            <a:p>
              <a:pPr>
                <a:buFontTx/>
                <a:buNone/>
              </a:pPr>
              <a:r>
                <a:rPr lang="en-US" altLang="en-US" b="0"/>
                <a:t>c = tmp3 + tmp5 ;</a:t>
              </a:r>
            </a:p>
          </p:txBody>
        </p:sp>
        <p:sp>
          <p:nvSpPr>
            <p:cNvPr id="1948679" name="AutoShape 7"/>
            <p:cNvSpPr>
              <a:spLocks noChangeArrowheads="1"/>
            </p:cNvSpPr>
            <p:nvPr/>
          </p:nvSpPr>
          <p:spPr bwMode="auto">
            <a:xfrm>
              <a:off x="2544" y="2160"/>
              <a:ext cx="432" cy="144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755D9D-21CC-497E-A123-B1F48788A537}" type="slidenum">
              <a:rPr lang="en-US" altLang="en-US"/>
              <a:pPr/>
              <a:t>118</a:t>
            </a:fld>
            <a:endParaRPr lang="en-US" altLang="en-US"/>
          </a:p>
        </p:txBody>
      </p:sp>
      <p:sp>
        <p:nvSpPr>
          <p:cNvPr id="194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534400" cy="5562600"/>
          </a:xfrm>
        </p:spPr>
        <p:txBody>
          <a:bodyPr/>
          <a:lstStyle/>
          <a:p>
            <a:pPr marL="347663" indent="-347663">
              <a:lnSpc>
                <a:spcPct val="90000"/>
              </a:lnSpc>
            </a:pPr>
            <a:r>
              <a:rPr lang="en-US" altLang="en-US"/>
              <a:t>Khái niệm</a:t>
            </a:r>
          </a:p>
          <a:p>
            <a:pPr marL="1214438" lvl="1" indent="-533400">
              <a:lnSpc>
                <a:spcPct val="90000"/>
              </a:lnSpc>
            </a:pPr>
            <a:r>
              <a:rPr lang="en-US" altLang="en-US"/>
              <a:t>C</a:t>
            </a:r>
            <a:r>
              <a:rPr lang="vi-VN" altLang="en-US"/>
              <a:t>hu</a:t>
            </a:r>
            <a:r>
              <a:rPr lang="en-US" altLang="en-US"/>
              <a:t>ỗ</a:t>
            </a:r>
            <a:r>
              <a:rPr lang="vi-VN" altLang="en-US"/>
              <a:t>i các l</a:t>
            </a:r>
            <a:r>
              <a:rPr lang="en-US" altLang="en-US"/>
              <a:t>ệ</a:t>
            </a:r>
            <a:r>
              <a:rPr lang="vi-VN" altLang="en-US"/>
              <a:t>nh k</a:t>
            </a:r>
            <a:r>
              <a:rPr lang="en-US" altLang="en-US"/>
              <a:t>ế</a:t>
            </a:r>
            <a:r>
              <a:rPr lang="vi-VN" altLang="en-US"/>
              <a:t> ti</a:t>
            </a:r>
            <a:r>
              <a:rPr lang="en-US" altLang="en-US"/>
              <a:t>ế</a:t>
            </a:r>
            <a:r>
              <a:rPr lang="vi-VN" altLang="en-US"/>
              <a:t>p nhau trong </a:t>
            </a:r>
            <a:r>
              <a:rPr lang="en-US" altLang="en-US"/>
              <a:t>đ</a:t>
            </a:r>
            <a:r>
              <a:rPr lang="vi-VN" altLang="en-US"/>
              <a:t>ó ̣</a:t>
            </a:r>
            <a:r>
              <a:rPr lang="en-US" altLang="en-US"/>
              <a:t>dò</a:t>
            </a:r>
            <a:r>
              <a:rPr lang="vi-VN" altLang="en-US"/>
              <a:t>ng </a:t>
            </a:r>
            <a:r>
              <a:rPr lang="en-US" altLang="en-US"/>
              <a:t>điề</a:t>
            </a:r>
            <a:r>
              <a:rPr lang="vi-VN" altLang="en-US"/>
              <a:t>u </a:t>
            </a:r>
            <a:r>
              <a:rPr lang="en-US" altLang="en-US"/>
              <a:t>kh</a:t>
            </a:r>
            <a:r>
              <a:rPr lang="vi-VN" altLang="en-US"/>
              <a:t>i</a:t>
            </a:r>
            <a:r>
              <a:rPr lang="en-US" altLang="en-US"/>
              <a:t>ể</a:t>
            </a:r>
            <a:r>
              <a:rPr lang="vi-VN" altLang="en-US"/>
              <a:t>n </a:t>
            </a:r>
            <a:r>
              <a:rPr lang="en-US" altLang="en-US"/>
              <a:t>đ</a:t>
            </a:r>
            <a:r>
              <a:rPr lang="vi-VN" altLang="en-US"/>
              <a:t>i</a:t>
            </a:r>
            <a:r>
              <a:rPr lang="en-US" altLang="en-US"/>
              <a:t> </a:t>
            </a:r>
            <a:r>
              <a:rPr lang="vi-VN" altLang="en-US"/>
              <a:t>vào l</a:t>
            </a:r>
            <a:r>
              <a:rPr lang="en-US" altLang="en-US"/>
              <a:t>ệ</a:t>
            </a:r>
            <a:r>
              <a:rPr lang="vi-VN" altLang="en-US"/>
              <a:t>nh </a:t>
            </a:r>
            <a:r>
              <a:rPr lang="en-US" altLang="en-US"/>
              <a:t>đầ</a:t>
            </a:r>
            <a:r>
              <a:rPr lang="vi-VN" altLang="en-US"/>
              <a:t>u tiên c</a:t>
            </a:r>
            <a:r>
              <a:rPr lang="en-US" altLang="en-US"/>
              <a:t>ủ</a:t>
            </a:r>
            <a:r>
              <a:rPr lang="vi-VN" altLang="en-US"/>
              <a:t>a kh</a:t>
            </a:r>
            <a:r>
              <a:rPr lang="en-US" altLang="en-US"/>
              <a:t>ố</a:t>
            </a:r>
            <a:r>
              <a:rPr lang="vi-VN" altLang="en-US"/>
              <a:t>i và ra </a:t>
            </a:r>
            <a:r>
              <a:rPr lang="en-US" altLang="en-US"/>
              <a:t>ở</a:t>
            </a:r>
            <a:r>
              <a:rPr lang="vi-VN" altLang="en-US"/>
              <a:t> l</a:t>
            </a:r>
            <a:r>
              <a:rPr lang="en-US" altLang="en-US"/>
              <a:t>ệ</a:t>
            </a:r>
            <a:r>
              <a:rPr lang="vi-VN" altLang="en-US"/>
              <a:t>nh cu</a:t>
            </a:r>
            <a:r>
              <a:rPr lang="en-US" altLang="en-US"/>
              <a:t>ố</a:t>
            </a:r>
            <a:r>
              <a:rPr lang="vi-VN" altLang="en-US"/>
              <a:t>i cùng c</a:t>
            </a:r>
            <a:r>
              <a:rPr lang="en-US" altLang="en-US"/>
              <a:t>ủ</a:t>
            </a:r>
            <a:r>
              <a:rPr lang="vi-VN" altLang="en-US"/>
              <a:t>a kh</a:t>
            </a:r>
            <a:r>
              <a:rPr lang="en-US" altLang="en-US"/>
              <a:t>ố</a:t>
            </a:r>
            <a:r>
              <a:rPr lang="vi-VN" altLang="en-US"/>
              <a:t>i</a:t>
            </a:r>
            <a:r>
              <a:rPr lang="en-US" altLang="en-US"/>
              <a:t> </a:t>
            </a:r>
            <a:r>
              <a:rPr lang="vi-VN" altLang="en-US"/>
              <a:t>mà không b</a:t>
            </a:r>
            <a:r>
              <a:rPr lang="en-US" altLang="en-US"/>
              <a:t>ị</a:t>
            </a:r>
            <a:r>
              <a:rPr lang="vi-VN" altLang="en-US"/>
              <a:t> d</a:t>
            </a:r>
            <a:r>
              <a:rPr lang="en-US" altLang="en-US"/>
              <a:t>ừ</a:t>
            </a:r>
            <a:r>
              <a:rPr lang="vi-VN" altLang="en-US"/>
              <a:t>ng ho</a:t>
            </a:r>
            <a:r>
              <a:rPr lang="en-US" altLang="en-US"/>
              <a:t>ặ</a:t>
            </a:r>
            <a:r>
              <a:rPr lang="vi-VN" altLang="en-US"/>
              <a:t>c r</a:t>
            </a:r>
            <a:r>
              <a:rPr lang="en-US" altLang="en-US"/>
              <a:t>ẽ</a:t>
            </a:r>
            <a:r>
              <a:rPr lang="vi-VN" altLang="en-US"/>
              <a:t> nhánh. </a:t>
            </a:r>
            <a:endParaRPr lang="fr-FR" altLang="en-US"/>
          </a:p>
          <a:p>
            <a:pPr marL="347663" indent="-347663">
              <a:lnSpc>
                <a:spcPct val="90000"/>
              </a:lnSpc>
            </a:pPr>
            <a:r>
              <a:rPr lang="vi-VN" altLang="en-US"/>
              <a:t>Ví d</a:t>
            </a:r>
            <a:r>
              <a:rPr lang="en-US" altLang="en-US"/>
              <a:t>ụ</a:t>
            </a:r>
            <a:r>
              <a:rPr lang="vi-VN" altLang="en-US"/>
              <a:t> </a:t>
            </a:r>
            <a:endParaRPr lang="en-US" altLang="en-US"/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en-US" altLang="en-US"/>
              <a:t> </a:t>
            </a:r>
            <a:r>
              <a:rPr lang="vi-VN" altLang="en-US" sz="2800"/>
              <a:t>t1 := a * a </a:t>
            </a:r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vi-VN" altLang="en-US" sz="2800"/>
              <a:t> t2 := a * b </a:t>
            </a:r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vi-VN" altLang="en-US" sz="2800"/>
              <a:t> t3 := 2 * t2</a:t>
            </a:r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vi-VN" altLang="en-US" sz="2800"/>
              <a:t> t4 := t1 + t2</a:t>
            </a:r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vi-VN" altLang="en-US" sz="2800"/>
              <a:t> t5 := b * b </a:t>
            </a:r>
          </a:p>
          <a:p>
            <a:pPr marL="1785938" lvl="2" indent="-457200">
              <a:lnSpc>
                <a:spcPct val="90000"/>
              </a:lnSpc>
              <a:buFontTx/>
              <a:buNone/>
            </a:pPr>
            <a:r>
              <a:rPr lang="vi-VN" altLang="en-US" sz="2800"/>
              <a:t> t6 := t4 + t5</a:t>
            </a:r>
            <a:endParaRPr lang="en-US" altLang="en-US" sz="2800"/>
          </a:p>
        </p:txBody>
      </p:sp>
      <p:sp>
        <p:nvSpPr>
          <p:cNvPr id="194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sz="2800"/>
              <a:t>Kh</a:t>
            </a:r>
            <a:r>
              <a:rPr lang="en-US" altLang="en-US" sz="2800"/>
              <a:t>ố</a:t>
            </a:r>
            <a:r>
              <a:rPr lang="vi-VN" altLang="en-US" sz="2800"/>
              <a:t>i c</a:t>
            </a:r>
            <a:r>
              <a:rPr lang="en-US" altLang="en-US" sz="2800"/>
              <a:t>ơ</a:t>
            </a:r>
            <a:r>
              <a:rPr lang="vi-VN" altLang="en-US" sz="2800"/>
              <a:t> b</a:t>
            </a:r>
            <a:r>
              <a:rPr lang="en-US" altLang="en-US" sz="2800"/>
              <a:t>ả</a:t>
            </a:r>
            <a:r>
              <a:rPr lang="vi-VN" altLang="en-US" sz="2800"/>
              <a:t>n (basic block)</a:t>
            </a:r>
            <a:endParaRPr lang="en-US" altLang="en-US" sz="2800"/>
          </a:p>
        </p:txBody>
      </p:sp>
      <p:sp>
        <p:nvSpPr>
          <p:cNvPr id="194970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F6FAF6-B5D5-4ADA-8121-322F299F02FD}" type="slidenum">
              <a:rPr lang="en-US" altLang="en-US"/>
              <a:pPr/>
              <a:t>119</a:t>
            </a:fld>
            <a:endParaRPr lang="en-US" altLang="en-US"/>
          </a:p>
        </p:txBody>
      </p:sp>
      <p:sp>
        <p:nvSpPr>
          <p:cNvPr id="195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 marL="660400" indent="-660400">
              <a:lnSpc>
                <a:spcPct val="90000"/>
              </a:lnSpc>
            </a:pPr>
            <a:r>
              <a:rPr lang="vi-VN" altLang="en-US" sz="2800" b="1"/>
              <a:t>Input:</a:t>
            </a:r>
            <a:r>
              <a:rPr lang="en-US" altLang="en-US" sz="2800"/>
              <a:t> 	</a:t>
            </a:r>
          </a:p>
          <a:p>
            <a:pPr marL="1042988" lvl="1" indent="-577850">
              <a:lnSpc>
                <a:spcPct val="90000"/>
              </a:lnSpc>
            </a:pPr>
            <a:r>
              <a:rPr lang="en-US" altLang="en-US" sz="2400"/>
              <a:t>Dãy</a:t>
            </a:r>
            <a:r>
              <a:rPr lang="vi-VN" altLang="en-US" sz="2400"/>
              <a:t> l</a:t>
            </a:r>
            <a:r>
              <a:rPr lang="en-US" altLang="en-US" sz="2400"/>
              <a:t>ệ</a:t>
            </a:r>
            <a:r>
              <a:rPr lang="vi-VN" altLang="en-US" sz="2400"/>
              <a:t>nh ba </a:t>
            </a:r>
            <a:r>
              <a:rPr lang="en-US" altLang="en-US" sz="2400"/>
              <a:t>đị</a:t>
            </a:r>
            <a:r>
              <a:rPr lang="vi-VN" altLang="en-US" sz="2400"/>
              <a:t>a ch</a:t>
            </a:r>
            <a:r>
              <a:rPr lang="en-US" altLang="en-US" sz="2400"/>
              <a:t>ỉ</a:t>
            </a:r>
            <a:r>
              <a:rPr lang="vi-VN" altLang="en-US" sz="2400"/>
              <a:t>. </a:t>
            </a:r>
          </a:p>
          <a:p>
            <a:pPr marL="660400" indent="-660400">
              <a:lnSpc>
                <a:spcPct val="90000"/>
              </a:lnSpc>
            </a:pPr>
            <a:r>
              <a:rPr lang="vi-VN" altLang="en-US" sz="2800" b="1"/>
              <a:t>Output:</a:t>
            </a:r>
            <a:r>
              <a:rPr lang="vi-VN" altLang="en-US" sz="2800"/>
              <a:t> </a:t>
            </a:r>
            <a:r>
              <a:rPr lang="fr-FR" altLang="en-US" sz="2800"/>
              <a:t>	</a:t>
            </a:r>
          </a:p>
          <a:p>
            <a:pPr marL="1042988" lvl="1" indent="-577850">
              <a:lnSpc>
                <a:spcPct val="90000"/>
              </a:lnSpc>
            </a:pPr>
            <a:r>
              <a:rPr lang="fr-FR" altLang="en-US" sz="2400"/>
              <a:t>DS</a:t>
            </a:r>
            <a:r>
              <a:rPr lang="vi-VN" altLang="en-US" sz="2400"/>
              <a:t> các kh</a:t>
            </a:r>
            <a:r>
              <a:rPr lang="en-US" altLang="en-US" sz="2400"/>
              <a:t>ố</a:t>
            </a:r>
            <a:r>
              <a:rPr lang="vi-VN" altLang="en-US" sz="2400"/>
              <a:t>i c</a:t>
            </a:r>
            <a:r>
              <a:rPr lang="en-US" altLang="en-US" sz="2400"/>
              <a:t>ơ</a:t>
            </a:r>
            <a:r>
              <a:rPr lang="vi-VN" altLang="en-US" sz="2400"/>
              <a:t> b</a:t>
            </a:r>
            <a:r>
              <a:rPr lang="en-US" altLang="en-US" sz="2400"/>
              <a:t>ả</a:t>
            </a:r>
            <a:r>
              <a:rPr lang="vi-VN" altLang="en-US" sz="2400"/>
              <a:t>n v</a:t>
            </a:r>
            <a:r>
              <a:rPr lang="en-US" altLang="en-US" sz="2400"/>
              <a:t>ớ</a:t>
            </a:r>
            <a:r>
              <a:rPr lang="vi-VN" altLang="en-US" sz="2400"/>
              <a:t>i</a:t>
            </a:r>
            <a:r>
              <a:rPr lang="en-US" altLang="en-US" sz="2400"/>
              <a:t> mã ba địa chỉ của từng khối</a:t>
            </a:r>
            <a:endParaRPr lang="vi-VN" altLang="en-US" sz="2400"/>
          </a:p>
          <a:p>
            <a:pPr marL="660400" indent="-660400">
              <a:lnSpc>
                <a:spcPct val="90000"/>
              </a:lnSpc>
            </a:pPr>
            <a:r>
              <a:rPr lang="vi-VN" altLang="en-US" sz="2800" b="1"/>
              <a:t>Ph</a:t>
            </a:r>
            <a:r>
              <a:rPr lang="en-US" altLang="en-US" sz="2800" b="1"/>
              <a:t>ươ</a:t>
            </a:r>
            <a:r>
              <a:rPr lang="vi-VN" altLang="en-US" sz="2800" b="1"/>
              <a:t>ng pháp:</a:t>
            </a:r>
            <a:r>
              <a:rPr lang="vi-VN" altLang="en-US" sz="2800"/>
              <a:t> </a:t>
            </a:r>
          </a:p>
          <a:p>
            <a:pPr marL="1042988" lvl="1" indent="-577850">
              <a:lnSpc>
                <a:spcPct val="90000"/>
              </a:lnSpc>
            </a:pPr>
            <a:r>
              <a:rPr lang="vi-VN" altLang="en-US" sz="2400"/>
              <a:t>Xác </a:t>
            </a:r>
            <a:r>
              <a:rPr lang="en-US" altLang="en-US" sz="2400"/>
              <a:t>đị</a:t>
            </a:r>
            <a:r>
              <a:rPr lang="vi-VN" altLang="en-US" sz="2400"/>
              <a:t>nh </a:t>
            </a:r>
            <a:r>
              <a:rPr lang="en-US" altLang="en-US" sz="2400"/>
              <a:t>tập các lệnh đầu</a:t>
            </a:r>
            <a:r>
              <a:rPr lang="vi-VN" altLang="en-US" sz="2400"/>
              <a:t>, </a:t>
            </a:r>
            <a:r>
              <a:rPr lang="en-US" altLang="en-US" sz="2400"/>
              <a:t>của từng khối cơ bản</a:t>
            </a:r>
            <a:endParaRPr lang="vi-VN" altLang="en-US" sz="2400"/>
          </a:p>
          <a:p>
            <a:pPr marL="1525588" lvl="2" indent="-495300">
              <a:lnSpc>
                <a:spcPct val="90000"/>
              </a:lnSpc>
              <a:buFontTx/>
              <a:buAutoNum type="romanLcPeriod"/>
            </a:pPr>
            <a:r>
              <a:rPr lang="vi-VN" altLang="en-US"/>
              <a:t>L</a:t>
            </a:r>
            <a:r>
              <a:rPr lang="en-US" altLang="en-US"/>
              <a:t>ệ</a:t>
            </a:r>
            <a:r>
              <a:rPr lang="vi-VN" altLang="en-US"/>
              <a:t>nh </a:t>
            </a:r>
            <a:r>
              <a:rPr lang="en-US" altLang="en-US"/>
              <a:t>đầu tiên của chương trình là lệnh đầu</a:t>
            </a:r>
            <a:r>
              <a:rPr lang="vi-VN" altLang="en-US"/>
              <a:t>. </a:t>
            </a:r>
          </a:p>
          <a:p>
            <a:pPr marL="1525588" lvl="2" indent="-495300">
              <a:lnSpc>
                <a:spcPct val="90000"/>
              </a:lnSpc>
              <a:buFontTx/>
              <a:buAutoNum type="romanLcPeriod"/>
            </a:pPr>
            <a:r>
              <a:rPr lang="vi-VN" altLang="en-US"/>
              <a:t>B</a:t>
            </a:r>
            <a:r>
              <a:rPr lang="en-US" altLang="en-US"/>
              <a:t>ất kỳ lệnh nào là đích nhảy đến của các lệnh GOTO có hoặc không có điều kiện là lệnh đầu</a:t>
            </a:r>
          </a:p>
          <a:p>
            <a:pPr marL="1525588" lvl="2" indent="-495300">
              <a:lnSpc>
                <a:spcPct val="90000"/>
              </a:lnSpc>
              <a:buFontTx/>
              <a:buAutoNum type="romanLcPeriod"/>
            </a:pPr>
            <a:r>
              <a:rPr lang="vi-VN" altLang="en-US"/>
              <a:t>B</a:t>
            </a:r>
            <a:r>
              <a:rPr lang="en-US" altLang="en-US"/>
              <a:t>ất kỳ lệnh nào đi sau lệnh GOTO có hoặc không có điều kiện là lệnh đầu</a:t>
            </a:r>
          </a:p>
          <a:p>
            <a:pPr marL="1042988" lvl="1" indent="-577850">
              <a:lnSpc>
                <a:spcPct val="90000"/>
              </a:lnSpc>
            </a:pPr>
            <a:r>
              <a:rPr lang="vi-VN" altLang="en-US" sz="2400"/>
              <a:t>V</a:t>
            </a:r>
            <a:r>
              <a:rPr lang="en-US" altLang="en-US" sz="2400"/>
              <a:t>ới mỗi lệnh đầu, khối cơ bản bao gồm nó và tất cả các lệnh tiếp theo không phải là lệnh đầu hay lệnh kết thúc chương trình</a:t>
            </a:r>
          </a:p>
        </p:txBody>
      </p:sp>
      <p:sp>
        <p:nvSpPr>
          <p:cNvPr id="195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Giải thuật phân chia các khối cơ bản</a:t>
            </a:r>
          </a:p>
        </p:txBody>
      </p:sp>
      <p:sp>
        <p:nvSpPr>
          <p:cNvPr id="195072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13BBC1-55DA-43C4-A7CD-E51A9A871D7A}" type="slidenum">
              <a:rPr lang="en-US" altLang="en-US"/>
              <a:pPr/>
              <a:t>120</a:t>
            </a:fld>
            <a:endParaRPr lang="en-US" altLang="en-US"/>
          </a:p>
        </p:txBody>
      </p:sp>
      <p:sp>
        <p:nvSpPr>
          <p:cNvPr id="195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3505200" cy="5562600"/>
          </a:xfrm>
        </p:spPr>
        <p:txBody>
          <a:bodyPr/>
          <a:lstStyle/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prod := 0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i := 1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t1 := 4 * i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t2 := a[t1] 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t3 := 4 * i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t4 := b[t3]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t5 := t2 * t4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t6 := prod + t5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prod := t6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t7 := i + 1 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i := t7</a:t>
            </a:r>
          </a:p>
          <a:p>
            <a:pPr marL="660400" indent="-660400">
              <a:lnSpc>
                <a:spcPct val="90000"/>
              </a:lnSpc>
              <a:buFontTx/>
              <a:buAutoNum type="arabicPeriod"/>
            </a:pPr>
            <a:r>
              <a:rPr lang="vi-VN" altLang="en-US" sz="2800"/>
              <a:t>if i&lt;=20 goto 3 </a:t>
            </a:r>
            <a:endParaRPr lang="en-US" altLang="en-US" sz="2400"/>
          </a:p>
        </p:txBody>
      </p:sp>
      <p:sp>
        <p:nvSpPr>
          <p:cNvPr id="195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Giải thuật phân chia các khối cơ bản 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95174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sp>
        <p:nvSpPr>
          <p:cNvPr id="1951749" name="Rectangle 5"/>
          <p:cNvSpPr>
            <a:spLocks noChangeArrowheads="1"/>
          </p:cNvSpPr>
          <p:nvPr/>
        </p:nvSpPr>
        <p:spPr bwMode="auto">
          <a:xfrm>
            <a:off x="3657600" y="1143000"/>
            <a:ext cx="5257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60400" indent="-660400" algn="l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42988" indent="-577850" algn="l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525588" indent="-495300" algn="l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312988" indent="-412750" algn="l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08288" indent="-412750" algn="l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65488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722688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79888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37088" indent="-41275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800" b="0"/>
              <a:t>L</a:t>
            </a:r>
            <a:r>
              <a:rPr lang="en-US" altLang="en-US" sz="2800" b="0"/>
              <a:t>ệ</a:t>
            </a:r>
            <a:r>
              <a:rPr lang="vi-VN" altLang="en-US" sz="2800" b="0"/>
              <a:t>nh (1) là l</a:t>
            </a:r>
            <a:r>
              <a:rPr lang="en-US" altLang="en-US" sz="2800" b="0"/>
              <a:t>ệ</a:t>
            </a:r>
            <a:r>
              <a:rPr lang="vi-VN" altLang="en-US" sz="2800" b="0"/>
              <a:t>nh </a:t>
            </a:r>
            <a:r>
              <a:rPr lang="en-US" altLang="en-US" sz="2800" b="0"/>
              <a:t>đầ</a:t>
            </a:r>
            <a:r>
              <a:rPr lang="vi-VN" altLang="en-US" sz="2800" b="0"/>
              <a:t>u theo quy t</a:t>
            </a:r>
            <a:r>
              <a:rPr lang="en-US" altLang="en-US" sz="2800" b="0"/>
              <a:t>ắ</a:t>
            </a:r>
            <a:r>
              <a:rPr lang="vi-VN" altLang="en-US" sz="2800" b="0"/>
              <a:t>c i, </a:t>
            </a:r>
            <a:endParaRPr lang="en-US" altLang="en-US" sz="2800" b="0"/>
          </a:p>
          <a:p>
            <a:r>
              <a:rPr lang="en-US" altLang="en-US" sz="2800" b="0"/>
              <a:t>Lệ</a:t>
            </a:r>
            <a:r>
              <a:rPr lang="vi-VN" altLang="en-US" sz="2800" b="0"/>
              <a:t>nh (3) là l</a:t>
            </a:r>
            <a:r>
              <a:rPr lang="en-US" altLang="en-US" sz="2800" b="0"/>
              <a:t>ệ</a:t>
            </a:r>
            <a:r>
              <a:rPr lang="vi-VN" altLang="en-US" sz="2800" b="0"/>
              <a:t>nh </a:t>
            </a:r>
            <a:r>
              <a:rPr lang="en-US" altLang="en-US" sz="2800" b="0"/>
              <a:t>đầu theo quy tắc</a:t>
            </a:r>
            <a:r>
              <a:rPr lang="vi-VN" altLang="en-US" sz="2800" b="0"/>
              <a:t> ii </a:t>
            </a:r>
            <a:endParaRPr lang="en-US" altLang="en-US" sz="2800" b="0"/>
          </a:p>
          <a:p>
            <a:r>
              <a:rPr lang="en-US" altLang="en-US" sz="2800" b="0"/>
              <a:t>Lệ</a:t>
            </a:r>
            <a:r>
              <a:rPr lang="vi-VN" altLang="en-US" sz="2800" b="0"/>
              <a:t>nh sau l</a:t>
            </a:r>
            <a:r>
              <a:rPr lang="en-US" altLang="en-US" sz="2800" b="0"/>
              <a:t>ện</a:t>
            </a:r>
            <a:r>
              <a:rPr lang="vi-VN" altLang="en-US" sz="2800" b="0"/>
              <a:t>h (12) là l</a:t>
            </a:r>
            <a:r>
              <a:rPr lang="en-US" altLang="en-US" sz="2800" b="0"/>
              <a:t>ệ</a:t>
            </a:r>
            <a:r>
              <a:rPr lang="vi-VN" altLang="en-US" sz="2800" b="0"/>
              <a:t>nh </a:t>
            </a:r>
            <a:r>
              <a:rPr lang="en-US" altLang="en-US" sz="2800" b="0"/>
              <a:t>đầu theo quy tắc</a:t>
            </a:r>
            <a:r>
              <a:rPr lang="vi-VN" altLang="en-US" sz="2800" b="0"/>
              <a:t> iii. </a:t>
            </a:r>
          </a:p>
          <a:p>
            <a:r>
              <a:rPr lang="en-US" altLang="en-US" sz="2800" b="0"/>
              <a:t>Các lệnh</a:t>
            </a:r>
            <a:r>
              <a:rPr lang="vi-VN" altLang="en-US" sz="2800" b="0"/>
              <a:t> (1)và (2) </a:t>
            </a:r>
            <a:r>
              <a:rPr lang="en-US" altLang="en-US" sz="2800" b="0"/>
              <a:t>tạo</a:t>
            </a:r>
            <a:r>
              <a:rPr lang="vi-VN" altLang="en-US" sz="2800" b="0"/>
              <a:t> nên kh</a:t>
            </a:r>
            <a:r>
              <a:rPr lang="en-US" altLang="en-US" sz="2800" b="0"/>
              <a:t>ố</a:t>
            </a:r>
            <a:r>
              <a:rPr lang="vi-VN" altLang="en-US" sz="2800" b="0"/>
              <a:t>i c</a:t>
            </a:r>
            <a:r>
              <a:rPr lang="en-US" altLang="en-US" sz="2800" b="0"/>
              <a:t>ơ</a:t>
            </a:r>
            <a:r>
              <a:rPr lang="vi-VN" altLang="en-US" sz="2800" b="0"/>
              <a:t> </a:t>
            </a:r>
            <a:r>
              <a:rPr lang="en-US" altLang="en-US" sz="2800" b="0"/>
              <a:t>bả</a:t>
            </a:r>
            <a:r>
              <a:rPr lang="vi-VN" altLang="en-US" sz="2800" b="0"/>
              <a:t>n th</a:t>
            </a:r>
            <a:r>
              <a:rPr lang="en-US" altLang="en-US" sz="2800" b="0"/>
              <a:t>ứ</a:t>
            </a:r>
            <a:r>
              <a:rPr lang="vi-VN" altLang="en-US" sz="2800" b="0"/>
              <a:t> nh</a:t>
            </a:r>
            <a:r>
              <a:rPr lang="en-US" altLang="en-US" sz="2800" b="0"/>
              <a:t>ấ</a:t>
            </a:r>
            <a:r>
              <a:rPr lang="vi-VN" altLang="en-US" sz="2800" b="0"/>
              <a:t>t</a:t>
            </a:r>
            <a:r>
              <a:rPr lang="en-US" altLang="en-US" sz="2800" b="0"/>
              <a:t>.</a:t>
            </a:r>
            <a:r>
              <a:rPr lang="vi-VN" altLang="en-US" sz="2800" b="0"/>
              <a:t> </a:t>
            </a:r>
            <a:endParaRPr lang="en-US" altLang="en-US" sz="2800" b="0"/>
          </a:p>
          <a:p>
            <a:r>
              <a:rPr lang="vi-VN" altLang="en-US" sz="2800" b="0"/>
              <a:t>L</a:t>
            </a:r>
            <a:r>
              <a:rPr lang="en-US" altLang="en-US" sz="2800" b="0"/>
              <a:t>ệ</a:t>
            </a:r>
            <a:r>
              <a:rPr lang="vi-VN" altLang="en-US" sz="2800" b="0"/>
              <a:t>nh (3) </a:t>
            </a:r>
            <a:r>
              <a:rPr lang="en-US" altLang="en-US" sz="2800" b="0"/>
              <a:t>đế</a:t>
            </a:r>
            <a:r>
              <a:rPr lang="vi-VN" altLang="en-US" sz="2800" b="0"/>
              <a:t>n (12) t</a:t>
            </a:r>
            <a:r>
              <a:rPr lang="en-US" altLang="en-US" sz="2800" b="0"/>
              <a:t>ạ</a:t>
            </a:r>
            <a:r>
              <a:rPr lang="vi-VN" altLang="en-US" sz="2800" b="0"/>
              <a:t>o nên kh</a:t>
            </a:r>
            <a:r>
              <a:rPr lang="en-US" altLang="en-US" sz="2800" b="0"/>
              <a:t>ố</a:t>
            </a:r>
            <a:r>
              <a:rPr lang="vi-VN" altLang="en-US" sz="2800" b="0"/>
              <a:t>i c</a:t>
            </a:r>
            <a:r>
              <a:rPr lang="en-US" altLang="en-US" sz="2800" b="0"/>
              <a:t>ơ</a:t>
            </a:r>
            <a:r>
              <a:rPr lang="vi-VN" altLang="en-US" sz="2800" b="0"/>
              <a:t> b</a:t>
            </a:r>
            <a:r>
              <a:rPr lang="en-US" altLang="en-US" sz="2800" b="0"/>
              <a:t>ả</a:t>
            </a:r>
            <a:r>
              <a:rPr lang="vi-VN" altLang="en-US" sz="2800" b="0"/>
              <a:t>n th</a:t>
            </a:r>
            <a:r>
              <a:rPr lang="en-US" altLang="en-US" sz="2800" b="0"/>
              <a:t>ứ</a:t>
            </a:r>
            <a:r>
              <a:rPr lang="vi-VN" altLang="en-US" sz="2800" b="0"/>
              <a:t> hai. </a:t>
            </a:r>
            <a:endParaRPr lang="en-US" altLang="en-US" sz="2800" b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F19683-836F-45C0-B52F-015774CAB720}" type="slidenum">
              <a:rPr lang="en-US" altLang="en-US"/>
              <a:pPr/>
              <a:t>121</a:t>
            </a:fld>
            <a:endParaRPr lang="en-US" altLang="en-US"/>
          </a:p>
        </p:txBody>
      </p:sp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1371600" y="58674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1371600" y="54864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1371600" y="40386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69989" name="Rectangle 5"/>
          <p:cNvSpPr>
            <a:spLocks noChangeArrowheads="1"/>
          </p:cNvSpPr>
          <p:nvPr/>
        </p:nvSpPr>
        <p:spPr bwMode="auto">
          <a:xfrm>
            <a:off x="1371600" y="25908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1371600" y="11430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69991" name="Rectangle 7"/>
          <p:cNvSpPr>
            <a:spLocks noChangeArrowheads="1"/>
          </p:cNvSpPr>
          <p:nvPr/>
        </p:nvSpPr>
        <p:spPr bwMode="auto">
          <a:xfrm>
            <a:off x="6019800" y="3657600"/>
            <a:ext cx="2362200" cy="381000"/>
          </a:xfrm>
          <a:prstGeom prst="rect">
            <a:avLst/>
          </a:prstGeom>
          <a:solidFill>
            <a:srgbClr val="A2B8F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277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Mã ba địa chỉ của Quick Sort</a:t>
            </a:r>
          </a:p>
        </p:txBody>
      </p:sp>
      <p:sp>
        <p:nvSpPr>
          <p:cNvPr id="1952777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952778" name="Group 10"/>
          <p:cNvGraphicFramePr>
            <a:graphicFrameLocks noGrp="1"/>
          </p:cNvGraphicFramePr>
          <p:nvPr/>
        </p:nvGraphicFramePr>
        <p:xfrm>
          <a:off x="1371600" y="11430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(9)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i &gt;= j goto (23)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8999" name="Group 39"/>
          <p:cNvGraphicFramePr>
            <a:graphicFrameLocks noGrp="1"/>
          </p:cNvGraphicFramePr>
          <p:nvPr/>
        </p:nvGraphicFramePr>
        <p:xfrm>
          <a:off x="685800" y="1143000"/>
          <a:ext cx="609600" cy="548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952848" name="Group 80"/>
          <p:cNvGraphicFramePr>
            <a:graphicFrameLocks noGrp="1"/>
          </p:cNvGraphicFramePr>
          <p:nvPr/>
        </p:nvGraphicFramePr>
        <p:xfrm>
          <a:off x="6096000" y="11430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a[t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9069" name="Group 109"/>
          <p:cNvGraphicFramePr>
            <a:graphicFrameLocks noGrp="1"/>
          </p:cNvGraphicFramePr>
          <p:nvPr/>
        </p:nvGraphicFramePr>
        <p:xfrm>
          <a:off x="5410200" y="1143000"/>
          <a:ext cx="609600" cy="549211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952918" name="Rectangle 8"/>
          <p:cNvSpPr>
            <a:spLocks noChangeArrowheads="1"/>
          </p:cNvSpPr>
          <p:nvPr/>
        </p:nvSpPr>
        <p:spPr bwMode="auto">
          <a:xfrm>
            <a:off x="3886200" y="1371600"/>
            <a:ext cx="1371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C1EDC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Xác định khối cơ bản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95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nimBg="1"/>
      <p:bldP spid="169987" grpId="0" animBg="1"/>
      <p:bldP spid="169988" grpId="0" animBg="1"/>
      <p:bldP spid="169989" grpId="0" animBg="1"/>
      <p:bldP spid="169990" grpId="0" animBg="1"/>
      <p:bldP spid="169991" grpId="0" animBg="1"/>
      <p:bldP spid="1952918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CEAC6A-1DA5-4C85-9408-20979D964316}" type="slidenum">
              <a:rPr lang="en-US" altLang="en-US"/>
              <a:pPr/>
              <a:t>122</a:t>
            </a:fld>
            <a:endParaRPr lang="en-US" altLang="en-US"/>
          </a:p>
        </p:txBody>
      </p:sp>
      <p:sp>
        <p:nvSpPr>
          <p:cNvPr id="195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Đồ thị quan hệ các khối</a:t>
            </a:r>
            <a:endParaRPr lang="en-US" altLang="en-US" sz="2800"/>
          </a:p>
        </p:txBody>
      </p:sp>
      <p:sp>
        <p:nvSpPr>
          <p:cNvPr id="195379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3832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71048" name="Group 40"/>
          <p:cNvGraphicFramePr>
            <a:graphicFrameLocks noGrp="1"/>
          </p:cNvGraphicFramePr>
          <p:nvPr/>
        </p:nvGraphicFramePr>
        <p:xfrm>
          <a:off x="5181600" y="2209800"/>
          <a:ext cx="990600" cy="32861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1070" name="Group 62"/>
          <p:cNvGraphicFramePr>
            <a:graphicFrameLocks noGrp="1"/>
          </p:cNvGraphicFramePr>
          <p:nvPr/>
        </p:nvGraphicFramePr>
        <p:xfrm>
          <a:off x="7239000" y="22860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53875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3876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77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78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3879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3880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1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2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3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3884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3885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6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7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88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3889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3890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91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92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93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3894" name="Line 108"/>
          <p:cNvSpPr>
            <a:spLocks noChangeShapeType="1"/>
          </p:cNvSpPr>
          <p:nvPr/>
        </p:nvSpPr>
        <p:spPr bwMode="auto">
          <a:xfrm>
            <a:off x="5638800" y="5486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3895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3896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3897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3898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3899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3900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4FD3E6-C00F-4A31-A736-0E14B8707526}" type="slidenum">
              <a:rPr lang="en-US" altLang="en-US"/>
              <a:pPr/>
              <a:t>123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5181600" y="2224088"/>
            <a:ext cx="990600" cy="341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324600" y="2384425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81600" y="2949575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6324600" y="3124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1954823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4860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71048" name="Group 40"/>
          <p:cNvGraphicFramePr>
            <a:graphicFrameLocks noGrp="1"/>
          </p:cNvGraphicFramePr>
          <p:nvPr/>
        </p:nvGraphicFramePr>
        <p:xfrm>
          <a:off x="5181600" y="2209800"/>
          <a:ext cx="990600" cy="32861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1070" name="Group 62"/>
          <p:cNvGraphicFramePr>
            <a:graphicFrameLocks noGrp="1"/>
          </p:cNvGraphicFramePr>
          <p:nvPr/>
        </p:nvGraphicFramePr>
        <p:xfrm>
          <a:off x="7239000" y="22860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54903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4904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05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06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4907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4908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09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0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1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4912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4913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4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5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6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4917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4918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19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20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21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4922" name="Line 108"/>
          <p:cNvSpPr>
            <a:spLocks noChangeShapeType="1"/>
          </p:cNvSpPr>
          <p:nvPr/>
        </p:nvSpPr>
        <p:spPr bwMode="auto">
          <a:xfrm>
            <a:off x="5638800" y="5486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923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4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5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6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7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8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4929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6248400" y="4114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172136" grpId="0" animBg="1"/>
      <p:bldP spid="2" grpId="0" animBg="1"/>
      <p:bldP spid="3" grpId="0" animBg="1"/>
      <p:bldP spid="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FEA3C2-6F8D-4D29-A787-B67909C77E93}" type="slidenum">
              <a:rPr lang="en-US" altLang="en-US"/>
              <a:pPr/>
              <a:t>124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5181600" y="2957513"/>
            <a:ext cx="990600" cy="341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81600" y="4038600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5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5584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5882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55883" name="Group 43"/>
          <p:cNvGraphicFramePr>
            <a:graphicFrameLocks noGrp="1"/>
          </p:cNvGraphicFramePr>
          <p:nvPr/>
        </p:nvGraphicFramePr>
        <p:xfrm>
          <a:off x="5181600" y="2209800"/>
          <a:ext cx="990600" cy="2921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1070" name="Group 62"/>
          <p:cNvGraphicFramePr>
            <a:graphicFrameLocks noGrp="1"/>
          </p:cNvGraphicFramePr>
          <p:nvPr/>
        </p:nvGraphicFramePr>
        <p:xfrm>
          <a:off x="7239000" y="22860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55923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5924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25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26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5927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5928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29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0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1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5932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5933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4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5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6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5937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5938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39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40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41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5942" name="Line 108"/>
          <p:cNvSpPr>
            <a:spLocks noChangeShapeType="1"/>
          </p:cNvSpPr>
          <p:nvPr/>
        </p:nvSpPr>
        <p:spPr bwMode="auto">
          <a:xfrm>
            <a:off x="5638800" y="51054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43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4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5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6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7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8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5949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248400" y="2971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6172200" y="4114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6172200" y="4495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  <p:bldP spid="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D3F5ED-9AC2-4D01-AAF2-079EB7267678}" type="slidenum">
              <a:rPr lang="en-US" altLang="en-US"/>
              <a:pPr/>
              <a:t>125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7223125" y="3381375"/>
            <a:ext cx="1063625" cy="355600"/>
          </a:xfrm>
          <a:prstGeom prst="rect">
            <a:avLst/>
          </a:prstGeom>
          <a:solidFill>
            <a:srgbClr val="D0AC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237413" y="4481513"/>
            <a:ext cx="1063625" cy="355600"/>
          </a:xfrm>
          <a:prstGeom prst="rect">
            <a:avLst/>
          </a:prstGeom>
          <a:solidFill>
            <a:srgbClr val="D0AC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264400" y="2271713"/>
            <a:ext cx="10128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242175" y="3011488"/>
            <a:ext cx="1063625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68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56871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6908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56909" name="Group 45"/>
          <p:cNvGraphicFramePr>
            <a:graphicFrameLocks noGrp="1"/>
          </p:cNvGraphicFramePr>
          <p:nvPr/>
        </p:nvGraphicFramePr>
        <p:xfrm>
          <a:off x="5181600" y="2209800"/>
          <a:ext cx="990600" cy="25558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1070" name="Group 62"/>
          <p:cNvGraphicFramePr>
            <a:graphicFrameLocks noGrp="1"/>
          </p:cNvGraphicFramePr>
          <p:nvPr/>
        </p:nvGraphicFramePr>
        <p:xfrm>
          <a:off x="7239000" y="22860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56947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6948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49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0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6951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6952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3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4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5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6956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6957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8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59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60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6961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6962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63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64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65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966" name="Line 108"/>
          <p:cNvSpPr>
            <a:spLocks noChangeShapeType="1"/>
          </p:cNvSpPr>
          <p:nvPr/>
        </p:nvSpPr>
        <p:spPr bwMode="auto">
          <a:xfrm>
            <a:off x="5638800" y="4800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967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68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69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70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71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72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6973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8305800" y="2362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5" name="AutoShape 104"/>
          <p:cNvSpPr>
            <a:spLocks noChangeArrowheads="1"/>
          </p:cNvSpPr>
          <p:nvPr/>
        </p:nvSpPr>
        <p:spPr bwMode="auto">
          <a:xfrm>
            <a:off x="8382000" y="3048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6" name="AutoShape 104"/>
          <p:cNvSpPr>
            <a:spLocks noChangeArrowheads="1"/>
          </p:cNvSpPr>
          <p:nvPr/>
        </p:nvSpPr>
        <p:spPr bwMode="auto">
          <a:xfrm>
            <a:off x="8305800" y="417195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6977" name="AutoShape 113"/>
          <p:cNvSpPr>
            <a:spLocks noChangeArrowheads="1"/>
          </p:cNvSpPr>
          <p:nvPr/>
        </p:nvSpPr>
        <p:spPr bwMode="auto">
          <a:xfrm>
            <a:off x="6477000" y="344805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D0ACE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978" name="AutoShape 114"/>
          <p:cNvSpPr>
            <a:spLocks noChangeArrowheads="1"/>
          </p:cNvSpPr>
          <p:nvPr/>
        </p:nvSpPr>
        <p:spPr bwMode="auto">
          <a:xfrm>
            <a:off x="6553200" y="45720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D0ACE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6979" name="AutoShape 115"/>
          <p:cNvSpPr>
            <a:spLocks noChangeArrowheads="1"/>
          </p:cNvSpPr>
          <p:nvPr/>
        </p:nvSpPr>
        <p:spPr bwMode="auto">
          <a:xfrm>
            <a:off x="6553200" y="48768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D0ACE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5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5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5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3" grpId="0" animBg="1"/>
      <p:bldP spid="4" grpId="0" animBg="1"/>
      <p:bldP spid="172136" grpId="0" animBg="1"/>
      <p:bldP spid="5" grpId="0" animBg="1"/>
      <p:bldP spid="6" grpId="0" animBg="1"/>
      <p:bldP spid="1956977" grpId="0" animBg="1"/>
      <p:bldP spid="1956978" grpId="0" animBg="1"/>
      <p:bldP spid="195697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EE4F85-F982-4A1E-AFC6-EB1681684E80}" type="slidenum">
              <a:rPr lang="en-US" altLang="en-US"/>
              <a:pPr/>
              <a:t>126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85800" y="29718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81600" y="2209800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5789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7930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57931" name="Group 43"/>
          <p:cNvGraphicFramePr>
            <a:graphicFrameLocks noGrp="1"/>
          </p:cNvGraphicFramePr>
          <p:nvPr/>
        </p:nvGraphicFramePr>
        <p:xfrm>
          <a:off x="5181600" y="2209800"/>
          <a:ext cx="990600" cy="25558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57949" name="Group 61"/>
          <p:cNvGraphicFramePr>
            <a:graphicFrameLocks noGrp="1"/>
          </p:cNvGraphicFramePr>
          <p:nvPr/>
        </p:nvGraphicFramePr>
        <p:xfrm>
          <a:off x="7239000" y="22860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57965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7966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67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68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7969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7970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1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2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3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7974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7975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6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7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78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7979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7980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81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82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83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7984" name="Line 108"/>
          <p:cNvSpPr>
            <a:spLocks noChangeShapeType="1"/>
          </p:cNvSpPr>
          <p:nvPr/>
        </p:nvSpPr>
        <p:spPr bwMode="auto">
          <a:xfrm>
            <a:off x="5638800" y="4800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985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86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87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88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89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90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7991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172200" y="2286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2667000" y="3048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6172200" y="2667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5" name="AutoShape 104"/>
          <p:cNvSpPr>
            <a:spLocks noChangeArrowheads="1"/>
          </p:cNvSpPr>
          <p:nvPr/>
        </p:nvSpPr>
        <p:spPr bwMode="auto">
          <a:xfrm>
            <a:off x="6172200" y="3733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  <p:bldP spid="4" grpId="0" animBg="1"/>
      <p:bldP spid="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DBA0E-C317-4A39-A72E-244B0A56E415}" type="slidenum">
              <a:rPr lang="en-US" altLang="en-US"/>
              <a:pPr/>
              <a:t>127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85800" y="32766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81600" y="2209800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89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5891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8954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58955" name="Group 43"/>
          <p:cNvGraphicFramePr>
            <a:graphicFrameLocks noGrp="1"/>
          </p:cNvGraphicFramePr>
          <p:nvPr/>
        </p:nvGraphicFramePr>
        <p:xfrm>
          <a:off x="5181600" y="2209800"/>
          <a:ext cx="990600" cy="219075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a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58971" name="Group 59"/>
          <p:cNvGraphicFramePr>
            <a:graphicFrameLocks noGrp="1"/>
          </p:cNvGraphicFramePr>
          <p:nvPr/>
        </p:nvGraphicFramePr>
        <p:xfrm>
          <a:off x="7239000" y="22860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58987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58988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89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0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8991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58992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3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4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5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8996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58997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8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99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00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001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59002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03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04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05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9006" name="Line 108"/>
          <p:cNvSpPr>
            <a:spLocks noChangeShapeType="1"/>
          </p:cNvSpPr>
          <p:nvPr/>
        </p:nvSpPr>
        <p:spPr bwMode="auto">
          <a:xfrm>
            <a:off x="5638800" y="4419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9007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08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09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10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11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12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59013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172200" y="2286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2667000" y="3352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0C6B15-249E-4CFD-824F-6264A3092C13}" type="slidenum">
              <a:rPr lang="en-US" altLang="en-US"/>
              <a:pPr/>
              <a:t>128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85800" y="46482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210175" y="2590800"/>
            <a:ext cx="9398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59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5994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9978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59979" name="Group 43"/>
          <p:cNvGraphicFramePr>
            <a:graphicFrameLocks noGrp="1"/>
          </p:cNvGraphicFramePr>
          <p:nvPr/>
        </p:nvGraphicFramePr>
        <p:xfrm>
          <a:off x="5181600" y="2209800"/>
          <a:ext cx="990600" cy="219075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59995" name="Group 59"/>
          <p:cNvGraphicFramePr>
            <a:graphicFrameLocks noGrp="1"/>
          </p:cNvGraphicFramePr>
          <p:nvPr/>
        </p:nvGraphicFramePr>
        <p:xfrm>
          <a:off x="7239000" y="22860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60011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60012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13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14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0015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0016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17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18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19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0020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0021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2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3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4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0025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60026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7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8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29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0030" name="Line 108"/>
          <p:cNvSpPr>
            <a:spLocks noChangeShapeType="1"/>
          </p:cNvSpPr>
          <p:nvPr/>
        </p:nvSpPr>
        <p:spPr bwMode="auto">
          <a:xfrm>
            <a:off x="5638800" y="4419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0031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2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3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4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5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6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0037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200775" y="2667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2743200" y="47244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6172200" y="3810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5" name="AutoShape 104"/>
          <p:cNvSpPr>
            <a:spLocks noChangeArrowheads="1"/>
          </p:cNvSpPr>
          <p:nvPr/>
        </p:nvSpPr>
        <p:spPr bwMode="auto">
          <a:xfrm>
            <a:off x="6172200" y="2971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  <p:bldP spid="4" grpId="0" animBg="1"/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D11E64-6E25-45BE-8B31-D208E11C8029}" type="slidenum">
              <a:rPr lang="en-US" altLang="en-US"/>
              <a:pPr/>
              <a:t>129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85800" y="49530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95888" y="2576513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609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6096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61002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61003" name="Group 43"/>
          <p:cNvGraphicFramePr>
            <a:graphicFrameLocks noGrp="1"/>
          </p:cNvGraphicFramePr>
          <p:nvPr/>
        </p:nvGraphicFramePr>
        <p:xfrm>
          <a:off x="5181600" y="2209800"/>
          <a:ext cx="990600" cy="18256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61017" name="Group 57"/>
          <p:cNvGraphicFramePr>
            <a:graphicFrameLocks noGrp="1"/>
          </p:cNvGraphicFramePr>
          <p:nvPr/>
        </p:nvGraphicFramePr>
        <p:xfrm>
          <a:off x="7239000" y="22860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61033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61034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35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36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1037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1038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39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0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1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1042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1043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4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5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6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1047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61048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49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50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51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1052" name="Line 108"/>
          <p:cNvSpPr>
            <a:spLocks noChangeShapeType="1"/>
          </p:cNvSpPr>
          <p:nvPr/>
        </p:nvSpPr>
        <p:spPr bwMode="auto">
          <a:xfrm>
            <a:off x="5638800" y="40386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1053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4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5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6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7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8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1059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6200775" y="2667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2743200" y="5029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6248400" y="3048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  <p:bldP spid="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27A75D-9F2F-445E-A88A-2F437CDB9BE0}" type="slidenum">
              <a:rPr lang="en-US" altLang="en-US"/>
              <a:pPr/>
              <a:t>130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7253288" y="2297113"/>
            <a:ext cx="1052512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29718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72136" name="AutoShape 104"/>
          <p:cNvSpPr>
            <a:spLocks noChangeArrowheads="1"/>
          </p:cNvSpPr>
          <p:nvPr/>
        </p:nvSpPr>
        <p:spPr bwMode="auto">
          <a:xfrm>
            <a:off x="2667000" y="30480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619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6199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62027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62028" name="Group 44"/>
          <p:cNvGraphicFramePr>
            <a:graphicFrameLocks noGrp="1"/>
          </p:cNvGraphicFramePr>
          <p:nvPr/>
        </p:nvGraphicFramePr>
        <p:xfrm>
          <a:off x="5181600" y="2209800"/>
          <a:ext cx="990600" cy="14605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62040" name="Group 56"/>
          <p:cNvGraphicFramePr>
            <a:graphicFrameLocks noGrp="1"/>
          </p:cNvGraphicFramePr>
          <p:nvPr/>
        </p:nvGraphicFramePr>
        <p:xfrm>
          <a:off x="7239000" y="22860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62056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62057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58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59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2060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2061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2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3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4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2065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2066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7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8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69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2070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62071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72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73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74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2075" name="Line 108"/>
          <p:cNvSpPr>
            <a:spLocks noChangeShapeType="1"/>
          </p:cNvSpPr>
          <p:nvPr/>
        </p:nvSpPr>
        <p:spPr bwMode="auto">
          <a:xfrm>
            <a:off x="5638800" y="36576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2076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77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78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79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80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81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2082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Loại biểu thức con chung</a:t>
            </a:r>
          </a:p>
        </p:txBody>
      </p:sp>
      <p:sp>
        <p:nvSpPr>
          <p:cNvPr id="3" name="AutoShape 104"/>
          <p:cNvSpPr>
            <a:spLocks noChangeArrowheads="1"/>
          </p:cNvSpPr>
          <p:nvPr/>
        </p:nvSpPr>
        <p:spPr bwMode="auto">
          <a:xfrm>
            <a:off x="8382000" y="23876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4" name="AutoShape 104"/>
          <p:cNvSpPr>
            <a:spLocks noChangeArrowheads="1"/>
          </p:cNvSpPr>
          <p:nvPr/>
        </p:nvSpPr>
        <p:spPr bwMode="auto">
          <a:xfrm>
            <a:off x="8305800" y="2743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5" name="AutoShape 104"/>
          <p:cNvSpPr>
            <a:spLocks noChangeArrowheads="1"/>
          </p:cNvSpPr>
          <p:nvPr/>
        </p:nvSpPr>
        <p:spPr bwMode="auto">
          <a:xfrm>
            <a:off x="2667000" y="33528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62086" name="Text Box 87"/>
          <p:cNvSpPr txBox="1">
            <a:spLocks noChangeArrowheads="1"/>
          </p:cNvSpPr>
          <p:nvPr/>
        </p:nvSpPr>
        <p:spPr bwMode="auto">
          <a:xfrm>
            <a:off x="6324600" y="5334000"/>
            <a:ext cx="2438400" cy="4572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0">
                <a:latin typeface="Times New Roman" panose="02020603050405020304" pitchFamily="18" charset="0"/>
              </a:rPr>
              <a:t>Tương tự với B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6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962087" name="AutoShape 103"/>
          <p:cNvSpPr>
            <a:spLocks noChangeArrowheads="1"/>
          </p:cNvSpPr>
          <p:nvPr/>
        </p:nvSpPr>
        <p:spPr bwMode="auto">
          <a:xfrm>
            <a:off x="228600" y="15240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2088" name="AutoShape 104"/>
          <p:cNvSpPr>
            <a:spLocks noChangeArrowheads="1"/>
          </p:cNvSpPr>
          <p:nvPr/>
        </p:nvSpPr>
        <p:spPr bwMode="auto">
          <a:xfrm>
            <a:off x="6705600" y="31242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2089" name="AutoShape 105"/>
          <p:cNvSpPr>
            <a:spLocks noChangeArrowheads="1"/>
          </p:cNvSpPr>
          <p:nvPr/>
        </p:nvSpPr>
        <p:spPr bwMode="auto">
          <a:xfrm>
            <a:off x="6705600" y="35052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6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62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62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6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6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62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62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72136" grpId="0" animBg="1"/>
      <p:bldP spid="3" grpId="0" animBg="1"/>
      <p:bldP spid="4" grpId="0" animBg="1"/>
      <p:bldP spid="5" grpId="0" animBg="1"/>
      <p:bldP spid="1962086" grpId="0" animBg="1"/>
      <p:bldP spid="1962087" grpId="0" animBg="1"/>
      <p:bldP spid="1962088" grpId="0" animBg="1"/>
      <p:bldP spid="196208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C5D0CE-12CC-4D3F-AEA8-A321B2C27E86}" type="slidenum">
              <a:rPr lang="en-US" altLang="en-US"/>
              <a:pPr/>
              <a:t>131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7239000" y="2286000"/>
            <a:ext cx="10668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81600" y="2209800"/>
            <a:ext cx="990600" cy="35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630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6301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63050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63051" name="Group 43"/>
          <p:cNvGraphicFramePr>
            <a:graphicFrameLocks noGrp="1"/>
          </p:cNvGraphicFramePr>
          <p:nvPr/>
        </p:nvGraphicFramePr>
        <p:xfrm>
          <a:off x="5181600" y="2209800"/>
          <a:ext cx="990600" cy="14605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63063" name="Group 55"/>
          <p:cNvGraphicFramePr>
            <a:graphicFrameLocks noGrp="1"/>
          </p:cNvGraphicFramePr>
          <p:nvPr/>
        </p:nvGraphicFramePr>
        <p:xfrm>
          <a:off x="7239000" y="2286000"/>
          <a:ext cx="1066800" cy="14605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x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x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963075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63076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77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78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3079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3080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1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2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3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3084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3085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6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7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88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3089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63090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91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92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93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3094" name="Line 108"/>
          <p:cNvSpPr>
            <a:spLocks noChangeShapeType="1"/>
          </p:cNvSpPr>
          <p:nvPr/>
        </p:nvSpPr>
        <p:spPr bwMode="auto">
          <a:xfrm>
            <a:off x="5638800" y="36576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3095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096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097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098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099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100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3101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Lan truyền biến gán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6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96310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B50089-6F71-4D39-82F3-C9E458D7CCFB}" type="slidenum">
              <a:rPr lang="en-US" altLang="en-US"/>
              <a:pPr/>
              <a:t>132</a:t>
            </a:fld>
            <a:endParaRPr lang="en-US" alt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685800" y="4343400"/>
            <a:ext cx="2057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5800" y="2667000"/>
            <a:ext cx="1981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fr-FR" altLang="en-US" sz="1400" b="0"/>
          </a:p>
        </p:txBody>
      </p:sp>
      <p:sp>
        <p:nvSpPr>
          <p:cNvPr id="196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6403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71118" name="Group 110"/>
          <p:cNvGraphicFramePr>
            <a:graphicFrameLocks noGrp="1"/>
          </p:cNvGraphicFramePr>
          <p:nvPr/>
        </p:nvGraphicFramePr>
        <p:xfrm>
          <a:off x="685800" y="8382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/>
          <p:cNvGraphicFramePr>
            <a:graphicFrameLocks noGrp="1"/>
          </p:cNvGraphicFramePr>
          <p:nvPr/>
        </p:nvGraphicFramePr>
        <p:xfrm>
          <a:off x="685800" y="26733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/>
          <p:cNvGraphicFramePr>
            <a:graphicFrameLocks noGrp="1"/>
          </p:cNvGraphicFramePr>
          <p:nvPr/>
        </p:nvGraphicFramePr>
        <p:xfrm>
          <a:off x="685800" y="43434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64074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64075" name="Group 43"/>
          <p:cNvGraphicFramePr>
            <a:graphicFrameLocks noGrp="1"/>
          </p:cNvGraphicFramePr>
          <p:nvPr/>
        </p:nvGraphicFramePr>
        <p:xfrm>
          <a:off x="5181600" y="2209800"/>
          <a:ext cx="990600" cy="1095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64085" name="Group 53"/>
          <p:cNvGraphicFramePr>
            <a:graphicFrameLocks noGrp="1"/>
          </p:cNvGraphicFramePr>
          <p:nvPr/>
        </p:nvGraphicFramePr>
        <p:xfrm>
          <a:off x="7239000" y="2286000"/>
          <a:ext cx="1066800" cy="10953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64095" name="Group 82"/>
          <p:cNvGrpSpPr>
            <a:grpSpLocks/>
          </p:cNvGrpSpPr>
          <p:nvPr/>
        </p:nvGrpSpPr>
        <p:grpSpPr bwMode="auto">
          <a:xfrm>
            <a:off x="1676400" y="2057400"/>
            <a:ext cx="0" cy="4114800"/>
            <a:chOff x="2784" y="1248"/>
            <a:chExt cx="0" cy="2592"/>
          </a:xfrm>
        </p:grpSpPr>
        <p:sp>
          <p:nvSpPr>
            <p:cNvPr id="1964096" name="Line 83"/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097" name="Line 84"/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098" name="Line 85"/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4099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4100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1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2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3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4104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4105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6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7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08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4109" name="Group 103"/>
          <p:cNvGrpSpPr>
            <a:grpSpLocks/>
          </p:cNvGrpSpPr>
          <p:nvPr/>
        </p:nvGrpSpPr>
        <p:grpSpPr bwMode="auto">
          <a:xfrm>
            <a:off x="304800" y="2209800"/>
            <a:ext cx="5334000" cy="4572000"/>
            <a:chOff x="192" y="1296"/>
            <a:chExt cx="3360" cy="2880"/>
          </a:xfrm>
        </p:grpSpPr>
        <p:sp>
          <p:nvSpPr>
            <p:cNvPr id="1964110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11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12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113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4114" name="Line 108"/>
          <p:cNvSpPr>
            <a:spLocks noChangeShapeType="1"/>
          </p:cNvSpPr>
          <p:nvPr/>
        </p:nvSpPr>
        <p:spPr bwMode="auto">
          <a:xfrm>
            <a:off x="5638800" y="32766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4115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16" name="Text Box 97"/>
          <p:cNvSpPr txBox="1">
            <a:spLocks noChangeArrowheads="1"/>
          </p:cNvSpPr>
          <p:nvPr/>
        </p:nvSpPr>
        <p:spPr bwMode="auto">
          <a:xfrm>
            <a:off x="366713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17" name="Text Box 97"/>
          <p:cNvSpPr txBox="1">
            <a:spLocks noChangeArrowheads="1"/>
          </p:cNvSpPr>
          <p:nvPr/>
        </p:nvSpPr>
        <p:spPr bwMode="auto">
          <a:xfrm>
            <a:off x="333375" y="3962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18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19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20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4121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Giảm chi phí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6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2" grpId="0" animBg="1"/>
      <p:bldP spid="19641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4639C3-E677-4513-93B7-78CCD69A1E1D}" type="slidenum">
              <a:rPr lang="en-US" altLang="en-US"/>
              <a:pPr/>
              <a:t>133</a:t>
            </a:fld>
            <a:endParaRPr lang="en-US" altLang="en-US"/>
          </a:p>
        </p:txBody>
      </p:sp>
      <p:sp>
        <p:nvSpPr>
          <p:cNvPr id="196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2800"/>
              <a:t>Tối ưu mã </a:t>
            </a:r>
            <a:r>
              <a:rPr lang="fr-FR" altLang="en-US" sz="2800">
                <a:sym typeface="Symbol" panose="05050102010706020507" pitchFamily="18" charset="2"/>
              </a:rPr>
              <a:t> Ví 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965059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graphicFrame>
        <p:nvGraphicFramePr>
          <p:cNvPr id="1965060" name="Group 4"/>
          <p:cNvGraphicFramePr>
            <a:graphicFrameLocks noGrp="1"/>
          </p:cNvGraphicFramePr>
          <p:nvPr/>
        </p:nvGraphicFramePr>
        <p:xfrm>
          <a:off x="685800" y="838200"/>
          <a:ext cx="1981200" cy="1828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v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fr-F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fr-FR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fr-F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= 4* i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fr-F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fr-FR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fr-F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= 4*j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65076" name="Group 20"/>
          <p:cNvGraphicFramePr>
            <a:graphicFrameLocks noGrp="1"/>
          </p:cNvGraphicFramePr>
          <p:nvPr/>
        </p:nvGraphicFramePr>
        <p:xfrm>
          <a:off x="685800" y="3200400"/>
          <a:ext cx="1981200" cy="9144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= 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+4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&lt;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65086" name="Group 30"/>
          <p:cNvGraphicFramePr>
            <a:graphicFrameLocks noGrp="1"/>
          </p:cNvGraphicFramePr>
          <p:nvPr/>
        </p:nvGraphicFramePr>
        <p:xfrm>
          <a:off x="685800" y="4643438"/>
          <a:ext cx="2057400" cy="9191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 = 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if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&gt; v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5096" name="Rectangle 39"/>
          <p:cNvSpPr>
            <a:spLocks noChangeArrowheads="1"/>
          </p:cNvSpPr>
          <p:nvPr/>
        </p:nvSpPr>
        <p:spPr bwMode="auto">
          <a:xfrm>
            <a:off x="685800" y="61722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="0" baseline="-25000">
                <a:latin typeface="Times New Roman" panose="02020603050405020304" pitchFamily="18" charset="0"/>
              </a:rPr>
              <a:t>6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graphicFrame>
        <p:nvGraphicFramePr>
          <p:cNvPr id="1965097" name="Group 41"/>
          <p:cNvGraphicFramePr>
            <a:graphicFrameLocks noGrp="1"/>
          </p:cNvGraphicFramePr>
          <p:nvPr/>
        </p:nvGraphicFramePr>
        <p:xfrm>
          <a:off x="5181600" y="2209800"/>
          <a:ext cx="990600" cy="1095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A061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goto B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65107" name="Group 51"/>
          <p:cNvGraphicFramePr>
            <a:graphicFrameLocks noGrp="1"/>
          </p:cNvGraphicFramePr>
          <p:nvPr/>
        </p:nvGraphicFramePr>
        <p:xfrm>
          <a:off x="7239000" y="2286000"/>
          <a:ext cx="1066800" cy="10953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=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t</a:t>
                      </a: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a[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] = 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kumimoji="0" lang="en-US" alt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5117" name="Line 83"/>
          <p:cNvSpPr>
            <a:spLocks noChangeShapeType="1"/>
          </p:cNvSpPr>
          <p:nvPr/>
        </p:nvSpPr>
        <p:spPr bwMode="auto">
          <a:xfrm>
            <a:off x="1676400" y="2590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5118" name="Line 84"/>
          <p:cNvSpPr>
            <a:spLocks noChangeShapeType="1"/>
          </p:cNvSpPr>
          <p:nvPr/>
        </p:nvSpPr>
        <p:spPr bwMode="auto">
          <a:xfrm>
            <a:off x="16764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5119" name="Line 85"/>
          <p:cNvSpPr>
            <a:spLocks noChangeShapeType="1"/>
          </p:cNvSpPr>
          <p:nvPr/>
        </p:nvSpPr>
        <p:spPr bwMode="auto">
          <a:xfrm>
            <a:off x="1676400" y="556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65120" name="Group 86"/>
          <p:cNvGrpSpPr>
            <a:grpSpLocks/>
          </p:cNvGrpSpPr>
          <p:nvPr/>
        </p:nvGrpSpPr>
        <p:grpSpPr bwMode="auto">
          <a:xfrm>
            <a:off x="2667000" y="1676400"/>
            <a:ext cx="5105400" cy="4495800"/>
            <a:chOff x="1680" y="960"/>
            <a:chExt cx="3216" cy="2832"/>
          </a:xfrm>
        </p:grpSpPr>
        <p:sp>
          <p:nvSpPr>
            <p:cNvPr id="1965121" name="Line 87"/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2" name="Line 88"/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3" name="Line 89"/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4" name="Line 90"/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5125" name="Group 91"/>
          <p:cNvGrpSpPr>
            <a:grpSpLocks/>
          </p:cNvGrpSpPr>
          <p:nvPr/>
        </p:nvGrpSpPr>
        <p:grpSpPr bwMode="auto">
          <a:xfrm>
            <a:off x="2667000" y="1828800"/>
            <a:ext cx="2971800" cy="4648200"/>
            <a:chOff x="1680" y="1056"/>
            <a:chExt cx="1872" cy="2928"/>
          </a:xfrm>
        </p:grpSpPr>
        <p:sp>
          <p:nvSpPr>
            <p:cNvPr id="1965126" name="Line 92"/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7" name="Line 93"/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8" name="Line 94"/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29" name="Line 95"/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5130" name="Group 103"/>
          <p:cNvGrpSpPr>
            <a:grpSpLocks/>
          </p:cNvGrpSpPr>
          <p:nvPr/>
        </p:nvGrpSpPr>
        <p:grpSpPr bwMode="auto">
          <a:xfrm>
            <a:off x="304800" y="2819400"/>
            <a:ext cx="5334000" cy="3962400"/>
            <a:chOff x="192" y="1296"/>
            <a:chExt cx="3360" cy="2880"/>
          </a:xfrm>
        </p:grpSpPr>
        <p:sp>
          <p:nvSpPr>
            <p:cNvPr id="1965131" name="Line 104"/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32" name="Line 105"/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33" name="Line 106"/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34" name="Line 107"/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5135" name="Line 108"/>
          <p:cNvSpPr>
            <a:spLocks noChangeShapeType="1"/>
          </p:cNvSpPr>
          <p:nvPr/>
        </p:nvSpPr>
        <p:spPr bwMode="auto">
          <a:xfrm>
            <a:off x="5638800" y="32766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5136" name="Text Box 97"/>
          <p:cNvSpPr txBox="1">
            <a:spLocks noChangeArrowheads="1"/>
          </p:cNvSpPr>
          <p:nvPr/>
        </p:nvSpPr>
        <p:spPr bwMode="auto">
          <a:xfrm>
            <a:off x="228600" y="83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37" name="Text Box 97"/>
          <p:cNvSpPr txBox="1">
            <a:spLocks noChangeArrowheads="1"/>
          </p:cNvSpPr>
          <p:nvPr/>
        </p:nvSpPr>
        <p:spPr bwMode="auto">
          <a:xfrm>
            <a:off x="366713" y="28336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38" name="Text Box 97"/>
          <p:cNvSpPr txBox="1">
            <a:spLocks noChangeArrowheads="1"/>
          </p:cNvSpPr>
          <p:nvPr/>
        </p:nvSpPr>
        <p:spPr bwMode="auto">
          <a:xfrm>
            <a:off x="333375" y="426243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39" name="Text Box 97"/>
          <p:cNvSpPr txBox="1">
            <a:spLocks noChangeArrowheads="1"/>
          </p:cNvSpPr>
          <p:nvPr/>
        </p:nvSpPr>
        <p:spPr bwMode="auto">
          <a:xfrm>
            <a:off x="347663" y="5791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40" name="Text Box 97"/>
          <p:cNvSpPr txBox="1">
            <a:spLocks noChangeArrowheads="1"/>
          </p:cNvSpPr>
          <p:nvPr/>
        </p:nvSpPr>
        <p:spPr bwMode="auto">
          <a:xfrm>
            <a:off x="4724400" y="1828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5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41" name="Text Box 97"/>
          <p:cNvSpPr txBox="1">
            <a:spLocks noChangeArrowheads="1"/>
          </p:cNvSpPr>
          <p:nvPr/>
        </p:nvSpPr>
        <p:spPr bwMode="auto">
          <a:xfrm>
            <a:off x="6781800" y="1905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>
                <a:latin typeface="Times New Roman" panose="02020603050405020304" pitchFamily="18" charset="0"/>
              </a:rPr>
              <a:t>B</a:t>
            </a:r>
            <a:r>
              <a:rPr lang="en-US" altLang="en-US" sz="1800" b="0" baseline="-25000">
                <a:latin typeface="Times New Roman" panose="02020603050405020304" pitchFamily="18" charset="0"/>
              </a:rPr>
              <a:t>6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1965142" name="Rectangle 3"/>
          <p:cNvSpPr>
            <a:spLocks noChangeArrowheads="1"/>
          </p:cNvSpPr>
          <p:nvPr/>
        </p:nvSpPr>
        <p:spPr bwMode="auto">
          <a:xfrm>
            <a:off x="3429000" y="898525"/>
            <a:ext cx="5257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0">
                <a:solidFill>
                  <a:srgbClr val="270076"/>
                </a:solidFill>
              </a:rPr>
              <a:t>Giảm chi phí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2AE251-E102-4822-99DD-A3B7B220C909}" type="slidenum">
              <a:rPr lang="en-US" altLang="en-US"/>
              <a:pPr/>
              <a:t>134</a:t>
            </a:fld>
            <a:endParaRPr lang="en-US" altLang="en-US"/>
          </a:p>
        </p:txBody>
      </p:sp>
      <p:sp>
        <p:nvSpPr>
          <p:cNvPr id="1966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 marL="347663" indent="-347663">
              <a:lnSpc>
                <a:spcPct val="120000"/>
              </a:lnSpc>
            </a:pPr>
            <a:r>
              <a:rPr lang="fr-FR" altLang="en-US" sz="2800"/>
              <a:t>Không tồn tại một giải thuật tổng quát để tìm ra chương trình tối ưu nhất</a:t>
            </a:r>
          </a:p>
          <a:p>
            <a:pPr marL="1316038" lvl="1" indent="-577850">
              <a:lnSpc>
                <a:spcPct val="120000"/>
              </a:lnSpc>
            </a:pPr>
            <a:r>
              <a:rPr lang="fr-FR" altLang="en-US" sz="2400"/>
              <a:t>Dùng một số thuật toán đơn giản để tối ưu mã đích</a:t>
            </a:r>
          </a:p>
          <a:p>
            <a:pPr marL="347663" indent="-347663">
              <a:lnSpc>
                <a:spcPct val="120000"/>
              </a:lnSpc>
            </a:pPr>
            <a:r>
              <a:rPr lang="fr-FR" altLang="en-US" sz="2800"/>
              <a:t>Xét ví dụ máy có 1 thanh ghi </a:t>
            </a:r>
            <a:r>
              <a:rPr lang="fr-FR" altLang="en-US" sz="2800" b="1">
                <a:solidFill>
                  <a:srgbClr val="2C1EDC"/>
                </a:solidFill>
              </a:rPr>
              <a:t>R</a:t>
            </a:r>
            <a:r>
              <a:rPr lang="fr-FR" altLang="en-US" sz="2800"/>
              <a:t> và tồn tại các lênh</a:t>
            </a:r>
          </a:p>
          <a:p>
            <a:pPr marL="1316038" lvl="1" indent="-577850">
              <a:lnSpc>
                <a:spcPct val="120000"/>
              </a:lnSpc>
            </a:pPr>
            <a:r>
              <a:rPr lang="fr-FR" altLang="en-US" sz="2400" b="1"/>
              <a:t>Load m</a:t>
            </a:r>
            <a:r>
              <a:rPr lang="fr-FR" altLang="en-US" sz="2400"/>
              <a:t> 	</a:t>
            </a:r>
            <a:r>
              <a:rPr lang="fr-FR" altLang="en-US" sz="2400">
                <a:sym typeface="Symbol" panose="05050102010706020507" pitchFamily="18" charset="2"/>
              </a:rPr>
              <a:t> Nạp vào thanh ghi R giá trị m (R=m)</a:t>
            </a:r>
          </a:p>
          <a:p>
            <a:pPr marL="1316038" lvl="1" indent="-577850">
              <a:lnSpc>
                <a:spcPct val="120000"/>
              </a:lnSpc>
            </a:pPr>
            <a:r>
              <a:rPr lang="fr-FR" altLang="en-US" sz="2400" b="1">
                <a:sym typeface="Symbol" panose="05050102010706020507" pitchFamily="18" charset="2"/>
              </a:rPr>
              <a:t>Add m</a:t>
            </a:r>
            <a:r>
              <a:rPr lang="fr-FR" altLang="en-US" sz="2400">
                <a:sym typeface="Symbol" panose="05050102010706020507" pitchFamily="18" charset="2"/>
              </a:rPr>
              <a:t> 	 Cộng vào thanh ghi R giá trị m (R +=m)</a:t>
            </a:r>
          </a:p>
          <a:p>
            <a:pPr marL="1316038" lvl="1" indent="-577850">
              <a:lnSpc>
                <a:spcPct val="120000"/>
              </a:lnSpc>
            </a:pPr>
            <a:r>
              <a:rPr lang="fr-FR" altLang="en-US" sz="2400" b="1">
                <a:sym typeface="Symbol" panose="05050102010706020507" pitchFamily="18" charset="2"/>
              </a:rPr>
              <a:t>Mul m</a:t>
            </a:r>
            <a:r>
              <a:rPr lang="fr-FR" altLang="en-US" sz="2400">
                <a:sym typeface="Symbol" panose="05050102010706020507" pitchFamily="18" charset="2"/>
              </a:rPr>
              <a:t> 	 Nhân vào thanh ghi R giá trị m (R *=m)</a:t>
            </a:r>
          </a:p>
          <a:p>
            <a:pPr marL="1316038" lvl="1" indent="-577850">
              <a:lnSpc>
                <a:spcPct val="120000"/>
              </a:lnSpc>
            </a:pPr>
            <a:r>
              <a:rPr lang="fr-FR" altLang="en-US" sz="2400" b="1">
                <a:sym typeface="Symbol" panose="05050102010706020507" pitchFamily="18" charset="2"/>
              </a:rPr>
              <a:t>Store m</a:t>
            </a:r>
            <a:r>
              <a:rPr lang="fr-FR" altLang="en-US" sz="2400">
                <a:sym typeface="Symbol" panose="05050102010706020507" pitchFamily="18" charset="2"/>
              </a:rPr>
              <a:t>	  Ghi giá trị thanh ghi R vào địa chỉ m</a:t>
            </a:r>
          </a:p>
          <a:p>
            <a:pPr marL="1316038" lvl="1" indent="-577850">
              <a:lnSpc>
                <a:spcPct val="120000"/>
              </a:lnSpc>
              <a:buFontTx/>
              <a:buNone/>
            </a:pPr>
            <a:r>
              <a:rPr lang="fr-FR" altLang="en-US" sz="2400">
                <a:sym typeface="Symbol" panose="05050102010706020507" pitchFamily="18" charset="2"/>
              </a:rPr>
              <a:t>Trong đó, </a:t>
            </a:r>
            <a:r>
              <a:rPr lang="fr-FR" altLang="en-US" sz="2400">
                <a:solidFill>
                  <a:srgbClr val="2C1EDC"/>
                </a:solidFill>
                <a:sym typeface="Symbol" panose="05050102010706020507" pitchFamily="18" charset="2"/>
              </a:rPr>
              <a:t>m</a:t>
            </a:r>
            <a:r>
              <a:rPr lang="fr-FR" altLang="en-US" sz="2400">
                <a:sym typeface="Symbol" panose="05050102010706020507" pitchFamily="18" charset="2"/>
              </a:rPr>
              <a:t> có thể là hằng số, biến	</a:t>
            </a:r>
          </a:p>
        </p:txBody>
      </p:sp>
      <p:sp>
        <p:nvSpPr>
          <p:cNvPr id="19660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Tối ưu mã đích</a:t>
            </a:r>
          </a:p>
        </p:txBody>
      </p:sp>
      <p:sp>
        <p:nvSpPr>
          <p:cNvPr id="196608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9D7708-A698-4E2D-A926-834120614DCA}" type="slidenum">
              <a:rPr lang="en-US" altLang="en-US"/>
              <a:pPr/>
              <a:t>135</a:t>
            </a:fld>
            <a:endParaRPr lang="en-US" altLang="en-US"/>
          </a:p>
        </p:txBody>
      </p:sp>
      <p:sp>
        <p:nvSpPr>
          <p:cNvPr id="196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 marL="347663" indent="-347663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800"/>
              <a:t>Phép giao hoán</a:t>
            </a:r>
          </a:p>
          <a:p>
            <a:pPr marL="1089025" lvl="1" indent="-465138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400">
                <a:sym typeface="Symbol" panose="05050102010706020507" pitchFamily="18" charset="2"/>
              </a:rPr>
              <a:t>Hai lệnh liên tiếp  </a:t>
            </a:r>
            <a:r>
              <a:rPr lang="fr-FR" altLang="en-US" sz="2400" b="1">
                <a:sym typeface="Symbol" panose="05050102010706020507" pitchFamily="18" charset="2"/>
              </a:rPr>
              <a:t>Load </a:t>
            </a:r>
            <a:r>
              <a:rPr lang="fr-FR" altLang="en-US" sz="2400">
                <a:sym typeface="Symbol" panose="05050102010706020507" pitchFamily="18" charset="2"/>
              </a:rPr>
              <a:t> và </a:t>
            </a:r>
            <a:r>
              <a:rPr lang="fr-FR" altLang="en-US" sz="2400" b="1">
                <a:sym typeface="Symbol" panose="05050102010706020507" pitchFamily="18" charset="2"/>
              </a:rPr>
              <a:t>Add </a:t>
            </a:r>
            <a:r>
              <a:rPr lang="fr-FR" altLang="en-US" sz="2400">
                <a:sym typeface="Symbol" panose="05050102010706020507" pitchFamily="18" charset="2"/>
              </a:rPr>
              <a:t> có thể được thay thế bằng </a:t>
            </a:r>
            <a:r>
              <a:rPr lang="fr-FR" altLang="en-US" sz="2400" b="1">
                <a:sym typeface="Symbol" panose="05050102010706020507" pitchFamily="18" charset="2"/>
              </a:rPr>
              <a:t>Load  </a:t>
            </a:r>
            <a:r>
              <a:rPr lang="fr-FR" altLang="en-US" sz="2400">
                <a:sym typeface="Symbol" panose="05050102010706020507" pitchFamily="18" charset="2"/>
              </a:rPr>
              <a:t> và </a:t>
            </a:r>
            <a:r>
              <a:rPr lang="fr-FR" altLang="en-US" sz="2400" b="1">
                <a:sym typeface="Symbol" panose="05050102010706020507" pitchFamily="18" charset="2"/>
              </a:rPr>
              <a:t>Add </a:t>
            </a:r>
          </a:p>
          <a:p>
            <a:pPr marL="1089025" lvl="1" indent="-465138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400">
                <a:sym typeface="Symbol" panose="05050102010706020507" pitchFamily="18" charset="2"/>
              </a:rPr>
              <a:t>Hai lệnh liên tiếp  </a:t>
            </a:r>
            <a:r>
              <a:rPr lang="fr-FR" altLang="en-US" sz="2400" b="1">
                <a:sym typeface="Symbol" panose="05050102010706020507" pitchFamily="18" charset="2"/>
              </a:rPr>
              <a:t>Load </a:t>
            </a:r>
            <a:r>
              <a:rPr lang="fr-FR" altLang="en-US" sz="2400">
                <a:sym typeface="Symbol" panose="05050102010706020507" pitchFamily="18" charset="2"/>
              </a:rPr>
              <a:t> và </a:t>
            </a:r>
            <a:r>
              <a:rPr lang="fr-FR" altLang="en-US" sz="2400" b="1">
                <a:sym typeface="Symbol" panose="05050102010706020507" pitchFamily="18" charset="2"/>
              </a:rPr>
              <a:t>Mul </a:t>
            </a:r>
            <a:r>
              <a:rPr lang="fr-FR" altLang="en-US" sz="2400">
                <a:sym typeface="Symbol" panose="05050102010706020507" pitchFamily="18" charset="2"/>
              </a:rPr>
              <a:t> có thể được thay thế bằng </a:t>
            </a:r>
            <a:r>
              <a:rPr lang="fr-FR" altLang="en-US" sz="2400" b="1">
                <a:sym typeface="Symbol" panose="05050102010706020507" pitchFamily="18" charset="2"/>
              </a:rPr>
              <a:t>Load  </a:t>
            </a:r>
            <a:r>
              <a:rPr lang="fr-FR" altLang="en-US" sz="2400">
                <a:sym typeface="Symbol" panose="05050102010706020507" pitchFamily="18" charset="2"/>
              </a:rPr>
              <a:t> và </a:t>
            </a:r>
            <a:r>
              <a:rPr lang="fr-FR" altLang="en-US" sz="2400" b="1">
                <a:sym typeface="Symbol" panose="05050102010706020507" pitchFamily="18" charset="2"/>
              </a:rPr>
              <a:t>Mul </a:t>
            </a:r>
          </a:p>
          <a:p>
            <a:pPr marL="347663" indent="-347663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Dãy lệnh </a:t>
            </a:r>
            <a:r>
              <a:rPr lang="fr-FR" altLang="en-US" sz="2800" b="1">
                <a:sym typeface="Symbol" panose="05050102010706020507" pitchFamily="18" charset="2"/>
              </a:rPr>
              <a:t>store  Load </a:t>
            </a:r>
            <a:r>
              <a:rPr lang="fr-FR" altLang="en-US" sz="2800">
                <a:sym typeface="Symbol" panose="05050102010706020507" pitchFamily="18" charset="2"/>
              </a:rPr>
              <a:t> sẽ bị hủy bỏ nếu</a:t>
            </a:r>
          </a:p>
          <a:p>
            <a:pPr marL="1089025" lvl="1" indent="-465138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400">
                <a:sym typeface="Symbol" panose="05050102010706020507" pitchFamily="18" charset="2"/>
              </a:rPr>
              <a:t> không được sử dụng hoặc được lưu giá trị mới trước khi dùng (store )</a:t>
            </a:r>
          </a:p>
          <a:p>
            <a:pPr marL="347663" indent="-347663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Dãy lệnh </a:t>
            </a:r>
            <a:r>
              <a:rPr lang="fr-FR" altLang="en-US" sz="2800" b="1">
                <a:sym typeface="Symbol" panose="05050102010706020507" pitchFamily="18" charset="2"/>
              </a:rPr>
              <a:t>Load  store </a:t>
            </a:r>
            <a:r>
              <a:rPr lang="fr-FR" altLang="en-US" sz="2800">
                <a:sym typeface="Symbol" panose="05050102010706020507" pitchFamily="18" charset="2"/>
              </a:rPr>
              <a:t> sẽ bị hủy bỏ nếu</a:t>
            </a:r>
          </a:p>
          <a:p>
            <a:pPr marL="1089025" lvl="1" indent="-465138">
              <a:lnSpc>
                <a:spcPct val="120000"/>
              </a:lnSpc>
              <a:tabLst>
                <a:tab pos="1089025" algn="l"/>
              </a:tabLst>
            </a:pPr>
            <a:r>
              <a:rPr lang="fr-FR" altLang="en-US" sz="2400">
                <a:sym typeface="Symbol" panose="05050102010706020507" pitchFamily="18" charset="2"/>
              </a:rPr>
              <a:t>Sau đó là lệnh load khác và không có sự thay đổi  từ đó về sau, đồng thời sự sử dung  được thay bằng </a:t>
            </a:r>
          </a:p>
        </p:txBody>
      </p:sp>
      <p:sp>
        <p:nvSpPr>
          <p:cNvPr id="1967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Tối ưu mã đích</a:t>
            </a:r>
            <a:r>
              <a:rPr lang="en-US" altLang="en-US" sz="2800">
                <a:sym typeface="Symbol" panose="05050102010706020507" pitchFamily="18" charset="2"/>
              </a:rPr>
              <a:t>Phép biến đổi đơn giản</a:t>
            </a:r>
          </a:p>
        </p:txBody>
      </p:sp>
      <p:sp>
        <p:nvSpPr>
          <p:cNvPr id="196710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3255BB-2618-4276-834D-2E8314F77F04}" type="slidenum">
              <a:rPr lang="en-US" altLang="en-US"/>
              <a:pPr/>
              <a:t>136</a:t>
            </a:fld>
            <a:endParaRPr lang="en-US" altLang="en-US"/>
          </a:p>
        </p:txBody>
      </p:sp>
      <p:sp>
        <p:nvSpPr>
          <p:cNvPr id="196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2286000" cy="5562600"/>
          </a:xfrm>
        </p:spPr>
        <p:txBody>
          <a:bodyPr/>
          <a:lstStyle/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Load c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Store #3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Load b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Store #1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Load a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Add #1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Store #2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Load 10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Mul #2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Add # 3</a:t>
            </a:r>
          </a:p>
          <a:p>
            <a:pPr marL="347663" indent="-347663">
              <a:tabLst>
                <a:tab pos="1089025" algn="l"/>
              </a:tabLst>
            </a:pPr>
            <a:r>
              <a:rPr lang="fr-FR" altLang="en-US" sz="2800">
                <a:sym typeface="Symbol" panose="05050102010706020507" pitchFamily="18" charset="2"/>
              </a:rPr>
              <a:t>Store V</a:t>
            </a:r>
          </a:p>
        </p:txBody>
      </p:sp>
      <p:sp>
        <p:nvSpPr>
          <p:cNvPr id="1968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Tối ưu mã đích</a:t>
            </a:r>
            <a:r>
              <a:rPr lang="en-US" altLang="en-US" sz="2800">
                <a:sym typeface="Symbol" panose="05050102010706020507" pitchFamily="18" charset="2"/>
              </a:rPr>
              <a:t>Phép biến đổi đơn giản Ví dụ</a:t>
            </a:r>
          </a:p>
        </p:txBody>
      </p:sp>
      <p:sp>
        <p:nvSpPr>
          <p:cNvPr id="196813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Tối ưu mã</a:t>
            </a:r>
          </a:p>
        </p:txBody>
      </p:sp>
      <p:sp>
        <p:nvSpPr>
          <p:cNvPr id="1968133" name="Rectangle 5"/>
          <p:cNvSpPr>
            <a:spLocks noChangeArrowheads="1"/>
          </p:cNvSpPr>
          <p:nvPr/>
        </p:nvSpPr>
        <p:spPr bwMode="auto">
          <a:xfrm>
            <a:off x="2590800" y="990600"/>
            <a:ext cx="2286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108902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89025" indent="-465138" algn="l">
              <a:spcBef>
                <a:spcPct val="20000"/>
              </a:spcBef>
              <a:buChar char="–"/>
              <a:tabLst>
                <a:tab pos="108902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925638" indent="-495300" algn="l">
              <a:spcBef>
                <a:spcPct val="20000"/>
              </a:spcBef>
              <a:buChar char="•"/>
              <a:tabLst>
                <a:tab pos="108902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52688" indent="-412750" algn="l">
              <a:spcBef>
                <a:spcPct val="20000"/>
              </a:spcBef>
              <a:buChar char="–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979738" indent="-412750" algn="l">
              <a:spcBef>
                <a:spcPct val="20000"/>
              </a:spcBef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4369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941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3513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8085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z="2800" b="0">
                <a:sym typeface="Symbol" panose="05050102010706020507" pitchFamily="18" charset="2"/>
              </a:rPr>
              <a:t>Load c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Stroe #3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Load b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Store #1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Load # 1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Add a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Strore #2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Load #2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Mul 10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Add # 3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Store V</a:t>
            </a:r>
          </a:p>
        </p:txBody>
      </p:sp>
      <p:sp>
        <p:nvSpPr>
          <p:cNvPr id="1968134" name="Freeform 6"/>
          <p:cNvSpPr>
            <a:spLocks/>
          </p:cNvSpPr>
          <p:nvPr/>
        </p:nvSpPr>
        <p:spPr bwMode="auto">
          <a:xfrm>
            <a:off x="2057400" y="4800600"/>
            <a:ext cx="152400" cy="685800"/>
          </a:xfrm>
          <a:custGeom>
            <a:avLst/>
            <a:gdLst>
              <a:gd name="T0" fmla="*/ 0 w 96"/>
              <a:gd name="T1" fmla="*/ 0 h 432"/>
              <a:gd name="T2" fmla="*/ 96 w 96"/>
              <a:gd name="T3" fmla="*/ 240 h 432"/>
              <a:gd name="T4" fmla="*/ 0 w 96"/>
              <a:gd name="T5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432">
                <a:moveTo>
                  <a:pt x="0" y="0"/>
                </a:moveTo>
                <a:cubicBezTo>
                  <a:pt x="48" y="84"/>
                  <a:pt x="96" y="168"/>
                  <a:pt x="96" y="240"/>
                </a:cubicBezTo>
                <a:cubicBezTo>
                  <a:pt x="96" y="312"/>
                  <a:pt x="48" y="372"/>
                  <a:pt x="0" y="432"/>
                </a:cubicBezTo>
              </a:path>
            </a:pathLst>
          </a:custGeom>
          <a:noFill/>
          <a:ln w="57150" cmpd="sng">
            <a:solidFill>
              <a:srgbClr val="FA0617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35" name="Freeform 7"/>
          <p:cNvSpPr>
            <a:spLocks/>
          </p:cNvSpPr>
          <p:nvPr/>
        </p:nvSpPr>
        <p:spPr bwMode="auto">
          <a:xfrm>
            <a:off x="2057400" y="3276600"/>
            <a:ext cx="152400" cy="685800"/>
          </a:xfrm>
          <a:custGeom>
            <a:avLst/>
            <a:gdLst>
              <a:gd name="T0" fmla="*/ 0 w 96"/>
              <a:gd name="T1" fmla="*/ 0 h 432"/>
              <a:gd name="T2" fmla="*/ 96 w 96"/>
              <a:gd name="T3" fmla="*/ 240 h 432"/>
              <a:gd name="T4" fmla="*/ 0 w 96"/>
              <a:gd name="T5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432">
                <a:moveTo>
                  <a:pt x="0" y="0"/>
                </a:moveTo>
                <a:cubicBezTo>
                  <a:pt x="48" y="84"/>
                  <a:pt x="96" y="168"/>
                  <a:pt x="96" y="240"/>
                </a:cubicBezTo>
                <a:cubicBezTo>
                  <a:pt x="96" y="312"/>
                  <a:pt x="48" y="372"/>
                  <a:pt x="0" y="432"/>
                </a:cubicBezTo>
              </a:path>
            </a:pathLst>
          </a:custGeom>
          <a:noFill/>
          <a:ln w="57150" cmpd="sng">
            <a:solidFill>
              <a:srgbClr val="FA0617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36" name="Freeform 8"/>
          <p:cNvSpPr>
            <a:spLocks/>
          </p:cNvSpPr>
          <p:nvPr/>
        </p:nvSpPr>
        <p:spPr bwMode="auto">
          <a:xfrm>
            <a:off x="4572000" y="4267200"/>
            <a:ext cx="152400" cy="685800"/>
          </a:xfrm>
          <a:custGeom>
            <a:avLst/>
            <a:gdLst>
              <a:gd name="T0" fmla="*/ 0 w 96"/>
              <a:gd name="T1" fmla="*/ 0 h 432"/>
              <a:gd name="T2" fmla="*/ 96 w 96"/>
              <a:gd name="T3" fmla="*/ 240 h 432"/>
              <a:gd name="T4" fmla="*/ 0 w 96"/>
              <a:gd name="T5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432">
                <a:moveTo>
                  <a:pt x="0" y="0"/>
                </a:moveTo>
                <a:cubicBezTo>
                  <a:pt x="48" y="84"/>
                  <a:pt x="96" y="168"/>
                  <a:pt x="96" y="240"/>
                </a:cubicBezTo>
                <a:cubicBezTo>
                  <a:pt x="96" y="312"/>
                  <a:pt x="48" y="372"/>
                  <a:pt x="0" y="432"/>
                </a:cubicBezTo>
              </a:path>
            </a:pathLst>
          </a:custGeom>
          <a:noFill/>
          <a:ln w="57150" cmpd="sng">
            <a:solidFill>
              <a:srgbClr val="FA0617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37" name="Freeform 9"/>
          <p:cNvSpPr>
            <a:spLocks/>
          </p:cNvSpPr>
          <p:nvPr/>
        </p:nvSpPr>
        <p:spPr bwMode="auto">
          <a:xfrm>
            <a:off x="4572000" y="2743200"/>
            <a:ext cx="152400" cy="685800"/>
          </a:xfrm>
          <a:custGeom>
            <a:avLst/>
            <a:gdLst>
              <a:gd name="T0" fmla="*/ 0 w 96"/>
              <a:gd name="T1" fmla="*/ 0 h 432"/>
              <a:gd name="T2" fmla="*/ 96 w 96"/>
              <a:gd name="T3" fmla="*/ 240 h 432"/>
              <a:gd name="T4" fmla="*/ 0 w 96"/>
              <a:gd name="T5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432">
                <a:moveTo>
                  <a:pt x="0" y="0"/>
                </a:moveTo>
                <a:cubicBezTo>
                  <a:pt x="48" y="84"/>
                  <a:pt x="96" y="168"/>
                  <a:pt x="96" y="240"/>
                </a:cubicBezTo>
                <a:cubicBezTo>
                  <a:pt x="96" y="312"/>
                  <a:pt x="48" y="372"/>
                  <a:pt x="0" y="432"/>
                </a:cubicBezTo>
              </a:path>
            </a:pathLst>
          </a:custGeom>
          <a:noFill/>
          <a:ln w="57150" cmpd="sng">
            <a:solidFill>
              <a:srgbClr val="FA0617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38" name="Rectangle 10"/>
          <p:cNvSpPr>
            <a:spLocks noChangeArrowheads="1"/>
          </p:cNvSpPr>
          <p:nvPr/>
        </p:nvSpPr>
        <p:spPr bwMode="auto">
          <a:xfrm>
            <a:off x="5029200" y="2057400"/>
            <a:ext cx="2286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108902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89025" indent="-465138" algn="l">
              <a:spcBef>
                <a:spcPct val="20000"/>
              </a:spcBef>
              <a:buChar char="–"/>
              <a:tabLst>
                <a:tab pos="108902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925638" indent="-495300" algn="l">
              <a:spcBef>
                <a:spcPct val="20000"/>
              </a:spcBef>
              <a:buChar char="•"/>
              <a:tabLst>
                <a:tab pos="108902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52688" indent="-412750" algn="l">
              <a:spcBef>
                <a:spcPct val="20000"/>
              </a:spcBef>
              <a:buChar char="–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979738" indent="-412750" algn="l">
              <a:spcBef>
                <a:spcPct val="20000"/>
              </a:spcBef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4369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941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3513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8085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z="2800" b="0">
                <a:sym typeface="Symbol" panose="05050102010706020507" pitchFamily="18" charset="2"/>
              </a:rPr>
              <a:t>Load c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Stroe #3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Load b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Add a</a:t>
            </a:r>
          </a:p>
          <a:p>
            <a:r>
              <a:rPr lang="fr-FR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Mul 10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Add # 3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Store V</a:t>
            </a:r>
          </a:p>
        </p:txBody>
      </p:sp>
      <p:sp>
        <p:nvSpPr>
          <p:cNvPr id="1968139" name="Freeform 11"/>
          <p:cNvSpPr>
            <a:spLocks/>
          </p:cNvSpPr>
          <p:nvPr/>
        </p:nvSpPr>
        <p:spPr bwMode="auto">
          <a:xfrm>
            <a:off x="6934200" y="2286000"/>
            <a:ext cx="152400" cy="685800"/>
          </a:xfrm>
          <a:custGeom>
            <a:avLst/>
            <a:gdLst>
              <a:gd name="T0" fmla="*/ 0 w 96"/>
              <a:gd name="T1" fmla="*/ 0 h 432"/>
              <a:gd name="T2" fmla="*/ 96 w 96"/>
              <a:gd name="T3" fmla="*/ 240 h 432"/>
              <a:gd name="T4" fmla="*/ 0 w 96"/>
              <a:gd name="T5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" h="432">
                <a:moveTo>
                  <a:pt x="0" y="0"/>
                </a:moveTo>
                <a:cubicBezTo>
                  <a:pt x="48" y="84"/>
                  <a:pt x="96" y="168"/>
                  <a:pt x="96" y="240"/>
                </a:cubicBezTo>
                <a:cubicBezTo>
                  <a:pt x="96" y="312"/>
                  <a:pt x="48" y="372"/>
                  <a:pt x="0" y="432"/>
                </a:cubicBezTo>
              </a:path>
            </a:pathLst>
          </a:custGeom>
          <a:noFill/>
          <a:ln w="57150" cmpd="sng">
            <a:solidFill>
              <a:srgbClr val="FA0617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40" name="Freeform 12"/>
          <p:cNvSpPr>
            <a:spLocks/>
          </p:cNvSpPr>
          <p:nvPr/>
        </p:nvSpPr>
        <p:spPr bwMode="auto">
          <a:xfrm>
            <a:off x="4876800" y="2228850"/>
            <a:ext cx="381000" cy="1219200"/>
          </a:xfrm>
          <a:custGeom>
            <a:avLst/>
            <a:gdLst>
              <a:gd name="T0" fmla="*/ 240 w 240"/>
              <a:gd name="T1" fmla="*/ 0 h 768"/>
              <a:gd name="T2" fmla="*/ 0 w 240"/>
              <a:gd name="T3" fmla="*/ 0 h 768"/>
              <a:gd name="T4" fmla="*/ 0 w 240"/>
              <a:gd name="T5" fmla="*/ 768 h 768"/>
              <a:gd name="T6" fmla="*/ 240 w 240"/>
              <a:gd name="T7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768">
                <a:moveTo>
                  <a:pt x="24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57150" cmpd="sng">
            <a:solidFill>
              <a:srgbClr val="2C1EDC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8141" name="Rectangle 13"/>
          <p:cNvSpPr>
            <a:spLocks noChangeArrowheads="1"/>
          </p:cNvSpPr>
          <p:nvPr/>
        </p:nvSpPr>
        <p:spPr bwMode="auto">
          <a:xfrm>
            <a:off x="7162800" y="2590800"/>
            <a:ext cx="1828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tabLst>
                <a:tab pos="1089025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89025" indent="-465138" algn="l">
              <a:spcBef>
                <a:spcPct val="20000"/>
              </a:spcBef>
              <a:buChar char="–"/>
              <a:tabLst>
                <a:tab pos="1089025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925638" indent="-495300" algn="l">
              <a:spcBef>
                <a:spcPct val="20000"/>
              </a:spcBef>
              <a:buChar char="•"/>
              <a:tabLst>
                <a:tab pos="1089025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52688" indent="-412750" algn="l">
              <a:spcBef>
                <a:spcPct val="20000"/>
              </a:spcBef>
              <a:buChar char="–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979738" indent="-412750" algn="l">
              <a:spcBef>
                <a:spcPct val="20000"/>
              </a:spcBef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4369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941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3513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808538" indent="-412750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1089025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z="2800" b="0">
                <a:sym typeface="Symbol" panose="05050102010706020507" pitchFamily="18" charset="2"/>
              </a:rPr>
              <a:t>Load b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Add a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Mul 10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Add c</a:t>
            </a:r>
          </a:p>
          <a:p>
            <a:r>
              <a:rPr lang="fr-FR" altLang="en-US" sz="2800" b="0">
                <a:sym typeface="Symbol" panose="05050102010706020507" pitchFamily="18" charset="2"/>
              </a:rPr>
              <a:t>Store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6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6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6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6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6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6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6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6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8133" grpId="0"/>
      <p:bldP spid="1968134" grpId="0" animBg="1"/>
      <p:bldP spid="1968135" grpId="0" animBg="1"/>
      <p:bldP spid="1968136" grpId="0" animBg="1"/>
      <p:bldP spid="1968137" grpId="0" animBg="1"/>
      <p:bldP spid="1968138" grpId="0"/>
      <p:bldP spid="1968139" grpId="0" animBg="1"/>
      <p:bldP spid="1968140" grpId="0" animBg="1"/>
      <p:bldP spid="1968141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0FFAE7D4D9384F863C0EA8EC5E66A5" ma:contentTypeVersion="0" ma:contentTypeDescription="Create a new document." ma:contentTypeScope="" ma:versionID="f46c8ae2e6555b08ad51a3bd94e33c6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0EBED6-A66B-404E-B357-836F9DCA6B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A6A701-753D-4F43-98AF-B527524BB0A7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BDFD1C8-8177-43CA-9158-45FB27DBAAC7}"/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28136</TotalTime>
  <Words>16132</Words>
  <Application>Microsoft Office PowerPoint</Application>
  <PresentationFormat>On-screen Show (4:3)</PresentationFormat>
  <Paragraphs>2505</Paragraphs>
  <Slides>136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136</vt:i4>
      </vt:variant>
    </vt:vector>
  </HeadingPairs>
  <TitlesOfParts>
    <vt:vector size="147" baseType="lpstr">
      <vt:lpstr>ＭＳ Ｐゴシック</vt:lpstr>
      <vt:lpstr>Arial</vt:lpstr>
      <vt:lpstr>Arial Narrow</vt:lpstr>
      <vt:lpstr>Century</vt:lpstr>
      <vt:lpstr>Courier New</vt:lpstr>
      <vt:lpstr>Symbol</vt:lpstr>
      <vt:lpstr>Times New Roman</vt:lpstr>
      <vt:lpstr>Wingdings</vt:lpstr>
      <vt:lpstr>Default Design</vt:lpstr>
      <vt:lpstr>Bitmap Image</vt:lpstr>
      <vt:lpstr>Visio</vt:lpstr>
      <vt:lpstr>IT4079:NGÔN NGỮ và  PHƯƠNG PHÁP DỊCH</vt:lpstr>
      <vt:lpstr>Chương 5: Sinh mã</vt:lpstr>
      <vt:lpstr>Giới thiệu</vt:lpstr>
      <vt:lpstr>Nội dung</vt:lpstr>
      <vt:lpstr>Chương trình dịch định hướng cú pháp</vt:lpstr>
      <vt:lpstr>Ví dụ</vt:lpstr>
      <vt:lpstr>Chú giải cây suy dẫn</vt:lpstr>
      <vt:lpstr>Nội dung</vt:lpstr>
      <vt:lpstr>Cây cú pháp (Syntax tree)</vt:lpstr>
      <vt:lpstr>Cây cú pháp Ví dụ 1</vt:lpstr>
      <vt:lpstr>Xây dựng cây cú pháp Ví dụ 2</vt:lpstr>
      <vt:lpstr>Xây dựng cây cú pháp cho biểu thức</vt:lpstr>
      <vt:lpstr>Cây cú pháp (Syntax tree)</vt:lpstr>
      <vt:lpstr>Xây dựng cây cú pháp Ví dụ</vt:lpstr>
      <vt:lpstr>Nội dung</vt:lpstr>
      <vt:lpstr>Ký pháp Ba lan sau (Reverse Polish notation)</vt:lpstr>
      <vt:lpstr>Quy tắc dịch dạng trung tố  dạng hậu tố</vt:lpstr>
      <vt:lpstr>Ký pháp Ba lan sau  Ví dụ 1</vt:lpstr>
      <vt:lpstr>Ký pháp Ba lan sau  Ví dụ 2</vt:lpstr>
      <vt:lpstr>Nội dung</vt:lpstr>
      <vt:lpstr>Mã 3 địa chỉ</vt:lpstr>
      <vt:lpstr>Mã 3 địa chỉ  Ví dụ</vt:lpstr>
      <vt:lpstr>Mã 3 địa chỉ  Các dạng phổ biến</vt:lpstr>
      <vt:lpstr>Mã 3 địa chỉ  Các dạng phổ biến</vt:lpstr>
      <vt:lpstr>Mã 3 địa chỉ  Các dạng phổ biến</vt:lpstr>
      <vt:lpstr>Dịch trực tiếp cú pháp thành mã 3 địa chỉ</vt:lpstr>
      <vt:lpstr>Dịch trực tiếp cú pháp thành mã 3 địa chỉ</vt:lpstr>
      <vt:lpstr>Dịch trực tiếp cú pháp thành mã 3 địa chỉ</vt:lpstr>
      <vt:lpstr>Dịch trực tiếp cú pháp thành mã 3 địa chỉ</vt:lpstr>
      <vt:lpstr>Ví dụ:</vt:lpstr>
      <vt:lpstr>Cài đặt lệnh 3 địa chỉBiểu diễn bộ bốn</vt:lpstr>
      <vt:lpstr>Cài đặt lệnh 3 địa chỉBiểu diễn bộ bốn</vt:lpstr>
      <vt:lpstr>Cài đặt lệnh 3 địa chỉBiểu diễn bộ ba</vt:lpstr>
      <vt:lpstr>Sinh mã cho khai báo</vt:lpstr>
      <vt:lpstr>Sinh mã cho khai báo</vt:lpstr>
      <vt:lpstr>Sinh mã cho khai báoVí dụ</vt:lpstr>
      <vt:lpstr>Sinh mã cho khai báoVí dụ</vt:lpstr>
      <vt:lpstr>Lưu trữ thông tin về phạm vi</vt:lpstr>
      <vt:lpstr>Lưu trữ thông tin về phạm viVí dụ</vt:lpstr>
      <vt:lpstr>Lưu trữ thông tin về phạm viVí dụ</vt:lpstr>
      <vt:lpstr>Quy tắc ngữ nghĩa Các thao tác</vt:lpstr>
      <vt:lpstr>Khai báo trong chương trình con</vt:lpstr>
      <vt:lpstr>Xử lý các khai báo trong chương trình con</vt:lpstr>
      <vt:lpstr>Xử lý các khai báo trong chương trình con</vt:lpstr>
      <vt:lpstr>Ví dụ</vt:lpstr>
      <vt:lpstr>Sinh mã cho lệnh gán  Các hàm</vt:lpstr>
      <vt:lpstr>Sinh mã cho lệnh gán</vt:lpstr>
      <vt:lpstr>Địa chỉ hóa các phần tử của mảng</vt:lpstr>
      <vt:lpstr>Sinh mã cho biểu thức logic</vt:lpstr>
      <vt:lpstr>Sinh mã cho biểu thức logicVí dụ</vt:lpstr>
      <vt:lpstr>Sinh mã cho biểu thức logic: biểu diễn số</vt:lpstr>
      <vt:lpstr>Sinh mã cho biểu thức logicVí dụ</vt:lpstr>
      <vt:lpstr>Sinh mã cho các cấu trúc lập trình</vt:lpstr>
      <vt:lpstr>Sinh mã cho các cấu trúc lập trình</vt:lpstr>
      <vt:lpstr>Dịch trực tiếp cú pháp cho các cấu trúc lập trình</vt:lpstr>
      <vt:lpstr>Sinh mã cho biểu thức logic trong cấu trúc lập trình</vt:lpstr>
      <vt:lpstr>Sinh mã cho biểu thức logic trong cấu trúc lập trình</vt:lpstr>
      <vt:lpstr>Sinh mã cho biểu thức logic trong cấu trúc lập trình</vt:lpstr>
      <vt:lpstr>Sinh mã cho biểu thức logic  Ví dụ 1</vt:lpstr>
      <vt:lpstr>Sinh mã cho biểu thức logic  Ví dụ 1</vt:lpstr>
      <vt:lpstr>Sinh mã cho biểu thức logic  Ví dụ 1</vt:lpstr>
      <vt:lpstr>Sinh mã cho biểu thức logic  Ví dụ 2</vt:lpstr>
      <vt:lpstr>Sinh mã cho biểu thức logic  Ví dụ 2</vt:lpstr>
      <vt:lpstr>Sinh mã cho biểu thức logic  Ví dụ 2</vt:lpstr>
      <vt:lpstr>Sinh mã cho biểu thức logic  Ví dụ 2</vt:lpstr>
      <vt:lpstr>Sinh mã cho biểu thức logic  Ví dụ 2</vt:lpstr>
      <vt:lpstr>Biểu thức hỗn hợp</vt:lpstr>
      <vt:lpstr>Chương 5: Sinh mã</vt:lpstr>
      <vt:lpstr>Nội dung</vt:lpstr>
      <vt:lpstr>1. Giới thiệu</vt:lpstr>
      <vt:lpstr>2. Môi trường thực hiện</vt:lpstr>
      <vt:lpstr>2. Máy ngăn xếp</vt:lpstr>
      <vt:lpstr>2. Máy ngăn xếp  Thanh ghi</vt:lpstr>
      <vt:lpstr>2. Máy ngăn xếp  Bản hoạt động </vt:lpstr>
      <vt:lpstr>2. Máy ngăn xếp  Bản hoạt động (stack frame)</vt:lpstr>
      <vt:lpstr>Máy ngăn xếp  Bản hoạt động  Ví dụ</vt:lpstr>
      <vt:lpstr>2. Máy ngăn xếp  Lệnh</vt:lpstr>
      <vt:lpstr>2. Máy ngăn xếp  Bộ lệnh (1/5)</vt:lpstr>
      <vt:lpstr>2. Máy ngăn xếp  Bộ lệnh (2/5)</vt:lpstr>
      <vt:lpstr>2. Máy ngăn xếp  Bộ lệnh (3/5)</vt:lpstr>
      <vt:lpstr>2. Máy ngăn xếp  Bộ lệnh (4/5)</vt:lpstr>
      <vt:lpstr>2. Máy ngăn xếp  Bộ lệnh (5/5)</vt:lpstr>
      <vt:lpstr>2. Máy ngăn xếp  Ví dụ</vt:lpstr>
      <vt:lpstr>2. Máy ngăn xếp  Xây dựng máy ảo</vt:lpstr>
      <vt:lpstr>2. Máy ngăn xếp  Xây dựng máy ảo</vt:lpstr>
      <vt:lpstr>2. Máy ngăn xếp  Xây dựng máy ảo</vt:lpstr>
      <vt:lpstr>2. Máy ngăn xếp  Xây dựng máy ảo</vt:lpstr>
      <vt:lpstr>3. Sinh mã đích từ mã trung gian</vt:lpstr>
      <vt:lpstr>3. Sinh mã đích từ mã trung gian</vt:lpstr>
      <vt:lpstr>3. Sinh mã đích từ mã trung gian</vt:lpstr>
      <vt:lpstr>3. Sinh mã đích từ mã trung gian</vt:lpstr>
      <vt:lpstr>3. Sinh mã đích từ mã trung gian</vt:lpstr>
      <vt:lpstr>4. Sinh mã đích trực tiếp từ mã nguồn</vt:lpstr>
      <vt:lpstr>4. Sinh mã đích trực tiếp từ mã nguồn</vt:lpstr>
      <vt:lpstr>4.Sinh mã cho các lệnh  Biểu thức</vt:lpstr>
      <vt:lpstr>4.Sinh mã cho các lệnh  Biểu thức</vt:lpstr>
      <vt:lpstr>4.Sinh mã cho các lệnh  Biểu thức</vt:lpstr>
      <vt:lpstr>4.Sinh mã cho các lệnh  Khái niệm Lvalue</vt:lpstr>
      <vt:lpstr>4.Sinh mã cho các lệnh  Lệnh gán</vt:lpstr>
      <vt:lpstr>4.Sinh mã cho các lệnh Lệnh rẽ nhánh </vt:lpstr>
      <vt:lpstr>4.Sinh mã cho các lệnh Lệnh lặp while </vt:lpstr>
      <vt:lpstr>4.Sinh mã cho các lệnh Lệnh lặp for </vt:lpstr>
      <vt:lpstr>Lấy địa chỉ/giá trị biến </vt:lpstr>
      <vt:lpstr>Lấy giá trị của tham số hình thức</vt:lpstr>
      <vt:lpstr>Sinh lời gọi hàm/thủ tục</vt:lpstr>
      <vt:lpstr>Sinh lời gọi hàm/thủ tụcVí dụ</vt:lpstr>
      <vt:lpstr>Sinh mã cho lệnh CALL (p, q)</vt:lpstr>
      <vt:lpstr>Hoạt đông khi thực hiện lệnh CALL (p, q)</vt:lpstr>
      <vt:lpstr>Chương 5: Sinh mã</vt:lpstr>
      <vt:lpstr>Giới thiệu</vt:lpstr>
      <vt:lpstr>Tối ưu mã cục bộ</vt:lpstr>
      <vt:lpstr>Loại bỏ lệnh dư thừa</vt:lpstr>
      <vt:lpstr>Thông tin dòng điều khiển</vt:lpstr>
      <vt:lpstr>Loại bỏ biểu thức con chung</vt:lpstr>
      <vt:lpstr>Tính giá trị hằng</vt:lpstr>
      <vt:lpstr>Giảm chi phí tính toán</vt:lpstr>
      <vt:lpstr>Lan truyền biến gán</vt:lpstr>
      <vt:lpstr>Khối cơ bản (basic block)</vt:lpstr>
      <vt:lpstr>Giải thuật phân chia các khối cơ bản</vt:lpstr>
      <vt:lpstr>Giải thuật phân chia các khối cơ bản Ví dụ</vt:lpstr>
      <vt:lpstr>Mã ba địa chỉ của Quick Sort</vt:lpstr>
      <vt:lpstr>Đồ thị quan hệ các khối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 Ví dụ</vt:lpstr>
      <vt:lpstr>Tối ưu mã đích</vt:lpstr>
      <vt:lpstr>Tối ưu mã đíchPhép biến đổi đơn giản</vt:lpstr>
      <vt:lpstr>Tối ưu mã đíchPhép biến đổi đơn giản Ví dụ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Pham Dang Hai</cp:lastModifiedBy>
  <cp:revision>309</cp:revision>
  <dcterms:created xsi:type="dcterms:W3CDTF">2011-09-29T02:04:50Z</dcterms:created>
  <dcterms:modified xsi:type="dcterms:W3CDTF">2024-02-19T13:13:46Z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0x010100130FFAE7D4D9384F863C0EA8EC5E66A5</vt:lpwstr>
  </property>
  <property fmtid="{D5CDD505-2E9C-101B-9397-08002B2CF9AE}" pid="3" name="Order">
    <vt:r8>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_SourceUrl">
    <vt:lpwstr/>
  </property>
  <property fmtid="{D5CDD505-2E9C-101B-9397-08002B2CF9AE}" pid="11" name="_SharedFileIndex">
    <vt:lpwstr/>
  </property>
</Properties>
</file>