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28"/>
  </p:notesMasterIdLst>
  <p:handoutMasterIdLst>
    <p:handoutMasterId r:id="rId129"/>
  </p:handoutMasterIdLst>
  <p:sldIdLst>
    <p:sldId id="256" r:id="rId5"/>
    <p:sldId id="257" r:id="rId6"/>
    <p:sldId id="264" r:id="rId7"/>
    <p:sldId id="272" r:id="rId8"/>
    <p:sldId id="277" r:id="rId9"/>
    <p:sldId id="273" r:id="rId10"/>
    <p:sldId id="269" r:id="rId11"/>
    <p:sldId id="271" r:id="rId12"/>
    <p:sldId id="270" r:id="rId13"/>
    <p:sldId id="274" r:id="rId14"/>
    <p:sldId id="275" r:id="rId15"/>
    <p:sldId id="397" r:id="rId16"/>
    <p:sldId id="396" r:id="rId17"/>
    <p:sldId id="395" r:id="rId18"/>
    <p:sldId id="398" r:id="rId19"/>
    <p:sldId id="399" r:id="rId20"/>
    <p:sldId id="276" r:id="rId21"/>
    <p:sldId id="268" r:id="rId22"/>
    <p:sldId id="265" r:id="rId23"/>
    <p:sldId id="266" r:id="rId24"/>
    <p:sldId id="267" r:id="rId25"/>
    <p:sldId id="278" r:id="rId26"/>
    <p:sldId id="279" r:id="rId27"/>
    <p:sldId id="280" r:id="rId28"/>
    <p:sldId id="281" r:id="rId29"/>
    <p:sldId id="282" r:id="rId30"/>
    <p:sldId id="283" r:id="rId31"/>
    <p:sldId id="401" r:id="rId32"/>
    <p:sldId id="284" r:id="rId33"/>
    <p:sldId id="285" r:id="rId34"/>
    <p:sldId id="286" r:id="rId35"/>
    <p:sldId id="289" r:id="rId36"/>
    <p:sldId id="287" r:id="rId37"/>
    <p:sldId id="292" r:id="rId38"/>
    <p:sldId id="290" r:id="rId39"/>
    <p:sldId id="307" r:id="rId40"/>
    <p:sldId id="308" r:id="rId41"/>
    <p:sldId id="291" r:id="rId42"/>
    <p:sldId id="309" r:id="rId43"/>
    <p:sldId id="312" r:id="rId44"/>
    <p:sldId id="311" r:id="rId45"/>
    <p:sldId id="315" r:id="rId46"/>
    <p:sldId id="304" r:id="rId47"/>
    <p:sldId id="305" r:id="rId48"/>
    <p:sldId id="313" r:id="rId49"/>
    <p:sldId id="328" r:id="rId50"/>
    <p:sldId id="316" r:id="rId51"/>
    <p:sldId id="317" r:id="rId52"/>
    <p:sldId id="306" r:id="rId53"/>
    <p:sldId id="318" r:id="rId54"/>
    <p:sldId id="314" r:id="rId55"/>
    <p:sldId id="319" r:id="rId56"/>
    <p:sldId id="402" r:id="rId57"/>
    <p:sldId id="293" r:id="rId58"/>
    <p:sldId id="295" r:id="rId59"/>
    <p:sldId id="298" r:id="rId60"/>
    <p:sldId id="378" r:id="rId61"/>
    <p:sldId id="385" r:id="rId62"/>
    <p:sldId id="386" r:id="rId63"/>
    <p:sldId id="387" r:id="rId64"/>
    <p:sldId id="390" r:id="rId65"/>
    <p:sldId id="388" r:id="rId66"/>
    <p:sldId id="389" r:id="rId67"/>
    <p:sldId id="391" r:id="rId68"/>
    <p:sldId id="377" r:id="rId69"/>
    <p:sldId id="299" r:id="rId70"/>
    <p:sldId id="302" r:id="rId71"/>
    <p:sldId id="393" r:id="rId72"/>
    <p:sldId id="303" r:id="rId73"/>
    <p:sldId id="394" r:id="rId74"/>
    <p:sldId id="324" r:id="rId75"/>
    <p:sldId id="321" r:id="rId76"/>
    <p:sldId id="400" r:id="rId77"/>
    <p:sldId id="392" r:id="rId78"/>
    <p:sldId id="320" r:id="rId79"/>
    <p:sldId id="322" r:id="rId80"/>
    <p:sldId id="330" r:id="rId81"/>
    <p:sldId id="323" r:id="rId82"/>
    <p:sldId id="331" r:id="rId83"/>
    <p:sldId id="325" r:id="rId84"/>
    <p:sldId id="326" r:id="rId85"/>
    <p:sldId id="332" r:id="rId86"/>
    <p:sldId id="333" r:id="rId87"/>
    <p:sldId id="329" r:id="rId88"/>
    <p:sldId id="349" r:id="rId89"/>
    <p:sldId id="327" r:id="rId90"/>
    <p:sldId id="336" r:id="rId91"/>
    <p:sldId id="301" r:id="rId92"/>
    <p:sldId id="300" r:id="rId93"/>
    <p:sldId id="334" r:id="rId94"/>
    <p:sldId id="335" r:id="rId95"/>
    <p:sldId id="337" r:id="rId96"/>
    <p:sldId id="338" r:id="rId97"/>
    <p:sldId id="339" r:id="rId98"/>
    <p:sldId id="340" r:id="rId99"/>
    <p:sldId id="341" r:id="rId100"/>
    <p:sldId id="342" r:id="rId101"/>
    <p:sldId id="343" r:id="rId102"/>
    <p:sldId id="351" r:id="rId103"/>
    <p:sldId id="350" r:id="rId104"/>
    <p:sldId id="403" r:id="rId105"/>
    <p:sldId id="404" r:id="rId106"/>
    <p:sldId id="352" r:id="rId107"/>
    <p:sldId id="353" r:id="rId108"/>
    <p:sldId id="355" r:id="rId109"/>
    <p:sldId id="354" r:id="rId110"/>
    <p:sldId id="294" r:id="rId111"/>
    <p:sldId id="356" r:id="rId112"/>
    <p:sldId id="296" r:id="rId113"/>
    <p:sldId id="357" r:id="rId114"/>
    <p:sldId id="346" r:id="rId115"/>
    <p:sldId id="358" r:id="rId116"/>
    <p:sldId id="344" r:id="rId117"/>
    <p:sldId id="345" r:id="rId118"/>
    <p:sldId id="375" r:id="rId119"/>
    <p:sldId id="359" r:id="rId120"/>
    <p:sldId id="371" r:id="rId121"/>
    <p:sldId id="373" r:id="rId122"/>
    <p:sldId id="374" r:id="rId123"/>
    <p:sldId id="370" r:id="rId124"/>
    <p:sldId id="347" r:id="rId125"/>
    <p:sldId id="348" r:id="rId126"/>
    <p:sldId id="368" r:id="rId127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0617"/>
    <a:srgbClr val="B205FF"/>
    <a:srgbClr val="4717CF"/>
    <a:srgbClr val="FFFC5A"/>
    <a:srgbClr val="D0ACEE"/>
    <a:srgbClr val="6B7AEB"/>
    <a:srgbClr val="A2B8FE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221" y="5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2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microsoft.com/office/2016/11/relationships/changesInfo" Target="changesInfos/changesInfo1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handoutMaster" Target="handoutMasters/handoutMaster1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presProps" Target="presProps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viewProps" Target="view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theme" Target="theme/theme1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 Le Tuan Duy 20226079" userId="fb1b8b97-0bd8-44f7-90e7-dd82cc71393c" providerId="ADAL" clId="{C176011D-F26D-4527-90F0-64A6626676A6}"/>
    <pc:docChg chg="modSld">
      <pc:chgData name="Nguyen Le Tuan Duy 20226079" userId="fb1b8b97-0bd8-44f7-90e7-dd82cc71393c" providerId="ADAL" clId="{C176011D-F26D-4527-90F0-64A6626676A6}" dt="2026-05-17T04:59:07.240" v="2" actId="20577"/>
      <pc:docMkLst>
        <pc:docMk/>
      </pc:docMkLst>
      <pc:sldChg chg="modSp mod">
        <pc:chgData name="Nguyen Le Tuan Duy 20226079" userId="fb1b8b97-0bd8-44f7-90e7-dd82cc71393c" providerId="ADAL" clId="{C176011D-F26D-4527-90F0-64A6626676A6}" dt="2026-05-17T04:59:07.240" v="2" actId="20577"/>
        <pc:sldMkLst>
          <pc:docMk/>
          <pc:sldMk cId="0" sldId="256"/>
        </pc:sldMkLst>
        <pc:spChg chg="mod">
          <ac:chgData name="Nguyen Le Tuan Duy 20226079" userId="fb1b8b97-0bd8-44f7-90e7-dd82cc71393c" providerId="ADAL" clId="{C176011D-F26D-4527-90F0-64A6626676A6}" dt="2026-05-17T04:59:01.832" v="0" actId="20577"/>
          <ac:spMkLst>
            <pc:docMk/>
            <pc:sldMk cId="0" sldId="256"/>
            <ac:spMk id="5122" creationId="{00000000-0000-0000-0000-000000000000}"/>
          </ac:spMkLst>
        </pc:spChg>
        <pc:spChg chg="mod">
          <ac:chgData name="Nguyen Le Tuan Duy 20226079" userId="fb1b8b97-0bd8-44f7-90e7-dd82cc71393c" providerId="ADAL" clId="{C176011D-F26D-4527-90F0-64A6626676A6}" dt="2026-05-17T04:59:07.240" v="2" actId="20577"/>
          <ac:spMkLst>
            <pc:docMk/>
            <pc:sldMk cId="0" sldId="256"/>
            <ac:spMk id="5123" creationId="{00000000-0000-0000-0000-000000000000}"/>
          </ac:spMkLst>
        </pc:spChg>
      </pc:sldChg>
    </pc:docChg>
  </pc:docChgLst>
  <pc:docChgLst>
    <pc:chgData name="Nguyen Hong Minh 20236045" userId="abaf3eff-6e6b-48dc-ab14-06f86030b187" providerId="ADAL" clId="{D32FCF8D-653A-48B8-B5D0-1AA66BEC77CF}"/>
    <pc:docChg chg="modSld">
      <pc:chgData name="Nguyen Hong Minh 20236045" userId="abaf3eff-6e6b-48dc-ab14-06f86030b187" providerId="ADAL" clId="{D32FCF8D-653A-48B8-B5D0-1AA66BEC77CF}" dt="2026-05-05T04:21:12.800" v="80" actId="20577"/>
      <pc:docMkLst>
        <pc:docMk/>
      </pc:docMkLst>
      <pc:sldChg chg="modSp modAnim">
        <pc:chgData name="Nguyen Hong Minh 20236045" userId="abaf3eff-6e6b-48dc-ab14-06f86030b187" providerId="ADAL" clId="{D32FCF8D-653A-48B8-B5D0-1AA66BEC77CF}" dt="2026-05-04T03:52:56.040" v="0" actId="20578"/>
        <pc:sldMkLst>
          <pc:docMk/>
          <pc:sldMk cId="0" sldId="281"/>
        </pc:sldMkLst>
        <pc:spChg chg="mod">
          <ac:chgData name="Nguyen Hong Minh 20236045" userId="abaf3eff-6e6b-48dc-ab14-06f86030b187" providerId="ADAL" clId="{D32FCF8D-653A-48B8-B5D0-1AA66BEC77CF}" dt="2026-05-04T03:52:56.040" v="0" actId="20578"/>
          <ac:spMkLst>
            <pc:docMk/>
            <pc:sldMk cId="0" sldId="281"/>
            <ac:spMk id="1437699" creationId="{00000000-0000-0000-0000-000000000000}"/>
          </ac:spMkLst>
        </pc:spChg>
      </pc:sldChg>
      <pc:sldChg chg="modSp">
        <pc:chgData name="Nguyen Hong Minh 20236045" userId="abaf3eff-6e6b-48dc-ab14-06f86030b187" providerId="ADAL" clId="{D32FCF8D-653A-48B8-B5D0-1AA66BEC77CF}" dt="2026-05-05T04:21:12.800" v="80" actId="20577"/>
        <pc:sldMkLst>
          <pc:docMk/>
          <pc:sldMk cId="0" sldId="324"/>
        </pc:sldMkLst>
        <pc:spChg chg="mod">
          <ac:chgData name="Nguyen Hong Minh 20236045" userId="abaf3eff-6e6b-48dc-ab14-06f86030b187" providerId="ADAL" clId="{D32FCF8D-653A-48B8-B5D0-1AA66BEC77CF}" dt="2026-05-05T04:21:12.800" v="80" actId="20577"/>
          <ac:spMkLst>
            <pc:docMk/>
            <pc:sldMk cId="0" sldId="324"/>
            <ac:spMk id="148685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fld id="{A608B757-8AD2-4D37-8764-699D716BF8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9731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5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75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5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fld id="{80DA8FD3-83CB-4A31-8904-C64D439443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66537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C0420A9-E82B-4C22-A971-EE1941264A69}" type="slidenum">
              <a:rPr lang="en-US" altLang="en-US" sz="1300" b="0" smtClean="0"/>
              <a:pPr/>
              <a:t>1</a:t>
            </a:fld>
            <a:endParaRPr lang="en-US" altLang="en-US" sz="1300" b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541182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DA8FD3-83CB-4A31-8904-C64D439443B1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99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Bai tap </a:t>
            </a:r>
            <a:r>
              <a:rPr lang="en-US" b="1" err="1"/>
              <a:t>thuc</a:t>
            </a:r>
            <a:r>
              <a:rPr lang="en-US" b="1"/>
              <a:t> </a:t>
            </a:r>
            <a:r>
              <a:rPr lang="en-US" b="1" err="1"/>
              <a:t>hanh</a:t>
            </a:r>
            <a:r>
              <a:rPr lang="en-US" b="1"/>
              <a:t> 01</a:t>
            </a:r>
            <a:r>
              <a:rPr lang="en-US"/>
              <a:t>: </a:t>
            </a:r>
          </a:p>
          <a:p>
            <a:pPr marL="171450" indent="-171450">
              <a:buFontTx/>
              <a:buChar char="-"/>
            </a:pPr>
            <a:r>
              <a:rPr lang="en-US" baseline="0" err="1"/>
              <a:t>Cài</a:t>
            </a:r>
            <a:r>
              <a:rPr lang="en-US" baseline="0"/>
              <a:t> </a:t>
            </a:r>
            <a:r>
              <a:rPr lang="en-US" baseline="0" err="1"/>
              <a:t>đặt</a:t>
            </a:r>
            <a:r>
              <a:rPr lang="en-US" baseline="0"/>
              <a:t> Dev C++</a:t>
            </a:r>
          </a:p>
          <a:p>
            <a:pPr marL="171450" indent="-171450">
              <a:buFontTx/>
              <a:buChar char="-"/>
            </a:pPr>
            <a:r>
              <a:rPr lang="en-US" baseline="0" err="1"/>
              <a:t>Viết</a:t>
            </a:r>
            <a:r>
              <a:rPr lang="en-US" baseline="0"/>
              <a:t> </a:t>
            </a:r>
            <a:r>
              <a:rPr lang="en-US" baseline="0" err="1"/>
              <a:t>chương</a:t>
            </a:r>
            <a:r>
              <a:rPr lang="en-US" baseline="0"/>
              <a:t> </a:t>
            </a:r>
            <a:r>
              <a:rPr lang="en-US" baseline="0" err="1"/>
              <a:t>trình</a:t>
            </a:r>
            <a:r>
              <a:rPr lang="en-US" baseline="0"/>
              <a:t>: Hello world</a:t>
            </a:r>
          </a:p>
          <a:p>
            <a:r>
              <a:rPr lang="en-US" b="1" err="1"/>
              <a:t>Bài</a:t>
            </a:r>
            <a:r>
              <a:rPr lang="en-US" b="1"/>
              <a:t> </a:t>
            </a:r>
            <a:r>
              <a:rPr lang="en-US" b="1" err="1"/>
              <a:t>tập</a:t>
            </a:r>
            <a:r>
              <a:rPr lang="en-US" b="1"/>
              <a:t> </a:t>
            </a:r>
            <a:r>
              <a:rPr lang="en-US" b="1" err="1"/>
              <a:t>về</a:t>
            </a:r>
            <a:r>
              <a:rPr lang="en-US" b="1"/>
              <a:t> </a:t>
            </a:r>
            <a:r>
              <a:rPr lang="en-US" b="1" err="1"/>
              <a:t>nhà</a:t>
            </a:r>
            <a:endParaRPr lang="en-US" b="1"/>
          </a:p>
          <a:p>
            <a:r>
              <a:rPr lang="en-US"/>
              <a:t>+ </a:t>
            </a:r>
            <a:r>
              <a:rPr lang="en-US" err="1"/>
              <a:t>Viết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ch</a:t>
            </a:r>
            <a:r>
              <a:rPr lang="vi-VN"/>
              <a:t>ư</a:t>
            </a:r>
            <a:r>
              <a:rPr lang="en-US" err="1"/>
              <a:t>ơng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bằng</a:t>
            </a:r>
            <a:r>
              <a:rPr lang="en-US"/>
              <a:t> C. Ch</a:t>
            </a:r>
            <a:r>
              <a:rPr lang="vi-VN"/>
              <a:t>ư</a:t>
            </a:r>
            <a:r>
              <a:rPr lang="en-US" err="1"/>
              <a:t>ơng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nhận</a:t>
            </a:r>
            <a:r>
              <a:rPr lang="en-US"/>
              <a:t> 1, 2 </a:t>
            </a:r>
            <a:r>
              <a:rPr lang="en-US" err="1"/>
              <a:t>tham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dòng</a:t>
            </a:r>
            <a:r>
              <a:rPr lang="en-US"/>
              <a:t> </a:t>
            </a:r>
            <a:r>
              <a:rPr lang="en-US" err="1"/>
              <a:t>lệnh</a:t>
            </a:r>
            <a:endParaRPr lang="en-US"/>
          </a:p>
          <a:p>
            <a:pPr marL="171450" indent="-171450">
              <a:buFontTx/>
              <a:buChar char="-"/>
            </a:pPr>
            <a:r>
              <a:rPr lang="en-US" err="1"/>
              <a:t>Nếu</a:t>
            </a:r>
            <a:r>
              <a:rPr lang="en-US"/>
              <a:t> 0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tham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: Bao </a:t>
            </a:r>
            <a:r>
              <a:rPr lang="en-US" err="1"/>
              <a:t>lỗi</a:t>
            </a:r>
            <a:endParaRPr lang="en-US"/>
          </a:p>
          <a:p>
            <a:pPr marL="171450" indent="-171450">
              <a:buFontTx/>
              <a:buChar char="-"/>
            </a:pPr>
            <a:r>
              <a:rPr lang="en-US" err="1"/>
              <a:t>Nếu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1 </a:t>
            </a:r>
            <a:r>
              <a:rPr lang="en-US" err="1"/>
              <a:t>tham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Hiện</a:t>
            </a:r>
            <a:r>
              <a:rPr lang="en-US"/>
              <a:t> </a:t>
            </a:r>
            <a:r>
              <a:rPr lang="en-US" err="1"/>
              <a:t>thị</a:t>
            </a:r>
            <a:r>
              <a:rPr lang="en-US"/>
              <a:t> </a:t>
            </a:r>
            <a:r>
              <a:rPr lang="en-US" err="1"/>
              <a:t>xâu</a:t>
            </a:r>
            <a:r>
              <a:rPr lang="en-US"/>
              <a:t> Hello + </a:t>
            </a:r>
            <a:r>
              <a:rPr lang="en-US" err="1"/>
              <a:t>Tham</a:t>
            </a:r>
            <a:r>
              <a:rPr lang="en-US"/>
              <a:t> </a:t>
            </a:r>
            <a:r>
              <a:rPr lang="en-US" err="1"/>
              <a:t>số</a:t>
            </a:r>
            <a:endParaRPr lang="en-US"/>
          </a:p>
          <a:p>
            <a:pPr marL="171450" indent="-171450">
              <a:buFontTx/>
              <a:buChar char="-"/>
            </a:pPr>
            <a:r>
              <a:rPr lang="en-US" err="1"/>
              <a:t>Nếu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2 </a:t>
            </a:r>
            <a:r>
              <a:rPr lang="en-US" err="1"/>
              <a:t>tham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 </a:t>
            </a:r>
            <a:r>
              <a:rPr lang="en-US" err="1"/>
              <a:t>Hiện</a:t>
            </a:r>
            <a:r>
              <a:rPr lang="en-US"/>
              <a:t> </a:t>
            </a:r>
            <a:r>
              <a:rPr lang="en-US" err="1"/>
              <a:t>thị</a:t>
            </a:r>
            <a:r>
              <a:rPr lang="en-US"/>
              <a:t> </a:t>
            </a:r>
            <a:r>
              <a:rPr lang="en-US" err="1"/>
              <a:t>xâu</a:t>
            </a:r>
            <a:r>
              <a:rPr lang="en-US"/>
              <a:t> Hello + </a:t>
            </a:r>
            <a:r>
              <a:rPr lang="en-US" err="1"/>
              <a:t>tham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1 </a:t>
            </a:r>
            <a:r>
              <a:rPr lang="en-US" err="1"/>
              <a:t>vào</a:t>
            </a:r>
            <a:r>
              <a:rPr lang="en-US"/>
              <a:t> file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tên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tham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2</a:t>
            </a:r>
          </a:p>
          <a:p>
            <a:pPr marL="171450" indent="-171450">
              <a:buFontTx/>
              <a:buChar char="-"/>
            </a:pPr>
            <a:r>
              <a:rPr lang="en-US" err="1"/>
              <a:t>Nếu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nhiều</a:t>
            </a:r>
            <a:r>
              <a:rPr lang="en-US"/>
              <a:t> h</a:t>
            </a:r>
            <a:r>
              <a:rPr lang="vi-VN"/>
              <a:t>ơ</a:t>
            </a:r>
            <a:r>
              <a:rPr lang="en-US"/>
              <a:t>n 3 </a:t>
            </a:r>
            <a:r>
              <a:rPr lang="en-US" err="1"/>
              <a:t>tham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. </a:t>
            </a:r>
            <a:r>
              <a:rPr lang="en-US" err="1"/>
              <a:t>Thông</a:t>
            </a:r>
            <a:r>
              <a:rPr lang="en-US"/>
              <a:t> </a:t>
            </a:r>
            <a:r>
              <a:rPr lang="en-US" err="1"/>
              <a:t>báo</a:t>
            </a:r>
            <a:r>
              <a:rPr lang="en-US"/>
              <a:t> </a:t>
            </a:r>
            <a:r>
              <a:rPr lang="en-US" err="1"/>
              <a:t>lỗi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DA8FD3-83CB-4A31-8904-C64D439443B1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7357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DA8FD3-83CB-4A31-8904-C64D439443B1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4103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3602CF-5B87-4593-8FCA-27E611203E61}" type="slidenum">
              <a:rPr lang="en-US" altLang="en-US" sz="1300" b="0" smtClean="0"/>
              <a:pPr/>
              <a:t>32</a:t>
            </a:fld>
            <a:endParaRPr lang="en-US" altLang="en-US" sz="1300" b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9970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DD85711-C6BD-4566-9581-9F3400FDFFDF}" type="slidenum">
              <a:rPr lang="en-US" altLang="en-US" sz="1300" b="0" smtClean="0"/>
              <a:pPr/>
              <a:t>37</a:t>
            </a:fld>
            <a:endParaRPr lang="en-US" altLang="en-US" sz="1300" b="0"/>
          </a:p>
        </p:txBody>
      </p:sp>
    </p:spTree>
    <p:extLst>
      <p:ext uri="{BB962C8B-B14F-4D97-AF65-F5344CB8AC3E}">
        <p14:creationId xmlns:p14="http://schemas.microsoft.com/office/powerpoint/2010/main" val="13317812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DA8FD3-83CB-4A31-8904-C64D439443B1}" type="slidenum">
              <a:rPr lang="en-US" altLang="en-US" smtClean="0"/>
              <a:pPr>
                <a:defRPr/>
              </a:pPr>
              <a:t>53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57725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DA8FD3-83CB-4A31-8904-C64D439443B1}" type="slidenum">
              <a:rPr lang="en-US" altLang="en-US" smtClean="0"/>
              <a:pPr>
                <a:defRPr/>
              </a:pPr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4233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DA8FD3-83CB-4A31-8904-C64D439443B1}" type="slidenum">
              <a:rPr lang="en-US" altLang="en-US" smtClean="0"/>
              <a:pPr>
                <a:defRPr/>
              </a:pPr>
              <a:t>69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1737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DA8FD3-83CB-4A31-8904-C64D439443B1}" type="slidenum">
              <a:rPr lang="en-US" altLang="en-US" smtClean="0"/>
              <a:pPr>
                <a:defRPr/>
              </a:pPr>
              <a:t>71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9253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DA8FD3-83CB-4A31-8904-C64D439443B1}" type="slidenum">
              <a:rPr lang="en-US" altLang="en-US" smtClean="0"/>
              <a:pPr>
                <a:defRPr/>
              </a:pPr>
              <a:t>73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6667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DA8FD3-83CB-4A31-8904-C64D439443B1}" type="slidenum">
              <a:rPr lang="en-US" altLang="en-US" smtClean="0"/>
              <a:pPr>
                <a:defRPr/>
              </a:pPr>
              <a:t>89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2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DA8FD3-83CB-4A31-8904-C64D439443B1}" type="slidenum">
              <a:rPr lang="en-US" altLang="en-US" smtClean="0"/>
              <a:pPr>
                <a:defRPr/>
              </a:pPr>
              <a:t>98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0708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DA8FD3-83CB-4A31-8904-C64D439443B1}" type="slidenum">
              <a:rPr lang="en-US" altLang="en-US" smtClean="0"/>
              <a:pPr>
                <a:defRPr/>
              </a:pPr>
              <a:t>101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38225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DA8FD3-83CB-4A31-8904-C64D439443B1}" type="slidenum">
              <a:rPr lang="en-US" altLang="en-US" smtClean="0"/>
              <a:pPr>
                <a:defRPr/>
              </a:pPr>
              <a:t>102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48954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578B4C8-A355-49AD-8477-660905FF8DD1}" type="slidenum">
              <a:rPr lang="en-US" altLang="en-US" sz="1300" b="0" smtClean="0"/>
              <a:pPr/>
              <a:t>107</a:t>
            </a:fld>
            <a:endParaRPr lang="en-US" altLang="en-US" sz="1300" b="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444844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91440" tIns="45720" bIns="45720"/>
          <a:lstStyle>
            <a:lvl1pPr>
              <a:defRPr sz="54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endParaRPr lang="fr-FR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304800" y="6248400"/>
            <a:ext cx="2133600" cy="4762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/>
            </a:lvl1pPr>
          </a:lstStyle>
          <a:p>
            <a:pPr>
              <a:defRPr/>
            </a:pPr>
            <a:fld id="{E0D9413F-FF8D-4403-A79C-C7CBE66DAD26}" type="datetime1">
              <a:rPr lang="en-US" altLang="en-US"/>
              <a:pPr>
                <a:defRPr/>
              </a:pPr>
              <a:t>5/17/2026</a:t>
            </a:fld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377189-F360-4503-86ED-D1E9715ECA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4939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CB6D57-55BE-4FBC-8F95-B7679F4F04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5763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4D637-8474-4B89-8932-180460C3DA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8017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700" y="1066800"/>
            <a:ext cx="4286250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5350" y="1066800"/>
            <a:ext cx="4286250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AE63F1-9E07-4E2F-B5E6-224BE97A07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7998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97FB02-BD4A-4324-97D7-4D8CD782C4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235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59D6F9-0560-4DE9-80A4-410358724E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9400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A33E9-0914-4FCB-9FDB-DF6597C585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4904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166B6E-3743-4442-B465-FBE4CE1E51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4161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5B6496-8CAD-4172-BC78-217807C1D67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6285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0CEA0-ED3A-4289-AA75-41D63C0D13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1696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90513"/>
            <a:ext cx="2286000" cy="61102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290513"/>
            <a:ext cx="6705600" cy="61102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A1301B-BF68-4237-AA9A-AC0752C0DA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0684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90513"/>
            <a:ext cx="9144000" cy="4714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66700" y="1066800"/>
            <a:ext cx="4286250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5350" y="1066800"/>
            <a:ext cx="4286250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B5B1D3-B1B3-4E85-A710-DC8E0E3D96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8329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90513"/>
            <a:ext cx="9144000" cy="471487"/>
          </a:xfrm>
          <a:prstGeom prst="rect">
            <a:avLst/>
          </a:prstGeom>
          <a:solidFill>
            <a:srgbClr val="27007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0" tIns="0" rIns="91440" bIns="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fr-FR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66700" y="1066800"/>
            <a:ext cx="87249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553200"/>
            <a:ext cx="1905000" cy="220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/>
            </a:lvl1pPr>
          </a:lstStyle>
          <a:p>
            <a:pPr>
              <a:defRPr/>
            </a:pPr>
            <a:fld id="{106342C6-4B57-4BC9-9B86-4379C4A4D6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Rectangle 15"/>
          <p:cNvSpPr>
            <a:spLocks noChangeArrowheads="1"/>
          </p:cNvSpPr>
          <p:nvPr/>
        </p:nvSpPr>
        <p:spPr bwMode="auto">
          <a:xfrm>
            <a:off x="228600" y="6553200"/>
            <a:ext cx="1752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65A11BE8-DB2D-499B-B818-603BCBE1EE61}" type="datetime1">
              <a:rPr lang="en-US" altLang="en-US" sz="1400" b="0" smtClean="0"/>
              <a:pPr eaLnBrk="1" hangingPunct="1">
                <a:defRPr/>
              </a:pPr>
              <a:t>5/17/2026</a:t>
            </a:fld>
            <a:endParaRPr lang="en-US" altLang="en-US" sz="1400" b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rgbClr val="27007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rgbClr val="270076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rgbClr val="270076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rgbClr val="270076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rgbClr val="27007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3.bp.blogspot.com/_vYkPqmFmF8Q/TC3AJaX2jXI/AAAAAAAAABU/Gn5w0c4oR9s/s1600/pauls_journey.1201056060.mainframe-digital-computer.jpg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Algorithms_+_Data_Structures_=_Programs" TargetMode="Externa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371600"/>
            <a:ext cx="8382000" cy="2590800"/>
          </a:xfrm>
          <a:noFill/>
        </p:spPr>
        <p:txBody>
          <a:bodyPr/>
          <a:lstStyle/>
          <a:p>
            <a:pPr algn="ctr" eaLnBrk="1" hangingPunct="1"/>
            <a:endParaRPr lang="fr-FR" altLang="en-US" sz="60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400800" cy="1676400"/>
          </a:xfrm>
        </p:spPr>
        <p:txBody>
          <a:bodyPr/>
          <a:lstStyle/>
          <a:p>
            <a:pPr eaLnBrk="1" hangingPunct="1"/>
            <a:endParaRPr lang="en-US" altLang="en-US" dirty="0">
              <a:solidFill>
                <a:srgbClr val="00339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C8C192-7874-4BA6-9C67-3A80FCE8988A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377298" name="Rectangle 18"/>
          <p:cNvSpPr>
            <a:spLocks noChangeArrowheads="1"/>
          </p:cNvSpPr>
          <p:nvPr/>
        </p:nvSpPr>
        <p:spPr bwMode="auto">
          <a:xfrm>
            <a:off x="0" y="1600200"/>
            <a:ext cx="9144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7172" name="Rectangle 16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00100"/>
          </a:xfrm>
        </p:spPr>
        <p:txBody>
          <a:bodyPr/>
          <a:lstStyle/>
          <a:p>
            <a:pPr eaLnBrk="1" hangingPunct="1"/>
            <a:r>
              <a:rPr lang="en-US" altLang="en-US" sz="4000"/>
              <a:t>Chương 1: Những khái niệm cơ bản</a:t>
            </a:r>
          </a:p>
        </p:txBody>
      </p:sp>
      <p:sp>
        <p:nvSpPr>
          <p:cNvPr id="7173" name="Rectangle 17"/>
          <p:cNvSpPr>
            <a:spLocks noGrp="1" noChangeArrowheads="1"/>
          </p:cNvSpPr>
          <p:nvPr>
            <p:ph type="body" idx="1"/>
          </p:nvPr>
        </p:nvSpPr>
        <p:spPr>
          <a:xfrm>
            <a:off x="266700" y="1608138"/>
            <a:ext cx="8724900" cy="4792662"/>
          </a:xfrm>
        </p:spPr>
        <p:txBody>
          <a:bodyPr/>
          <a:lstStyle/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Ngôn ngữ lập trình cấp cao và trình dịch</a:t>
            </a: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Đặc trưng của ngôn ngữ lập trình cấp cao</a:t>
            </a: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/>
              <a:t>Các giai đoạn chính của chương trình dịch</a:t>
            </a:r>
            <a:endParaRPr lang="en-US" altLang="en-US">
              <a:solidFill>
                <a:srgbClr val="1E0068"/>
              </a:solidFill>
            </a:endParaRP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Khái niệm ngôn ngữ</a:t>
            </a: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Văn phạm phi ngữ cảnh</a:t>
            </a: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Giới thiệu ngôn ngữ PL/0 mở rộng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7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729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AF28F6-ACCB-461C-BB85-7AD0DBA06EDE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pic>
        <p:nvPicPr>
          <p:cNvPr id="8195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209800"/>
            <a:ext cx="2286000" cy="171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Sự cần thiết của ngôn ngữ lập trình bậc cao</a:t>
            </a:r>
          </a:p>
        </p:txBody>
      </p:sp>
      <p:sp>
        <p:nvSpPr>
          <p:cNvPr id="141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76600" y="990600"/>
            <a:ext cx="5715000" cy="2438400"/>
          </a:xfrm>
        </p:spPr>
        <p:txBody>
          <a:bodyPr/>
          <a:lstStyle/>
          <a:p>
            <a:pPr marL="290513" indent="-290513" eaLnBrk="1" hangingPunct="1">
              <a:tabLst>
                <a:tab pos="682625" algn="l"/>
              </a:tabLst>
            </a:pPr>
            <a:r>
              <a:rPr lang="en-US" altLang="en-US"/>
              <a:t>Nhiều loại máy tính</a:t>
            </a:r>
          </a:p>
          <a:p>
            <a:pPr marL="739775" lvl="1" indent="-274638" eaLnBrk="1" hangingPunct="1">
              <a:tabLst>
                <a:tab pos="682625" algn="l"/>
              </a:tabLst>
            </a:pPr>
            <a:r>
              <a:rPr lang="en-US" altLang="en-US"/>
              <a:t>Mỗi loại nhiều kiểu</a:t>
            </a:r>
          </a:p>
          <a:p>
            <a:pPr marL="1146175" lvl="2" indent="-231775" eaLnBrk="1" hangingPunct="1">
              <a:tabLst>
                <a:tab pos="682625" algn="l"/>
              </a:tabLst>
            </a:pPr>
            <a:r>
              <a:rPr lang="en-US" altLang="en-US"/>
              <a:t>Mỗi kiểu có ngôn ngữ máy riêng</a:t>
            </a:r>
          </a:p>
          <a:p>
            <a:pPr lvl="3" eaLnBrk="1" hangingPunct="1">
              <a:tabLst>
                <a:tab pos="682625" algn="l"/>
              </a:tabLst>
            </a:pPr>
            <a:r>
              <a:rPr lang="en-US" altLang="en-US"/>
              <a:t>Ngôn ngữ máy là dãy nhị phân</a:t>
            </a:r>
          </a:p>
        </p:txBody>
      </p:sp>
      <p:sp>
        <p:nvSpPr>
          <p:cNvPr id="8198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Ngôn ngữ lập trình cấp cao và trình dịch</a:t>
            </a:r>
          </a:p>
        </p:txBody>
      </p:sp>
      <p:pic>
        <p:nvPicPr>
          <p:cNvPr id="8199" name="Picture 5" descr="Classification Based in size:-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9000"/>
            <a:ext cx="2514600" cy="167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Picture 6" descr="supercomputer-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800600"/>
            <a:ext cx="2362200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990600"/>
            <a:ext cx="2514600" cy="2252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1418249" name="Rectangle 9"/>
          <p:cNvSpPr>
            <a:spLocks noChangeArrowheads="1"/>
          </p:cNvSpPr>
          <p:nvPr/>
        </p:nvSpPr>
        <p:spPr bwMode="auto">
          <a:xfrm>
            <a:off x="4724400" y="2895600"/>
            <a:ext cx="41910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914400" indent="-347663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573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10000"/>
              </a:spcBef>
            </a:pPr>
            <a:r>
              <a:rPr lang="en-US" altLang="en-US" sz="2800" b="0"/>
              <a:t>Dùng ngôn ngữ máy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400" b="0"/>
              <a:t>Không phải dịch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400" b="0"/>
              <a:t>Phức tạp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en-US" sz="2400" b="0"/>
              <a:t>Không khả chuyển</a:t>
            </a:r>
          </a:p>
        </p:txBody>
      </p:sp>
      <p:sp>
        <p:nvSpPr>
          <p:cNvPr id="1418250" name="Rectangle 10"/>
          <p:cNvSpPr>
            <a:spLocks noChangeArrowheads="1"/>
          </p:cNvSpPr>
          <p:nvPr/>
        </p:nvSpPr>
        <p:spPr bwMode="auto">
          <a:xfrm>
            <a:off x="3124200" y="4572000"/>
            <a:ext cx="49530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914400" indent="-347663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573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0"/>
              <a:t>Cần ngôn ngữ </a:t>
            </a:r>
          </a:p>
          <a:p>
            <a:pPr lvl="1" eaLnBrk="1" hangingPunct="1"/>
            <a:r>
              <a:rPr lang="en-US" altLang="en-US" b="0"/>
              <a:t>Độc lập với máy</a:t>
            </a:r>
          </a:p>
          <a:p>
            <a:pPr lvl="1" eaLnBrk="1" hangingPunct="1"/>
            <a:r>
              <a:rPr lang="en-US" altLang="en-US" b="0"/>
              <a:t>Gần với ngữ tự nhiên</a:t>
            </a:r>
          </a:p>
          <a:p>
            <a:pPr eaLnBrk="1" hangingPunct="1"/>
            <a:r>
              <a:rPr lang="en-US" altLang="en-US"/>
              <a:t>Ví dụ</a:t>
            </a:r>
            <a:r>
              <a:rPr lang="en-US" altLang="en-US" b="0"/>
              <a:t>: C, Pascal, basic..</a:t>
            </a:r>
          </a:p>
        </p:txBody>
      </p:sp>
      <p:grpSp>
        <p:nvGrpSpPr>
          <p:cNvPr id="1418253" name="Group 13"/>
          <p:cNvGrpSpPr>
            <a:grpSpLocks/>
          </p:cNvGrpSpPr>
          <p:nvPr/>
        </p:nvGrpSpPr>
        <p:grpSpPr bwMode="auto">
          <a:xfrm>
            <a:off x="7772400" y="4648200"/>
            <a:ext cx="1295400" cy="2057400"/>
            <a:chOff x="4896" y="2928"/>
            <a:chExt cx="816" cy="1296"/>
          </a:xfrm>
        </p:grpSpPr>
        <p:sp>
          <p:nvSpPr>
            <p:cNvPr id="8205" name="AutoShape 11"/>
            <p:cNvSpPr>
              <a:spLocks/>
            </p:cNvSpPr>
            <p:nvPr/>
          </p:nvSpPr>
          <p:spPr bwMode="auto">
            <a:xfrm>
              <a:off x="4896" y="2928"/>
              <a:ext cx="192" cy="1296"/>
            </a:xfrm>
            <a:prstGeom prst="rightBrace">
              <a:avLst>
                <a:gd name="adj1" fmla="val 5625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8206" name="Text Box 12"/>
            <p:cNvSpPr txBox="1">
              <a:spLocks noChangeArrowheads="1"/>
            </p:cNvSpPr>
            <p:nvPr/>
          </p:nvSpPr>
          <p:spPr bwMode="auto">
            <a:xfrm rot="10800000">
              <a:off x="5058" y="3071"/>
              <a:ext cx="654" cy="10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Ngôn ngữ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 bậc cao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1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41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41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41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18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18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18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18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18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18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8243" grpId="0" build="p"/>
      <p:bldP spid="1418249" grpId="0"/>
      <p:bldP spid="14182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0A90F3-1399-4813-A748-46B7221167F7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Ngôn</a:t>
            </a:r>
            <a:r>
              <a:rPr lang="en-US" altLang="en-US" dirty="0"/>
              <a:t> </a:t>
            </a:r>
            <a:r>
              <a:rPr lang="en-US" altLang="en-US" dirty="0" err="1"/>
              <a:t>ngữ</a:t>
            </a:r>
            <a:r>
              <a:rPr lang="en-US" altLang="en-US" dirty="0"/>
              <a:t> </a:t>
            </a:r>
            <a:r>
              <a:rPr lang="en-US" altLang="en-US" dirty="0" err="1"/>
              <a:t>lập</a:t>
            </a:r>
            <a:r>
              <a:rPr lang="en-US" altLang="en-US" dirty="0"/>
              <a:t> </a:t>
            </a:r>
            <a:r>
              <a:rPr lang="en-US" altLang="en-US" dirty="0" err="1"/>
              <a:t>trình</a:t>
            </a:r>
            <a:r>
              <a:rPr lang="en-US" altLang="en-US" dirty="0"/>
              <a:t> </a:t>
            </a:r>
            <a:r>
              <a:rPr lang="en-US" altLang="en-US" dirty="0" err="1"/>
              <a:t>cấp</a:t>
            </a:r>
            <a:r>
              <a:rPr lang="en-US" altLang="en-US" dirty="0"/>
              <a:t> </a:t>
            </a:r>
            <a:r>
              <a:rPr lang="en-US" altLang="en-US" dirty="0" err="1"/>
              <a:t>cao</a:t>
            </a:r>
            <a:r>
              <a:rPr lang="en-US" altLang="en-US" dirty="0"/>
              <a:t> (NNLTCC)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724900" cy="5562600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en-US" altLang="en-US" b="1"/>
              <a:t>Chương trình viết bằng NNLTCC</a:t>
            </a:r>
          </a:p>
          <a:p>
            <a:pPr algn="just" eaLnBrk="1" hangingPunct="1">
              <a:lnSpc>
                <a:spcPct val="110000"/>
              </a:lnSpc>
            </a:pPr>
            <a:r>
              <a:rPr lang="en-US" altLang="en-US"/>
              <a:t>Độc lập với máy tính</a:t>
            </a:r>
          </a:p>
          <a:p>
            <a:pPr algn="just" eaLnBrk="1" hangingPunct="1">
              <a:lnSpc>
                <a:spcPct val="110000"/>
              </a:lnSpc>
            </a:pPr>
            <a:r>
              <a:rPr lang="en-US" altLang="en-US"/>
              <a:t>Gần với ngôn ngữ tự nhiên</a:t>
            </a:r>
          </a:p>
          <a:p>
            <a:pPr algn="just" eaLnBrk="1" hangingPunct="1">
              <a:lnSpc>
                <a:spcPct val="110000"/>
              </a:lnSpc>
            </a:pPr>
            <a:r>
              <a:rPr lang="en-US" altLang="en-US"/>
              <a:t>Chương trình dễ đọc, viết và bảo trì</a:t>
            </a:r>
          </a:p>
          <a:p>
            <a:pPr algn="just" eaLnBrk="1" hangingPunct="1">
              <a:lnSpc>
                <a:spcPct val="110000"/>
              </a:lnSpc>
            </a:pPr>
            <a:r>
              <a:rPr lang="en-US" altLang="en-US"/>
              <a:t>Muốn thực hiện phải chuyển sang ngôn ngữ</a:t>
            </a:r>
          </a:p>
          <a:p>
            <a:pPr marL="914400" lvl="1" indent="-347663" eaLnBrk="1" hangingPunct="1">
              <a:lnSpc>
                <a:spcPct val="110000"/>
              </a:lnSpc>
            </a:pPr>
            <a:r>
              <a:rPr lang="en-US" altLang="en-US"/>
              <a:t>Máy hiểu được (</a:t>
            </a:r>
            <a:r>
              <a:rPr lang="en-US" altLang="en-US" i="1"/>
              <a:t>ngôn ngữ máy</a:t>
            </a:r>
            <a:r>
              <a:rPr lang="en-US" altLang="en-US"/>
              <a:t>)</a:t>
            </a:r>
          </a:p>
          <a:p>
            <a:pPr marL="914400" lvl="1" indent="-347663" eaLnBrk="1" hangingPunct="1">
              <a:lnSpc>
                <a:spcPct val="110000"/>
              </a:lnSpc>
            </a:pPr>
            <a:r>
              <a:rPr lang="en-US" altLang="en-US"/>
              <a:t>Ngôn ngữ trung gian mà máy hiểu được</a:t>
            </a:r>
          </a:p>
          <a:p>
            <a:pPr marL="914400" lvl="1" indent="-347663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Được chuyển đổi bởi </a:t>
            </a:r>
            <a:r>
              <a:rPr lang="en-US" altLang="en-US" b="1" i="1">
                <a:solidFill>
                  <a:srgbClr val="F85124"/>
                </a:solidFill>
              </a:rPr>
              <a:t>Chương trình dịch</a:t>
            </a:r>
            <a:endParaRPr lang="en-US" altLang="en-US" sz="3200" b="1" i="1">
              <a:solidFill>
                <a:srgbClr val="F85124"/>
              </a:solidFill>
            </a:endParaRPr>
          </a:p>
          <a:p>
            <a:pPr algn="just" eaLnBrk="1" hangingPunct="1">
              <a:lnSpc>
                <a:spcPct val="110000"/>
              </a:lnSpc>
            </a:pPr>
            <a:r>
              <a:rPr lang="en-US" altLang="en-US"/>
              <a:t> Chương trình thực hiện chậm hơn</a:t>
            </a:r>
          </a:p>
        </p:txBody>
      </p:sp>
      <p:sp>
        <p:nvSpPr>
          <p:cNvPr id="9221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Ngôn ngữ lập trình cấp cao và trình dịch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191B08-E90E-4A5F-BA03-0A711C085FF7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Chương trình biên dịch (compiler)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724900" cy="24384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dirty="0" err="1"/>
              <a:t>Chương</a:t>
            </a:r>
            <a:r>
              <a:rPr lang="en-US" altLang="en-US" dirty="0"/>
              <a:t> </a:t>
            </a:r>
            <a:r>
              <a:rPr lang="en-US" altLang="en-US" dirty="0" err="1"/>
              <a:t>trình</a:t>
            </a:r>
            <a:r>
              <a:rPr lang="en-US" altLang="en-US" dirty="0"/>
              <a:t> </a:t>
            </a:r>
            <a:r>
              <a:rPr lang="en-US" altLang="en-US" dirty="0" err="1"/>
              <a:t>dịch</a:t>
            </a:r>
            <a:r>
              <a:rPr lang="en-US" altLang="en-US" dirty="0"/>
              <a:t> </a:t>
            </a:r>
            <a:r>
              <a:rPr lang="en-US" altLang="en-US" dirty="0" err="1"/>
              <a:t>làm</a:t>
            </a:r>
            <a:r>
              <a:rPr lang="en-US" altLang="en-US" dirty="0"/>
              <a:t> </a:t>
            </a:r>
            <a:r>
              <a:rPr lang="en-US" altLang="en-US" dirty="0" err="1"/>
              <a:t>nhiệm</a:t>
            </a:r>
            <a:r>
              <a:rPr lang="en-US" altLang="en-US" dirty="0"/>
              <a:t> </a:t>
            </a:r>
            <a:r>
              <a:rPr lang="en-US" altLang="en-US" dirty="0" err="1"/>
              <a:t>vụ</a:t>
            </a:r>
            <a:r>
              <a:rPr lang="en-US" altLang="en-US" dirty="0"/>
              <a:t> </a:t>
            </a:r>
            <a:r>
              <a:rPr lang="en-US" altLang="en-US" dirty="0" err="1"/>
              <a:t>dịch</a:t>
            </a:r>
            <a:r>
              <a:rPr lang="en-US" altLang="en-US" dirty="0"/>
              <a:t> </a:t>
            </a:r>
            <a:r>
              <a:rPr lang="en-US" altLang="en-US" dirty="0" err="1"/>
              <a:t>chương</a:t>
            </a:r>
            <a:r>
              <a:rPr lang="en-US" altLang="en-US" dirty="0"/>
              <a:t> </a:t>
            </a:r>
            <a:r>
              <a:rPr lang="en-US" altLang="en-US" dirty="0" err="1"/>
              <a:t>trình</a:t>
            </a:r>
            <a:r>
              <a:rPr lang="en-US" altLang="en-US" dirty="0"/>
              <a:t> </a:t>
            </a:r>
            <a:r>
              <a:rPr lang="en-US" altLang="en-US" dirty="0" err="1"/>
              <a:t>nguồn</a:t>
            </a:r>
            <a:r>
              <a:rPr lang="en-US" altLang="en-US" dirty="0"/>
              <a:t> (</a:t>
            </a:r>
            <a:r>
              <a:rPr lang="en-US" altLang="en-US" i="1" dirty="0" err="1"/>
              <a:t>thường</a:t>
            </a:r>
            <a:r>
              <a:rPr lang="en-US" altLang="en-US" i="1" dirty="0"/>
              <a:t> </a:t>
            </a:r>
            <a:r>
              <a:rPr lang="en-US" altLang="en-US" i="1" dirty="0" err="1"/>
              <a:t>được</a:t>
            </a:r>
            <a:r>
              <a:rPr lang="en-US" altLang="en-US" i="1" dirty="0"/>
              <a:t> </a:t>
            </a:r>
            <a:r>
              <a:rPr lang="en-US" altLang="en-US" i="1" dirty="0" err="1"/>
              <a:t>viết</a:t>
            </a:r>
            <a:r>
              <a:rPr lang="en-US" altLang="en-US" i="1" dirty="0"/>
              <a:t> </a:t>
            </a:r>
            <a:r>
              <a:rPr lang="en-US" altLang="en-US" i="1" dirty="0" err="1"/>
              <a:t>bằng</a:t>
            </a:r>
            <a:r>
              <a:rPr lang="en-US" altLang="en-US" i="1" dirty="0"/>
              <a:t> </a:t>
            </a:r>
            <a:r>
              <a:rPr lang="en-US" altLang="en-US" i="1" dirty="0" err="1"/>
              <a:t>ngôn</a:t>
            </a:r>
            <a:r>
              <a:rPr lang="en-US" altLang="en-US" i="1" dirty="0"/>
              <a:t> </a:t>
            </a:r>
            <a:r>
              <a:rPr lang="en-US" altLang="en-US" i="1" dirty="0" err="1"/>
              <a:t>ngữ</a:t>
            </a:r>
            <a:r>
              <a:rPr lang="en-US" altLang="en-US" i="1" dirty="0"/>
              <a:t> </a:t>
            </a:r>
            <a:r>
              <a:rPr lang="en-US" altLang="en-US" i="1" dirty="0" err="1"/>
              <a:t>lập</a:t>
            </a:r>
            <a:r>
              <a:rPr lang="en-US" altLang="en-US" i="1" dirty="0"/>
              <a:t> </a:t>
            </a:r>
            <a:r>
              <a:rPr lang="en-US" altLang="en-US" i="1" dirty="0" err="1"/>
              <a:t>trình</a:t>
            </a:r>
            <a:r>
              <a:rPr lang="en-US" altLang="en-US" i="1" dirty="0"/>
              <a:t> </a:t>
            </a:r>
            <a:r>
              <a:rPr lang="en-US" altLang="en-US" i="1" dirty="0" err="1"/>
              <a:t>bậc</a:t>
            </a:r>
            <a:r>
              <a:rPr lang="en-US" altLang="en-US" i="1" dirty="0"/>
              <a:t> </a:t>
            </a:r>
            <a:r>
              <a:rPr lang="en-US" altLang="en-US" i="1" dirty="0" err="1"/>
              <a:t>cao</a:t>
            </a:r>
            <a:r>
              <a:rPr lang="en-US" altLang="en-US" dirty="0"/>
              <a:t>) sang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chương</a:t>
            </a:r>
            <a:r>
              <a:rPr lang="en-US" altLang="en-US" dirty="0"/>
              <a:t> </a:t>
            </a:r>
            <a:r>
              <a:rPr lang="en-US" altLang="en-US" dirty="0" err="1"/>
              <a:t>trình</a:t>
            </a:r>
            <a:r>
              <a:rPr lang="en-US" altLang="en-US" dirty="0"/>
              <a:t> </a:t>
            </a:r>
            <a:r>
              <a:rPr lang="en-US" altLang="en-US" dirty="0" err="1"/>
              <a:t>đối</a:t>
            </a:r>
            <a:r>
              <a:rPr lang="en-US" altLang="en-US" dirty="0"/>
              <a:t> </a:t>
            </a:r>
            <a:r>
              <a:rPr lang="en-US" altLang="en-US" dirty="0" err="1"/>
              <a:t>tượng</a:t>
            </a:r>
            <a:r>
              <a:rPr lang="en-US" altLang="en-US" dirty="0"/>
              <a:t> (</a:t>
            </a:r>
            <a:r>
              <a:rPr lang="en-US" altLang="en-US" i="1" dirty="0" err="1"/>
              <a:t>chương</a:t>
            </a:r>
            <a:r>
              <a:rPr lang="en-US" altLang="en-US" i="1" dirty="0"/>
              <a:t> </a:t>
            </a:r>
            <a:r>
              <a:rPr lang="en-US" altLang="en-US" i="1" dirty="0" err="1"/>
              <a:t>trình</a:t>
            </a:r>
            <a:r>
              <a:rPr lang="en-US" altLang="en-US" i="1" dirty="0"/>
              <a:t> </a:t>
            </a:r>
            <a:r>
              <a:rPr lang="en-US" altLang="en-US" i="1" dirty="0" err="1"/>
              <a:t>đích</a:t>
            </a:r>
            <a:r>
              <a:rPr lang="en-US" altLang="en-US" dirty="0"/>
              <a:t>)</a:t>
            </a:r>
          </a:p>
        </p:txBody>
      </p:sp>
      <p:sp>
        <p:nvSpPr>
          <p:cNvPr id="10245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Ngôn ngữ lập trình cấp cao và trình dịch</a:t>
            </a:r>
          </a:p>
        </p:txBody>
      </p:sp>
      <p:grpSp>
        <p:nvGrpSpPr>
          <p:cNvPr id="10246" name="Group 5"/>
          <p:cNvGrpSpPr>
            <a:grpSpLocks/>
          </p:cNvGrpSpPr>
          <p:nvPr/>
        </p:nvGrpSpPr>
        <p:grpSpPr bwMode="auto">
          <a:xfrm>
            <a:off x="914400" y="3352800"/>
            <a:ext cx="7294563" cy="1746250"/>
            <a:chOff x="912" y="3082"/>
            <a:chExt cx="4595" cy="1100"/>
          </a:xfrm>
        </p:grpSpPr>
        <p:sp>
          <p:nvSpPr>
            <p:cNvPr id="10248" name="Text Box 6"/>
            <p:cNvSpPr txBox="1">
              <a:spLocks noChangeArrowheads="1"/>
            </p:cNvSpPr>
            <p:nvPr/>
          </p:nvSpPr>
          <p:spPr bwMode="auto">
            <a:xfrm>
              <a:off x="2352" y="3264"/>
              <a:ext cx="1584" cy="371"/>
            </a:xfrm>
            <a:prstGeom prst="rect">
              <a:avLst/>
            </a:prstGeom>
            <a:noFill/>
            <a:ln w="9525">
              <a:solidFill>
                <a:srgbClr val="27007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0">
                  <a:solidFill>
                    <a:schemeClr val="tx1"/>
                  </a:solidFill>
                </a:rPr>
                <a:t>Compiler</a:t>
              </a:r>
            </a:p>
          </p:txBody>
        </p:sp>
        <p:sp>
          <p:nvSpPr>
            <p:cNvPr id="10249" name="Line 7"/>
            <p:cNvSpPr>
              <a:spLocks noChangeShapeType="1"/>
            </p:cNvSpPr>
            <p:nvPr/>
          </p:nvSpPr>
          <p:spPr bwMode="auto">
            <a:xfrm>
              <a:off x="3936" y="3408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0" name="Line 8"/>
            <p:cNvSpPr>
              <a:spLocks noChangeShapeType="1"/>
            </p:cNvSpPr>
            <p:nvPr/>
          </p:nvSpPr>
          <p:spPr bwMode="auto">
            <a:xfrm>
              <a:off x="1056" y="3408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1" name="Line 9"/>
            <p:cNvSpPr>
              <a:spLocks noChangeShapeType="1"/>
            </p:cNvSpPr>
            <p:nvPr/>
          </p:nvSpPr>
          <p:spPr bwMode="auto">
            <a:xfrm>
              <a:off x="3168" y="364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2" name="Text Box 10"/>
            <p:cNvSpPr txBox="1">
              <a:spLocks noChangeArrowheads="1"/>
            </p:cNvSpPr>
            <p:nvPr/>
          </p:nvSpPr>
          <p:spPr bwMode="auto">
            <a:xfrm>
              <a:off x="912" y="3082"/>
              <a:ext cx="1523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Chương trình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nguồn</a:t>
              </a:r>
            </a:p>
          </p:txBody>
        </p:sp>
        <p:sp>
          <p:nvSpPr>
            <p:cNvPr id="10253" name="Text Box 11"/>
            <p:cNvSpPr txBox="1">
              <a:spLocks noChangeArrowheads="1"/>
            </p:cNvSpPr>
            <p:nvPr/>
          </p:nvSpPr>
          <p:spPr bwMode="auto">
            <a:xfrm>
              <a:off x="3984" y="3120"/>
              <a:ext cx="1523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Chương trình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đích</a:t>
              </a:r>
            </a:p>
          </p:txBody>
        </p:sp>
        <p:sp>
          <p:nvSpPr>
            <p:cNvPr id="10254" name="Text Box 12"/>
            <p:cNvSpPr txBox="1">
              <a:spLocks noChangeArrowheads="1"/>
            </p:cNvSpPr>
            <p:nvPr/>
          </p:nvSpPr>
          <p:spPr bwMode="auto">
            <a:xfrm>
              <a:off x="2469" y="3855"/>
              <a:ext cx="147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Thông báo lỗi</a:t>
              </a:r>
            </a:p>
          </p:txBody>
        </p:sp>
      </p:grpSp>
      <p:sp>
        <p:nvSpPr>
          <p:cNvPr id="1433613" name="Rectangle 13"/>
          <p:cNvSpPr>
            <a:spLocks noChangeArrowheads="1"/>
          </p:cNvSpPr>
          <p:nvPr/>
        </p:nvSpPr>
        <p:spPr bwMode="auto">
          <a:xfrm>
            <a:off x="190500" y="5029200"/>
            <a:ext cx="87249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914400" indent="-347663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573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en-US" b="0"/>
              <a:t>Chương trình đích có thể không thực hiện được ngay mà cần liên kết (link) đến thư viện để được chương trình thực hiện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544A1A-51FE-4985-8216-6DE0E4467B67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Các bước xử lý chương trình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Ngôn ngữ lập trình cấp cao và trình dịch</a:t>
            </a:r>
          </a:p>
        </p:txBody>
      </p:sp>
      <p:sp>
        <p:nvSpPr>
          <p:cNvPr id="11269" name="Text Box 15"/>
          <p:cNvSpPr txBox="1">
            <a:spLocks noChangeArrowheads="1"/>
          </p:cNvSpPr>
          <p:nvPr/>
        </p:nvSpPr>
        <p:spPr bwMode="auto">
          <a:xfrm>
            <a:off x="457200" y="1295400"/>
            <a:ext cx="2971800" cy="1125538"/>
          </a:xfrm>
          <a:prstGeom prst="rect">
            <a:avLst/>
          </a:prstGeom>
          <a:noFill/>
          <a:ln w="9525">
            <a:solidFill>
              <a:srgbClr val="27007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10000"/>
              </a:spcBef>
              <a:buFontTx/>
              <a:buNone/>
            </a:pPr>
            <a:r>
              <a:rPr lang="en-US" altLang="en-US" b="0">
                <a:solidFill>
                  <a:schemeClr val="tx1"/>
                </a:solidFill>
              </a:rPr>
              <a:t>Chương trình </a:t>
            </a:r>
          </a:p>
          <a:p>
            <a:pPr algn="ctr" eaLnBrk="1" hangingPunct="1">
              <a:spcBef>
                <a:spcPct val="10000"/>
              </a:spcBef>
              <a:buFontTx/>
              <a:buNone/>
            </a:pPr>
            <a:r>
              <a:rPr lang="en-US" altLang="en-US" b="0">
                <a:solidFill>
                  <a:schemeClr val="tx1"/>
                </a:solidFill>
              </a:rPr>
              <a:t>nguồn</a:t>
            </a:r>
            <a:endParaRPr lang="en-US" altLang="en-US" sz="1400" b="0">
              <a:solidFill>
                <a:schemeClr val="tx1"/>
              </a:solidFill>
            </a:endParaRPr>
          </a:p>
        </p:txBody>
      </p:sp>
      <p:grpSp>
        <p:nvGrpSpPr>
          <p:cNvPr id="1428506" name="Group 26"/>
          <p:cNvGrpSpPr>
            <a:grpSpLocks/>
          </p:cNvGrpSpPr>
          <p:nvPr/>
        </p:nvGrpSpPr>
        <p:grpSpPr bwMode="auto">
          <a:xfrm>
            <a:off x="6643688" y="3124200"/>
            <a:ext cx="1905000" cy="685800"/>
            <a:chOff x="4128" y="1872"/>
            <a:chExt cx="1200" cy="432"/>
          </a:xfrm>
        </p:grpSpPr>
        <p:sp>
          <p:nvSpPr>
            <p:cNvPr id="11294" name="Text Box 20"/>
            <p:cNvSpPr txBox="1">
              <a:spLocks noChangeArrowheads="1"/>
            </p:cNvSpPr>
            <p:nvPr/>
          </p:nvSpPr>
          <p:spPr bwMode="auto">
            <a:xfrm>
              <a:off x="4128" y="1872"/>
              <a:ext cx="120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10000"/>
                </a:spcBef>
                <a:buFontTx/>
                <a:buNone/>
              </a:pPr>
              <a:r>
                <a:rPr lang="en-US" altLang="en-US" b="0">
                  <a:solidFill>
                    <a:schemeClr val="tx1"/>
                  </a:solidFill>
                </a:rPr>
                <a:t>loader</a:t>
              </a:r>
            </a:p>
          </p:txBody>
        </p:sp>
        <p:sp>
          <p:nvSpPr>
            <p:cNvPr id="11295" name="Oval 21"/>
            <p:cNvSpPr>
              <a:spLocks noChangeArrowheads="1"/>
            </p:cNvSpPr>
            <p:nvPr/>
          </p:nvSpPr>
          <p:spPr bwMode="auto">
            <a:xfrm>
              <a:off x="4176" y="1872"/>
              <a:ext cx="1152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</p:grpSp>
      <p:sp>
        <p:nvSpPr>
          <p:cNvPr id="1428502" name="Text Box 22"/>
          <p:cNvSpPr txBox="1">
            <a:spLocks noChangeArrowheads="1"/>
          </p:cNvSpPr>
          <p:nvPr/>
        </p:nvSpPr>
        <p:spPr bwMode="auto">
          <a:xfrm>
            <a:off x="6400800" y="1295400"/>
            <a:ext cx="2286000" cy="1076325"/>
          </a:xfrm>
          <a:prstGeom prst="rect">
            <a:avLst/>
          </a:prstGeom>
          <a:noFill/>
          <a:ln w="9525">
            <a:solidFill>
              <a:srgbClr val="27007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b="0">
                <a:solidFill>
                  <a:schemeClr val="tx1"/>
                </a:solidFill>
              </a:rPr>
              <a:t>Mã máy tuyệt đối</a:t>
            </a:r>
          </a:p>
        </p:txBody>
      </p:sp>
      <p:grpSp>
        <p:nvGrpSpPr>
          <p:cNvPr id="1428512" name="Group 32"/>
          <p:cNvGrpSpPr>
            <a:grpSpLocks/>
          </p:cNvGrpSpPr>
          <p:nvPr/>
        </p:nvGrpSpPr>
        <p:grpSpPr bwMode="auto">
          <a:xfrm>
            <a:off x="762000" y="2438400"/>
            <a:ext cx="2286000" cy="3057525"/>
            <a:chOff x="480" y="1536"/>
            <a:chExt cx="1440" cy="1926"/>
          </a:xfrm>
        </p:grpSpPr>
        <p:sp>
          <p:nvSpPr>
            <p:cNvPr id="11288" name="Text Box 10"/>
            <p:cNvSpPr txBox="1">
              <a:spLocks noChangeArrowheads="1"/>
            </p:cNvSpPr>
            <p:nvPr/>
          </p:nvSpPr>
          <p:spPr bwMode="auto">
            <a:xfrm>
              <a:off x="480" y="2784"/>
              <a:ext cx="1440" cy="678"/>
            </a:xfrm>
            <a:prstGeom prst="rect">
              <a:avLst/>
            </a:prstGeom>
            <a:noFill/>
            <a:ln w="9525">
              <a:solidFill>
                <a:srgbClr val="27007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0">
                  <a:solidFill>
                    <a:schemeClr val="tx1"/>
                  </a:solidFill>
                </a:rPr>
                <a:t>Mã đối tượng</a:t>
              </a:r>
            </a:p>
          </p:txBody>
        </p:sp>
        <p:grpSp>
          <p:nvGrpSpPr>
            <p:cNvPr id="11289" name="Group 24"/>
            <p:cNvGrpSpPr>
              <a:grpSpLocks/>
            </p:cNvGrpSpPr>
            <p:nvPr/>
          </p:nvGrpSpPr>
          <p:grpSpPr bwMode="auto">
            <a:xfrm>
              <a:off x="576" y="1920"/>
              <a:ext cx="1200" cy="432"/>
              <a:chOff x="576" y="1920"/>
              <a:chExt cx="1200" cy="432"/>
            </a:xfrm>
          </p:grpSpPr>
          <p:sp>
            <p:nvSpPr>
              <p:cNvPr id="11292" name="Text Box 16"/>
              <p:cNvSpPr txBox="1">
                <a:spLocks noChangeArrowheads="1"/>
              </p:cNvSpPr>
              <p:nvPr/>
            </p:nvSpPr>
            <p:spPr bwMode="auto">
              <a:xfrm>
                <a:off x="576" y="1920"/>
                <a:ext cx="120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10000"/>
                  </a:spcBef>
                  <a:buFontTx/>
                  <a:buNone/>
                </a:pPr>
                <a:r>
                  <a:rPr lang="en-US" altLang="en-US" b="0">
                    <a:solidFill>
                      <a:schemeClr val="tx1"/>
                    </a:solidFill>
                  </a:rPr>
                  <a:t>compiler</a:t>
                </a:r>
              </a:p>
            </p:txBody>
          </p:sp>
          <p:sp>
            <p:nvSpPr>
              <p:cNvPr id="11293" name="Oval 17"/>
              <p:cNvSpPr>
                <a:spLocks noChangeArrowheads="1"/>
              </p:cNvSpPr>
              <p:nvPr/>
            </p:nvSpPr>
            <p:spPr bwMode="auto">
              <a:xfrm>
                <a:off x="624" y="1920"/>
                <a:ext cx="1152" cy="43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290" name="Line 23"/>
            <p:cNvSpPr>
              <a:spLocks noChangeShapeType="1"/>
            </p:cNvSpPr>
            <p:nvPr/>
          </p:nvSpPr>
          <p:spPr bwMode="auto">
            <a:xfrm>
              <a:off x="1200" y="1536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1" name="Line 27"/>
            <p:cNvSpPr>
              <a:spLocks noChangeShapeType="1"/>
            </p:cNvSpPr>
            <p:nvPr/>
          </p:nvSpPr>
          <p:spPr bwMode="auto">
            <a:xfrm>
              <a:off x="1200" y="2352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28510" name="Line 30"/>
          <p:cNvSpPr>
            <a:spLocks noChangeShapeType="1"/>
          </p:cNvSpPr>
          <p:nvPr/>
        </p:nvSpPr>
        <p:spPr bwMode="auto">
          <a:xfrm flipV="1">
            <a:off x="7620000" y="38100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28511" name="Line 31"/>
          <p:cNvSpPr>
            <a:spLocks noChangeShapeType="1"/>
          </p:cNvSpPr>
          <p:nvPr/>
        </p:nvSpPr>
        <p:spPr bwMode="auto">
          <a:xfrm flipV="1">
            <a:off x="7620000" y="236220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28516" name="Group 36"/>
          <p:cNvGrpSpPr>
            <a:grpSpLocks/>
          </p:cNvGrpSpPr>
          <p:nvPr/>
        </p:nvGrpSpPr>
        <p:grpSpPr bwMode="auto">
          <a:xfrm>
            <a:off x="3048000" y="4457700"/>
            <a:ext cx="5653088" cy="2095500"/>
            <a:chOff x="1920" y="2808"/>
            <a:chExt cx="3561" cy="1320"/>
          </a:xfrm>
        </p:grpSpPr>
        <p:sp>
          <p:nvSpPr>
            <p:cNvPr id="11280" name="Text Box 11"/>
            <p:cNvSpPr txBox="1">
              <a:spLocks noChangeArrowheads="1"/>
            </p:cNvSpPr>
            <p:nvPr/>
          </p:nvSpPr>
          <p:spPr bwMode="auto">
            <a:xfrm>
              <a:off x="4041" y="2808"/>
              <a:ext cx="1440" cy="678"/>
            </a:xfrm>
            <a:prstGeom prst="rect">
              <a:avLst/>
            </a:prstGeom>
            <a:noFill/>
            <a:ln w="9525">
              <a:solidFill>
                <a:srgbClr val="27007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0">
                  <a:solidFill>
                    <a:schemeClr val="tx1"/>
                  </a:solidFill>
                </a:rPr>
                <a:t>Mã thực hiện</a:t>
              </a:r>
            </a:p>
          </p:txBody>
        </p:sp>
        <p:grpSp>
          <p:nvGrpSpPr>
            <p:cNvPr id="11281" name="Group 25"/>
            <p:cNvGrpSpPr>
              <a:grpSpLocks/>
            </p:cNvGrpSpPr>
            <p:nvPr/>
          </p:nvGrpSpPr>
          <p:grpSpPr bwMode="auto">
            <a:xfrm>
              <a:off x="2352" y="2928"/>
              <a:ext cx="1200" cy="432"/>
              <a:chOff x="2304" y="3024"/>
              <a:chExt cx="1200" cy="432"/>
            </a:xfrm>
          </p:grpSpPr>
          <p:sp>
            <p:nvSpPr>
              <p:cNvPr id="11286" name="Text Box 18"/>
              <p:cNvSpPr txBox="1">
                <a:spLocks noChangeArrowheads="1"/>
              </p:cNvSpPr>
              <p:nvPr/>
            </p:nvSpPr>
            <p:spPr bwMode="auto">
              <a:xfrm>
                <a:off x="2304" y="3024"/>
                <a:ext cx="120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10000"/>
                  </a:spcBef>
                  <a:buFontTx/>
                  <a:buNone/>
                </a:pPr>
                <a:r>
                  <a:rPr lang="en-US" altLang="en-US" b="0">
                    <a:solidFill>
                      <a:schemeClr val="tx1"/>
                    </a:solidFill>
                  </a:rPr>
                  <a:t>linker</a:t>
                </a:r>
              </a:p>
            </p:txBody>
          </p:sp>
          <p:sp>
            <p:nvSpPr>
              <p:cNvPr id="11287" name="Oval 19"/>
              <p:cNvSpPr>
                <a:spLocks noChangeArrowheads="1"/>
              </p:cNvSpPr>
              <p:nvPr/>
            </p:nvSpPr>
            <p:spPr bwMode="auto">
              <a:xfrm>
                <a:off x="2352" y="3024"/>
                <a:ext cx="1152" cy="43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282" name="Line 28"/>
            <p:cNvSpPr>
              <a:spLocks noChangeShapeType="1"/>
            </p:cNvSpPr>
            <p:nvPr/>
          </p:nvSpPr>
          <p:spPr bwMode="auto">
            <a:xfrm>
              <a:off x="1920" y="3168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3" name="Line 29"/>
            <p:cNvSpPr>
              <a:spLocks noChangeShapeType="1"/>
            </p:cNvSpPr>
            <p:nvPr/>
          </p:nvSpPr>
          <p:spPr bwMode="auto">
            <a:xfrm>
              <a:off x="3552" y="3138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4" name="Text Box 34"/>
            <p:cNvSpPr txBox="1">
              <a:spLocks noChangeArrowheads="1"/>
            </p:cNvSpPr>
            <p:nvPr/>
          </p:nvSpPr>
          <p:spPr bwMode="auto">
            <a:xfrm>
              <a:off x="1968" y="3757"/>
              <a:ext cx="1440" cy="371"/>
            </a:xfrm>
            <a:prstGeom prst="rect">
              <a:avLst/>
            </a:prstGeom>
            <a:noFill/>
            <a:ln w="9525">
              <a:solidFill>
                <a:srgbClr val="27007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0">
                  <a:solidFill>
                    <a:schemeClr val="tx1"/>
                  </a:solidFill>
                </a:rPr>
                <a:t>Thư viện</a:t>
              </a:r>
            </a:p>
          </p:txBody>
        </p:sp>
        <p:sp>
          <p:nvSpPr>
            <p:cNvPr id="11285" name="Line 35"/>
            <p:cNvSpPr>
              <a:spLocks noChangeShapeType="1"/>
            </p:cNvSpPr>
            <p:nvPr/>
          </p:nvSpPr>
          <p:spPr bwMode="auto">
            <a:xfrm flipV="1">
              <a:off x="2688" y="3360"/>
              <a:ext cx="288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28520" name="Group 40"/>
          <p:cNvGrpSpPr>
            <a:grpSpLocks/>
          </p:cNvGrpSpPr>
          <p:nvPr/>
        </p:nvGrpSpPr>
        <p:grpSpPr bwMode="auto">
          <a:xfrm>
            <a:off x="152400" y="1066800"/>
            <a:ext cx="5410200" cy="4572000"/>
            <a:chOff x="96" y="672"/>
            <a:chExt cx="3408" cy="2880"/>
          </a:xfrm>
        </p:grpSpPr>
        <p:sp>
          <p:nvSpPr>
            <p:cNvPr id="11277" name="Rectangle 37"/>
            <p:cNvSpPr>
              <a:spLocks noChangeArrowheads="1"/>
            </p:cNvSpPr>
            <p:nvPr/>
          </p:nvSpPr>
          <p:spPr bwMode="auto">
            <a:xfrm>
              <a:off x="96" y="672"/>
              <a:ext cx="2256" cy="28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1278" name="Text Box 38"/>
            <p:cNvSpPr txBox="1">
              <a:spLocks noChangeArrowheads="1"/>
            </p:cNvSpPr>
            <p:nvPr/>
          </p:nvSpPr>
          <p:spPr bwMode="auto">
            <a:xfrm>
              <a:off x="2736" y="1824"/>
              <a:ext cx="768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Phase dịch</a:t>
              </a:r>
            </a:p>
          </p:txBody>
        </p:sp>
        <p:sp>
          <p:nvSpPr>
            <p:cNvPr id="11279" name="AutoShape 39"/>
            <p:cNvSpPr>
              <a:spLocks/>
            </p:cNvSpPr>
            <p:nvPr/>
          </p:nvSpPr>
          <p:spPr bwMode="auto">
            <a:xfrm>
              <a:off x="2448" y="720"/>
              <a:ext cx="288" cy="2832"/>
            </a:xfrm>
            <a:prstGeom prst="rightBrace">
              <a:avLst>
                <a:gd name="adj1" fmla="val 8194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28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28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28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428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428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428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28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8502" grpId="0" animBg="1"/>
      <p:bldP spid="1428510" grpId="0" animBg="1"/>
      <p:bldP spid="14285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FF9106-47AC-4A76-9856-112E23EFC59E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0038"/>
            <a:ext cx="9144000" cy="461962"/>
          </a:xfrm>
        </p:spPr>
        <p:txBody>
          <a:bodyPr/>
          <a:lstStyle/>
          <a:p>
            <a:pPr eaLnBrk="1" hangingPunct="1"/>
            <a:r>
              <a:rPr lang="en-US" altLang="en-US"/>
              <a:t>Thông dịch (interpreter)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33800" y="1066800"/>
            <a:ext cx="5105400" cy="2133600"/>
          </a:xfrm>
        </p:spPr>
        <p:txBody>
          <a:bodyPr/>
          <a:lstStyle/>
          <a:p>
            <a:pPr eaLnBrk="1" hangingPunct="1"/>
            <a:r>
              <a:rPr lang="en-US" altLang="en-US"/>
              <a:t>Làm nhiệm vụ “</a:t>
            </a:r>
            <a:r>
              <a:rPr lang="en-US" altLang="en-US" i="1">
                <a:solidFill>
                  <a:srgbClr val="DF3507"/>
                </a:solidFill>
              </a:rPr>
              <a:t>giải thích</a:t>
            </a:r>
            <a:r>
              <a:rPr lang="en-US" altLang="en-US"/>
              <a:t>” chương trình nguồn</a:t>
            </a:r>
          </a:p>
          <a:p>
            <a:pPr marL="914400" lvl="1" indent="-347663" eaLnBrk="1" hangingPunct="1"/>
            <a:r>
              <a:rPr lang="en-US" altLang="en-US"/>
              <a:t>Phân tích câu lệnh tiếp</a:t>
            </a:r>
          </a:p>
          <a:p>
            <a:pPr marL="914400" lvl="1" indent="-347663" eaLnBrk="1" hangingPunct="1"/>
            <a:r>
              <a:rPr lang="en-US" altLang="en-US"/>
              <a:t>Thực hiện câu lệnh</a:t>
            </a:r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Ngôn ngữ lập trình cấp cao và trình dịch</a:t>
            </a:r>
          </a:p>
        </p:txBody>
      </p:sp>
      <p:grpSp>
        <p:nvGrpSpPr>
          <p:cNvPr id="12294" name="Group 18"/>
          <p:cNvGrpSpPr>
            <a:grpSpLocks/>
          </p:cNvGrpSpPr>
          <p:nvPr/>
        </p:nvGrpSpPr>
        <p:grpSpPr bwMode="auto">
          <a:xfrm>
            <a:off x="609600" y="1524000"/>
            <a:ext cx="4572000" cy="3475038"/>
            <a:chOff x="384" y="960"/>
            <a:chExt cx="2880" cy="2189"/>
          </a:xfrm>
        </p:grpSpPr>
        <p:sp>
          <p:nvSpPr>
            <p:cNvPr id="12296" name="Text Box 6"/>
            <p:cNvSpPr txBox="1">
              <a:spLocks noChangeArrowheads="1"/>
            </p:cNvSpPr>
            <p:nvPr/>
          </p:nvSpPr>
          <p:spPr bwMode="auto">
            <a:xfrm>
              <a:off x="384" y="960"/>
              <a:ext cx="1776" cy="678"/>
            </a:xfrm>
            <a:prstGeom prst="rect">
              <a:avLst/>
            </a:prstGeom>
            <a:noFill/>
            <a:ln w="9525">
              <a:solidFill>
                <a:srgbClr val="27007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0">
                  <a:solidFill>
                    <a:schemeClr val="tx1"/>
                  </a:solidFill>
                </a:rPr>
                <a:t>Chương trình nguồn</a:t>
              </a:r>
            </a:p>
          </p:txBody>
        </p:sp>
        <p:sp>
          <p:nvSpPr>
            <p:cNvPr id="12297" name="Text Box 8"/>
            <p:cNvSpPr txBox="1">
              <a:spLocks noChangeArrowheads="1"/>
            </p:cNvSpPr>
            <p:nvPr/>
          </p:nvSpPr>
          <p:spPr bwMode="auto">
            <a:xfrm>
              <a:off x="489" y="2043"/>
              <a:ext cx="1536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10000"/>
                </a:spcBef>
                <a:buFontTx/>
                <a:buNone/>
              </a:pPr>
              <a:r>
                <a:rPr lang="en-US" altLang="en-US" b="0">
                  <a:solidFill>
                    <a:schemeClr val="tx1"/>
                  </a:solidFill>
                </a:rPr>
                <a:t>interpreter</a:t>
              </a:r>
            </a:p>
          </p:txBody>
        </p:sp>
        <p:sp>
          <p:nvSpPr>
            <p:cNvPr id="12298" name="Oval 9"/>
            <p:cNvSpPr>
              <a:spLocks noChangeArrowheads="1"/>
            </p:cNvSpPr>
            <p:nvPr/>
          </p:nvSpPr>
          <p:spPr bwMode="auto">
            <a:xfrm>
              <a:off x="493" y="2016"/>
              <a:ext cx="1475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2299" name="Line 10"/>
            <p:cNvSpPr>
              <a:spLocks noChangeShapeType="1"/>
            </p:cNvSpPr>
            <p:nvPr/>
          </p:nvSpPr>
          <p:spPr bwMode="auto">
            <a:xfrm>
              <a:off x="1248" y="1632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0" name="Line 11"/>
            <p:cNvSpPr>
              <a:spLocks noChangeShapeType="1"/>
            </p:cNvSpPr>
            <p:nvPr/>
          </p:nvSpPr>
          <p:spPr bwMode="auto">
            <a:xfrm>
              <a:off x="1248" y="2496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1" name="Text Box 12"/>
            <p:cNvSpPr txBox="1">
              <a:spLocks noChangeArrowheads="1"/>
            </p:cNvSpPr>
            <p:nvPr/>
          </p:nvSpPr>
          <p:spPr bwMode="auto">
            <a:xfrm>
              <a:off x="576" y="2784"/>
              <a:ext cx="13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0">
                  <a:solidFill>
                    <a:schemeClr val="tx1"/>
                  </a:solidFill>
                </a:rPr>
                <a:t>Kết quả</a:t>
              </a:r>
            </a:p>
          </p:txBody>
        </p:sp>
        <p:sp>
          <p:nvSpPr>
            <p:cNvPr id="12302" name="Text Box 13"/>
            <p:cNvSpPr txBox="1">
              <a:spLocks noChangeArrowheads="1"/>
            </p:cNvSpPr>
            <p:nvPr/>
          </p:nvSpPr>
          <p:spPr bwMode="auto">
            <a:xfrm>
              <a:off x="1920" y="1912"/>
              <a:ext cx="13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0">
                  <a:solidFill>
                    <a:schemeClr val="tx1"/>
                  </a:solidFill>
                </a:rPr>
                <a:t>Dữ liệu</a:t>
              </a:r>
            </a:p>
          </p:txBody>
        </p:sp>
        <p:sp>
          <p:nvSpPr>
            <p:cNvPr id="12303" name="Line 15"/>
            <p:cNvSpPr>
              <a:spLocks noChangeShapeType="1"/>
            </p:cNvSpPr>
            <p:nvPr/>
          </p:nvSpPr>
          <p:spPr bwMode="auto">
            <a:xfrm flipH="1">
              <a:off x="1968" y="2256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24404" name="Rectangle 20"/>
          <p:cNvSpPr>
            <a:spLocks noChangeArrowheads="1"/>
          </p:cNvSpPr>
          <p:nvPr/>
        </p:nvSpPr>
        <p:spPr bwMode="auto">
          <a:xfrm>
            <a:off x="3200400" y="4419600"/>
            <a:ext cx="51054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914400" indent="-347663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2573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en-US" b="0"/>
              <a:t>Chương trình thông dịch có kích thước nhỏ hơn, nhưng chạy chậm hơn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24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440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C174315-0241-4374-B2CA-AEC0567AD3B1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Dịch và thực hiện chương trình nguồn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Ngôn ngữ lập trình cấp cao và trình dịch</a:t>
            </a:r>
          </a:p>
        </p:txBody>
      </p:sp>
      <p:grpSp>
        <p:nvGrpSpPr>
          <p:cNvPr id="13317" name="Group 19"/>
          <p:cNvGrpSpPr>
            <a:grpSpLocks/>
          </p:cNvGrpSpPr>
          <p:nvPr/>
        </p:nvGrpSpPr>
        <p:grpSpPr bwMode="auto">
          <a:xfrm>
            <a:off x="304800" y="1219200"/>
            <a:ext cx="3905250" cy="5495925"/>
            <a:chOff x="192" y="768"/>
            <a:chExt cx="2460" cy="3462"/>
          </a:xfrm>
        </p:grpSpPr>
        <p:sp>
          <p:nvSpPr>
            <p:cNvPr id="13326" name="Text Box 5"/>
            <p:cNvSpPr txBox="1">
              <a:spLocks noChangeArrowheads="1"/>
            </p:cNvSpPr>
            <p:nvPr/>
          </p:nvSpPr>
          <p:spPr bwMode="auto">
            <a:xfrm>
              <a:off x="192" y="768"/>
              <a:ext cx="2400" cy="333"/>
            </a:xfrm>
            <a:prstGeom prst="rect">
              <a:avLst/>
            </a:prstGeom>
            <a:noFill/>
            <a:ln w="9525">
              <a:solidFill>
                <a:srgbClr val="27007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1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Chương trình nguồn</a:t>
              </a:r>
              <a:endParaRPr lang="en-US" altLang="en-US" sz="1200" b="0">
                <a:solidFill>
                  <a:schemeClr val="tx1"/>
                </a:solidFill>
              </a:endParaRPr>
            </a:p>
          </p:txBody>
        </p:sp>
        <p:sp>
          <p:nvSpPr>
            <p:cNvPr id="13327" name="Text Box 7"/>
            <p:cNvSpPr txBox="1">
              <a:spLocks noChangeArrowheads="1"/>
            </p:cNvSpPr>
            <p:nvPr/>
          </p:nvSpPr>
          <p:spPr bwMode="auto">
            <a:xfrm>
              <a:off x="204" y="2304"/>
              <a:ext cx="2448" cy="602"/>
            </a:xfrm>
            <a:prstGeom prst="rect">
              <a:avLst/>
            </a:prstGeom>
            <a:noFill/>
            <a:ln w="9525">
              <a:solidFill>
                <a:srgbClr val="27007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Chương trình bằng ngôn ngữ trung gian</a:t>
              </a:r>
            </a:p>
          </p:txBody>
        </p:sp>
        <p:grpSp>
          <p:nvGrpSpPr>
            <p:cNvPr id="13328" name="Group 8"/>
            <p:cNvGrpSpPr>
              <a:grpSpLocks/>
            </p:cNvGrpSpPr>
            <p:nvPr/>
          </p:nvGrpSpPr>
          <p:grpSpPr bwMode="auto">
            <a:xfrm>
              <a:off x="798" y="1488"/>
              <a:ext cx="1200" cy="432"/>
              <a:chOff x="576" y="1920"/>
              <a:chExt cx="1200" cy="432"/>
            </a:xfrm>
          </p:grpSpPr>
          <p:sp>
            <p:nvSpPr>
              <p:cNvPr id="13336" name="Text Box 9"/>
              <p:cNvSpPr txBox="1">
                <a:spLocks noChangeArrowheads="1"/>
              </p:cNvSpPr>
              <p:nvPr/>
            </p:nvSpPr>
            <p:spPr bwMode="auto">
              <a:xfrm>
                <a:off x="576" y="1920"/>
                <a:ext cx="120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10000"/>
                  </a:spcBef>
                  <a:buFontTx/>
                  <a:buNone/>
                </a:pPr>
                <a:r>
                  <a:rPr lang="en-US" altLang="en-US" b="0">
                    <a:solidFill>
                      <a:schemeClr val="tx1"/>
                    </a:solidFill>
                  </a:rPr>
                  <a:t>compiler</a:t>
                </a:r>
              </a:p>
            </p:txBody>
          </p:sp>
          <p:sp>
            <p:nvSpPr>
              <p:cNvPr id="13337" name="Oval 10"/>
              <p:cNvSpPr>
                <a:spLocks noChangeArrowheads="1"/>
              </p:cNvSpPr>
              <p:nvPr/>
            </p:nvSpPr>
            <p:spPr bwMode="auto">
              <a:xfrm>
                <a:off x="624" y="1920"/>
                <a:ext cx="1152" cy="43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329" name="Line 11"/>
            <p:cNvSpPr>
              <a:spLocks noChangeShapeType="1"/>
            </p:cNvSpPr>
            <p:nvPr/>
          </p:nvSpPr>
          <p:spPr bwMode="auto">
            <a:xfrm>
              <a:off x="1392" y="1104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0" name="Line 12"/>
            <p:cNvSpPr>
              <a:spLocks noChangeShapeType="1"/>
            </p:cNvSpPr>
            <p:nvPr/>
          </p:nvSpPr>
          <p:spPr bwMode="auto">
            <a:xfrm>
              <a:off x="1422" y="1920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1" name="Text Box 14"/>
            <p:cNvSpPr txBox="1">
              <a:spLocks noChangeArrowheads="1"/>
            </p:cNvSpPr>
            <p:nvPr/>
          </p:nvSpPr>
          <p:spPr bwMode="auto">
            <a:xfrm>
              <a:off x="720" y="3360"/>
              <a:ext cx="14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1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interpreter</a:t>
              </a:r>
            </a:p>
          </p:txBody>
        </p:sp>
        <p:sp>
          <p:nvSpPr>
            <p:cNvPr id="13332" name="Oval 15"/>
            <p:cNvSpPr>
              <a:spLocks noChangeArrowheads="1"/>
            </p:cNvSpPr>
            <p:nvPr/>
          </p:nvSpPr>
          <p:spPr bwMode="auto">
            <a:xfrm>
              <a:off x="702" y="3264"/>
              <a:ext cx="1488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3333" name="Line 16"/>
            <p:cNvSpPr>
              <a:spLocks noChangeShapeType="1"/>
            </p:cNvSpPr>
            <p:nvPr/>
          </p:nvSpPr>
          <p:spPr bwMode="auto">
            <a:xfrm>
              <a:off x="1440" y="2901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4" name="Text Box 17"/>
            <p:cNvSpPr txBox="1">
              <a:spLocks noChangeArrowheads="1"/>
            </p:cNvSpPr>
            <p:nvPr/>
          </p:nvSpPr>
          <p:spPr bwMode="auto">
            <a:xfrm>
              <a:off x="738" y="3903"/>
              <a:ext cx="14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1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Kết quả</a:t>
              </a:r>
            </a:p>
          </p:txBody>
        </p:sp>
        <p:sp>
          <p:nvSpPr>
            <p:cNvPr id="13335" name="Line 18"/>
            <p:cNvSpPr>
              <a:spLocks noChangeShapeType="1"/>
            </p:cNvSpPr>
            <p:nvPr/>
          </p:nvSpPr>
          <p:spPr bwMode="auto">
            <a:xfrm>
              <a:off x="1440" y="3696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26457" name="Group 25"/>
          <p:cNvGrpSpPr>
            <a:grpSpLocks/>
          </p:cNvGrpSpPr>
          <p:nvPr/>
        </p:nvGrpSpPr>
        <p:grpSpPr bwMode="auto">
          <a:xfrm>
            <a:off x="228600" y="3352800"/>
            <a:ext cx="8686800" cy="3276600"/>
            <a:chOff x="144" y="2112"/>
            <a:chExt cx="5472" cy="2064"/>
          </a:xfrm>
        </p:grpSpPr>
        <p:sp>
          <p:nvSpPr>
            <p:cNvPr id="13323" name="Rectangle 21"/>
            <p:cNvSpPr>
              <a:spLocks noChangeArrowheads="1"/>
            </p:cNvSpPr>
            <p:nvPr/>
          </p:nvSpPr>
          <p:spPr bwMode="auto">
            <a:xfrm>
              <a:off x="144" y="2112"/>
              <a:ext cx="2592" cy="206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3324" name="AutoShape 23"/>
            <p:cNvSpPr>
              <a:spLocks/>
            </p:cNvSpPr>
            <p:nvPr/>
          </p:nvSpPr>
          <p:spPr bwMode="auto">
            <a:xfrm>
              <a:off x="2832" y="2112"/>
              <a:ext cx="288" cy="2016"/>
            </a:xfrm>
            <a:prstGeom prst="rightBrace">
              <a:avLst>
                <a:gd name="adj1" fmla="val 58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3325" name="Rectangle 24"/>
            <p:cNvSpPr>
              <a:spLocks noChangeArrowheads="1"/>
            </p:cNvSpPr>
            <p:nvPr/>
          </p:nvSpPr>
          <p:spPr bwMode="auto">
            <a:xfrm>
              <a:off x="3216" y="2784"/>
              <a:ext cx="2400" cy="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914400" indent="-347663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2573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en-US" altLang="en-US"/>
                <a:t>Phase 2:</a:t>
              </a:r>
              <a:r>
                <a:rPr lang="en-US" altLang="en-US" b="0"/>
                <a:t> Thực hiện mã trung gian</a:t>
              </a:r>
            </a:p>
          </p:txBody>
        </p:sp>
      </p:grpSp>
      <p:grpSp>
        <p:nvGrpSpPr>
          <p:cNvPr id="1426461" name="Group 29"/>
          <p:cNvGrpSpPr>
            <a:grpSpLocks/>
          </p:cNvGrpSpPr>
          <p:nvPr/>
        </p:nvGrpSpPr>
        <p:grpSpPr bwMode="auto">
          <a:xfrm>
            <a:off x="152400" y="1066800"/>
            <a:ext cx="8991600" cy="3886200"/>
            <a:chOff x="96" y="672"/>
            <a:chExt cx="5664" cy="2448"/>
          </a:xfrm>
        </p:grpSpPr>
        <p:sp>
          <p:nvSpPr>
            <p:cNvPr id="13320" name="Rectangle 20"/>
            <p:cNvSpPr>
              <a:spLocks noChangeArrowheads="1"/>
            </p:cNvSpPr>
            <p:nvPr/>
          </p:nvSpPr>
          <p:spPr bwMode="auto">
            <a:xfrm>
              <a:off x="96" y="672"/>
              <a:ext cx="2688" cy="24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3321" name="AutoShape 22"/>
            <p:cNvSpPr>
              <a:spLocks/>
            </p:cNvSpPr>
            <p:nvPr/>
          </p:nvSpPr>
          <p:spPr bwMode="auto">
            <a:xfrm>
              <a:off x="2880" y="672"/>
              <a:ext cx="288" cy="2400"/>
            </a:xfrm>
            <a:prstGeom prst="rightBrace">
              <a:avLst>
                <a:gd name="adj1" fmla="val 6944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3322" name="Text Box 27"/>
            <p:cNvSpPr txBox="1">
              <a:spLocks noChangeArrowheads="1"/>
            </p:cNvSpPr>
            <p:nvPr/>
          </p:nvSpPr>
          <p:spPr bwMode="auto">
            <a:xfrm>
              <a:off x="3168" y="1344"/>
              <a:ext cx="2592" cy="9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/>
                <a:t>Phase 1:</a:t>
              </a:r>
              <a:r>
                <a:rPr lang="en-US" altLang="en-US" b="0"/>
                <a:t> Chuyển từ chương trình nguồn sang NN trung gian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26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26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2557E45-C7D2-474D-8A7D-62C5E3D20AD0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Compiler &gt;&lt; interpreter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Ngôn ngữ lập trình cấp cao và trình dịch</a:t>
            </a: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229600" cy="457200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b="1"/>
              <a:t>Compiler :</a:t>
            </a:r>
            <a:r>
              <a:rPr lang="en-US" altLang="en-US" sz="2800"/>
              <a:t> Dịch trực tiếp ra mã máy</a:t>
            </a:r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52600"/>
            <a:ext cx="7315200" cy="1143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228600" y="3048000"/>
            <a:ext cx="8915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/>
              <a:t>Interpreter </a:t>
            </a:r>
            <a:r>
              <a:rPr lang="en-US" altLang="en-US" sz="2800" b="0"/>
              <a:t>: Trực tiếp thực hiện từng lệnh mã nguồn</a:t>
            </a:r>
          </a:p>
        </p:txBody>
      </p:sp>
      <p:pic>
        <p:nvPicPr>
          <p:cNvPr id="1434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581400"/>
            <a:ext cx="4724400" cy="1143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228600" y="4800600"/>
            <a:ext cx="8534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0"/>
              <a:t>Biến thể của Interpreter : thông dịch mã trung gian</a:t>
            </a:r>
          </a:p>
        </p:txBody>
      </p:sp>
      <p:pic>
        <p:nvPicPr>
          <p:cNvPr id="14346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334000"/>
            <a:ext cx="4953000" cy="1219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2C8EA7-FB6E-4DB3-A542-C500EED5BB3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T-Diagram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550" y="914400"/>
            <a:ext cx="8724900" cy="5859463"/>
          </a:xfrm>
        </p:spPr>
        <p:txBody>
          <a:bodyPr/>
          <a:lstStyle/>
          <a:p>
            <a:pPr marL="457200" eaLnBrk="1" hangingPunct="1"/>
            <a:r>
              <a:rPr lang="en-US" altLang="en-US" err="1"/>
              <a:t>Chương</a:t>
            </a:r>
            <a:r>
              <a:rPr lang="en-US" altLang="en-US"/>
              <a:t> </a:t>
            </a:r>
            <a:r>
              <a:rPr lang="en-US" altLang="en-US" err="1"/>
              <a:t>dịch</a:t>
            </a:r>
            <a:r>
              <a:rPr lang="en-US" altLang="en-US"/>
              <a:t> </a:t>
            </a:r>
            <a:r>
              <a:rPr lang="en-US" altLang="en-US" err="1"/>
              <a:t>được</a:t>
            </a:r>
            <a:r>
              <a:rPr lang="en-US" altLang="en-US"/>
              <a:t> </a:t>
            </a:r>
            <a:r>
              <a:rPr lang="en-US" altLang="en-US" err="1"/>
              <a:t>đặc</a:t>
            </a:r>
            <a:r>
              <a:rPr lang="en-US" altLang="en-US"/>
              <a:t> </a:t>
            </a:r>
            <a:r>
              <a:rPr lang="en-US" altLang="en-US" err="1"/>
              <a:t>trung</a:t>
            </a:r>
            <a:r>
              <a:rPr lang="en-US" altLang="en-US"/>
              <a:t> </a:t>
            </a:r>
            <a:r>
              <a:rPr lang="en-US" altLang="en-US" err="1"/>
              <a:t>bởi</a:t>
            </a:r>
            <a:r>
              <a:rPr lang="en-US" altLang="en-US"/>
              <a:t> (</a:t>
            </a:r>
            <a:r>
              <a:rPr lang="en-US" altLang="en-US" b="1">
                <a:solidFill>
                  <a:srgbClr val="FA0617"/>
                </a:solidFill>
              </a:rPr>
              <a:t>T</a:t>
            </a:r>
            <a:r>
              <a:rPr lang="en-US" altLang="en-US" b="1" baseline="-25000">
                <a:solidFill>
                  <a:srgbClr val="FA0617"/>
                </a:solidFill>
              </a:rPr>
              <a:t>I</a:t>
            </a:r>
            <a:r>
              <a:rPr lang="en-US" altLang="en-US" b="1" baseline="30000">
                <a:solidFill>
                  <a:srgbClr val="FA0617"/>
                </a:solidFill>
              </a:rPr>
              <a:t>S</a:t>
            </a:r>
            <a:r>
              <a:rPr lang="en-US" altLang="en-US" b="1" baseline="30000">
                <a:solidFill>
                  <a:srgbClr val="FA0617"/>
                </a:solidFill>
                <a:sym typeface="Symbol" panose="05050102010706020507" pitchFamily="18" charset="2"/>
              </a:rPr>
              <a:t></a:t>
            </a:r>
            <a:r>
              <a:rPr lang="en-US" altLang="en-US" b="1" baseline="30000">
                <a:solidFill>
                  <a:srgbClr val="FA0617"/>
                </a:solidFill>
              </a:rPr>
              <a:t>T</a:t>
            </a:r>
            <a:r>
              <a:rPr lang="en-US" altLang="en-US"/>
              <a:t>)</a:t>
            </a:r>
          </a:p>
          <a:p>
            <a:pPr marL="857250" lvl="1" eaLnBrk="1" hangingPunct="1"/>
            <a:r>
              <a:rPr lang="en-US" altLang="en-US" err="1"/>
              <a:t>Ngôn</a:t>
            </a:r>
            <a:r>
              <a:rPr lang="en-US" altLang="en-US"/>
              <a:t> </a:t>
            </a:r>
            <a:r>
              <a:rPr lang="en-US" altLang="en-US" err="1"/>
              <a:t>ngữ</a:t>
            </a:r>
            <a:r>
              <a:rPr lang="en-US" altLang="en-US"/>
              <a:t> </a:t>
            </a:r>
            <a:r>
              <a:rPr lang="en-US" altLang="en-US" err="1"/>
              <a:t>nguồn</a:t>
            </a:r>
            <a:r>
              <a:rPr lang="en-US" altLang="en-US"/>
              <a:t> </a:t>
            </a:r>
            <a:r>
              <a:rPr lang="en-US" altLang="en-US" err="1"/>
              <a:t>được</a:t>
            </a:r>
            <a:r>
              <a:rPr lang="en-US" altLang="en-US"/>
              <a:t> </a:t>
            </a:r>
            <a:r>
              <a:rPr lang="en-US" altLang="en-US" err="1"/>
              <a:t>dịch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FA0617"/>
                </a:solidFill>
              </a:rPr>
              <a:t>S</a:t>
            </a:r>
            <a:r>
              <a:rPr lang="en-US" altLang="en-US"/>
              <a:t> (</a:t>
            </a:r>
            <a:r>
              <a:rPr lang="en-US" altLang="en-US" i="1"/>
              <a:t>input</a:t>
            </a:r>
            <a:r>
              <a:rPr lang="en-US" altLang="en-US"/>
              <a:t>)</a:t>
            </a:r>
          </a:p>
          <a:p>
            <a:pPr marL="857250" lvl="1" eaLnBrk="1" hangingPunct="1"/>
            <a:r>
              <a:rPr lang="en-US" altLang="en-US" err="1"/>
              <a:t>Ngôn</a:t>
            </a:r>
            <a:r>
              <a:rPr lang="en-US" altLang="en-US"/>
              <a:t> </a:t>
            </a:r>
            <a:r>
              <a:rPr lang="en-US" altLang="en-US" err="1"/>
              <a:t>ngữ</a:t>
            </a:r>
            <a:r>
              <a:rPr lang="en-US" altLang="en-US"/>
              <a:t> </a:t>
            </a:r>
            <a:r>
              <a:rPr lang="en-US" altLang="en-US" err="1"/>
              <a:t>đích</a:t>
            </a:r>
            <a:r>
              <a:rPr lang="en-US" altLang="en-US"/>
              <a:t> </a:t>
            </a:r>
            <a:r>
              <a:rPr lang="en-US" altLang="en-US">
                <a:solidFill>
                  <a:srgbClr val="FA0617"/>
                </a:solidFill>
              </a:rPr>
              <a:t>T</a:t>
            </a:r>
            <a:r>
              <a:rPr lang="en-US" altLang="en-US"/>
              <a:t> (</a:t>
            </a:r>
            <a:r>
              <a:rPr lang="en-US" altLang="en-US" i="1"/>
              <a:t>outpu</a:t>
            </a:r>
            <a:r>
              <a:rPr lang="en-US" altLang="en-US"/>
              <a:t>t)</a:t>
            </a:r>
          </a:p>
          <a:p>
            <a:pPr marL="857250" lvl="1" eaLnBrk="1" hangingPunct="1"/>
            <a:r>
              <a:rPr lang="en-US" altLang="en-US" err="1"/>
              <a:t>Ngôn</a:t>
            </a:r>
            <a:r>
              <a:rPr lang="en-US" altLang="en-US"/>
              <a:t> </a:t>
            </a:r>
            <a:r>
              <a:rPr lang="en-US" altLang="en-US" err="1"/>
              <a:t>ngữ</a:t>
            </a:r>
            <a:r>
              <a:rPr lang="en-US" altLang="en-US"/>
              <a:t> </a:t>
            </a:r>
            <a:r>
              <a:rPr lang="en-US" altLang="en-US" err="1"/>
              <a:t>cài</a:t>
            </a:r>
            <a:r>
              <a:rPr lang="en-US" altLang="en-US"/>
              <a:t> </a:t>
            </a:r>
            <a:r>
              <a:rPr lang="en-US" altLang="en-US" err="1"/>
              <a:t>đặt</a:t>
            </a:r>
            <a:r>
              <a:rPr lang="en-US" altLang="en-US"/>
              <a:t> </a:t>
            </a:r>
            <a:r>
              <a:rPr lang="en-US" altLang="en-US">
                <a:solidFill>
                  <a:srgbClr val="FA0617"/>
                </a:solidFill>
              </a:rPr>
              <a:t>I</a:t>
            </a:r>
            <a:r>
              <a:rPr lang="en-US" altLang="en-US"/>
              <a:t> (</a:t>
            </a:r>
            <a:r>
              <a:rPr lang="en-US" altLang="en-US" i="1" err="1"/>
              <a:t>Đã</a:t>
            </a:r>
            <a:r>
              <a:rPr lang="en-US" altLang="en-US" i="1"/>
              <a:t> </a:t>
            </a:r>
            <a:r>
              <a:rPr lang="en-US" altLang="en-US" i="1" err="1"/>
              <a:t>tồn</a:t>
            </a:r>
            <a:r>
              <a:rPr lang="en-US" altLang="en-US" i="1"/>
              <a:t> </a:t>
            </a:r>
            <a:r>
              <a:rPr lang="en-US" altLang="en-US" i="1" err="1"/>
              <a:t>tại</a:t>
            </a:r>
            <a:r>
              <a:rPr lang="en-US" altLang="en-US"/>
              <a:t>)</a:t>
            </a:r>
          </a:p>
          <a:p>
            <a:pPr marL="1257300" lvl="2" eaLnBrk="1" hangingPunct="1"/>
            <a:r>
              <a:rPr lang="en-US" altLang="en-US" err="1"/>
              <a:t>Có</a:t>
            </a:r>
            <a:r>
              <a:rPr lang="en-US" altLang="en-US"/>
              <a:t> </a:t>
            </a:r>
            <a:r>
              <a:rPr lang="en-US" altLang="en-US" err="1"/>
              <a:t>thể</a:t>
            </a:r>
            <a:r>
              <a:rPr lang="en-US" altLang="en-US"/>
              <a:t> </a:t>
            </a:r>
            <a:r>
              <a:rPr lang="en-US" altLang="en-US" err="1"/>
              <a:t>là</a:t>
            </a:r>
            <a:r>
              <a:rPr lang="en-US" altLang="en-US"/>
              <a:t> </a:t>
            </a:r>
            <a:r>
              <a:rPr lang="en-US" altLang="en-US" err="1"/>
              <a:t>ngôn</a:t>
            </a:r>
            <a:r>
              <a:rPr lang="en-US" altLang="en-US"/>
              <a:t> </a:t>
            </a:r>
            <a:r>
              <a:rPr lang="en-US" altLang="en-US" err="1"/>
              <a:t>ngữ</a:t>
            </a:r>
            <a:r>
              <a:rPr lang="en-US" altLang="en-US"/>
              <a:t> </a:t>
            </a:r>
            <a:r>
              <a:rPr lang="en-US" altLang="en-US" err="1"/>
              <a:t>máy</a:t>
            </a:r>
            <a:endParaRPr lang="en-US" altLang="en-US"/>
          </a:p>
        </p:txBody>
      </p:sp>
      <p:sp>
        <p:nvSpPr>
          <p:cNvPr id="15365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Ngôn ngữ lập trình cấp cao và trình dịch</a:t>
            </a:r>
          </a:p>
        </p:txBody>
      </p:sp>
      <p:grpSp>
        <p:nvGrpSpPr>
          <p:cNvPr id="15366" name="Group 12"/>
          <p:cNvGrpSpPr>
            <a:grpSpLocks/>
          </p:cNvGrpSpPr>
          <p:nvPr/>
        </p:nvGrpSpPr>
        <p:grpSpPr bwMode="auto">
          <a:xfrm>
            <a:off x="6561568" y="2209800"/>
            <a:ext cx="1752600" cy="1066800"/>
            <a:chOff x="4272" y="3456"/>
            <a:chExt cx="1104" cy="672"/>
          </a:xfrm>
        </p:grpSpPr>
        <p:sp>
          <p:nvSpPr>
            <p:cNvPr id="15367" name="Freeform 6"/>
            <p:cNvSpPr>
              <a:spLocks/>
            </p:cNvSpPr>
            <p:nvPr/>
          </p:nvSpPr>
          <p:spPr bwMode="auto">
            <a:xfrm>
              <a:off x="4272" y="3456"/>
              <a:ext cx="1104" cy="672"/>
            </a:xfrm>
            <a:custGeom>
              <a:avLst/>
              <a:gdLst>
                <a:gd name="T0" fmla="*/ 384 w 1104"/>
                <a:gd name="T1" fmla="*/ 672 h 672"/>
                <a:gd name="T2" fmla="*/ 768 w 1104"/>
                <a:gd name="T3" fmla="*/ 672 h 672"/>
                <a:gd name="T4" fmla="*/ 768 w 1104"/>
                <a:gd name="T5" fmla="*/ 336 h 672"/>
                <a:gd name="T6" fmla="*/ 1104 w 1104"/>
                <a:gd name="T7" fmla="*/ 336 h 672"/>
                <a:gd name="T8" fmla="*/ 1104 w 1104"/>
                <a:gd name="T9" fmla="*/ 0 h 672"/>
                <a:gd name="T10" fmla="*/ 0 w 1104"/>
                <a:gd name="T11" fmla="*/ 0 h 672"/>
                <a:gd name="T12" fmla="*/ 0 w 1104"/>
                <a:gd name="T13" fmla="*/ 336 h 672"/>
                <a:gd name="T14" fmla="*/ 384 w 1104"/>
                <a:gd name="T15" fmla="*/ 336 h 672"/>
                <a:gd name="T16" fmla="*/ 384 w 1104"/>
                <a:gd name="T17" fmla="*/ 672 h 6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04" h="672">
                  <a:moveTo>
                    <a:pt x="384" y="672"/>
                  </a:moveTo>
                  <a:lnTo>
                    <a:pt x="768" y="672"/>
                  </a:lnTo>
                  <a:lnTo>
                    <a:pt x="768" y="336"/>
                  </a:lnTo>
                  <a:lnTo>
                    <a:pt x="1104" y="336"/>
                  </a:lnTo>
                  <a:lnTo>
                    <a:pt x="1104" y="0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384" y="336"/>
                  </a:lnTo>
                  <a:lnTo>
                    <a:pt x="384" y="672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8" name="Text Box 7"/>
            <p:cNvSpPr txBox="1">
              <a:spLocks noChangeArrowheads="1"/>
            </p:cNvSpPr>
            <p:nvPr/>
          </p:nvSpPr>
          <p:spPr bwMode="auto">
            <a:xfrm>
              <a:off x="4272" y="3456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5369" name="Text Box 8"/>
            <p:cNvSpPr txBox="1">
              <a:spLocks noChangeArrowheads="1"/>
            </p:cNvSpPr>
            <p:nvPr/>
          </p:nvSpPr>
          <p:spPr bwMode="auto">
            <a:xfrm>
              <a:off x="5040" y="3456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15370" name="Text Box 9"/>
            <p:cNvSpPr txBox="1">
              <a:spLocks noChangeArrowheads="1"/>
            </p:cNvSpPr>
            <p:nvPr/>
          </p:nvSpPr>
          <p:spPr bwMode="auto">
            <a:xfrm>
              <a:off x="4656" y="3792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15371" name="Line 11"/>
            <p:cNvSpPr>
              <a:spLocks noChangeShapeType="1"/>
            </p:cNvSpPr>
            <p:nvPr/>
          </p:nvSpPr>
          <p:spPr bwMode="auto">
            <a:xfrm>
              <a:off x="4587" y="3639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576677" y="3891136"/>
            <a:ext cx="2838451" cy="1066800"/>
            <a:chOff x="6095999" y="5562600"/>
            <a:chExt cx="2838451" cy="1066800"/>
          </a:xfrm>
        </p:grpSpPr>
        <p:sp>
          <p:nvSpPr>
            <p:cNvPr id="15" name="Freeform 6"/>
            <p:cNvSpPr>
              <a:spLocks/>
            </p:cNvSpPr>
            <p:nvPr/>
          </p:nvSpPr>
          <p:spPr bwMode="auto">
            <a:xfrm>
              <a:off x="6096000" y="5562600"/>
              <a:ext cx="2838450" cy="1066800"/>
            </a:xfrm>
            <a:custGeom>
              <a:avLst/>
              <a:gdLst>
                <a:gd name="T0" fmla="*/ 384 w 1104"/>
                <a:gd name="T1" fmla="*/ 672 h 672"/>
                <a:gd name="T2" fmla="*/ 768 w 1104"/>
                <a:gd name="T3" fmla="*/ 672 h 672"/>
                <a:gd name="T4" fmla="*/ 768 w 1104"/>
                <a:gd name="T5" fmla="*/ 336 h 672"/>
                <a:gd name="T6" fmla="*/ 1104 w 1104"/>
                <a:gd name="T7" fmla="*/ 336 h 672"/>
                <a:gd name="T8" fmla="*/ 1104 w 1104"/>
                <a:gd name="T9" fmla="*/ 0 h 672"/>
                <a:gd name="T10" fmla="*/ 0 w 1104"/>
                <a:gd name="T11" fmla="*/ 0 h 672"/>
                <a:gd name="T12" fmla="*/ 0 w 1104"/>
                <a:gd name="T13" fmla="*/ 336 h 672"/>
                <a:gd name="T14" fmla="*/ 384 w 1104"/>
                <a:gd name="T15" fmla="*/ 336 h 672"/>
                <a:gd name="T16" fmla="*/ 384 w 1104"/>
                <a:gd name="T17" fmla="*/ 672 h 6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04" h="672">
                  <a:moveTo>
                    <a:pt x="384" y="672"/>
                  </a:moveTo>
                  <a:lnTo>
                    <a:pt x="768" y="672"/>
                  </a:lnTo>
                  <a:lnTo>
                    <a:pt x="768" y="336"/>
                  </a:lnTo>
                  <a:lnTo>
                    <a:pt x="1104" y="336"/>
                  </a:lnTo>
                  <a:lnTo>
                    <a:pt x="1104" y="0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384" y="336"/>
                  </a:lnTo>
                  <a:lnTo>
                    <a:pt x="384" y="672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Box 7"/>
            <p:cNvSpPr txBox="1">
              <a:spLocks noChangeArrowheads="1"/>
            </p:cNvSpPr>
            <p:nvPr/>
          </p:nvSpPr>
          <p:spPr bwMode="auto">
            <a:xfrm>
              <a:off x="6095999" y="5562600"/>
              <a:ext cx="98728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Ada</a:t>
              </a:r>
            </a:p>
          </p:txBody>
        </p:sp>
        <p:sp>
          <p:nvSpPr>
            <p:cNvPr id="17" name="Text Box 8"/>
            <p:cNvSpPr txBox="1">
              <a:spLocks noChangeArrowheads="1"/>
            </p:cNvSpPr>
            <p:nvPr/>
          </p:nvSpPr>
          <p:spPr bwMode="auto">
            <a:xfrm>
              <a:off x="8077200" y="5562600"/>
              <a:ext cx="85725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Mac</a:t>
              </a:r>
            </a:p>
          </p:txBody>
        </p:sp>
        <p:sp>
          <p:nvSpPr>
            <p:cNvPr id="18" name="Text Box 9"/>
            <p:cNvSpPr txBox="1">
              <a:spLocks noChangeArrowheads="1"/>
            </p:cNvSpPr>
            <p:nvPr/>
          </p:nvSpPr>
          <p:spPr bwMode="auto">
            <a:xfrm>
              <a:off x="7083286" y="6096000"/>
              <a:ext cx="91771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C++</a:t>
              </a:r>
            </a:p>
          </p:txBody>
        </p:sp>
        <p:cxnSp>
          <p:nvCxnSpPr>
            <p:cNvPr id="5" name="Straight Arrow Connector 4"/>
            <p:cNvCxnSpPr/>
            <p:nvPr/>
          </p:nvCxnSpPr>
          <p:spPr bwMode="auto">
            <a:xfrm>
              <a:off x="7086600" y="5867400"/>
              <a:ext cx="9906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2" name="Group 31"/>
          <p:cNvGrpSpPr/>
          <p:nvPr/>
        </p:nvGrpSpPr>
        <p:grpSpPr>
          <a:xfrm>
            <a:off x="5402414" y="4710114"/>
            <a:ext cx="2838451" cy="1066800"/>
            <a:chOff x="6095999" y="5562600"/>
            <a:chExt cx="2838451" cy="1066800"/>
          </a:xfrm>
        </p:grpSpPr>
        <p:sp>
          <p:nvSpPr>
            <p:cNvPr id="33" name="Freeform 6"/>
            <p:cNvSpPr>
              <a:spLocks/>
            </p:cNvSpPr>
            <p:nvPr/>
          </p:nvSpPr>
          <p:spPr bwMode="auto">
            <a:xfrm>
              <a:off x="6096000" y="5562600"/>
              <a:ext cx="2838450" cy="1066800"/>
            </a:xfrm>
            <a:custGeom>
              <a:avLst/>
              <a:gdLst>
                <a:gd name="T0" fmla="*/ 384 w 1104"/>
                <a:gd name="T1" fmla="*/ 672 h 672"/>
                <a:gd name="T2" fmla="*/ 768 w 1104"/>
                <a:gd name="T3" fmla="*/ 672 h 672"/>
                <a:gd name="T4" fmla="*/ 768 w 1104"/>
                <a:gd name="T5" fmla="*/ 336 h 672"/>
                <a:gd name="T6" fmla="*/ 1104 w 1104"/>
                <a:gd name="T7" fmla="*/ 336 h 672"/>
                <a:gd name="T8" fmla="*/ 1104 w 1104"/>
                <a:gd name="T9" fmla="*/ 0 h 672"/>
                <a:gd name="T10" fmla="*/ 0 w 1104"/>
                <a:gd name="T11" fmla="*/ 0 h 672"/>
                <a:gd name="T12" fmla="*/ 0 w 1104"/>
                <a:gd name="T13" fmla="*/ 336 h 672"/>
                <a:gd name="T14" fmla="*/ 384 w 1104"/>
                <a:gd name="T15" fmla="*/ 336 h 672"/>
                <a:gd name="T16" fmla="*/ 384 w 1104"/>
                <a:gd name="T17" fmla="*/ 672 h 6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04" h="672">
                  <a:moveTo>
                    <a:pt x="384" y="672"/>
                  </a:moveTo>
                  <a:lnTo>
                    <a:pt x="768" y="672"/>
                  </a:lnTo>
                  <a:lnTo>
                    <a:pt x="768" y="336"/>
                  </a:lnTo>
                  <a:lnTo>
                    <a:pt x="1104" y="336"/>
                  </a:lnTo>
                  <a:lnTo>
                    <a:pt x="1104" y="0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384" y="336"/>
                  </a:lnTo>
                  <a:lnTo>
                    <a:pt x="384" y="672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Box 7"/>
            <p:cNvSpPr txBox="1">
              <a:spLocks noChangeArrowheads="1"/>
            </p:cNvSpPr>
            <p:nvPr/>
          </p:nvSpPr>
          <p:spPr bwMode="auto">
            <a:xfrm>
              <a:off x="6095999" y="5562600"/>
              <a:ext cx="98728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C++</a:t>
              </a:r>
            </a:p>
          </p:txBody>
        </p:sp>
        <p:sp>
          <p:nvSpPr>
            <p:cNvPr id="35" name="Text Box 8"/>
            <p:cNvSpPr txBox="1">
              <a:spLocks noChangeArrowheads="1"/>
            </p:cNvSpPr>
            <p:nvPr/>
          </p:nvSpPr>
          <p:spPr bwMode="auto">
            <a:xfrm>
              <a:off x="8077200" y="5562600"/>
              <a:ext cx="85725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Sun</a:t>
              </a:r>
            </a:p>
          </p:txBody>
        </p:sp>
        <p:sp>
          <p:nvSpPr>
            <p:cNvPr id="36" name="Text Box 9"/>
            <p:cNvSpPr txBox="1">
              <a:spLocks noChangeArrowheads="1"/>
            </p:cNvSpPr>
            <p:nvPr/>
          </p:nvSpPr>
          <p:spPr bwMode="auto">
            <a:xfrm>
              <a:off x="7083286" y="6096000"/>
              <a:ext cx="91771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PC</a:t>
              </a:r>
            </a:p>
          </p:txBody>
        </p:sp>
        <p:cxnSp>
          <p:nvCxnSpPr>
            <p:cNvPr id="37" name="Straight Arrow Connector 36"/>
            <p:cNvCxnSpPr/>
            <p:nvPr/>
          </p:nvCxnSpPr>
          <p:spPr bwMode="auto">
            <a:xfrm>
              <a:off x="7086600" y="5867400"/>
              <a:ext cx="9906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E3E144-8370-41D9-8421-0E16D7CBE7C0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T-Diagram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948966"/>
            <a:ext cx="8648700" cy="2282955"/>
          </a:xfrm>
        </p:spPr>
        <p:txBody>
          <a:bodyPr/>
          <a:lstStyle/>
          <a:p>
            <a:pPr eaLnBrk="1" hangingPunct="1"/>
            <a:r>
              <a:rPr lang="en-US" altLang="en-US" sz="2800"/>
              <a:t>M </a:t>
            </a:r>
            <a:r>
              <a:rPr lang="en-US" altLang="en-US" sz="2800" err="1"/>
              <a:t>là</a:t>
            </a:r>
            <a:r>
              <a:rPr lang="en-US" altLang="en-US" sz="2800"/>
              <a:t> </a:t>
            </a:r>
            <a:r>
              <a:rPr lang="en-US" altLang="en-US" sz="2800" err="1"/>
              <a:t>máy</a:t>
            </a:r>
            <a:r>
              <a:rPr lang="en-US" altLang="en-US" sz="2800"/>
              <a:t> </a:t>
            </a:r>
            <a:r>
              <a:rPr lang="en-US" altLang="en-US" sz="2800" err="1"/>
              <a:t>tính</a:t>
            </a:r>
            <a:r>
              <a:rPr lang="en-US" altLang="en-US" sz="2800"/>
              <a:t>, </a:t>
            </a:r>
            <a:r>
              <a:rPr lang="en-US" altLang="en-US" sz="2800" err="1"/>
              <a:t>có</a:t>
            </a:r>
            <a:r>
              <a:rPr lang="en-US" altLang="en-US" sz="2800"/>
              <a:t> </a:t>
            </a:r>
            <a:r>
              <a:rPr lang="en-US" altLang="en-US" sz="2800" err="1"/>
              <a:t>ngôn</a:t>
            </a:r>
            <a:r>
              <a:rPr lang="en-US" altLang="en-US" sz="2800"/>
              <a:t> </a:t>
            </a:r>
            <a:r>
              <a:rPr lang="en-US" altLang="en-US" sz="2800" err="1"/>
              <a:t>ngữ</a:t>
            </a:r>
            <a:r>
              <a:rPr lang="en-US" altLang="en-US" sz="2800"/>
              <a:t> </a:t>
            </a:r>
            <a:r>
              <a:rPr lang="en-US" altLang="en-US" sz="2800" err="1"/>
              <a:t>máy</a:t>
            </a:r>
            <a:r>
              <a:rPr lang="en-US" altLang="en-US" sz="2800"/>
              <a:t> M</a:t>
            </a:r>
          </a:p>
          <a:p>
            <a:pPr eaLnBrk="1" hangingPunct="1"/>
            <a:r>
              <a:rPr lang="en-US" altLang="en-US"/>
              <a:t>T</a:t>
            </a:r>
            <a:r>
              <a:rPr lang="en-US" altLang="en-US" sz="2800" baseline="-25000"/>
              <a:t>M</a:t>
            </a:r>
            <a:r>
              <a:rPr lang="en-US" altLang="en-US" sz="2800" baseline="30000"/>
              <a:t>S</a:t>
            </a:r>
            <a:r>
              <a:rPr lang="en-US" altLang="en-US" sz="2800" baseline="30000">
                <a:sym typeface="Symbol" panose="05050102010706020507" pitchFamily="18" charset="2"/>
              </a:rPr>
              <a:t></a:t>
            </a:r>
            <a:r>
              <a:rPr lang="en-US" altLang="en-US" sz="2800" baseline="30000"/>
              <a:t>T </a:t>
            </a:r>
            <a:r>
              <a:rPr lang="en-US" altLang="en-US" sz="2800"/>
              <a:t>: </a:t>
            </a:r>
            <a:r>
              <a:rPr lang="en-US" altLang="en-US" sz="2800" err="1"/>
              <a:t>Chương</a:t>
            </a:r>
            <a:r>
              <a:rPr lang="en-US" altLang="en-US" sz="2800"/>
              <a:t> </a:t>
            </a:r>
            <a:r>
              <a:rPr lang="en-US" altLang="en-US" sz="2800" err="1"/>
              <a:t>trình</a:t>
            </a:r>
            <a:r>
              <a:rPr lang="en-US" altLang="en-US" sz="2800"/>
              <a:t> </a:t>
            </a:r>
            <a:r>
              <a:rPr lang="en-US" altLang="en-US" sz="2800" err="1"/>
              <a:t>dịch</a:t>
            </a:r>
            <a:r>
              <a:rPr lang="en-US" altLang="en-US" sz="2800"/>
              <a:t> </a:t>
            </a:r>
            <a:r>
              <a:rPr lang="en-US" altLang="en-US" sz="2800" err="1"/>
              <a:t>trên</a:t>
            </a:r>
            <a:r>
              <a:rPr lang="en-US" altLang="en-US" sz="2800"/>
              <a:t> M, </a:t>
            </a:r>
            <a:r>
              <a:rPr lang="en-US" altLang="en-US" sz="2800" err="1"/>
              <a:t>dịch</a:t>
            </a:r>
            <a:r>
              <a:rPr lang="en-US" altLang="en-US" sz="2800"/>
              <a:t> </a:t>
            </a:r>
            <a:r>
              <a:rPr lang="en-US" altLang="en-US" sz="2800" err="1"/>
              <a:t>từ</a:t>
            </a:r>
            <a:r>
              <a:rPr lang="en-US" altLang="en-US" sz="2800"/>
              <a:t>  S</a:t>
            </a:r>
            <a:r>
              <a:rPr lang="en-US" altLang="en-US" sz="2800">
                <a:sym typeface="Symbol" panose="05050102010706020507" pitchFamily="18" charset="2"/>
              </a:rPr>
              <a:t></a:t>
            </a:r>
            <a:r>
              <a:rPr lang="en-US" altLang="en-US" sz="2800"/>
              <a:t>T</a:t>
            </a:r>
          </a:p>
          <a:p>
            <a:pPr lvl="1" eaLnBrk="1" hangingPunct="1"/>
            <a:r>
              <a:rPr lang="en-US" altLang="en-US" sz="2400" b="1"/>
              <a:t>Input: </a:t>
            </a:r>
            <a:r>
              <a:rPr lang="en-US" altLang="en-US" sz="2400" err="1"/>
              <a:t>Chương</a:t>
            </a:r>
            <a:r>
              <a:rPr lang="en-US" altLang="en-US" sz="2400"/>
              <a:t> </a:t>
            </a:r>
            <a:r>
              <a:rPr lang="en-US" altLang="en-US" sz="2400" err="1"/>
              <a:t>trình</a:t>
            </a:r>
            <a:r>
              <a:rPr lang="en-US" altLang="en-US" sz="2400"/>
              <a:t> </a:t>
            </a:r>
            <a:r>
              <a:rPr lang="en-US" altLang="en-US" sz="2400" err="1"/>
              <a:t>viết</a:t>
            </a:r>
            <a:r>
              <a:rPr lang="en-US" altLang="en-US" sz="2400"/>
              <a:t> </a:t>
            </a:r>
            <a:r>
              <a:rPr lang="en-US" altLang="en-US" sz="2400" err="1"/>
              <a:t>bằng</a:t>
            </a:r>
            <a:r>
              <a:rPr lang="en-US" altLang="en-US" sz="2400"/>
              <a:t> </a:t>
            </a:r>
            <a:r>
              <a:rPr lang="en-US" altLang="en-US" sz="2400" err="1"/>
              <a:t>ngôn</a:t>
            </a:r>
            <a:r>
              <a:rPr lang="en-US" altLang="en-US" sz="2400"/>
              <a:t> </a:t>
            </a:r>
            <a:r>
              <a:rPr lang="en-US" altLang="en-US" sz="2400" err="1"/>
              <a:t>ngữ</a:t>
            </a:r>
            <a:r>
              <a:rPr lang="en-US" altLang="en-US" sz="2400"/>
              <a:t> S</a:t>
            </a:r>
          </a:p>
          <a:p>
            <a:pPr lvl="1" eaLnBrk="1" hangingPunct="1"/>
            <a:r>
              <a:rPr lang="en-US" altLang="en-US" sz="2400" b="1"/>
              <a:t>Output: </a:t>
            </a:r>
            <a:r>
              <a:rPr lang="en-US" altLang="en-US" sz="2400" err="1"/>
              <a:t>Chương</a:t>
            </a:r>
            <a:r>
              <a:rPr lang="en-US" altLang="en-US" sz="2400"/>
              <a:t> </a:t>
            </a:r>
            <a:r>
              <a:rPr lang="en-US" altLang="en-US" sz="2400" err="1"/>
              <a:t>trình</a:t>
            </a:r>
            <a:r>
              <a:rPr lang="en-US" altLang="en-US" sz="2400"/>
              <a:t> </a:t>
            </a:r>
            <a:r>
              <a:rPr lang="en-US" altLang="en-US" sz="2400" err="1"/>
              <a:t>viết</a:t>
            </a:r>
            <a:r>
              <a:rPr lang="en-US" altLang="en-US" sz="2400"/>
              <a:t> </a:t>
            </a:r>
            <a:r>
              <a:rPr lang="en-US" altLang="en-US" sz="2400" err="1"/>
              <a:t>bằng</a:t>
            </a:r>
            <a:r>
              <a:rPr lang="en-US" altLang="en-US" sz="2400"/>
              <a:t> </a:t>
            </a:r>
            <a:r>
              <a:rPr lang="en-US" altLang="en-US" sz="2400" err="1"/>
              <a:t>ngôn</a:t>
            </a:r>
            <a:r>
              <a:rPr lang="en-US" altLang="en-US" sz="2400"/>
              <a:t> </a:t>
            </a:r>
            <a:r>
              <a:rPr lang="en-US" altLang="en-US" sz="2400" err="1"/>
              <a:t>ngữ</a:t>
            </a:r>
            <a:r>
              <a:rPr lang="en-US" altLang="en-US" sz="2400"/>
              <a:t> T</a:t>
            </a:r>
          </a:p>
        </p:txBody>
      </p:sp>
      <p:sp>
        <p:nvSpPr>
          <p:cNvPr id="16389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Ngôn ngữ lập trình cấp cao và trình dịch</a:t>
            </a:r>
          </a:p>
        </p:txBody>
      </p:sp>
      <p:grpSp>
        <p:nvGrpSpPr>
          <p:cNvPr id="16390" name="Group 5"/>
          <p:cNvGrpSpPr>
            <a:grpSpLocks/>
          </p:cNvGrpSpPr>
          <p:nvPr/>
        </p:nvGrpSpPr>
        <p:grpSpPr bwMode="auto">
          <a:xfrm>
            <a:off x="595814" y="4218290"/>
            <a:ext cx="1752600" cy="1066800"/>
            <a:chOff x="4272" y="3456"/>
            <a:chExt cx="1104" cy="672"/>
          </a:xfrm>
        </p:grpSpPr>
        <p:sp>
          <p:nvSpPr>
            <p:cNvPr id="16419" name="Freeform 6"/>
            <p:cNvSpPr>
              <a:spLocks/>
            </p:cNvSpPr>
            <p:nvPr/>
          </p:nvSpPr>
          <p:spPr bwMode="auto">
            <a:xfrm>
              <a:off x="4272" y="3456"/>
              <a:ext cx="1104" cy="672"/>
            </a:xfrm>
            <a:custGeom>
              <a:avLst/>
              <a:gdLst>
                <a:gd name="T0" fmla="*/ 384 w 1104"/>
                <a:gd name="T1" fmla="*/ 672 h 672"/>
                <a:gd name="T2" fmla="*/ 768 w 1104"/>
                <a:gd name="T3" fmla="*/ 672 h 672"/>
                <a:gd name="T4" fmla="*/ 768 w 1104"/>
                <a:gd name="T5" fmla="*/ 336 h 672"/>
                <a:gd name="T6" fmla="*/ 1104 w 1104"/>
                <a:gd name="T7" fmla="*/ 336 h 672"/>
                <a:gd name="T8" fmla="*/ 1104 w 1104"/>
                <a:gd name="T9" fmla="*/ 0 h 672"/>
                <a:gd name="T10" fmla="*/ 0 w 1104"/>
                <a:gd name="T11" fmla="*/ 0 h 672"/>
                <a:gd name="T12" fmla="*/ 0 w 1104"/>
                <a:gd name="T13" fmla="*/ 336 h 672"/>
                <a:gd name="T14" fmla="*/ 384 w 1104"/>
                <a:gd name="T15" fmla="*/ 336 h 672"/>
                <a:gd name="T16" fmla="*/ 384 w 1104"/>
                <a:gd name="T17" fmla="*/ 672 h 6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04" h="672">
                  <a:moveTo>
                    <a:pt x="384" y="672"/>
                  </a:moveTo>
                  <a:lnTo>
                    <a:pt x="768" y="672"/>
                  </a:lnTo>
                  <a:lnTo>
                    <a:pt x="768" y="336"/>
                  </a:lnTo>
                  <a:lnTo>
                    <a:pt x="1104" y="336"/>
                  </a:lnTo>
                  <a:lnTo>
                    <a:pt x="1104" y="0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384" y="336"/>
                  </a:lnTo>
                  <a:lnTo>
                    <a:pt x="384" y="672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0" name="Text Box 7"/>
            <p:cNvSpPr txBox="1">
              <a:spLocks noChangeArrowheads="1"/>
            </p:cNvSpPr>
            <p:nvPr/>
          </p:nvSpPr>
          <p:spPr bwMode="auto">
            <a:xfrm>
              <a:off x="4272" y="3456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16421" name="Text Box 8"/>
            <p:cNvSpPr txBox="1">
              <a:spLocks noChangeArrowheads="1"/>
            </p:cNvSpPr>
            <p:nvPr/>
          </p:nvSpPr>
          <p:spPr bwMode="auto">
            <a:xfrm>
              <a:off x="5040" y="3456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16422" name="Text Box 9"/>
            <p:cNvSpPr txBox="1">
              <a:spLocks noChangeArrowheads="1"/>
            </p:cNvSpPr>
            <p:nvPr/>
          </p:nvSpPr>
          <p:spPr bwMode="auto">
            <a:xfrm>
              <a:off x="4656" y="3792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6423" name="Line 10"/>
            <p:cNvSpPr>
              <a:spLocks noChangeShapeType="1"/>
            </p:cNvSpPr>
            <p:nvPr/>
          </p:nvSpPr>
          <p:spPr bwMode="auto">
            <a:xfrm>
              <a:off x="4587" y="3639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121193" y="3276600"/>
            <a:ext cx="6293268" cy="1828800"/>
            <a:chOff x="990600" y="2667000"/>
            <a:chExt cx="6293268" cy="1828800"/>
          </a:xfrm>
        </p:grpSpPr>
        <p:grpSp>
          <p:nvGrpSpPr>
            <p:cNvPr id="16391" name="Group 11"/>
            <p:cNvGrpSpPr>
              <a:grpSpLocks/>
            </p:cNvGrpSpPr>
            <p:nvPr/>
          </p:nvGrpSpPr>
          <p:grpSpPr bwMode="auto">
            <a:xfrm>
              <a:off x="3276600" y="2970541"/>
              <a:ext cx="1752600" cy="1066800"/>
              <a:chOff x="4272" y="3456"/>
              <a:chExt cx="1104" cy="672"/>
            </a:xfrm>
          </p:grpSpPr>
          <p:sp>
            <p:nvSpPr>
              <p:cNvPr id="16414" name="Freeform 12"/>
              <p:cNvSpPr>
                <a:spLocks/>
              </p:cNvSpPr>
              <p:nvPr/>
            </p:nvSpPr>
            <p:spPr bwMode="auto">
              <a:xfrm>
                <a:off x="4272" y="3456"/>
                <a:ext cx="1104" cy="672"/>
              </a:xfrm>
              <a:custGeom>
                <a:avLst/>
                <a:gdLst>
                  <a:gd name="T0" fmla="*/ 384 w 1104"/>
                  <a:gd name="T1" fmla="*/ 672 h 672"/>
                  <a:gd name="T2" fmla="*/ 768 w 1104"/>
                  <a:gd name="T3" fmla="*/ 672 h 672"/>
                  <a:gd name="T4" fmla="*/ 768 w 1104"/>
                  <a:gd name="T5" fmla="*/ 336 h 672"/>
                  <a:gd name="T6" fmla="*/ 1104 w 1104"/>
                  <a:gd name="T7" fmla="*/ 336 h 672"/>
                  <a:gd name="T8" fmla="*/ 1104 w 1104"/>
                  <a:gd name="T9" fmla="*/ 0 h 672"/>
                  <a:gd name="T10" fmla="*/ 0 w 1104"/>
                  <a:gd name="T11" fmla="*/ 0 h 672"/>
                  <a:gd name="T12" fmla="*/ 0 w 1104"/>
                  <a:gd name="T13" fmla="*/ 336 h 672"/>
                  <a:gd name="T14" fmla="*/ 384 w 1104"/>
                  <a:gd name="T15" fmla="*/ 336 h 672"/>
                  <a:gd name="T16" fmla="*/ 384 w 1104"/>
                  <a:gd name="T17" fmla="*/ 672 h 67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04" h="672">
                    <a:moveTo>
                      <a:pt x="384" y="672"/>
                    </a:moveTo>
                    <a:lnTo>
                      <a:pt x="768" y="672"/>
                    </a:lnTo>
                    <a:lnTo>
                      <a:pt x="768" y="336"/>
                    </a:lnTo>
                    <a:lnTo>
                      <a:pt x="1104" y="336"/>
                    </a:lnTo>
                    <a:lnTo>
                      <a:pt x="1104" y="0"/>
                    </a:lnTo>
                    <a:lnTo>
                      <a:pt x="0" y="0"/>
                    </a:lnTo>
                    <a:lnTo>
                      <a:pt x="0" y="336"/>
                    </a:lnTo>
                    <a:lnTo>
                      <a:pt x="384" y="336"/>
                    </a:lnTo>
                    <a:lnTo>
                      <a:pt x="384" y="67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15" name="Text Box 13"/>
              <p:cNvSpPr txBox="1">
                <a:spLocks noChangeArrowheads="1"/>
              </p:cNvSpPr>
              <p:nvPr/>
            </p:nvSpPr>
            <p:spPr bwMode="auto">
              <a:xfrm>
                <a:off x="4272" y="3456"/>
                <a:ext cx="33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16416" name="Text Box 14"/>
              <p:cNvSpPr txBox="1">
                <a:spLocks noChangeArrowheads="1"/>
              </p:cNvSpPr>
              <p:nvPr/>
            </p:nvSpPr>
            <p:spPr bwMode="auto">
              <a:xfrm>
                <a:off x="5040" y="3456"/>
                <a:ext cx="33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>
                    <a:solidFill>
                      <a:schemeClr val="tx1"/>
                    </a:solidFill>
                  </a:rPr>
                  <a:t>T</a:t>
                </a:r>
              </a:p>
            </p:txBody>
          </p:sp>
          <p:sp>
            <p:nvSpPr>
              <p:cNvPr id="16417" name="Text Box 15"/>
              <p:cNvSpPr txBox="1">
                <a:spLocks noChangeArrowheads="1"/>
              </p:cNvSpPr>
              <p:nvPr/>
            </p:nvSpPr>
            <p:spPr bwMode="auto">
              <a:xfrm>
                <a:off x="4656" y="3792"/>
                <a:ext cx="33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>
                    <a:solidFill>
                      <a:schemeClr val="tx1"/>
                    </a:solidFill>
                  </a:rPr>
                  <a:t>M</a:t>
                </a:r>
              </a:p>
            </p:txBody>
          </p:sp>
          <p:sp>
            <p:nvSpPr>
              <p:cNvPr id="16418" name="Line 16"/>
              <p:cNvSpPr>
                <a:spLocks noChangeShapeType="1"/>
              </p:cNvSpPr>
              <p:nvPr/>
            </p:nvSpPr>
            <p:spPr bwMode="auto">
              <a:xfrm>
                <a:off x="4587" y="3639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" name="Rectangle 2"/>
            <p:cNvSpPr/>
            <p:nvPr/>
          </p:nvSpPr>
          <p:spPr bwMode="auto">
            <a:xfrm>
              <a:off x="2514600" y="2667000"/>
              <a:ext cx="3200400" cy="18288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0" y="3911025"/>
              <a:ext cx="685800" cy="584775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0"/>
                <a:t>M</a:t>
              </a:r>
            </a:p>
          </p:txBody>
        </p:sp>
        <p:cxnSp>
          <p:nvCxnSpPr>
            <p:cNvPr id="6" name="Straight Arrow Connector 5"/>
            <p:cNvCxnSpPr/>
            <p:nvPr/>
          </p:nvCxnSpPr>
          <p:spPr bwMode="auto">
            <a:xfrm>
              <a:off x="990600" y="3429000"/>
              <a:ext cx="1524000" cy="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Straight Arrow Connector 45"/>
            <p:cNvCxnSpPr/>
            <p:nvPr/>
          </p:nvCxnSpPr>
          <p:spPr bwMode="auto">
            <a:xfrm>
              <a:off x="5759868" y="3503941"/>
              <a:ext cx="1524000" cy="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" name="TextBox 7"/>
            <p:cNvSpPr txBox="1"/>
            <p:nvPr/>
          </p:nvSpPr>
          <p:spPr>
            <a:xfrm>
              <a:off x="1138990" y="2873746"/>
              <a:ext cx="12272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0"/>
                <a:t>Input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011779" y="2970541"/>
              <a:ext cx="12272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0"/>
                <a:t>Output</a:t>
              </a:r>
            </a:p>
          </p:txBody>
        </p:sp>
      </p:grpSp>
      <p:grpSp>
        <p:nvGrpSpPr>
          <p:cNvPr id="49" name="Group 5"/>
          <p:cNvGrpSpPr>
            <a:grpSpLocks/>
          </p:cNvGrpSpPr>
          <p:nvPr/>
        </p:nvGrpSpPr>
        <p:grpSpPr bwMode="auto">
          <a:xfrm>
            <a:off x="5993982" y="4266571"/>
            <a:ext cx="1752600" cy="1066800"/>
            <a:chOff x="4272" y="3456"/>
            <a:chExt cx="1104" cy="672"/>
          </a:xfrm>
        </p:grpSpPr>
        <p:sp>
          <p:nvSpPr>
            <p:cNvPr id="50" name="Freeform 6"/>
            <p:cNvSpPr>
              <a:spLocks/>
            </p:cNvSpPr>
            <p:nvPr/>
          </p:nvSpPr>
          <p:spPr bwMode="auto">
            <a:xfrm>
              <a:off x="4272" y="3456"/>
              <a:ext cx="1104" cy="672"/>
            </a:xfrm>
            <a:custGeom>
              <a:avLst/>
              <a:gdLst>
                <a:gd name="T0" fmla="*/ 384 w 1104"/>
                <a:gd name="T1" fmla="*/ 672 h 672"/>
                <a:gd name="T2" fmla="*/ 768 w 1104"/>
                <a:gd name="T3" fmla="*/ 672 h 672"/>
                <a:gd name="T4" fmla="*/ 768 w 1104"/>
                <a:gd name="T5" fmla="*/ 336 h 672"/>
                <a:gd name="T6" fmla="*/ 1104 w 1104"/>
                <a:gd name="T7" fmla="*/ 336 h 672"/>
                <a:gd name="T8" fmla="*/ 1104 w 1104"/>
                <a:gd name="T9" fmla="*/ 0 h 672"/>
                <a:gd name="T10" fmla="*/ 0 w 1104"/>
                <a:gd name="T11" fmla="*/ 0 h 672"/>
                <a:gd name="T12" fmla="*/ 0 w 1104"/>
                <a:gd name="T13" fmla="*/ 336 h 672"/>
                <a:gd name="T14" fmla="*/ 384 w 1104"/>
                <a:gd name="T15" fmla="*/ 336 h 672"/>
                <a:gd name="T16" fmla="*/ 384 w 1104"/>
                <a:gd name="T17" fmla="*/ 672 h 6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04" h="672">
                  <a:moveTo>
                    <a:pt x="384" y="672"/>
                  </a:moveTo>
                  <a:lnTo>
                    <a:pt x="768" y="672"/>
                  </a:lnTo>
                  <a:lnTo>
                    <a:pt x="768" y="336"/>
                  </a:lnTo>
                  <a:lnTo>
                    <a:pt x="1104" y="336"/>
                  </a:lnTo>
                  <a:lnTo>
                    <a:pt x="1104" y="0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384" y="336"/>
                  </a:lnTo>
                  <a:lnTo>
                    <a:pt x="384" y="672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 Box 7"/>
            <p:cNvSpPr txBox="1">
              <a:spLocks noChangeArrowheads="1"/>
            </p:cNvSpPr>
            <p:nvPr/>
          </p:nvSpPr>
          <p:spPr bwMode="auto">
            <a:xfrm>
              <a:off x="4272" y="3456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52" name="Text Box 8"/>
            <p:cNvSpPr txBox="1">
              <a:spLocks noChangeArrowheads="1"/>
            </p:cNvSpPr>
            <p:nvPr/>
          </p:nvSpPr>
          <p:spPr bwMode="auto">
            <a:xfrm>
              <a:off x="5040" y="3456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53" name="Text Box 9"/>
            <p:cNvSpPr txBox="1">
              <a:spLocks noChangeArrowheads="1"/>
            </p:cNvSpPr>
            <p:nvPr/>
          </p:nvSpPr>
          <p:spPr bwMode="auto">
            <a:xfrm>
              <a:off x="4656" y="3792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T</a:t>
              </a:r>
            </a:p>
          </p:txBody>
        </p:sp>
        <p:sp>
          <p:nvSpPr>
            <p:cNvPr id="54" name="Line 10"/>
            <p:cNvSpPr>
              <a:spLocks noChangeShapeType="1"/>
            </p:cNvSpPr>
            <p:nvPr/>
          </p:nvSpPr>
          <p:spPr bwMode="auto">
            <a:xfrm>
              <a:off x="4587" y="3639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2C8EA7-FB6E-4DB3-A542-C500EED5BB3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Xây dựng chương trình dịch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550" y="914400"/>
            <a:ext cx="8724900" cy="5859463"/>
          </a:xfrm>
        </p:spPr>
        <p:txBody>
          <a:bodyPr/>
          <a:lstStyle/>
          <a:p>
            <a:pPr eaLnBrk="1" hangingPunct="1"/>
            <a:r>
              <a:rPr lang="en-US" altLang="en-US" err="1"/>
              <a:t>Viết</a:t>
            </a:r>
            <a:r>
              <a:rPr lang="en-US" altLang="en-US"/>
              <a:t> </a:t>
            </a:r>
            <a:r>
              <a:rPr lang="en-US" altLang="en-US" err="1"/>
              <a:t>trực</a:t>
            </a:r>
            <a:r>
              <a:rPr lang="en-US" altLang="en-US"/>
              <a:t> </a:t>
            </a:r>
            <a:r>
              <a:rPr lang="en-US" altLang="en-US" err="1"/>
              <a:t>tiếp</a:t>
            </a:r>
            <a:r>
              <a:rPr lang="en-US" altLang="en-US"/>
              <a:t> </a:t>
            </a:r>
            <a:r>
              <a:rPr lang="en-US" altLang="en-US" err="1"/>
              <a:t>từ</a:t>
            </a:r>
            <a:r>
              <a:rPr lang="en-US" altLang="en-US"/>
              <a:t> </a:t>
            </a:r>
            <a:r>
              <a:rPr lang="en-US" altLang="en-US" err="1"/>
              <a:t>ngôn</a:t>
            </a:r>
            <a:r>
              <a:rPr lang="en-US" altLang="en-US"/>
              <a:t> </a:t>
            </a:r>
            <a:r>
              <a:rPr lang="en-US" altLang="en-US" err="1"/>
              <a:t>ngữ</a:t>
            </a:r>
            <a:r>
              <a:rPr lang="en-US" altLang="en-US"/>
              <a:t> </a:t>
            </a:r>
            <a:r>
              <a:rPr lang="en-US" altLang="en-US" err="1"/>
              <a:t>máy</a:t>
            </a:r>
            <a:endParaRPr lang="en-US" altLang="en-US"/>
          </a:p>
          <a:p>
            <a:pPr marL="914400" lvl="1" indent="-347663" eaLnBrk="1" hangingPunct="1"/>
            <a:r>
              <a:rPr lang="en-US" altLang="en-US" err="1"/>
              <a:t>Khó</a:t>
            </a:r>
            <a:r>
              <a:rPr lang="en-US" altLang="en-US"/>
              <a:t> </a:t>
            </a:r>
            <a:r>
              <a:rPr lang="en-US" altLang="en-US" err="1"/>
              <a:t>khăn</a:t>
            </a:r>
            <a:endParaRPr lang="en-US" altLang="en-US"/>
          </a:p>
          <a:p>
            <a:pPr eaLnBrk="1" hangingPunct="1"/>
            <a:r>
              <a:rPr lang="en-US" altLang="en-US" err="1"/>
              <a:t>Sử</a:t>
            </a:r>
            <a:r>
              <a:rPr lang="en-US" altLang="en-US"/>
              <a:t> </a:t>
            </a:r>
            <a:r>
              <a:rPr lang="en-US" altLang="en-US" err="1"/>
              <a:t>dụng</a:t>
            </a:r>
            <a:r>
              <a:rPr lang="en-US" altLang="en-US"/>
              <a:t> </a:t>
            </a:r>
            <a:r>
              <a:rPr lang="en-US" altLang="en-US" err="1"/>
              <a:t>ngôn</a:t>
            </a:r>
            <a:r>
              <a:rPr lang="en-US" altLang="en-US"/>
              <a:t> </a:t>
            </a:r>
            <a:r>
              <a:rPr lang="en-US" altLang="en-US" err="1"/>
              <a:t>ngữ</a:t>
            </a:r>
            <a:r>
              <a:rPr lang="en-US" altLang="en-US"/>
              <a:t> </a:t>
            </a:r>
            <a:r>
              <a:rPr lang="en-US" altLang="en-US" err="1"/>
              <a:t>bậc</a:t>
            </a:r>
            <a:r>
              <a:rPr lang="en-US" altLang="en-US"/>
              <a:t> </a:t>
            </a:r>
            <a:r>
              <a:rPr lang="en-US" altLang="en-US" err="1"/>
              <a:t>cao</a:t>
            </a:r>
            <a:endParaRPr lang="en-US" altLang="en-US"/>
          </a:p>
          <a:p>
            <a:pPr marL="914400" lvl="1" indent="-347663" eaLnBrk="1" hangingPunct="1"/>
            <a:r>
              <a:rPr lang="en-US" altLang="en-US" err="1"/>
              <a:t>Dễ</a:t>
            </a:r>
            <a:r>
              <a:rPr lang="en-US" altLang="en-US"/>
              <a:t> </a:t>
            </a:r>
            <a:r>
              <a:rPr lang="en-US" altLang="en-US" err="1"/>
              <a:t>dàng</a:t>
            </a:r>
            <a:r>
              <a:rPr lang="en-US" altLang="en-US"/>
              <a:t> </a:t>
            </a:r>
            <a:r>
              <a:rPr lang="en-US" altLang="en-US" err="1"/>
              <a:t>thực</a:t>
            </a:r>
            <a:r>
              <a:rPr lang="en-US" altLang="en-US"/>
              <a:t> </a:t>
            </a:r>
            <a:r>
              <a:rPr lang="en-US" altLang="en-US" err="1"/>
              <a:t>hiện</a:t>
            </a:r>
            <a:r>
              <a:rPr lang="en-US" altLang="en-US"/>
              <a:t>, </a:t>
            </a:r>
            <a:r>
              <a:rPr lang="en-US" altLang="en-US" err="1"/>
              <a:t>gỡ</a:t>
            </a:r>
            <a:r>
              <a:rPr lang="en-US" altLang="en-US"/>
              <a:t> </a:t>
            </a:r>
            <a:r>
              <a:rPr lang="en-US" altLang="en-US" err="1"/>
              <a:t>rối</a:t>
            </a:r>
            <a:r>
              <a:rPr lang="en-US" altLang="en-US"/>
              <a:t>, </a:t>
            </a:r>
          </a:p>
          <a:p>
            <a:pPr marL="914400" lvl="1" indent="-347663" eaLnBrk="1" hangingPunct="1"/>
            <a:r>
              <a:rPr lang="en-US" altLang="en-US" err="1"/>
              <a:t>Hiệu</a:t>
            </a:r>
            <a:r>
              <a:rPr lang="en-US" altLang="en-US"/>
              <a:t> </a:t>
            </a:r>
            <a:r>
              <a:rPr lang="en-US" altLang="en-US" err="1"/>
              <a:t>quả</a:t>
            </a:r>
            <a:endParaRPr lang="en-US" altLang="en-US"/>
          </a:p>
          <a:p>
            <a:pPr marL="914400" lvl="1" indent="-347663" eaLnBrk="1" hangingPunct="1"/>
            <a:r>
              <a:rPr lang="en-US" altLang="en-US" err="1"/>
              <a:t>Tăng</a:t>
            </a:r>
            <a:r>
              <a:rPr lang="en-US" altLang="en-US"/>
              <a:t> </a:t>
            </a:r>
            <a:r>
              <a:rPr lang="en-US" altLang="en-US" err="1"/>
              <a:t>tính</a:t>
            </a:r>
            <a:r>
              <a:rPr lang="en-US" altLang="en-US"/>
              <a:t> </a:t>
            </a:r>
            <a:r>
              <a:rPr lang="en-US" altLang="en-US" err="1"/>
              <a:t>khả</a:t>
            </a:r>
            <a:r>
              <a:rPr lang="en-US" altLang="en-US"/>
              <a:t> </a:t>
            </a:r>
            <a:r>
              <a:rPr lang="en-US" altLang="en-US" err="1"/>
              <a:t>chuyển</a:t>
            </a:r>
            <a:r>
              <a:rPr lang="en-US" altLang="en-US"/>
              <a:t>,..</a:t>
            </a:r>
          </a:p>
          <a:p>
            <a:pPr marL="465138" indent="-457200" eaLnBrk="1" hangingPunct="1"/>
            <a:r>
              <a:rPr lang="en-US" altLang="en-US" err="1">
                <a:solidFill>
                  <a:srgbClr val="DF3507"/>
                </a:solidFill>
              </a:rPr>
              <a:t>Chương</a:t>
            </a:r>
            <a:r>
              <a:rPr lang="en-US" altLang="en-US">
                <a:solidFill>
                  <a:srgbClr val="DF3507"/>
                </a:solidFill>
              </a:rPr>
              <a:t> </a:t>
            </a:r>
            <a:r>
              <a:rPr lang="en-US" altLang="en-US" err="1">
                <a:solidFill>
                  <a:srgbClr val="DF3507"/>
                </a:solidFill>
              </a:rPr>
              <a:t>trình</a:t>
            </a:r>
            <a:r>
              <a:rPr lang="en-US" altLang="en-US">
                <a:solidFill>
                  <a:srgbClr val="DF3507"/>
                </a:solidFill>
              </a:rPr>
              <a:t> </a:t>
            </a:r>
            <a:r>
              <a:rPr lang="en-US" altLang="en-US" err="1">
                <a:solidFill>
                  <a:srgbClr val="DF3507"/>
                </a:solidFill>
              </a:rPr>
              <a:t>bậc</a:t>
            </a:r>
            <a:r>
              <a:rPr lang="en-US" altLang="en-US">
                <a:solidFill>
                  <a:srgbClr val="DF3507"/>
                </a:solidFill>
              </a:rPr>
              <a:t> </a:t>
            </a:r>
            <a:r>
              <a:rPr lang="en-US" altLang="en-US" err="1">
                <a:solidFill>
                  <a:srgbClr val="DF3507"/>
                </a:solidFill>
              </a:rPr>
              <a:t>cao</a:t>
            </a:r>
            <a:r>
              <a:rPr lang="en-US" altLang="en-US">
                <a:solidFill>
                  <a:srgbClr val="DF3507"/>
                </a:solidFill>
              </a:rPr>
              <a:t> </a:t>
            </a:r>
            <a:r>
              <a:rPr lang="en-US" altLang="en-US" err="1">
                <a:solidFill>
                  <a:srgbClr val="DF3507"/>
                </a:solidFill>
              </a:rPr>
              <a:t>đầu</a:t>
            </a:r>
            <a:r>
              <a:rPr lang="en-US" altLang="en-US">
                <a:solidFill>
                  <a:srgbClr val="DF3507"/>
                </a:solidFill>
              </a:rPr>
              <a:t> </a:t>
            </a:r>
            <a:r>
              <a:rPr lang="en-US" altLang="en-US" err="1">
                <a:solidFill>
                  <a:srgbClr val="DF3507"/>
                </a:solidFill>
              </a:rPr>
              <a:t>tiên</a:t>
            </a:r>
            <a:r>
              <a:rPr lang="en-US" altLang="en-US"/>
              <a:t>?</a:t>
            </a:r>
          </a:p>
          <a:p>
            <a:pPr marL="865188" lvl="1" indent="-457200" eaLnBrk="1" hangingPunct="1"/>
            <a:r>
              <a:rPr lang="en-US" altLang="en-US" err="1"/>
              <a:t>Chiến</a:t>
            </a:r>
            <a:r>
              <a:rPr lang="en-US" altLang="en-US"/>
              <a:t> </a:t>
            </a:r>
            <a:r>
              <a:rPr lang="en-US" altLang="en-US" err="1"/>
              <a:t>lược</a:t>
            </a:r>
            <a:r>
              <a:rPr lang="en-US" altLang="en-US"/>
              <a:t> </a:t>
            </a:r>
            <a:r>
              <a:rPr lang="en-US" altLang="en-US" err="1"/>
              <a:t>mồi</a:t>
            </a:r>
            <a:r>
              <a:rPr lang="en-US" altLang="en-US"/>
              <a:t> (</a:t>
            </a:r>
            <a:r>
              <a:rPr lang="en-US" altLang="en-US" i="1"/>
              <a:t>Bootstrapping</a:t>
            </a:r>
            <a:r>
              <a:rPr lang="en-US" altLang="en-US"/>
              <a:t>) : </a:t>
            </a:r>
            <a:r>
              <a:rPr lang="en-US" altLang="en-US" err="1"/>
              <a:t>Đầu</a:t>
            </a:r>
            <a:r>
              <a:rPr lang="en-US" altLang="en-US"/>
              <a:t> </a:t>
            </a:r>
            <a:r>
              <a:rPr lang="en-US" altLang="en-US" err="1"/>
              <a:t>vào</a:t>
            </a:r>
            <a:r>
              <a:rPr lang="en-US" altLang="en-US"/>
              <a:t> </a:t>
            </a:r>
            <a:r>
              <a:rPr lang="en-US" altLang="en-US" err="1"/>
              <a:t>của</a:t>
            </a:r>
            <a:r>
              <a:rPr lang="en-US" altLang="en-US"/>
              <a:t> </a:t>
            </a:r>
            <a:r>
              <a:rPr lang="en-US" altLang="en-US" err="1"/>
              <a:t>một</a:t>
            </a:r>
            <a:r>
              <a:rPr lang="en-US" altLang="en-US"/>
              <a:t> </a:t>
            </a:r>
            <a:r>
              <a:rPr lang="en-US" altLang="en-US" err="1"/>
              <a:t>chương</a:t>
            </a:r>
            <a:r>
              <a:rPr lang="en-US" altLang="en-US"/>
              <a:t> </a:t>
            </a:r>
            <a:r>
              <a:rPr lang="en-US" altLang="en-US" err="1"/>
              <a:t>trình</a:t>
            </a:r>
            <a:r>
              <a:rPr lang="en-US" altLang="en-US"/>
              <a:t> </a:t>
            </a:r>
            <a:r>
              <a:rPr lang="en-US" altLang="en-US" err="1"/>
              <a:t>là</a:t>
            </a:r>
            <a:r>
              <a:rPr lang="en-US" altLang="en-US"/>
              <a:t> </a:t>
            </a:r>
            <a:r>
              <a:rPr lang="en-US" altLang="en-US" err="1"/>
              <a:t>chính</a:t>
            </a:r>
            <a:r>
              <a:rPr lang="en-US" altLang="en-US"/>
              <a:t> </a:t>
            </a:r>
            <a:r>
              <a:rPr lang="en-US" altLang="en-US" err="1"/>
              <a:t>nó</a:t>
            </a:r>
            <a:endParaRPr lang="en-US" altLang="en-US"/>
          </a:p>
          <a:p>
            <a:pPr marL="514350" indent="-347663" eaLnBrk="1" hangingPunct="1"/>
            <a:endParaRPr lang="en-US" altLang="en-US"/>
          </a:p>
        </p:txBody>
      </p:sp>
      <p:sp>
        <p:nvSpPr>
          <p:cNvPr id="15365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Ngôn ngữ lập trình cấp cao và trình dịch</a:t>
            </a:r>
          </a:p>
        </p:txBody>
      </p:sp>
    </p:spTree>
    <p:extLst>
      <p:ext uri="{BB962C8B-B14F-4D97-AF65-F5344CB8AC3E}">
        <p14:creationId xmlns:p14="http://schemas.microsoft.com/office/powerpoint/2010/main" val="3327464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E3E144-8370-41D9-8421-0E16D7CBE7C0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err="1"/>
              <a:t>Xây</a:t>
            </a:r>
            <a:r>
              <a:rPr lang="en-US" altLang="en-US"/>
              <a:t> </a:t>
            </a:r>
            <a:r>
              <a:rPr lang="en-US" altLang="en-US" err="1"/>
              <a:t>dựng</a:t>
            </a:r>
            <a:r>
              <a:rPr lang="en-US" altLang="en-US"/>
              <a:t> </a:t>
            </a:r>
            <a:r>
              <a:rPr lang="en-US" altLang="en-US" err="1"/>
              <a:t>chương</a:t>
            </a:r>
            <a:r>
              <a:rPr lang="en-US" altLang="en-US"/>
              <a:t> </a:t>
            </a:r>
            <a:r>
              <a:rPr lang="en-US" altLang="en-US" err="1"/>
              <a:t>trình</a:t>
            </a:r>
            <a:r>
              <a:rPr lang="en-US" altLang="en-US"/>
              <a:t> </a:t>
            </a:r>
            <a:r>
              <a:rPr lang="en-US" altLang="en-US" err="1"/>
              <a:t>dịch</a:t>
            </a:r>
            <a:r>
              <a:rPr lang="en-US" altLang="en-US"/>
              <a:t>: </a:t>
            </a:r>
            <a:r>
              <a:rPr lang="en-US" altLang="en-US" i="1"/>
              <a:t>Bootstrapping</a:t>
            </a:r>
            <a:endParaRPr lang="en-US" altLang="en-US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838199"/>
            <a:ext cx="8648700" cy="3894223"/>
          </a:xfrm>
        </p:spPr>
        <p:txBody>
          <a:bodyPr/>
          <a:lstStyle/>
          <a:p>
            <a:pPr marL="166687" indent="0" eaLnBrk="1" hangingPunct="1">
              <a:buNone/>
            </a:pPr>
            <a:r>
              <a:rPr lang="en-US" altLang="en-US" b="1" err="1"/>
              <a:t>Yêu</a:t>
            </a:r>
            <a:r>
              <a:rPr lang="en-US" altLang="en-US" b="1"/>
              <a:t> </a:t>
            </a:r>
            <a:r>
              <a:rPr lang="en-US" altLang="en-US" b="1" err="1"/>
              <a:t>cầu</a:t>
            </a:r>
            <a:r>
              <a:rPr lang="en-US" altLang="en-US" b="1"/>
              <a:t>: </a:t>
            </a:r>
            <a:r>
              <a:rPr lang="en-US" altLang="en-US" err="1"/>
              <a:t>Viết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FA0617"/>
                </a:solidFill>
              </a:rPr>
              <a:t>T</a:t>
            </a:r>
            <a:r>
              <a:rPr lang="en-US" altLang="en-US" b="1" baseline="-25000">
                <a:solidFill>
                  <a:srgbClr val="FA0617"/>
                </a:solidFill>
              </a:rPr>
              <a:t>M</a:t>
            </a:r>
            <a:r>
              <a:rPr lang="en-US" altLang="en-US" b="1" baseline="30000">
                <a:solidFill>
                  <a:srgbClr val="FA0617"/>
                </a:solidFill>
              </a:rPr>
              <a:t>L</a:t>
            </a:r>
            <a:r>
              <a:rPr lang="en-US" altLang="en-US" b="1" baseline="30000">
                <a:solidFill>
                  <a:srgbClr val="FA0617"/>
                </a:solidFill>
                <a:sym typeface="Symbol" panose="05050102010706020507" pitchFamily="18" charset="2"/>
              </a:rPr>
              <a:t></a:t>
            </a:r>
            <a:r>
              <a:rPr lang="en-US" altLang="en-US" b="1" baseline="30000">
                <a:solidFill>
                  <a:srgbClr val="FA0617"/>
                </a:solidFill>
              </a:rPr>
              <a:t>M</a:t>
            </a:r>
            <a:endParaRPr lang="en-US" altLang="en-US" b="1">
              <a:solidFill>
                <a:srgbClr val="FA0617"/>
              </a:solidFill>
            </a:endParaRPr>
          </a:p>
          <a:p>
            <a:pPr marL="914400" lvl="1" indent="-347663" eaLnBrk="1" hangingPunct="1"/>
            <a:r>
              <a:rPr lang="en-US" altLang="en-US"/>
              <a:t>CTD </a:t>
            </a:r>
            <a:r>
              <a:rPr lang="en-US" altLang="en-US" err="1"/>
              <a:t>cho</a:t>
            </a:r>
            <a:r>
              <a:rPr lang="en-US" altLang="en-US"/>
              <a:t> </a:t>
            </a:r>
            <a:r>
              <a:rPr lang="en-US" altLang="en-US" err="1"/>
              <a:t>ngôn</a:t>
            </a:r>
            <a:r>
              <a:rPr lang="en-US" altLang="en-US"/>
              <a:t> </a:t>
            </a:r>
            <a:r>
              <a:rPr lang="en-US" altLang="en-US" err="1"/>
              <a:t>ngữ</a:t>
            </a:r>
            <a:r>
              <a:rPr lang="en-US" altLang="en-US"/>
              <a:t> L, </a:t>
            </a:r>
            <a:r>
              <a:rPr lang="en-US" altLang="en-US" err="1"/>
              <a:t>dịch</a:t>
            </a:r>
            <a:r>
              <a:rPr lang="en-US" altLang="en-US"/>
              <a:t> </a:t>
            </a:r>
            <a:r>
              <a:rPr lang="en-US" altLang="en-US" err="1"/>
              <a:t>ra</a:t>
            </a:r>
            <a:r>
              <a:rPr lang="en-US" altLang="en-US"/>
              <a:t> </a:t>
            </a:r>
            <a:r>
              <a:rPr lang="en-US" altLang="en-US" err="1"/>
              <a:t>mã</a:t>
            </a:r>
            <a:r>
              <a:rPr lang="en-US" altLang="en-US"/>
              <a:t> </a:t>
            </a:r>
            <a:r>
              <a:rPr lang="en-US" altLang="en-US" err="1"/>
              <a:t>máy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4717CF"/>
                </a:solidFill>
              </a:rPr>
              <a:t>M</a:t>
            </a:r>
          </a:p>
          <a:p>
            <a:pPr marL="914400" lvl="1" indent="-347663" eaLnBrk="1" hangingPunct="1"/>
            <a:r>
              <a:rPr lang="en-US" altLang="en-US"/>
              <a:t>CTD </a:t>
            </a:r>
            <a:r>
              <a:rPr lang="en-US" altLang="en-US" err="1"/>
              <a:t>thực</a:t>
            </a:r>
            <a:r>
              <a:rPr lang="en-US" altLang="en-US"/>
              <a:t> </a:t>
            </a:r>
            <a:r>
              <a:rPr lang="en-US" altLang="en-US" err="1"/>
              <a:t>hiện</a:t>
            </a:r>
            <a:r>
              <a:rPr lang="en-US" altLang="en-US"/>
              <a:t> </a:t>
            </a:r>
            <a:r>
              <a:rPr lang="en-US" altLang="en-US" err="1"/>
              <a:t>trên</a:t>
            </a:r>
            <a:r>
              <a:rPr lang="en-US" altLang="en-US"/>
              <a:t> </a:t>
            </a:r>
            <a:r>
              <a:rPr lang="en-US" altLang="en-US" err="1"/>
              <a:t>máy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4717CF"/>
                </a:solidFill>
              </a:rPr>
              <a:t>M</a:t>
            </a:r>
            <a:r>
              <a:rPr lang="en-US" altLang="en-US"/>
              <a:t> </a:t>
            </a:r>
          </a:p>
          <a:p>
            <a:pPr marL="514350" indent="-347663" eaLnBrk="1" hangingPunct="1"/>
            <a:r>
              <a:rPr lang="en-US" altLang="en-US" err="1"/>
              <a:t>Dùng</a:t>
            </a:r>
            <a:r>
              <a:rPr lang="en-US" altLang="en-US"/>
              <a:t> </a:t>
            </a:r>
            <a:r>
              <a:rPr lang="en-US" altLang="en-US" err="1"/>
              <a:t>mã</a:t>
            </a:r>
            <a:r>
              <a:rPr lang="en-US" altLang="en-US"/>
              <a:t> </a:t>
            </a:r>
            <a:r>
              <a:rPr lang="en-US" altLang="en-US" err="1"/>
              <a:t>máy</a:t>
            </a:r>
            <a:r>
              <a:rPr lang="en-US" altLang="en-US"/>
              <a:t> </a:t>
            </a:r>
            <a:r>
              <a:rPr lang="en-US" altLang="en-US" b="1"/>
              <a:t>M</a:t>
            </a:r>
            <a:r>
              <a:rPr lang="en-US" altLang="en-US"/>
              <a:t> </a:t>
            </a:r>
            <a:r>
              <a:rPr lang="en-US" altLang="en-US" err="1"/>
              <a:t>viết</a:t>
            </a:r>
            <a:r>
              <a:rPr lang="en-US" altLang="en-US"/>
              <a:t> </a:t>
            </a:r>
            <a:r>
              <a:rPr lang="en-US" altLang="en-US">
                <a:solidFill>
                  <a:srgbClr val="4717CF"/>
                </a:solidFill>
              </a:rPr>
              <a:t>L’</a:t>
            </a:r>
            <a:r>
              <a:rPr lang="en-US" altLang="en-US"/>
              <a:t> </a:t>
            </a:r>
            <a:r>
              <a:rPr lang="en-US" altLang="en-US" err="1"/>
              <a:t>là</a:t>
            </a:r>
            <a:r>
              <a:rPr lang="en-US" altLang="en-US"/>
              <a:t> </a:t>
            </a:r>
            <a:r>
              <a:rPr lang="en-US" altLang="en-US" err="1"/>
              <a:t>tập</a:t>
            </a:r>
            <a:r>
              <a:rPr lang="en-US" altLang="en-US"/>
              <a:t> con </a:t>
            </a:r>
            <a:r>
              <a:rPr lang="en-US" altLang="en-US" err="1"/>
              <a:t>của</a:t>
            </a:r>
            <a:r>
              <a:rPr lang="en-US" altLang="en-US"/>
              <a:t> </a:t>
            </a:r>
            <a:r>
              <a:rPr lang="en-US" altLang="en-US">
                <a:solidFill>
                  <a:srgbClr val="4717CF"/>
                </a:solidFill>
              </a:rPr>
              <a:t>L</a:t>
            </a:r>
          </a:p>
          <a:p>
            <a:pPr marL="914400" lvl="1" indent="-347663" eaLnBrk="1" hangingPunct="1"/>
            <a:r>
              <a:rPr lang="en-US" altLang="en-US" err="1"/>
              <a:t>Viết</a:t>
            </a:r>
            <a:r>
              <a:rPr lang="en-US" altLang="en-US"/>
              <a:t> </a:t>
            </a:r>
            <a:r>
              <a:rPr lang="en-US" altLang="en-US" err="1"/>
              <a:t>ra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FA0617"/>
                </a:solidFill>
              </a:rPr>
              <a:t>T</a:t>
            </a:r>
            <a:r>
              <a:rPr lang="en-US" altLang="en-US" b="1" baseline="-25000">
                <a:solidFill>
                  <a:srgbClr val="FA0617"/>
                </a:solidFill>
              </a:rPr>
              <a:t>M</a:t>
            </a:r>
            <a:r>
              <a:rPr lang="en-US" altLang="en-US" b="1" baseline="30000">
                <a:solidFill>
                  <a:srgbClr val="FA0617"/>
                </a:solidFill>
              </a:rPr>
              <a:t>L’</a:t>
            </a:r>
            <a:r>
              <a:rPr lang="en-US" altLang="en-US" b="1" baseline="30000">
                <a:solidFill>
                  <a:srgbClr val="FA0617"/>
                </a:solidFill>
                <a:sym typeface="Symbol" panose="05050102010706020507" pitchFamily="18" charset="2"/>
              </a:rPr>
              <a:t></a:t>
            </a:r>
            <a:r>
              <a:rPr lang="en-US" altLang="en-US" b="1" baseline="30000">
                <a:solidFill>
                  <a:srgbClr val="FA0617"/>
                </a:solidFill>
              </a:rPr>
              <a:t>M</a:t>
            </a:r>
            <a:endParaRPr lang="en-US" altLang="en-US"/>
          </a:p>
          <a:p>
            <a:pPr marL="514350" indent="-347663" eaLnBrk="1" hangingPunct="1"/>
            <a:r>
              <a:rPr lang="en-US" altLang="en-US" err="1"/>
              <a:t>Dùng</a:t>
            </a:r>
            <a:r>
              <a:rPr lang="en-US" altLang="en-US"/>
              <a:t> L’ </a:t>
            </a:r>
            <a:r>
              <a:rPr lang="en-US" altLang="en-US" err="1"/>
              <a:t>để</a:t>
            </a:r>
            <a:r>
              <a:rPr lang="en-US" altLang="en-US"/>
              <a:t> </a:t>
            </a:r>
            <a:r>
              <a:rPr lang="en-US" altLang="en-US" err="1"/>
              <a:t>viết</a:t>
            </a:r>
            <a:r>
              <a:rPr lang="en-US" altLang="en-US"/>
              <a:t> CTD L </a:t>
            </a:r>
            <a:r>
              <a:rPr lang="en-US" altLang="en-US">
                <a:sym typeface="Symbol" panose="05050102010706020507" pitchFamily="18" charset="2"/>
              </a:rPr>
              <a:t></a:t>
            </a:r>
            <a:r>
              <a:rPr lang="en-US" altLang="en-US"/>
              <a:t>M (</a:t>
            </a:r>
            <a:r>
              <a:rPr lang="en-US" altLang="en-US" b="1">
                <a:solidFill>
                  <a:srgbClr val="FA0617"/>
                </a:solidFill>
              </a:rPr>
              <a:t>T</a:t>
            </a:r>
            <a:r>
              <a:rPr lang="en-US" altLang="en-US" b="1" baseline="-25000">
                <a:solidFill>
                  <a:srgbClr val="FA0617"/>
                </a:solidFill>
              </a:rPr>
              <a:t>L’</a:t>
            </a:r>
            <a:r>
              <a:rPr lang="en-US" altLang="en-US" b="1" baseline="30000">
                <a:solidFill>
                  <a:srgbClr val="FA0617"/>
                </a:solidFill>
              </a:rPr>
              <a:t>L</a:t>
            </a:r>
            <a:r>
              <a:rPr lang="en-US" altLang="en-US" b="1" baseline="30000">
                <a:solidFill>
                  <a:srgbClr val="FA0617"/>
                </a:solidFill>
                <a:sym typeface="Symbol" panose="05050102010706020507" pitchFamily="18" charset="2"/>
              </a:rPr>
              <a:t></a:t>
            </a:r>
            <a:r>
              <a:rPr lang="en-US" altLang="en-US" b="1" baseline="30000">
                <a:solidFill>
                  <a:srgbClr val="FA0617"/>
                </a:solidFill>
              </a:rPr>
              <a:t>M</a:t>
            </a:r>
            <a:r>
              <a:rPr lang="en-US" altLang="en-US"/>
              <a:t>)</a:t>
            </a:r>
          </a:p>
          <a:p>
            <a:pPr marL="514350" indent="-347663" eaLnBrk="1" hangingPunct="1"/>
            <a:r>
              <a:rPr lang="en-US" altLang="en-US" err="1"/>
              <a:t>Dùng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FA0617"/>
                </a:solidFill>
              </a:rPr>
              <a:t>T</a:t>
            </a:r>
            <a:r>
              <a:rPr lang="en-US" altLang="en-US" b="1" baseline="-25000">
                <a:solidFill>
                  <a:srgbClr val="FA0617"/>
                </a:solidFill>
              </a:rPr>
              <a:t>M</a:t>
            </a:r>
            <a:r>
              <a:rPr lang="en-US" altLang="en-US" b="1" baseline="30000">
                <a:solidFill>
                  <a:srgbClr val="FA0617"/>
                </a:solidFill>
              </a:rPr>
              <a:t>L’</a:t>
            </a:r>
            <a:r>
              <a:rPr lang="en-US" altLang="en-US" b="1" baseline="30000">
                <a:solidFill>
                  <a:srgbClr val="FA0617"/>
                </a:solidFill>
                <a:sym typeface="Symbol" panose="05050102010706020507" pitchFamily="18" charset="2"/>
              </a:rPr>
              <a:t></a:t>
            </a:r>
            <a:r>
              <a:rPr lang="en-US" altLang="en-US" b="1" baseline="30000">
                <a:solidFill>
                  <a:srgbClr val="FA0617"/>
                </a:solidFill>
              </a:rPr>
              <a:t>M</a:t>
            </a:r>
            <a:r>
              <a:rPr lang="en-US" altLang="en-US"/>
              <a:t>  </a:t>
            </a:r>
            <a:r>
              <a:rPr lang="en-US" altLang="en-US" err="1"/>
              <a:t>để</a:t>
            </a:r>
            <a:r>
              <a:rPr lang="en-US" altLang="en-US"/>
              <a:t> dich </a:t>
            </a:r>
            <a:r>
              <a:rPr lang="en-US" altLang="en-US" b="1">
                <a:solidFill>
                  <a:srgbClr val="FA0617"/>
                </a:solidFill>
              </a:rPr>
              <a:t>T</a:t>
            </a:r>
            <a:r>
              <a:rPr lang="en-US" altLang="en-US" b="1" baseline="-25000">
                <a:solidFill>
                  <a:srgbClr val="FA0617"/>
                </a:solidFill>
              </a:rPr>
              <a:t>L’</a:t>
            </a:r>
            <a:r>
              <a:rPr lang="en-US" altLang="en-US" b="1" baseline="30000">
                <a:solidFill>
                  <a:srgbClr val="FA0617"/>
                </a:solidFill>
              </a:rPr>
              <a:t>L</a:t>
            </a:r>
            <a:r>
              <a:rPr lang="en-US" altLang="en-US" b="1" baseline="30000">
                <a:solidFill>
                  <a:srgbClr val="FA0617"/>
                </a:solidFill>
                <a:sym typeface="Symbol" panose="05050102010706020507" pitchFamily="18" charset="2"/>
              </a:rPr>
              <a:t></a:t>
            </a:r>
            <a:r>
              <a:rPr lang="en-US" altLang="en-US" b="1" baseline="30000">
                <a:solidFill>
                  <a:srgbClr val="FA0617"/>
                </a:solidFill>
              </a:rPr>
              <a:t>M </a:t>
            </a:r>
            <a:endParaRPr lang="en-US" altLang="en-US"/>
          </a:p>
        </p:txBody>
      </p:sp>
      <p:sp>
        <p:nvSpPr>
          <p:cNvPr id="16389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Ngôn ngữ lập trình cấp cao và trình dịch</a:t>
            </a:r>
          </a:p>
        </p:txBody>
      </p:sp>
      <p:grpSp>
        <p:nvGrpSpPr>
          <p:cNvPr id="16390" name="Group 5"/>
          <p:cNvGrpSpPr>
            <a:grpSpLocks/>
          </p:cNvGrpSpPr>
          <p:nvPr/>
        </p:nvGrpSpPr>
        <p:grpSpPr bwMode="auto">
          <a:xfrm>
            <a:off x="2590800" y="4961021"/>
            <a:ext cx="1752600" cy="1066800"/>
            <a:chOff x="4272" y="3456"/>
            <a:chExt cx="1104" cy="672"/>
          </a:xfrm>
        </p:grpSpPr>
        <p:sp>
          <p:nvSpPr>
            <p:cNvPr id="16419" name="Freeform 6"/>
            <p:cNvSpPr>
              <a:spLocks/>
            </p:cNvSpPr>
            <p:nvPr/>
          </p:nvSpPr>
          <p:spPr bwMode="auto">
            <a:xfrm>
              <a:off x="4272" y="3456"/>
              <a:ext cx="1104" cy="672"/>
            </a:xfrm>
            <a:custGeom>
              <a:avLst/>
              <a:gdLst>
                <a:gd name="T0" fmla="*/ 384 w 1104"/>
                <a:gd name="T1" fmla="*/ 672 h 672"/>
                <a:gd name="T2" fmla="*/ 768 w 1104"/>
                <a:gd name="T3" fmla="*/ 672 h 672"/>
                <a:gd name="T4" fmla="*/ 768 w 1104"/>
                <a:gd name="T5" fmla="*/ 336 h 672"/>
                <a:gd name="T6" fmla="*/ 1104 w 1104"/>
                <a:gd name="T7" fmla="*/ 336 h 672"/>
                <a:gd name="T8" fmla="*/ 1104 w 1104"/>
                <a:gd name="T9" fmla="*/ 0 h 672"/>
                <a:gd name="T10" fmla="*/ 0 w 1104"/>
                <a:gd name="T11" fmla="*/ 0 h 672"/>
                <a:gd name="T12" fmla="*/ 0 w 1104"/>
                <a:gd name="T13" fmla="*/ 336 h 672"/>
                <a:gd name="T14" fmla="*/ 384 w 1104"/>
                <a:gd name="T15" fmla="*/ 336 h 672"/>
                <a:gd name="T16" fmla="*/ 384 w 1104"/>
                <a:gd name="T17" fmla="*/ 672 h 6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04" h="672">
                  <a:moveTo>
                    <a:pt x="384" y="672"/>
                  </a:moveTo>
                  <a:lnTo>
                    <a:pt x="768" y="672"/>
                  </a:lnTo>
                  <a:lnTo>
                    <a:pt x="768" y="336"/>
                  </a:lnTo>
                  <a:lnTo>
                    <a:pt x="1104" y="336"/>
                  </a:lnTo>
                  <a:lnTo>
                    <a:pt x="1104" y="0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384" y="336"/>
                  </a:lnTo>
                  <a:lnTo>
                    <a:pt x="384" y="672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0" name="Text Box 7"/>
            <p:cNvSpPr txBox="1">
              <a:spLocks noChangeArrowheads="1"/>
            </p:cNvSpPr>
            <p:nvPr/>
          </p:nvSpPr>
          <p:spPr bwMode="auto">
            <a:xfrm>
              <a:off x="4272" y="3456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16421" name="Text Box 8"/>
            <p:cNvSpPr txBox="1">
              <a:spLocks noChangeArrowheads="1"/>
            </p:cNvSpPr>
            <p:nvPr/>
          </p:nvSpPr>
          <p:spPr bwMode="auto">
            <a:xfrm>
              <a:off x="5040" y="3456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16422" name="Text Box 9"/>
            <p:cNvSpPr txBox="1">
              <a:spLocks noChangeArrowheads="1"/>
            </p:cNvSpPr>
            <p:nvPr/>
          </p:nvSpPr>
          <p:spPr bwMode="auto">
            <a:xfrm>
              <a:off x="4656" y="3792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L’</a:t>
              </a:r>
            </a:p>
          </p:txBody>
        </p:sp>
        <p:sp>
          <p:nvSpPr>
            <p:cNvPr id="16423" name="Line 10"/>
            <p:cNvSpPr>
              <a:spLocks noChangeShapeType="1"/>
            </p:cNvSpPr>
            <p:nvPr/>
          </p:nvSpPr>
          <p:spPr bwMode="auto">
            <a:xfrm>
              <a:off x="4587" y="3639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391" name="Group 11"/>
          <p:cNvGrpSpPr>
            <a:grpSpLocks/>
          </p:cNvGrpSpPr>
          <p:nvPr/>
        </p:nvGrpSpPr>
        <p:grpSpPr bwMode="auto">
          <a:xfrm>
            <a:off x="3810000" y="5494421"/>
            <a:ext cx="1752600" cy="1066800"/>
            <a:chOff x="4272" y="3456"/>
            <a:chExt cx="1104" cy="672"/>
          </a:xfrm>
        </p:grpSpPr>
        <p:sp>
          <p:nvSpPr>
            <p:cNvPr id="16414" name="Freeform 12"/>
            <p:cNvSpPr>
              <a:spLocks/>
            </p:cNvSpPr>
            <p:nvPr/>
          </p:nvSpPr>
          <p:spPr bwMode="auto">
            <a:xfrm>
              <a:off x="4272" y="3456"/>
              <a:ext cx="1104" cy="672"/>
            </a:xfrm>
            <a:custGeom>
              <a:avLst/>
              <a:gdLst>
                <a:gd name="T0" fmla="*/ 384 w 1104"/>
                <a:gd name="T1" fmla="*/ 672 h 672"/>
                <a:gd name="T2" fmla="*/ 768 w 1104"/>
                <a:gd name="T3" fmla="*/ 672 h 672"/>
                <a:gd name="T4" fmla="*/ 768 w 1104"/>
                <a:gd name="T5" fmla="*/ 336 h 672"/>
                <a:gd name="T6" fmla="*/ 1104 w 1104"/>
                <a:gd name="T7" fmla="*/ 336 h 672"/>
                <a:gd name="T8" fmla="*/ 1104 w 1104"/>
                <a:gd name="T9" fmla="*/ 0 h 672"/>
                <a:gd name="T10" fmla="*/ 0 w 1104"/>
                <a:gd name="T11" fmla="*/ 0 h 672"/>
                <a:gd name="T12" fmla="*/ 0 w 1104"/>
                <a:gd name="T13" fmla="*/ 336 h 672"/>
                <a:gd name="T14" fmla="*/ 384 w 1104"/>
                <a:gd name="T15" fmla="*/ 336 h 672"/>
                <a:gd name="T16" fmla="*/ 384 w 1104"/>
                <a:gd name="T17" fmla="*/ 672 h 6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04" h="672">
                  <a:moveTo>
                    <a:pt x="384" y="672"/>
                  </a:moveTo>
                  <a:lnTo>
                    <a:pt x="768" y="672"/>
                  </a:lnTo>
                  <a:lnTo>
                    <a:pt x="768" y="336"/>
                  </a:lnTo>
                  <a:lnTo>
                    <a:pt x="1104" y="336"/>
                  </a:lnTo>
                  <a:lnTo>
                    <a:pt x="1104" y="0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384" y="336"/>
                  </a:lnTo>
                  <a:lnTo>
                    <a:pt x="384" y="672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5" name="Text Box 13"/>
            <p:cNvSpPr txBox="1">
              <a:spLocks noChangeArrowheads="1"/>
            </p:cNvSpPr>
            <p:nvPr/>
          </p:nvSpPr>
          <p:spPr bwMode="auto">
            <a:xfrm>
              <a:off x="4272" y="3456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L’</a:t>
              </a:r>
            </a:p>
          </p:txBody>
        </p:sp>
        <p:sp>
          <p:nvSpPr>
            <p:cNvPr id="16416" name="Text Box 14"/>
            <p:cNvSpPr txBox="1">
              <a:spLocks noChangeArrowheads="1"/>
            </p:cNvSpPr>
            <p:nvPr/>
          </p:nvSpPr>
          <p:spPr bwMode="auto">
            <a:xfrm>
              <a:off x="5040" y="3456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16417" name="Text Box 15"/>
            <p:cNvSpPr txBox="1">
              <a:spLocks noChangeArrowheads="1"/>
            </p:cNvSpPr>
            <p:nvPr/>
          </p:nvSpPr>
          <p:spPr bwMode="auto">
            <a:xfrm>
              <a:off x="4656" y="3792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16418" name="Line 16"/>
            <p:cNvSpPr>
              <a:spLocks noChangeShapeType="1"/>
            </p:cNvSpPr>
            <p:nvPr/>
          </p:nvSpPr>
          <p:spPr bwMode="auto">
            <a:xfrm>
              <a:off x="4587" y="3639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392" name="Group 23"/>
          <p:cNvGrpSpPr>
            <a:grpSpLocks/>
          </p:cNvGrpSpPr>
          <p:nvPr/>
        </p:nvGrpSpPr>
        <p:grpSpPr bwMode="auto">
          <a:xfrm>
            <a:off x="4953000" y="4961021"/>
            <a:ext cx="1752600" cy="1066800"/>
            <a:chOff x="3072" y="2496"/>
            <a:chExt cx="1104" cy="672"/>
          </a:xfrm>
        </p:grpSpPr>
        <p:sp>
          <p:nvSpPr>
            <p:cNvPr id="16409" name="Freeform 18"/>
            <p:cNvSpPr>
              <a:spLocks/>
            </p:cNvSpPr>
            <p:nvPr/>
          </p:nvSpPr>
          <p:spPr bwMode="auto">
            <a:xfrm>
              <a:off x="3072" y="2496"/>
              <a:ext cx="1104" cy="672"/>
            </a:xfrm>
            <a:custGeom>
              <a:avLst/>
              <a:gdLst>
                <a:gd name="T0" fmla="*/ 384 w 1104"/>
                <a:gd name="T1" fmla="*/ 672 h 672"/>
                <a:gd name="T2" fmla="*/ 768 w 1104"/>
                <a:gd name="T3" fmla="*/ 672 h 672"/>
                <a:gd name="T4" fmla="*/ 768 w 1104"/>
                <a:gd name="T5" fmla="*/ 336 h 672"/>
                <a:gd name="T6" fmla="*/ 1104 w 1104"/>
                <a:gd name="T7" fmla="*/ 336 h 672"/>
                <a:gd name="T8" fmla="*/ 1104 w 1104"/>
                <a:gd name="T9" fmla="*/ 0 h 672"/>
                <a:gd name="T10" fmla="*/ 0 w 1104"/>
                <a:gd name="T11" fmla="*/ 0 h 672"/>
                <a:gd name="T12" fmla="*/ 0 w 1104"/>
                <a:gd name="T13" fmla="*/ 336 h 672"/>
                <a:gd name="T14" fmla="*/ 384 w 1104"/>
                <a:gd name="T15" fmla="*/ 336 h 672"/>
                <a:gd name="T16" fmla="*/ 384 w 1104"/>
                <a:gd name="T17" fmla="*/ 672 h 6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04" h="672">
                  <a:moveTo>
                    <a:pt x="384" y="672"/>
                  </a:moveTo>
                  <a:lnTo>
                    <a:pt x="768" y="672"/>
                  </a:lnTo>
                  <a:lnTo>
                    <a:pt x="768" y="336"/>
                  </a:lnTo>
                  <a:lnTo>
                    <a:pt x="1104" y="336"/>
                  </a:lnTo>
                  <a:lnTo>
                    <a:pt x="1104" y="0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384" y="336"/>
                  </a:lnTo>
                  <a:lnTo>
                    <a:pt x="384" y="672"/>
                  </a:lnTo>
                  <a:close/>
                </a:path>
              </a:pathLst>
            </a:cu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0" name="Text Box 19"/>
            <p:cNvSpPr txBox="1">
              <a:spLocks noChangeArrowheads="1"/>
            </p:cNvSpPr>
            <p:nvPr/>
          </p:nvSpPr>
          <p:spPr bwMode="auto">
            <a:xfrm>
              <a:off x="3072" y="2496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16411" name="Text Box 20"/>
            <p:cNvSpPr txBox="1">
              <a:spLocks noChangeArrowheads="1"/>
            </p:cNvSpPr>
            <p:nvPr/>
          </p:nvSpPr>
          <p:spPr bwMode="auto">
            <a:xfrm>
              <a:off x="3840" y="2496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16412" name="Text Box 21"/>
            <p:cNvSpPr txBox="1">
              <a:spLocks noChangeArrowheads="1"/>
            </p:cNvSpPr>
            <p:nvPr/>
          </p:nvSpPr>
          <p:spPr bwMode="auto">
            <a:xfrm>
              <a:off x="3456" y="2832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16413" name="Line 22"/>
            <p:cNvSpPr>
              <a:spLocks noChangeShapeType="1"/>
            </p:cNvSpPr>
            <p:nvPr/>
          </p:nvSpPr>
          <p:spPr bwMode="auto">
            <a:xfrm>
              <a:off x="3387" y="2679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02796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250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5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50"/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5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2C8EA7-FB6E-4DB3-A542-C500EED5BB3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err="1"/>
              <a:t>Xây</a:t>
            </a:r>
            <a:r>
              <a:rPr lang="en-US" altLang="en-US"/>
              <a:t> </a:t>
            </a:r>
            <a:r>
              <a:rPr lang="en-US" altLang="en-US" err="1"/>
              <a:t>dựng</a:t>
            </a:r>
            <a:r>
              <a:rPr lang="en-US" altLang="en-US"/>
              <a:t> </a:t>
            </a:r>
            <a:r>
              <a:rPr lang="en-US" altLang="en-US" err="1"/>
              <a:t>chương</a:t>
            </a:r>
            <a:r>
              <a:rPr lang="en-US" altLang="en-US"/>
              <a:t> </a:t>
            </a:r>
            <a:r>
              <a:rPr lang="en-US" altLang="en-US" err="1"/>
              <a:t>trình</a:t>
            </a:r>
            <a:r>
              <a:rPr lang="en-US" altLang="en-US"/>
              <a:t> </a:t>
            </a:r>
            <a:r>
              <a:rPr lang="en-US" altLang="en-US" err="1"/>
              <a:t>dịch</a:t>
            </a:r>
            <a:r>
              <a:rPr lang="en-US" altLang="en-US"/>
              <a:t>: Cross Compiling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550" y="914400"/>
            <a:ext cx="8724900" cy="5638800"/>
          </a:xfrm>
        </p:spPr>
        <p:txBody>
          <a:bodyPr/>
          <a:lstStyle/>
          <a:p>
            <a:pPr eaLnBrk="1" hangingPunct="1"/>
            <a:r>
              <a:rPr lang="en-US" altLang="en-US" err="1"/>
              <a:t>Mục</a:t>
            </a:r>
            <a:r>
              <a:rPr lang="en-US" altLang="en-US"/>
              <a:t> </a:t>
            </a:r>
            <a:r>
              <a:rPr lang="en-US" altLang="en-US" err="1"/>
              <a:t>đích</a:t>
            </a:r>
            <a:r>
              <a:rPr lang="en-US" altLang="en-US"/>
              <a:t> : </a:t>
            </a:r>
          </a:p>
          <a:p>
            <a:pPr lvl="1" eaLnBrk="1" hangingPunct="1"/>
            <a:r>
              <a:rPr lang="en-US" altLang="en-US" err="1"/>
              <a:t>Xây</a:t>
            </a:r>
            <a:r>
              <a:rPr lang="en-US" altLang="en-US"/>
              <a:t> </a:t>
            </a:r>
            <a:r>
              <a:rPr lang="en-US" altLang="en-US" err="1"/>
              <a:t>dựng</a:t>
            </a:r>
            <a:r>
              <a:rPr lang="en-US" altLang="en-US"/>
              <a:t> </a:t>
            </a:r>
            <a:r>
              <a:rPr lang="en-US" altLang="en-US" err="1"/>
              <a:t>chương</a:t>
            </a:r>
            <a:r>
              <a:rPr lang="en-US" altLang="en-US"/>
              <a:t> </a:t>
            </a:r>
            <a:r>
              <a:rPr lang="en-US" altLang="en-US" err="1"/>
              <a:t>trình</a:t>
            </a:r>
            <a:r>
              <a:rPr lang="en-US" altLang="en-US"/>
              <a:t> </a:t>
            </a:r>
            <a:r>
              <a:rPr lang="en-US" altLang="en-US" err="1"/>
              <a:t>dịch</a:t>
            </a:r>
            <a:r>
              <a:rPr lang="en-US" altLang="en-US"/>
              <a:t> </a:t>
            </a:r>
            <a:r>
              <a:rPr lang="en-US" altLang="en-US" err="1"/>
              <a:t>cho</a:t>
            </a:r>
            <a:r>
              <a:rPr lang="en-US" altLang="en-US"/>
              <a:t> </a:t>
            </a:r>
            <a:r>
              <a:rPr lang="en-US" altLang="en-US" err="1"/>
              <a:t>ngôn</a:t>
            </a:r>
            <a:r>
              <a:rPr lang="en-US" altLang="en-US"/>
              <a:t> </a:t>
            </a:r>
            <a:r>
              <a:rPr lang="en-US" altLang="en-US" err="1"/>
              <a:t>ngữ</a:t>
            </a:r>
            <a:r>
              <a:rPr lang="en-US" altLang="en-US"/>
              <a:t> </a:t>
            </a:r>
            <a:r>
              <a:rPr lang="en-US" altLang="en-US" err="1"/>
              <a:t>đã</a:t>
            </a:r>
            <a:r>
              <a:rPr lang="en-US" altLang="en-US"/>
              <a:t> </a:t>
            </a:r>
            <a:r>
              <a:rPr lang="en-US" altLang="en-US" err="1"/>
              <a:t>tồn</a:t>
            </a:r>
            <a:r>
              <a:rPr lang="en-US" altLang="en-US"/>
              <a:t> </a:t>
            </a:r>
            <a:r>
              <a:rPr lang="en-US" altLang="en-US" err="1"/>
              <a:t>tại</a:t>
            </a:r>
            <a:r>
              <a:rPr lang="en-US" altLang="en-US"/>
              <a:t>, </a:t>
            </a:r>
            <a:r>
              <a:rPr lang="en-US" altLang="en-US" err="1"/>
              <a:t>trên</a:t>
            </a:r>
            <a:r>
              <a:rPr lang="en-US" altLang="en-US"/>
              <a:t> </a:t>
            </a:r>
            <a:r>
              <a:rPr lang="en-US" altLang="en-US" err="1"/>
              <a:t>một</a:t>
            </a:r>
            <a:r>
              <a:rPr lang="en-US" altLang="en-US"/>
              <a:t> </a:t>
            </a:r>
            <a:r>
              <a:rPr lang="en-US" altLang="en-US" err="1"/>
              <a:t>loại</a:t>
            </a:r>
            <a:r>
              <a:rPr lang="en-US" altLang="en-US"/>
              <a:t> </a:t>
            </a:r>
            <a:r>
              <a:rPr lang="en-US" altLang="en-US" err="1"/>
              <a:t>máy</a:t>
            </a:r>
            <a:r>
              <a:rPr lang="en-US" altLang="en-US"/>
              <a:t> </a:t>
            </a:r>
            <a:r>
              <a:rPr lang="en-US" altLang="en-US" err="1"/>
              <a:t>tính</a:t>
            </a:r>
            <a:r>
              <a:rPr lang="en-US" altLang="en-US"/>
              <a:t> </a:t>
            </a:r>
            <a:r>
              <a:rPr lang="en-US" altLang="en-US" err="1"/>
              <a:t>mới</a:t>
            </a:r>
            <a:endParaRPr lang="en-US" altLang="en-US"/>
          </a:p>
          <a:p>
            <a:pPr lvl="2" eaLnBrk="1" hangingPunct="1"/>
            <a:r>
              <a:rPr lang="en-US" altLang="en-US" err="1"/>
              <a:t>Nếu</a:t>
            </a:r>
            <a:r>
              <a:rPr lang="en-US" altLang="en-US"/>
              <a:t> </a:t>
            </a:r>
            <a:r>
              <a:rPr lang="en-US" altLang="en-US" err="1"/>
              <a:t>máy</a:t>
            </a:r>
            <a:r>
              <a:rPr lang="en-US" altLang="en-US"/>
              <a:t> </a:t>
            </a:r>
            <a:r>
              <a:rPr lang="en-US" altLang="en-US" err="1"/>
              <a:t>mới</a:t>
            </a:r>
            <a:r>
              <a:rPr lang="en-US" altLang="en-US"/>
              <a:t> </a:t>
            </a:r>
            <a:r>
              <a:rPr lang="en-US" altLang="en-US" err="1"/>
              <a:t>đang</a:t>
            </a:r>
            <a:r>
              <a:rPr lang="en-US" altLang="en-US"/>
              <a:t> </a:t>
            </a:r>
            <a:r>
              <a:rPr lang="en-US" altLang="en-US" err="1"/>
              <a:t>được</a:t>
            </a:r>
            <a:r>
              <a:rPr lang="en-US" altLang="en-US"/>
              <a:t> </a:t>
            </a:r>
            <a:r>
              <a:rPr lang="en-US" altLang="en-US" err="1"/>
              <a:t>thiết</a:t>
            </a:r>
            <a:r>
              <a:rPr lang="en-US" altLang="en-US"/>
              <a:t> </a:t>
            </a:r>
            <a:r>
              <a:rPr lang="en-US" altLang="en-US" err="1"/>
              <a:t>kế</a:t>
            </a:r>
            <a:r>
              <a:rPr lang="en-US" altLang="en-US"/>
              <a:t>: </a:t>
            </a:r>
            <a:r>
              <a:rPr lang="en-US" altLang="en-US" err="1"/>
              <a:t>Cần</a:t>
            </a:r>
            <a:r>
              <a:rPr lang="en-US" altLang="en-US"/>
              <a:t> </a:t>
            </a:r>
            <a:r>
              <a:rPr lang="en-US" altLang="en-US" err="1"/>
              <a:t>phải</a:t>
            </a:r>
            <a:r>
              <a:rPr lang="en-US" altLang="en-US"/>
              <a:t> </a:t>
            </a:r>
            <a:r>
              <a:rPr lang="en-US" altLang="en-US" err="1"/>
              <a:t>biến</a:t>
            </a:r>
            <a:r>
              <a:rPr lang="en-US" altLang="en-US"/>
              <a:t> </a:t>
            </a:r>
            <a:r>
              <a:rPr lang="en-US" altLang="en-US" err="1"/>
              <a:t>kiến</a:t>
            </a:r>
            <a:r>
              <a:rPr lang="en-US" altLang="en-US"/>
              <a:t> </a:t>
            </a:r>
            <a:r>
              <a:rPr lang="en-US" altLang="en-US" err="1"/>
              <a:t>trúc</a:t>
            </a:r>
            <a:r>
              <a:rPr lang="en-US" altLang="en-US"/>
              <a:t> </a:t>
            </a:r>
            <a:r>
              <a:rPr lang="en-US" altLang="en-US" err="1"/>
              <a:t>tập</a:t>
            </a:r>
            <a:r>
              <a:rPr lang="en-US" altLang="en-US"/>
              <a:t> </a:t>
            </a:r>
            <a:r>
              <a:rPr lang="en-US" altLang="en-US" err="1"/>
              <a:t>lệnh</a:t>
            </a:r>
            <a:r>
              <a:rPr lang="en-US" altLang="en-US"/>
              <a:t>, </a:t>
            </a:r>
            <a:r>
              <a:rPr lang="en-US" altLang="en-US" err="1"/>
              <a:t>dạng</a:t>
            </a:r>
            <a:r>
              <a:rPr lang="en-US" altLang="en-US"/>
              <a:t> </a:t>
            </a:r>
            <a:r>
              <a:rPr lang="en-US" altLang="en-US" err="1"/>
              <a:t>lệnh</a:t>
            </a:r>
            <a:r>
              <a:rPr lang="en-US" altLang="en-US"/>
              <a:t>, </a:t>
            </a:r>
            <a:r>
              <a:rPr lang="en-US" altLang="en-US" err="1"/>
              <a:t>kiểu</a:t>
            </a:r>
            <a:r>
              <a:rPr lang="en-US" altLang="en-US"/>
              <a:t> </a:t>
            </a:r>
            <a:r>
              <a:rPr lang="en-US" altLang="en-US" err="1"/>
              <a:t>địa</a:t>
            </a:r>
            <a:r>
              <a:rPr lang="en-US" altLang="en-US"/>
              <a:t> </a:t>
            </a:r>
            <a:r>
              <a:rPr lang="en-US" altLang="en-US" err="1"/>
              <a:t>chỉ</a:t>
            </a:r>
            <a:r>
              <a:rPr lang="en-US" altLang="en-US"/>
              <a:t>,..</a:t>
            </a:r>
          </a:p>
          <a:p>
            <a:pPr lvl="1" eaLnBrk="1" hangingPunct="1"/>
            <a:r>
              <a:rPr lang="en-US" altLang="en-US" err="1"/>
              <a:t>Không</a:t>
            </a:r>
            <a:r>
              <a:rPr lang="en-US" altLang="en-US"/>
              <a:t> </a:t>
            </a:r>
            <a:r>
              <a:rPr lang="en-US" altLang="en-US" err="1"/>
              <a:t>sử</a:t>
            </a:r>
            <a:r>
              <a:rPr lang="en-US" altLang="en-US"/>
              <a:t> </a:t>
            </a:r>
            <a:r>
              <a:rPr lang="en-US" altLang="en-US" err="1"/>
              <a:t>dụng</a:t>
            </a:r>
            <a:r>
              <a:rPr lang="en-US" altLang="en-US"/>
              <a:t> </a:t>
            </a:r>
            <a:r>
              <a:rPr lang="en-US" altLang="en-US" err="1"/>
              <a:t>mã</a:t>
            </a:r>
            <a:r>
              <a:rPr lang="en-US" altLang="en-US"/>
              <a:t> </a:t>
            </a:r>
            <a:r>
              <a:rPr lang="en-US" altLang="en-US" err="1"/>
              <a:t>máy</a:t>
            </a:r>
            <a:endParaRPr lang="en-US" altLang="en-US"/>
          </a:p>
          <a:p>
            <a:pPr eaLnBrk="1" hangingPunct="1"/>
            <a:r>
              <a:rPr lang="en-US" altLang="en-US" err="1"/>
              <a:t>Ví</a:t>
            </a:r>
            <a:r>
              <a:rPr lang="en-US" altLang="en-US"/>
              <a:t> </a:t>
            </a:r>
            <a:r>
              <a:rPr lang="en-US" altLang="en-US" err="1"/>
              <a:t>dụ</a:t>
            </a:r>
            <a:r>
              <a:rPr lang="en-US" altLang="en-US"/>
              <a:t>:</a:t>
            </a:r>
          </a:p>
          <a:p>
            <a:pPr lvl="1" eaLnBrk="1" hangingPunct="1"/>
            <a:r>
              <a:rPr lang="en-US" altLang="en-US" err="1"/>
              <a:t>Yêu</a:t>
            </a:r>
            <a:r>
              <a:rPr lang="en-US" altLang="en-US"/>
              <a:t> </a:t>
            </a:r>
            <a:r>
              <a:rPr lang="en-US" altLang="en-US" err="1"/>
              <a:t>cầu</a:t>
            </a:r>
            <a:r>
              <a:rPr lang="en-US" altLang="en-US"/>
              <a:t> </a:t>
            </a:r>
            <a:r>
              <a:rPr lang="en-US" altLang="en-US" err="1"/>
              <a:t>xây</a:t>
            </a:r>
            <a:r>
              <a:rPr lang="en-US" altLang="en-US"/>
              <a:t> </a:t>
            </a:r>
            <a:r>
              <a:rPr lang="en-US" altLang="en-US" err="1"/>
              <a:t>dựng</a:t>
            </a:r>
            <a:r>
              <a:rPr lang="en-US" altLang="en-US"/>
              <a:t> CTD </a:t>
            </a:r>
            <a:r>
              <a:rPr lang="en-US" altLang="en-US" sz="3200" b="1">
                <a:solidFill>
                  <a:srgbClr val="FA0617"/>
                </a:solidFill>
              </a:rPr>
              <a:t>T</a:t>
            </a:r>
            <a:r>
              <a:rPr lang="en-US" altLang="en-US" sz="3200" b="1" baseline="-25000">
                <a:solidFill>
                  <a:srgbClr val="FA0617"/>
                </a:solidFill>
              </a:rPr>
              <a:t>BK</a:t>
            </a:r>
            <a:r>
              <a:rPr lang="en-US" altLang="en-US" sz="3200" b="1" baseline="30000">
                <a:solidFill>
                  <a:srgbClr val="FA0617"/>
                </a:solidFill>
              </a:rPr>
              <a:t>C </a:t>
            </a:r>
            <a:r>
              <a:rPr lang="en-US" altLang="en-US" sz="3200" b="1" baseline="30000">
                <a:solidFill>
                  <a:srgbClr val="FA0617"/>
                </a:solidFill>
                <a:sym typeface="Symbol" panose="05050102010706020507" pitchFamily="18" charset="2"/>
              </a:rPr>
              <a:t> BK</a:t>
            </a:r>
            <a:endParaRPr lang="en-US" altLang="en-US" sz="3200"/>
          </a:p>
          <a:p>
            <a:pPr lvl="2" eaLnBrk="1" hangingPunct="1"/>
            <a:r>
              <a:rPr lang="en-US" altLang="en-US"/>
              <a:t>BK: </a:t>
            </a:r>
            <a:r>
              <a:rPr lang="en-US" altLang="en-US" err="1"/>
              <a:t>là</a:t>
            </a:r>
            <a:r>
              <a:rPr lang="en-US" altLang="en-US"/>
              <a:t> </a:t>
            </a:r>
            <a:r>
              <a:rPr lang="en-US" altLang="en-US" err="1"/>
              <a:t>một</a:t>
            </a:r>
            <a:r>
              <a:rPr lang="en-US" altLang="en-US"/>
              <a:t> </a:t>
            </a:r>
            <a:r>
              <a:rPr lang="en-US" altLang="en-US" err="1"/>
              <a:t>loại</a:t>
            </a:r>
            <a:r>
              <a:rPr lang="en-US" altLang="en-US"/>
              <a:t> </a:t>
            </a:r>
            <a:r>
              <a:rPr lang="en-US" altLang="en-US" err="1"/>
              <a:t>máy</a:t>
            </a:r>
            <a:r>
              <a:rPr lang="en-US" altLang="en-US"/>
              <a:t> </a:t>
            </a:r>
            <a:r>
              <a:rPr lang="en-US" altLang="en-US" err="1"/>
              <a:t>tính</a:t>
            </a:r>
            <a:r>
              <a:rPr lang="en-US" altLang="en-US"/>
              <a:t> </a:t>
            </a:r>
            <a:r>
              <a:rPr lang="en-US" altLang="en-US" err="1"/>
              <a:t>mới</a:t>
            </a:r>
            <a:r>
              <a:rPr lang="en-US" altLang="en-US"/>
              <a:t>, </a:t>
            </a:r>
            <a:r>
              <a:rPr lang="en-US" altLang="en-US" err="1"/>
              <a:t>chưa</a:t>
            </a:r>
            <a:r>
              <a:rPr lang="en-US" altLang="en-US"/>
              <a:t> </a:t>
            </a:r>
            <a:r>
              <a:rPr lang="en-US" altLang="en-US" err="1"/>
              <a:t>được</a:t>
            </a:r>
            <a:r>
              <a:rPr lang="en-US" altLang="en-US"/>
              <a:t> </a:t>
            </a:r>
            <a:r>
              <a:rPr lang="en-US" altLang="en-US" err="1"/>
              <a:t>sản</a:t>
            </a:r>
            <a:r>
              <a:rPr lang="en-US" altLang="en-US"/>
              <a:t> </a:t>
            </a:r>
            <a:r>
              <a:rPr lang="en-US" altLang="en-US" err="1"/>
              <a:t>xuất</a:t>
            </a:r>
            <a:endParaRPr lang="en-US" altLang="en-US"/>
          </a:p>
          <a:p>
            <a:pPr lvl="1" eaLnBrk="1" hangingPunct="1"/>
            <a:r>
              <a:rPr lang="en-US" altLang="en-US" err="1"/>
              <a:t>Đã</a:t>
            </a:r>
            <a:r>
              <a:rPr lang="en-US" altLang="en-US"/>
              <a:t> </a:t>
            </a:r>
            <a:r>
              <a:rPr lang="en-US" altLang="en-US" err="1"/>
              <a:t>tồn</a:t>
            </a:r>
            <a:r>
              <a:rPr lang="en-US" altLang="en-US"/>
              <a:t> </a:t>
            </a:r>
            <a:r>
              <a:rPr lang="en-US" altLang="en-US" err="1"/>
              <a:t>tại</a:t>
            </a:r>
            <a:r>
              <a:rPr lang="en-US" altLang="en-US"/>
              <a:t>  </a:t>
            </a:r>
            <a:r>
              <a:rPr lang="en-US" altLang="en-US" sz="3200" b="1">
                <a:solidFill>
                  <a:srgbClr val="FA0617"/>
                </a:solidFill>
              </a:rPr>
              <a:t>T</a:t>
            </a:r>
            <a:r>
              <a:rPr lang="en-US" altLang="en-US" sz="3200" b="1" baseline="-25000">
                <a:solidFill>
                  <a:srgbClr val="FA0617"/>
                </a:solidFill>
              </a:rPr>
              <a:t>PC</a:t>
            </a:r>
            <a:r>
              <a:rPr lang="en-US" altLang="en-US" sz="3200" b="1" baseline="30000">
                <a:solidFill>
                  <a:srgbClr val="FA0617"/>
                </a:solidFill>
              </a:rPr>
              <a:t>C </a:t>
            </a:r>
            <a:r>
              <a:rPr lang="en-US" altLang="en-US" sz="3200" b="1" baseline="30000">
                <a:solidFill>
                  <a:srgbClr val="FA0617"/>
                </a:solidFill>
                <a:sym typeface="Symbol" panose="05050102010706020507" pitchFamily="18" charset="2"/>
              </a:rPr>
              <a:t> PC</a:t>
            </a:r>
            <a:endParaRPr lang="en-US" altLang="en-US" sz="3200"/>
          </a:p>
          <a:p>
            <a:pPr lvl="1" eaLnBrk="1" hangingPunct="1"/>
            <a:r>
              <a:rPr lang="en-US" altLang="en-US" err="1"/>
              <a:t>Thực</a:t>
            </a:r>
            <a:r>
              <a:rPr lang="en-US" altLang="en-US"/>
              <a:t> </a:t>
            </a:r>
            <a:r>
              <a:rPr lang="en-US" altLang="en-US" err="1"/>
              <a:t>hiện</a:t>
            </a:r>
            <a:r>
              <a:rPr lang="en-US" altLang="en-US"/>
              <a:t> </a:t>
            </a:r>
            <a:r>
              <a:rPr lang="en-US" altLang="en-US" err="1"/>
              <a:t>xây</a:t>
            </a:r>
            <a:r>
              <a:rPr lang="en-US" altLang="en-US"/>
              <a:t> </a:t>
            </a:r>
            <a:r>
              <a:rPr lang="en-US" altLang="en-US" err="1"/>
              <a:t>dựng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FA0617"/>
                </a:solidFill>
              </a:rPr>
              <a:t>T</a:t>
            </a:r>
            <a:r>
              <a:rPr lang="en-US" altLang="en-US" b="1" baseline="-25000">
                <a:solidFill>
                  <a:srgbClr val="FA0617"/>
                </a:solidFill>
              </a:rPr>
              <a:t>PC</a:t>
            </a:r>
            <a:r>
              <a:rPr lang="en-US" altLang="en-US" b="1" baseline="30000">
                <a:solidFill>
                  <a:srgbClr val="FA0617"/>
                </a:solidFill>
              </a:rPr>
              <a:t>C</a:t>
            </a:r>
            <a:r>
              <a:rPr lang="en-US" altLang="en-US" b="1" baseline="30000">
                <a:solidFill>
                  <a:srgbClr val="FA0617"/>
                </a:solidFill>
                <a:sym typeface="Symbol" panose="05050102010706020507" pitchFamily="18" charset="2"/>
              </a:rPr>
              <a:t>BK</a:t>
            </a:r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</p:txBody>
      </p:sp>
      <p:sp>
        <p:nvSpPr>
          <p:cNvPr id="15365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Ngôn ngữ lập trình cấp cao và trình dịch</a:t>
            </a:r>
          </a:p>
        </p:txBody>
      </p:sp>
    </p:spTree>
    <p:extLst>
      <p:ext uri="{BB962C8B-B14F-4D97-AF65-F5344CB8AC3E}">
        <p14:creationId xmlns:p14="http://schemas.microsoft.com/office/powerpoint/2010/main" val="729726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2C8EA7-FB6E-4DB3-A542-C500EED5BB3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err="1"/>
              <a:t>Xây</a:t>
            </a:r>
            <a:r>
              <a:rPr lang="en-US" altLang="en-US"/>
              <a:t> </a:t>
            </a:r>
            <a:r>
              <a:rPr lang="en-US" altLang="en-US" err="1"/>
              <a:t>dựng</a:t>
            </a:r>
            <a:r>
              <a:rPr lang="en-US" altLang="en-US"/>
              <a:t> </a:t>
            </a:r>
            <a:r>
              <a:rPr lang="en-US" altLang="en-US" err="1"/>
              <a:t>chương</a:t>
            </a:r>
            <a:r>
              <a:rPr lang="en-US" altLang="en-US"/>
              <a:t> </a:t>
            </a:r>
            <a:r>
              <a:rPr lang="en-US" altLang="en-US" err="1"/>
              <a:t>trình</a:t>
            </a:r>
            <a:r>
              <a:rPr lang="en-US" altLang="en-US"/>
              <a:t> </a:t>
            </a:r>
            <a:r>
              <a:rPr lang="en-US" altLang="en-US" err="1"/>
              <a:t>dịch</a:t>
            </a:r>
            <a:r>
              <a:rPr lang="en-US" altLang="en-US"/>
              <a:t>: Cross Compiling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5032" y="3581400"/>
            <a:ext cx="8724900" cy="609600"/>
          </a:xfrm>
        </p:spPr>
        <p:txBody>
          <a:bodyPr/>
          <a:lstStyle/>
          <a:p>
            <a:pPr eaLnBrk="1" hangingPunct="1"/>
            <a:r>
              <a:rPr lang="en-US" altLang="en-US" err="1"/>
              <a:t>Bước</a:t>
            </a:r>
            <a:r>
              <a:rPr lang="en-US" altLang="en-US"/>
              <a:t> 2</a:t>
            </a:r>
          </a:p>
        </p:txBody>
      </p:sp>
      <p:sp>
        <p:nvSpPr>
          <p:cNvPr id="15365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Ngôn ngữ lập trình cấp cao và trình dịch</a:t>
            </a:r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 bwMode="auto">
          <a:xfrm>
            <a:off x="110916" y="957262"/>
            <a:ext cx="87249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rgbClr val="270076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rgbClr val="27007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27007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27007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rgbClr val="27007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en-US" b="0"/>
              <a:t>Bước 1</a:t>
            </a:r>
          </a:p>
        </p:txBody>
      </p:sp>
      <p:grpSp>
        <p:nvGrpSpPr>
          <p:cNvPr id="30" name="Group 5"/>
          <p:cNvGrpSpPr>
            <a:grpSpLocks/>
          </p:cNvGrpSpPr>
          <p:nvPr/>
        </p:nvGrpSpPr>
        <p:grpSpPr bwMode="auto">
          <a:xfrm>
            <a:off x="609600" y="2286000"/>
            <a:ext cx="2172953" cy="1066800"/>
            <a:chOff x="4272" y="3456"/>
            <a:chExt cx="1104" cy="672"/>
          </a:xfrm>
        </p:grpSpPr>
        <p:sp>
          <p:nvSpPr>
            <p:cNvPr id="31" name="Freeform 6"/>
            <p:cNvSpPr>
              <a:spLocks/>
            </p:cNvSpPr>
            <p:nvPr/>
          </p:nvSpPr>
          <p:spPr bwMode="auto">
            <a:xfrm>
              <a:off x="4272" y="3456"/>
              <a:ext cx="1104" cy="672"/>
            </a:xfrm>
            <a:custGeom>
              <a:avLst/>
              <a:gdLst>
                <a:gd name="T0" fmla="*/ 384 w 1104"/>
                <a:gd name="T1" fmla="*/ 672 h 672"/>
                <a:gd name="T2" fmla="*/ 768 w 1104"/>
                <a:gd name="T3" fmla="*/ 672 h 672"/>
                <a:gd name="T4" fmla="*/ 768 w 1104"/>
                <a:gd name="T5" fmla="*/ 336 h 672"/>
                <a:gd name="T6" fmla="*/ 1104 w 1104"/>
                <a:gd name="T7" fmla="*/ 336 h 672"/>
                <a:gd name="T8" fmla="*/ 1104 w 1104"/>
                <a:gd name="T9" fmla="*/ 0 h 672"/>
                <a:gd name="T10" fmla="*/ 0 w 1104"/>
                <a:gd name="T11" fmla="*/ 0 h 672"/>
                <a:gd name="T12" fmla="*/ 0 w 1104"/>
                <a:gd name="T13" fmla="*/ 336 h 672"/>
                <a:gd name="T14" fmla="*/ 384 w 1104"/>
                <a:gd name="T15" fmla="*/ 336 h 672"/>
                <a:gd name="T16" fmla="*/ 384 w 1104"/>
                <a:gd name="T17" fmla="*/ 672 h 6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04" h="672">
                  <a:moveTo>
                    <a:pt x="384" y="672"/>
                  </a:moveTo>
                  <a:lnTo>
                    <a:pt x="768" y="672"/>
                  </a:lnTo>
                  <a:lnTo>
                    <a:pt x="768" y="336"/>
                  </a:lnTo>
                  <a:lnTo>
                    <a:pt x="1104" y="336"/>
                  </a:lnTo>
                  <a:lnTo>
                    <a:pt x="1104" y="0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384" y="336"/>
                  </a:lnTo>
                  <a:lnTo>
                    <a:pt x="384" y="672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Box 7"/>
            <p:cNvSpPr txBox="1">
              <a:spLocks noChangeArrowheads="1"/>
            </p:cNvSpPr>
            <p:nvPr/>
          </p:nvSpPr>
          <p:spPr bwMode="auto">
            <a:xfrm>
              <a:off x="4272" y="3456"/>
              <a:ext cx="38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33" name="Text Box 8"/>
            <p:cNvSpPr txBox="1">
              <a:spLocks noChangeArrowheads="1"/>
            </p:cNvSpPr>
            <p:nvPr/>
          </p:nvSpPr>
          <p:spPr bwMode="auto">
            <a:xfrm>
              <a:off x="5040" y="3456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BK</a:t>
              </a:r>
            </a:p>
          </p:txBody>
        </p:sp>
        <p:sp>
          <p:nvSpPr>
            <p:cNvPr id="34" name="Text Box 9"/>
            <p:cNvSpPr txBox="1">
              <a:spLocks noChangeArrowheads="1"/>
            </p:cNvSpPr>
            <p:nvPr/>
          </p:nvSpPr>
          <p:spPr bwMode="auto">
            <a:xfrm>
              <a:off x="4656" y="3792"/>
              <a:ext cx="38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35" name="Line 10"/>
            <p:cNvSpPr>
              <a:spLocks noChangeShapeType="1"/>
            </p:cNvSpPr>
            <p:nvPr/>
          </p:nvSpPr>
          <p:spPr bwMode="auto">
            <a:xfrm flipV="1">
              <a:off x="4651" y="3628"/>
              <a:ext cx="37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11"/>
          <p:cNvGrpSpPr>
            <a:grpSpLocks/>
          </p:cNvGrpSpPr>
          <p:nvPr/>
        </p:nvGrpSpPr>
        <p:grpSpPr bwMode="auto">
          <a:xfrm>
            <a:off x="3276600" y="1751341"/>
            <a:ext cx="2655595" cy="1066800"/>
            <a:chOff x="4272" y="3456"/>
            <a:chExt cx="1152" cy="672"/>
          </a:xfrm>
        </p:grpSpPr>
        <p:sp>
          <p:nvSpPr>
            <p:cNvPr id="44" name="Freeform 12"/>
            <p:cNvSpPr>
              <a:spLocks/>
            </p:cNvSpPr>
            <p:nvPr/>
          </p:nvSpPr>
          <p:spPr bwMode="auto">
            <a:xfrm>
              <a:off x="4272" y="3456"/>
              <a:ext cx="1104" cy="672"/>
            </a:xfrm>
            <a:custGeom>
              <a:avLst/>
              <a:gdLst>
                <a:gd name="T0" fmla="*/ 384 w 1104"/>
                <a:gd name="T1" fmla="*/ 672 h 672"/>
                <a:gd name="T2" fmla="*/ 768 w 1104"/>
                <a:gd name="T3" fmla="*/ 672 h 672"/>
                <a:gd name="T4" fmla="*/ 768 w 1104"/>
                <a:gd name="T5" fmla="*/ 336 h 672"/>
                <a:gd name="T6" fmla="*/ 1104 w 1104"/>
                <a:gd name="T7" fmla="*/ 336 h 672"/>
                <a:gd name="T8" fmla="*/ 1104 w 1104"/>
                <a:gd name="T9" fmla="*/ 0 h 672"/>
                <a:gd name="T10" fmla="*/ 0 w 1104"/>
                <a:gd name="T11" fmla="*/ 0 h 672"/>
                <a:gd name="T12" fmla="*/ 0 w 1104"/>
                <a:gd name="T13" fmla="*/ 336 h 672"/>
                <a:gd name="T14" fmla="*/ 384 w 1104"/>
                <a:gd name="T15" fmla="*/ 336 h 672"/>
                <a:gd name="T16" fmla="*/ 384 w 1104"/>
                <a:gd name="T17" fmla="*/ 672 h 6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04" h="672">
                  <a:moveTo>
                    <a:pt x="384" y="672"/>
                  </a:moveTo>
                  <a:lnTo>
                    <a:pt x="768" y="672"/>
                  </a:lnTo>
                  <a:lnTo>
                    <a:pt x="768" y="336"/>
                  </a:lnTo>
                  <a:lnTo>
                    <a:pt x="1104" y="336"/>
                  </a:lnTo>
                  <a:lnTo>
                    <a:pt x="1104" y="0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384" y="336"/>
                  </a:lnTo>
                  <a:lnTo>
                    <a:pt x="384" y="672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 Box 13"/>
            <p:cNvSpPr txBox="1">
              <a:spLocks noChangeArrowheads="1"/>
            </p:cNvSpPr>
            <p:nvPr/>
          </p:nvSpPr>
          <p:spPr bwMode="auto">
            <a:xfrm>
              <a:off x="4272" y="3456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46" name="Text Box 14"/>
            <p:cNvSpPr txBox="1">
              <a:spLocks noChangeArrowheads="1"/>
            </p:cNvSpPr>
            <p:nvPr/>
          </p:nvSpPr>
          <p:spPr bwMode="auto">
            <a:xfrm>
              <a:off x="4992" y="3456"/>
              <a:ext cx="43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PC</a:t>
              </a:r>
            </a:p>
          </p:txBody>
        </p:sp>
        <p:sp>
          <p:nvSpPr>
            <p:cNvPr id="47" name="Text Box 15"/>
            <p:cNvSpPr txBox="1">
              <a:spLocks noChangeArrowheads="1"/>
            </p:cNvSpPr>
            <p:nvPr/>
          </p:nvSpPr>
          <p:spPr bwMode="auto">
            <a:xfrm>
              <a:off x="4656" y="3792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PC</a:t>
              </a:r>
            </a:p>
          </p:txBody>
        </p:sp>
        <p:sp>
          <p:nvSpPr>
            <p:cNvPr id="48" name="Line 16"/>
            <p:cNvSpPr>
              <a:spLocks noChangeShapeType="1"/>
            </p:cNvSpPr>
            <p:nvPr/>
          </p:nvSpPr>
          <p:spPr bwMode="auto">
            <a:xfrm>
              <a:off x="4552" y="3639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Rectangle 37"/>
          <p:cNvSpPr/>
          <p:nvPr/>
        </p:nvSpPr>
        <p:spPr bwMode="auto">
          <a:xfrm>
            <a:off x="2940468" y="1447800"/>
            <a:ext cx="3200400" cy="1828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181600" y="2691825"/>
            <a:ext cx="945732" cy="58477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0"/>
              <a:t>PC</a:t>
            </a:r>
          </a:p>
        </p:txBody>
      </p:sp>
      <p:cxnSp>
        <p:nvCxnSpPr>
          <p:cNvPr id="40" name="Straight Arrow Connector 39"/>
          <p:cNvCxnSpPr/>
          <p:nvPr/>
        </p:nvCxnSpPr>
        <p:spPr bwMode="auto">
          <a:xfrm>
            <a:off x="1371600" y="2209800"/>
            <a:ext cx="1524000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/>
          <p:cNvCxnSpPr/>
          <p:nvPr/>
        </p:nvCxnSpPr>
        <p:spPr bwMode="auto">
          <a:xfrm>
            <a:off x="6172200" y="2284741"/>
            <a:ext cx="1524000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TextBox 41"/>
          <p:cNvSpPr txBox="1"/>
          <p:nvPr/>
        </p:nvSpPr>
        <p:spPr>
          <a:xfrm>
            <a:off x="1519990" y="1654546"/>
            <a:ext cx="1227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/>
              <a:t>Input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92779" y="1751341"/>
            <a:ext cx="1227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/>
              <a:t>Output</a:t>
            </a:r>
          </a:p>
        </p:txBody>
      </p:sp>
      <p:grpSp>
        <p:nvGrpSpPr>
          <p:cNvPr id="55" name="Group 5"/>
          <p:cNvGrpSpPr>
            <a:grpSpLocks/>
          </p:cNvGrpSpPr>
          <p:nvPr/>
        </p:nvGrpSpPr>
        <p:grpSpPr bwMode="auto">
          <a:xfrm>
            <a:off x="6400800" y="2446337"/>
            <a:ext cx="2477753" cy="1066800"/>
            <a:chOff x="4272" y="3456"/>
            <a:chExt cx="1104" cy="672"/>
          </a:xfrm>
        </p:grpSpPr>
        <p:sp>
          <p:nvSpPr>
            <p:cNvPr id="56" name="Freeform 6"/>
            <p:cNvSpPr>
              <a:spLocks/>
            </p:cNvSpPr>
            <p:nvPr/>
          </p:nvSpPr>
          <p:spPr bwMode="auto">
            <a:xfrm>
              <a:off x="4272" y="3456"/>
              <a:ext cx="1104" cy="672"/>
            </a:xfrm>
            <a:custGeom>
              <a:avLst/>
              <a:gdLst>
                <a:gd name="T0" fmla="*/ 384 w 1104"/>
                <a:gd name="T1" fmla="*/ 672 h 672"/>
                <a:gd name="T2" fmla="*/ 768 w 1104"/>
                <a:gd name="T3" fmla="*/ 672 h 672"/>
                <a:gd name="T4" fmla="*/ 768 w 1104"/>
                <a:gd name="T5" fmla="*/ 336 h 672"/>
                <a:gd name="T6" fmla="*/ 1104 w 1104"/>
                <a:gd name="T7" fmla="*/ 336 h 672"/>
                <a:gd name="T8" fmla="*/ 1104 w 1104"/>
                <a:gd name="T9" fmla="*/ 0 h 672"/>
                <a:gd name="T10" fmla="*/ 0 w 1104"/>
                <a:gd name="T11" fmla="*/ 0 h 672"/>
                <a:gd name="T12" fmla="*/ 0 w 1104"/>
                <a:gd name="T13" fmla="*/ 336 h 672"/>
                <a:gd name="T14" fmla="*/ 384 w 1104"/>
                <a:gd name="T15" fmla="*/ 336 h 672"/>
                <a:gd name="T16" fmla="*/ 384 w 1104"/>
                <a:gd name="T17" fmla="*/ 672 h 6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04" h="672">
                  <a:moveTo>
                    <a:pt x="384" y="672"/>
                  </a:moveTo>
                  <a:lnTo>
                    <a:pt x="768" y="672"/>
                  </a:lnTo>
                  <a:lnTo>
                    <a:pt x="768" y="336"/>
                  </a:lnTo>
                  <a:lnTo>
                    <a:pt x="1104" y="336"/>
                  </a:lnTo>
                  <a:lnTo>
                    <a:pt x="1104" y="0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384" y="336"/>
                  </a:lnTo>
                  <a:lnTo>
                    <a:pt x="384" y="672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 Box 7"/>
            <p:cNvSpPr txBox="1">
              <a:spLocks noChangeArrowheads="1"/>
            </p:cNvSpPr>
            <p:nvPr/>
          </p:nvSpPr>
          <p:spPr bwMode="auto">
            <a:xfrm>
              <a:off x="4272" y="3456"/>
              <a:ext cx="38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58" name="Text Box 8"/>
            <p:cNvSpPr txBox="1">
              <a:spLocks noChangeArrowheads="1"/>
            </p:cNvSpPr>
            <p:nvPr/>
          </p:nvSpPr>
          <p:spPr bwMode="auto">
            <a:xfrm>
              <a:off x="5040" y="3456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BK</a:t>
              </a:r>
            </a:p>
          </p:txBody>
        </p:sp>
        <p:sp>
          <p:nvSpPr>
            <p:cNvPr id="59" name="Text Box 9"/>
            <p:cNvSpPr txBox="1">
              <a:spLocks noChangeArrowheads="1"/>
            </p:cNvSpPr>
            <p:nvPr/>
          </p:nvSpPr>
          <p:spPr bwMode="auto">
            <a:xfrm>
              <a:off x="4656" y="3792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PC</a:t>
              </a:r>
            </a:p>
          </p:txBody>
        </p:sp>
        <p:sp>
          <p:nvSpPr>
            <p:cNvPr id="60" name="Line 10"/>
            <p:cNvSpPr>
              <a:spLocks noChangeShapeType="1"/>
            </p:cNvSpPr>
            <p:nvPr/>
          </p:nvSpPr>
          <p:spPr bwMode="auto">
            <a:xfrm flipV="1">
              <a:off x="4612" y="3638"/>
              <a:ext cx="45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1" name="Group 5"/>
          <p:cNvGrpSpPr>
            <a:grpSpLocks/>
          </p:cNvGrpSpPr>
          <p:nvPr/>
        </p:nvGrpSpPr>
        <p:grpSpPr bwMode="auto">
          <a:xfrm>
            <a:off x="306179" y="4950370"/>
            <a:ext cx="2477753" cy="1066800"/>
            <a:chOff x="4272" y="3456"/>
            <a:chExt cx="1104" cy="672"/>
          </a:xfrm>
        </p:grpSpPr>
        <p:sp>
          <p:nvSpPr>
            <p:cNvPr id="62" name="Freeform 6"/>
            <p:cNvSpPr>
              <a:spLocks/>
            </p:cNvSpPr>
            <p:nvPr/>
          </p:nvSpPr>
          <p:spPr bwMode="auto">
            <a:xfrm>
              <a:off x="4272" y="3456"/>
              <a:ext cx="1104" cy="672"/>
            </a:xfrm>
            <a:custGeom>
              <a:avLst/>
              <a:gdLst>
                <a:gd name="T0" fmla="*/ 384 w 1104"/>
                <a:gd name="T1" fmla="*/ 672 h 672"/>
                <a:gd name="T2" fmla="*/ 768 w 1104"/>
                <a:gd name="T3" fmla="*/ 672 h 672"/>
                <a:gd name="T4" fmla="*/ 768 w 1104"/>
                <a:gd name="T5" fmla="*/ 336 h 672"/>
                <a:gd name="T6" fmla="*/ 1104 w 1104"/>
                <a:gd name="T7" fmla="*/ 336 h 672"/>
                <a:gd name="T8" fmla="*/ 1104 w 1104"/>
                <a:gd name="T9" fmla="*/ 0 h 672"/>
                <a:gd name="T10" fmla="*/ 0 w 1104"/>
                <a:gd name="T11" fmla="*/ 0 h 672"/>
                <a:gd name="T12" fmla="*/ 0 w 1104"/>
                <a:gd name="T13" fmla="*/ 336 h 672"/>
                <a:gd name="T14" fmla="*/ 384 w 1104"/>
                <a:gd name="T15" fmla="*/ 336 h 672"/>
                <a:gd name="T16" fmla="*/ 384 w 1104"/>
                <a:gd name="T17" fmla="*/ 672 h 6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04" h="672">
                  <a:moveTo>
                    <a:pt x="384" y="672"/>
                  </a:moveTo>
                  <a:lnTo>
                    <a:pt x="768" y="672"/>
                  </a:lnTo>
                  <a:lnTo>
                    <a:pt x="768" y="336"/>
                  </a:lnTo>
                  <a:lnTo>
                    <a:pt x="1104" y="336"/>
                  </a:lnTo>
                  <a:lnTo>
                    <a:pt x="1104" y="0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384" y="336"/>
                  </a:lnTo>
                  <a:lnTo>
                    <a:pt x="384" y="672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Box 7"/>
            <p:cNvSpPr txBox="1">
              <a:spLocks noChangeArrowheads="1"/>
            </p:cNvSpPr>
            <p:nvPr/>
          </p:nvSpPr>
          <p:spPr bwMode="auto">
            <a:xfrm>
              <a:off x="4272" y="3456"/>
              <a:ext cx="38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64" name="Text Box 8"/>
            <p:cNvSpPr txBox="1">
              <a:spLocks noChangeArrowheads="1"/>
            </p:cNvSpPr>
            <p:nvPr/>
          </p:nvSpPr>
          <p:spPr bwMode="auto">
            <a:xfrm>
              <a:off x="5040" y="3456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BK</a:t>
              </a:r>
            </a:p>
          </p:txBody>
        </p:sp>
        <p:sp>
          <p:nvSpPr>
            <p:cNvPr id="65" name="Text Box 9"/>
            <p:cNvSpPr txBox="1">
              <a:spLocks noChangeArrowheads="1"/>
            </p:cNvSpPr>
            <p:nvPr/>
          </p:nvSpPr>
          <p:spPr bwMode="auto">
            <a:xfrm>
              <a:off x="4656" y="3792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66" name="Line 10"/>
            <p:cNvSpPr>
              <a:spLocks noChangeShapeType="1"/>
            </p:cNvSpPr>
            <p:nvPr/>
          </p:nvSpPr>
          <p:spPr bwMode="auto">
            <a:xfrm flipV="1">
              <a:off x="4679" y="3638"/>
              <a:ext cx="37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7" name="Group 11"/>
          <p:cNvGrpSpPr>
            <a:grpSpLocks/>
          </p:cNvGrpSpPr>
          <p:nvPr/>
        </p:nvGrpSpPr>
        <p:grpSpPr bwMode="auto">
          <a:xfrm>
            <a:off x="3277979" y="4415711"/>
            <a:ext cx="2655595" cy="1066800"/>
            <a:chOff x="4272" y="3456"/>
            <a:chExt cx="1152" cy="672"/>
          </a:xfrm>
        </p:grpSpPr>
        <p:sp>
          <p:nvSpPr>
            <p:cNvPr id="68" name="Freeform 12"/>
            <p:cNvSpPr>
              <a:spLocks/>
            </p:cNvSpPr>
            <p:nvPr/>
          </p:nvSpPr>
          <p:spPr bwMode="auto">
            <a:xfrm>
              <a:off x="4272" y="3456"/>
              <a:ext cx="1104" cy="672"/>
            </a:xfrm>
            <a:custGeom>
              <a:avLst/>
              <a:gdLst>
                <a:gd name="T0" fmla="*/ 384 w 1104"/>
                <a:gd name="T1" fmla="*/ 672 h 672"/>
                <a:gd name="T2" fmla="*/ 768 w 1104"/>
                <a:gd name="T3" fmla="*/ 672 h 672"/>
                <a:gd name="T4" fmla="*/ 768 w 1104"/>
                <a:gd name="T5" fmla="*/ 336 h 672"/>
                <a:gd name="T6" fmla="*/ 1104 w 1104"/>
                <a:gd name="T7" fmla="*/ 336 h 672"/>
                <a:gd name="T8" fmla="*/ 1104 w 1104"/>
                <a:gd name="T9" fmla="*/ 0 h 672"/>
                <a:gd name="T10" fmla="*/ 0 w 1104"/>
                <a:gd name="T11" fmla="*/ 0 h 672"/>
                <a:gd name="T12" fmla="*/ 0 w 1104"/>
                <a:gd name="T13" fmla="*/ 336 h 672"/>
                <a:gd name="T14" fmla="*/ 384 w 1104"/>
                <a:gd name="T15" fmla="*/ 336 h 672"/>
                <a:gd name="T16" fmla="*/ 384 w 1104"/>
                <a:gd name="T17" fmla="*/ 672 h 6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04" h="672">
                  <a:moveTo>
                    <a:pt x="384" y="672"/>
                  </a:moveTo>
                  <a:lnTo>
                    <a:pt x="768" y="672"/>
                  </a:lnTo>
                  <a:lnTo>
                    <a:pt x="768" y="336"/>
                  </a:lnTo>
                  <a:lnTo>
                    <a:pt x="1104" y="336"/>
                  </a:lnTo>
                  <a:lnTo>
                    <a:pt x="1104" y="0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384" y="336"/>
                  </a:lnTo>
                  <a:lnTo>
                    <a:pt x="384" y="672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 Box 13"/>
            <p:cNvSpPr txBox="1">
              <a:spLocks noChangeArrowheads="1"/>
            </p:cNvSpPr>
            <p:nvPr/>
          </p:nvSpPr>
          <p:spPr bwMode="auto">
            <a:xfrm>
              <a:off x="4272" y="3456"/>
              <a:ext cx="37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70" name="Text Box 14"/>
            <p:cNvSpPr txBox="1">
              <a:spLocks noChangeArrowheads="1"/>
            </p:cNvSpPr>
            <p:nvPr/>
          </p:nvSpPr>
          <p:spPr bwMode="auto">
            <a:xfrm>
              <a:off x="4992" y="3456"/>
              <a:ext cx="43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BK</a:t>
              </a:r>
            </a:p>
          </p:txBody>
        </p:sp>
        <p:sp>
          <p:nvSpPr>
            <p:cNvPr id="71" name="Text Box 15"/>
            <p:cNvSpPr txBox="1">
              <a:spLocks noChangeArrowheads="1"/>
            </p:cNvSpPr>
            <p:nvPr/>
          </p:nvSpPr>
          <p:spPr bwMode="auto">
            <a:xfrm>
              <a:off x="4656" y="3792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PC</a:t>
              </a:r>
            </a:p>
          </p:txBody>
        </p:sp>
        <p:sp>
          <p:nvSpPr>
            <p:cNvPr id="72" name="Line 16"/>
            <p:cNvSpPr>
              <a:spLocks noChangeShapeType="1"/>
            </p:cNvSpPr>
            <p:nvPr/>
          </p:nvSpPr>
          <p:spPr bwMode="auto">
            <a:xfrm>
              <a:off x="4636" y="3639"/>
              <a:ext cx="3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3" name="Rectangle 72"/>
          <p:cNvSpPr/>
          <p:nvPr/>
        </p:nvSpPr>
        <p:spPr bwMode="auto">
          <a:xfrm>
            <a:off x="2941847" y="4112170"/>
            <a:ext cx="3200400" cy="1828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182979" y="5356195"/>
            <a:ext cx="945732" cy="58477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0"/>
              <a:t>PC</a:t>
            </a:r>
          </a:p>
        </p:txBody>
      </p:sp>
      <p:cxnSp>
        <p:nvCxnSpPr>
          <p:cNvPr id="75" name="Straight Arrow Connector 74"/>
          <p:cNvCxnSpPr/>
          <p:nvPr/>
        </p:nvCxnSpPr>
        <p:spPr bwMode="auto">
          <a:xfrm>
            <a:off x="1372979" y="4874170"/>
            <a:ext cx="1524000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" name="Straight Arrow Connector 75"/>
          <p:cNvCxnSpPr/>
          <p:nvPr/>
        </p:nvCxnSpPr>
        <p:spPr bwMode="auto">
          <a:xfrm>
            <a:off x="6173579" y="4949111"/>
            <a:ext cx="1524000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7" name="TextBox 76"/>
          <p:cNvSpPr txBox="1"/>
          <p:nvPr/>
        </p:nvSpPr>
        <p:spPr>
          <a:xfrm>
            <a:off x="1521369" y="4318916"/>
            <a:ext cx="1227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/>
              <a:t>Input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94158" y="4415711"/>
            <a:ext cx="1227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/>
              <a:t>Output</a:t>
            </a:r>
          </a:p>
        </p:txBody>
      </p:sp>
      <p:grpSp>
        <p:nvGrpSpPr>
          <p:cNvPr id="79" name="Group 5"/>
          <p:cNvGrpSpPr>
            <a:grpSpLocks/>
          </p:cNvGrpSpPr>
          <p:nvPr/>
        </p:nvGrpSpPr>
        <p:grpSpPr bwMode="auto">
          <a:xfrm>
            <a:off x="6335504" y="5099050"/>
            <a:ext cx="2477753" cy="1066800"/>
            <a:chOff x="4272" y="3456"/>
            <a:chExt cx="1104" cy="672"/>
          </a:xfrm>
        </p:grpSpPr>
        <p:sp>
          <p:nvSpPr>
            <p:cNvPr id="80" name="Freeform 6"/>
            <p:cNvSpPr>
              <a:spLocks/>
            </p:cNvSpPr>
            <p:nvPr/>
          </p:nvSpPr>
          <p:spPr bwMode="auto">
            <a:xfrm>
              <a:off x="4272" y="3456"/>
              <a:ext cx="1104" cy="672"/>
            </a:xfrm>
            <a:custGeom>
              <a:avLst/>
              <a:gdLst>
                <a:gd name="T0" fmla="*/ 384 w 1104"/>
                <a:gd name="T1" fmla="*/ 672 h 672"/>
                <a:gd name="T2" fmla="*/ 768 w 1104"/>
                <a:gd name="T3" fmla="*/ 672 h 672"/>
                <a:gd name="T4" fmla="*/ 768 w 1104"/>
                <a:gd name="T5" fmla="*/ 336 h 672"/>
                <a:gd name="T6" fmla="*/ 1104 w 1104"/>
                <a:gd name="T7" fmla="*/ 336 h 672"/>
                <a:gd name="T8" fmla="*/ 1104 w 1104"/>
                <a:gd name="T9" fmla="*/ 0 h 672"/>
                <a:gd name="T10" fmla="*/ 0 w 1104"/>
                <a:gd name="T11" fmla="*/ 0 h 672"/>
                <a:gd name="T12" fmla="*/ 0 w 1104"/>
                <a:gd name="T13" fmla="*/ 336 h 672"/>
                <a:gd name="T14" fmla="*/ 384 w 1104"/>
                <a:gd name="T15" fmla="*/ 336 h 672"/>
                <a:gd name="T16" fmla="*/ 384 w 1104"/>
                <a:gd name="T17" fmla="*/ 672 h 6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04" h="672">
                  <a:moveTo>
                    <a:pt x="384" y="672"/>
                  </a:moveTo>
                  <a:lnTo>
                    <a:pt x="768" y="672"/>
                  </a:lnTo>
                  <a:lnTo>
                    <a:pt x="768" y="336"/>
                  </a:lnTo>
                  <a:lnTo>
                    <a:pt x="1104" y="336"/>
                  </a:lnTo>
                  <a:lnTo>
                    <a:pt x="1104" y="0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384" y="336"/>
                  </a:lnTo>
                  <a:lnTo>
                    <a:pt x="384" y="672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 Box 7"/>
            <p:cNvSpPr txBox="1">
              <a:spLocks noChangeArrowheads="1"/>
            </p:cNvSpPr>
            <p:nvPr/>
          </p:nvSpPr>
          <p:spPr bwMode="auto">
            <a:xfrm>
              <a:off x="4272" y="3456"/>
              <a:ext cx="38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82" name="Text Box 8"/>
            <p:cNvSpPr txBox="1">
              <a:spLocks noChangeArrowheads="1"/>
            </p:cNvSpPr>
            <p:nvPr/>
          </p:nvSpPr>
          <p:spPr bwMode="auto">
            <a:xfrm>
              <a:off x="5040" y="3456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BK</a:t>
              </a:r>
            </a:p>
          </p:txBody>
        </p:sp>
        <p:sp>
          <p:nvSpPr>
            <p:cNvPr id="83" name="Text Box 9"/>
            <p:cNvSpPr txBox="1">
              <a:spLocks noChangeArrowheads="1"/>
            </p:cNvSpPr>
            <p:nvPr/>
          </p:nvSpPr>
          <p:spPr bwMode="auto">
            <a:xfrm>
              <a:off x="4656" y="3792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BK</a:t>
              </a:r>
            </a:p>
          </p:txBody>
        </p:sp>
        <p:sp>
          <p:nvSpPr>
            <p:cNvPr id="84" name="Line 10"/>
            <p:cNvSpPr>
              <a:spLocks noChangeShapeType="1"/>
            </p:cNvSpPr>
            <p:nvPr/>
          </p:nvSpPr>
          <p:spPr bwMode="auto">
            <a:xfrm flipV="1">
              <a:off x="4612" y="3638"/>
              <a:ext cx="45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7217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250"/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build="p"/>
      <p:bldP spid="73" grpId="0" animBg="1"/>
      <p:bldP spid="74" grpId="0" animBg="1"/>
      <p:bldP spid="77" grpId="0"/>
      <p:bldP spid="7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2C8EA7-FB6E-4DB3-A542-C500EED5BB3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err="1"/>
              <a:t>Xây</a:t>
            </a:r>
            <a:r>
              <a:rPr lang="en-US" altLang="en-US"/>
              <a:t> </a:t>
            </a:r>
            <a:r>
              <a:rPr lang="en-US" altLang="en-US" err="1"/>
              <a:t>dựng</a:t>
            </a:r>
            <a:r>
              <a:rPr lang="en-US" altLang="en-US"/>
              <a:t> </a:t>
            </a:r>
            <a:r>
              <a:rPr lang="en-US" altLang="en-US" err="1"/>
              <a:t>chương</a:t>
            </a:r>
            <a:r>
              <a:rPr lang="en-US" altLang="en-US"/>
              <a:t> </a:t>
            </a:r>
            <a:r>
              <a:rPr lang="en-US" altLang="en-US" err="1"/>
              <a:t>trình</a:t>
            </a:r>
            <a:r>
              <a:rPr lang="en-US" altLang="en-US"/>
              <a:t> </a:t>
            </a:r>
            <a:r>
              <a:rPr lang="en-US" altLang="en-US" err="1"/>
              <a:t>dịch</a:t>
            </a:r>
            <a:r>
              <a:rPr lang="en-US" altLang="en-US"/>
              <a:t>: Cross Compiling</a:t>
            </a:r>
          </a:p>
        </p:txBody>
      </p:sp>
      <p:sp>
        <p:nvSpPr>
          <p:cNvPr id="15365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1. Ngôn ngữ lập trình cấp cao và trình dịch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11636" y="4919629"/>
            <a:ext cx="8723747" cy="1376065"/>
            <a:chOff x="211636" y="4919629"/>
            <a:chExt cx="8723747" cy="1376065"/>
          </a:xfrm>
        </p:grpSpPr>
        <p:grpSp>
          <p:nvGrpSpPr>
            <p:cNvPr id="61" name="Group 60"/>
            <p:cNvGrpSpPr/>
            <p:nvPr/>
          </p:nvGrpSpPr>
          <p:grpSpPr>
            <a:xfrm>
              <a:off x="6279788" y="5017738"/>
              <a:ext cx="2655595" cy="995363"/>
              <a:chOff x="1981200" y="3294064"/>
              <a:chExt cx="2655595" cy="995363"/>
            </a:xfrm>
          </p:grpSpPr>
          <p:sp>
            <p:nvSpPr>
              <p:cNvPr id="62" name="Freeform 12"/>
              <p:cNvSpPr>
                <a:spLocks/>
              </p:cNvSpPr>
              <p:nvPr/>
            </p:nvSpPr>
            <p:spPr bwMode="auto">
              <a:xfrm>
                <a:off x="1981200" y="3322639"/>
                <a:ext cx="2544945" cy="939801"/>
              </a:xfrm>
              <a:custGeom>
                <a:avLst/>
                <a:gdLst>
                  <a:gd name="T0" fmla="*/ 384 w 1104"/>
                  <a:gd name="T1" fmla="*/ 672 h 672"/>
                  <a:gd name="T2" fmla="*/ 768 w 1104"/>
                  <a:gd name="T3" fmla="*/ 672 h 672"/>
                  <a:gd name="T4" fmla="*/ 768 w 1104"/>
                  <a:gd name="T5" fmla="*/ 336 h 672"/>
                  <a:gd name="T6" fmla="*/ 1104 w 1104"/>
                  <a:gd name="T7" fmla="*/ 336 h 672"/>
                  <a:gd name="T8" fmla="*/ 1104 w 1104"/>
                  <a:gd name="T9" fmla="*/ 0 h 672"/>
                  <a:gd name="T10" fmla="*/ 0 w 1104"/>
                  <a:gd name="T11" fmla="*/ 0 h 672"/>
                  <a:gd name="T12" fmla="*/ 0 w 1104"/>
                  <a:gd name="T13" fmla="*/ 336 h 672"/>
                  <a:gd name="T14" fmla="*/ 384 w 1104"/>
                  <a:gd name="T15" fmla="*/ 336 h 672"/>
                  <a:gd name="T16" fmla="*/ 384 w 1104"/>
                  <a:gd name="T17" fmla="*/ 672 h 67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04" h="672">
                    <a:moveTo>
                      <a:pt x="384" y="672"/>
                    </a:moveTo>
                    <a:lnTo>
                      <a:pt x="768" y="672"/>
                    </a:lnTo>
                    <a:lnTo>
                      <a:pt x="768" y="336"/>
                    </a:lnTo>
                    <a:lnTo>
                      <a:pt x="1104" y="336"/>
                    </a:lnTo>
                    <a:lnTo>
                      <a:pt x="1104" y="0"/>
                    </a:lnTo>
                    <a:lnTo>
                      <a:pt x="0" y="0"/>
                    </a:lnTo>
                    <a:lnTo>
                      <a:pt x="0" y="336"/>
                    </a:lnTo>
                    <a:lnTo>
                      <a:pt x="384" y="336"/>
                    </a:lnTo>
                    <a:lnTo>
                      <a:pt x="384" y="67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Text Box 13"/>
              <p:cNvSpPr txBox="1">
                <a:spLocks noChangeArrowheads="1"/>
              </p:cNvSpPr>
              <p:nvPr/>
            </p:nvSpPr>
            <p:spPr bwMode="auto">
              <a:xfrm>
                <a:off x="1981200" y="3294064"/>
                <a:ext cx="84370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>
                    <a:solidFill>
                      <a:schemeClr val="tx1"/>
                    </a:solidFill>
                  </a:rPr>
                  <a:t>Ada</a:t>
                </a:r>
              </a:p>
            </p:txBody>
          </p:sp>
          <p:sp>
            <p:nvSpPr>
              <p:cNvPr id="64" name="Text Box 14"/>
              <p:cNvSpPr txBox="1">
                <a:spLocks noChangeArrowheads="1"/>
              </p:cNvSpPr>
              <p:nvPr/>
            </p:nvSpPr>
            <p:spPr bwMode="auto">
              <a:xfrm>
                <a:off x="3640947" y="3294064"/>
                <a:ext cx="995848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>
                    <a:solidFill>
                      <a:schemeClr val="tx1"/>
                    </a:solidFill>
                  </a:rPr>
                  <a:t>PC</a:t>
                </a:r>
                <a:endParaRPr lang="en-US" altLang="en-US" sz="2800" b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Text Box 15"/>
              <p:cNvSpPr txBox="1">
                <a:spLocks noChangeArrowheads="1"/>
              </p:cNvSpPr>
              <p:nvPr/>
            </p:nvSpPr>
            <p:spPr bwMode="auto">
              <a:xfrm>
                <a:off x="2882535" y="3827464"/>
                <a:ext cx="899030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>
                    <a:solidFill>
                      <a:schemeClr val="tx1"/>
                    </a:solidFill>
                  </a:rPr>
                  <a:t>Sun</a:t>
                </a:r>
                <a:endParaRPr lang="en-US" altLang="en-US" sz="2800" b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Line 16"/>
              <p:cNvSpPr>
                <a:spLocks noChangeShapeType="1"/>
              </p:cNvSpPr>
              <p:nvPr/>
            </p:nvSpPr>
            <p:spPr bwMode="auto">
              <a:xfrm>
                <a:off x="2868704" y="3568702"/>
                <a:ext cx="9128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2" name="Rectangle 71"/>
            <p:cNvSpPr/>
            <p:nvPr/>
          </p:nvSpPr>
          <p:spPr bwMode="auto">
            <a:xfrm>
              <a:off x="2886074" y="4919629"/>
              <a:ext cx="3200400" cy="137606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127206" y="5834029"/>
              <a:ext cx="945732" cy="461665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0"/>
                <a:t>Mac</a:t>
              </a:r>
            </a:p>
          </p:txBody>
        </p:sp>
        <p:cxnSp>
          <p:nvCxnSpPr>
            <p:cNvPr id="74" name="Straight Arrow Connector 73"/>
            <p:cNvCxnSpPr/>
            <p:nvPr/>
          </p:nvCxnSpPr>
          <p:spPr bwMode="auto">
            <a:xfrm>
              <a:off x="6117806" y="5604170"/>
              <a:ext cx="603459" cy="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Straight Arrow Connector 74"/>
            <p:cNvCxnSpPr/>
            <p:nvPr/>
          </p:nvCxnSpPr>
          <p:spPr bwMode="auto">
            <a:xfrm>
              <a:off x="2085177" y="5640265"/>
              <a:ext cx="782054" cy="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76" name="Group 75"/>
            <p:cNvGrpSpPr/>
            <p:nvPr/>
          </p:nvGrpSpPr>
          <p:grpSpPr>
            <a:xfrm>
              <a:off x="211636" y="4982019"/>
              <a:ext cx="2655595" cy="995363"/>
              <a:chOff x="1981200" y="3294064"/>
              <a:chExt cx="2655595" cy="995363"/>
            </a:xfrm>
          </p:grpSpPr>
          <p:sp>
            <p:nvSpPr>
              <p:cNvPr id="77" name="Freeform 12"/>
              <p:cNvSpPr>
                <a:spLocks/>
              </p:cNvSpPr>
              <p:nvPr/>
            </p:nvSpPr>
            <p:spPr bwMode="auto">
              <a:xfrm>
                <a:off x="1981200" y="3322639"/>
                <a:ext cx="2544945" cy="939801"/>
              </a:xfrm>
              <a:custGeom>
                <a:avLst/>
                <a:gdLst>
                  <a:gd name="T0" fmla="*/ 384 w 1104"/>
                  <a:gd name="T1" fmla="*/ 672 h 672"/>
                  <a:gd name="T2" fmla="*/ 768 w 1104"/>
                  <a:gd name="T3" fmla="*/ 672 h 672"/>
                  <a:gd name="T4" fmla="*/ 768 w 1104"/>
                  <a:gd name="T5" fmla="*/ 336 h 672"/>
                  <a:gd name="T6" fmla="*/ 1104 w 1104"/>
                  <a:gd name="T7" fmla="*/ 336 h 672"/>
                  <a:gd name="T8" fmla="*/ 1104 w 1104"/>
                  <a:gd name="T9" fmla="*/ 0 h 672"/>
                  <a:gd name="T10" fmla="*/ 0 w 1104"/>
                  <a:gd name="T11" fmla="*/ 0 h 672"/>
                  <a:gd name="T12" fmla="*/ 0 w 1104"/>
                  <a:gd name="T13" fmla="*/ 336 h 672"/>
                  <a:gd name="T14" fmla="*/ 384 w 1104"/>
                  <a:gd name="T15" fmla="*/ 336 h 672"/>
                  <a:gd name="T16" fmla="*/ 384 w 1104"/>
                  <a:gd name="T17" fmla="*/ 672 h 67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04" h="672">
                    <a:moveTo>
                      <a:pt x="384" y="672"/>
                    </a:moveTo>
                    <a:lnTo>
                      <a:pt x="768" y="672"/>
                    </a:lnTo>
                    <a:lnTo>
                      <a:pt x="768" y="336"/>
                    </a:lnTo>
                    <a:lnTo>
                      <a:pt x="1104" y="336"/>
                    </a:lnTo>
                    <a:lnTo>
                      <a:pt x="1104" y="0"/>
                    </a:lnTo>
                    <a:lnTo>
                      <a:pt x="0" y="0"/>
                    </a:lnTo>
                    <a:lnTo>
                      <a:pt x="0" y="336"/>
                    </a:lnTo>
                    <a:lnTo>
                      <a:pt x="384" y="336"/>
                    </a:lnTo>
                    <a:lnTo>
                      <a:pt x="384" y="67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Text Box 13"/>
              <p:cNvSpPr txBox="1">
                <a:spLocks noChangeArrowheads="1"/>
              </p:cNvSpPr>
              <p:nvPr/>
            </p:nvSpPr>
            <p:spPr bwMode="auto">
              <a:xfrm>
                <a:off x="1981200" y="3294064"/>
                <a:ext cx="84370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>
                    <a:solidFill>
                      <a:schemeClr val="tx1"/>
                    </a:solidFill>
                  </a:rPr>
                  <a:t>Ada</a:t>
                </a:r>
              </a:p>
            </p:txBody>
          </p:sp>
          <p:sp>
            <p:nvSpPr>
              <p:cNvPr id="79" name="Text Box 14"/>
              <p:cNvSpPr txBox="1">
                <a:spLocks noChangeArrowheads="1"/>
              </p:cNvSpPr>
              <p:nvPr/>
            </p:nvSpPr>
            <p:spPr bwMode="auto">
              <a:xfrm>
                <a:off x="3640947" y="3294064"/>
                <a:ext cx="995848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>
                    <a:solidFill>
                      <a:schemeClr val="tx1"/>
                    </a:solidFill>
                  </a:rPr>
                  <a:t>PC</a:t>
                </a:r>
                <a:endParaRPr lang="en-US" altLang="en-US" sz="2800" b="0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Text Box 15"/>
              <p:cNvSpPr txBox="1">
                <a:spLocks noChangeArrowheads="1"/>
              </p:cNvSpPr>
              <p:nvPr/>
            </p:nvSpPr>
            <p:spPr bwMode="auto">
              <a:xfrm>
                <a:off x="2882535" y="3827464"/>
                <a:ext cx="899030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>
                    <a:solidFill>
                      <a:schemeClr val="tx1"/>
                    </a:solidFill>
                  </a:rPr>
                  <a:t>Java</a:t>
                </a:r>
                <a:endParaRPr lang="en-US" altLang="en-US" sz="2800" b="0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Line 16"/>
              <p:cNvSpPr>
                <a:spLocks noChangeShapeType="1"/>
              </p:cNvSpPr>
              <p:nvPr/>
            </p:nvSpPr>
            <p:spPr bwMode="auto">
              <a:xfrm>
                <a:off x="2868704" y="3568702"/>
                <a:ext cx="9128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" name="TextBox 4"/>
            <p:cNvSpPr txBox="1"/>
            <p:nvPr/>
          </p:nvSpPr>
          <p:spPr>
            <a:xfrm>
              <a:off x="4088873" y="5173513"/>
              <a:ext cx="53893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b="0"/>
                <a:t>?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880552" y="2768291"/>
            <a:ext cx="7087642" cy="1577341"/>
            <a:chOff x="880552" y="2768291"/>
            <a:chExt cx="7087642" cy="1577341"/>
          </a:xfrm>
        </p:grpSpPr>
        <p:grpSp>
          <p:nvGrpSpPr>
            <p:cNvPr id="3" name="Group 2"/>
            <p:cNvGrpSpPr/>
            <p:nvPr/>
          </p:nvGrpSpPr>
          <p:grpSpPr>
            <a:xfrm>
              <a:off x="5312599" y="3067676"/>
              <a:ext cx="2655595" cy="995363"/>
              <a:chOff x="1981200" y="3294064"/>
              <a:chExt cx="2655595" cy="995363"/>
            </a:xfrm>
          </p:grpSpPr>
          <p:sp>
            <p:nvSpPr>
              <p:cNvPr id="39" name="Freeform 12"/>
              <p:cNvSpPr>
                <a:spLocks/>
              </p:cNvSpPr>
              <p:nvPr/>
            </p:nvSpPr>
            <p:spPr bwMode="auto">
              <a:xfrm>
                <a:off x="1981200" y="3322639"/>
                <a:ext cx="2544945" cy="939801"/>
              </a:xfrm>
              <a:custGeom>
                <a:avLst/>
                <a:gdLst>
                  <a:gd name="T0" fmla="*/ 384 w 1104"/>
                  <a:gd name="T1" fmla="*/ 672 h 672"/>
                  <a:gd name="T2" fmla="*/ 768 w 1104"/>
                  <a:gd name="T3" fmla="*/ 672 h 672"/>
                  <a:gd name="T4" fmla="*/ 768 w 1104"/>
                  <a:gd name="T5" fmla="*/ 336 h 672"/>
                  <a:gd name="T6" fmla="*/ 1104 w 1104"/>
                  <a:gd name="T7" fmla="*/ 336 h 672"/>
                  <a:gd name="T8" fmla="*/ 1104 w 1104"/>
                  <a:gd name="T9" fmla="*/ 0 h 672"/>
                  <a:gd name="T10" fmla="*/ 0 w 1104"/>
                  <a:gd name="T11" fmla="*/ 0 h 672"/>
                  <a:gd name="T12" fmla="*/ 0 w 1104"/>
                  <a:gd name="T13" fmla="*/ 336 h 672"/>
                  <a:gd name="T14" fmla="*/ 384 w 1104"/>
                  <a:gd name="T15" fmla="*/ 336 h 672"/>
                  <a:gd name="T16" fmla="*/ 384 w 1104"/>
                  <a:gd name="T17" fmla="*/ 672 h 67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04" h="672">
                    <a:moveTo>
                      <a:pt x="384" y="672"/>
                    </a:moveTo>
                    <a:lnTo>
                      <a:pt x="768" y="672"/>
                    </a:lnTo>
                    <a:lnTo>
                      <a:pt x="768" y="336"/>
                    </a:lnTo>
                    <a:lnTo>
                      <a:pt x="1104" y="336"/>
                    </a:lnTo>
                    <a:lnTo>
                      <a:pt x="1104" y="0"/>
                    </a:lnTo>
                    <a:lnTo>
                      <a:pt x="0" y="0"/>
                    </a:lnTo>
                    <a:lnTo>
                      <a:pt x="0" y="336"/>
                    </a:lnTo>
                    <a:lnTo>
                      <a:pt x="384" y="336"/>
                    </a:lnTo>
                    <a:lnTo>
                      <a:pt x="384" y="67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 Box 13"/>
              <p:cNvSpPr txBox="1">
                <a:spLocks noChangeArrowheads="1"/>
              </p:cNvSpPr>
              <p:nvPr/>
            </p:nvSpPr>
            <p:spPr bwMode="auto">
              <a:xfrm>
                <a:off x="1981200" y="3294064"/>
                <a:ext cx="84370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>
                    <a:solidFill>
                      <a:schemeClr val="tx1"/>
                    </a:solidFill>
                  </a:rPr>
                  <a:t>Ada</a:t>
                </a:r>
              </a:p>
            </p:txBody>
          </p:sp>
          <p:sp>
            <p:nvSpPr>
              <p:cNvPr id="41" name="Text Box 14"/>
              <p:cNvSpPr txBox="1">
                <a:spLocks noChangeArrowheads="1"/>
              </p:cNvSpPr>
              <p:nvPr/>
            </p:nvSpPr>
            <p:spPr bwMode="auto">
              <a:xfrm>
                <a:off x="3640947" y="3294064"/>
                <a:ext cx="995848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>
                    <a:solidFill>
                      <a:schemeClr val="tx1"/>
                    </a:solidFill>
                  </a:rPr>
                  <a:t>Sun</a:t>
                </a:r>
                <a:endParaRPr lang="en-US" altLang="en-US" sz="2800" b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Text Box 15"/>
              <p:cNvSpPr txBox="1">
                <a:spLocks noChangeArrowheads="1"/>
              </p:cNvSpPr>
              <p:nvPr/>
            </p:nvSpPr>
            <p:spPr bwMode="auto">
              <a:xfrm>
                <a:off x="2882535" y="3827464"/>
                <a:ext cx="899030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>
                    <a:solidFill>
                      <a:schemeClr val="tx1"/>
                    </a:solidFill>
                  </a:rPr>
                  <a:t>Sun</a:t>
                </a:r>
                <a:endParaRPr lang="en-US" altLang="en-US" sz="2800" b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Line 16"/>
              <p:cNvSpPr>
                <a:spLocks noChangeShapeType="1"/>
              </p:cNvSpPr>
              <p:nvPr/>
            </p:nvSpPr>
            <p:spPr bwMode="auto">
              <a:xfrm>
                <a:off x="2868704" y="3568702"/>
                <a:ext cx="9128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6" name="Freeform 12"/>
            <p:cNvSpPr>
              <a:spLocks/>
            </p:cNvSpPr>
            <p:nvPr/>
          </p:nvSpPr>
          <p:spPr bwMode="auto">
            <a:xfrm>
              <a:off x="2255142" y="3150542"/>
              <a:ext cx="2544945" cy="939801"/>
            </a:xfrm>
            <a:custGeom>
              <a:avLst/>
              <a:gdLst>
                <a:gd name="T0" fmla="*/ 384 w 1104"/>
                <a:gd name="T1" fmla="*/ 672 h 672"/>
                <a:gd name="T2" fmla="*/ 768 w 1104"/>
                <a:gd name="T3" fmla="*/ 672 h 672"/>
                <a:gd name="T4" fmla="*/ 768 w 1104"/>
                <a:gd name="T5" fmla="*/ 336 h 672"/>
                <a:gd name="T6" fmla="*/ 1104 w 1104"/>
                <a:gd name="T7" fmla="*/ 336 h 672"/>
                <a:gd name="T8" fmla="*/ 1104 w 1104"/>
                <a:gd name="T9" fmla="*/ 0 h 672"/>
                <a:gd name="T10" fmla="*/ 0 w 1104"/>
                <a:gd name="T11" fmla="*/ 0 h 672"/>
                <a:gd name="T12" fmla="*/ 0 w 1104"/>
                <a:gd name="T13" fmla="*/ 336 h 672"/>
                <a:gd name="T14" fmla="*/ 384 w 1104"/>
                <a:gd name="T15" fmla="*/ 336 h 672"/>
                <a:gd name="T16" fmla="*/ 384 w 1104"/>
                <a:gd name="T17" fmla="*/ 672 h 6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04" h="672">
                  <a:moveTo>
                    <a:pt x="384" y="672"/>
                  </a:moveTo>
                  <a:lnTo>
                    <a:pt x="768" y="672"/>
                  </a:lnTo>
                  <a:lnTo>
                    <a:pt x="768" y="336"/>
                  </a:lnTo>
                  <a:lnTo>
                    <a:pt x="1104" y="336"/>
                  </a:lnTo>
                  <a:lnTo>
                    <a:pt x="1104" y="0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384" y="336"/>
                  </a:lnTo>
                  <a:lnTo>
                    <a:pt x="384" y="672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Box 13"/>
            <p:cNvSpPr txBox="1">
              <a:spLocks noChangeArrowheads="1"/>
            </p:cNvSpPr>
            <p:nvPr/>
          </p:nvSpPr>
          <p:spPr bwMode="auto">
            <a:xfrm>
              <a:off x="2255142" y="3121967"/>
              <a:ext cx="84370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48" name="Text Box 14"/>
            <p:cNvSpPr txBox="1">
              <a:spLocks noChangeArrowheads="1"/>
            </p:cNvSpPr>
            <p:nvPr/>
          </p:nvSpPr>
          <p:spPr bwMode="auto">
            <a:xfrm>
              <a:off x="3914889" y="3121967"/>
              <a:ext cx="995848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Sun</a:t>
              </a:r>
              <a:endParaRPr lang="en-US" altLang="en-US" sz="2800" b="0">
                <a:solidFill>
                  <a:schemeClr val="tx1"/>
                </a:solidFill>
              </a:endParaRPr>
            </a:p>
          </p:txBody>
        </p:sp>
        <p:sp>
          <p:nvSpPr>
            <p:cNvPr id="49" name="Text Box 15"/>
            <p:cNvSpPr txBox="1">
              <a:spLocks noChangeArrowheads="1"/>
            </p:cNvSpPr>
            <p:nvPr/>
          </p:nvSpPr>
          <p:spPr bwMode="auto">
            <a:xfrm>
              <a:off x="3156477" y="3655367"/>
              <a:ext cx="774549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Sun</a:t>
              </a:r>
              <a:endParaRPr lang="en-US" altLang="en-US" sz="2800" b="0">
                <a:solidFill>
                  <a:schemeClr val="tx1"/>
                </a:solidFill>
              </a:endParaRPr>
            </a:p>
          </p:txBody>
        </p:sp>
        <p:sp>
          <p:nvSpPr>
            <p:cNvPr id="50" name="Line 16"/>
            <p:cNvSpPr>
              <a:spLocks noChangeShapeType="1"/>
            </p:cNvSpPr>
            <p:nvPr/>
          </p:nvSpPr>
          <p:spPr bwMode="auto">
            <a:xfrm>
              <a:off x="3142645" y="3396605"/>
              <a:ext cx="912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50"/>
            <p:cNvSpPr/>
            <p:nvPr/>
          </p:nvSpPr>
          <p:spPr bwMode="auto">
            <a:xfrm>
              <a:off x="1918885" y="2969567"/>
              <a:ext cx="3200400" cy="137606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160017" y="3883967"/>
              <a:ext cx="945732" cy="461665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0"/>
                <a:t>Sun</a:t>
              </a:r>
            </a:p>
          </p:txBody>
        </p:sp>
        <p:cxnSp>
          <p:nvCxnSpPr>
            <p:cNvPr id="53" name="Straight Arrow Connector 52"/>
            <p:cNvCxnSpPr/>
            <p:nvPr/>
          </p:nvCxnSpPr>
          <p:spPr bwMode="auto">
            <a:xfrm>
              <a:off x="5150617" y="3654108"/>
              <a:ext cx="603459" cy="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Straight Arrow Connector 53"/>
            <p:cNvCxnSpPr/>
            <p:nvPr/>
          </p:nvCxnSpPr>
          <p:spPr bwMode="auto">
            <a:xfrm>
              <a:off x="1117988" y="3690203"/>
              <a:ext cx="782054" cy="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3" name="TextBox 82"/>
            <p:cNvSpPr txBox="1"/>
            <p:nvPr/>
          </p:nvSpPr>
          <p:spPr>
            <a:xfrm>
              <a:off x="880552" y="2768291"/>
              <a:ext cx="53893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b="0"/>
                <a:t>?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58281" y="1072356"/>
            <a:ext cx="7204455" cy="1446709"/>
            <a:chOff x="758281" y="1072356"/>
            <a:chExt cx="7204455" cy="1446709"/>
          </a:xfrm>
        </p:grpSpPr>
        <p:sp>
          <p:nvSpPr>
            <p:cNvPr id="30" name="Freeform 12"/>
            <p:cNvSpPr>
              <a:spLocks/>
            </p:cNvSpPr>
            <p:nvPr/>
          </p:nvSpPr>
          <p:spPr bwMode="auto">
            <a:xfrm>
              <a:off x="3968666" y="1323975"/>
              <a:ext cx="2544945" cy="939801"/>
            </a:xfrm>
            <a:custGeom>
              <a:avLst/>
              <a:gdLst>
                <a:gd name="T0" fmla="*/ 384 w 1104"/>
                <a:gd name="T1" fmla="*/ 672 h 672"/>
                <a:gd name="T2" fmla="*/ 768 w 1104"/>
                <a:gd name="T3" fmla="*/ 672 h 672"/>
                <a:gd name="T4" fmla="*/ 768 w 1104"/>
                <a:gd name="T5" fmla="*/ 336 h 672"/>
                <a:gd name="T6" fmla="*/ 1104 w 1104"/>
                <a:gd name="T7" fmla="*/ 336 h 672"/>
                <a:gd name="T8" fmla="*/ 1104 w 1104"/>
                <a:gd name="T9" fmla="*/ 0 h 672"/>
                <a:gd name="T10" fmla="*/ 0 w 1104"/>
                <a:gd name="T11" fmla="*/ 0 h 672"/>
                <a:gd name="T12" fmla="*/ 0 w 1104"/>
                <a:gd name="T13" fmla="*/ 336 h 672"/>
                <a:gd name="T14" fmla="*/ 384 w 1104"/>
                <a:gd name="T15" fmla="*/ 336 h 672"/>
                <a:gd name="T16" fmla="*/ 384 w 1104"/>
                <a:gd name="T17" fmla="*/ 672 h 6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04" h="672">
                  <a:moveTo>
                    <a:pt x="384" y="672"/>
                  </a:moveTo>
                  <a:lnTo>
                    <a:pt x="768" y="672"/>
                  </a:lnTo>
                  <a:lnTo>
                    <a:pt x="768" y="336"/>
                  </a:lnTo>
                  <a:lnTo>
                    <a:pt x="1104" y="336"/>
                  </a:lnTo>
                  <a:lnTo>
                    <a:pt x="1104" y="0"/>
                  </a:lnTo>
                  <a:lnTo>
                    <a:pt x="0" y="0"/>
                  </a:lnTo>
                  <a:lnTo>
                    <a:pt x="0" y="336"/>
                  </a:lnTo>
                  <a:lnTo>
                    <a:pt x="384" y="336"/>
                  </a:lnTo>
                  <a:lnTo>
                    <a:pt x="384" y="672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Box 13"/>
            <p:cNvSpPr txBox="1">
              <a:spLocks noChangeArrowheads="1"/>
            </p:cNvSpPr>
            <p:nvPr/>
          </p:nvSpPr>
          <p:spPr bwMode="auto">
            <a:xfrm>
              <a:off x="3968666" y="1295400"/>
              <a:ext cx="843705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Java</a:t>
              </a:r>
            </a:p>
          </p:txBody>
        </p:sp>
        <p:sp>
          <p:nvSpPr>
            <p:cNvPr id="32" name="Text Box 14"/>
            <p:cNvSpPr txBox="1">
              <a:spLocks noChangeArrowheads="1"/>
            </p:cNvSpPr>
            <p:nvPr/>
          </p:nvSpPr>
          <p:spPr bwMode="auto">
            <a:xfrm>
              <a:off x="5628413" y="1295400"/>
              <a:ext cx="995848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Mac</a:t>
              </a:r>
              <a:endParaRPr lang="en-US" altLang="en-US" sz="2800" b="0">
                <a:solidFill>
                  <a:schemeClr val="tx1"/>
                </a:solidFill>
              </a:endParaRPr>
            </a:p>
          </p:txBody>
        </p:sp>
        <p:sp>
          <p:nvSpPr>
            <p:cNvPr id="33" name="Text Box 15"/>
            <p:cNvSpPr txBox="1">
              <a:spLocks noChangeArrowheads="1"/>
            </p:cNvSpPr>
            <p:nvPr/>
          </p:nvSpPr>
          <p:spPr bwMode="auto">
            <a:xfrm>
              <a:off x="4870001" y="1828800"/>
              <a:ext cx="774549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PC</a:t>
              </a:r>
              <a:endParaRPr lang="en-US" altLang="en-US" sz="2800" b="0">
                <a:solidFill>
                  <a:schemeClr val="tx1"/>
                </a:solidFill>
              </a:endParaRPr>
            </a:p>
          </p:txBody>
        </p:sp>
        <p:sp>
          <p:nvSpPr>
            <p:cNvPr id="34" name="Line 16"/>
            <p:cNvSpPr>
              <a:spLocks noChangeShapeType="1"/>
            </p:cNvSpPr>
            <p:nvPr/>
          </p:nvSpPr>
          <p:spPr bwMode="auto">
            <a:xfrm>
              <a:off x="4856169" y="1570038"/>
              <a:ext cx="912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3632409" y="1143000"/>
              <a:ext cx="3200400" cy="1376065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873541" y="2057400"/>
              <a:ext cx="945732" cy="461665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0"/>
                <a:t>PC</a:t>
              </a:r>
            </a:p>
          </p:txBody>
        </p:sp>
        <p:cxnSp>
          <p:nvCxnSpPr>
            <p:cNvPr id="37" name="Straight Arrow Connector 36"/>
            <p:cNvCxnSpPr/>
            <p:nvPr/>
          </p:nvCxnSpPr>
          <p:spPr bwMode="auto">
            <a:xfrm>
              <a:off x="2760243" y="1752600"/>
              <a:ext cx="782054" cy="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Straight Arrow Connector 37"/>
            <p:cNvCxnSpPr/>
            <p:nvPr/>
          </p:nvCxnSpPr>
          <p:spPr bwMode="auto">
            <a:xfrm>
              <a:off x="6864141" y="1827541"/>
              <a:ext cx="603459" cy="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55" name="Group 54"/>
            <p:cNvGrpSpPr/>
            <p:nvPr/>
          </p:nvGrpSpPr>
          <p:grpSpPr>
            <a:xfrm>
              <a:off x="758281" y="1072356"/>
              <a:ext cx="2655595" cy="995363"/>
              <a:chOff x="1981200" y="3294064"/>
              <a:chExt cx="2655595" cy="995363"/>
            </a:xfrm>
          </p:grpSpPr>
          <p:sp>
            <p:nvSpPr>
              <p:cNvPr id="56" name="Freeform 12"/>
              <p:cNvSpPr>
                <a:spLocks/>
              </p:cNvSpPr>
              <p:nvPr/>
            </p:nvSpPr>
            <p:spPr bwMode="auto">
              <a:xfrm>
                <a:off x="1981200" y="3322639"/>
                <a:ext cx="2544945" cy="939801"/>
              </a:xfrm>
              <a:custGeom>
                <a:avLst/>
                <a:gdLst>
                  <a:gd name="T0" fmla="*/ 384 w 1104"/>
                  <a:gd name="T1" fmla="*/ 672 h 672"/>
                  <a:gd name="T2" fmla="*/ 768 w 1104"/>
                  <a:gd name="T3" fmla="*/ 672 h 672"/>
                  <a:gd name="T4" fmla="*/ 768 w 1104"/>
                  <a:gd name="T5" fmla="*/ 336 h 672"/>
                  <a:gd name="T6" fmla="*/ 1104 w 1104"/>
                  <a:gd name="T7" fmla="*/ 336 h 672"/>
                  <a:gd name="T8" fmla="*/ 1104 w 1104"/>
                  <a:gd name="T9" fmla="*/ 0 h 672"/>
                  <a:gd name="T10" fmla="*/ 0 w 1104"/>
                  <a:gd name="T11" fmla="*/ 0 h 672"/>
                  <a:gd name="T12" fmla="*/ 0 w 1104"/>
                  <a:gd name="T13" fmla="*/ 336 h 672"/>
                  <a:gd name="T14" fmla="*/ 384 w 1104"/>
                  <a:gd name="T15" fmla="*/ 336 h 672"/>
                  <a:gd name="T16" fmla="*/ 384 w 1104"/>
                  <a:gd name="T17" fmla="*/ 672 h 67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04" h="672">
                    <a:moveTo>
                      <a:pt x="384" y="672"/>
                    </a:moveTo>
                    <a:lnTo>
                      <a:pt x="768" y="672"/>
                    </a:lnTo>
                    <a:lnTo>
                      <a:pt x="768" y="336"/>
                    </a:lnTo>
                    <a:lnTo>
                      <a:pt x="1104" y="336"/>
                    </a:lnTo>
                    <a:lnTo>
                      <a:pt x="1104" y="0"/>
                    </a:lnTo>
                    <a:lnTo>
                      <a:pt x="0" y="0"/>
                    </a:lnTo>
                    <a:lnTo>
                      <a:pt x="0" y="336"/>
                    </a:lnTo>
                    <a:lnTo>
                      <a:pt x="384" y="336"/>
                    </a:lnTo>
                    <a:lnTo>
                      <a:pt x="384" y="672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Text Box 13"/>
              <p:cNvSpPr txBox="1">
                <a:spLocks noChangeArrowheads="1"/>
              </p:cNvSpPr>
              <p:nvPr/>
            </p:nvSpPr>
            <p:spPr bwMode="auto">
              <a:xfrm>
                <a:off x="1981200" y="3294064"/>
                <a:ext cx="843705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>
                    <a:solidFill>
                      <a:schemeClr val="tx1"/>
                    </a:solidFill>
                  </a:rPr>
                  <a:t>Ada</a:t>
                </a:r>
              </a:p>
            </p:txBody>
          </p:sp>
          <p:sp>
            <p:nvSpPr>
              <p:cNvPr id="58" name="Text Box 14"/>
              <p:cNvSpPr txBox="1">
                <a:spLocks noChangeArrowheads="1"/>
              </p:cNvSpPr>
              <p:nvPr/>
            </p:nvSpPr>
            <p:spPr bwMode="auto">
              <a:xfrm>
                <a:off x="3640947" y="3294064"/>
                <a:ext cx="995848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>
                    <a:solidFill>
                      <a:schemeClr val="tx1"/>
                    </a:solidFill>
                  </a:rPr>
                  <a:t>Mac</a:t>
                </a:r>
                <a:endParaRPr lang="en-US" altLang="en-US" sz="2800" b="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Text Box 15"/>
              <p:cNvSpPr txBox="1">
                <a:spLocks noChangeArrowheads="1"/>
              </p:cNvSpPr>
              <p:nvPr/>
            </p:nvSpPr>
            <p:spPr bwMode="auto">
              <a:xfrm>
                <a:off x="2882535" y="3827464"/>
                <a:ext cx="899030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0">
                    <a:solidFill>
                      <a:schemeClr val="tx1"/>
                    </a:solidFill>
                  </a:rPr>
                  <a:t>Java</a:t>
                </a:r>
                <a:endParaRPr lang="en-US" altLang="en-US" sz="2800" b="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Line 16"/>
              <p:cNvSpPr>
                <a:spLocks noChangeShapeType="1"/>
              </p:cNvSpPr>
              <p:nvPr/>
            </p:nvSpPr>
            <p:spPr bwMode="auto">
              <a:xfrm>
                <a:off x="2868704" y="3568702"/>
                <a:ext cx="9128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4" name="TextBox 83"/>
            <p:cNvSpPr txBox="1"/>
            <p:nvPr/>
          </p:nvSpPr>
          <p:spPr>
            <a:xfrm>
              <a:off x="7423800" y="1313006"/>
              <a:ext cx="53893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b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6267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8C7496-6DE0-48E3-915A-4E31F6606D2F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432580" name="Rectangle 4"/>
          <p:cNvSpPr>
            <a:spLocks noChangeArrowheads="1"/>
          </p:cNvSpPr>
          <p:nvPr/>
        </p:nvSpPr>
        <p:spPr bwMode="auto">
          <a:xfrm>
            <a:off x="0" y="1600200"/>
            <a:ext cx="9144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432581" name="Rectangle 5"/>
          <p:cNvSpPr>
            <a:spLocks noChangeArrowheads="1"/>
          </p:cNvSpPr>
          <p:nvPr/>
        </p:nvSpPr>
        <p:spPr bwMode="auto">
          <a:xfrm>
            <a:off x="0" y="2286000"/>
            <a:ext cx="9144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00100"/>
          </a:xfrm>
        </p:spPr>
        <p:txBody>
          <a:bodyPr/>
          <a:lstStyle/>
          <a:p>
            <a:pPr eaLnBrk="1" hangingPunct="1"/>
            <a:r>
              <a:rPr lang="en-US" altLang="en-US" sz="4000"/>
              <a:t>Chương 1: Những khái niệm cơ bản</a:t>
            </a: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1608138"/>
            <a:ext cx="8724900" cy="4792662"/>
          </a:xfrm>
        </p:spPr>
        <p:txBody>
          <a:bodyPr/>
          <a:lstStyle/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Ngôn ngữ lập trình cấp cao và trình dịch</a:t>
            </a: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Đặc trưng của ngôn ngữ lập trình cấp cao</a:t>
            </a: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/>
              <a:t>Các giai đoạn chính của chương trình dịch</a:t>
            </a:r>
            <a:endParaRPr lang="en-US" altLang="en-US">
              <a:solidFill>
                <a:srgbClr val="1E0068"/>
              </a:solidFill>
            </a:endParaRP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Khái niệm ngôn ngữ</a:t>
            </a: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Văn phạm phi ngữ cảnh</a:t>
            </a: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Giới thiệu ngôn ngữ PL/0 mở rộng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4325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3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2580" grpId="0" animBg="1"/>
      <p:bldP spid="143258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022884-5375-45F5-AFA2-CF8FCC514764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Các thế hệ ngôn ngữ lập trình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2209800"/>
            <a:ext cx="8724900" cy="41910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/>
              <a:t>Được chia thành 5 thế hệ.</a:t>
            </a:r>
          </a:p>
          <a:p>
            <a:pPr algn="just" eaLnBrk="1" hangingPunct="1">
              <a:spcBef>
                <a:spcPct val="50000"/>
              </a:spcBef>
            </a:pPr>
            <a:r>
              <a:rPr lang="en-US" altLang="en-US"/>
              <a:t>Việc phân chia cấp cao hay thấp phụ thuộc mức độ trừu tượng của ngôn ngữ</a:t>
            </a:r>
          </a:p>
          <a:p>
            <a:pPr marL="914400" lvl="1" indent="-347663" algn="just" eaLnBrk="1" hangingPunct="1">
              <a:spcBef>
                <a:spcPct val="50000"/>
              </a:spcBef>
            </a:pPr>
            <a:r>
              <a:rPr lang="en-US" altLang="en-US"/>
              <a:t>Cấp thấp : gần với máy</a:t>
            </a:r>
          </a:p>
          <a:p>
            <a:pPr marL="914400" lvl="1" indent="-347663" algn="just" eaLnBrk="1" hangingPunct="1">
              <a:spcBef>
                <a:spcPct val="50000"/>
              </a:spcBef>
            </a:pPr>
            <a:r>
              <a:rPr lang="en-US" altLang="en-US"/>
              <a:t>Cấp cao : gần với ngôn ngữ tự nhiên</a:t>
            </a:r>
          </a:p>
        </p:txBody>
      </p:sp>
      <p:sp>
        <p:nvSpPr>
          <p:cNvPr id="18437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Đặc trưng của ngôn ngữ lập trình cấp cao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67F5FE3-9359-418D-BB3A-A193117B0547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Các thế hệ ngôn ngữ lập trình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1143000"/>
            <a:ext cx="8724900" cy="5410200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en-US" altLang="en-US"/>
              <a:t>Các ngôn ngữ lập trình bậc thấp</a:t>
            </a:r>
          </a:p>
          <a:p>
            <a:pPr marL="914400" lvl="1" indent="-347663" eaLnBrk="1" hangingPunct="1">
              <a:lnSpc>
                <a:spcPct val="115000"/>
              </a:lnSpc>
            </a:pPr>
            <a:r>
              <a:rPr lang="en-US" altLang="en-US"/>
              <a:t>Thế hệ thứ nhất : ngôn ngữ máy</a:t>
            </a:r>
          </a:p>
          <a:p>
            <a:pPr marL="914400" lvl="1" indent="-347663" eaLnBrk="1" hangingPunct="1">
              <a:lnSpc>
                <a:spcPct val="115000"/>
              </a:lnSpc>
            </a:pPr>
            <a:r>
              <a:rPr lang="en-US" altLang="en-US"/>
              <a:t>Thế hệ thứ hai : Assembly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en-US"/>
              <a:t>Thế hệ thứ ba</a:t>
            </a:r>
            <a:endParaRPr lang="en-US" altLang="en-US">
              <a:sym typeface="Symbol" panose="05050102010706020507" pitchFamily="18" charset="2"/>
            </a:endParaRPr>
          </a:p>
          <a:p>
            <a:pPr marL="914400" lvl="1" indent="-347663" eaLnBrk="1" hangingPunct="1">
              <a:lnSpc>
                <a:spcPct val="115000"/>
              </a:lnSpc>
            </a:pPr>
            <a:r>
              <a:rPr lang="en-US" altLang="en-US"/>
              <a:t>Dễ hiểu hơn</a:t>
            </a:r>
          </a:p>
          <a:p>
            <a:pPr marL="1257300" lvl="2" eaLnBrk="1" hangingPunct="1">
              <a:lnSpc>
                <a:spcPct val="115000"/>
              </a:lnSpc>
            </a:pPr>
            <a:r>
              <a:rPr lang="en-US" altLang="en-US"/>
              <a:t>Câu lệnh gần ngôn ngữ tự nhiên</a:t>
            </a:r>
          </a:p>
          <a:p>
            <a:pPr marL="914400" lvl="1" indent="-347663" eaLnBrk="1" hangingPunct="1">
              <a:lnSpc>
                <a:spcPct val="115000"/>
              </a:lnSpc>
            </a:pPr>
            <a:r>
              <a:rPr lang="en-US" altLang="en-US"/>
              <a:t>Cho phép thực hiện các khai báo, Ví dụ biến</a:t>
            </a:r>
          </a:p>
          <a:p>
            <a:pPr marL="914400" lvl="1" indent="-347663" eaLnBrk="1" hangingPunct="1">
              <a:lnSpc>
                <a:spcPct val="115000"/>
              </a:lnSpc>
            </a:pPr>
            <a:r>
              <a:rPr lang="en-US" altLang="en-US"/>
              <a:t>Phần lớn các NNLT cho phép lập trình cấu trúc</a:t>
            </a:r>
          </a:p>
          <a:p>
            <a:pPr marL="914400" lvl="1" indent="-347663" eaLnBrk="1" hangingPunct="1">
              <a:lnSpc>
                <a:spcPct val="115000"/>
              </a:lnSpc>
            </a:pPr>
            <a:r>
              <a:rPr lang="en-US" altLang="en-US"/>
              <a:t>Ví dụ: Fortran, Cobol, C, C++, Basic . 		</a:t>
            </a:r>
          </a:p>
        </p:txBody>
      </p:sp>
      <p:sp>
        <p:nvSpPr>
          <p:cNvPr id="19461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Đặc trưng của ngôn ngữ lập trình cấp cao</a:t>
            </a:r>
          </a:p>
        </p:txBody>
      </p:sp>
      <p:sp>
        <p:nvSpPr>
          <p:cNvPr id="1419269" name="Text Box 5"/>
          <p:cNvSpPr txBox="1">
            <a:spLocks noChangeArrowheads="1"/>
          </p:cNvSpPr>
          <p:nvPr/>
        </p:nvSpPr>
        <p:spPr bwMode="auto">
          <a:xfrm>
            <a:off x="3505200" y="2990850"/>
            <a:ext cx="4876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0">
                <a:solidFill>
                  <a:srgbClr val="F85124"/>
                </a:solidFill>
                <a:sym typeface="Symbol" panose="05050102010706020507" pitchFamily="18" charset="2"/>
              </a:rPr>
              <a:t>Ngôn ngữ bậc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9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9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926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8728C2-51BC-4D6E-996D-1B06E6A02C26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Các thế hệ ngôn ngữ lập trình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915400" cy="5486400"/>
          </a:xfrm>
        </p:spPr>
        <p:txBody>
          <a:bodyPr/>
          <a:lstStyle/>
          <a:p>
            <a:pPr marL="290513" indent="-290513" eaLnBrk="1" hangingPunct="1">
              <a:lnSpc>
                <a:spcPct val="110000"/>
              </a:lnSpc>
            </a:pPr>
            <a:r>
              <a:rPr lang="en-US" altLang="en-US" sz="2800"/>
              <a:t>Ngôn ngữ lập trình thế hệ thứ tư</a:t>
            </a:r>
          </a:p>
          <a:p>
            <a:pPr marL="739775" lvl="1" indent="-231775" algn="just" eaLnBrk="1" hangingPunct="1">
              <a:lnSpc>
                <a:spcPct val="110000"/>
              </a:lnSpc>
            </a:pPr>
            <a:r>
              <a:rPr lang="en-US" altLang="en-US" sz="2400"/>
              <a:t>Thường được sử dụng trong một lĩnh vực cụ thể </a:t>
            </a:r>
          </a:p>
          <a:p>
            <a:pPr marL="739775" lvl="1" indent="-231775" algn="just" eaLnBrk="1" hangingPunct="1">
              <a:lnSpc>
                <a:spcPct val="110000"/>
              </a:lnSpc>
            </a:pPr>
            <a:r>
              <a:rPr lang="en-US" altLang="en-US" sz="2400"/>
              <a:t>Dễ lập trình,xây dựng phần mềm</a:t>
            </a:r>
          </a:p>
          <a:p>
            <a:pPr marL="739775" lvl="1" indent="-231775" algn="just" eaLnBrk="1" hangingPunct="1">
              <a:lnSpc>
                <a:spcPct val="110000"/>
              </a:lnSpc>
            </a:pPr>
            <a:r>
              <a:rPr lang="en-US" altLang="en-US" sz="2400"/>
              <a:t>Có thể kèm công cụ tạo form, báo cáo</a:t>
            </a:r>
          </a:p>
          <a:p>
            <a:pPr marL="739775" lvl="1" indent="-231775" algn="just" eaLnBrk="1" hangingPunct="1">
              <a:lnSpc>
                <a:spcPct val="110000"/>
              </a:lnSpc>
            </a:pPr>
            <a:r>
              <a:rPr lang="en-US" altLang="en-US" sz="2400"/>
              <a:t>Ví dụ :SQL, Visual Basic, Oracle . . . </a:t>
            </a:r>
          </a:p>
          <a:p>
            <a:pPr marL="290513" indent="-290513" eaLnBrk="1" hangingPunct="1">
              <a:lnSpc>
                <a:spcPct val="110000"/>
              </a:lnSpc>
              <a:spcBef>
                <a:spcPct val="40000"/>
              </a:spcBef>
            </a:pPr>
            <a:r>
              <a:rPr lang="en-US" altLang="en-US" sz="2800"/>
              <a:t>Ngôn ngữ lập trình thế hệ thứ năm</a:t>
            </a:r>
          </a:p>
          <a:p>
            <a:pPr marL="739775" lvl="1" indent="-231775" algn="just" eaLnBrk="1" hangingPunct="1">
              <a:lnSpc>
                <a:spcPct val="110000"/>
              </a:lnSpc>
            </a:pPr>
            <a:r>
              <a:rPr lang="en-US" altLang="en-US" sz="2400"/>
              <a:t>Giải quyết bài toán dựa trên các ràng buộc đưa ra cho chương trình (</a:t>
            </a:r>
            <a:r>
              <a:rPr lang="en-US" altLang="en-US" sz="2400" i="1"/>
              <a:t>không phải giải thuật của người lập trình</a:t>
            </a:r>
            <a:r>
              <a:rPr lang="en-US" altLang="en-US" sz="2400"/>
              <a:t>)</a:t>
            </a:r>
          </a:p>
          <a:p>
            <a:pPr marL="739775" lvl="1" indent="-231775" algn="just" eaLnBrk="1" hangingPunct="1">
              <a:lnSpc>
                <a:spcPct val="110000"/>
              </a:lnSpc>
            </a:pPr>
            <a:r>
              <a:rPr lang="en-US" altLang="en-US" sz="2400"/>
              <a:t>Việc giải quyết bài toán do máy tính thực hiện</a:t>
            </a:r>
          </a:p>
          <a:p>
            <a:pPr marL="739775" lvl="1" indent="-231775" algn="just" eaLnBrk="1" hangingPunct="1">
              <a:lnSpc>
                <a:spcPct val="110000"/>
              </a:lnSpc>
            </a:pPr>
            <a:r>
              <a:rPr lang="en-US" altLang="en-US" sz="2400"/>
              <a:t>Phần lớn các ngôn ngữ dùng để lập trình logic</a:t>
            </a:r>
          </a:p>
          <a:p>
            <a:pPr marL="1257300" lvl="2" algn="just" eaLnBrk="1" hangingPunct="1">
              <a:lnSpc>
                <a:spcPct val="110000"/>
              </a:lnSpc>
            </a:pPr>
            <a:r>
              <a:rPr lang="en-US" altLang="en-US" sz="2000"/>
              <a:t>Giải quyết các bài toán trong lĩnh vực trí tuệ nhân tạo</a:t>
            </a:r>
          </a:p>
        </p:txBody>
      </p:sp>
      <p:sp>
        <p:nvSpPr>
          <p:cNvPr id="20485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Đặc trưng của ngôn ngữ lập trình cấp cao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1359FF-A399-4759-8036-BAE5C4A8C424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Các thành phần của NNLTCC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1447800"/>
            <a:ext cx="8724900" cy="4953000"/>
          </a:xfrm>
        </p:spPr>
        <p:txBody>
          <a:bodyPr/>
          <a:lstStyle/>
          <a:p>
            <a:pPr marL="609600" indent="-609600" eaLnBrk="1" hangingPunct="1">
              <a:lnSpc>
                <a:spcPct val="120000"/>
              </a:lnSpc>
              <a:spcBef>
                <a:spcPct val="40000"/>
              </a:spcBef>
              <a:buFontTx/>
              <a:buAutoNum type="arabicPeriod"/>
            </a:pPr>
            <a:r>
              <a:rPr lang="en-US" altLang="en-US"/>
              <a:t>Từ vựng và cú pháp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40000"/>
              </a:spcBef>
              <a:buFontTx/>
              <a:buAutoNum type="arabicPeriod"/>
            </a:pPr>
            <a:r>
              <a:rPr lang="en-US" altLang="en-US"/>
              <a:t>Kiểu dữ liệu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40000"/>
              </a:spcBef>
              <a:buFontTx/>
              <a:buAutoNum type="arabicPeriod"/>
            </a:pPr>
            <a:r>
              <a:rPr lang="en-US" altLang="en-US"/>
              <a:t>Các đại lượng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40000"/>
              </a:spcBef>
              <a:buFontTx/>
              <a:buAutoNum type="arabicPeriod"/>
            </a:pPr>
            <a:r>
              <a:rPr lang="en-US" altLang="en-US"/>
              <a:t>Các toán tử và biểu thức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40000"/>
              </a:spcBef>
              <a:buFontTx/>
              <a:buAutoNum type="arabicPeriod"/>
            </a:pPr>
            <a:r>
              <a:rPr lang="en-US" altLang="en-US"/>
              <a:t>Các câu lệnh</a:t>
            </a:r>
          </a:p>
          <a:p>
            <a:pPr marL="609600" indent="-609600" eaLnBrk="1" hangingPunct="1">
              <a:lnSpc>
                <a:spcPct val="120000"/>
              </a:lnSpc>
              <a:spcBef>
                <a:spcPct val="40000"/>
              </a:spcBef>
              <a:buFontTx/>
              <a:buAutoNum type="arabicPeriod"/>
            </a:pPr>
            <a:r>
              <a:rPr lang="en-US" altLang="en-US"/>
              <a:t>Chương trình con</a:t>
            </a:r>
          </a:p>
        </p:txBody>
      </p:sp>
      <p:sp>
        <p:nvSpPr>
          <p:cNvPr id="21509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Đặc trưng của ngôn ngữ lập trình cấp cao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DD6DA2-604B-43CA-9C43-2FAD20E2AE8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Từ vựng và cú pháp</a:t>
            </a:r>
          </a:p>
        </p:txBody>
      </p:sp>
      <p:sp>
        <p:nvSpPr>
          <p:cNvPr id="1434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1066800"/>
            <a:ext cx="8724900" cy="5562600"/>
          </a:xfrm>
        </p:spPr>
        <p:txBody>
          <a:bodyPr/>
          <a:lstStyle/>
          <a:p>
            <a:pPr marL="290513" indent="-290513" eaLnBrk="1" hangingPunct="1">
              <a:spcBef>
                <a:spcPct val="10000"/>
              </a:spcBef>
              <a:buSzPct val="75000"/>
              <a:buFont typeface="Wingdings" panose="05000000000000000000" pitchFamily="2" charset="2"/>
              <a:buChar char="v"/>
            </a:pPr>
            <a:r>
              <a:rPr lang="en-US" altLang="en-US" b="1" dirty="0" err="1"/>
              <a:t>Từ</a:t>
            </a:r>
            <a:r>
              <a:rPr lang="en-US" altLang="en-US" b="1" dirty="0"/>
              <a:t> </a:t>
            </a:r>
            <a:r>
              <a:rPr lang="en-US" altLang="en-US" b="1" dirty="0" err="1"/>
              <a:t>vựng</a:t>
            </a:r>
            <a:r>
              <a:rPr lang="en-US" altLang="en-US" dirty="0"/>
              <a:t> </a:t>
            </a:r>
          </a:p>
          <a:p>
            <a:pPr marL="681038" lvl="1" indent="-276225" eaLnBrk="1" hangingPunct="1">
              <a:spcBef>
                <a:spcPct val="10000"/>
              </a:spcBef>
            </a:pPr>
            <a:r>
              <a:rPr lang="en-US" altLang="en-US" dirty="0" err="1"/>
              <a:t>Chữ</a:t>
            </a:r>
            <a:r>
              <a:rPr lang="en-US" altLang="en-US" dirty="0"/>
              <a:t> </a:t>
            </a:r>
            <a:r>
              <a:rPr lang="en-US" altLang="en-US" dirty="0" err="1"/>
              <a:t>cái</a:t>
            </a:r>
            <a:r>
              <a:rPr lang="en-US" altLang="en-US" dirty="0"/>
              <a:t>: A..Z, </a:t>
            </a:r>
            <a:r>
              <a:rPr lang="en-US" altLang="en-US" dirty="0" err="1"/>
              <a:t>a..z</a:t>
            </a:r>
            <a:endParaRPr lang="en-US" altLang="en-US" dirty="0"/>
          </a:p>
          <a:p>
            <a:pPr marL="681038" lvl="1" indent="-276225" eaLnBrk="1" hangingPunct="1">
              <a:spcBef>
                <a:spcPct val="10000"/>
              </a:spcBef>
            </a:pPr>
            <a:r>
              <a:rPr lang="en-US" altLang="en-US" dirty="0" err="1"/>
              <a:t>Chứ</a:t>
            </a:r>
            <a:r>
              <a:rPr lang="en-US" altLang="en-US" dirty="0"/>
              <a:t> </a:t>
            </a:r>
            <a:r>
              <a:rPr lang="en-US" altLang="en-US" dirty="0" err="1"/>
              <a:t>sô</a:t>
            </a:r>
            <a:r>
              <a:rPr lang="en-US" altLang="en-US" dirty="0"/>
              <a:t>: 0..9</a:t>
            </a:r>
          </a:p>
          <a:p>
            <a:pPr marL="681038" lvl="1" indent="-276225" eaLnBrk="1" hangingPunct="1">
              <a:spcBef>
                <a:spcPct val="10000"/>
              </a:spcBef>
            </a:pPr>
            <a:r>
              <a:rPr lang="en-US" altLang="en-US" dirty="0" err="1"/>
              <a:t>Dấu</a:t>
            </a:r>
            <a:r>
              <a:rPr lang="en-US" altLang="en-US" dirty="0"/>
              <a:t>: </a:t>
            </a:r>
            <a:r>
              <a:rPr lang="en-US" altLang="en-US" dirty="0" err="1"/>
              <a:t>dấu</a:t>
            </a:r>
            <a:r>
              <a:rPr lang="en-US" altLang="en-US" dirty="0"/>
              <a:t> </a:t>
            </a:r>
            <a:r>
              <a:rPr lang="en-US" altLang="en-US" dirty="0" err="1"/>
              <a:t>chức</a:t>
            </a:r>
            <a:r>
              <a:rPr lang="en-US" altLang="en-US" dirty="0"/>
              <a:t> </a:t>
            </a:r>
            <a:r>
              <a:rPr lang="en-US" altLang="en-US" dirty="0" err="1"/>
              <a:t>năng</a:t>
            </a:r>
            <a:r>
              <a:rPr lang="en-US" altLang="en-US" dirty="0"/>
              <a:t>, </a:t>
            </a:r>
            <a:r>
              <a:rPr lang="en-US" altLang="en-US" dirty="0" err="1"/>
              <a:t>dấu</a:t>
            </a:r>
            <a:r>
              <a:rPr lang="en-US" altLang="en-US" dirty="0"/>
              <a:t> </a:t>
            </a:r>
            <a:r>
              <a:rPr lang="en-US" altLang="en-US" dirty="0" err="1"/>
              <a:t>toán</a:t>
            </a:r>
            <a:r>
              <a:rPr lang="en-US" altLang="en-US" dirty="0"/>
              <a:t> </a:t>
            </a:r>
            <a:r>
              <a:rPr lang="en-US" altLang="en-US" dirty="0" err="1"/>
              <a:t>tử</a:t>
            </a:r>
            <a:endParaRPr lang="en-US" altLang="en-US" dirty="0"/>
          </a:p>
          <a:p>
            <a:pPr marL="1146175" lvl="2" indent="-231775" eaLnBrk="1" hangingPunct="1">
              <a:spcBef>
                <a:spcPct val="10000"/>
              </a:spcBef>
            </a:pPr>
            <a:r>
              <a:rPr lang="en-US" altLang="en-US" dirty="0" err="1"/>
              <a:t>Dấu</a:t>
            </a:r>
            <a:r>
              <a:rPr lang="en-US" altLang="en-US" dirty="0"/>
              <a:t> </a:t>
            </a:r>
            <a:r>
              <a:rPr lang="en-US" altLang="en-US" dirty="0" err="1"/>
              <a:t>đơn</a:t>
            </a:r>
            <a:r>
              <a:rPr lang="en-US" altLang="en-US" dirty="0"/>
              <a:t>: +, -,       ; {, }</a:t>
            </a:r>
          </a:p>
          <a:p>
            <a:pPr marL="1146175" lvl="2" indent="-231775" eaLnBrk="1" hangingPunct="1">
              <a:spcBef>
                <a:spcPct val="10000"/>
              </a:spcBef>
            </a:pPr>
            <a:r>
              <a:rPr lang="en-US" altLang="en-US" dirty="0" err="1"/>
              <a:t>Dấu</a:t>
            </a:r>
            <a:r>
              <a:rPr lang="en-US" altLang="en-US" dirty="0"/>
              <a:t> </a:t>
            </a:r>
            <a:r>
              <a:rPr lang="en-US" altLang="en-US" dirty="0" err="1"/>
              <a:t>kép</a:t>
            </a:r>
            <a:r>
              <a:rPr lang="en-US" altLang="en-US" dirty="0"/>
              <a:t>: &gt;=, &lt;=,    /*, */</a:t>
            </a:r>
          </a:p>
          <a:p>
            <a:pPr marL="681038" lvl="1" indent="-276225" eaLnBrk="1" hangingPunct="1">
              <a:spcBef>
                <a:spcPct val="10000"/>
              </a:spcBef>
            </a:pPr>
            <a:r>
              <a:rPr lang="en-US" altLang="en-US" dirty="0" err="1"/>
              <a:t>Từ</a:t>
            </a:r>
            <a:r>
              <a:rPr lang="en-US" altLang="en-US" dirty="0"/>
              <a:t> </a:t>
            </a:r>
            <a:r>
              <a:rPr lang="en-US" altLang="en-US" dirty="0" err="1"/>
              <a:t>khóa</a:t>
            </a:r>
            <a:r>
              <a:rPr lang="en-US" altLang="en-US" dirty="0"/>
              <a:t> : </a:t>
            </a:r>
            <a:r>
              <a:rPr lang="en-US" altLang="en-US" dirty="0" err="1"/>
              <a:t>từ</a:t>
            </a:r>
            <a:r>
              <a:rPr lang="en-US" altLang="en-US" dirty="0"/>
              <a:t> </a:t>
            </a:r>
            <a:r>
              <a:rPr lang="en-US" altLang="en-US" dirty="0" err="1"/>
              <a:t>dành</a:t>
            </a:r>
            <a:r>
              <a:rPr lang="en-US" altLang="en-US" dirty="0"/>
              <a:t> </a:t>
            </a:r>
            <a:r>
              <a:rPr lang="en-US" altLang="en-US" dirty="0" err="1"/>
              <a:t>riêng</a:t>
            </a:r>
            <a:r>
              <a:rPr lang="en-US" altLang="en-US" dirty="0"/>
              <a:t> </a:t>
            </a:r>
            <a:r>
              <a:rPr lang="en-US" altLang="en-US" dirty="0" err="1"/>
              <a:t>cho</a:t>
            </a:r>
            <a:r>
              <a:rPr lang="en-US" altLang="en-US" dirty="0"/>
              <a:t> </a:t>
            </a:r>
            <a:r>
              <a:rPr lang="en-US" altLang="en-US" dirty="0" err="1"/>
              <a:t>ngôn</a:t>
            </a:r>
            <a:r>
              <a:rPr lang="en-US" altLang="en-US" dirty="0"/>
              <a:t> </a:t>
            </a:r>
            <a:r>
              <a:rPr lang="en-US" altLang="en-US" dirty="0" err="1"/>
              <a:t>ngữ</a:t>
            </a:r>
            <a:endParaRPr lang="en-US" altLang="en-US" dirty="0"/>
          </a:p>
          <a:p>
            <a:pPr marL="1146175" lvl="2" indent="-231775" eaLnBrk="1" hangingPunct="1">
              <a:spcBef>
                <a:spcPct val="10000"/>
              </a:spcBef>
            </a:pPr>
            <a:r>
              <a:rPr lang="en-US" altLang="en-US" dirty="0"/>
              <a:t>Được </a:t>
            </a:r>
            <a:r>
              <a:rPr lang="en-US" altLang="en-US" dirty="0" err="1"/>
              <a:t>dùng</a:t>
            </a:r>
            <a:r>
              <a:rPr lang="en-US" altLang="en-US" dirty="0"/>
              <a:t> </a:t>
            </a:r>
            <a:r>
              <a:rPr lang="en-US" altLang="en-US" dirty="0" err="1"/>
              <a:t>để</a:t>
            </a:r>
            <a:r>
              <a:rPr lang="en-US" altLang="en-US" dirty="0"/>
              <a:t> </a:t>
            </a:r>
            <a:r>
              <a:rPr lang="en-US" altLang="en-US" dirty="0" err="1"/>
              <a:t>khai</a:t>
            </a:r>
            <a:r>
              <a:rPr lang="en-US" altLang="en-US" dirty="0"/>
              <a:t> </a:t>
            </a:r>
            <a:r>
              <a:rPr lang="en-US" altLang="en-US" dirty="0" err="1"/>
              <a:t>báo</a:t>
            </a:r>
            <a:r>
              <a:rPr lang="en-US" altLang="en-US" dirty="0"/>
              <a:t>, </a:t>
            </a:r>
            <a:r>
              <a:rPr lang="en-US" altLang="en-US" dirty="0" err="1"/>
              <a:t>ra</a:t>
            </a:r>
            <a:r>
              <a:rPr lang="en-US" altLang="en-US" dirty="0"/>
              <a:t> </a:t>
            </a:r>
            <a:r>
              <a:rPr lang="en-US" altLang="en-US" dirty="0" err="1"/>
              <a:t>lệnh</a:t>
            </a:r>
            <a:r>
              <a:rPr lang="en-US" altLang="en-US" dirty="0"/>
              <a:t> </a:t>
            </a:r>
            <a:r>
              <a:rPr lang="en-US" altLang="en-US" dirty="0" err="1"/>
              <a:t>cho</a:t>
            </a:r>
            <a:r>
              <a:rPr lang="en-US" altLang="en-US" dirty="0"/>
              <a:t> </a:t>
            </a:r>
            <a:r>
              <a:rPr lang="en-US" altLang="en-US" dirty="0" err="1"/>
              <a:t>chương</a:t>
            </a:r>
            <a:r>
              <a:rPr lang="en-US" altLang="en-US" dirty="0"/>
              <a:t> </a:t>
            </a:r>
            <a:r>
              <a:rPr lang="en-US" altLang="en-US" dirty="0" err="1"/>
              <a:t>trình</a:t>
            </a:r>
            <a:endParaRPr lang="en-US" altLang="en-US" dirty="0"/>
          </a:p>
          <a:p>
            <a:pPr marL="290513" indent="-290513" eaLnBrk="1" hangingPunct="1">
              <a:spcBef>
                <a:spcPct val="10000"/>
              </a:spcBef>
              <a:buSzPct val="75000"/>
              <a:buFont typeface="Wingdings" panose="05000000000000000000" pitchFamily="2" charset="2"/>
              <a:buChar char="v"/>
            </a:pPr>
            <a:r>
              <a:rPr lang="en-US" altLang="en-US" b="1" dirty="0"/>
              <a:t>Cú </a:t>
            </a:r>
            <a:r>
              <a:rPr lang="en-US" altLang="en-US" b="1" dirty="0" err="1"/>
              <a:t>pháp</a:t>
            </a:r>
            <a:endParaRPr lang="en-US" altLang="en-US" b="1" dirty="0"/>
          </a:p>
          <a:p>
            <a:pPr marL="681038" lvl="1" indent="-276225" eaLnBrk="1" hangingPunct="1">
              <a:spcBef>
                <a:spcPct val="10000"/>
              </a:spcBef>
            </a:pP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quy</a:t>
            </a:r>
            <a:r>
              <a:rPr lang="en-US" altLang="en-US" dirty="0"/>
              <a:t> </a:t>
            </a:r>
            <a:r>
              <a:rPr lang="en-US" altLang="en-US" dirty="0" err="1"/>
              <a:t>tắc</a:t>
            </a:r>
            <a:r>
              <a:rPr lang="en-US" altLang="en-US" dirty="0"/>
              <a:t> </a:t>
            </a:r>
            <a:r>
              <a:rPr lang="en-US" altLang="en-US" dirty="0" err="1"/>
              <a:t>để</a:t>
            </a:r>
            <a:endParaRPr lang="en-US" altLang="en-US" dirty="0"/>
          </a:p>
          <a:p>
            <a:pPr marL="1146175" lvl="2" indent="-231775" eaLnBrk="1" hangingPunct="1">
              <a:spcBef>
                <a:spcPct val="10000"/>
              </a:spcBef>
            </a:pPr>
            <a:r>
              <a:rPr lang="en-US" altLang="en-US" dirty="0" err="1"/>
              <a:t>Viết</a:t>
            </a:r>
            <a:r>
              <a:rPr lang="en-US" altLang="en-US" dirty="0"/>
              <a:t> </a:t>
            </a:r>
            <a:r>
              <a:rPr lang="en-US" altLang="en-US" dirty="0" err="1"/>
              <a:t>ra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đại</a:t>
            </a:r>
            <a:r>
              <a:rPr lang="en-US" altLang="en-US" dirty="0"/>
              <a:t> </a:t>
            </a:r>
            <a:r>
              <a:rPr lang="en-US" altLang="en-US" dirty="0" err="1"/>
              <a:t>lượng</a:t>
            </a:r>
            <a:endParaRPr lang="en-US" altLang="en-US" dirty="0"/>
          </a:p>
          <a:p>
            <a:pPr marL="1146175" lvl="2" indent="-231775" eaLnBrk="1" hangingPunct="1">
              <a:spcBef>
                <a:spcPct val="10000"/>
              </a:spcBef>
            </a:pPr>
            <a:r>
              <a:rPr lang="en-US" altLang="en-US" dirty="0"/>
              <a:t>Viết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câu</a:t>
            </a:r>
            <a:r>
              <a:rPr lang="en-US" altLang="en-US" dirty="0"/>
              <a:t> </a:t>
            </a:r>
            <a:r>
              <a:rPr lang="en-US" altLang="en-US" dirty="0" err="1"/>
              <a:t>lệnh</a:t>
            </a:r>
            <a:endParaRPr lang="en-US" altLang="en-US" dirty="0"/>
          </a:p>
        </p:txBody>
      </p:sp>
      <p:sp>
        <p:nvSpPr>
          <p:cNvPr id="22533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Đặc trưng của ngôn ngữ lập trình cấp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4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34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34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34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C621CC-9097-4FEF-BB72-2E180123F12A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Kiểu dữ liệu</a:t>
            </a:r>
          </a:p>
        </p:txBody>
      </p:sp>
      <p:sp>
        <p:nvSpPr>
          <p:cNvPr id="1435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990600"/>
            <a:ext cx="8724900" cy="5486400"/>
          </a:xfrm>
        </p:spPr>
        <p:txBody>
          <a:bodyPr/>
          <a:lstStyle/>
          <a:p>
            <a:pPr marL="290513" indent="-290513" eaLnBrk="1" hangingPunct="1">
              <a:lnSpc>
                <a:spcPct val="105000"/>
              </a:lnSpc>
              <a:spcBef>
                <a:spcPct val="15000"/>
              </a:spcBef>
              <a:buSzPct val="75000"/>
              <a:buFont typeface="Wingdings" panose="05000000000000000000" pitchFamily="2" charset="2"/>
              <a:buChar char="v"/>
            </a:pPr>
            <a:r>
              <a:rPr lang="en-US" altLang="en-US" b="1"/>
              <a:t>Các kiểu cơ bản</a:t>
            </a:r>
          </a:p>
          <a:p>
            <a:pPr marL="855663" lvl="1" indent="-449263"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en-US"/>
              <a:t>Kiểu số nguyên	</a:t>
            </a:r>
            <a:r>
              <a:rPr lang="en-US" altLang="en-US">
                <a:solidFill>
                  <a:srgbClr val="F85124"/>
                </a:solidFill>
              </a:rPr>
              <a:t>int</a:t>
            </a:r>
            <a:r>
              <a:rPr lang="en-US" altLang="en-US"/>
              <a:t>		</a:t>
            </a:r>
            <a:r>
              <a:rPr lang="en-US" altLang="en-US">
                <a:solidFill>
                  <a:schemeClr val="bg2"/>
                </a:solidFill>
              </a:rPr>
              <a:t>Interger</a:t>
            </a:r>
          </a:p>
          <a:p>
            <a:pPr marL="855663" lvl="1" indent="-449263"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en-US"/>
              <a:t>Kiểu số thực	</a:t>
            </a:r>
            <a:r>
              <a:rPr lang="en-US" altLang="en-US">
                <a:solidFill>
                  <a:srgbClr val="F85124"/>
                </a:solidFill>
              </a:rPr>
              <a:t>float</a:t>
            </a:r>
            <a:r>
              <a:rPr lang="en-US" altLang="en-US"/>
              <a:t>		</a:t>
            </a:r>
            <a:r>
              <a:rPr lang="en-US" altLang="en-US">
                <a:solidFill>
                  <a:schemeClr val="bg2"/>
                </a:solidFill>
              </a:rPr>
              <a:t>Real</a:t>
            </a:r>
          </a:p>
          <a:p>
            <a:pPr marL="855663" lvl="1" indent="-449263"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en-US"/>
              <a:t>Kiểu ký tự		</a:t>
            </a:r>
            <a:r>
              <a:rPr lang="en-US" altLang="en-US">
                <a:solidFill>
                  <a:srgbClr val="F85124"/>
                </a:solidFill>
              </a:rPr>
              <a:t>char</a:t>
            </a:r>
            <a:r>
              <a:rPr lang="en-US" altLang="en-US"/>
              <a:t>		</a:t>
            </a:r>
            <a:r>
              <a:rPr lang="en-US" altLang="en-US">
                <a:solidFill>
                  <a:schemeClr val="bg2"/>
                </a:solidFill>
              </a:rPr>
              <a:t>Char</a:t>
            </a:r>
          </a:p>
          <a:p>
            <a:pPr marL="855663" lvl="1" indent="-449263"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en-US"/>
              <a:t>Kiểu logic		</a:t>
            </a:r>
            <a:r>
              <a:rPr lang="en-US" altLang="en-US">
                <a:solidFill>
                  <a:srgbClr val="F85124"/>
                </a:solidFill>
              </a:rPr>
              <a:t>0, 1</a:t>
            </a:r>
            <a:r>
              <a:rPr lang="en-US" altLang="en-US"/>
              <a:t>		</a:t>
            </a:r>
            <a:r>
              <a:rPr lang="en-US" altLang="en-US">
                <a:solidFill>
                  <a:schemeClr val="bg2"/>
                </a:solidFill>
              </a:rPr>
              <a:t>Boolean</a:t>
            </a:r>
            <a:endParaRPr lang="en-US" altLang="en-US">
              <a:solidFill>
                <a:schemeClr val="bg2"/>
              </a:solidFill>
              <a:cs typeface="Arial" panose="020B0604020202020204" pitchFamily="34" charset="0"/>
            </a:endParaRPr>
          </a:p>
          <a:p>
            <a:pPr marL="290513" indent="-290513" eaLnBrk="1" hangingPunct="1">
              <a:lnSpc>
                <a:spcPct val="105000"/>
              </a:lnSpc>
              <a:spcBef>
                <a:spcPct val="15000"/>
              </a:spcBef>
              <a:buSzPct val="75000"/>
              <a:buFont typeface="Wingdings" panose="05000000000000000000" pitchFamily="2" charset="2"/>
              <a:buChar char="v"/>
            </a:pPr>
            <a:r>
              <a:rPr lang="en-US" altLang="en-US" b="1"/>
              <a:t>Kiểu dữ liệu có cấu trúc</a:t>
            </a:r>
          </a:p>
          <a:p>
            <a:pPr marL="855663" lvl="1" indent="-449263"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en-US"/>
              <a:t>Kiểu mảng		</a:t>
            </a:r>
            <a:r>
              <a:rPr lang="en-US" altLang="en-US">
                <a:solidFill>
                  <a:srgbClr val="F85124"/>
                </a:solidFill>
              </a:rPr>
              <a:t>[ ]</a:t>
            </a:r>
            <a:r>
              <a:rPr lang="en-US" altLang="en-US"/>
              <a:t>		</a:t>
            </a:r>
            <a:r>
              <a:rPr lang="en-US" altLang="en-US">
                <a:solidFill>
                  <a:schemeClr val="bg2"/>
                </a:solidFill>
              </a:rPr>
              <a:t>Array</a:t>
            </a:r>
          </a:p>
          <a:p>
            <a:pPr marL="855663" lvl="1" indent="-449263"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en-US"/>
              <a:t>Kiểu chuỗi		</a:t>
            </a:r>
            <a:r>
              <a:rPr lang="en-US" altLang="en-US">
                <a:solidFill>
                  <a:srgbClr val="F85124"/>
                </a:solidFill>
              </a:rPr>
              <a:t>*</a:t>
            </a:r>
            <a:r>
              <a:rPr lang="en-US" altLang="en-US"/>
              <a:t>		</a:t>
            </a:r>
            <a:r>
              <a:rPr lang="en-US" altLang="en-US">
                <a:solidFill>
                  <a:schemeClr val="bg2"/>
                </a:solidFill>
              </a:rPr>
              <a:t>String</a:t>
            </a:r>
          </a:p>
          <a:p>
            <a:pPr marL="855663" lvl="1" indent="-449263"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en-US"/>
              <a:t>Kiểu bản ghi	</a:t>
            </a:r>
            <a:r>
              <a:rPr lang="en-US" altLang="en-US">
                <a:solidFill>
                  <a:srgbClr val="F85124"/>
                </a:solidFill>
              </a:rPr>
              <a:t>struct</a:t>
            </a:r>
            <a:r>
              <a:rPr lang="en-US" altLang="en-US"/>
              <a:t>		</a:t>
            </a:r>
            <a:r>
              <a:rPr lang="en-US" altLang="en-US">
                <a:solidFill>
                  <a:schemeClr val="bg2"/>
                </a:solidFill>
              </a:rPr>
              <a:t>Record</a:t>
            </a:r>
          </a:p>
          <a:p>
            <a:pPr marL="855663" lvl="1" indent="-449263"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en-US"/>
              <a:t>Kiểu con trỏ, 	</a:t>
            </a:r>
            <a:r>
              <a:rPr lang="en-US" altLang="en-US">
                <a:solidFill>
                  <a:srgbClr val="F85124"/>
                </a:solidFill>
              </a:rPr>
              <a:t>&amp;</a:t>
            </a:r>
            <a:r>
              <a:rPr lang="en-US" altLang="en-US"/>
              <a:t>		</a:t>
            </a:r>
            <a:r>
              <a:rPr lang="en-US" altLang="en-US">
                <a:solidFill>
                  <a:schemeClr val="bg2"/>
                </a:solidFill>
              </a:rPr>
              <a:t>^</a:t>
            </a:r>
          </a:p>
          <a:p>
            <a:pPr marL="855663" lvl="1" indent="-449263" eaLnBrk="1" hangingPunct="1">
              <a:lnSpc>
                <a:spcPct val="105000"/>
              </a:lnSpc>
              <a:spcBef>
                <a:spcPct val="15000"/>
              </a:spcBef>
            </a:pPr>
            <a:r>
              <a:rPr lang="en-US" altLang="en-US"/>
              <a:t>Kiểu file 		</a:t>
            </a:r>
            <a:r>
              <a:rPr lang="en-US" altLang="en-US">
                <a:solidFill>
                  <a:srgbClr val="F85124"/>
                </a:solidFill>
              </a:rPr>
              <a:t>FILE</a:t>
            </a:r>
            <a:r>
              <a:rPr lang="en-US" altLang="en-US"/>
              <a:t>		</a:t>
            </a:r>
            <a:r>
              <a:rPr lang="en-US" altLang="en-US">
                <a:solidFill>
                  <a:schemeClr val="bg2"/>
                </a:solidFill>
              </a:rPr>
              <a:t>File</a:t>
            </a: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Đặc trưng của ngôn ngữ lập trình cấp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35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435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35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435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435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35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402075-ECB5-4B98-A060-A15D845A870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Các đại lượng</a:t>
            </a:r>
          </a:p>
        </p:txBody>
      </p:sp>
      <p:sp>
        <p:nvSpPr>
          <p:cNvPr id="143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1066800"/>
            <a:ext cx="8724900" cy="5638800"/>
          </a:xfrm>
        </p:spPr>
        <p:txBody>
          <a:bodyPr/>
          <a:lstStyle/>
          <a:p>
            <a:pPr marL="406400" indent="-406400" eaLnBrk="1" hangingPunct="1">
              <a:lnSpc>
                <a:spcPct val="105000"/>
              </a:lnSpc>
              <a:spcBef>
                <a:spcPct val="10000"/>
              </a:spcBef>
              <a:buSzPct val="75000"/>
              <a:buFont typeface="Wingdings" panose="05000000000000000000" pitchFamily="2" charset="2"/>
              <a:buChar char="v"/>
              <a:tabLst>
                <a:tab pos="290513" algn="l"/>
              </a:tabLst>
            </a:pPr>
            <a:r>
              <a:rPr lang="en-US" altLang="en-US" b="1" dirty="0"/>
              <a:t>Hằng</a:t>
            </a:r>
          </a:p>
          <a:p>
            <a:pPr marL="914400" lvl="1" indent="-393700" eaLnBrk="1" hangingPunct="1">
              <a:lnSpc>
                <a:spcPct val="105000"/>
              </a:lnSpc>
              <a:spcBef>
                <a:spcPct val="10000"/>
              </a:spcBef>
              <a:tabLst>
                <a:tab pos="290513" algn="l"/>
              </a:tabLst>
            </a:pP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nguyên</a:t>
            </a:r>
            <a:endParaRPr lang="en-US" altLang="en-US" dirty="0"/>
          </a:p>
          <a:p>
            <a:pPr marL="1317625" lvl="2" eaLnBrk="1" hangingPunct="1">
              <a:lnSpc>
                <a:spcPct val="105000"/>
              </a:lnSpc>
              <a:spcBef>
                <a:spcPct val="10000"/>
              </a:spcBef>
              <a:tabLst>
                <a:tab pos="290513" algn="l"/>
              </a:tabLst>
            </a:pPr>
            <a:r>
              <a:rPr lang="en-US" altLang="en-US" dirty="0"/>
              <a:t>Cách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diễn</a:t>
            </a:r>
            <a:r>
              <a:rPr lang="en-US" altLang="en-US" dirty="0"/>
              <a:t> (</a:t>
            </a:r>
            <a:r>
              <a:rPr lang="en-US" altLang="en-US" dirty="0" err="1"/>
              <a:t>decimal,octal</a:t>
            </a:r>
            <a:r>
              <a:rPr lang="en-US" altLang="en-US" dirty="0"/>
              <a:t>, hexadecimal,..)</a:t>
            </a:r>
          </a:p>
          <a:p>
            <a:pPr marL="914400" lvl="1" indent="-393700" eaLnBrk="1" hangingPunct="1">
              <a:lnSpc>
                <a:spcPct val="105000"/>
              </a:lnSpc>
              <a:spcBef>
                <a:spcPct val="10000"/>
              </a:spcBef>
              <a:tabLst>
                <a:tab pos="290513" algn="l"/>
              </a:tabLst>
            </a:pP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thực</a:t>
            </a:r>
            <a:endParaRPr lang="en-US" altLang="en-US" dirty="0"/>
          </a:p>
          <a:p>
            <a:pPr marL="1317625" lvl="2" eaLnBrk="1" hangingPunct="1">
              <a:lnSpc>
                <a:spcPct val="105000"/>
              </a:lnSpc>
              <a:spcBef>
                <a:spcPct val="10000"/>
              </a:spcBef>
              <a:tabLst>
                <a:tab pos="290513" algn="l"/>
              </a:tabLst>
            </a:pPr>
            <a:r>
              <a:rPr lang="en-US" altLang="en-US" dirty="0" err="1"/>
              <a:t>Dấu</a:t>
            </a:r>
            <a:r>
              <a:rPr lang="en-US" altLang="en-US" dirty="0"/>
              <a:t> </a:t>
            </a:r>
            <a:r>
              <a:rPr lang="en-US" altLang="en-US" dirty="0" err="1"/>
              <a:t>phẩy</a:t>
            </a:r>
            <a:r>
              <a:rPr lang="en-US" altLang="en-US" dirty="0"/>
              <a:t> </a:t>
            </a:r>
            <a:r>
              <a:rPr lang="en-US" altLang="en-US" dirty="0" err="1"/>
              <a:t>tĩnh</a:t>
            </a:r>
            <a:endParaRPr lang="en-US" altLang="en-US" dirty="0"/>
          </a:p>
          <a:p>
            <a:pPr marL="1317625" lvl="2" eaLnBrk="1" hangingPunct="1">
              <a:lnSpc>
                <a:spcPct val="105000"/>
              </a:lnSpc>
              <a:spcBef>
                <a:spcPct val="10000"/>
              </a:spcBef>
              <a:tabLst>
                <a:tab pos="290513" algn="l"/>
              </a:tabLst>
            </a:pPr>
            <a:r>
              <a:rPr lang="en-US" altLang="en-US" dirty="0" err="1"/>
              <a:t>Dấu</a:t>
            </a:r>
            <a:r>
              <a:rPr lang="en-US" altLang="en-US" dirty="0"/>
              <a:t> </a:t>
            </a:r>
            <a:r>
              <a:rPr lang="en-US" altLang="en-US" dirty="0" err="1"/>
              <a:t>phẩy</a:t>
            </a:r>
            <a:r>
              <a:rPr lang="en-US" altLang="en-US" dirty="0"/>
              <a:t> </a:t>
            </a:r>
            <a:r>
              <a:rPr lang="en-US" altLang="en-US" dirty="0" err="1"/>
              <a:t>động</a:t>
            </a:r>
            <a:endParaRPr lang="en-US" altLang="en-US" dirty="0"/>
          </a:p>
          <a:p>
            <a:pPr marL="914400" lvl="1" indent="-393700" eaLnBrk="1" hangingPunct="1">
              <a:lnSpc>
                <a:spcPct val="105000"/>
              </a:lnSpc>
              <a:spcBef>
                <a:spcPct val="10000"/>
              </a:spcBef>
              <a:tabLst>
                <a:tab pos="290513" algn="l"/>
              </a:tabLst>
            </a:pPr>
            <a:r>
              <a:rPr lang="en-US" altLang="en-US" dirty="0"/>
              <a:t>Hằng </a:t>
            </a:r>
            <a:r>
              <a:rPr lang="en-US" altLang="en-US" dirty="0" err="1"/>
              <a:t>chuỗi</a:t>
            </a:r>
            <a:endParaRPr lang="en-US" altLang="en-US" dirty="0"/>
          </a:p>
          <a:p>
            <a:pPr marL="1317625" lvl="2" eaLnBrk="1" hangingPunct="1">
              <a:lnSpc>
                <a:spcPct val="105000"/>
              </a:lnSpc>
              <a:spcBef>
                <a:spcPct val="10000"/>
              </a:spcBef>
              <a:tabLst>
                <a:tab pos="290513" algn="l"/>
              </a:tabLst>
            </a:pPr>
            <a:r>
              <a:rPr lang="en-US" altLang="en-US" dirty="0">
                <a:solidFill>
                  <a:srgbClr val="F85124"/>
                </a:solidFill>
              </a:rPr>
              <a:t>C: “Hello”</a:t>
            </a:r>
          </a:p>
          <a:p>
            <a:pPr marL="1317625" lvl="2" eaLnBrk="1" hangingPunct="1">
              <a:lnSpc>
                <a:spcPct val="105000"/>
              </a:lnSpc>
              <a:spcBef>
                <a:spcPct val="10000"/>
              </a:spcBef>
              <a:tabLst>
                <a:tab pos="290513" algn="l"/>
              </a:tabLst>
            </a:pPr>
            <a:r>
              <a:rPr lang="en-US" altLang="en-US" dirty="0">
                <a:solidFill>
                  <a:schemeClr val="bg2"/>
                </a:solidFill>
              </a:rPr>
              <a:t>Pascal: ‘Hello’</a:t>
            </a:r>
          </a:p>
          <a:p>
            <a:pPr marL="406400" indent="-406400" eaLnBrk="1" hangingPunct="1">
              <a:lnSpc>
                <a:spcPct val="105000"/>
              </a:lnSpc>
              <a:spcBef>
                <a:spcPct val="10000"/>
              </a:spcBef>
              <a:buSzPct val="70000"/>
              <a:buFont typeface="Wingdings" panose="05000000000000000000" pitchFamily="2" charset="2"/>
              <a:buChar char="v"/>
              <a:tabLst>
                <a:tab pos="290513" algn="l"/>
              </a:tabLst>
            </a:pPr>
            <a:r>
              <a:rPr lang="en-US" altLang="en-US" b="1" dirty="0" err="1"/>
              <a:t>Tên</a:t>
            </a:r>
            <a:endParaRPr lang="en-US" altLang="en-US" b="1" dirty="0"/>
          </a:p>
          <a:p>
            <a:pPr marL="914400" lvl="1" indent="-393700" eaLnBrk="1" hangingPunct="1">
              <a:lnSpc>
                <a:spcPct val="105000"/>
              </a:lnSpc>
              <a:spcBef>
                <a:spcPct val="10000"/>
              </a:spcBef>
              <a:tabLst>
                <a:tab pos="290513" algn="l"/>
              </a:tabLst>
            </a:pPr>
            <a:r>
              <a:rPr lang="en-US" altLang="en-US" dirty="0"/>
              <a:t>Nguyên </a:t>
            </a:r>
            <a:r>
              <a:rPr lang="en-US" altLang="en-US" dirty="0" err="1"/>
              <a:t>tắc</a:t>
            </a:r>
            <a:r>
              <a:rPr lang="en-US" altLang="en-US" dirty="0"/>
              <a:t> </a:t>
            </a:r>
            <a:r>
              <a:rPr lang="en-US" altLang="en-US" dirty="0" err="1"/>
              <a:t>đặt</a:t>
            </a:r>
            <a:r>
              <a:rPr lang="en-US" altLang="en-US" dirty="0"/>
              <a:t> </a:t>
            </a:r>
            <a:r>
              <a:rPr lang="en-US" altLang="en-US" dirty="0" err="1"/>
              <a:t>tên</a:t>
            </a:r>
            <a:r>
              <a:rPr lang="en-US" altLang="en-US" dirty="0"/>
              <a:t> ?</a:t>
            </a:r>
          </a:p>
          <a:p>
            <a:pPr marL="914400" lvl="1" indent="-393700" eaLnBrk="1" hangingPunct="1">
              <a:lnSpc>
                <a:spcPct val="105000"/>
              </a:lnSpc>
              <a:spcBef>
                <a:spcPct val="10000"/>
              </a:spcBef>
              <a:tabLst>
                <a:tab pos="290513" algn="l"/>
              </a:tabLst>
            </a:pPr>
            <a:r>
              <a:rPr lang="en-US" altLang="en-US" dirty="0" err="1"/>
              <a:t>Độ</a:t>
            </a:r>
            <a:r>
              <a:rPr lang="en-US" altLang="en-US" dirty="0"/>
              <a:t> </a:t>
            </a:r>
            <a:r>
              <a:rPr lang="en-US" altLang="en-US" dirty="0" err="1"/>
              <a:t>dài</a:t>
            </a:r>
            <a:r>
              <a:rPr lang="en-US" altLang="en-US" dirty="0"/>
              <a:t>?</a:t>
            </a:r>
          </a:p>
        </p:txBody>
      </p:sp>
      <p:sp>
        <p:nvSpPr>
          <p:cNvPr id="24581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Đặc trưng của ngôn ngữ lập trình cấp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6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36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36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2892F6E-CB24-4BD0-B4B7-C1B3BE3005E9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Toán tử và biểu thức</a:t>
            </a:r>
          </a:p>
        </p:txBody>
      </p:sp>
      <p:sp>
        <p:nvSpPr>
          <p:cNvPr id="143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1219200"/>
            <a:ext cx="8724900" cy="5410200"/>
          </a:xfrm>
        </p:spPr>
        <p:txBody>
          <a:bodyPr/>
          <a:lstStyle/>
          <a:p>
            <a:pPr marL="609600" indent="-609600" eaLnBrk="1" hangingPunct="1">
              <a:lnSpc>
                <a:spcPct val="110000"/>
              </a:lnSpc>
              <a:spcBef>
                <a:spcPct val="15000"/>
              </a:spcBef>
              <a:buSzPct val="75000"/>
              <a:buFont typeface="Wingdings" panose="05000000000000000000" pitchFamily="2" charset="2"/>
              <a:buChar char="v"/>
            </a:pPr>
            <a:r>
              <a:rPr lang="en-US" altLang="en-US" b="1" dirty="0" err="1"/>
              <a:t>Toán</a:t>
            </a:r>
            <a:r>
              <a:rPr lang="en-US" altLang="en-US" b="1" dirty="0"/>
              <a:t> </a:t>
            </a:r>
            <a:r>
              <a:rPr lang="en-US" altLang="en-US" b="1" dirty="0" err="1"/>
              <a:t>tử</a:t>
            </a:r>
            <a:endParaRPr lang="en-US" altLang="en-US" b="1" dirty="0"/>
          </a:p>
          <a:p>
            <a:pPr marL="1100138" lvl="1" indent="-533400" eaLnBrk="1" hangingPunct="1">
              <a:lnSpc>
                <a:spcPct val="110000"/>
              </a:lnSpc>
              <a:spcBef>
                <a:spcPct val="15000"/>
              </a:spcBef>
            </a:pP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học</a:t>
            </a:r>
            <a:r>
              <a:rPr lang="en-US" altLang="en-US" dirty="0"/>
              <a:t>: </a:t>
            </a:r>
            <a:r>
              <a:rPr lang="en-US" altLang="en-US" dirty="0" err="1"/>
              <a:t>cộng</a:t>
            </a:r>
            <a:r>
              <a:rPr lang="en-US" altLang="en-US" dirty="0"/>
              <a:t> (</a:t>
            </a:r>
            <a:r>
              <a:rPr lang="en-US" altLang="en-US" dirty="0">
                <a:solidFill>
                  <a:srgbClr val="F85124"/>
                </a:solidFill>
              </a:rPr>
              <a:t>+</a:t>
            </a:r>
            <a:r>
              <a:rPr lang="en-US" altLang="en-US" dirty="0"/>
              <a:t>), chia, chia </a:t>
            </a:r>
            <a:r>
              <a:rPr lang="en-US" altLang="en-US" dirty="0" err="1"/>
              <a:t>dư</a:t>
            </a:r>
            <a:r>
              <a:rPr lang="en-US" altLang="en-US" dirty="0">
                <a:solidFill>
                  <a:srgbClr val="F85124"/>
                </a:solidFill>
              </a:rPr>
              <a:t>(%, </a:t>
            </a:r>
            <a:r>
              <a:rPr lang="en-US" altLang="en-US" dirty="0">
                <a:solidFill>
                  <a:schemeClr val="bg2"/>
                </a:solidFill>
              </a:rPr>
              <a:t>MOD</a:t>
            </a:r>
            <a:r>
              <a:rPr lang="en-US" altLang="en-US" dirty="0"/>
              <a:t>),..</a:t>
            </a:r>
          </a:p>
          <a:p>
            <a:pPr marL="1100138" lvl="1" indent="-533400" eaLnBrk="1" hangingPunct="1">
              <a:lnSpc>
                <a:spcPct val="110000"/>
              </a:lnSpc>
              <a:spcBef>
                <a:spcPct val="15000"/>
              </a:spcBef>
            </a:pPr>
            <a:r>
              <a:rPr lang="en-US" altLang="en-US" dirty="0"/>
              <a:t>Logic</a:t>
            </a:r>
          </a:p>
          <a:p>
            <a:pPr marL="1485900" lvl="2" indent="-457200" eaLnBrk="1" hangingPunct="1">
              <a:lnSpc>
                <a:spcPct val="110000"/>
              </a:lnSpc>
              <a:spcBef>
                <a:spcPct val="15000"/>
              </a:spcBef>
            </a:pPr>
            <a:r>
              <a:rPr lang="en-US" altLang="en-US" dirty="0"/>
              <a:t>Quan </a:t>
            </a:r>
            <a:r>
              <a:rPr lang="en-US" altLang="en-US" dirty="0" err="1"/>
              <a:t>hệ</a:t>
            </a:r>
            <a:r>
              <a:rPr lang="en-US" altLang="en-US" dirty="0"/>
              <a:t>: </a:t>
            </a:r>
            <a:r>
              <a:rPr lang="en-US" altLang="en-US" dirty="0" err="1"/>
              <a:t>bằng</a:t>
            </a:r>
            <a:r>
              <a:rPr lang="en-US" altLang="en-US" dirty="0"/>
              <a:t> (</a:t>
            </a:r>
            <a:r>
              <a:rPr lang="en-US" altLang="en-US" dirty="0">
                <a:solidFill>
                  <a:schemeClr val="bg2"/>
                </a:solidFill>
              </a:rPr>
              <a:t>=</a:t>
            </a:r>
            <a:r>
              <a:rPr lang="en-US" altLang="en-US" dirty="0">
                <a:solidFill>
                  <a:srgbClr val="F85124"/>
                </a:solidFill>
              </a:rPr>
              <a:t>,==</a:t>
            </a:r>
            <a:r>
              <a:rPr lang="en-US" altLang="en-US" dirty="0"/>
              <a:t>) </a:t>
            </a:r>
            <a:r>
              <a:rPr lang="en-US" altLang="en-US" dirty="0" err="1"/>
              <a:t>khác</a:t>
            </a:r>
            <a:r>
              <a:rPr lang="en-US" altLang="en-US" dirty="0"/>
              <a:t> (</a:t>
            </a:r>
            <a:r>
              <a:rPr lang="en-US" altLang="en-US" dirty="0">
                <a:solidFill>
                  <a:srgbClr val="F85124"/>
                </a:solidFill>
              </a:rPr>
              <a:t>!=, &lt;</a:t>
            </a:r>
            <a:r>
              <a:rPr lang="en-US" altLang="en-US" dirty="0" err="1"/>
              <a:t>hơn</a:t>
            </a:r>
            <a:r>
              <a:rPr lang="en-US" altLang="en-US" dirty="0"/>
              <a:t>, (</a:t>
            </a:r>
            <a:r>
              <a:rPr lang="en-US" altLang="en-US" dirty="0">
                <a:solidFill>
                  <a:srgbClr val="F85124"/>
                </a:solidFill>
              </a:rPr>
              <a:t>&gt;</a:t>
            </a:r>
            <a:r>
              <a:rPr lang="en-US" altLang="en-US" dirty="0"/>
              <a:t>),..</a:t>
            </a:r>
          </a:p>
          <a:p>
            <a:pPr marL="1485900" lvl="2" indent="-457200" eaLnBrk="1" hangingPunct="1">
              <a:lnSpc>
                <a:spcPct val="110000"/>
              </a:lnSpc>
              <a:spcBef>
                <a:spcPct val="15000"/>
              </a:spcBef>
            </a:pPr>
            <a:r>
              <a:rPr lang="en-US" altLang="en-US" dirty="0"/>
              <a:t>Logic: </a:t>
            </a:r>
            <a:r>
              <a:rPr lang="en-US" altLang="en-US" dirty="0" err="1"/>
              <a:t>Và</a:t>
            </a:r>
            <a:r>
              <a:rPr lang="en-US" altLang="en-US" dirty="0"/>
              <a:t> (</a:t>
            </a:r>
            <a:r>
              <a:rPr lang="en-US" altLang="en-US" dirty="0">
                <a:solidFill>
                  <a:schemeClr val="bg2"/>
                </a:solidFill>
              </a:rPr>
              <a:t>AND</a:t>
            </a:r>
            <a:r>
              <a:rPr lang="en-US" altLang="en-US" dirty="0">
                <a:solidFill>
                  <a:srgbClr val="F85124"/>
                </a:solidFill>
              </a:rPr>
              <a:t>, &amp;&amp;</a:t>
            </a:r>
            <a:r>
              <a:rPr lang="en-US" altLang="en-US" dirty="0"/>
              <a:t>), </a:t>
            </a:r>
            <a:r>
              <a:rPr lang="en-US" altLang="en-US" dirty="0" err="1"/>
              <a:t>hoặc</a:t>
            </a:r>
            <a:r>
              <a:rPr lang="en-US" altLang="en-US" dirty="0"/>
              <a:t> ( </a:t>
            </a:r>
            <a:r>
              <a:rPr lang="en-US" altLang="en-US" dirty="0">
                <a:solidFill>
                  <a:srgbClr val="F85124"/>
                </a:solidFill>
              </a:rPr>
              <a:t>OR, &gt;</a:t>
            </a:r>
            <a:r>
              <a:rPr lang="en-US" altLang="en-US" dirty="0"/>
              <a:t>), </a:t>
            </a:r>
            <a:r>
              <a:rPr lang="en-US" altLang="en-US" dirty="0" err="1"/>
              <a:t>lớn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F85124"/>
                </a:solidFill>
              </a:rPr>
              <a:t>||</a:t>
            </a:r>
            <a:r>
              <a:rPr lang="en-US" altLang="en-US" dirty="0"/>
              <a:t>),..</a:t>
            </a:r>
          </a:p>
          <a:p>
            <a:pPr marL="1100138" lvl="1" indent="-533400" eaLnBrk="1" hangingPunct="1">
              <a:lnSpc>
                <a:spcPct val="110000"/>
              </a:lnSpc>
              <a:spcBef>
                <a:spcPct val="15000"/>
              </a:spcBef>
            </a:pPr>
            <a:r>
              <a:rPr lang="en-US" altLang="en-US" dirty="0" err="1"/>
              <a:t>Xâu</a:t>
            </a:r>
            <a:r>
              <a:rPr lang="en-US" altLang="en-US" dirty="0"/>
              <a:t>: </a:t>
            </a:r>
            <a:r>
              <a:rPr lang="en-US" altLang="en-US" dirty="0" err="1"/>
              <a:t>ghép</a:t>
            </a:r>
            <a:r>
              <a:rPr lang="en-US" altLang="en-US" dirty="0"/>
              <a:t> </a:t>
            </a:r>
            <a:r>
              <a:rPr lang="en-US" altLang="en-US" dirty="0" err="1"/>
              <a:t>xâu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</a:t>
            </a:r>
            <a:r>
              <a:rPr lang="en-US" altLang="en-US" dirty="0">
                <a:solidFill>
                  <a:schemeClr val="bg2"/>
                </a:solidFill>
              </a:rPr>
              <a:t>Pascal</a:t>
            </a:r>
          </a:p>
          <a:p>
            <a:pPr marL="609600" indent="-609600" eaLnBrk="1" hangingPunct="1">
              <a:lnSpc>
                <a:spcPct val="110000"/>
              </a:lnSpc>
              <a:spcBef>
                <a:spcPct val="15000"/>
              </a:spcBef>
              <a:buSzPct val="75000"/>
              <a:buFont typeface="Wingdings" panose="05000000000000000000" pitchFamily="2" charset="2"/>
              <a:buChar char="v"/>
            </a:pPr>
            <a:r>
              <a:rPr lang="en-US" altLang="en-US" b="1" dirty="0" err="1"/>
              <a:t>Biểu</a:t>
            </a:r>
            <a:r>
              <a:rPr lang="en-US" altLang="en-US" b="1" dirty="0"/>
              <a:t> </a:t>
            </a:r>
            <a:r>
              <a:rPr lang="en-US" altLang="en-US" b="1" dirty="0" err="1"/>
              <a:t>thức</a:t>
            </a:r>
            <a:r>
              <a:rPr lang="en-US" altLang="en-US" b="1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 </a:t>
            </a:r>
            <a:r>
              <a:rPr lang="en-US" altLang="en-US" sz="2400" i="1" dirty="0" err="1">
                <a:solidFill>
                  <a:schemeClr val="bg2"/>
                </a:solidFill>
                <a:sym typeface="Symbol" panose="05050102010706020507" pitchFamily="18" charset="2"/>
              </a:rPr>
              <a:t>Kết</a:t>
            </a:r>
            <a:r>
              <a:rPr lang="en-US" altLang="en-US" sz="2400" i="1" dirty="0">
                <a:solidFill>
                  <a:schemeClr val="bg2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i="1" dirty="0" err="1">
                <a:solidFill>
                  <a:schemeClr val="bg2"/>
                </a:solidFill>
                <a:sym typeface="Symbol" panose="05050102010706020507" pitchFamily="18" charset="2"/>
              </a:rPr>
              <a:t>hợp</a:t>
            </a:r>
            <a:r>
              <a:rPr lang="en-US" altLang="en-US" sz="2400" i="1" dirty="0">
                <a:solidFill>
                  <a:schemeClr val="bg2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i="1" dirty="0" err="1">
                <a:solidFill>
                  <a:schemeClr val="bg2"/>
                </a:solidFill>
                <a:sym typeface="Symbol" panose="05050102010706020507" pitchFamily="18" charset="2"/>
              </a:rPr>
              <a:t>các</a:t>
            </a:r>
            <a:r>
              <a:rPr lang="en-US" altLang="en-US" sz="2400" i="1" dirty="0">
                <a:solidFill>
                  <a:schemeClr val="bg2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i="1" dirty="0" err="1">
                <a:solidFill>
                  <a:schemeClr val="bg2"/>
                </a:solidFill>
                <a:sym typeface="Symbol" panose="05050102010706020507" pitchFamily="18" charset="2"/>
              </a:rPr>
              <a:t>toán</a:t>
            </a:r>
            <a:r>
              <a:rPr lang="en-US" altLang="en-US" sz="2400" i="1" dirty="0">
                <a:solidFill>
                  <a:schemeClr val="bg2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i="1" dirty="0" err="1">
                <a:solidFill>
                  <a:schemeClr val="bg2"/>
                </a:solidFill>
                <a:sym typeface="Symbol" panose="05050102010706020507" pitchFamily="18" charset="2"/>
              </a:rPr>
              <a:t>hạng</a:t>
            </a:r>
            <a:r>
              <a:rPr lang="en-US" altLang="en-US" sz="2400" i="1" dirty="0">
                <a:solidFill>
                  <a:schemeClr val="bg2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i="1" dirty="0" err="1">
                <a:solidFill>
                  <a:schemeClr val="bg2"/>
                </a:solidFill>
                <a:sym typeface="Symbol" panose="05050102010706020507" pitchFamily="18" charset="2"/>
              </a:rPr>
              <a:t>bởi</a:t>
            </a:r>
            <a:r>
              <a:rPr lang="en-US" altLang="en-US" sz="2400" i="1" dirty="0">
                <a:solidFill>
                  <a:schemeClr val="bg2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i="1" dirty="0" err="1">
                <a:solidFill>
                  <a:schemeClr val="bg2"/>
                </a:solidFill>
                <a:sym typeface="Symbol" panose="05050102010706020507" pitchFamily="18" charset="2"/>
              </a:rPr>
              <a:t>toán</a:t>
            </a:r>
            <a:r>
              <a:rPr lang="en-US" altLang="en-US" sz="2400" i="1" dirty="0">
                <a:solidFill>
                  <a:schemeClr val="bg2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i="1" dirty="0" err="1">
                <a:solidFill>
                  <a:schemeClr val="bg2"/>
                </a:solidFill>
                <a:sym typeface="Symbol" panose="05050102010706020507" pitchFamily="18" charset="2"/>
              </a:rPr>
              <a:t>tử</a:t>
            </a:r>
            <a:endParaRPr lang="en-US" altLang="en-US" sz="2400" b="1" i="1" dirty="0">
              <a:solidFill>
                <a:schemeClr val="bg2"/>
              </a:solidFill>
            </a:endParaRPr>
          </a:p>
          <a:p>
            <a:pPr marL="1100138" lvl="1" indent="-533400" eaLnBrk="1" hangingPunct="1">
              <a:lnSpc>
                <a:spcPct val="110000"/>
              </a:lnSpc>
              <a:spcBef>
                <a:spcPct val="15000"/>
              </a:spcBef>
            </a:pP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học</a:t>
            </a:r>
            <a:r>
              <a:rPr lang="en-US" altLang="en-US" dirty="0"/>
              <a:t>: </a:t>
            </a:r>
            <a:r>
              <a:rPr lang="en-US" altLang="en-US" i="1" dirty="0" err="1"/>
              <a:t>Trả</a:t>
            </a:r>
            <a:r>
              <a:rPr lang="en-US" altLang="en-US" i="1" dirty="0"/>
              <a:t> </a:t>
            </a:r>
            <a:r>
              <a:rPr lang="en-US" altLang="en-US" i="1" dirty="0" err="1"/>
              <a:t>về</a:t>
            </a:r>
            <a:r>
              <a:rPr lang="en-US" altLang="en-US" i="1" dirty="0"/>
              <a:t> </a:t>
            </a:r>
            <a:r>
              <a:rPr lang="en-US" altLang="en-US" i="1" dirty="0" err="1"/>
              <a:t>một</a:t>
            </a:r>
            <a:r>
              <a:rPr lang="en-US" altLang="en-US" i="1" dirty="0"/>
              <a:t> con </a:t>
            </a:r>
            <a:r>
              <a:rPr lang="en-US" altLang="en-US" i="1" dirty="0" err="1"/>
              <a:t>số</a:t>
            </a:r>
            <a:endParaRPr lang="en-US" altLang="en-US" i="1" dirty="0"/>
          </a:p>
          <a:p>
            <a:pPr marL="1100138" lvl="1" indent="-533400" eaLnBrk="1" hangingPunct="1">
              <a:lnSpc>
                <a:spcPct val="110000"/>
              </a:lnSpc>
              <a:spcBef>
                <a:spcPct val="15000"/>
              </a:spcBef>
            </a:pPr>
            <a:r>
              <a:rPr lang="en-US" altLang="en-US" dirty="0"/>
              <a:t>Logic: </a:t>
            </a:r>
            <a:r>
              <a:rPr lang="en-US" altLang="en-US" i="1" dirty="0" err="1"/>
              <a:t>Trả</a:t>
            </a:r>
            <a:r>
              <a:rPr lang="en-US" altLang="en-US" i="1" dirty="0"/>
              <a:t> </a:t>
            </a:r>
            <a:r>
              <a:rPr lang="en-US" altLang="en-US" i="1" dirty="0" err="1"/>
              <a:t>về</a:t>
            </a:r>
            <a:r>
              <a:rPr lang="en-US" altLang="en-US" i="1" dirty="0"/>
              <a:t> </a:t>
            </a:r>
            <a:r>
              <a:rPr lang="en-US" altLang="en-US" i="1" dirty="0" err="1"/>
              <a:t>một</a:t>
            </a:r>
            <a:r>
              <a:rPr lang="en-US" altLang="en-US" i="1" dirty="0"/>
              <a:t> </a:t>
            </a:r>
            <a:r>
              <a:rPr lang="en-US" altLang="en-US" i="1" dirty="0" err="1"/>
              <a:t>giá</a:t>
            </a:r>
            <a:r>
              <a:rPr lang="en-US" altLang="en-US" i="1" dirty="0"/>
              <a:t> </a:t>
            </a:r>
            <a:r>
              <a:rPr lang="en-US" altLang="en-US" i="1" dirty="0" err="1"/>
              <a:t>trị</a:t>
            </a:r>
            <a:r>
              <a:rPr lang="en-US" altLang="en-US" i="1" dirty="0"/>
              <a:t> </a:t>
            </a:r>
            <a:r>
              <a:rPr lang="en-US" altLang="en-US" i="1" dirty="0" err="1"/>
              <a:t>luận</a:t>
            </a:r>
            <a:r>
              <a:rPr lang="en-US" altLang="en-US" i="1" dirty="0"/>
              <a:t> </a:t>
            </a:r>
            <a:r>
              <a:rPr lang="en-US" altLang="en-US" i="1" dirty="0" err="1"/>
              <a:t>lý</a:t>
            </a:r>
            <a:endParaRPr lang="en-US" altLang="en-US" i="1" dirty="0"/>
          </a:p>
          <a:p>
            <a:pPr marL="1100138" lvl="1" indent="-533400" eaLnBrk="1" hangingPunct="1">
              <a:lnSpc>
                <a:spcPct val="110000"/>
              </a:lnSpc>
              <a:spcBef>
                <a:spcPct val="15000"/>
              </a:spcBef>
            </a:pPr>
            <a:r>
              <a:rPr lang="en-US" altLang="en-US" dirty="0" err="1"/>
              <a:t>Xâu</a:t>
            </a:r>
            <a:r>
              <a:rPr lang="en-US" altLang="en-US" dirty="0"/>
              <a:t>: </a:t>
            </a:r>
            <a:r>
              <a:rPr lang="en-US" altLang="en-US" i="1" dirty="0" err="1"/>
              <a:t>Trả</a:t>
            </a:r>
            <a:r>
              <a:rPr lang="en-US" altLang="en-US" i="1" dirty="0"/>
              <a:t> </a:t>
            </a:r>
            <a:r>
              <a:rPr lang="en-US" altLang="en-US" i="1" dirty="0" err="1"/>
              <a:t>về</a:t>
            </a:r>
            <a:r>
              <a:rPr lang="en-US" altLang="en-US" i="1" dirty="0"/>
              <a:t> </a:t>
            </a:r>
            <a:r>
              <a:rPr lang="en-US" altLang="en-US" i="1" dirty="0" err="1"/>
              <a:t>một</a:t>
            </a:r>
            <a:r>
              <a:rPr lang="en-US" altLang="en-US" i="1" dirty="0"/>
              <a:t> </a:t>
            </a:r>
            <a:r>
              <a:rPr lang="en-US" altLang="en-US" i="1" dirty="0" err="1"/>
              <a:t>chuỗi</a:t>
            </a:r>
            <a:r>
              <a:rPr lang="en-US" altLang="en-US" i="1" dirty="0"/>
              <a:t> </a:t>
            </a:r>
            <a:r>
              <a:rPr lang="en-US" altLang="en-US" i="1" dirty="0" err="1"/>
              <a:t>ký</a:t>
            </a:r>
            <a:r>
              <a:rPr lang="en-US" altLang="en-US" i="1" dirty="0"/>
              <a:t> </a:t>
            </a:r>
            <a:r>
              <a:rPr lang="en-US" altLang="en-US" i="1" dirty="0" err="1"/>
              <a:t>hiệu</a:t>
            </a:r>
            <a:endParaRPr lang="en-US" altLang="en-US" i="1" dirty="0"/>
          </a:p>
        </p:txBody>
      </p:sp>
      <p:sp>
        <p:nvSpPr>
          <p:cNvPr id="25605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Đặc trưng của ngôn ngữ lập trình cấp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37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437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37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AB3AAE3-8442-45AC-A339-392CAF59EA3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Các câu lệnh</a:t>
            </a:r>
          </a:p>
        </p:txBody>
      </p:sp>
      <p:sp>
        <p:nvSpPr>
          <p:cNvPr id="1438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1143000"/>
            <a:ext cx="8724900" cy="5486400"/>
          </a:xfrm>
        </p:spPr>
        <p:txBody>
          <a:bodyPr/>
          <a:lstStyle/>
          <a:p>
            <a:pPr marL="290513" indent="-290513" eaLnBrk="1" hangingPunct="1">
              <a:buSzPct val="75000"/>
              <a:buFont typeface="Wingdings" panose="05000000000000000000" pitchFamily="2" charset="2"/>
              <a:buChar char="v"/>
            </a:pPr>
            <a:r>
              <a:rPr lang="en-US" altLang="en-US" sz="2800" b="1"/>
              <a:t>Câu lệnh tuần tự</a:t>
            </a:r>
          </a:p>
          <a:p>
            <a:pPr marL="1155700" lvl="1" indent="-533400" eaLnBrk="1" hangingPunct="1"/>
            <a:r>
              <a:rPr lang="en-US" altLang="en-US" sz="2400"/>
              <a:t>Câu lệnh gán:   </a:t>
            </a:r>
            <a:r>
              <a:rPr lang="en-US" altLang="en-US" sz="2400">
                <a:solidFill>
                  <a:schemeClr val="bg2"/>
                </a:solidFill>
              </a:rPr>
              <a:t>:=</a:t>
            </a:r>
            <a:r>
              <a:rPr lang="en-US" altLang="en-US" sz="2400"/>
              <a:t>, </a:t>
            </a:r>
            <a:r>
              <a:rPr lang="en-US" altLang="en-US" sz="2400">
                <a:solidFill>
                  <a:srgbClr val="F85124"/>
                </a:solidFill>
              </a:rPr>
              <a:t> =</a:t>
            </a:r>
          </a:p>
          <a:p>
            <a:pPr marL="1155700" lvl="1" indent="-533400" eaLnBrk="1" hangingPunct="1"/>
            <a:r>
              <a:rPr lang="en-US" altLang="en-US" sz="2400"/>
              <a:t>Câu lệnh vào/ra, gọi hàm</a:t>
            </a:r>
          </a:p>
          <a:p>
            <a:pPr marL="1155700" lvl="1" indent="-533400" eaLnBrk="1" hangingPunct="1"/>
            <a:r>
              <a:rPr lang="en-US" altLang="en-US" sz="2400"/>
              <a:t>Câu lệnh ghép, gộp:  </a:t>
            </a:r>
            <a:r>
              <a:rPr lang="en-US" altLang="en-US" sz="2400">
                <a:solidFill>
                  <a:schemeClr val="bg2"/>
                </a:solidFill>
              </a:rPr>
              <a:t>begin..end,</a:t>
            </a:r>
            <a:r>
              <a:rPr lang="en-US" altLang="en-US" sz="2400"/>
              <a:t>   </a:t>
            </a:r>
            <a:r>
              <a:rPr lang="en-US" altLang="en-US" sz="2400">
                <a:solidFill>
                  <a:srgbClr val="F85124"/>
                </a:solidFill>
              </a:rPr>
              <a:t>{ }</a:t>
            </a:r>
          </a:p>
          <a:p>
            <a:pPr marL="290513" indent="-290513" eaLnBrk="1" hangingPunct="1">
              <a:buSzPct val="75000"/>
              <a:buFont typeface="Wingdings" panose="05000000000000000000" pitchFamily="2" charset="2"/>
              <a:buChar char="v"/>
            </a:pPr>
            <a:r>
              <a:rPr lang="en-US" altLang="en-US" sz="2800" b="1"/>
              <a:t>Câu lệnh rẽ nhánh</a:t>
            </a:r>
          </a:p>
          <a:p>
            <a:pPr marL="1155700" lvl="1" indent="-533400" eaLnBrk="1" hangingPunct="1"/>
            <a:r>
              <a:rPr lang="en-US" altLang="en-US" sz="2400"/>
              <a:t>1 vào 1 ra :</a:t>
            </a:r>
            <a:r>
              <a:rPr lang="en-US" altLang="en-US" sz="2400">
                <a:solidFill>
                  <a:schemeClr val="bg2"/>
                </a:solidFill>
              </a:rPr>
              <a:t>if…then</a:t>
            </a:r>
            <a:r>
              <a:rPr lang="en-US" altLang="en-US" sz="2400"/>
              <a:t>, </a:t>
            </a:r>
            <a:r>
              <a:rPr lang="en-US" altLang="en-US" sz="2400">
                <a:solidFill>
                  <a:srgbClr val="F85124"/>
                </a:solidFill>
              </a:rPr>
              <a:t>if()</a:t>
            </a:r>
          </a:p>
          <a:p>
            <a:pPr marL="1155700" lvl="1" indent="-533400" eaLnBrk="1" hangingPunct="1"/>
            <a:r>
              <a:rPr lang="en-US" altLang="en-US" sz="2400"/>
              <a:t>1 vào 2 ra: </a:t>
            </a:r>
            <a:r>
              <a:rPr lang="en-US" altLang="en-US" sz="2400">
                <a:solidFill>
                  <a:schemeClr val="bg2"/>
                </a:solidFill>
              </a:rPr>
              <a:t>if …then…else</a:t>
            </a:r>
            <a:r>
              <a:rPr lang="en-US" altLang="en-US" sz="2400"/>
              <a:t>, </a:t>
            </a:r>
            <a:r>
              <a:rPr lang="en-US" altLang="en-US" sz="2400">
                <a:solidFill>
                  <a:srgbClr val="F85124"/>
                </a:solidFill>
              </a:rPr>
              <a:t>if()…else</a:t>
            </a:r>
            <a:r>
              <a:rPr lang="en-US" altLang="en-US" sz="2400"/>
              <a:t>…</a:t>
            </a:r>
          </a:p>
          <a:p>
            <a:pPr marL="1155700" lvl="1" indent="-533400" eaLnBrk="1" hangingPunct="1"/>
            <a:r>
              <a:rPr lang="en-US" altLang="en-US" sz="2400"/>
              <a:t>1 vào, nhiều ra:  </a:t>
            </a:r>
            <a:r>
              <a:rPr lang="en-US" altLang="en-US" sz="2400">
                <a:solidFill>
                  <a:schemeClr val="bg2"/>
                </a:solidFill>
              </a:rPr>
              <a:t>case …..of</a:t>
            </a:r>
            <a:r>
              <a:rPr lang="en-US" altLang="en-US" sz="2400"/>
              <a:t>,   </a:t>
            </a:r>
            <a:r>
              <a:rPr lang="en-US" altLang="en-US" sz="2400">
                <a:solidFill>
                  <a:srgbClr val="F85124"/>
                </a:solidFill>
              </a:rPr>
              <a:t>switch() {}</a:t>
            </a:r>
          </a:p>
          <a:p>
            <a:pPr marL="290513" indent="-290513" eaLnBrk="1" hangingPunct="1">
              <a:buSzPct val="75000"/>
              <a:buFont typeface="Wingdings" panose="05000000000000000000" pitchFamily="2" charset="2"/>
              <a:buChar char="v"/>
            </a:pPr>
            <a:r>
              <a:rPr lang="en-US" altLang="en-US" sz="2800" b="1"/>
              <a:t>Câu lệnh lặp</a:t>
            </a:r>
          </a:p>
          <a:p>
            <a:pPr marL="1155700" lvl="1" indent="-533400" eaLnBrk="1" hangingPunct="1"/>
            <a:r>
              <a:rPr lang="en-US" altLang="en-US" sz="2400"/>
              <a:t>Số lần lặp xác định:   </a:t>
            </a:r>
            <a:r>
              <a:rPr lang="en-US" altLang="en-US" sz="2400">
                <a:solidFill>
                  <a:schemeClr val="bg2"/>
                </a:solidFill>
              </a:rPr>
              <a:t>For ..to/downto..do, </a:t>
            </a:r>
            <a:r>
              <a:rPr lang="en-US" altLang="en-US" sz="2400">
                <a:solidFill>
                  <a:srgbClr val="F85124"/>
                </a:solidFill>
              </a:rPr>
              <a:t>for( ; ; )</a:t>
            </a:r>
            <a:endParaRPr lang="en-US" altLang="en-US" sz="2400">
              <a:solidFill>
                <a:schemeClr val="bg2"/>
              </a:solidFill>
            </a:endParaRPr>
          </a:p>
          <a:p>
            <a:pPr marL="1155700" lvl="1" indent="-533400" eaLnBrk="1" hangingPunct="1"/>
            <a:r>
              <a:rPr lang="en-US" altLang="en-US" sz="2400"/>
              <a:t>Kiểm tra điều kiện trước: </a:t>
            </a:r>
            <a:r>
              <a:rPr lang="en-US" altLang="en-US" sz="2400">
                <a:solidFill>
                  <a:schemeClr val="bg2"/>
                </a:solidFill>
              </a:rPr>
              <a:t>While.. Do, </a:t>
            </a:r>
            <a:r>
              <a:rPr lang="en-US" altLang="en-US" sz="2400">
                <a:solidFill>
                  <a:srgbClr val="F85124"/>
                </a:solidFill>
              </a:rPr>
              <a:t>while ()</a:t>
            </a:r>
            <a:endParaRPr lang="en-US" altLang="en-US" sz="2400">
              <a:solidFill>
                <a:schemeClr val="bg2"/>
              </a:solidFill>
            </a:endParaRPr>
          </a:p>
          <a:p>
            <a:pPr marL="1155700" lvl="1" indent="-533400" eaLnBrk="1" hangingPunct="1"/>
            <a:r>
              <a:rPr lang="en-US" altLang="en-US" sz="2400"/>
              <a:t>Kiểm tra điều kiện sau: </a:t>
            </a:r>
            <a:r>
              <a:rPr lang="en-US" altLang="en-US" sz="2400">
                <a:solidFill>
                  <a:schemeClr val="bg2"/>
                </a:solidFill>
              </a:rPr>
              <a:t>Repeat..Until, </a:t>
            </a:r>
            <a:r>
              <a:rPr lang="en-US" altLang="en-US" sz="2400">
                <a:solidFill>
                  <a:srgbClr val="F85124"/>
                </a:solidFill>
              </a:rPr>
              <a:t>do..while()</a:t>
            </a:r>
          </a:p>
        </p:txBody>
      </p:sp>
      <p:sp>
        <p:nvSpPr>
          <p:cNvPr id="26629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Đặc trưng của ngôn ngữ lập trình cấp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3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3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3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438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438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38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438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5ADFC8A-76DF-4A77-8981-7188E96461D5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Chương trình con</a:t>
            </a:r>
          </a:p>
        </p:txBody>
      </p:sp>
      <p:sp>
        <p:nvSpPr>
          <p:cNvPr id="1439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1066800"/>
            <a:ext cx="8724900" cy="5562600"/>
          </a:xfrm>
        </p:spPr>
        <p:txBody>
          <a:bodyPr/>
          <a:lstStyle/>
          <a:p>
            <a:pPr marL="609600" indent="-609600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/>
              <a:t>Các dạng chương trình con</a:t>
            </a:r>
          </a:p>
          <a:p>
            <a:pPr marL="1100138" lvl="1" indent="-533400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en-US"/>
              <a:t>Thủ tục</a:t>
            </a:r>
            <a:r>
              <a:rPr lang="en-US" altLang="en-US">
                <a:sym typeface="Symbol" panose="05050102010706020507" pitchFamily="18" charset="2"/>
              </a:rPr>
              <a:t></a:t>
            </a:r>
            <a:r>
              <a:rPr lang="en-US" altLang="en-US"/>
              <a:t> Không trả về giá trị (void)</a:t>
            </a:r>
          </a:p>
          <a:p>
            <a:pPr marL="1100138" lvl="1" indent="-533400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en-US"/>
              <a:t>Hàm </a:t>
            </a:r>
            <a:r>
              <a:rPr lang="en-US" altLang="en-US">
                <a:sym typeface="Symbol" panose="05050102010706020507" pitchFamily="18" charset="2"/>
              </a:rPr>
              <a:t></a:t>
            </a:r>
            <a:r>
              <a:rPr lang="en-US" altLang="en-US"/>
              <a:t> Trả về một giá trị</a:t>
            </a:r>
          </a:p>
          <a:p>
            <a:pPr marL="609600" indent="-609600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/>
              <a:t>Vấn đề truyền tham số</a:t>
            </a:r>
          </a:p>
          <a:p>
            <a:pPr marL="1100138" lvl="1" indent="-533400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en-US"/>
              <a:t>Truyền theo trị: Không thay đổi giá trị</a:t>
            </a:r>
          </a:p>
          <a:p>
            <a:pPr marL="1100138" lvl="1" indent="-533400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en-US"/>
              <a:t>Truyền theo biến (địa chỉ): thay đổi giá trị</a:t>
            </a:r>
          </a:p>
          <a:p>
            <a:pPr marL="609600" indent="-609600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en-US"/>
              <a:t>Vấn đề Địa phương /toàn cục</a:t>
            </a:r>
          </a:p>
          <a:p>
            <a:pPr marL="1100138" lvl="1" indent="-533400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en-US"/>
              <a:t>Địa phương: chỉ tồn tại trong chương trình con</a:t>
            </a:r>
          </a:p>
          <a:p>
            <a:pPr marL="1100138" lvl="1" indent="-533400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en-US"/>
              <a:t>Roàn cục: Tồn tại trong toàn bộ chương trình</a:t>
            </a:r>
          </a:p>
        </p:txBody>
      </p:sp>
      <p:sp>
        <p:nvSpPr>
          <p:cNvPr id="27653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Đặc trưng của ngôn ngữ lập trình cấp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39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3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439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439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439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7AD15E-AF4B-4B37-9510-32FC9D894256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Nhận xét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1828800"/>
            <a:ext cx="8724900" cy="3200400"/>
          </a:xfrm>
        </p:spPr>
        <p:txBody>
          <a:bodyPr/>
          <a:lstStyle/>
          <a:p>
            <a:pPr marL="0" indent="0" algn="ctr" eaLnBrk="1" hangingPunct="1">
              <a:lnSpc>
                <a:spcPct val="140000"/>
              </a:lnSpc>
              <a:spcBef>
                <a:spcPct val="25000"/>
              </a:spcBef>
              <a:buFontTx/>
              <a:buNone/>
            </a:pPr>
            <a:r>
              <a:rPr lang="en-US" altLang="en-US" sz="4400" err="1">
                <a:solidFill>
                  <a:srgbClr val="996600"/>
                </a:solidFill>
              </a:rPr>
              <a:t>Ngôn</a:t>
            </a:r>
            <a:r>
              <a:rPr lang="en-US" altLang="en-US" sz="4400">
                <a:solidFill>
                  <a:srgbClr val="996600"/>
                </a:solidFill>
              </a:rPr>
              <a:t> </a:t>
            </a:r>
            <a:r>
              <a:rPr lang="en-US" altLang="en-US" sz="4400" err="1">
                <a:solidFill>
                  <a:srgbClr val="996600"/>
                </a:solidFill>
              </a:rPr>
              <a:t>ngữ</a:t>
            </a:r>
            <a:r>
              <a:rPr lang="en-US" altLang="en-US" sz="4400">
                <a:solidFill>
                  <a:srgbClr val="996600"/>
                </a:solidFill>
              </a:rPr>
              <a:t> </a:t>
            </a:r>
            <a:r>
              <a:rPr lang="en-US" altLang="en-US" sz="4400" err="1">
                <a:solidFill>
                  <a:srgbClr val="996600"/>
                </a:solidFill>
              </a:rPr>
              <a:t>lập</a:t>
            </a:r>
            <a:r>
              <a:rPr lang="en-US" altLang="en-US" sz="4400">
                <a:solidFill>
                  <a:srgbClr val="996600"/>
                </a:solidFill>
              </a:rPr>
              <a:t> </a:t>
            </a:r>
            <a:r>
              <a:rPr lang="en-US" altLang="en-US" sz="4400" err="1">
                <a:solidFill>
                  <a:srgbClr val="996600"/>
                </a:solidFill>
              </a:rPr>
              <a:t>trình</a:t>
            </a:r>
            <a:r>
              <a:rPr lang="en-US" altLang="en-US" sz="4400">
                <a:solidFill>
                  <a:srgbClr val="996600"/>
                </a:solidFill>
              </a:rPr>
              <a:t> </a:t>
            </a:r>
            <a:r>
              <a:rPr lang="en-US" altLang="en-US" sz="4400" err="1">
                <a:solidFill>
                  <a:srgbClr val="996600"/>
                </a:solidFill>
              </a:rPr>
              <a:t>bậc</a:t>
            </a:r>
            <a:r>
              <a:rPr lang="en-US" altLang="en-US" sz="4400">
                <a:solidFill>
                  <a:srgbClr val="996600"/>
                </a:solidFill>
              </a:rPr>
              <a:t> </a:t>
            </a:r>
            <a:r>
              <a:rPr lang="en-US" altLang="en-US" sz="4400" err="1">
                <a:solidFill>
                  <a:srgbClr val="996600"/>
                </a:solidFill>
              </a:rPr>
              <a:t>cao</a:t>
            </a:r>
            <a:r>
              <a:rPr lang="en-US" altLang="en-US" sz="4400">
                <a:solidFill>
                  <a:srgbClr val="996600"/>
                </a:solidFill>
              </a:rPr>
              <a:t> </a:t>
            </a:r>
            <a:r>
              <a:rPr lang="en-US" altLang="en-US" sz="4400" err="1">
                <a:solidFill>
                  <a:srgbClr val="996600"/>
                </a:solidFill>
              </a:rPr>
              <a:t>có</a:t>
            </a:r>
            <a:r>
              <a:rPr lang="en-US" altLang="en-US" sz="4400">
                <a:solidFill>
                  <a:srgbClr val="996600"/>
                </a:solidFill>
              </a:rPr>
              <a:t> </a:t>
            </a:r>
            <a:r>
              <a:rPr lang="en-US" altLang="en-US" sz="4400" err="1">
                <a:solidFill>
                  <a:srgbClr val="996600"/>
                </a:solidFill>
              </a:rPr>
              <a:t>nguyên</a:t>
            </a:r>
            <a:r>
              <a:rPr lang="en-US" altLang="en-US" sz="4400">
                <a:solidFill>
                  <a:srgbClr val="996600"/>
                </a:solidFill>
              </a:rPr>
              <a:t> </a:t>
            </a:r>
            <a:r>
              <a:rPr lang="en-US" altLang="en-US" sz="4400" err="1">
                <a:solidFill>
                  <a:srgbClr val="996600"/>
                </a:solidFill>
              </a:rPr>
              <a:t>tắc</a:t>
            </a:r>
            <a:r>
              <a:rPr lang="en-US" altLang="en-US" sz="4400">
                <a:solidFill>
                  <a:srgbClr val="996600"/>
                </a:solidFill>
              </a:rPr>
              <a:t> </a:t>
            </a:r>
            <a:r>
              <a:rPr lang="en-US" altLang="en-US" sz="4400" err="1">
                <a:solidFill>
                  <a:srgbClr val="996600"/>
                </a:solidFill>
              </a:rPr>
              <a:t>giống</a:t>
            </a:r>
            <a:r>
              <a:rPr lang="en-US" altLang="en-US" sz="4400">
                <a:solidFill>
                  <a:srgbClr val="996600"/>
                </a:solidFill>
              </a:rPr>
              <a:t> </a:t>
            </a:r>
            <a:r>
              <a:rPr lang="en-US" altLang="en-US" sz="4400" err="1">
                <a:solidFill>
                  <a:srgbClr val="996600"/>
                </a:solidFill>
              </a:rPr>
              <a:t>nhau</a:t>
            </a:r>
            <a:r>
              <a:rPr lang="en-US" altLang="en-US" sz="4400">
                <a:solidFill>
                  <a:srgbClr val="996600"/>
                </a:solidFill>
              </a:rPr>
              <a:t>, </a:t>
            </a:r>
            <a:r>
              <a:rPr lang="en-US" altLang="en-US" sz="4400" err="1">
                <a:solidFill>
                  <a:srgbClr val="996600"/>
                </a:solidFill>
              </a:rPr>
              <a:t>cách</a:t>
            </a:r>
            <a:r>
              <a:rPr lang="en-US" altLang="en-US" sz="4400">
                <a:solidFill>
                  <a:srgbClr val="996600"/>
                </a:solidFill>
              </a:rPr>
              <a:t> </a:t>
            </a:r>
            <a:r>
              <a:rPr lang="en-US" altLang="en-US" sz="4400" err="1">
                <a:solidFill>
                  <a:srgbClr val="996600"/>
                </a:solidFill>
              </a:rPr>
              <a:t>thể</a:t>
            </a:r>
            <a:r>
              <a:rPr lang="en-US" altLang="en-US" sz="4400">
                <a:solidFill>
                  <a:srgbClr val="996600"/>
                </a:solidFill>
              </a:rPr>
              <a:t> </a:t>
            </a:r>
            <a:r>
              <a:rPr lang="en-US" altLang="en-US" sz="4400" err="1">
                <a:solidFill>
                  <a:srgbClr val="996600"/>
                </a:solidFill>
              </a:rPr>
              <a:t>hiện</a:t>
            </a:r>
            <a:r>
              <a:rPr lang="en-US" altLang="en-US" sz="4400">
                <a:solidFill>
                  <a:srgbClr val="996600"/>
                </a:solidFill>
              </a:rPr>
              <a:t> </a:t>
            </a:r>
            <a:r>
              <a:rPr lang="en-US" altLang="en-US" sz="4400" err="1">
                <a:solidFill>
                  <a:srgbClr val="996600"/>
                </a:solidFill>
              </a:rPr>
              <a:t>có</a:t>
            </a:r>
            <a:r>
              <a:rPr lang="en-US" altLang="en-US" sz="4400">
                <a:solidFill>
                  <a:srgbClr val="996600"/>
                </a:solidFill>
              </a:rPr>
              <a:t> </a:t>
            </a:r>
            <a:r>
              <a:rPr lang="en-US" altLang="en-US" sz="4400" err="1">
                <a:solidFill>
                  <a:srgbClr val="996600"/>
                </a:solidFill>
              </a:rPr>
              <a:t>thể</a:t>
            </a:r>
            <a:r>
              <a:rPr lang="en-US" altLang="en-US" sz="4400">
                <a:solidFill>
                  <a:srgbClr val="996600"/>
                </a:solidFill>
              </a:rPr>
              <a:t> </a:t>
            </a:r>
            <a:r>
              <a:rPr lang="en-US" altLang="en-US" sz="4400" err="1">
                <a:solidFill>
                  <a:srgbClr val="996600"/>
                </a:solidFill>
              </a:rPr>
              <a:t>khác</a:t>
            </a:r>
            <a:r>
              <a:rPr lang="en-US" altLang="en-US" sz="4400">
                <a:solidFill>
                  <a:srgbClr val="996600"/>
                </a:solidFill>
              </a:rPr>
              <a:t> </a:t>
            </a:r>
            <a:r>
              <a:rPr lang="en-US" altLang="en-US" sz="4400" err="1">
                <a:solidFill>
                  <a:srgbClr val="996600"/>
                </a:solidFill>
              </a:rPr>
              <a:t>nhau</a:t>
            </a:r>
            <a:endParaRPr lang="en-US" altLang="en-US" sz="4400">
              <a:solidFill>
                <a:srgbClr val="996600"/>
              </a:solidFill>
            </a:endParaRPr>
          </a:p>
        </p:txBody>
      </p:sp>
      <p:sp>
        <p:nvSpPr>
          <p:cNvPr id="28677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Đặc trưng của ngôn ngữ lập trình cấp cao</a:t>
            </a:r>
          </a:p>
        </p:txBody>
      </p:sp>
    </p:spTree>
    <p:extLst>
      <p:ext uri="{BB962C8B-B14F-4D97-AF65-F5344CB8AC3E}">
        <p14:creationId xmlns:p14="http://schemas.microsoft.com/office/powerpoint/2010/main" val="1462435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7AD15E-AF4B-4B37-9510-32FC9D894256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err="1"/>
              <a:t>Bài</a:t>
            </a:r>
            <a:r>
              <a:rPr lang="en-US" altLang="en-US"/>
              <a:t> </a:t>
            </a:r>
            <a:r>
              <a:rPr lang="en-US" altLang="en-US" err="1"/>
              <a:t>tập</a:t>
            </a:r>
            <a:r>
              <a:rPr lang="en-US" altLang="en-US"/>
              <a:t> </a:t>
            </a:r>
            <a:r>
              <a:rPr lang="en-US" altLang="en-US" err="1"/>
              <a:t>thực</a:t>
            </a:r>
            <a:r>
              <a:rPr lang="en-US" altLang="en-US"/>
              <a:t> </a:t>
            </a:r>
            <a:r>
              <a:rPr lang="en-US" altLang="en-US" err="1"/>
              <a:t>hành</a:t>
            </a:r>
            <a:r>
              <a:rPr lang="en-US" altLang="en-US"/>
              <a:t> </a:t>
            </a:r>
            <a:r>
              <a:rPr lang="en-US" altLang="en-US" err="1"/>
              <a:t>số</a:t>
            </a:r>
            <a:r>
              <a:rPr lang="en-US" altLang="en-US"/>
              <a:t> 1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9550" y="761999"/>
            <a:ext cx="8724900" cy="5805487"/>
          </a:xfrm>
        </p:spPr>
        <p:txBody>
          <a:bodyPr/>
          <a:lstStyle/>
          <a:p>
            <a:pPr marL="0" indent="0">
              <a:buNone/>
            </a:pPr>
            <a:r>
              <a:rPr lang="en-US" err="1"/>
              <a:t>Viết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ch</a:t>
            </a:r>
            <a:r>
              <a:rPr lang="vi-VN"/>
              <a:t>ư</a:t>
            </a:r>
            <a:r>
              <a:rPr lang="en-US" err="1"/>
              <a:t>ơng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bằng</a:t>
            </a:r>
            <a:r>
              <a:rPr lang="en-US"/>
              <a:t> C. Ch</a:t>
            </a:r>
            <a:r>
              <a:rPr lang="vi-VN"/>
              <a:t>ư</a:t>
            </a:r>
            <a:r>
              <a:rPr lang="en-US" err="1"/>
              <a:t>ơng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thể</a:t>
            </a:r>
            <a:r>
              <a:rPr lang="en-US"/>
              <a:t> </a:t>
            </a:r>
            <a:r>
              <a:rPr lang="en-US" err="1"/>
              <a:t>nhận</a:t>
            </a:r>
            <a:r>
              <a:rPr lang="en-US"/>
              <a:t> 1 </a:t>
            </a:r>
            <a:r>
              <a:rPr lang="en-US" err="1"/>
              <a:t>hoặc</a:t>
            </a:r>
            <a:r>
              <a:rPr lang="en-US"/>
              <a:t> 2 </a:t>
            </a:r>
            <a:r>
              <a:rPr lang="en-US" err="1"/>
              <a:t>tham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dòng</a:t>
            </a:r>
            <a:r>
              <a:rPr lang="en-US"/>
              <a:t> </a:t>
            </a:r>
            <a:r>
              <a:rPr lang="en-US" err="1"/>
              <a:t>lệnh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err="1"/>
              <a:t>Nếu</a:t>
            </a:r>
            <a:r>
              <a:rPr lang="en-US"/>
              <a:t> 0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tham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err="1"/>
              <a:t>Đưa</a:t>
            </a:r>
            <a:r>
              <a:rPr lang="en-US"/>
              <a:t> ra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thông</a:t>
            </a:r>
            <a:r>
              <a:rPr lang="en-US"/>
              <a:t> bao </a:t>
            </a:r>
            <a:r>
              <a:rPr lang="en-US" err="1"/>
              <a:t>lỗi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err="1"/>
              <a:t>Nếu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1 </a:t>
            </a:r>
            <a:r>
              <a:rPr lang="en-US" err="1"/>
              <a:t>tham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err="1"/>
              <a:t>Hiện</a:t>
            </a:r>
            <a:r>
              <a:rPr lang="en-US"/>
              <a:t> </a:t>
            </a:r>
            <a:r>
              <a:rPr lang="en-US" err="1"/>
              <a:t>thị</a:t>
            </a:r>
            <a:r>
              <a:rPr lang="en-US"/>
              <a:t> </a:t>
            </a:r>
            <a:r>
              <a:rPr lang="en-US" err="1"/>
              <a:t>xâu</a:t>
            </a:r>
            <a:r>
              <a:rPr lang="en-US"/>
              <a:t> Hello + </a:t>
            </a:r>
            <a:r>
              <a:rPr lang="en-US" err="1"/>
              <a:t>Tham</a:t>
            </a:r>
            <a:r>
              <a:rPr lang="en-US"/>
              <a:t> </a:t>
            </a:r>
            <a:r>
              <a:rPr lang="en-US" err="1"/>
              <a:t>số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err="1"/>
              <a:t>Nếu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2 </a:t>
            </a:r>
            <a:r>
              <a:rPr lang="en-US" err="1"/>
              <a:t>tham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err="1"/>
              <a:t>Hiện</a:t>
            </a:r>
            <a:r>
              <a:rPr lang="en-US"/>
              <a:t> </a:t>
            </a:r>
            <a:r>
              <a:rPr lang="en-US" err="1"/>
              <a:t>thị</a:t>
            </a:r>
            <a:r>
              <a:rPr lang="en-US"/>
              <a:t> </a:t>
            </a:r>
            <a:r>
              <a:rPr lang="en-US" err="1"/>
              <a:t>xâu</a:t>
            </a:r>
            <a:r>
              <a:rPr lang="en-US"/>
              <a:t> Hello + </a:t>
            </a:r>
            <a:r>
              <a:rPr lang="en-US" err="1"/>
              <a:t>tham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1 </a:t>
            </a:r>
            <a:r>
              <a:rPr lang="en-US" err="1"/>
              <a:t>vào</a:t>
            </a:r>
            <a:r>
              <a:rPr lang="en-US"/>
              <a:t> file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tên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tham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err="1"/>
              <a:t>Nếu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nhiều</a:t>
            </a:r>
            <a:r>
              <a:rPr lang="en-US"/>
              <a:t> h</a:t>
            </a:r>
            <a:r>
              <a:rPr lang="vi-VN"/>
              <a:t>ơ</a:t>
            </a:r>
            <a:r>
              <a:rPr lang="en-US"/>
              <a:t>n 3 </a:t>
            </a:r>
            <a:r>
              <a:rPr lang="en-US" err="1"/>
              <a:t>tham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err="1"/>
              <a:t>Đưa</a:t>
            </a:r>
            <a:r>
              <a:rPr lang="en-US"/>
              <a:t> ra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thông</a:t>
            </a:r>
            <a:r>
              <a:rPr lang="en-US"/>
              <a:t> bao </a:t>
            </a:r>
            <a:r>
              <a:rPr lang="en-US" err="1"/>
              <a:t>lỗi</a:t>
            </a:r>
            <a:endParaRPr lang="en-US"/>
          </a:p>
          <a:p>
            <a:pPr marL="0" indent="0" algn="ctr" eaLnBrk="1" hangingPunct="1">
              <a:spcBef>
                <a:spcPct val="25000"/>
              </a:spcBef>
              <a:buFontTx/>
              <a:buNone/>
            </a:pPr>
            <a:endParaRPr lang="en-US" altLang="en-US" sz="6600">
              <a:solidFill>
                <a:srgbClr val="996600"/>
              </a:solidFill>
            </a:endParaRPr>
          </a:p>
        </p:txBody>
      </p:sp>
      <p:sp>
        <p:nvSpPr>
          <p:cNvPr id="28677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2. Đặc trưng của ngôn ngữ lập trình cấp cao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4BE3D9-557E-4B0B-A857-EF50212C115B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441794" name="Rectangle 2"/>
          <p:cNvSpPr>
            <a:spLocks noChangeArrowheads="1"/>
          </p:cNvSpPr>
          <p:nvPr/>
        </p:nvSpPr>
        <p:spPr bwMode="auto">
          <a:xfrm>
            <a:off x="0" y="2362200"/>
            <a:ext cx="9144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441795" name="Rectangle 3"/>
          <p:cNvSpPr>
            <a:spLocks noChangeArrowheads="1"/>
          </p:cNvSpPr>
          <p:nvPr/>
        </p:nvSpPr>
        <p:spPr bwMode="auto">
          <a:xfrm>
            <a:off x="0" y="3048000"/>
            <a:ext cx="9144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29701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00100"/>
          </a:xfrm>
        </p:spPr>
        <p:txBody>
          <a:bodyPr/>
          <a:lstStyle/>
          <a:p>
            <a:pPr eaLnBrk="1" hangingPunct="1"/>
            <a:r>
              <a:rPr lang="en-US" altLang="en-US" sz="4000"/>
              <a:t>Chương 1: Những khái niệm cơ bản</a:t>
            </a:r>
          </a:p>
        </p:txBody>
      </p:sp>
      <p:sp>
        <p:nvSpPr>
          <p:cNvPr id="2970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66700" y="1608138"/>
            <a:ext cx="8724900" cy="4792662"/>
          </a:xfrm>
        </p:spPr>
        <p:txBody>
          <a:bodyPr/>
          <a:lstStyle/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 err="1">
                <a:solidFill>
                  <a:srgbClr val="1E0068"/>
                </a:solidFill>
              </a:rPr>
              <a:t>Ngôn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ngữ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lập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trình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cấp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cao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và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trình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dịch</a:t>
            </a:r>
            <a:endParaRPr lang="en-US" altLang="en-US">
              <a:solidFill>
                <a:srgbClr val="1E0068"/>
              </a:solidFill>
            </a:endParaRP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 err="1">
                <a:solidFill>
                  <a:srgbClr val="1E0068"/>
                </a:solidFill>
              </a:rPr>
              <a:t>Đặc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trưng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của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ngôn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ngữ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lập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trình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cấp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cao</a:t>
            </a:r>
            <a:endParaRPr lang="en-US" altLang="en-US">
              <a:solidFill>
                <a:srgbClr val="1E0068"/>
              </a:solidFill>
            </a:endParaRP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 err="1"/>
              <a:t>Các</a:t>
            </a:r>
            <a:r>
              <a:rPr lang="en-US" altLang="en-US"/>
              <a:t> </a:t>
            </a:r>
            <a:r>
              <a:rPr lang="en-US" altLang="en-US" err="1"/>
              <a:t>giai</a:t>
            </a:r>
            <a:r>
              <a:rPr lang="en-US" altLang="en-US"/>
              <a:t> </a:t>
            </a:r>
            <a:r>
              <a:rPr lang="en-US" altLang="en-US" err="1"/>
              <a:t>đoạn</a:t>
            </a:r>
            <a:r>
              <a:rPr lang="en-US" altLang="en-US"/>
              <a:t> </a:t>
            </a:r>
            <a:r>
              <a:rPr lang="en-US" altLang="en-US" err="1"/>
              <a:t>chính</a:t>
            </a:r>
            <a:r>
              <a:rPr lang="en-US" altLang="en-US"/>
              <a:t> </a:t>
            </a:r>
            <a:r>
              <a:rPr lang="en-US" altLang="en-US" err="1"/>
              <a:t>của</a:t>
            </a:r>
            <a:r>
              <a:rPr lang="en-US" altLang="en-US"/>
              <a:t> </a:t>
            </a:r>
            <a:r>
              <a:rPr lang="en-US" altLang="en-US" err="1"/>
              <a:t>chương</a:t>
            </a:r>
            <a:r>
              <a:rPr lang="en-US" altLang="en-US"/>
              <a:t> </a:t>
            </a:r>
            <a:r>
              <a:rPr lang="en-US" altLang="en-US" err="1"/>
              <a:t>trình</a:t>
            </a:r>
            <a:r>
              <a:rPr lang="en-US" altLang="en-US"/>
              <a:t> </a:t>
            </a:r>
            <a:r>
              <a:rPr lang="en-US" altLang="en-US" err="1"/>
              <a:t>dịch</a:t>
            </a:r>
            <a:endParaRPr lang="en-US" altLang="en-US">
              <a:solidFill>
                <a:srgbClr val="1E0068"/>
              </a:solidFill>
            </a:endParaRP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 err="1">
                <a:solidFill>
                  <a:srgbClr val="1E0068"/>
                </a:solidFill>
              </a:rPr>
              <a:t>Khái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niệm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ngôn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ngữ</a:t>
            </a:r>
            <a:endParaRPr lang="en-US" altLang="en-US">
              <a:solidFill>
                <a:srgbClr val="1E0068"/>
              </a:solidFill>
            </a:endParaRP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 err="1">
                <a:solidFill>
                  <a:srgbClr val="1E0068"/>
                </a:solidFill>
              </a:rPr>
              <a:t>Văn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phạm</a:t>
            </a:r>
            <a:r>
              <a:rPr lang="en-US" altLang="en-US">
                <a:solidFill>
                  <a:srgbClr val="1E0068"/>
                </a:solidFill>
              </a:rPr>
              <a:t> phi </a:t>
            </a:r>
            <a:r>
              <a:rPr lang="en-US" altLang="en-US" err="1">
                <a:solidFill>
                  <a:srgbClr val="1E0068"/>
                </a:solidFill>
              </a:rPr>
              <a:t>ngữ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cảnh</a:t>
            </a:r>
            <a:endParaRPr lang="en-US" altLang="en-US">
              <a:solidFill>
                <a:srgbClr val="1E0068"/>
              </a:solidFill>
            </a:endParaRP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 err="1">
                <a:solidFill>
                  <a:srgbClr val="1E0068"/>
                </a:solidFill>
              </a:rPr>
              <a:t>Giới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thiệu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ngôn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ngữ</a:t>
            </a:r>
            <a:r>
              <a:rPr lang="en-US" altLang="en-US">
                <a:solidFill>
                  <a:srgbClr val="1E0068"/>
                </a:solidFill>
              </a:rPr>
              <a:t> PL/0 </a:t>
            </a:r>
            <a:r>
              <a:rPr lang="en-US" altLang="en-US" err="1">
                <a:solidFill>
                  <a:srgbClr val="1E0068"/>
                </a:solidFill>
              </a:rPr>
              <a:t>mở</a:t>
            </a:r>
            <a:r>
              <a:rPr lang="en-US" altLang="en-US">
                <a:solidFill>
                  <a:srgbClr val="1E0068"/>
                </a:solidFill>
              </a:rPr>
              <a:t> </a:t>
            </a:r>
            <a:r>
              <a:rPr lang="en-US" altLang="en-US" err="1">
                <a:solidFill>
                  <a:srgbClr val="1E0068"/>
                </a:solidFill>
              </a:rPr>
              <a:t>rộng</a:t>
            </a:r>
            <a:endParaRPr lang="en-US" altLang="en-US">
              <a:solidFill>
                <a:srgbClr val="1E0068"/>
              </a:solidFill>
            </a:endParaRP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endParaRPr lang="en-US" altLang="en-US">
              <a:solidFill>
                <a:srgbClr val="1E0068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4417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4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1794" grpId="0" animBg="1"/>
      <p:bldP spid="144179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84D246-123A-452E-89B7-E1601A5A1487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Các phase của chương trình dịch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914400"/>
            <a:ext cx="7810500" cy="2514600"/>
          </a:xfrm>
          <a:noFill/>
        </p:spPr>
        <p:txBody>
          <a:bodyPr tIns="0" bIns="0"/>
          <a:lstStyle/>
          <a:p>
            <a:pPr marL="609600" indent="-609600" eaLnBrk="1" hangingPunct="1">
              <a:buFontTx/>
              <a:buNone/>
            </a:pPr>
            <a:r>
              <a:rPr lang="en-US" altLang="en-US" dirty="0" err="1"/>
              <a:t>Chương</a:t>
            </a:r>
            <a:r>
              <a:rPr lang="en-US" altLang="en-US" dirty="0"/>
              <a:t> </a:t>
            </a:r>
            <a:r>
              <a:rPr lang="en-US" altLang="en-US" dirty="0" err="1"/>
              <a:t>trình</a:t>
            </a:r>
            <a:r>
              <a:rPr lang="en-US" altLang="en-US" dirty="0"/>
              <a:t> </a:t>
            </a:r>
            <a:r>
              <a:rPr lang="en-US" altLang="en-US" dirty="0" err="1"/>
              <a:t>dịch</a:t>
            </a:r>
            <a:r>
              <a:rPr lang="en-US" altLang="en-US" dirty="0"/>
              <a:t> </a:t>
            </a:r>
            <a:r>
              <a:rPr lang="en-US" altLang="en-US" dirty="0" err="1"/>
              <a:t>gồm</a:t>
            </a:r>
            <a:r>
              <a:rPr lang="en-US" altLang="en-US" dirty="0"/>
              <a:t> 3 phase </a:t>
            </a:r>
            <a:r>
              <a:rPr lang="en-US" altLang="en-US" dirty="0" err="1"/>
              <a:t>chính</a:t>
            </a:r>
            <a:endParaRPr lang="en-US" altLang="en-US" dirty="0"/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2800" dirty="0"/>
              <a:t>Phân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vựng</a:t>
            </a:r>
            <a:endParaRPr lang="en-US" altLang="en-US" sz="2800" dirty="0"/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2800" dirty="0"/>
              <a:t>Phân </a:t>
            </a:r>
            <a:r>
              <a:rPr lang="en-US" altLang="en-US" sz="2800" dirty="0" err="1"/>
              <a:t>tích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cú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pháp</a:t>
            </a:r>
            <a:endParaRPr lang="en-US" altLang="en-US" sz="2800" dirty="0"/>
          </a:p>
          <a:p>
            <a:pPr marL="1100138" lvl="1" indent="-533400" eaLnBrk="1" hangingPunct="1"/>
            <a:r>
              <a:rPr lang="en-US" altLang="en-US" sz="2400" dirty="0"/>
              <a:t>Phân </a:t>
            </a:r>
            <a:r>
              <a:rPr lang="en-US" altLang="en-US" sz="2400" dirty="0" err="1"/>
              <a:t>tích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ngữ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nghĩa</a:t>
            </a:r>
            <a:endParaRPr lang="en-US" altLang="en-US" sz="2400" dirty="0"/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2800" dirty="0"/>
              <a:t>Sinh </a:t>
            </a:r>
            <a:r>
              <a:rPr lang="en-US" altLang="en-US" sz="2800" dirty="0" err="1"/>
              <a:t>mã</a:t>
            </a:r>
            <a:endParaRPr lang="en-US" altLang="en-US" sz="2800" dirty="0"/>
          </a:p>
        </p:txBody>
      </p:sp>
      <p:sp>
        <p:nvSpPr>
          <p:cNvPr id="30725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Các giai đoạn chính của chương trình dịch</a:t>
            </a:r>
          </a:p>
        </p:txBody>
      </p:sp>
      <p:pic>
        <p:nvPicPr>
          <p:cNvPr id="30726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505200"/>
            <a:ext cx="7620000" cy="3200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4D206B-EE40-478F-8988-E2E219510B51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31747" name="AutoShape 29"/>
          <p:cNvSpPr>
            <a:spLocks noChangeArrowheads="1"/>
          </p:cNvSpPr>
          <p:nvPr/>
        </p:nvSpPr>
        <p:spPr bwMode="auto">
          <a:xfrm>
            <a:off x="3052763" y="6172200"/>
            <a:ext cx="3200400" cy="457200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"/>
          </a:xfrm>
        </p:spPr>
        <p:txBody>
          <a:bodyPr/>
          <a:lstStyle/>
          <a:p>
            <a:pPr eaLnBrk="1" hangingPunct="1"/>
            <a:r>
              <a:rPr lang="en-US" altLang="en-US"/>
              <a:t>Cấu trúc chương trình dịch</a:t>
            </a:r>
          </a:p>
        </p:txBody>
      </p:sp>
      <p:sp>
        <p:nvSpPr>
          <p:cNvPr id="31749" name="Text Box 7"/>
          <p:cNvSpPr txBox="1">
            <a:spLocks noChangeArrowheads="1"/>
          </p:cNvSpPr>
          <p:nvPr/>
        </p:nvSpPr>
        <p:spPr bwMode="auto">
          <a:xfrm>
            <a:off x="2867025" y="1590675"/>
            <a:ext cx="3581400" cy="455613"/>
          </a:xfrm>
          <a:prstGeom prst="rect">
            <a:avLst/>
          </a:prstGeom>
          <a:noFill/>
          <a:ln w="9525">
            <a:solidFill>
              <a:srgbClr val="27007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144" bIns="9144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rgbClr val="220076"/>
                </a:solidFill>
              </a:rPr>
              <a:t>Phân tích từ vựng</a:t>
            </a:r>
          </a:p>
        </p:txBody>
      </p:sp>
      <p:sp>
        <p:nvSpPr>
          <p:cNvPr id="31750" name="Text Box 14"/>
          <p:cNvSpPr txBox="1">
            <a:spLocks noChangeArrowheads="1"/>
          </p:cNvSpPr>
          <p:nvPr/>
        </p:nvSpPr>
        <p:spPr bwMode="auto">
          <a:xfrm>
            <a:off x="2895600" y="795338"/>
            <a:ext cx="358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7007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rgbClr val="220076"/>
                </a:solidFill>
              </a:rPr>
              <a:t>Chương trình nguồn</a:t>
            </a:r>
          </a:p>
        </p:txBody>
      </p:sp>
      <p:sp>
        <p:nvSpPr>
          <p:cNvPr id="31751" name="Line 16"/>
          <p:cNvSpPr>
            <a:spLocks noChangeShapeType="1"/>
          </p:cNvSpPr>
          <p:nvPr/>
        </p:nvSpPr>
        <p:spPr bwMode="auto">
          <a:xfrm>
            <a:off x="4662488" y="2057400"/>
            <a:ext cx="0" cy="3048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2" name="Text Box 17"/>
          <p:cNvSpPr txBox="1">
            <a:spLocks noChangeArrowheads="1"/>
          </p:cNvSpPr>
          <p:nvPr/>
        </p:nvSpPr>
        <p:spPr bwMode="auto">
          <a:xfrm>
            <a:off x="2881313" y="2352675"/>
            <a:ext cx="3581400" cy="455613"/>
          </a:xfrm>
          <a:prstGeom prst="rect">
            <a:avLst/>
          </a:prstGeom>
          <a:noFill/>
          <a:ln w="9525">
            <a:solidFill>
              <a:srgbClr val="27007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144" bIns="9144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rgbClr val="220076"/>
                </a:solidFill>
              </a:rPr>
              <a:t>Phân tích cú pháp</a:t>
            </a:r>
          </a:p>
        </p:txBody>
      </p:sp>
      <p:sp>
        <p:nvSpPr>
          <p:cNvPr id="31753" name="Line 18"/>
          <p:cNvSpPr>
            <a:spLocks noChangeShapeType="1"/>
          </p:cNvSpPr>
          <p:nvPr/>
        </p:nvSpPr>
        <p:spPr bwMode="auto">
          <a:xfrm>
            <a:off x="4676775" y="2819400"/>
            <a:ext cx="0" cy="3048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4" name="Text Box 19"/>
          <p:cNvSpPr txBox="1">
            <a:spLocks noChangeArrowheads="1"/>
          </p:cNvSpPr>
          <p:nvPr/>
        </p:nvSpPr>
        <p:spPr bwMode="auto">
          <a:xfrm>
            <a:off x="2881313" y="3114675"/>
            <a:ext cx="3581400" cy="455613"/>
          </a:xfrm>
          <a:prstGeom prst="rect">
            <a:avLst/>
          </a:prstGeom>
          <a:noFill/>
          <a:ln w="9525">
            <a:solidFill>
              <a:srgbClr val="27007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144" bIns="9144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rgbClr val="220076"/>
                </a:solidFill>
              </a:rPr>
              <a:t>Phân tích ngữ nghĩa</a:t>
            </a:r>
            <a:endParaRPr lang="en-US" altLang="en-US" sz="1600" b="0">
              <a:solidFill>
                <a:srgbClr val="220076"/>
              </a:solidFill>
            </a:endParaRPr>
          </a:p>
        </p:txBody>
      </p:sp>
      <p:sp>
        <p:nvSpPr>
          <p:cNvPr id="31755" name="Line 20"/>
          <p:cNvSpPr>
            <a:spLocks noChangeShapeType="1"/>
          </p:cNvSpPr>
          <p:nvPr/>
        </p:nvSpPr>
        <p:spPr bwMode="auto">
          <a:xfrm>
            <a:off x="4691063" y="3581400"/>
            <a:ext cx="0" cy="3048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6" name="Text Box 21"/>
          <p:cNvSpPr txBox="1">
            <a:spLocks noChangeArrowheads="1"/>
          </p:cNvSpPr>
          <p:nvPr/>
        </p:nvSpPr>
        <p:spPr bwMode="auto">
          <a:xfrm>
            <a:off x="2895600" y="3876675"/>
            <a:ext cx="3581400" cy="455613"/>
          </a:xfrm>
          <a:prstGeom prst="rect">
            <a:avLst/>
          </a:prstGeom>
          <a:noFill/>
          <a:ln w="9525">
            <a:solidFill>
              <a:srgbClr val="27007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144" bIns="9144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rgbClr val="220076"/>
                </a:solidFill>
              </a:rPr>
              <a:t>Sinh mã trung gian</a:t>
            </a:r>
          </a:p>
        </p:txBody>
      </p:sp>
      <p:sp>
        <p:nvSpPr>
          <p:cNvPr id="31757" name="Line 22"/>
          <p:cNvSpPr>
            <a:spLocks noChangeShapeType="1"/>
          </p:cNvSpPr>
          <p:nvPr/>
        </p:nvSpPr>
        <p:spPr bwMode="auto">
          <a:xfrm>
            <a:off x="4691063" y="4343400"/>
            <a:ext cx="0" cy="3048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8" name="Text Box 23"/>
          <p:cNvSpPr txBox="1">
            <a:spLocks noChangeArrowheads="1"/>
          </p:cNvSpPr>
          <p:nvPr/>
        </p:nvSpPr>
        <p:spPr bwMode="auto">
          <a:xfrm>
            <a:off x="2890838" y="4648200"/>
            <a:ext cx="3581400" cy="455613"/>
          </a:xfrm>
          <a:prstGeom prst="rect">
            <a:avLst/>
          </a:prstGeom>
          <a:noFill/>
          <a:ln w="9525">
            <a:solidFill>
              <a:srgbClr val="27007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144" bIns="9144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rgbClr val="220076"/>
                </a:solidFill>
              </a:rPr>
              <a:t>Tối ưu mã</a:t>
            </a:r>
          </a:p>
        </p:txBody>
      </p:sp>
      <p:sp>
        <p:nvSpPr>
          <p:cNvPr id="31759" name="Line 24"/>
          <p:cNvSpPr>
            <a:spLocks noChangeShapeType="1"/>
          </p:cNvSpPr>
          <p:nvPr/>
        </p:nvSpPr>
        <p:spPr bwMode="auto">
          <a:xfrm>
            <a:off x="4662488" y="5114925"/>
            <a:ext cx="0" cy="3048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0" name="Text Box 25"/>
          <p:cNvSpPr txBox="1">
            <a:spLocks noChangeArrowheads="1"/>
          </p:cNvSpPr>
          <p:nvPr/>
        </p:nvSpPr>
        <p:spPr bwMode="auto">
          <a:xfrm>
            <a:off x="2862263" y="5410200"/>
            <a:ext cx="3581400" cy="455613"/>
          </a:xfrm>
          <a:prstGeom prst="rect">
            <a:avLst/>
          </a:prstGeom>
          <a:noFill/>
          <a:ln w="9525">
            <a:solidFill>
              <a:srgbClr val="27007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9144" bIns="9144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rgbClr val="220076"/>
                </a:solidFill>
              </a:rPr>
              <a:t>Sinh mã máy</a:t>
            </a:r>
          </a:p>
        </p:txBody>
      </p:sp>
      <p:sp>
        <p:nvSpPr>
          <p:cNvPr id="31761" name="Line 26"/>
          <p:cNvSpPr>
            <a:spLocks noChangeShapeType="1"/>
          </p:cNvSpPr>
          <p:nvPr/>
        </p:nvSpPr>
        <p:spPr bwMode="auto">
          <a:xfrm>
            <a:off x="4676775" y="5876925"/>
            <a:ext cx="0" cy="3048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2" name="Text Box 27"/>
          <p:cNvSpPr txBox="1">
            <a:spLocks noChangeArrowheads="1"/>
          </p:cNvSpPr>
          <p:nvPr/>
        </p:nvSpPr>
        <p:spPr bwMode="auto">
          <a:xfrm>
            <a:off x="2895600" y="6124575"/>
            <a:ext cx="358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22007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rgbClr val="220076"/>
                </a:solidFill>
              </a:rPr>
              <a:t>Chương trình đích</a:t>
            </a:r>
          </a:p>
        </p:txBody>
      </p:sp>
      <p:sp>
        <p:nvSpPr>
          <p:cNvPr id="31763" name="Line 28"/>
          <p:cNvSpPr>
            <a:spLocks noChangeShapeType="1"/>
          </p:cNvSpPr>
          <p:nvPr/>
        </p:nvSpPr>
        <p:spPr bwMode="auto">
          <a:xfrm>
            <a:off x="4648200" y="1295400"/>
            <a:ext cx="0" cy="30480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4" name="AutoShape 31"/>
          <p:cNvSpPr>
            <a:spLocks noChangeArrowheads="1"/>
          </p:cNvSpPr>
          <p:nvPr/>
        </p:nvSpPr>
        <p:spPr bwMode="auto">
          <a:xfrm>
            <a:off x="2924175" y="852488"/>
            <a:ext cx="3429000" cy="457200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31765" name="Text Box 32"/>
          <p:cNvSpPr txBox="1">
            <a:spLocks noChangeArrowheads="1"/>
          </p:cNvSpPr>
          <p:nvPr/>
        </p:nvSpPr>
        <p:spPr bwMode="auto">
          <a:xfrm>
            <a:off x="457200" y="2819400"/>
            <a:ext cx="1219200" cy="1382713"/>
          </a:xfrm>
          <a:prstGeom prst="rect">
            <a:avLst/>
          </a:prstGeom>
          <a:noFill/>
          <a:ln w="9525">
            <a:solidFill>
              <a:srgbClr val="22007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rgbClr val="220076"/>
                </a:solidFill>
              </a:rPr>
              <a:t>Bảng ký hiệu</a:t>
            </a:r>
          </a:p>
        </p:txBody>
      </p:sp>
      <p:sp>
        <p:nvSpPr>
          <p:cNvPr id="31766" name="Text Box 33"/>
          <p:cNvSpPr txBox="1">
            <a:spLocks noChangeArrowheads="1"/>
          </p:cNvSpPr>
          <p:nvPr/>
        </p:nvSpPr>
        <p:spPr bwMode="auto">
          <a:xfrm>
            <a:off x="7620000" y="3054350"/>
            <a:ext cx="1219200" cy="1136650"/>
          </a:xfrm>
          <a:prstGeom prst="rect">
            <a:avLst/>
          </a:prstGeom>
          <a:noFill/>
          <a:ln w="9525">
            <a:solidFill>
              <a:srgbClr val="22007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37160" bIns="13716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rgbClr val="220076"/>
                </a:solidFill>
              </a:rPr>
              <a:t>Xử lý lỗi</a:t>
            </a:r>
          </a:p>
        </p:txBody>
      </p:sp>
      <p:sp>
        <p:nvSpPr>
          <p:cNvPr id="31767" name="Line 34"/>
          <p:cNvSpPr>
            <a:spLocks noChangeShapeType="1"/>
          </p:cNvSpPr>
          <p:nvPr/>
        </p:nvSpPr>
        <p:spPr bwMode="auto">
          <a:xfrm flipV="1">
            <a:off x="1676400" y="1905000"/>
            <a:ext cx="1143000" cy="1219200"/>
          </a:xfrm>
          <a:prstGeom prst="line">
            <a:avLst/>
          </a:prstGeom>
          <a:noFill/>
          <a:ln w="38100">
            <a:solidFill>
              <a:srgbClr val="220076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8" name="Line 36"/>
          <p:cNvSpPr>
            <a:spLocks noChangeShapeType="1"/>
          </p:cNvSpPr>
          <p:nvPr/>
        </p:nvSpPr>
        <p:spPr bwMode="auto">
          <a:xfrm>
            <a:off x="1676400" y="4038600"/>
            <a:ext cx="1162050" cy="1743075"/>
          </a:xfrm>
          <a:prstGeom prst="line">
            <a:avLst/>
          </a:prstGeom>
          <a:noFill/>
          <a:ln w="38100">
            <a:solidFill>
              <a:srgbClr val="220076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9" name="Line 37"/>
          <p:cNvSpPr>
            <a:spLocks noChangeShapeType="1"/>
          </p:cNvSpPr>
          <p:nvPr/>
        </p:nvSpPr>
        <p:spPr bwMode="auto">
          <a:xfrm flipV="1">
            <a:off x="1676400" y="2590800"/>
            <a:ext cx="1219200" cy="685800"/>
          </a:xfrm>
          <a:prstGeom prst="line">
            <a:avLst/>
          </a:prstGeom>
          <a:noFill/>
          <a:ln w="38100">
            <a:solidFill>
              <a:srgbClr val="220076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0" name="Line 38"/>
          <p:cNvSpPr>
            <a:spLocks noChangeShapeType="1"/>
          </p:cNvSpPr>
          <p:nvPr/>
        </p:nvSpPr>
        <p:spPr bwMode="auto">
          <a:xfrm flipV="1">
            <a:off x="1676400" y="3352800"/>
            <a:ext cx="1219200" cy="76200"/>
          </a:xfrm>
          <a:prstGeom prst="line">
            <a:avLst/>
          </a:prstGeom>
          <a:noFill/>
          <a:ln w="38100">
            <a:solidFill>
              <a:srgbClr val="220076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1" name="Line 39"/>
          <p:cNvSpPr>
            <a:spLocks noChangeShapeType="1"/>
          </p:cNvSpPr>
          <p:nvPr/>
        </p:nvSpPr>
        <p:spPr bwMode="auto">
          <a:xfrm>
            <a:off x="1676400" y="3581400"/>
            <a:ext cx="1219200" cy="533400"/>
          </a:xfrm>
          <a:prstGeom prst="line">
            <a:avLst/>
          </a:prstGeom>
          <a:noFill/>
          <a:ln w="38100">
            <a:solidFill>
              <a:srgbClr val="220076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2" name="Line 40"/>
          <p:cNvSpPr>
            <a:spLocks noChangeShapeType="1"/>
          </p:cNvSpPr>
          <p:nvPr/>
        </p:nvSpPr>
        <p:spPr bwMode="auto">
          <a:xfrm>
            <a:off x="1676400" y="3810000"/>
            <a:ext cx="1219200" cy="1066800"/>
          </a:xfrm>
          <a:prstGeom prst="line">
            <a:avLst/>
          </a:prstGeom>
          <a:noFill/>
          <a:ln w="38100">
            <a:solidFill>
              <a:srgbClr val="220076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3" name="Line 41"/>
          <p:cNvSpPr>
            <a:spLocks noChangeShapeType="1"/>
          </p:cNvSpPr>
          <p:nvPr/>
        </p:nvSpPr>
        <p:spPr bwMode="auto">
          <a:xfrm>
            <a:off x="6477000" y="1828800"/>
            <a:ext cx="1143000" cy="1371600"/>
          </a:xfrm>
          <a:prstGeom prst="line">
            <a:avLst/>
          </a:prstGeom>
          <a:noFill/>
          <a:ln w="38100">
            <a:solidFill>
              <a:srgbClr val="220076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4" name="Line 42"/>
          <p:cNvSpPr>
            <a:spLocks noChangeShapeType="1"/>
          </p:cNvSpPr>
          <p:nvPr/>
        </p:nvSpPr>
        <p:spPr bwMode="auto">
          <a:xfrm>
            <a:off x="6477000" y="2590800"/>
            <a:ext cx="1143000" cy="838200"/>
          </a:xfrm>
          <a:prstGeom prst="line">
            <a:avLst/>
          </a:prstGeom>
          <a:noFill/>
          <a:ln w="38100">
            <a:solidFill>
              <a:srgbClr val="220076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5" name="Line 43"/>
          <p:cNvSpPr>
            <a:spLocks noChangeShapeType="1"/>
          </p:cNvSpPr>
          <p:nvPr/>
        </p:nvSpPr>
        <p:spPr bwMode="auto">
          <a:xfrm>
            <a:off x="6477000" y="3352800"/>
            <a:ext cx="1143000" cy="228600"/>
          </a:xfrm>
          <a:prstGeom prst="line">
            <a:avLst/>
          </a:prstGeom>
          <a:noFill/>
          <a:ln w="38100">
            <a:solidFill>
              <a:srgbClr val="220076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6" name="Line 44"/>
          <p:cNvSpPr>
            <a:spLocks noChangeShapeType="1"/>
          </p:cNvSpPr>
          <p:nvPr/>
        </p:nvSpPr>
        <p:spPr bwMode="auto">
          <a:xfrm flipV="1">
            <a:off x="6477000" y="3733800"/>
            <a:ext cx="1143000" cy="381000"/>
          </a:xfrm>
          <a:prstGeom prst="line">
            <a:avLst/>
          </a:prstGeom>
          <a:noFill/>
          <a:ln w="38100">
            <a:solidFill>
              <a:srgbClr val="220076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7" name="Line 45"/>
          <p:cNvSpPr>
            <a:spLocks noChangeShapeType="1"/>
          </p:cNvSpPr>
          <p:nvPr/>
        </p:nvSpPr>
        <p:spPr bwMode="auto">
          <a:xfrm flipV="1">
            <a:off x="6477000" y="3886200"/>
            <a:ext cx="1143000" cy="990600"/>
          </a:xfrm>
          <a:prstGeom prst="line">
            <a:avLst/>
          </a:prstGeom>
          <a:noFill/>
          <a:ln w="38100">
            <a:solidFill>
              <a:srgbClr val="220076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8" name="Line 46"/>
          <p:cNvSpPr>
            <a:spLocks noChangeShapeType="1"/>
          </p:cNvSpPr>
          <p:nvPr/>
        </p:nvSpPr>
        <p:spPr bwMode="auto">
          <a:xfrm flipV="1">
            <a:off x="6457950" y="4038600"/>
            <a:ext cx="1143000" cy="1600200"/>
          </a:xfrm>
          <a:prstGeom prst="line">
            <a:avLst/>
          </a:prstGeom>
          <a:noFill/>
          <a:ln w="38100">
            <a:solidFill>
              <a:srgbClr val="220076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25FB9B-1B9E-4749-93F4-9E98C12E236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Bảng ký hiệu</a:t>
            </a:r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Các giai đoạn chính của chương trình dịch</a:t>
            </a:r>
          </a:p>
        </p:txBody>
      </p:sp>
      <p:sp>
        <p:nvSpPr>
          <p:cNvPr id="144384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763000" cy="5562600"/>
          </a:xfrm>
          <a:noFill/>
        </p:spPr>
        <p:txBody>
          <a:bodyPr/>
          <a:lstStyle/>
          <a:p>
            <a:pPr marL="231775" indent="-231775" eaLnBrk="1" hangingPunct="1">
              <a:lnSpc>
                <a:spcPct val="110000"/>
              </a:lnSpc>
            </a:pP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cấu</a:t>
            </a:r>
            <a:r>
              <a:rPr lang="en-US" altLang="en-US" dirty="0"/>
              <a:t> </a:t>
            </a:r>
            <a:r>
              <a:rPr lang="en-US" altLang="en-US" dirty="0" err="1"/>
              <a:t>trúc</a:t>
            </a:r>
            <a:r>
              <a:rPr lang="en-US" altLang="en-US" dirty="0"/>
              <a:t> </a:t>
            </a:r>
            <a:r>
              <a:rPr lang="en-US" altLang="en-US" dirty="0" err="1"/>
              <a:t>dữ</a:t>
            </a:r>
            <a:r>
              <a:rPr lang="en-US" altLang="en-US" dirty="0"/>
              <a:t> </a:t>
            </a:r>
            <a:r>
              <a:rPr lang="en-US" altLang="en-US" dirty="0" err="1"/>
              <a:t>liệu</a:t>
            </a:r>
            <a:r>
              <a:rPr lang="en-US" altLang="en-US" dirty="0"/>
              <a:t> </a:t>
            </a:r>
            <a:r>
              <a:rPr lang="en-US" altLang="en-US" dirty="0" err="1"/>
              <a:t>dùng</a:t>
            </a:r>
            <a:r>
              <a:rPr lang="en-US" altLang="en-US" dirty="0"/>
              <a:t> </a:t>
            </a:r>
            <a:r>
              <a:rPr lang="en-US" altLang="en-US" dirty="0" err="1"/>
              <a:t>chứa</a:t>
            </a:r>
            <a:r>
              <a:rPr lang="en-US" altLang="en-US" dirty="0"/>
              <a:t> </a:t>
            </a:r>
            <a:r>
              <a:rPr lang="en-US" altLang="en-US" dirty="0" err="1"/>
              <a:t>tên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thuộc</a:t>
            </a:r>
            <a:r>
              <a:rPr lang="en-US" altLang="en-US" dirty="0"/>
              <a:t> </a:t>
            </a:r>
            <a:r>
              <a:rPr lang="en-US" altLang="en-US" dirty="0" err="1"/>
              <a:t>tính</a:t>
            </a:r>
            <a:r>
              <a:rPr lang="en-US" altLang="en-US" dirty="0"/>
              <a:t> </a:t>
            </a:r>
            <a:r>
              <a:rPr lang="en-US" altLang="en-US" dirty="0" err="1"/>
              <a:t>cần</a:t>
            </a:r>
            <a:r>
              <a:rPr lang="en-US" altLang="en-US" dirty="0"/>
              <a:t> </a:t>
            </a:r>
            <a:r>
              <a:rPr lang="en-US" altLang="en-US" dirty="0" err="1"/>
              <a:t>thiết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chúng</a:t>
            </a:r>
            <a:endParaRPr lang="en-US" altLang="en-US" dirty="0"/>
          </a:p>
          <a:p>
            <a:pPr marL="739775" lvl="1" indent="-274638" eaLnBrk="1" hangingPunct="1">
              <a:lnSpc>
                <a:spcPct val="110000"/>
              </a:lnSpc>
            </a:pPr>
            <a:r>
              <a:rPr lang="en-US" altLang="en-US" dirty="0" err="1"/>
              <a:t>Thuộc</a:t>
            </a:r>
            <a:r>
              <a:rPr lang="en-US" altLang="en-US" dirty="0"/>
              <a:t> </a:t>
            </a:r>
            <a:r>
              <a:rPr lang="en-US" altLang="en-US" dirty="0" err="1"/>
              <a:t>tính</a:t>
            </a:r>
            <a:r>
              <a:rPr lang="en-US" altLang="en-US" dirty="0"/>
              <a:t> </a:t>
            </a:r>
            <a:r>
              <a:rPr lang="en-US" altLang="en-US" dirty="0" err="1"/>
              <a:t>cung</a:t>
            </a:r>
            <a:r>
              <a:rPr lang="en-US" altLang="en-US" dirty="0"/>
              <a:t> </a:t>
            </a:r>
            <a:r>
              <a:rPr lang="en-US" altLang="en-US" dirty="0" err="1"/>
              <a:t>cấp</a:t>
            </a:r>
            <a:r>
              <a:rPr lang="en-US" altLang="en-US" dirty="0"/>
              <a:t> </a:t>
            </a:r>
            <a:r>
              <a:rPr lang="en-US" altLang="en-US" dirty="0" err="1"/>
              <a:t>thông</a:t>
            </a:r>
            <a:r>
              <a:rPr lang="en-US" altLang="en-US" dirty="0"/>
              <a:t> tin</a:t>
            </a:r>
          </a:p>
          <a:p>
            <a:pPr marL="1422400" lvl="2" indent="-333375" eaLnBrk="1" hangingPunct="1">
              <a:lnSpc>
                <a:spcPct val="110000"/>
              </a:lnSpc>
            </a:pPr>
            <a:r>
              <a:rPr lang="en-US" altLang="en-US" dirty="0" err="1"/>
              <a:t>Vị</a:t>
            </a:r>
            <a:r>
              <a:rPr lang="en-US" altLang="en-US" dirty="0"/>
              <a:t> </a:t>
            </a:r>
            <a:r>
              <a:rPr lang="en-US" altLang="en-US" dirty="0" err="1"/>
              <a:t>trí</a:t>
            </a:r>
            <a:r>
              <a:rPr lang="en-US" altLang="en-US" dirty="0"/>
              <a:t>, </a:t>
            </a:r>
            <a:r>
              <a:rPr lang="en-US" altLang="en-US" dirty="0" err="1"/>
              <a:t>kiểu</a:t>
            </a:r>
            <a:r>
              <a:rPr lang="en-US" altLang="en-US" dirty="0"/>
              <a:t>,  </a:t>
            </a:r>
            <a:r>
              <a:rPr lang="en-US" altLang="en-US" dirty="0" err="1"/>
              <a:t>phạm</a:t>
            </a:r>
            <a:r>
              <a:rPr lang="en-US" altLang="en-US" dirty="0"/>
              <a:t> </a:t>
            </a:r>
            <a:r>
              <a:rPr lang="en-US" altLang="en-US" dirty="0" err="1"/>
              <a:t>vị</a:t>
            </a:r>
            <a:r>
              <a:rPr lang="en-US" altLang="en-US" dirty="0"/>
              <a:t> </a:t>
            </a:r>
            <a:r>
              <a:rPr lang="en-US" altLang="en-US" dirty="0" err="1"/>
              <a:t>hoạt</a:t>
            </a:r>
            <a:r>
              <a:rPr lang="en-US" altLang="en-US" dirty="0"/>
              <a:t> </a:t>
            </a:r>
            <a:r>
              <a:rPr lang="en-US" altLang="en-US" dirty="0" err="1"/>
              <a:t>động</a:t>
            </a:r>
            <a:r>
              <a:rPr lang="en-US" altLang="en-US" dirty="0"/>
              <a:t>…</a:t>
            </a:r>
          </a:p>
          <a:p>
            <a:pPr marL="1944688" lvl="3" indent="-290513" eaLnBrk="1" hangingPunct="1">
              <a:lnSpc>
                <a:spcPct val="110000"/>
              </a:lnSpc>
            </a:pPr>
            <a:r>
              <a:rPr lang="en-US" altLang="en-US" dirty="0" err="1"/>
              <a:t>Nếu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tên</a:t>
            </a:r>
            <a:r>
              <a:rPr lang="en-US" altLang="en-US" dirty="0"/>
              <a:t> </a:t>
            </a:r>
            <a:r>
              <a:rPr lang="en-US" altLang="en-US" dirty="0" err="1"/>
              <a:t>chương</a:t>
            </a:r>
            <a:r>
              <a:rPr lang="en-US" altLang="en-US" dirty="0"/>
              <a:t> </a:t>
            </a:r>
            <a:r>
              <a:rPr lang="en-US" altLang="en-US" dirty="0" err="1"/>
              <a:t>trình</a:t>
            </a:r>
            <a:r>
              <a:rPr lang="en-US" altLang="en-US" dirty="0"/>
              <a:t> con: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tham</a:t>
            </a:r>
            <a:r>
              <a:rPr lang="en-US" altLang="en-US" dirty="0"/>
              <a:t> </a:t>
            </a:r>
            <a:r>
              <a:rPr lang="en-US" altLang="en-US" dirty="0" err="1"/>
              <a:t>số</a:t>
            </a:r>
            <a:r>
              <a:rPr lang="en-US" altLang="en-US" dirty="0"/>
              <a:t>, </a:t>
            </a:r>
            <a:r>
              <a:rPr lang="en-US" altLang="en-US" dirty="0" err="1"/>
              <a:t>kiểu</a:t>
            </a:r>
            <a:r>
              <a:rPr lang="en-US" altLang="en-US" dirty="0"/>
              <a:t> </a:t>
            </a:r>
            <a:r>
              <a:rPr lang="en-US" altLang="en-US" dirty="0" err="1"/>
              <a:t>trả</a:t>
            </a:r>
            <a:r>
              <a:rPr lang="en-US" altLang="en-US" dirty="0"/>
              <a:t> </a:t>
            </a:r>
            <a:r>
              <a:rPr lang="en-US" altLang="en-US" dirty="0" err="1"/>
              <a:t>về</a:t>
            </a:r>
            <a:endParaRPr lang="en-US" altLang="en-US" dirty="0"/>
          </a:p>
          <a:p>
            <a:pPr marL="739775" lvl="1" indent="-274638" eaLnBrk="1" hangingPunct="1">
              <a:lnSpc>
                <a:spcPct val="110000"/>
              </a:lnSpc>
            </a:pPr>
            <a:r>
              <a:rPr lang="en-US" altLang="en-US" dirty="0" err="1"/>
              <a:t>Tên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xác</a:t>
            </a:r>
            <a:r>
              <a:rPr lang="en-US" altLang="en-US" dirty="0"/>
              <a:t> </a:t>
            </a:r>
            <a:r>
              <a:rPr lang="en-US" altLang="en-US" dirty="0" err="1"/>
              <a:t>định</a:t>
            </a:r>
            <a:r>
              <a:rPr lang="en-US" altLang="en-US" dirty="0"/>
              <a:t> </a:t>
            </a:r>
            <a:r>
              <a:rPr lang="en-US" altLang="en-US" dirty="0" err="1"/>
              <a:t>bởi</a:t>
            </a:r>
            <a:r>
              <a:rPr lang="en-US" altLang="en-US" dirty="0"/>
              <a:t> </a:t>
            </a:r>
            <a:r>
              <a:rPr lang="en-US" altLang="en-US" dirty="0" err="1"/>
              <a:t>bộ</a:t>
            </a:r>
            <a:r>
              <a:rPr lang="en-US" altLang="en-US" dirty="0"/>
              <a:t> </a:t>
            </a:r>
            <a:r>
              <a:rPr lang="en-US" altLang="en-US" dirty="0" err="1"/>
              <a:t>phân</a:t>
            </a:r>
            <a:r>
              <a:rPr lang="en-US" altLang="en-US" dirty="0"/>
              <a:t> </a:t>
            </a:r>
            <a:r>
              <a:rPr lang="en-US" altLang="en-US" dirty="0" err="1"/>
              <a:t>tích</a:t>
            </a:r>
            <a:r>
              <a:rPr lang="en-US" altLang="en-US" dirty="0"/>
              <a:t> </a:t>
            </a:r>
            <a:r>
              <a:rPr lang="en-US" altLang="en-US" dirty="0" err="1"/>
              <a:t>từ</a:t>
            </a:r>
            <a:r>
              <a:rPr lang="en-US" altLang="en-US" dirty="0"/>
              <a:t> </a:t>
            </a:r>
            <a:r>
              <a:rPr lang="en-US" altLang="en-US" dirty="0" err="1"/>
              <a:t>vựng</a:t>
            </a:r>
            <a:endParaRPr lang="en-US" altLang="en-US" dirty="0"/>
          </a:p>
          <a:p>
            <a:pPr marL="231775" indent="-231775" eaLnBrk="1" hangingPunct="1">
              <a:lnSpc>
                <a:spcPct val="110000"/>
              </a:lnSpc>
            </a:pPr>
            <a:r>
              <a:rPr lang="en-US" altLang="en-US" dirty="0"/>
              <a:t>Khi </a:t>
            </a:r>
            <a:r>
              <a:rPr lang="en-US" altLang="en-US" dirty="0" err="1"/>
              <a:t>chỉ</a:t>
            </a:r>
            <a:r>
              <a:rPr lang="en-US" altLang="en-US" dirty="0"/>
              <a:t> </a:t>
            </a:r>
            <a:r>
              <a:rPr lang="en-US" altLang="en-US" dirty="0" err="1"/>
              <a:t>ra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tên</a:t>
            </a:r>
            <a:r>
              <a:rPr lang="en-US" altLang="en-US" dirty="0"/>
              <a:t>, </a:t>
            </a:r>
            <a:r>
              <a:rPr lang="en-US" altLang="en-US" dirty="0" err="1"/>
              <a:t>tùy</a:t>
            </a:r>
            <a:r>
              <a:rPr lang="en-US" altLang="en-US" dirty="0"/>
              <a:t> </a:t>
            </a:r>
            <a:r>
              <a:rPr lang="en-US" altLang="en-US" dirty="0" err="1"/>
              <a:t>thuộc</a:t>
            </a:r>
            <a:r>
              <a:rPr lang="en-US" altLang="en-US" dirty="0"/>
              <a:t> </a:t>
            </a:r>
            <a:r>
              <a:rPr lang="en-US" altLang="en-US" dirty="0" err="1"/>
              <a:t>vào</a:t>
            </a:r>
            <a:r>
              <a:rPr lang="en-US" altLang="en-US" dirty="0"/>
              <a:t> </a:t>
            </a:r>
            <a:r>
              <a:rPr lang="en-US" altLang="en-US" dirty="0" err="1"/>
              <a:t>vị</a:t>
            </a:r>
            <a:r>
              <a:rPr lang="en-US" altLang="en-US" dirty="0"/>
              <a:t> </a:t>
            </a:r>
            <a:r>
              <a:rPr lang="en-US" altLang="en-US" dirty="0" err="1"/>
              <a:t>trí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tên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chương</a:t>
            </a:r>
            <a:r>
              <a:rPr lang="en-US" altLang="en-US" dirty="0"/>
              <a:t> </a:t>
            </a:r>
            <a:r>
              <a:rPr lang="en-US" altLang="en-US" dirty="0" err="1"/>
              <a:t>trình</a:t>
            </a:r>
            <a:endParaRPr lang="en-US" altLang="en-US" dirty="0"/>
          </a:p>
          <a:p>
            <a:pPr marL="739775" lvl="1" indent="-274638" eaLnBrk="1" hangingPunct="1">
              <a:lnSpc>
                <a:spcPct val="110000"/>
              </a:lnSpc>
            </a:pPr>
            <a:r>
              <a:rPr lang="en-US" altLang="en-US" dirty="0" err="1"/>
              <a:t>Đưa</a:t>
            </a:r>
            <a:r>
              <a:rPr lang="en-US" altLang="en-US" dirty="0"/>
              <a:t> </a:t>
            </a:r>
            <a:r>
              <a:rPr lang="en-US" altLang="en-US" dirty="0" err="1"/>
              <a:t>tên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thuộc</a:t>
            </a:r>
            <a:r>
              <a:rPr lang="en-US" altLang="en-US" dirty="0"/>
              <a:t> </a:t>
            </a:r>
            <a:r>
              <a:rPr lang="en-US" altLang="en-US" dirty="0" err="1"/>
              <a:t>tính</a:t>
            </a:r>
            <a:r>
              <a:rPr lang="en-US" altLang="en-US" dirty="0"/>
              <a:t> </a:t>
            </a:r>
            <a:r>
              <a:rPr lang="en-US" altLang="en-US" dirty="0" err="1"/>
              <a:t>vào</a:t>
            </a:r>
            <a:r>
              <a:rPr lang="en-US" altLang="en-US" dirty="0"/>
              <a:t> </a:t>
            </a:r>
            <a:r>
              <a:rPr lang="en-US" altLang="en-US" dirty="0" err="1"/>
              <a:t>bảng</a:t>
            </a:r>
            <a:r>
              <a:rPr lang="en-US" altLang="en-US" dirty="0"/>
              <a:t> </a:t>
            </a:r>
            <a:r>
              <a:rPr lang="en-US" altLang="en-US" dirty="0" err="1"/>
              <a:t>ký</a:t>
            </a:r>
            <a:r>
              <a:rPr lang="en-US" altLang="en-US" dirty="0"/>
              <a:t> </a:t>
            </a:r>
            <a:r>
              <a:rPr lang="en-US" altLang="en-US" dirty="0" err="1"/>
              <a:t>hiệu</a:t>
            </a:r>
            <a:endParaRPr lang="en-US" altLang="en-US" dirty="0"/>
          </a:p>
          <a:p>
            <a:pPr marL="739775" lvl="1" indent="-274638" eaLnBrk="1" hangingPunct="1">
              <a:lnSpc>
                <a:spcPct val="110000"/>
              </a:lnSpc>
            </a:pPr>
            <a:r>
              <a:rPr lang="en-US" altLang="en-US" dirty="0" err="1"/>
              <a:t>Lấy</a:t>
            </a:r>
            <a:r>
              <a:rPr lang="en-US" altLang="en-US" dirty="0"/>
              <a:t> </a:t>
            </a:r>
            <a:r>
              <a:rPr lang="en-US" altLang="en-US" dirty="0" err="1"/>
              <a:t>thông</a:t>
            </a:r>
            <a:r>
              <a:rPr lang="en-US" altLang="en-US" dirty="0"/>
              <a:t> tin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tên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bảng</a:t>
            </a:r>
            <a:r>
              <a:rPr lang="en-US" altLang="en-US" dirty="0"/>
              <a:t> </a:t>
            </a:r>
            <a:r>
              <a:rPr lang="en-US" altLang="en-US" dirty="0" err="1"/>
              <a:t>ký</a:t>
            </a:r>
            <a:r>
              <a:rPr lang="en-US" altLang="en-US" dirty="0"/>
              <a:t> </a:t>
            </a:r>
            <a:r>
              <a:rPr lang="en-US" altLang="en-US" dirty="0" err="1"/>
              <a:t>hiệu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438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438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438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1740FE-20B4-4A60-B06B-06C454304957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Bảng ký hiệu</a:t>
            </a:r>
            <a:r>
              <a:rPr lang="en-US" altLang="en-US" sz="2800">
                <a:sym typeface="Symbol" panose="05050102010706020507" pitchFamily="18" charset="2"/>
              </a:rPr>
              <a:t>Ví dụ</a:t>
            </a:r>
          </a:p>
        </p:txBody>
      </p:sp>
      <p:sp>
        <p:nvSpPr>
          <p:cNvPr id="1449988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5943600"/>
            <a:ext cx="8001000" cy="609600"/>
          </a:xfrm>
          <a:noFill/>
        </p:spPr>
        <p:txBody>
          <a:bodyPr/>
          <a:lstStyle/>
          <a:p>
            <a:pPr marL="231775" indent="-231775" eaLnBrk="1" hangingPunct="1">
              <a:buFontTx/>
              <a:buNone/>
            </a:pPr>
            <a:r>
              <a:rPr lang="en-US" altLang="en-US"/>
              <a:t>  pos =  init + 10 * size; </a:t>
            </a:r>
          </a:p>
        </p:txBody>
      </p:sp>
      <p:sp>
        <p:nvSpPr>
          <p:cNvPr id="34821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Các giai đoạn chính của chương trình dịch</a:t>
            </a:r>
          </a:p>
        </p:txBody>
      </p:sp>
      <p:sp>
        <p:nvSpPr>
          <p:cNvPr id="34822" name="Rectangle 5"/>
          <p:cNvSpPr>
            <a:spLocks noChangeArrowheads="1"/>
          </p:cNvSpPr>
          <p:nvPr/>
        </p:nvSpPr>
        <p:spPr bwMode="auto">
          <a:xfrm>
            <a:off x="304800" y="1066800"/>
            <a:ext cx="8686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31775" indent="-231775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39775" indent="-274638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422400" indent="-333375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81238" indent="-3810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76538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2337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909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1481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6053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b="0"/>
              <a:t>float pos, init, size; </a:t>
            </a:r>
            <a:r>
              <a:rPr lang="en-US" altLang="en-US" b="0" i="1">
                <a:solidFill>
                  <a:schemeClr val="bg2"/>
                </a:solidFill>
              </a:rPr>
              <a:t>//var pos, init, size: real</a:t>
            </a:r>
          </a:p>
        </p:txBody>
      </p:sp>
      <p:graphicFrame>
        <p:nvGraphicFramePr>
          <p:cNvPr id="1450187" name="Group 203"/>
          <p:cNvGraphicFramePr>
            <a:graphicFrameLocks noGrp="1"/>
          </p:cNvGraphicFramePr>
          <p:nvPr>
            <p:ph sz="half" idx="2"/>
          </p:nvPr>
        </p:nvGraphicFramePr>
        <p:xfrm>
          <a:off x="4800600" y="1905000"/>
          <a:ext cx="4191000" cy="3627435"/>
        </p:xfrm>
        <a:graphic>
          <a:graphicData uri="http://schemas.openxmlformats.org/drawingml/2006/table">
            <a:tbl>
              <a:tblPr/>
              <a:tblGrid>
                <a:gridCol w="79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5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2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Tên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EAE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Kiểu</a:t>
                      </a:r>
                    </a:p>
                  </a:txBody>
                  <a:tcPr marT="45724" marB="45724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EAE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Loại</a:t>
                      </a:r>
                    </a:p>
                  </a:txBody>
                  <a:tcPr marT="45724" marB="45724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….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2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….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2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Bảng ký hiệu</a:t>
                      </a:r>
                    </a:p>
                  </a:txBody>
                  <a:tcPr marT="45724" marB="45724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450186" name="Group 202"/>
          <p:cNvGraphicFramePr>
            <a:graphicFrameLocks noGrp="1"/>
          </p:cNvGraphicFramePr>
          <p:nvPr/>
        </p:nvGraphicFramePr>
        <p:xfrm>
          <a:off x="4800600" y="1905000"/>
          <a:ext cx="4191000" cy="3627435"/>
        </p:xfrm>
        <a:graphic>
          <a:graphicData uri="http://schemas.openxmlformats.org/drawingml/2006/table">
            <a:tbl>
              <a:tblPr/>
              <a:tblGrid>
                <a:gridCol w="79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5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2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Tên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EAE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Kiểu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EAE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Loại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….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Arial" panose="020B0604020202020204" pitchFamily="34" charset="0"/>
                        </a:rPr>
                        <a:t>Id3</a:t>
                      </a:r>
                    </a:p>
                  </a:txBody>
                  <a:tcPr marT="45724" marB="45724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size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real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var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Arial" panose="020B0604020202020204" pitchFamily="34" charset="0"/>
                        </a:rPr>
                        <a:t>Id2</a:t>
                      </a:r>
                    </a:p>
                  </a:txBody>
                  <a:tcPr marT="45724" marB="45724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init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real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var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Arial" panose="020B0604020202020204" pitchFamily="34" charset="0"/>
                        </a:rPr>
                        <a:t>Id1</a:t>
                      </a:r>
                    </a:p>
                  </a:txBody>
                  <a:tcPr marT="45724" marB="45724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pos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real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var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2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….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2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T="45724" marB="45724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450181" name="Group 197"/>
          <p:cNvGrpSpPr>
            <a:grpSpLocks/>
          </p:cNvGrpSpPr>
          <p:nvPr/>
        </p:nvGrpSpPr>
        <p:grpSpPr bwMode="auto">
          <a:xfrm>
            <a:off x="1524000" y="1524000"/>
            <a:ext cx="4038600" cy="2667000"/>
            <a:chOff x="960" y="960"/>
            <a:chExt cx="2544" cy="1680"/>
          </a:xfrm>
        </p:grpSpPr>
        <p:sp>
          <p:nvSpPr>
            <p:cNvPr id="34909" name="Freeform 193"/>
            <p:cNvSpPr>
              <a:spLocks/>
            </p:cNvSpPr>
            <p:nvPr/>
          </p:nvSpPr>
          <p:spPr bwMode="auto">
            <a:xfrm>
              <a:off x="2136" y="960"/>
              <a:ext cx="1368" cy="1056"/>
            </a:xfrm>
            <a:custGeom>
              <a:avLst/>
              <a:gdLst>
                <a:gd name="T0" fmla="*/ 72 w 1368"/>
                <a:gd name="T1" fmla="*/ 0 h 1056"/>
                <a:gd name="T2" fmla="*/ 216 w 1368"/>
                <a:gd name="T3" fmla="*/ 672 h 1056"/>
                <a:gd name="T4" fmla="*/ 1368 w 1368"/>
                <a:gd name="T5" fmla="*/ 1056 h 10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68" h="1056">
                  <a:moveTo>
                    <a:pt x="72" y="0"/>
                  </a:moveTo>
                  <a:cubicBezTo>
                    <a:pt x="36" y="248"/>
                    <a:pt x="0" y="496"/>
                    <a:pt x="216" y="672"/>
                  </a:cubicBezTo>
                  <a:cubicBezTo>
                    <a:pt x="432" y="848"/>
                    <a:pt x="900" y="952"/>
                    <a:pt x="1368" y="1056"/>
                  </a:cubicBezTo>
                </a:path>
              </a:pathLst>
            </a:custGeom>
            <a:noFill/>
            <a:ln w="38100" cap="flat" cmpd="sng">
              <a:solidFill>
                <a:srgbClr val="220076"/>
              </a:solidFill>
              <a:prstDash val="sysDot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0" name="Freeform 195"/>
            <p:cNvSpPr>
              <a:spLocks/>
            </p:cNvSpPr>
            <p:nvPr/>
          </p:nvSpPr>
          <p:spPr bwMode="auto">
            <a:xfrm>
              <a:off x="1632" y="960"/>
              <a:ext cx="1872" cy="1344"/>
            </a:xfrm>
            <a:custGeom>
              <a:avLst/>
              <a:gdLst>
                <a:gd name="T0" fmla="*/ 0 w 1872"/>
                <a:gd name="T1" fmla="*/ 0 h 1344"/>
                <a:gd name="T2" fmla="*/ 384 w 1872"/>
                <a:gd name="T3" fmla="*/ 864 h 1344"/>
                <a:gd name="T4" fmla="*/ 1872 w 1872"/>
                <a:gd name="T5" fmla="*/ 1344 h 13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72" h="1344">
                  <a:moveTo>
                    <a:pt x="0" y="0"/>
                  </a:moveTo>
                  <a:cubicBezTo>
                    <a:pt x="36" y="320"/>
                    <a:pt x="72" y="640"/>
                    <a:pt x="384" y="864"/>
                  </a:cubicBezTo>
                  <a:cubicBezTo>
                    <a:pt x="696" y="1088"/>
                    <a:pt x="1284" y="1216"/>
                    <a:pt x="1872" y="1344"/>
                  </a:cubicBezTo>
                </a:path>
              </a:pathLst>
            </a:custGeom>
            <a:noFill/>
            <a:ln w="38100" cap="flat" cmpd="sng">
              <a:solidFill>
                <a:srgbClr val="220076"/>
              </a:solidFill>
              <a:prstDash val="sysDot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11" name="Freeform 196"/>
            <p:cNvSpPr>
              <a:spLocks/>
            </p:cNvSpPr>
            <p:nvPr/>
          </p:nvSpPr>
          <p:spPr bwMode="auto">
            <a:xfrm>
              <a:off x="960" y="960"/>
              <a:ext cx="2544" cy="1680"/>
            </a:xfrm>
            <a:custGeom>
              <a:avLst/>
              <a:gdLst>
                <a:gd name="T0" fmla="*/ 0 w 2544"/>
                <a:gd name="T1" fmla="*/ 0 h 1680"/>
                <a:gd name="T2" fmla="*/ 720 w 2544"/>
                <a:gd name="T3" fmla="*/ 1152 h 1680"/>
                <a:gd name="T4" fmla="*/ 2544 w 2544"/>
                <a:gd name="T5" fmla="*/ 1680 h 16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44" h="1680">
                  <a:moveTo>
                    <a:pt x="0" y="0"/>
                  </a:moveTo>
                  <a:cubicBezTo>
                    <a:pt x="148" y="436"/>
                    <a:pt x="296" y="872"/>
                    <a:pt x="720" y="1152"/>
                  </a:cubicBezTo>
                  <a:cubicBezTo>
                    <a:pt x="1144" y="1432"/>
                    <a:pt x="1844" y="1556"/>
                    <a:pt x="2544" y="1680"/>
                  </a:cubicBezTo>
                </a:path>
              </a:pathLst>
            </a:custGeom>
            <a:noFill/>
            <a:ln w="38100" cap="flat" cmpd="sng">
              <a:solidFill>
                <a:srgbClr val="220076"/>
              </a:solidFill>
              <a:prstDash val="sysDot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50185" name="Group 201"/>
          <p:cNvGrpSpPr>
            <a:grpSpLocks/>
          </p:cNvGrpSpPr>
          <p:nvPr/>
        </p:nvGrpSpPr>
        <p:grpSpPr bwMode="auto">
          <a:xfrm>
            <a:off x="1295400" y="3200400"/>
            <a:ext cx="4267200" cy="2895600"/>
            <a:chOff x="816" y="2016"/>
            <a:chExt cx="2688" cy="1824"/>
          </a:xfrm>
        </p:grpSpPr>
        <p:sp>
          <p:nvSpPr>
            <p:cNvPr id="34906" name="Freeform 198"/>
            <p:cNvSpPr>
              <a:spLocks/>
            </p:cNvSpPr>
            <p:nvPr/>
          </p:nvSpPr>
          <p:spPr bwMode="auto">
            <a:xfrm>
              <a:off x="816" y="2688"/>
              <a:ext cx="2688" cy="1152"/>
            </a:xfrm>
            <a:custGeom>
              <a:avLst/>
              <a:gdLst>
                <a:gd name="T0" fmla="*/ 2688 w 2688"/>
                <a:gd name="T1" fmla="*/ 0 h 1152"/>
                <a:gd name="T2" fmla="*/ 576 w 2688"/>
                <a:gd name="T3" fmla="*/ 384 h 1152"/>
                <a:gd name="T4" fmla="*/ 0 w 2688"/>
                <a:gd name="T5" fmla="*/ 1152 h 11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88" h="1152">
                  <a:moveTo>
                    <a:pt x="2688" y="0"/>
                  </a:moveTo>
                  <a:cubicBezTo>
                    <a:pt x="1856" y="96"/>
                    <a:pt x="1024" y="192"/>
                    <a:pt x="576" y="384"/>
                  </a:cubicBezTo>
                  <a:cubicBezTo>
                    <a:pt x="128" y="576"/>
                    <a:pt x="64" y="864"/>
                    <a:pt x="0" y="1152"/>
                  </a:cubicBezTo>
                </a:path>
              </a:pathLst>
            </a:custGeom>
            <a:noFill/>
            <a:ln w="38100" cap="flat" cmpd="sng">
              <a:solidFill>
                <a:srgbClr val="0000CC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7" name="Freeform 199"/>
            <p:cNvSpPr>
              <a:spLocks/>
            </p:cNvSpPr>
            <p:nvPr/>
          </p:nvSpPr>
          <p:spPr bwMode="auto">
            <a:xfrm>
              <a:off x="1584" y="2352"/>
              <a:ext cx="1920" cy="1440"/>
            </a:xfrm>
            <a:custGeom>
              <a:avLst/>
              <a:gdLst>
                <a:gd name="T0" fmla="*/ 1920 w 1920"/>
                <a:gd name="T1" fmla="*/ 0 h 1440"/>
                <a:gd name="T2" fmla="*/ 384 w 1920"/>
                <a:gd name="T3" fmla="*/ 432 h 1440"/>
                <a:gd name="T4" fmla="*/ 0 w 1920"/>
                <a:gd name="T5" fmla="*/ 1440 h 14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0" h="1440">
                  <a:moveTo>
                    <a:pt x="1920" y="0"/>
                  </a:moveTo>
                  <a:cubicBezTo>
                    <a:pt x="1312" y="96"/>
                    <a:pt x="704" y="192"/>
                    <a:pt x="384" y="432"/>
                  </a:cubicBezTo>
                  <a:cubicBezTo>
                    <a:pt x="64" y="672"/>
                    <a:pt x="32" y="1056"/>
                    <a:pt x="0" y="1440"/>
                  </a:cubicBezTo>
                </a:path>
              </a:pathLst>
            </a:custGeom>
            <a:noFill/>
            <a:ln w="38100" cap="flat" cmpd="sng">
              <a:solidFill>
                <a:srgbClr val="0000CC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8" name="Freeform 200"/>
            <p:cNvSpPr>
              <a:spLocks/>
            </p:cNvSpPr>
            <p:nvPr/>
          </p:nvSpPr>
          <p:spPr bwMode="auto">
            <a:xfrm>
              <a:off x="2816" y="2016"/>
              <a:ext cx="688" cy="1728"/>
            </a:xfrm>
            <a:custGeom>
              <a:avLst/>
              <a:gdLst>
                <a:gd name="T0" fmla="*/ 688 w 688"/>
                <a:gd name="T1" fmla="*/ 0 h 1728"/>
                <a:gd name="T2" fmla="*/ 112 w 688"/>
                <a:gd name="T3" fmla="*/ 672 h 1728"/>
                <a:gd name="T4" fmla="*/ 16 w 688"/>
                <a:gd name="T5" fmla="*/ 1728 h 17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8" h="1728">
                  <a:moveTo>
                    <a:pt x="688" y="0"/>
                  </a:moveTo>
                  <a:cubicBezTo>
                    <a:pt x="456" y="192"/>
                    <a:pt x="224" y="384"/>
                    <a:pt x="112" y="672"/>
                  </a:cubicBezTo>
                  <a:cubicBezTo>
                    <a:pt x="0" y="960"/>
                    <a:pt x="8" y="1344"/>
                    <a:pt x="16" y="1728"/>
                  </a:cubicBezTo>
                </a:path>
              </a:pathLst>
            </a:custGeom>
            <a:noFill/>
            <a:ln w="38100" cap="flat" cmpd="sng">
              <a:solidFill>
                <a:srgbClr val="0000CC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50195" name="Group 211"/>
          <p:cNvGrpSpPr>
            <a:grpSpLocks/>
          </p:cNvGrpSpPr>
          <p:nvPr/>
        </p:nvGrpSpPr>
        <p:grpSpPr bwMode="auto">
          <a:xfrm>
            <a:off x="304800" y="1600200"/>
            <a:ext cx="3581400" cy="2147888"/>
            <a:chOff x="192" y="1008"/>
            <a:chExt cx="2256" cy="1353"/>
          </a:xfrm>
        </p:grpSpPr>
        <p:sp>
          <p:nvSpPr>
            <p:cNvPr id="34900" name="Text Box 204"/>
            <p:cNvSpPr txBox="1">
              <a:spLocks noChangeArrowheads="1"/>
            </p:cNvSpPr>
            <p:nvPr/>
          </p:nvSpPr>
          <p:spPr bwMode="auto">
            <a:xfrm>
              <a:off x="1344" y="2064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Tên</a:t>
              </a:r>
            </a:p>
          </p:txBody>
        </p:sp>
        <p:sp>
          <p:nvSpPr>
            <p:cNvPr id="34901" name="Text Box 205"/>
            <p:cNvSpPr txBox="1">
              <a:spLocks noChangeArrowheads="1"/>
            </p:cNvSpPr>
            <p:nvPr/>
          </p:nvSpPr>
          <p:spPr bwMode="auto">
            <a:xfrm>
              <a:off x="192" y="2073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/>
                <a:t>Kiểu</a:t>
              </a:r>
            </a:p>
          </p:txBody>
        </p:sp>
        <p:sp>
          <p:nvSpPr>
            <p:cNvPr id="34902" name="AutoShape 206"/>
            <p:cNvSpPr>
              <a:spLocks/>
            </p:cNvSpPr>
            <p:nvPr/>
          </p:nvSpPr>
          <p:spPr bwMode="auto">
            <a:xfrm rot="-5400000">
              <a:off x="432" y="768"/>
              <a:ext cx="192" cy="672"/>
            </a:xfrm>
            <a:prstGeom prst="leftBrace">
              <a:avLst>
                <a:gd name="adj1" fmla="val 291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34903" name="AutoShape 207"/>
            <p:cNvSpPr>
              <a:spLocks/>
            </p:cNvSpPr>
            <p:nvPr/>
          </p:nvSpPr>
          <p:spPr bwMode="auto">
            <a:xfrm rot="-5400000">
              <a:off x="1512" y="264"/>
              <a:ext cx="192" cy="1680"/>
            </a:xfrm>
            <a:prstGeom prst="leftBrace">
              <a:avLst>
                <a:gd name="adj1" fmla="val 7291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34904" name="Line 208"/>
            <p:cNvSpPr>
              <a:spLocks noChangeShapeType="1"/>
            </p:cNvSpPr>
            <p:nvPr/>
          </p:nvSpPr>
          <p:spPr bwMode="auto">
            <a:xfrm flipV="1">
              <a:off x="1602" y="1200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905" name="Line 209"/>
            <p:cNvSpPr>
              <a:spLocks noChangeShapeType="1"/>
            </p:cNvSpPr>
            <p:nvPr/>
          </p:nvSpPr>
          <p:spPr bwMode="auto">
            <a:xfrm flipV="1">
              <a:off x="528" y="1200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45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1450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5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6" dur="100" decel="5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49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7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49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8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49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4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9988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097488-94E8-4870-9DED-E932A1520667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Phân tích từ vựng (Lexical Analysis - Scanner)</a:t>
            </a:r>
          </a:p>
        </p:txBody>
      </p:sp>
      <p:sp>
        <p:nvSpPr>
          <p:cNvPr id="35844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Các giai đoạn chính của chương trình dịch</a:t>
            </a:r>
          </a:p>
        </p:txBody>
      </p:sp>
      <p:sp>
        <p:nvSpPr>
          <p:cNvPr id="14479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686800" cy="5697538"/>
          </a:xfrm>
          <a:noFill/>
        </p:spPr>
        <p:txBody>
          <a:bodyPr/>
          <a:lstStyle/>
          <a:p>
            <a:pPr marL="290513" indent="-290513" eaLnBrk="1" hangingPunct="1">
              <a:lnSpc>
                <a:spcPct val="110000"/>
              </a:lnSpc>
              <a:spcBef>
                <a:spcPct val="15000"/>
              </a:spcBef>
              <a:buFontTx/>
              <a:buNone/>
              <a:tabLst>
                <a:tab pos="973138" algn="l"/>
              </a:tabLst>
            </a:pP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pha</a:t>
            </a:r>
            <a:r>
              <a:rPr lang="en-US" altLang="en-US" dirty="0"/>
              <a:t> </a:t>
            </a:r>
            <a:r>
              <a:rPr lang="en-US" altLang="en-US" dirty="0" err="1"/>
              <a:t>đầu</a:t>
            </a:r>
            <a:r>
              <a:rPr lang="en-US" altLang="en-US" dirty="0"/>
              <a:t> </a:t>
            </a:r>
            <a:r>
              <a:rPr lang="en-US" altLang="en-US" dirty="0" err="1"/>
              <a:t>tiên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chương</a:t>
            </a:r>
            <a:r>
              <a:rPr lang="en-US" altLang="en-US" dirty="0"/>
              <a:t> </a:t>
            </a:r>
            <a:r>
              <a:rPr lang="en-US" altLang="en-US" dirty="0" err="1"/>
              <a:t>trình</a:t>
            </a:r>
            <a:r>
              <a:rPr lang="en-US" altLang="en-US" dirty="0"/>
              <a:t> </a:t>
            </a:r>
            <a:r>
              <a:rPr lang="en-US" altLang="en-US" dirty="0" err="1"/>
              <a:t>dịch</a:t>
            </a:r>
            <a:endParaRPr lang="en-US" altLang="en-US" dirty="0"/>
          </a:p>
          <a:p>
            <a:pPr marL="290513" indent="-290513" eaLnBrk="1" hangingPunct="1">
              <a:lnSpc>
                <a:spcPct val="110000"/>
              </a:lnSpc>
              <a:spcBef>
                <a:spcPct val="15000"/>
              </a:spcBef>
              <a:tabLst>
                <a:tab pos="973138" algn="l"/>
              </a:tabLst>
            </a:pPr>
            <a:r>
              <a:rPr lang="en-US" altLang="en-US" dirty="0"/>
              <a:t>Duyệt </a:t>
            </a:r>
            <a:r>
              <a:rPr lang="en-US" altLang="en-US" dirty="0" err="1"/>
              <a:t>từng</a:t>
            </a:r>
            <a:r>
              <a:rPr lang="en-US" altLang="en-US" dirty="0"/>
              <a:t> </a:t>
            </a:r>
            <a:r>
              <a:rPr lang="en-US" altLang="en-US" dirty="0" err="1"/>
              <a:t>ký</a:t>
            </a:r>
            <a:r>
              <a:rPr lang="en-US" altLang="en-US" dirty="0"/>
              <a:t> </a:t>
            </a:r>
            <a:r>
              <a:rPr lang="en-US" altLang="en-US" dirty="0" err="1"/>
              <a:t>tự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chương</a:t>
            </a:r>
            <a:r>
              <a:rPr lang="en-US" altLang="en-US" dirty="0"/>
              <a:t> </a:t>
            </a:r>
            <a:r>
              <a:rPr lang="en-US" altLang="en-US" dirty="0" err="1"/>
              <a:t>trình</a:t>
            </a:r>
            <a:r>
              <a:rPr lang="en-US" altLang="en-US" dirty="0"/>
              <a:t> </a:t>
            </a:r>
            <a:r>
              <a:rPr lang="en-US" altLang="en-US" dirty="0" err="1"/>
              <a:t>nguồn</a:t>
            </a:r>
            <a:endParaRPr lang="en-US" altLang="en-US" dirty="0"/>
          </a:p>
          <a:p>
            <a:pPr marL="973138" lvl="1" indent="-350838" eaLnBrk="1" hangingPunct="1">
              <a:lnSpc>
                <a:spcPct val="110000"/>
              </a:lnSpc>
              <a:spcBef>
                <a:spcPct val="15000"/>
              </a:spcBef>
              <a:tabLst>
                <a:tab pos="973138" algn="l"/>
              </a:tabLst>
            </a:pPr>
            <a:r>
              <a:rPr lang="en-US" altLang="en-US" dirty="0" err="1"/>
              <a:t>Loại</a:t>
            </a:r>
            <a:r>
              <a:rPr lang="en-US" altLang="en-US" dirty="0"/>
              <a:t> </a:t>
            </a:r>
            <a:r>
              <a:rPr lang="en-US" altLang="en-US" dirty="0" err="1"/>
              <a:t>bỏ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ký</a:t>
            </a:r>
            <a:r>
              <a:rPr lang="en-US" altLang="en-US" dirty="0"/>
              <a:t> </a:t>
            </a:r>
            <a:r>
              <a:rPr lang="en-US" altLang="en-US" dirty="0" err="1"/>
              <a:t>tự</a:t>
            </a:r>
            <a:r>
              <a:rPr lang="en-US" altLang="en-US" dirty="0"/>
              <a:t> </a:t>
            </a:r>
            <a:r>
              <a:rPr lang="en-US" altLang="en-US" dirty="0" err="1"/>
              <a:t>thừa</a:t>
            </a:r>
            <a:endParaRPr lang="en-US" altLang="en-US" dirty="0"/>
          </a:p>
          <a:p>
            <a:pPr marL="1538288" lvl="2" indent="-268288" eaLnBrk="1" hangingPunct="1">
              <a:lnSpc>
                <a:spcPct val="110000"/>
              </a:lnSpc>
              <a:spcBef>
                <a:spcPct val="15000"/>
              </a:spcBef>
              <a:tabLst>
                <a:tab pos="973138" algn="l"/>
              </a:tabLst>
            </a:pPr>
            <a:r>
              <a:rPr lang="en-US" altLang="en-US" dirty="0" err="1"/>
              <a:t>Dấu</a:t>
            </a:r>
            <a:r>
              <a:rPr lang="en-US" altLang="en-US" dirty="0"/>
              <a:t> tab, </a:t>
            </a:r>
            <a:r>
              <a:rPr lang="en-US" altLang="en-US" dirty="0" err="1"/>
              <a:t>khoảng</a:t>
            </a:r>
            <a:r>
              <a:rPr lang="en-US" altLang="en-US" dirty="0"/>
              <a:t> </a:t>
            </a:r>
            <a:r>
              <a:rPr lang="en-US" altLang="en-US" dirty="0" err="1"/>
              <a:t>trắng</a:t>
            </a:r>
            <a:r>
              <a:rPr lang="en-US" altLang="en-US" dirty="0"/>
              <a:t>, </a:t>
            </a:r>
            <a:r>
              <a:rPr lang="en-US" altLang="en-US" dirty="0" err="1"/>
              <a:t>chú</a:t>
            </a:r>
            <a:r>
              <a:rPr lang="en-US" altLang="en-US" dirty="0"/>
              <a:t> </a:t>
            </a:r>
            <a:r>
              <a:rPr lang="en-US" altLang="en-US" dirty="0" err="1"/>
              <a:t>thích</a:t>
            </a:r>
            <a:r>
              <a:rPr lang="en-US" altLang="en-US" dirty="0"/>
              <a:t>..</a:t>
            </a:r>
          </a:p>
          <a:p>
            <a:pPr marL="290513" indent="-290513" eaLnBrk="1" hangingPunct="1">
              <a:lnSpc>
                <a:spcPct val="110000"/>
              </a:lnSpc>
              <a:spcBef>
                <a:spcPct val="15000"/>
              </a:spcBef>
              <a:tabLst>
                <a:tab pos="973138" algn="l"/>
              </a:tabLst>
            </a:pPr>
            <a:r>
              <a:rPr lang="en-US" altLang="en-US" dirty="0"/>
              <a:t>Xây </a:t>
            </a:r>
            <a:r>
              <a:rPr lang="en-US" altLang="en-US" dirty="0" err="1"/>
              <a:t>dựng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từ</a:t>
            </a:r>
            <a:r>
              <a:rPr lang="en-US" altLang="en-US" dirty="0"/>
              <a:t> </a:t>
            </a:r>
            <a:r>
              <a:rPr lang="en-US" altLang="en-US" dirty="0" err="1"/>
              <a:t>vựng</a:t>
            </a:r>
            <a:r>
              <a:rPr lang="en-US" altLang="en-US" dirty="0"/>
              <a:t> </a:t>
            </a:r>
            <a:r>
              <a:rPr lang="en-US" altLang="en-US" dirty="0" err="1"/>
              <a:t>từ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ký</a:t>
            </a:r>
            <a:r>
              <a:rPr lang="en-US" altLang="en-US" dirty="0"/>
              <a:t> </a:t>
            </a:r>
            <a:r>
              <a:rPr lang="en-US" altLang="en-US" dirty="0" err="1"/>
              <a:t>tự</a:t>
            </a:r>
            <a:r>
              <a:rPr lang="en-US" altLang="en-US" dirty="0"/>
              <a:t> </a:t>
            </a:r>
            <a:r>
              <a:rPr lang="en-US" altLang="en-US" dirty="0" err="1"/>
              <a:t>đọc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endParaRPr lang="en-US" altLang="en-US" dirty="0"/>
          </a:p>
          <a:p>
            <a:pPr marL="290513" indent="-290513" eaLnBrk="1" hangingPunct="1">
              <a:lnSpc>
                <a:spcPct val="110000"/>
              </a:lnSpc>
              <a:spcBef>
                <a:spcPct val="15000"/>
              </a:spcBef>
              <a:tabLst>
                <a:tab pos="973138" algn="l"/>
              </a:tabLst>
            </a:pPr>
            <a:r>
              <a:rPr lang="en-US" altLang="en-US" dirty="0"/>
              <a:t>Nhận </a:t>
            </a:r>
            <a:r>
              <a:rPr lang="en-US" altLang="en-US" dirty="0" err="1"/>
              <a:t>dạng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i="1" dirty="0" err="1"/>
              <a:t>từ</a:t>
            </a:r>
            <a:r>
              <a:rPr lang="en-US" altLang="en-US" i="1" dirty="0"/>
              <a:t> </a:t>
            </a:r>
            <a:r>
              <a:rPr lang="en-US" altLang="en-US" i="1" dirty="0" err="1"/>
              <a:t>tố</a:t>
            </a:r>
            <a:r>
              <a:rPr lang="en-US" altLang="en-US" dirty="0"/>
              <a:t> </a:t>
            </a:r>
            <a:r>
              <a:rPr lang="en-US" altLang="en-US" dirty="0" err="1"/>
              <a:t>từ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từ</a:t>
            </a:r>
            <a:r>
              <a:rPr lang="en-US" altLang="en-US" dirty="0"/>
              <a:t> </a:t>
            </a:r>
            <a:r>
              <a:rPr lang="en-US" altLang="en-US" dirty="0" err="1"/>
              <a:t>vựng</a:t>
            </a:r>
            <a:endParaRPr lang="en-US" altLang="en-US" dirty="0"/>
          </a:p>
          <a:p>
            <a:pPr marL="973138" lvl="1" indent="-350838" eaLnBrk="1" hangingPunct="1">
              <a:lnSpc>
                <a:spcPct val="110000"/>
              </a:lnSpc>
              <a:spcBef>
                <a:spcPct val="15000"/>
              </a:spcBef>
              <a:tabLst>
                <a:tab pos="973138" algn="l"/>
              </a:tabLst>
            </a:pPr>
            <a:r>
              <a:rPr lang="en-US" altLang="en-US" b="1" dirty="0" err="1"/>
              <a:t>Từ</a:t>
            </a:r>
            <a:r>
              <a:rPr lang="en-US" altLang="en-US" b="1" dirty="0"/>
              <a:t> </a:t>
            </a:r>
            <a:r>
              <a:rPr lang="en-US" altLang="en-US" b="1" dirty="0" err="1"/>
              <a:t>tố</a:t>
            </a:r>
            <a:r>
              <a:rPr lang="en-US" altLang="en-US" b="1" dirty="0"/>
              <a:t> (</a:t>
            </a:r>
            <a:r>
              <a:rPr lang="en-US" altLang="en-US" b="1" i="1" dirty="0"/>
              <a:t>token</a:t>
            </a:r>
            <a:r>
              <a:rPr lang="en-US" altLang="en-US" b="1" dirty="0"/>
              <a:t>)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đơn</a:t>
            </a:r>
            <a:r>
              <a:rPr lang="en-US" altLang="en-US" dirty="0"/>
              <a:t> </a:t>
            </a:r>
            <a:r>
              <a:rPr lang="en-US" altLang="en-US" dirty="0" err="1"/>
              <a:t>vị</a:t>
            </a:r>
            <a:r>
              <a:rPr lang="en-US" altLang="en-US" dirty="0"/>
              <a:t> </a:t>
            </a:r>
            <a:r>
              <a:rPr lang="en-US" altLang="en-US" dirty="0" err="1"/>
              <a:t>cú</a:t>
            </a:r>
            <a:r>
              <a:rPr lang="en-US" altLang="en-US" dirty="0"/>
              <a:t> </a:t>
            </a:r>
            <a:r>
              <a:rPr lang="en-US" altLang="en-US" dirty="0" err="1"/>
              <a:t>pháp</a:t>
            </a:r>
            <a:r>
              <a:rPr lang="en-US" altLang="en-US" dirty="0"/>
              <a:t> 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xử</a:t>
            </a:r>
            <a:r>
              <a:rPr lang="en-US" altLang="en-US" dirty="0"/>
              <a:t> </a:t>
            </a:r>
            <a:r>
              <a:rPr lang="en-US" altLang="en-US" dirty="0" err="1"/>
              <a:t>lý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quá</a:t>
            </a:r>
            <a:r>
              <a:rPr lang="en-US" altLang="en-US" dirty="0"/>
              <a:t> </a:t>
            </a:r>
            <a:r>
              <a:rPr lang="en-US" altLang="en-US" dirty="0" err="1"/>
              <a:t>trình</a:t>
            </a:r>
            <a:r>
              <a:rPr lang="en-US" altLang="en-US" dirty="0"/>
              <a:t> </a:t>
            </a:r>
            <a:r>
              <a:rPr lang="en-US" altLang="en-US" dirty="0" err="1"/>
              <a:t>dịch</a:t>
            </a:r>
            <a:r>
              <a:rPr lang="en-US" altLang="en-US" dirty="0"/>
              <a:t> </a:t>
            </a:r>
            <a:r>
              <a:rPr lang="en-US" altLang="en-US" dirty="0" err="1"/>
              <a:t>như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thực</a:t>
            </a:r>
            <a:r>
              <a:rPr lang="en-US" altLang="en-US" dirty="0"/>
              <a:t> </a:t>
            </a:r>
            <a:r>
              <a:rPr lang="en-US" altLang="en-US" dirty="0" err="1"/>
              <a:t>thể</a:t>
            </a:r>
            <a:r>
              <a:rPr lang="en-US" altLang="en-US" dirty="0"/>
              <a:t> </a:t>
            </a:r>
            <a:r>
              <a:rPr lang="en-US" altLang="en-US" dirty="0" err="1"/>
              <a:t>không</a:t>
            </a:r>
            <a:r>
              <a:rPr lang="en-US" altLang="en-US" dirty="0"/>
              <a:t> </a:t>
            </a:r>
            <a:r>
              <a:rPr lang="en-US" altLang="en-US" dirty="0" err="1"/>
              <a:t>thể</a:t>
            </a:r>
            <a:r>
              <a:rPr lang="en-US" altLang="en-US" dirty="0"/>
              <a:t> chia </a:t>
            </a:r>
            <a:r>
              <a:rPr lang="en-US" altLang="en-US" dirty="0" err="1"/>
              <a:t>nhỏ</a:t>
            </a:r>
            <a:r>
              <a:rPr lang="en-US" altLang="en-US" dirty="0"/>
              <a:t> </a:t>
            </a:r>
            <a:r>
              <a:rPr lang="en-US" altLang="en-US" dirty="0" err="1"/>
              <a:t>hơn</a:t>
            </a:r>
            <a:r>
              <a:rPr lang="en-US" altLang="en-US" dirty="0"/>
              <a:t> </a:t>
            </a:r>
            <a:r>
              <a:rPr lang="en-US" altLang="en-US" dirty="0" err="1"/>
              <a:t>nữa</a:t>
            </a:r>
            <a:endParaRPr lang="en-US" altLang="en-US" dirty="0"/>
          </a:p>
          <a:p>
            <a:pPr marL="290513" indent="-290513" eaLnBrk="1" hangingPunct="1">
              <a:lnSpc>
                <a:spcPct val="110000"/>
              </a:lnSpc>
              <a:spcBef>
                <a:spcPct val="15000"/>
              </a:spcBef>
              <a:tabLst>
                <a:tab pos="973138" algn="l"/>
              </a:tabLst>
            </a:pPr>
            <a:r>
              <a:rPr lang="en-US" altLang="en-US" dirty="0"/>
              <a:t>Chuyển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từ</a:t>
            </a:r>
            <a:r>
              <a:rPr lang="en-US" altLang="en-US" dirty="0"/>
              <a:t> </a:t>
            </a:r>
            <a:r>
              <a:rPr lang="en-US" altLang="en-US" dirty="0" err="1"/>
              <a:t>tố</a:t>
            </a:r>
            <a:r>
              <a:rPr lang="en-US" altLang="en-US" dirty="0"/>
              <a:t> </a:t>
            </a:r>
            <a:r>
              <a:rPr lang="en-US" altLang="en-US" dirty="0" err="1"/>
              <a:t>cho</a:t>
            </a:r>
            <a:r>
              <a:rPr lang="en-US" altLang="en-US" dirty="0"/>
              <a:t> </a:t>
            </a:r>
            <a:r>
              <a:rPr lang="en-US" altLang="en-US" dirty="0" err="1"/>
              <a:t>pha</a:t>
            </a:r>
            <a:r>
              <a:rPr lang="en-US" altLang="en-US" dirty="0"/>
              <a:t> </a:t>
            </a:r>
            <a:r>
              <a:rPr lang="en-US" altLang="en-US" dirty="0" err="1"/>
              <a:t>tiếp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9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9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9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AC0CB8-9B4E-4DC4-BEC0-9AA819C06497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Phân tích từ vựng </a:t>
            </a:r>
            <a:r>
              <a:rPr lang="en-US" altLang="en-US" sz="2800">
                <a:sym typeface="Symbol" panose="05050102010706020507" pitchFamily="18" charset="2"/>
              </a:rPr>
              <a:t></a:t>
            </a:r>
            <a:r>
              <a:rPr lang="en-US" altLang="en-US" sz="2800"/>
              <a:t>Ví dụ</a:t>
            </a:r>
          </a:p>
        </p:txBody>
      </p:sp>
      <p:sp>
        <p:nvSpPr>
          <p:cNvPr id="36868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Các giai đoạn chính của chương trình dịch</a:t>
            </a:r>
          </a:p>
        </p:txBody>
      </p:sp>
      <p:sp>
        <p:nvSpPr>
          <p:cNvPr id="146637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27000" y="1600200"/>
            <a:ext cx="8893175" cy="4953000"/>
          </a:xfrm>
          <a:noFill/>
        </p:spPr>
        <p:txBody>
          <a:bodyPr/>
          <a:lstStyle/>
          <a:p>
            <a:pPr marL="406400" indent="-406400" eaLnBrk="1" hangingPunct="1">
              <a:lnSpc>
                <a:spcPct val="110000"/>
              </a:lnSpc>
              <a:buFontTx/>
              <a:buNone/>
              <a:tabLst>
                <a:tab pos="973138" algn="l"/>
              </a:tabLst>
            </a:pPr>
            <a:r>
              <a:rPr lang="en-US" altLang="en-US" sz="2800" dirty="0" err="1"/>
              <a:t>Bộ</a:t>
            </a:r>
            <a:r>
              <a:rPr lang="en-US" altLang="en-US" sz="2800" dirty="0"/>
              <a:t> </a:t>
            </a:r>
            <a:r>
              <a:rPr lang="en-US" altLang="en-US" sz="2800" b="1" dirty="0"/>
              <a:t>PTTV </a:t>
            </a:r>
            <a:r>
              <a:rPr lang="en-US" altLang="en-US" sz="2800" b="1" dirty="0" err="1"/>
              <a:t>thực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hiện</a:t>
            </a:r>
            <a:endParaRPr lang="en-US" altLang="en-US" sz="2800" b="1" dirty="0"/>
          </a:p>
          <a:p>
            <a:pPr marL="406400" indent="-406400" eaLnBrk="1" hangingPunct="1">
              <a:lnSpc>
                <a:spcPct val="110000"/>
              </a:lnSpc>
              <a:tabLst>
                <a:tab pos="973138" algn="l"/>
              </a:tabLst>
            </a:pPr>
            <a:r>
              <a:rPr lang="en-US" altLang="en-US" sz="2800" dirty="0" err="1"/>
              <a:t>Đọc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ký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: </a:t>
            </a:r>
            <a:r>
              <a:rPr lang="en-US" altLang="en-US" sz="2800" dirty="0" err="1"/>
              <a:t>bắt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đầu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chữ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cái</a:t>
            </a:r>
            <a:r>
              <a:rPr lang="en-US" altLang="en-US" sz="2800" dirty="0"/>
              <a:t> </a:t>
            </a:r>
            <a:r>
              <a:rPr lang="en-US" altLang="en-US" sz="2800" b="1" dirty="0">
                <a:solidFill>
                  <a:srgbClr val="DF3507"/>
                </a:solidFill>
              </a:rPr>
              <a:t>p</a:t>
            </a:r>
          </a:p>
          <a:p>
            <a:pPr marL="973138" lvl="1" indent="-350838" eaLnBrk="1" hangingPunct="1">
              <a:lnSpc>
                <a:spcPct val="110000"/>
              </a:lnSpc>
              <a:tabLst>
                <a:tab pos="973138" algn="l"/>
              </a:tabLst>
            </a:pPr>
            <a:r>
              <a:rPr lang="en-US" altLang="en-US" sz="2400" dirty="0"/>
              <a:t>Nhận </a:t>
            </a:r>
            <a:r>
              <a:rPr lang="en-US" altLang="en-US" sz="2400" dirty="0" err="1"/>
              <a:t>dạng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từ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vựng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thuộc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dạng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tên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hoặc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từ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khóa</a:t>
            </a:r>
            <a:r>
              <a:rPr lang="en-US" altLang="en-US" sz="2400" dirty="0"/>
              <a:t> (</a:t>
            </a:r>
            <a:r>
              <a:rPr lang="en-US" altLang="en-US" sz="2400" i="1" dirty="0" err="1"/>
              <a:t>vì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bắt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đầu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bởi</a:t>
            </a:r>
            <a:r>
              <a:rPr lang="en-US" altLang="en-US" sz="2400" i="1" dirty="0"/>
              <a:t> 1 </a:t>
            </a:r>
            <a:r>
              <a:rPr lang="en-US" altLang="en-US" sz="2400" i="1" dirty="0" err="1"/>
              <a:t>chữ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cái</a:t>
            </a:r>
            <a:r>
              <a:rPr lang="en-US" altLang="en-US" sz="2400" dirty="0"/>
              <a:t>)</a:t>
            </a:r>
          </a:p>
          <a:p>
            <a:pPr marL="973138" lvl="1" indent="-350838" eaLnBrk="1" hangingPunct="1">
              <a:lnSpc>
                <a:spcPct val="110000"/>
              </a:lnSpc>
              <a:tabLst>
                <a:tab pos="973138" algn="l"/>
              </a:tabLst>
            </a:pPr>
            <a:r>
              <a:rPr lang="en-US" altLang="en-US" sz="2400" dirty="0" err="1"/>
              <a:t>Đọc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tiếp</a:t>
            </a:r>
            <a:r>
              <a:rPr lang="en-US" altLang="en-US" sz="2400" dirty="0"/>
              <a:t> (</a:t>
            </a:r>
            <a:r>
              <a:rPr lang="en-US" altLang="en-US" sz="2400" b="1" dirty="0">
                <a:solidFill>
                  <a:srgbClr val="DF3507"/>
                </a:solidFill>
              </a:rPr>
              <a:t>o, s</a:t>
            </a:r>
            <a:r>
              <a:rPr lang="en-US" altLang="en-US" sz="2400" dirty="0"/>
              <a:t>) </a:t>
            </a:r>
            <a:r>
              <a:rPr lang="en-US" altLang="en-US" sz="2400" dirty="0" err="1"/>
              <a:t>tới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khi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gặp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ký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tự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khác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chữ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cái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chữ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số</a:t>
            </a:r>
            <a:r>
              <a:rPr lang="en-US" altLang="en-US" sz="2400" dirty="0"/>
              <a:t>,</a:t>
            </a:r>
            <a:endParaRPr lang="en-US" altLang="en-US" sz="2400" b="1" dirty="0">
              <a:solidFill>
                <a:srgbClr val="DF350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6400" indent="-406400" eaLnBrk="1" hangingPunct="1">
              <a:lnSpc>
                <a:spcPct val="110000"/>
              </a:lnSpc>
              <a:tabLst>
                <a:tab pos="973138" algn="l"/>
              </a:tabLst>
            </a:pPr>
            <a:r>
              <a:rPr lang="en-US" altLang="en-US" sz="2800" dirty="0"/>
              <a:t>Gặp </a:t>
            </a:r>
            <a:r>
              <a:rPr lang="en-US" altLang="en-US" sz="2800" dirty="0" err="1"/>
              <a:t>dấu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trắng</a:t>
            </a:r>
            <a:r>
              <a:rPr lang="en-US" altLang="en-US" sz="28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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xây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từ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vựng</a:t>
            </a:r>
            <a:r>
              <a:rPr lang="en-US" altLang="en-US" sz="2800" dirty="0"/>
              <a:t> </a:t>
            </a:r>
            <a:r>
              <a:rPr lang="en-US" altLang="en-US" sz="2800" b="1" dirty="0">
                <a:solidFill>
                  <a:srgbClr val="DF3507"/>
                </a:solidFill>
              </a:rPr>
              <a:t>pos</a:t>
            </a:r>
          </a:p>
          <a:p>
            <a:pPr marL="973138" lvl="1" indent="-350838" eaLnBrk="1" hangingPunct="1">
              <a:lnSpc>
                <a:spcPct val="110000"/>
              </a:lnSpc>
              <a:tabLst>
                <a:tab pos="973138" algn="l"/>
              </a:tabLst>
            </a:pPr>
            <a:r>
              <a:rPr lang="en-US" altLang="en-US" sz="2400" dirty="0"/>
              <a:t>Do </a:t>
            </a:r>
            <a:r>
              <a:rPr lang="en-US" altLang="en-US" sz="2400" i="1" dirty="0">
                <a:solidFill>
                  <a:srgbClr val="DF3507"/>
                </a:solidFill>
              </a:rPr>
              <a:t>pos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không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trùng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với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từ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khóa</a:t>
            </a:r>
            <a:r>
              <a:rPr lang="en-US" altLang="en-US" sz="2400" dirty="0"/>
              <a:t>. </a:t>
            </a:r>
            <a:r>
              <a:rPr lang="en-US" altLang="en-US" sz="2400" dirty="0" err="1"/>
              <a:t>Vậy</a:t>
            </a:r>
            <a:r>
              <a:rPr lang="en-US" altLang="en-US" sz="2400" dirty="0"/>
              <a:t> </a:t>
            </a:r>
            <a:r>
              <a:rPr lang="en-US" altLang="en-US" sz="2400" i="1" dirty="0">
                <a:solidFill>
                  <a:srgbClr val="DF3507"/>
                </a:solidFill>
              </a:rPr>
              <a:t>pos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là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tên</a:t>
            </a:r>
            <a:r>
              <a:rPr lang="en-US" altLang="en-US" sz="2400" dirty="0"/>
              <a:t> (</a:t>
            </a:r>
            <a:r>
              <a:rPr lang="en-US" altLang="en-US" sz="2400" b="1" i="1" dirty="0"/>
              <a:t>ident</a:t>
            </a:r>
            <a:r>
              <a:rPr lang="en-US" altLang="en-US" sz="2400" dirty="0"/>
              <a:t>)</a:t>
            </a:r>
          </a:p>
          <a:p>
            <a:pPr marL="973138" lvl="1" indent="-350838" eaLnBrk="1" hangingPunct="1">
              <a:lnSpc>
                <a:spcPct val="110000"/>
              </a:lnSpc>
              <a:tabLst>
                <a:tab pos="973138" algn="l"/>
              </a:tabLst>
            </a:pPr>
            <a:r>
              <a:rPr lang="en-US" altLang="en-US" sz="2400" dirty="0"/>
              <a:t>Trả </a:t>
            </a:r>
            <a:r>
              <a:rPr lang="en-US" altLang="en-US" sz="2400" dirty="0" err="1"/>
              <a:t>lại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cho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bộ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phân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tích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cú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pháp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từ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tố</a:t>
            </a:r>
            <a:r>
              <a:rPr lang="en-US" altLang="en-US" sz="2400" dirty="0"/>
              <a:t> </a:t>
            </a:r>
            <a:r>
              <a:rPr lang="en-US" altLang="en-US" sz="2400" b="1" i="1" dirty="0"/>
              <a:t>ident</a:t>
            </a:r>
          </a:p>
          <a:p>
            <a:pPr marL="406400" indent="-406400" eaLnBrk="1" hangingPunct="1">
              <a:lnSpc>
                <a:spcPct val="110000"/>
              </a:lnSpc>
              <a:tabLst>
                <a:tab pos="973138" algn="l"/>
              </a:tabLst>
            </a:pPr>
            <a:r>
              <a:rPr lang="en-US" altLang="en-US" sz="2800" dirty="0" err="1"/>
              <a:t>Đọc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tiếp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dấu</a:t>
            </a:r>
            <a:r>
              <a:rPr lang="en-US" altLang="en-US" sz="2800" dirty="0"/>
              <a:t> </a:t>
            </a:r>
            <a:r>
              <a:rPr lang="en-US" altLang="en-US" sz="2800" b="1" dirty="0">
                <a:solidFill>
                  <a:srgbClr val="DF3507"/>
                </a:solidFill>
              </a:rPr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rồi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dấu</a:t>
            </a:r>
            <a:r>
              <a:rPr lang="en-US" altLang="en-US" sz="2800" dirty="0"/>
              <a:t> </a:t>
            </a:r>
            <a:r>
              <a:rPr lang="en-US" altLang="en-US" sz="2800" b="1" dirty="0">
                <a:solidFill>
                  <a:srgbClr val="DF3507"/>
                </a:solidFill>
              </a:rPr>
              <a:t>=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dấu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cách</a:t>
            </a:r>
            <a:endParaRPr lang="en-US" altLang="en-US" sz="2800" dirty="0"/>
          </a:p>
          <a:p>
            <a:pPr marL="973138" lvl="1" indent="-350838" eaLnBrk="1" hangingPunct="1">
              <a:lnSpc>
                <a:spcPct val="110000"/>
              </a:lnSpc>
              <a:tabLst>
                <a:tab pos="973138" algn="l"/>
              </a:tabLst>
            </a:pPr>
            <a:r>
              <a:rPr lang="en-US" altLang="en-US" sz="2400" dirty="0"/>
              <a:t>Nhận </a:t>
            </a:r>
            <a:r>
              <a:rPr lang="en-US" altLang="en-US" sz="2400" dirty="0" err="1"/>
              <a:t>dạng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được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từ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vựng</a:t>
            </a:r>
            <a:r>
              <a:rPr lang="en-US" altLang="en-US" sz="2400" dirty="0"/>
              <a:t> </a:t>
            </a:r>
            <a:r>
              <a:rPr lang="en-US" altLang="en-US" sz="2400" b="1" dirty="0">
                <a:solidFill>
                  <a:srgbClr val="DF3507"/>
                </a:solidFill>
              </a:rPr>
              <a:t>:= </a:t>
            </a:r>
            <a:r>
              <a:rPr lang="en-US" altLang="en-US" sz="2400" dirty="0" err="1"/>
              <a:t>và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trả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về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từ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tố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gán</a:t>
            </a:r>
            <a:r>
              <a:rPr lang="en-US" altLang="en-US" sz="2400" dirty="0"/>
              <a:t> (</a:t>
            </a:r>
            <a:r>
              <a:rPr lang="en-US" altLang="en-US" sz="2400" b="1" i="1" dirty="0"/>
              <a:t>assign</a:t>
            </a:r>
            <a:r>
              <a:rPr lang="en-US" altLang="en-US" sz="2400" i="1" dirty="0"/>
              <a:t>)</a:t>
            </a:r>
          </a:p>
        </p:txBody>
      </p:sp>
      <p:sp>
        <p:nvSpPr>
          <p:cNvPr id="36870" name="Text Box 5"/>
          <p:cNvSpPr txBox="1">
            <a:spLocks noChangeArrowheads="1"/>
          </p:cNvSpPr>
          <p:nvPr/>
        </p:nvSpPr>
        <p:spPr bwMode="auto">
          <a:xfrm>
            <a:off x="1981200" y="914400"/>
            <a:ext cx="4953000" cy="496888"/>
          </a:xfrm>
          <a:prstGeom prst="rect">
            <a:avLst/>
          </a:prstGeom>
          <a:noFill/>
          <a:ln w="9525">
            <a:solidFill>
              <a:srgbClr val="27007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b="0"/>
              <a:t>pos := init + 10 * size;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66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66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66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466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466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3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4663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3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9" dur="500"/>
                                        <p:tgtEl>
                                          <p:spTgt spid="14663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3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2" dur="500"/>
                                        <p:tgtEl>
                                          <p:spTgt spid="14663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58F397-8078-476C-B569-A8D5AD0BA41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Phân tích từ vựng </a:t>
            </a:r>
            <a:r>
              <a:rPr lang="en-US" altLang="en-US" sz="2800">
                <a:sym typeface="Symbol" panose="05050102010706020507" pitchFamily="18" charset="2"/>
              </a:rPr>
              <a:t></a:t>
            </a:r>
            <a:r>
              <a:rPr lang="en-US" altLang="en-US" sz="2800"/>
              <a:t>Ví dụ</a:t>
            </a:r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288925" y="1447800"/>
            <a:ext cx="4130675" cy="509588"/>
          </a:xfrm>
          <a:noFill/>
        </p:spPr>
        <p:txBody>
          <a:bodyPr/>
          <a:lstStyle/>
          <a:p>
            <a:pPr marL="406400" indent="-406400" eaLnBrk="1" hangingPunct="1">
              <a:buFontTx/>
              <a:buNone/>
              <a:tabLst>
                <a:tab pos="973138" algn="l"/>
              </a:tabLst>
            </a:pPr>
            <a:r>
              <a:rPr lang="en-US" altLang="en-US" sz="2400"/>
              <a:t>Kết quả thực hiện PTTV : </a:t>
            </a:r>
          </a:p>
        </p:txBody>
      </p:sp>
      <p:sp>
        <p:nvSpPr>
          <p:cNvPr id="37893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Các giai đoạn chính của chương trình dịch</a:t>
            </a:r>
          </a:p>
        </p:txBody>
      </p:sp>
      <p:sp>
        <p:nvSpPr>
          <p:cNvPr id="37894" name="Text Box 5"/>
          <p:cNvSpPr txBox="1">
            <a:spLocks noChangeArrowheads="1"/>
          </p:cNvSpPr>
          <p:nvPr/>
        </p:nvSpPr>
        <p:spPr bwMode="auto">
          <a:xfrm>
            <a:off x="1981200" y="914400"/>
            <a:ext cx="4953000" cy="496888"/>
          </a:xfrm>
          <a:prstGeom prst="rect">
            <a:avLst/>
          </a:prstGeom>
          <a:noFill/>
          <a:ln w="9525">
            <a:solidFill>
              <a:srgbClr val="27007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b="0"/>
              <a:t>pos := init + 10 * size;</a:t>
            </a:r>
            <a:endParaRPr lang="en-US" altLang="en-US">
              <a:solidFill>
                <a:schemeClr val="tx1"/>
              </a:solidFill>
            </a:endParaRPr>
          </a:p>
        </p:txBody>
      </p:sp>
      <p:graphicFrame>
        <p:nvGraphicFramePr>
          <p:cNvPr id="1467562" name="Group 170"/>
          <p:cNvGraphicFramePr>
            <a:graphicFrameLocks noGrp="1"/>
          </p:cNvGraphicFramePr>
          <p:nvPr>
            <p:ph sz="half" idx="2"/>
          </p:nvPr>
        </p:nvGraphicFramePr>
        <p:xfrm>
          <a:off x="334963" y="1981200"/>
          <a:ext cx="8686800" cy="41148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0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Từ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vựng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Từ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tố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Ý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nghĩa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1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pos</a:t>
                      </a:r>
                      <a:endParaRPr kumimoji="0" lang="en-US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ident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Tên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8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Các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từ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tố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:  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</a:rPr>
                        <a:t>assign, ident, plus, times...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do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người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viết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CTD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tự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đặt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ra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để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dễ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dàng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mã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hóa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c/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trình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Pttv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có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thể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coi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là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giai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đoạn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số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hóa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chương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trình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nguồn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:=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assign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Phép gán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init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ident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Tên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plus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Dấu cộng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Con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số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times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Dấu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nhân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2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size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ident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Tên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semicolon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270076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Chấm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270076"/>
                          </a:solidFill>
                          <a:effectLst/>
                          <a:latin typeface="Arial" panose="020B0604020202020204" pitchFamily="34" charset="0"/>
                        </a:rPr>
                        <a:t>phẩy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27007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7949" name="Rectangle 4"/>
          <p:cNvSpPr txBox="1">
            <a:spLocks noChangeArrowheads="1"/>
          </p:cNvSpPr>
          <p:nvPr/>
        </p:nvSpPr>
        <p:spPr bwMode="auto">
          <a:xfrm>
            <a:off x="304800" y="6205538"/>
            <a:ext cx="5067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06400" indent="-406400">
              <a:spcBef>
                <a:spcPct val="20000"/>
              </a:spcBef>
              <a:buChar char="•"/>
              <a:tabLst>
                <a:tab pos="973138" algn="l"/>
              </a:tabLst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973138" algn="l"/>
              </a:tabLst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973138" algn="l"/>
              </a:tabLst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73138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73138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3138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3138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3138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3138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b="0"/>
          </a:p>
        </p:txBody>
      </p:sp>
      <p:sp>
        <p:nvSpPr>
          <p:cNvPr id="37950" name="Rectangle 4"/>
          <p:cNvSpPr txBox="1">
            <a:spLocks noChangeArrowheads="1"/>
          </p:cNvSpPr>
          <p:nvPr/>
        </p:nvSpPr>
        <p:spPr bwMode="auto">
          <a:xfrm>
            <a:off x="46038" y="6196013"/>
            <a:ext cx="9021762" cy="43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06400" indent="-406400">
              <a:spcBef>
                <a:spcPct val="20000"/>
              </a:spcBef>
              <a:buChar char="•"/>
              <a:tabLst>
                <a:tab pos="973138" algn="l"/>
              </a:tabLst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973138" algn="l"/>
              </a:tabLst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973138" algn="l"/>
              </a:tabLst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73138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73138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3138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3138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3138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73138" algn="l"/>
              </a:tabLst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/>
              <a:t>Trả về: </a:t>
            </a:r>
            <a:r>
              <a:rPr lang="en-US" altLang="en-US" sz="2400" b="0"/>
              <a:t>ident, assign, ident, plus, number, times, ident, semicolon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181461-2A5A-4889-AAA7-231ACF20D524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Phân tích cú pháp (Syntax Analysis)</a:t>
            </a:r>
          </a:p>
        </p:txBody>
      </p:sp>
      <p:sp>
        <p:nvSpPr>
          <p:cNvPr id="39940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Các giai đoạn chính của chương trình dịch</a:t>
            </a:r>
          </a:p>
        </p:txBody>
      </p:sp>
      <p:sp>
        <p:nvSpPr>
          <p:cNvPr id="144896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66700" y="990600"/>
            <a:ext cx="8572500" cy="5791200"/>
          </a:xfrm>
          <a:noFill/>
        </p:spPr>
        <p:txBody>
          <a:bodyPr/>
          <a:lstStyle/>
          <a:p>
            <a:pPr marL="406400" indent="-406400" eaLnBrk="1" hangingPunct="1">
              <a:lnSpc>
                <a:spcPct val="110000"/>
              </a:lnSpc>
            </a:pPr>
            <a:r>
              <a:rPr lang="en-US" altLang="en-US" dirty="0" err="1"/>
              <a:t>Bộ</a:t>
            </a:r>
            <a:r>
              <a:rPr lang="en-US" altLang="en-US" dirty="0"/>
              <a:t> </a:t>
            </a:r>
            <a:r>
              <a:rPr lang="en-US" altLang="en-US" dirty="0" err="1"/>
              <a:t>ptcp</a:t>
            </a:r>
            <a:r>
              <a:rPr lang="en-US" altLang="en-US" dirty="0"/>
              <a:t> </a:t>
            </a:r>
            <a:r>
              <a:rPr lang="en-US" altLang="en-US" dirty="0" err="1"/>
              <a:t>phân</a:t>
            </a:r>
            <a:r>
              <a:rPr lang="en-US" altLang="en-US" dirty="0"/>
              <a:t> </a:t>
            </a:r>
            <a:r>
              <a:rPr lang="en-US" altLang="en-US" dirty="0" err="1"/>
              <a:t>tích</a:t>
            </a:r>
            <a:r>
              <a:rPr lang="en-US" altLang="en-US" dirty="0"/>
              <a:t> </a:t>
            </a:r>
            <a:r>
              <a:rPr lang="en-US" altLang="en-US" dirty="0" err="1"/>
              <a:t>chương</a:t>
            </a:r>
            <a:r>
              <a:rPr lang="en-US" altLang="en-US" dirty="0"/>
              <a:t> </a:t>
            </a:r>
            <a:r>
              <a:rPr lang="en-US" altLang="en-US" dirty="0" err="1"/>
              <a:t>trình</a:t>
            </a:r>
            <a:r>
              <a:rPr lang="en-US" altLang="en-US" dirty="0"/>
              <a:t> </a:t>
            </a:r>
            <a:r>
              <a:rPr lang="en-US" altLang="en-US" dirty="0" err="1"/>
              <a:t>nguồn</a:t>
            </a:r>
            <a:endParaRPr lang="en-US" altLang="en-US" dirty="0"/>
          </a:p>
          <a:p>
            <a:pPr marL="798513" lvl="1" indent="-277813" eaLnBrk="1" hangingPunct="1">
              <a:lnSpc>
                <a:spcPct val="110000"/>
              </a:lnSpc>
            </a:pPr>
            <a:r>
              <a:rPr lang="en-US" altLang="en-US" dirty="0"/>
              <a:t>Dựa </a:t>
            </a:r>
            <a:r>
              <a:rPr lang="en-US" altLang="en-US" dirty="0" err="1"/>
              <a:t>vào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từ</a:t>
            </a:r>
            <a:r>
              <a:rPr lang="en-US" altLang="en-US" dirty="0"/>
              <a:t> </a:t>
            </a:r>
            <a:r>
              <a:rPr lang="en-US" altLang="en-US" dirty="0" err="1"/>
              <a:t>tố</a:t>
            </a:r>
            <a:r>
              <a:rPr lang="en-US" altLang="en-US" dirty="0"/>
              <a:t> </a:t>
            </a:r>
            <a:r>
              <a:rPr lang="en-US" altLang="en-US" dirty="0" err="1"/>
              <a:t>nhận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từ</a:t>
            </a:r>
            <a:r>
              <a:rPr lang="en-US" altLang="en-US" dirty="0"/>
              <a:t> </a:t>
            </a:r>
            <a:r>
              <a:rPr lang="en-US" altLang="en-US" dirty="0" err="1"/>
              <a:t>pha</a:t>
            </a:r>
            <a:r>
              <a:rPr lang="en-US" altLang="en-US" dirty="0"/>
              <a:t> </a:t>
            </a:r>
            <a:r>
              <a:rPr lang="en-US" altLang="en-US" dirty="0" err="1"/>
              <a:t>pttv</a:t>
            </a:r>
            <a:endParaRPr lang="en-US" altLang="en-US" dirty="0"/>
          </a:p>
          <a:p>
            <a:pPr marL="406400" indent="-406400" eaLnBrk="1" hangingPunct="1">
              <a:lnSpc>
                <a:spcPct val="110000"/>
              </a:lnSpc>
            </a:pPr>
            <a:r>
              <a:rPr lang="en-US" altLang="en-US" dirty="0" err="1"/>
              <a:t>Kiểm</a:t>
            </a:r>
            <a:r>
              <a:rPr lang="en-US" altLang="en-US" dirty="0"/>
              <a:t> </a:t>
            </a:r>
            <a:r>
              <a:rPr lang="en-US" altLang="en-US" dirty="0" err="1"/>
              <a:t>tra</a:t>
            </a:r>
            <a:r>
              <a:rPr lang="en-US" altLang="en-US" dirty="0"/>
              <a:t> </a:t>
            </a:r>
            <a:r>
              <a:rPr lang="en-US" altLang="en-US" dirty="0" err="1"/>
              <a:t>những</a:t>
            </a:r>
            <a:r>
              <a:rPr lang="en-US" altLang="en-US" dirty="0"/>
              <a:t> </a:t>
            </a:r>
            <a:r>
              <a:rPr lang="en-US" altLang="en-US" dirty="0" err="1"/>
              <a:t>từ</a:t>
            </a:r>
            <a:r>
              <a:rPr lang="en-US" altLang="en-US" dirty="0"/>
              <a:t> </a:t>
            </a:r>
            <a:r>
              <a:rPr lang="en-US" altLang="en-US" dirty="0" err="1"/>
              <a:t>tố</a:t>
            </a:r>
            <a:r>
              <a:rPr lang="en-US" altLang="en-US" dirty="0"/>
              <a:t>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tuân</a:t>
            </a:r>
            <a:r>
              <a:rPr lang="en-US" altLang="en-US" dirty="0"/>
              <a:t> </a:t>
            </a:r>
            <a:r>
              <a:rPr lang="en-US" altLang="en-US" dirty="0" err="1"/>
              <a:t>theo</a:t>
            </a:r>
            <a:r>
              <a:rPr lang="en-US" altLang="en-US" dirty="0"/>
              <a:t> </a:t>
            </a:r>
            <a:r>
              <a:rPr lang="en-US" altLang="en-US" dirty="0" err="1"/>
              <a:t>quy</a:t>
            </a:r>
            <a:r>
              <a:rPr lang="en-US" altLang="en-US" dirty="0"/>
              <a:t> </a:t>
            </a:r>
            <a:r>
              <a:rPr lang="en-US" altLang="en-US" dirty="0" err="1"/>
              <a:t>tắc</a:t>
            </a:r>
            <a:r>
              <a:rPr lang="en-US" altLang="en-US" dirty="0"/>
              <a:t> </a:t>
            </a:r>
            <a:r>
              <a:rPr lang="en-US" altLang="en-US" dirty="0" err="1"/>
              <a:t>cú</a:t>
            </a:r>
            <a:r>
              <a:rPr lang="en-US" altLang="en-US" dirty="0"/>
              <a:t> </a:t>
            </a:r>
            <a:r>
              <a:rPr lang="en-US" altLang="en-US" dirty="0" err="1"/>
              <a:t>pháp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ngôn</a:t>
            </a:r>
            <a:r>
              <a:rPr lang="en-US" altLang="en-US" dirty="0"/>
              <a:t> </a:t>
            </a:r>
            <a:r>
              <a:rPr lang="en-US" altLang="en-US" dirty="0" err="1"/>
              <a:t>ngữ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dịch</a:t>
            </a:r>
            <a:r>
              <a:rPr lang="en-US" altLang="en-US" dirty="0"/>
              <a:t> </a:t>
            </a:r>
            <a:r>
              <a:rPr lang="en-US" altLang="en-US" dirty="0" err="1"/>
              <a:t>không</a:t>
            </a:r>
            <a:endParaRPr lang="en-US" altLang="en-US" dirty="0"/>
          </a:p>
          <a:p>
            <a:pPr marL="798513" lvl="1" indent="-277813" eaLnBrk="1" hangingPunct="1">
              <a:lnSpc>
                <a:spcPct val="110000"/>
              </a:lnSpc>
            </a:pPr>
            <a:r>
              <a:rPr lang="en-US" altLang="en-US" dirty="0"/>
              <a:t>Cú </a:t>
            </a:r>
            <a:r>
              <a:rPr lang="en-US" altLang="en-US" dirty="0" err="1"/>
              <a:t>pháp</a:t>
            </a:r>
            <a:r>
              <a:rPr lang="en-US" altLang="en-US" dirty="0"/>
              <a:t> </a:t>
            </a:r>
            <a:r>
              <a:rPr lang="en-US" altLang="en-US" dirty="0" err="1"/>
              <a:t>thể</a:t>
            </a:r>
            <a:r>
              <a:rPr lang="en-US" altLang="en-US" dirty="0"/>
              <a:t> </a:t>
            </a:r>
            <a:r>
              <a:rPr lang="en-US" altLang="en-US" dirty="0" err="1"/>
              <a:t>hiện</a:t>
            </a:r>
            <a:r>
              <a:rPr lang="en-US" altLang="en-US" dirty="0"/>
              <a:t> </a:t>
            </a:r>
            <a:r>
              <a:rPr lang="en-US" altLang="en-US" dirty="0" err="1"/>
              <a:t>cấu</a:t>
            </a:r>
            <a:r>
              <a:rPr lang="en-US" altLang="en-US" dirty="0"/>
              <a:t> </a:t>
            </a:r>
            <a:r>
              <a:rPr lang="en-US" altLang="en-US" dirty="0" err="1"/>
              <a:t>trúc</a:t>
            </a:r>
            <a:r>
              <a:rPr lang="en-US" altLang="en-US" dirty="0"/>
              <a:t> </a:t>
            </a:r>
            <a:r>
              <a:rPr lang="en-US" altLang="en-US" dirty="0" err="1"/>
              <a:t>văn</a:t>
            </a:r>
            <a:r>
              <a:rPr lang="en-US" altLang="en-US" dirty="0"/>
              <a:t> </a:t>
            </a:r>
            <a:r>
              <a:rPr lang="en-US" altLang="en-US" dirty="0" err="1"/>
              <a:t>phạm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ngôn</a:t>
            </a:r>
            <a:r>
              <a:rPr lang="en-US" altLang="en-US" dirty="0"/>
              <a:t> </a:t>
            </a:r>
            <a:r>
              <a:rPr lang="en-US" altLang="en-US" dirty="0" err="1"/>
              <a:t>ngữ</a:t>
            </a:r>
            <a:r>
              <a:rPr lang="en-US" altLang="en-US" dirty="0"/>
              <a:t>,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mô</a:t>
            </a:r>
            <a:r>
              <a:rPr lang="en-US" altLang="en-US" dirty="0"/>
              <a:t> </a:t>
            </a:r>
            <a:r>
              <a:rPr lang="en-US" altLang="en-US" dirty="0" err="1"/>
              <a:t>tả</a:t>
            </a:r>
            <a:r>
              <a:rPr lang="en-US" altLang="en-US" dirty="0"/>
              <a:t> </a:t>
            </a:r>
            <a:r>
              <a:rPr lang="en-US" altLang="en-US" dirty="0" err="1"/>
              <a:t>dạng</a:t>
            </a:r>
            <a:r>
              <a:rPr lang="en-US" altLang="en-US" dirty="0"/>
              <a:t>: </a:t>
            </a:r>
            <a:r>
              <a:rPr lang="en-US" altLang="en-US" dirty="0" err="1"/>
              <a:t>đệ</a:t>
            </a:r>
            <a:r>
              <a:rPr lang="en-US" altLang="en-US" dirty="0"/>
              <a:t> </a:t>
            </a:r>
            <a:r>
              <a:rPr lang="en-US" altLang="en-US" dirty="0" err="1"/>
              <a:t>quy</a:t>
            </a:r>
            <a:r>
              <a:rPr lang="en-US" altLang="en-US" dirty="0"/>
              <a:t>, BNF, </a:t>
            </a:r>
            <a:r>
              <a:rPr lang="en-US" altLang="en-US" dirty="0" err="1"/>
              <a:t>sơ</a:t>
            </a:r>
            <a:r>
              <a:rPr lang="en-US" altLang="en-US" dirty="0"/>
              <a:t> </a:t>
            </a:r>
            <a:r>
              <a:rPr lang="en-US" altLang="en-US" dirty="0" err="1"/>
              <a:t>đồ</a:t>
            </a:r>
            <a:r>
              <a:rPr lang="en-US" altLang="en-US" dirty="0"/>
              <a:t>..</a:t>
            </a:r>
          </a:p>
          <a:p>
            <a:pPr marL="406400" indent="-406400" eaLnBrk="1" hangingPunct="1">
              <a:lnSpc>
                <a:spcPct val="110000"/>
              </a:lnSpc>
            </a:pPr>
            <a:r>
              <a:rPr lang="en-US" altLang="en-US" dirty="0" err="1"/>
              <a:t>Kết</a:t>
            </a:r>
            <a:r>
              <a:rPr lang="en-US" altLang="en-US" dirty="0"/>
              <a:t> </a:t>
            </a:r>
            <a:r>
              <a:rPr lang="en-US" altLang="en-US" dirty="0" err="1"/>
              <a:t>quả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bộ</a:t>
            </a:r>
            <a:r>
              <a:rPr lang="en-US" altLang="en-US" dirty="0"/>
              <a:t> </a:t>
            </a:r>
            <a:r>
              <a:rPr lang="en-US" altLang="en-US" dirty="0" err="1"/>
              <a:t>phân</a:t>
            </a:r>
            <a:r>
              <a:rPr lang="en-US" altLang="en-US" dirty="0"/>
              <a:t> </a:t>
            </a:r>
            <a:r>
              <a:rPr lang="en-US" altLang="en-US" dirty="0" err="1"/>
              <a:t>tích</a:t>
            </a:r>
            <a:r>
              <a:rPr lang="en-US" altLang="en-US" dirty="0"/>
              <a:t> </a:t>
            </a:r>
            <a:r>
              <a:rPr lang="en-US" altLang="en-US" dirty="0" err="1"/>
              <a:t>cú</a:t>
            </a:r>
            <a:r>
              <a:rPr lang="en-US" altLang="en-US" dirty="0"/>
              <a:t> </a:t>
            </a:r>
            <a:r>
              <a:rPr lang="en-US" altLang="en-US" dirty="0" err="1"/>
              <a:t>pháp</a:t>
            </a:r>
            <a:r>
              <a:rPr lang="en-US" altLang="en-US" dirty="0"/>
              <a:t>:</a:t>
            </a:r>
          </a:p>
          <a:p>
            <a:pPr marL="798513" lvl="1" indent="-277813" eaLnBrk="1" hangingPunct="1">
              <a:lnSpc>
                <a:spcPct val="110000"/>
              </a:lnSpc>
            </a:pPr>
            <a:r>
              <a:rPr lang="en-US" altLang="en-US" dirty="0" err="1"/>
              <a:t>Cây</a:t>
            </a:r>
            <a:r>
              <a:rPr lang="en-US" altLang="en-US" dirty="0"/>
              <a:t> </a:t>
            </a:r>
            <a:r>
              <a:rPr lang="en-US" altLang="en-US" dirty="0" err="1"/>
              <a:t>phân</a:t>
            </a:r>
            <a:r>
              <a:rPr lang="en-US" altLang="en-US" dirty="0"/>
              <a:t> </a:t>
            </a:r>
            <a:r>
              <a:rPr lang="en-US" altLang="en-US" dirty="0" err="1"/>
              <a:t>tích</a:t>
            </a:r>
            <a:r>
              <a:rPr lang="en-US" altLang="en-US" dirty="0"/>
              <a:t> </a:t>
            </a:r>
            <a:r>
              <a:rPr lang="en-US" altLang="en-US" dirty="0" err="1"/>
              <a:t>cú</a:t>
            </a:r>
            <a:r>
              <a:rPr lang="en-US" altLang="en-US" dirty="0"/>
              <a:t> </a:t>
            </a:r>
            <a:r>
              <a:rPr lang="en-US" altLang="en-US" dirty="0" err="1"/>
              <a:t>pháp</a:t>
            </a:r>
            <a:r>
              <a:rPr lang="en-US" altLang="en-US" dirty="0"/>
              <a:t> (</a:t>
            </a:r>
            <a:r>
              <a:rPr lang="en-US" altLang="en-US" i="1" dirty="0" err="1">
                <a:solidFill>
                  <a:srgbClr val="0000CC"/>
                </a:solidFill>
              </a:rPr>
              <a:t>nếu</a:t>
            </a:r>
            <a:r>
              <a:rPr lang="en-US" altLang="en-US" i="1" dirty="0">
                <a:solidFill>
                  <a:srgbClr val="0000CC"/>
                </a:solidFill>
              </a:rPr>
              <a:t> </a:t>
            </a:r>
            <a:r>
              <a:rPr lang="en-US" altLang="en-US" i="1" dirty="0" err="1">
                <a:solidFill>
                  <a:srgbClr val="0000CC"/>
                </a:solidFill>
              </a:rPr>
              <a:t>có</a:t>
            </a:r>
            <a:r>
              <a:rPr lang="en-US" altLang="en-US" dirty="0"/>
              <a:t>)</a:t>
            </a:r>
          </a:p>
          <a:p>
            <a:pPr marL="1422400" lvl="2" indent="-276225" eaLnBrk="1" hangingPunct="1">
              <a:lnSpc>
                <a:spcPct val="110000"/>
              </a:lnSpc>
            </a:pP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cây</a:t>
            </a:r>
            <a:r>
              <a:rPr lang="en-US" altLang="en-US" dirty="0"/>
              <a:t> </a:t>
            </a:r>
            <a:r>
              <a:rPr lang="en-US" altLang="en-US" dirty="0" err="1"/>
              <a:t>phân</a:t>
            </a:r>
            <a:r>
              <a:rPr lang="en-US" altLang="en-US" dirty="0"/>
              <a:t> </a:t>
            </a:r>
            <a:r>
              <a:rPr lang="en-US" altLang="en-US" dirty="0" err="1"/>
              <a:t>tích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dirty="0" err="1"/>
              <a:t>chương</a:t>
            </a:r>
            <a:r>
              <a:rPr lang="en-US" altLang="en-US" dirty="0"/>
              <a:t> </a:t>
            </a:r>
            <a:r>
              <a:rPr lang="en-US" altLang="en-US" dirty="0" err="1"/>
              <a:t>trình</a:t>
            </a:r>
            <a:r>
              <a:rPr lang="en-US" altLang="en-US" dirty="0"/>
              <a:t> </a:t>
            </a:r>
            <a:r>
              <a:rPr lang="en-US" altLang="en-US" dirty="0" err="1"/>
              <a:t>đúng</a:t>
            </a:r>
            <a:r>
              <a:rPr lang="en-US" altLang="en-US" dirty="0"/>
              <a:t> </a:t>
            </a:r>
            <a:r>
              <a:rPr lang="en-US" altLang="en-US" dirty="0" err="1"/>
              <a:t>cú</a:t>
            </a:r>
            <a:r>
              <a:rPr lang="en-US" altLang="en-US" dirty="0"/>
              <a:t> </a:t>
            </a:r>
            <a:r>
              <a:rPr lang="en-US" altLang="en-US" dirty="0" err="1"/>
              <a:t>pháp</a:t>
            </a:r>
            <a:endParaRPr lang="en-US" altLang="en-US" dirty="0"/>
          </a:p>
          <a:p>
            <a:pPr marL="798513" lvl="1" indent="-277813" eaLnBrk="1" hangingPunct="1">
              <a:lnSpc>
                <a:spcPct val="110000"/>
              </a:lnSpc>
            </a:pPr>
            <a:r>
              <a:rPr lang="en-US" altLang="en-US" dirty="0"/>
              <a:t>Thông </a:t>
            </a:r>
            <a:r>
              <a:rPr lang="en-US" altLang="en-US" dirty="0" err="1"/>
              <a:t>báo</a:t>
            </a:r>
            <a:r>
              <a:rPr lang="en-US" altLang="en-US" dirty="0"/>
              <a:t> </a:t>
            </a:r>
            <a:r>
              <a:rPr lang="en-US" altLang="en-US" dirty="0" err="1"/>
              <a:t>lỗi</a:t>
            </a:r>
            <a:r>
              <a:rPr lang="en-US" altLang="en-US" dirty="0"/>
              <a:t> </a:t>
            </a:r>
            <a:r>
              <a:rPr lang="en-US" altLang="en-US" dirty="0" err="1"/>
              <a:t>nếu</a:t>
            </a:r>
            <a:r>
              <a:rPr lang="en-US" altLang="en-US" dirty="0"/>
              <a:t> </a:t>
            </a:r>
            <a:r>
              <a:rPr lang="en-US" altLang="en-US" dirty="0" err="1"/>
              <a:t>ngược</a:t>
            </a:r>
            <a:r>
              <a:rPr lang="en-US" altLang="en-US" dirty="0"/>
              <a:t> </a:t>
            </a:r>
            <a:r>
              <a:rPr lang="en-US" altLang="en-US" dirty="0" err="1"/>
              <a:t>lại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500"/>
                                        <p:tgtEl>
                                          <p:spTgt spid="1448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500"/>
                                        <p:tgtEl>
                                          <p:spTgt spid="14489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9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489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9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489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9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489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9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489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38C58F-4329-4B78-8C46-61CF085C1A0A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Phân tích cú pháp </a:t>
            </a:r>
            <a:r>
              <a:rPr lang="en-US" altLang="en-US" sz="2800">
                <a:sym typeface="Symbol" panose="05050102010706020507" pitchFamily="18" charset="2"/>
              </a:rPr>
              <a:t>Ví dụ 1</a:t>
            </a:r>
          </a:p>
        </p:txBody>
      </p:sp>
      <p:sp>
        <p:nvSpPr>
          <p:cNvPr id="40964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Các giai đoạn chính của chương trình dịch</a:t>
            </a:r>
          </a:p>
        </p:txBody>
      </p:sp>
      <p:sp>
        <p:nvSpPr>
          <p:cNvPr id="14704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66700" y="990600"/>
            <a:ext cx="8572500" cy="5791200"/>
          </a:xfrm>
          <a:noFill/>
        </p:spPr>
        <p:txBody>
          <a:bodyPr/>
          <a:lstStyle/>
          <a:p>
            <a:pPr marL="347663" indent="-347663" eaLnBrk="1" hangingPunct="1"/>
            <a:r>
              <a:rPr lang="en-US" altLang="en-US" dirty="0"/>
              <a:t>Quy </a:t>
            </a:r>
            <a:r>
              <a:rPr lang="en-US" altLang="en-US" dirty="0" err="1"/>
              <a:t>tắc</a:t>
            </a:r>
            <a:r>
              <a:rPr lang="en-US" altLang="en-US" dirty="0"/>
              <a:t> </a:t>
            </a:r>
            <a:r>
              <a:rPr lang="en-US" altLang="en-US" dirty="0" err="1"/>
              <a:t>đinh</a:t>
            </a:r>
            <a:r>
              <a:rPr lang="en-US" altLang="en-US" dirty="0"/>
              <a:t> </a:t>
            </a:r>
            <a:r>
              <a:rPr lang="en-US" altLang="en-US" dirty="0" err="1"/>
              <a:t>nghĩa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endParaRPr lang="en-US" altLang="en-US" dirty="0"/>
          </a:p>
          <a:p>
            <a:pPr marL="1271588" lvl="1" indent="-533400" eaLnBrk="1" hangingPunct="1">
              <a:buFontTx/>
              <a:buAutoNum type="arabicPeriod"/>
            </a:pPr>
            <a:r>
              <a:rPr lang="en-US" altLang="en-US" dirty="0" err="1"/>
              <a:t>Tên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endParaRPr lang="en-US" altLang="en-US" dirty="0"/>
          </a:p>
          <a:p>
            <a:pPr marL="1271588" lvl="1" indent="-533400" eaLnBrk="1" hangingPunct="1">
              <a:buFontTx/>
              <a:buAutoNum type="arabicPeriod"/>
            </a:pPr>
            <a:r>
              <a:rPr lang="en-US" altLang="en-US" dirty="0"/>
              <a:t>Con </a:t>
            </a:r>
            <a:r>
              <a:rPr lang="en-US" altLang="en-US" dirty="0" err="1"/>
              <a:t>số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endParaRPr lang="en-US" altLang="en-US" dirty="0"/>
          </a:p>
          <a:p>
            <a:pPr marL="1271588" lvl="1" indent="-533400" eaLnBrk="1" hangingPunct="1">
              <a:buFontTx/>
              <a:buAutoNum type="arabicPeriod"/>
            </a:pPr>
            <a:r>
              <a:rPr lang="en-US" altLang="en-US" dirty="0" err="1"/>
              <a:t>Nếu</a:t>
            </a:r>
            <a:r>
              <a:rPr lang="en-US" altLang="en-US" dirty="0"/>
              <a:t> E, E</a:t>
            </a:r>
            <a:r>
              <a:rPr lang="en-US" altLang="en-US" baseline="-25000" dirty="0"/>
              <a:t>1</a:t>
            </a:r>
            <a:r>
              <a:rPr lang="en-US" altLang="en-US" dirty="0"/>
              <a:t>, E</a:t>
            </a:r>
            <a:r>
              <a:rPr lang="en-US" altLang="en-US" baseline="-25000" dirty="0"/>
              <a:t>2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r>
              <a:rPr lang="en-US" altLang="en-US" dirty="0"/>
              <a:t> </a:t>
            </a:r>
            <a:r>
              <a:rPr lang="en-US" altLang="en-US" dirty="0" err="1"/>
              <a:t>thì</a:t>
            </a:r>
            <a:r>
              <a:rPr lang="en-US" altLang="en-US" dirty="0"/>
              <a:t> </a:t>
            </a:r>
          </a:p>
          <a:p>
            <a:pPr marL="1271588" lvl="1" indent="-533400" eaLnBrk="1" hangingPunct="1">
              <a:buFontTx/>
              <a:buNone/>
            </a:pPr>
            <a:r>
              <a:rPr lang="en-US" altLang="en-US" dirty="0"/>
              <a:t>	E</a:t>
            </a:r>
            <a:r>
              <a:rPr lang="en-US" altLang="en-US" baseline="-25000" dirty="0"/>
              <a:t>1</a:t>
            </a:r>
            <a:r>
              <a:rPr lang="en-US" altLang="en-US" dirty="0"/>
              <a:t>+E</a:t>
            </a:r>
            <a:r>
              <a:rPr lang="en-US" altLang="en-US" baseline="-25000" dirty="0"/>
              <a:t>2</a:t>
            </a:r>
            <a:r>
              <a:rPr lang="en-US" altLang="en-US" dirty="0"/>
              <a:t>, E</a:t>
            </a:r>
            <a:r>
              <a:rPr lang="en-US" altLang="en-US" baseline="-25000" dirty="0"/>
              <a:t>1</a:t>
            </a:r>
            <a:r>
              <a:rPr lang="en-US" altLang="en-US" dirty="0"/>
              <a:t>* E</a:t>
            </a:r>
            <a:r>
              <a:rPr lang="en-US" altLang="en-US" baseline="-25000" dirty="0"/>
              <a:t>2</a:t>
            </a:r>
            <a:r>
              <a:rPr lang="en-US" altLang="en-US" dirty="0"/>
              <a:t>, (E)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endParaRPr lang="en-US" altLang="en-US" dirty="0"/>
          </a:p>
          <a:p>
            <a:pPr marL="347663" indent="-347663" eaLnBrk="1" hangingPunct="1"/>
            <a:r>
              <a:rPr lang="en-US" altLang="en-US" dirty="0" err="1"/>
              <a:t>Kiểm</a:t>
            </a:r>
            <a:r>
              <a:rPr lang="en-US" altLang="en-US" dirty="0"/>
              <a:t> </a:t>
            </a:r>
            <a:r>
              <a:rPr lang="en-US" altLang="en-US" dirty="0" err="1"/>
              <a:t>định</a:t>
            </a:r>
            <a:r>
              <a:rPr lang="en-US" altLang="en-US" dirty="0"/>
              <a:t>: </a:t>
            </a:r>
            <a:r>
              <a:rPr lang="en-US" altLang="en-US" b="1" i="1" dirty="0" err="1">
                <a:solidFill>
                  <a:srgbClr val="0000CC"/>
                </a:solidFill>
              </a:rPr>
              <a:t>init</a:t>
            </a:r>
            <a:r>
              <a:rPr lang="en-US" altLang="en-US" b="1" i="1" dirty="0">
                <a:solidFill>
                  <a:srgbClr val="0000CC"/>
                </a:solidFill>
              </a:rPr>
              <a:t> +10 * size</a:t>
            </a:r>
            <a:r>
              <a:rPr lang="en-US" altLang="en-US" i="1" dirty="0"/>
              <a:t> </a:t>
            </a:r>
            <a:r>
              <a:rPr lang="en-US" altLang="en-US" i="1" dirty="0" err="1">
                <a:solidFill>
                  <a:srgbClr val="DF3507"/>
                </a:solidFill>
              </a:rPr>
              <a:t>là</a:t>
            </a:r>
            <a:r>
              <a:rPr lang="en-US" altLang="en-US" i="1" dirty="0">
                <a:solidFill>
                  <a:srgbClr val="DF3507"/>
                </a:solidFill>
              </a:rPr>
              <a:t> </a:t>
            </a:r>
            <a:r>
              <a:rPr lang="en-US" altLang="en-US" i="1" dirty="0" err="1">
                <a:solidFill>
                  <a:srgbClr val="DF3507"/>
                </a:solidFill>
              </a:rPr>
              <a:t>biểu</a:t>
            </a:r>
            <a:r>
              <a:rPr lang="en-US" altLang="en-US" i="1" dirty="0">
                <a:solidFill>
                  <a:srgbClr val="DF3507"/>
                </a:solidFill>
              </a:rPr>
              <a:t> </a:t>
            </a:r>
            <a:r>
              <a:rPr lang="en-US" altLang="en-US" i="1" dirty="0" err="1">
                <a:solidFill>
                  <a:srgbClr val="DF3507"/>
                </a:solidFill>
              </a:rPr>
              <a:t>thức</a:t>
            </a:r>
            <a:r>
              <a:rPr lang="en-US" altLang="en-US" i="1" dirty="0">
                <a:solidFill>
                  <a:srgbClr val="DF3507"/>
                </a:solidFill>
              </a:rPr>
              <a:t>?</a:t>
            </a:r>
            <a:r>
              <a:rPr lang="en-US" altLang="en-US" dirty="0"/>
              <a:t> </a:t>
            </a:r>
          </a:p>
          <a:p>
            <a:pPr marL="1271588" lvl="1" indent="-533400" eaLnBrk="1" hangingPunct="1"/>
            <a:r>
              <a:rPr lang="en-US" altLang="en-US" dirty="0"/>
              <a:t>Theo (2): </a:t>
            </a:r>
            <a:r>
              <a:rPr lang="en-US" altLang="en-US" dirty="0">
                <a:solidFill>
                  <a:srgbClr val="DF3507"/>
                </a:solidFill>
              </a:rPr>
              <a:t>10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endParaRPr lang="en-US" altLang="en-US" dirty="0"/>
          </a:p>
          <a:p>
            <a:pPr marL="1271588" lvl="1" indent="-533400" eaLnBrk="1" hangingPunct="1"/>
            <a:r>
              <a:rPr lang="en-US" altLang="en-US" dirty="0"/>
              <a:t>Theo (1): </a:t>
            </a:r>
            <a:r>
              <a:rPr lang="en-US" altLang="en-US" dirty="0">
                <a:solidFill>
                  <a:srgbClr val="DF3507"/>
                </a:solidFill>
              </a:rPr>
              <a:t>size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endParaRPr lang="en-US" altLang="en-US" dirty="0"/>
          </a:p>
          <a:p>
            <a:pPr marL="1271588" lvl="1" indent="-533400" eaLnBrk="1" hangingPunct="1"/>
            <a:r>
              <a:rPr lang="en-US" altLang="en-US" dirty="0"/>
              <a:t>Theo (3) </a:t>
            </a:r>
            <a:r>
              <a:rPr lang="en-US" altLang="en-US" dirty="0">
                <a:solidFill>
                  <a:srgbClr val="DF3507"/>
                </a:solidFill>
              </a:rPr>
              <a:t>10 * size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endParaRPr lang="en-US" altLang="en-US" dirty="0"/>
          </a:p>
          <a:p>
            <a:pPr marL="1271588" lvl="1" indent="-533400" eaLnBrk="1" hangingPunct="1"/>
            <a:r>
              <a:rPr lang="en-US" altLang="en-US" dirty="0"/>
              <a:t>Theo (1): </a:t>
            </a:r>
            <a:r>
              <a:rPr lang="en-US" altLang="en-US" dirty="0" err="1">
                <a:solidFill>
                  <a:srgbClr val="DF3507"/>
                </a:solidFill>
              </a:rPr>
              <a:t>init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endParaRPr lang="en-US" altLang="en-US" dirty="0"/>
          </a:p>
          <a:p>
            <a:pPr marL="1271588" lvl="1" indent="-533400" eaLnBrk="1" hangingPunct="1"/>
            <a:r>
              <a:rPr lang="en-US" altLang="en-US" dirty="0"/>
              <a:t>Theo (3): </a:t>
            </a:r>
            <a:r>
              <a:rPr lang="en-US" altLang="en-US" dirty="0" err="1">
                <a:solidFill>
                  <a:srgbClr val="DF3507"/>
                </a:solidFill>
              </a:rPr>
              <a:t>init</a:t>
            </a:r>
            <a:r>
              <a:rPr lang="en-US" altLang="en-US" dirty="0">
                <a:solidFill>
                  <a:srgbClr val="DF3507"/>
                </a:solidFill>
              </a:rPr>
              <a:t> + 10 * size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endParaRPr lang="en-US" altLang="en-US" dirty="0"/>
          </a:p>
        </p:txBody>
      </p:sp>
      <p:grpSp>
        <p:nvGrpSpPr>
          <p:cNvPr id="1470474" name="Group 10"/>
          <p:cNvGrpSpPr>
            <a:grpSpLocks/>
          </p:cNvGrpSpPr>
          <p:nvPr/>
        </p:nvGrpSpPr>
        <p:grpSpPr bwMode="auto">
          <a:xfrm>
            <a:off x="6553200" y="1676400"/>
            <a:ext cx="2438400" cy="914400"/>
            <a:chOff x="3360" y="1056"/>
            <a:chExt cx="1536" cy="576"/>
          </a:xfrm>
        </p:grpSpPr>
        <p:sp>
          <p:nvSpPr>
            <p:cNvPr id="40970" name="AutoShape 5"/>
            <p:cNvSpPr>
              <a:spLocks/>
            </p:cNvSpPr>
            <p:nvPr/>
          </p:nvSpPr>
          <p:spPr bwMode="auto">
            <a:xfrm>
              <a:off x="3360" y="1056"/>
              <a:ext cx="240" cy="576"/>
            </a:xfrm>
            <a:prstGeom prst="rightBrace">
              <a:avLst>
                <a:gd name="adj1" fmla="val 20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0971" name="Text Box 6"/>
            <p:cNvSpPr txBox="1">
              <a:spLocks noChangeArrowheads="1"/>
            </p:cNvSpPr>
            <p:nvPr/>
          </p:nvSpPr>
          <p:spPr bwMode="auto">
            <a:xfrm>
              <a:off x="3648" y="1170"/>
              <a:ext cx="12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Luật cơ sở</a:t>
              </a:r>
            </a:p>
          </p:txBody>
        </p:sp>
      </p:grpSp>
      <p:grpSp>
        <p:nvGrpSpPr>
          <p:cNvPr id="1470473" name="Group 9"/>
          <p:cNvGrpSpPr>
            <a:grpSpLocks/>
          </p:cNvGrpSpPr>
          <p:nvPr/>
        </p:nvGrpSpPr>
        <p:grpSpPr bwMode="auto">
          <a:xfrm>
            <a:off x="6553200" y="2590800"/>
            <a:ext cx="2362200" cy="914400"/>
            <a:chOff x="4128" y="1632"/>
            <a:chExt cx="1488" cy="576"/>
          </a:xfrm>
        </p:grpSpPr>
        <p:sp>
          <p:nvSpPr>
            <p:cNvPr id="40968" name="AutoShape 7"/>
            <p:cNvSpPr>
              <a:spLocks/>
            </p:cNvSpPr>
            <p:nvPr/>
          </p:nvSpPr>
          <p:spPr bwMode="auto">
            <a:xfrm>
              <a:off x="4128" y="1632"/>
              <a:ext cx="240" cy="576"/>
            </a:xfrm>
            <a:prstGeom prst="rightBrace">
              <a:avLst>
                <a:gd name="adj1" fmla="val 20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0969" name="Text Box 8"/>
            <p:cNvSpPr txBox="1">
              <a:spLocks noChangeArrowheads="1"/>
            </p:cNvSpPr>
            <p:nvPr/>
          </p:nvSpPr>
          <p:spPr bwMode="auto">
            <a:xfrm>
              <a:off x="4320" y="1737"/>
              <a:ext cx="12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tx1"/>
                  </a:solidFill>
                </a:rPr>
                <a:t>Luật đệ quy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70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70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4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704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4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4704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4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4704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4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4704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4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4704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4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14704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91498E-BECF-4922-8D23-B9D240A011DA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Phân tích cú pháp </a:t>
            </a:r>
            <a:r>
              <a:rPr lang="en-US" altLang="en-US" sz="2800">
                <a:sym typeface="Symbol" panose="05050102010706020507" pitchFamily="18" charset="2"/>
              </a:rPr>
              <a:t>Ví dụ 2</a:t>
            </a:r>
          </a:p>
        </p:txBody>
      </p:sp>
      <p:sp>
        <p:nvSpPr>
          <p:cNvPr id="41988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Các giai đoạn chính của chương trình dịch</a:t>
            </a:r>
          </a:p>
        </p:txBody>
      </p:sp>
      <p:sp>
        <p:nvSpPr>
          <p:cNvPr id="14735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28588" y="914400"/>
            <a:ext cx="8786812" cy="5181600"/>
          </a:xfrm>
          <a:noFill/>
        </p:spPr>
        <p:txBody>
          <a:bodyPr/>
          <a:lstStyle/>
          <a:p>
            <a:pPr marL="347663" indent="-347663" eaLnBrk="1" hangingPunct="1">
              <a:lnSpc>
                <a:spcPct val="110000"/>
              </a:lnSpc>
            </a:pPr>
            <a:r>
              <a:rPr lang="en-US" altLang="en-US" dirty="0"/>
              <a:t>Quy </a:t>
            </a:r>
            <a:r>
              <a:rPr lang="en-US" altLang="en-US" dirty="0" err="1"/>
              <a:t>tắc</a:t>
            </a:r>
            <a:r>
              <a:rPr lang="en-US" altLang="en-US" dirty="0"/>
              <a:t> </a:t>
            </a:r>
            <a:r>
              <a:rPr lang="en-US" altLang="en-US" dirty="0" err="1"/>
              <a:t>đinh</a:t>
            </a:r>
            <a:r>
              <a:rPr lang="en-US" altLang="en-US" dirty="0"/>
              <a:t> </a:t>
            </a:r>
            <a:r>
              <a:rPr lang="en-US" altLang="en-US" dirty="0" err="1"/>
              <a:t>nghĩa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lệnh</a:t>
            </a:r>
            <a:r>
              <a:rPr lang="en-US" altLang="en-US" dirty="0"/>
              <a:t> </a:t>
            </a:r>
          </a:p>
          <a:p>
            <a:pPr marL="973138" lvl="1" indent="-465138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 dirty="0" err="1"/>
              <a:t>Nếu</a:t>
            </a:r>
            <a:r>
              <a:rPr lang="en-US" altLang="en-US" dirty="0"/>
              <a:t> Id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Tên</a:t>
            </a:r>
            <a:r>
              <a:rPr lang="en-US" altLang="en-US" dirty="0"/>
              <a:t>, E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r>
              <a:rPr lang="en-US" altLang="en-US" dirty="0"/>
              <a:t> </a:t>
            </a:r>
            <a:r>
              <a:rPr lang="en-US" altLang="en-US" dirty="0" err="1"/>
              <a:t>thì</a:t>
            </a:r>
            <a:r>
              <a:rPr lang="en-US" altLang="en-US" dirty="0"/>
              <a:t> </a:t>
            </a:r>
          </a:p>
          <a:p>
            <a:pPr marL="1597025" lvl="2" indent="-450850" eaLnBrk="1" hangingPunct="1">
              <a:lnSpc>
                <a:spcPct val="110000"/>
              </a:lnSpc>
              <a:buFontTx/>
              <a:buNone/>
            </a:pPr>
            <a:r>
              <a:rPr lang="en-US" altLang="en-US" sz="2800" i="1" dirty="0">
                <a:solidFill>
                  <a:srgbClr val="0000CC"/>
                </a:solidFill>
              </a:rPr>
              <a:t>Id := 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câu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lệnh</a:t>
            </a:r>
            <a:endParaRPr lang="en-US" altLang="en-US" sz="2800" dirty="0"/>
          </a:p>
          <a:p>
            <a:pPr marL="973138" lvl="1" indent="-465138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 dirty="0" err="1"/>
              <a:t>Nếu</a:t>
            </a:r>
            <a:r>
              <a:rPr lang="en-US" altLang="en-US" dirty="0"/>
              <a:t> E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r>
              <a:rPr lang="en-US" altLang="en-US" dirty="0"/>
              <a:t>, S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lệnh</a:t>
            </a:r>
            <a:r>
              <a:rPr lang="en-US" altLang="en-US" dirty="0"/>
              <a:t> </a:t>
            </a:r>
            <a:r>
              <a:rPr lang="en-US" altLang="en-US" dirty="0" err="1"/>
              <a:t>thì</a:t>
            </a:r>
            <a:endParaRPr lang="en-US" altLang="en-US" dirty="0"/>
          </a:p>
          <a:p>
            <a:pPr marL="1597025" lvl="2" indent="-450850" eaLnBrk="1" hangingPunct="1">
              <a:lnSpc>
                <a:spcPct val="110000"/>
              </a:lnSpc>
              <a:buFontTx/>
              <a:buNone/>
            </a:pPr>
            <a:r>
              <a:rPr lang="en-US" altLang="en-US" sz="2800" b="1" i="1" dirty="0">
                <a:solidFill>
                  <a:srgbClr val="0000CC"/>
                </a:solidFill>
              </a:rPr>
              <a:t>If</a:t>
            </a:r>
            <a:r>
              <a:rPr lang="en-US" altLang="en-US" sz="2800" i="1" dirty="0">
                <a:solidFill>
                  <a:srgbClr val="0000CC"/>
                </a:solidFill>
              </a:rPr>
              <a:t> E </a:t>
            </a:r>
            <a:r>
              <a:rPr lang="en-US" altLang="en-US" sz="2800" b="1" i="1" dirty="0">
                <a:solidFill>
                  <a:srgbClr val="0000CC"/>
                </a:solidFill>
              </a:rPr>
              <a:t>Then</a:t>
            </a:r>
            <a:r>
              <a:rPr lang="en-US" altLang="en-US" sz="2800" i="1" dirty="0">
                <a:solidFill>
                  <a:srgbClr val="0000CC"/>
                </a:solidFill>
              </a:rPr>
              <a:t> S</a:t>
            </a:r>
            <a:r>
              <a:rPr lang="en-US" altLang="en-US" sz="2800" dirty="0">
                <a:solidFill>
                  <a:srgbClr val="220076"/>
                </a:solidFill>
              </a:rPr>
              <a:t>,</a:t>
            </a:r>
            <a:r>
              <a:rPr lang="en-US" altLang="en-US" sz="2800" dirty="0"/>
              <a:t> </a:t>
            </a:r>
            <a:r>
              <a:rPr lang="en-US" altLang="en-US" sz="2800" b="1" i="1" dirty="0">
                <a:solidFill>
                  <a:srgbClr val="0000CC"/>
                </a:solidFill>
              </a:rPr>
              <a:t>While</a:t>
            </a:r>
            <a:r>
              <a:rPr lang="en-US" altLang="en-US" sz="2800" i="1" dirty="0">
                <a:solidFill>
                  <a:srgbClr val="0000CC"/>
                </a:solidFill>
              </a:rPr>
              <a:t> E </a:t>
            </a:r>
            <a:r>
              <a:rPr lang="en-US" altLang="en-US" sz="2800" b="1" i="1" dirty="0">
                <a:solidFill>
                  <a:srgbClr val="0000CC"/>
                </a:solidFill>
              </a:rPr>
              <a:t>Do</a:t>
            </a:r>
            <a:r>
              <a:rPr lang="en-US" altLang="en-US" sz="2800" i="1" dirty="0">
                <a:solidFill>
                  <a:srgbClr val="0000CC"/>
                </a:solidFill>
              </a:rPr>
              <a:t> S</a:t>
            </a:r>
            <a:r>
              <a:rPr lang="en-US" altLang="en-US" sz="2800" dirty="0"/>
              <a:t> 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câu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lệnh</a:t>
            </a:r>
            <a:endParaRPr lang="en-US" altLang="en-US" sz="2800" dirty="0"/>
          </a:p>
          <a:p>
            <a:pPr marL="347663" indent="-347663" eaLnBrk="1" hangingPunct="1">
              <a:lnSpc>
                <a:spcPct val="110000"/>
              </a:lnSpc>
              <a:buFontTx/>
              <a:buNone/>
            </a:pPr>
            <a:r>
              <a:rPr lang="en-US" altLang="en-US" dirty="0" err="1"/>
              <a:t>Kiểm</a:t>
            </a:r>
            <a:r>
              <a:rPr lang="en-US" altLang="en-US" dirty="0"/>
              <a:t> </a:t>
            </a:r>
            <a:r>
              <a:rPr lang="en-US" altLang="en-US" dirty="0" err="1"/>
              <a:t>định</a:t>
            </a:r>
            <a:r>
              <a:rPr lang="en-US" altLang="en-US" dirty="0"/>
              <a:t>: </a:t>
            </a:r>
            <a:r>
              <a:rPr lang="en-US" altLang="en-US" b="1" i="1" dirty="0">
                <a:solidFill>
                  <a:srgbClr val="0000CC"/>
                </a:solidFill>
              </a:rPr>
              <a:t>pos := </a:t>
            </a:r>
            <a:r>
              <a:rPr lang="en-US" altLang="en-US" b="1" i="1" dirty="0" err="1">
                <a:solidFill>
                  <a:srgbClr val="0000CC"/>
                </a:solidFill>
              </a:rPr>
              <a:t>init</a:t>
            </a:r>
            <a:r>
              <a:rPr lang="en-US" altLang="en-US" b="1" i="1" dirty="0">
                <a:solidFill>
                  <a:srgbClr val="0000CC"/>
                </a:solidFill>
              </a:rPr>
              <a:t> + 10 * size</a:t>
            </a:r>
            <a:r>
              <a:rPr lang="en-US" altLang="en-US" i="1" dirty="0">
                <a:solidFill>
                  <a:srgbClr val="DF3507"/>
                </a:solidFill>
              </a:rPr>
              <a:t> </a:t>
            </a:r>
            <a:r>
              <a:rPr lang="en-US" altLang="en-US" i="1" dirty="0" err="1">
                <a:solidFill>
                  <a:srgbClr val="DF3507"/>
                </a:solidFill>
              </a:rPr>
              <a:t>là</a:t>
            </a:r>
            <a:r>
              <a:rPr lang="en-US" altLang="en-US" i="1" dirty="0">
                <a:solidFill>
                  <a:srgbClr val="DF3507"/>
                </a:solidFill>
              </a:rPr>
              <a:t> </a:t>
            </a:r>
            <a:r>
              <a:rPr lang="en-US" altLang="en-US" i="1" dirty="0" err="1">
                <a:solidFill>
                  <a:srgbClr val="DF3507"/>
                </a:solidFill>
              </a:rPr>
              <a:t>câu</a:t>
            </a:r>
            <a:r>
              <a:rPr lang="en-US" altLang="en-US" i="1" dirty="0">
                <a:solidFill>
                  <a:srgbClr val="DF3507"/>
                </a:solidFill>
              </a:rPr>
              <a:t> </a:t>
            </a:r>
            <a:r>
              <a:rPr lang="en-US" altLang="en-US" i="1" dirty="0" err="1">
                <a:solidFill>
                  <a:srgbClr val="DF3507"/>
                </a:solidFill>
              </a:rPr>
              <a:t>lệnh</a:t>
            </a:r>
            <a:r>
              <a:rPr lang="en-US" altLang="en-US" i="1" dirty="0">
                <a:solidFill>
                  <a:srgbClr val="DF3507"/>
                </a:solidFill>
              </a:rPr>
              <a:t>?</a:t>
            </a:r>
          </a:p>
          <a:p>
            <a:pPr marL="973138" lvl="1" indent="-465138" eaLnBrk="1" hangingPunct="1">
              <a:lnSpc>
                <a:spcPct val="110000"/>
              </a:lnSpc>
            </a:pPr>
            <a:r>
              <a:rPr lang="en-US" altLang="en-US" dirty="0"/>
              <a:t>Theo </a:t>
            </a:r>
            <a:r>
              <a:rPr lang="en-US" altLang="en-US" dirty="0" err="1"/>
              <a:t>bộ</a:t>
            </a:r>
            <a:r>
              <a:rPr lang="en-US" altLang="en-US" dirty="0"/>
              <a:t> </a:t>
            </a:r>
            <a:r>
              <a:rPr lang="en-US" altLang="en-US" dirty="0" err="1"/>
              <a:t>phân</a:t>
            </a:r>
            <a:r>
              <a:rPr lang="en-US" altLang="en-US" dirty="0"/>
              <a:t> </a:t>
            </a:r>
            <a:r>
              <a:rPr lang="en-US" altLang="en-US" dirty="0" err="1"/>
              <a:t>tích</a:t>
            </a:r>
            <a:r>
              <a:rPr lang="en-US" altLang="en-US" dirty="0"/>
              <a:t> </a:t>
            </a:r>
            <a:r>
              <a:rPr lang="en-US" altLang="en-US" dirty="0" err="1"/>
              <a:t>từ</a:t>
            </a:r>
            <a:r>
              <a:rPr lang="en-US" altLang="en-US" dirty="0"/>
              <a:t> </a:t>
            </a:r>
            <a:r>
              <a:rPr lang="en-US" altLang="en-US" dirty="0" err="1"/>
              <a:t>vựng</a:t>
            </a:r>
            <a:r>
              <a:rPr lang="en-US" altLang="en-US" dirty="0"/>
              <a:t>: </a:t>
            </a:r>
            <a:r>
              <a:rPr lang="en-US" altLang="en-US" i="1" dirty="0">
                <a:solidFill>
                  <a:srgbClr val="0000CC"/>
                </a:solidFill>
              </a:rPr>
              <a:t>pos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tên</a:t>
            </a:r>
            <a:endParaRPr lang="en-US" altLang="en-US" dirty="0"/>
          </a:p>
          <a:p>
            <a:pPr marL="973138" lvl="1" indent="-465138" eaLnBrk="1" hangingPunct="1">
              <a:lnSpc>
                <a:spcPct val="110000"/>
              </a:lnSpc>
            </a:pPr>
            <a:r>
              <a:rPr lang="en-US" altLang="en-US" dirty="0"/>
              <a:t>Theo </a:t>
            </a:r>
            <a:r>
              <a:rPr lang="en-US" altLang="en-US" dirty="0" err="1"/>
              <a:t>ví</a:t>
            </a:r>
            <a:r>
              <a:rPr lang="en-US" altLang="en-US" dirty="0"/>
              <a:t> </a:t>
            </a:r>
            <a:r>
              <a:rPr lang="en-US" altLang="en-US" dirty="0" err="1"/>
              <a:t>dụ</a:t>
            </a:r>
            <a:r>
              <a:rPr lang="en-US" altLang="en-US" dirty="0"/>
              <a:t> 1: </a:t>
            </a:r>
            <a:r>
              <a:rPr lang="en-US" altLang="en-US" i="1" dirty="0" err="1">
                <a:solidFill>
                  <a:srgbClr val="0000CC"/>
                </a:solidFill>
              </a:rPr>
              <a:t>init</a:t>
            </a:r>
            <a:r>
              <a:rPr lang="en-US" altLang="en-US" i="1" dirty="0">
                <a:solidFill>
                  <a:srgbClr val="0000CC"/>
                </a:solidFill>
              </a:rPr>
              <a:t> + 10 * size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endParaRPr lang="en-US" altLang="en-US" dirty="0"/>
          </a:p>
          <a:p>
            <a:pPr marL="973138" lvl="1" indent="-465138" eaLnBrk="1" hangingPunct="1">
              <a:lnSpc>
                <a:spcPct val="110000"/>
              </a:lnSpc>
            </a:pPr>
            <a:r>
              <a:rPr lang="en-US" altLang="en-US" dirty="0" err="1"/>
              <a:t>Vậy</a:t>
            </a:r>
            <a:r>
              <a:rPr lang="en-US" altLang="en-US" dirty="0"/>
              <a:t> </a:t>
            </a:r>
            <a:r>
              <a:rPr lang="en-US" altLang="en-US" dirty="0" err="1"/>
              <a:t>theo</a:t>
            </a:r>
            <a:r>
              <a:rPr lang="en-US" altLang="en-US" dirty="0"/>
              <a:t> </a:t>
            </a:r>
            <a:r>
              <a:rPr lang="en-US" altLang="en-US" dirty="0" err="1"/>
              <a:t>luật</a:t>
            </a:r>
            <a:r>
              <a:rPr lang="en-US" altLang="en-US" dirty="0"/>
              <a:t> (1) </a:t>
            </a:r>
            <a:r>
              <a:rPr lang="en-US" altLang="en-US" i="1" dirty="0">
                <a:solidFill>
                  <a:srgbClr val="0000CC"/>
                </a:solidFill>
              </a:rPr>
              <a:t>pos := init+10*size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lệnh</a:t>
            </a:r>
            <a:endParaRPr lang="en-US" altLang="en-US" dirty="0"/>
          </a:p>
        </p:txBody>
      </p:sp>
      <p:sp>
        <p:nvSpPr>
          <p:cNvPr id="1473548" name="Text Box 12"/>
          <p:cNvSpPr txBox="1">
            <a:spLocks noChangeArrowheads="1"/>
          </p:cNvSpPr>
          <p:nvPr/>
        </p:nvSpPr>
        <p:spPr bwMode="auto">
          <a:xfrm>
            <a:off x="76200" y="6096000"/>
            <a:ext cx="8991600" cy="498475"/>
          </a:xfrm>
          <a:prstGeom prst="rect">
            <a:avLst/>
          </a:prstGeom>
          <a:noFill/>
          <a:ln w="9525">
            <a:solidFill>
              <a:srgbClr val="22007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600" b="0">
                <a:solidFill>
                  <a:srgbClr val="0000CC"/>
                </a:solidFill>
              </a:rPr>
              <a:t>Ptcp thường được biểu diễn bởi cây phân tích/</a:t>
            </a:r>
            <a:r>
              <a:rPr lang="en-US" altLang="en-US" sz="2600" b="0">
                <a:solidFill>
                  <a:srgbClr val="996600"/>
                </a:solidFill>
              </a:rPr>
              <a:t>cây cú pháp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5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735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5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735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5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735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5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735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100" decel="5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7354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7354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73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354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0EA107-F130-4570-89A2-3C9C78819693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472557" name="Freeform 45"/>
          <p:cNvSpPr>
            <a:spLocks/>
          </p:cNvSpPr>
          <p:nvPr/>
        </p:nvSpPr>
        <p:spPr bwMode="auto">
          <a:xfrm>
            <a:off x="114300" y="1574800"/>
            <a:ext cx="8953500" cy="4953000"/>
          </a:xfrm>
          <a:custGeom>
            <a:avLst/>
            <a:gdLst>
              <a:gd name="T0" fmla="*/ 2147483646 w 5640"/>
              <a:gd name="T1" fmla="*/ 2147483646 h 3120"/>
              <a:gd name="T2" fmla="*/ 2147483646 w 5640"/>
              <a:gd name="T3" fmla="*/ 2147483646 h 3120"/>
              <a:gd name="T4" fmla="*/ 2147483646 w 5640"/>
              <a:gd name="T5" fmla="*/ 2147483646 h 3120"/>
              <a:gd name="T6" fmla="*/ 2147483646 w 5640"/>
              <a:gd name="T7" fmla="*/ 2147483646 h 3120"/>
              <a:gd name="T8" fmla="*/ 2147483646 w 5640"/>
              <a:gd name="T9" fmla="*/ 2147483646 h 3120"/>
              <a:gd name="T10" fmla="*/ 2147483646 w 5640"/>
              <a:gd name="T11" fmla="*/ 2147483646 h 3120"/>
              <a:gd name="T12" fmla="*/ 2147483646 w 5640"/>
              <a:gd name="T13" fmla="*/ 2147483646 h 3120"/>
              <a:gd name="T14" fmla="*/ 2147483646 w 5640"/>
              <a:gd name="T15" fmla="*/ 2147483646 h 3120"/>
              <a:gd name="T16" fmla="*/ 2147483646 w 5640"/>
              <a:gd name="T17" fmla="*/ 2147483646 h 3120"/>
              <a:gd name="T18" fmla="*/ 2147483646 w 5640"/>
              <a:gd name="T19" fmla="*/ 2147483646 h 3120"/>
              <a:gd name="T20" fmla="*/ 2147483646 w 5640"/>
              <a:gd name="T21" fmla="*/ 2147483646 h 3120"/>
              <a:gd name="T22" fmla="*/ 2147483646 w 5640"/>
              <a:gd name="T23" fmla="*/ 2147483646 h 3120"/>
              <a:gd name="T24" fmla="*/ 2147483646 w 5640"/>
              <a:gd name="T25" fmla="*/ 2147483646 h 3120"/>
              <a:gd name="T26" fmla="*/ 2147483646 w 5640"/>
              <a:gd name="T27" fmla="*/ 2147483646 h 3120"/>
              <a:gd name="T28" fmla="*/ 2147483646 w 5640"/>
              <a:gd name="T29" fmla="*/ 2147483646 h 3120"/>
              <a:gd name="T30" fmla="*/ 2147483646 w 5640"/>
              <a:gd name="T31" fmla="*/ 2147483646 h 3120"/>
              <a:gd name="T32" fmla="*/ 2147483646 w 5640"/>
              <a:gd name="T33" fmla="*/ 2147483646 h 3120"/>
              <a:gd name="T34" fmla="*/ 2147483646 w 5640"/>
              <a:gd name="T35" fmla="*/ 2147483646 h 3120"/>
              <a:gd name="T36" fmla="*/ 2147483646 w 5640"/>
              <a:gd name="T37" fmla="*/ 2147483646 h 3120"/>
              <a:gd name="T38" fmla="*/ 2147483646 w 5640"/>
              <a:gd name="T39" fmla="*/ 2147483646 h 3120"/>
              <a:gd name="T40" fmla="*/ 2147483646 w 5640"/>
              <a:gd name="T41" fmla="*/ 2147483646 h 3120"/>
              <a:gd name="T42" fmla="*/ 2147483646 w 5640"/>
              <a:gd name="T43" fmla="*/ 2147483646 h 3120"/>
              <a:gd name="T44" fmla="*/ 2147483646 w 5640"/>
              <a:gd name="T45" fmla="*/ 2147483646 h 3120"/>
              <a:gd name="T46" fmla="*/ 2147483646 w 5640"/>
              <a:gd name="T47" fmla="*/ 2147483646 h 3120"/>
              <a:gd name="T48" fmla="*/ 2147483646 w 5640"/>
              <a:gd name="T49" fmla="*/ 2147483646 h 3120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5640" h="3120">
                <a:moveTo>
                  <a:pt x="168" y="1072"/>
                </a:moveTo>
                <a:cubicBezTo>
                  <a:pt x="0" y="776"/>
                  <a:pt x="64" y="848"/>
                  <a:pt x="168" y="784"/>
                </a:cubicBezTo>
                <a:cubicBezTo>
                  <a:pt x="272" y="720"/>
                  <a:pt x="632" y="800"/>
                  <a:pt x="792" y="688"/>
                </a:cubicBezTo>
                <a:cubicBezTo>
                  <a:pt x="952" y="576"/>
                  <a:pt x="1008" y="200"/>
                  <a:pt x="1128" y="112"/>
                </a:cubicBezTo>
                <a:cubicBezTo>
                  <a:pt x="1248" y="24"/>
                  <a:pt x="1520" y="0"/>
                  <a:pt x="1512" y="160"/>
                </a:cubicBezTo>
                <a:cubicBezTo>
                  <a:pt x="1504" y="320"/>
                  <a:pt x="1120" y="752"/>
                  <a:pt x="1080" y="1072"/>
                </a:cubicBezTo>
                <a:cubicBezTo>
                  <a:pt x="1040" y="1392"/>
                  <a:pt x="1128" y="1904"/>
                  <a:pt x="1272" y="2080"/>
                </a:cubicBezTo>
                <a:cubicBezTo>
                  <a:pt x="1416" y="2256"/>
                  <a:pt x="1776" y="2184"/>
                  <a:pt x="1944" y="2128"/>
                </a:cubicBezTo>
                <a:cubicBezTo>
                  <a:pt x="2112" y="2072"/>
                  <a:pt x="2160" y="1976"/>
                  <a:pt x="2280" y="1744"/>
                </a:cubicBezTo>
                <a:cubicBezTo>
                  <a:pt x="2400" y="1512"/>
                  <a:pt x="2528" y="896"/>
                  <a:pt x="2664" y="736"/>
                </a:cubicBezTo>
                <a:cubicBezTo>
                  <a:pt x="2800" y="576"/>
                  <a:pt x="3112" y="576"/>
                  <a:pt x="3096" y="784"/>
                </a:cubicBezTo>
                <a:cubicBezTo>
                  <a:pt x="3080" y="992"/>
                  <a:pt x="2616" y="1688"/>
                  <a:pt x="2568" y="1984"/>
                </a:cubicBezTo>
                <a:cubicBezTo>
                  <a:pt x="2520" y="2280"/>
                  <a:pt x="2616" y="2448"/>
                  <a:pt x="2808" y="2560"/>
                </a:cubicBezTo>
                <a:cubicBezTo>
                  <a:pt x="3000" y="2672"/>
                  <a:pt x="3512" y="2736"/>
                  <a:pt x="3720" y="2656"/>
                </a:cubicBezTo>
                <a:cubicBezTo>
                  <a:pt x="3928" y="2576"/>
                  <a:pt x="4016" y="2264"/>
                  <a:pt x="4056" y="2080"/>
                </a:cubicBezTo>
                <a:cubicBezTo>
                  <a:pt x="4096" y="1896"/>
                  <a:pt x="3936" y="1656"/>
                  <a:pt x="3960" y="1552"/>
                </a:cubicBezTo>
                <a:cubicBezTo>
                  <a:pt x="3984" y="1448"/>
                  <a:pt x="4120" y="1392"/>
                  <a:pt x="4200" y="1456"/>
                </a:cubicBezTo>
                <a:cubicBezTo>
                  <a:pt x="4280" y="1520"/>
                  <a:pt x="4376" y="1744"/>
                  <a:pt x="4440" y="1936"/>
                </a:cubicBezTo>
                <a:cubicBezTo>
                  <a:pt x="4504" y="2128"/>
                  <a:pt x="4464" y="2488"/>
                  <a:pt x="4584" y="2608"/>
                </a:cubicBezTo>
                <a:cubicBezTo>
                  <a:pt x="4704" y="2728"/>
                  <a:pt x="5016" y="2608"/>
                  <a:pt x="5160" y="2656"/>
                </a:cubicBezTo>
                <a:cubicBezTo>
                  <a:pt x="5304" y="2704"/>
                  <a:pt x="5432" y="2832"/>
                  <a:pt x="5448" y="2896"/>
                </a:cubicBezTo>
                <a:cubicBezTo>
                  <a:pt x="5464" y="2960"/>
                  <a:pt x="5640" y="3016"/>
                  <a:pt x="5256" y="3040"/>
                </a:cubicBezTo>
                <a:cubicBezTo>
                  <a:pt x="4872" y="3064"/>
                  <a:pt x="3824" y="3120"/>
                  <a:pt x="3144" y="3040"/>
                </a:cubicBezTo>
                <a:cubicBezTo>
                  <a:pt x="2464" y="2960"/>
                  <a:pt x="1672" y="2888"/>
                  <a:pt x="1176" y="2560"/>
                </a:cubicBezTo>
                <a:cubicBezTo>
                  <a:pt x="680" y="2232"/>
                  <a:pt x="336" y="1368"/>
                  <a:pt x="168" y="1072"/>
                </a:cubicBezTo>
                <a:close/>
              </a:path>
            </a:pathLst>
          </a:custGeom>
          <a:solidFill>
            <a:srgbClr val="D1EAEB"/>
          </a:solidFill>
          <a:ln w="28575" cap="flat" cmpd="sng">
            <a:solidFill>
              <a:srgbClr val="0000CC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Phân tích cú pháp </a:t>
            </a:r>
            <a:r>
              <a:rPr lang="en-US" altLang="en-US" sz="2800">
                <a:sym typeface="Symbol" panose="05050102010706020507" pitchFamily="18" charset="2"/>
              </a:rPr>
              <a:t> Cây phân tích (parse tree)</a:t>
            </a:r>
          </a:p>
        </p:txBody>
      </p:sp>
      <p:sp>
        <p:nvSpPr>
          <p:cNvPr id="43013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Các giai đoạn chính của chương trình dịch</a:t>
            </a:r>
          </a:p>
        </p:txBody>
      </p:sp>
      <p:sp>
        <p:nvSpPr>
          <p:cNvPr id="43014" name="Text Box 4"/>
          <p:cNvSpPr txBox="1">
            <a:spLocks noChangeArrowheads="1"/>
          </p:cNvSpPr>
          <p:nvPr/>
        </p:nvSpPr>
        <p:spPr bwMode="auto">
          <a:xfrm>
            <a:off x="914400" y="928688"/>
            <a:ext cx="2514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</a:rPr>
              <a:t>&lt;Statement&gt;</a:t>
            </a:r>
          </a:p>
        </p:txBody>
      </p:sp>
      <p:sp>
        <p:nvSpPr>
          <p:cNvPr id="43015" name="Text Box 5"/>
          <p:cNvSpPr txBox="1">
            <a:spLocks noChangeArrowheads="1"/>
          </p:cNvSpPr>
          <p:nvPr/>
        </p:nvSpPr>
        <p:spPr bwMode="auto">
          <a:xfrm>
            <a:off x="152400" y="1828800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</a:rPr>
              <a:t>&lt;ident&gt;</a:t>
            </a:r>
          </a:p>
        </p:txBody>
      </p:sp>
      <p:sp>
        <p:nvSpPr>
          <p:cNvPr id="43016" name="Text Box 6"/>
          <p:cNvSpPr txBox="1">
            <a:spLocks noChangeArrowheads="1"/>
          </p:cNvSpPr>
          <p:nvPr/>
        </p:nvSpPr>
        <p:spPr bwMode="auto">
          <a:xfrm>
            <a:off x="7391400" y="3990975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</a:rPr>
              <a:t>&lt;Expr&gt;</a:t>
            </a:r>
          </a:p>
        </p:txBody>
      </p:sp>
      <p:sp>
        <p:nvSpPr>
          <p:cNvPr id="43017" name="Text Box 7"/>
          <p:cNvSpPr txBox="1">
            <a:spLocks noChangeArrowheads="1"/>
          </p:cNvSpPr>
          <p:nvPr/>
        </p:nvSpPr>
        <p:spPr bwMode="auto">
          <a:xfrm>
            <a:off x="1981200" y="4019550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</a:rPr>
              <a:t>&lt;Ident&gt;</a:t>
            </a:r>
          </a:p>
        </p:txBody>
      </p:sp>
      <p:sp>
        <p:nvSpPr>
          <p:cNvPr id="43018" name="Text Box 8"/>
          <p:cNvSpPr txBox="1">
            <a:spLocks noChangeArrowheads="1"/>
          </p:cNvSpPr>
          <p:nvPr/>
        </p:nvSpPr>
        <p:spPr bwMode="auto">
          <a:xfrm>
            <a:off x="4648200" y="4038600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</a:rPr>
              <a:t>&lt;Expr&gt;</a:t>
            </a:r>
          </a:p>
        </p:txBody>
      </p:sp>
      <p:sp>
        <p:nvSpPr>
          <p:cNvPr id="43019" name="Text Box 9"/>
          <p:cNvSpPr txBox="1">
            <a:spLocks noChangeArrowheads="1"/>
          </p:cNvSpPr>
          <p:nvPr/>
        </p:nvSpPr>
        <p:spPr bwMode="auto">
          <a:xfrm>
            <a:off x="3429000" y="1838325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</a:rPr>
              <a:t>&lt;Expression&gt;</a:t>
            </a:r>
          </a:p>
        </p:txBody>
      </p:sp>
      <p:sp>
        <p:nvSpPr>
          <p:cNvPr id="43020" name="Text Box 10"/>
          <p:cNvSpPr txBox="1">
            <a:spLocks noChangeArrowheads="1"/>
          </p:cNvSpPr>
          <p:nvPr/>
        </p:nvSpPr>
        <p:spPr bwMode="auto">
          <a:xfrm>
            <a:off x="2133600" y="4967288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rgbClr val="DF3507"/>
                </a:solidFill>
              </a:rPr>
              <a:t>init</a:t>
            </a:r>
          </a:p>
        </p:txBody>
      </p:sp>
      <p:sp>
        <p:nvSpPr>
          <p:cNvPr id="43021" name="Text Box 11"/>
          <p:cNvSpPr txBox="1">
            <a:spLocks noChangeArrowheads="1"/>
          </p:cNvSpPr>
          <p:nvPr/>
        </p:nvSpPr>
        <p:spPr bwMode="auto">
          <a:xfrm>
            <a:off x="4710113" y="5805488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rgbClr val="DF3507"/>
                </a:solidFill>
              </a:rPr>
              <a:t>10</a:t>
            </a:r>
          </a:p>
        </p:txBody>
      </p:sp>
      <p:sp>
        <p:nvSpPr>
          <p:cNvPr id="43022" name="Text Box 12"/>
          <p:cNvSpPr txBox="1">
            <a:spLocks noChangeArrowheads="1"/>
          </p:cNvSpPr>
          <p:nvPr/>
        </p:nvSpPr>
        <p:spPr bwMode="auto">
          <a:xfrm>
            <a:off x="4495800" y="495300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</a:rPr>
              <a:t>&lt;Number&gt;</a:t>
            </a:r>
          </a:p>
        </p:txBody>
      </p:sp>
      <p:sp>
        <p:nvSpPr>
          <p:cNvPr id="43023" name="Text Box 13"/>
          <p:cNvSpPr txBox="1">
            <a:spLocks noChangeArrowheads="1"/>
          </p:cNvSpPr>
          <p:nvPr/>
        </p:nvSpPr>
        <p:spPr bwMode="auto">
          <a:xfrm>
            <a:off x="228600" y="2757488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rgbClr val="DF3507"/>
                </a:solidFill>
              </a:rPr>
              <a:t>pos</a:t>
            </a:r>
          </a:p>
        </p:txBody>
      </p:sp>
      <p:sp>
        <p:nvSpPr>
          <p:cNvPr id="43024" name="Text Box 15"/>
          <p:cNvSpPr txBox="1">
            <a:spLocks noChangeArrowheads="1"/>
          </p:cNvSpPr>
          <p:nvPr/>
        </p:nvSpPr>
        <p:spPr bwMode="auto">
          <a:xfrm>
            <a:off x="1509713" y="1857375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rgbClr val="DF3507"/>
                </a:solidFill>
              </a:rPr>
              <a:t>:=</a:t>
            </a:r>
          </a:p>
        </p:txBody>
      </p:sp>
      <p:sp>
        <p:nvSpPr>
          <p:cNvPr id="43025" name="Text Box 17"/>
          <p:cNvSpPr txBox="1">
            <a:spLocks noChangeArrowheads="1"/>
          </p:cNvSpPr>
          <p:nvPr/>
        </p:nvSpPr>
        <p:spPr bwMode="auto">
          <a:xfrm>
            <a:off x="6096000" y="4052888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rgbClr val="DF3507"/>
                </a:solidFill>
              </a:rPr>
              <a:t>*</a:t>
            </a:r>
          </a:p>
        </p:txBody>
      </p:sp>
      <p:sp>
        <p:nvSpPr>
          <p:cNvPr id="43026" name="Text Box 18"/>
          <p:cNvSpPr txBox="1">
            <a:spLocks noChangeArrowheads="1"/>
          </p:cNvSpPr>
          <p:nvPr/>
        </p:nvSpPr>
        <p:spPr bwMode="auto">
          <a:xfrm>
            <a:off x="5867400" y="2819400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</a:rPr>
              <a:t>&lt;Expr&gt;</a:t>
            </a:r>
          </a:p>
        </p:txBody>
      </p:sp>
      <p:sp>
        <p:nvSpPr>
          <p:cNvPr id="43027" name="Text Box 19"/>
          <p:cNvSpPr txBox="1">
            <a:spLocks noChangeArrowheads="1"/>
          </p:cNvSpPr>
          <p:nvPr/>
        </p:nvSpPr>
        <p:spPr bwMode="auto">
          <a:xfrm>
            <a:off x="1981200" y="2819400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</a:rPr>
              <a:t>&lt;Expr&gt;</a:t>
            </a:r>
          </a:p>
        </p:txBody>
      </p:sp>
      <p:sp>
        <p:nvSpPr>
          <p:cNvPr id="43028" name="Text Box 20"/>
          <p:cNvSpPr txBox="1">
            <a:spLocks noChangeArrowheads="1"/>
          </p:cNvSpPr>
          <p:nvPr/>
        </p:nvSpPr>
        <p:spPr bwMode="auto">
          <a:xfrm>
            <a:off x="4038600" y="2757488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rgbClr val="DF3507"/>
                </a:solidFill>
              </a:rPr>
              <a:t>+</a:t>
            </a:r>
          </a:p>
        </p:txBody>
      </p:sp>
      <p:sp>
        <p:nvSpPr>
          <p:cNvPr id="43029" name="Text Box 21"/>
          <p:cNvSpPr txBox="1">
            <a:spLocks noChangeArrowheads="1"/>
          </p:cNvSpPr>
          <p:nvPr/>
        </p:nvSpPr>
        <p:spPr bwMode="auto">
          <a:xfrm>
            <a:off x="7391400" y="4953000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</a:rPr>
              <a:t>&lt;Ident&gt;</a:t>
            </a:r>
          </a:p>
        </p:txBody>
      </p:sp>
      <p:sp>
        <p:nvSpPr>
          <p:cNvPr id="43030" name="Text Box 22"/>
          <p:cNvSpPr txBox="1">
            <a:spLocks noChangeArrowheads="1"/>
          </p:cNvSpPr>
          <p:nvPr/>
        </p:nvSpPr>
        <p:spPr bwMode="auto">
          <a:xfrm>
            <a:off x="7529513" y="5805488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rgbClr val="DF3507"/>
                </a:solidFill>
              </a:rPr>
              <a:t>size</a:t>
            </a:r>
          </a:p>
        </p:txBody>
      </p:sp>
      <p:sp>
        <p:nvSpPr>
          <p:cNvPr id="43031" name="Line 23"/>
          <p:cNvSpPr>
            <a:spLocks noChangeShapeType="1"/>
          </p:cNvSpPr>
          <p:nvPr/>
        </p:nvSpPr>
        <p:spPr bwMode="auto">
          <a:xfrm>
            <a:off x="2133600" y="1371600"/>
            <a:ext cx="0" cy="609600"/>
          </a:xfrm>
          <a:prstGeom prst="line">
            <a:avLst/>
          </a:prstGeom>
          <a:noFill/>
          <a:ln w="28575">
            <a:solidFill>
              <a:srgbClr val="22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32" name="Line 24"/>
          <p:cNvSpPr>
            <a:spLocks noChangeShapeType="1"/>
          </p:cNvSpPr>
          <p:nvPr/>
        </p:nvSpPr>
        <p:spPr bwMode="auto">
          <a:xfrm flipH="1">
            <a:off x="914400" y="1371600"/>
            <a:ext cx="1219200" cy="533400"/>
          </a:xfrm>
          <a:prstGeom prst="line">
            <a:avLst/>
          </a:prstGeom>
          <a:noFill/>
          <a:ln w="28575">
            <a:solidFill>
              <a:srgbClr val="22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33" name="Line 25"/>
          <p:cNvSpPr>
            <a:spLocks noChangeShapeType="1"/>
          </p:cNvSpPr>
          <p:nvPr/>
        </p:nvSpPr>
        <p:spPr bwMode="auto">
          <a:xfrm>
            <a:off x="2133600" y="1371600"/>
            <a:ext cx="2438400" cy="533400"/>
          </a:xfrm>
          <a:prstGeom prst="line">
            <a:avLst/>
          </a:prstGeom>
          <a:noFill/>
          <a:ln w="28575">
            <a:solidFill>
              <a:srgbClr val="22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34" name="Line 26"/>
          <p:cNvSpPr>
            <a:spLocks noChangeShapeType="1"/>
          </p:cNvSpPr>
          <p:nvPr/>
        </p:nvSpPr>
        <p:spPr bwMode="auto">
          <a:xfrm>
            <a:off x="838200" y="2286000"/>
            <a:ext cx="0" cy="685800"/>
          </a:xfrm>
          <a:prstGeom prst="line">
            <a:avLst/>
          </a:prstGeom>
          <a:noFill/>
          <a:ln w="28575">
            <a:solidFill>
              <a:srgbClr val="22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35" name="Line 27"/>
          <p:cNvSpPr>
            <a:spLocks noChangeShapeType="1"/>
          </p:cNvSpPr>
          <p:nvPr/>
        </p:nvSpPr>
        <p:spPr bwMode="auto">
          <a:xfrm>
            <a:off x="4648200" y="2286000"/>
            <a:ext cx="0" cy="609600"/>
          </a:xfrm>
          <a:prstGeom prst="line">
            <a:avLst/>
          </a:prstGeom>
          <a:noFill/>
          <a:ln w="28575">
            <a:solidFill>
              <a:srgbClr val="22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36" name="Line 28"/>
          <p:cNvSpPr>
            <a:spLocks noChangeShapeType="1"/>
          </p:cNvSpPr>
          <p:nvPr/>
        </p:nvSpPr>
        <p:spPr bwMode="auto">
          <a:xfrm flipH="1">
            <a:off x="2819400" y="2286000"/>
            <a:ext cx="1828800" cy="609600"/>
          </a:xfrm>
          <a:prstGeom prst="line">
            <a:avLst/>
          </a:prstGeom>
          <a:noFill/>
          <a:ln w="28575">
            <a:solidFill>
              <a:srgbClr val="22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37" name="Line 29"/>
          <p:cNvSpPr>
            <a:spLocks noChangeShapeType="1"/>
          </p:cNvSpPr>
          <p:nvPr/>
        </p:nvSpPr>
        <p:spPr bwMode="auto">
          <a:xfrm>
            <a:off x="4648200" y="2286000"/>
            <a:ext cx="2057400" cy="609600"/>
          </a:xfrm>
          <a:prstGeom prst="line">
            <a:avLst/>
          </a:prstGeom>
          <a:noFill/>
          <a:ln w="28575">
            <a:solidFill>
              <a:srgbClr val="22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38" name="Line 30"/>
          <p:cNvSpPr>
            <a:spLocks noChangeShapeType="1"/>
          </p:cNvSpPr>
          <p:nvPr/>
        </p:nvSpPr>
        <p:spPr bwMode="auto">
          <a:xfrm>
            <a:off x="2743200" y="3276600"/>
            <a:ext cx="0" cy="838200"/>
          </a:xfrm>
          <a:prstGeom prst="line">
            <a:avLst/>
          </a:prstGeom>
          <a:noFill/>
          <a:ln w="28575">
            <a:solidFill>
              <a:srgbClr val="22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39" name="Line 32"/>
          <p:cNvSpPr>
            <a:spLocks noChangeShapeType="1"/>
          </p:cNvSpPr>
          <p:nvPr/>
        </p:nvSpPr>
        <p:spPr bwMode="auto">
          <a:xfrm flipH="1">
            <a:off x="5410200" y="3276600"/>
            <a:ext cx="1143000" cy="838200"/>
          </a:xfrm>
          <a:prstGeom prst="line">
            <a:avLst/>
          </a:prstGeom>
          <a:noFill/>
          <a:ln w="28575">
            <a:solidFill>
              <a:srgbClr val="22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40" name="Line 33"/>
          <p:cNvSpPr>
            <a:spLocks noChangeShapeType="1"/>
          </p:cNvSpPr>
          <p:nvPr/>
        </p:nvSpPr>
        <p:spPr bwMode="auto">
          <a:xfrm>
            <a:off x="6705600" y="3276600"/>
            <a:ext cx="0" cy="838200"/>
          </a:xfrm>
          <a:prstGeom prst="line">
            <a:avLst/>
          </a:prstGeom>
          <a:noFill/>
          <a:ln w="28575">
            <a:solidFill>
              <a:srgbClr val="22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41" name="Line 34"/>
          <p:cNvSpPr>
            <a:spLocks noChangeShapeType="1"/>
          </p:cNvSpPr>
          <p:nvPr/>
        </p:nvSpPr>
        <p:spPr bwMode="auto">
          <a:xfrm>
            <a:off x="6858000" y="3276600"/>
            <a:ext cx="1219200" cy="762000"/>
          </a:xfrm>
          <a:prstGeom prst="line">
            <a:avLst/>
          </a:prstGeom>
          <a:noFill/>
          <a:ln w="28575">
            <a:solidFill>
              <a:srgbClr val="22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42" name="Line 35"/>
          <p:cNvSpPr>
            <a:spLocks noChangeShapeType="1"/>
          </p:cNvSpPr>
          <p:nvPr/>
        </p:nvSpPr>
        <p:spPr bwMode="auto">
          <a:xfrm>
            <a:off x="5334000" y="4495800"/>
            <a:ext cx="0" cy="533400"/>
          </a:xfrm>
          <a:prstGeom prst="line">
            <a:avLst/>
          </a:prstGeom>
          <a:noFill/>
          <a:ln w="28575">
            <a:solidFill>
              <a:srgbClr val="22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43" name="Line 36"/>
          <p:cNvSpPr>
            <a:spLocks noChangeShapeType="1"/>
          </p:cNvSpPr>
          <p:nvPr/>
        </p:nvSpPr>
        <p:spPr bwMode="auto">
          <a:xfrm>
            <a:off x="2743200" y="4495800"/>
            <a:ext cx="0" cy="533400"/>
          </a:xfrm>
          <a:prstGeom prst="line">
            <a:avLst/>
          </a:prstGeom>
          <a:noFill/>
          <a:ln w="28575">
            <a:solidFill>
              <a:srgbClr val="22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44" name="Line 37"/>
          <p:cNvSpPr>
            <a:spLocks noChangeShapeType="1"/>
          </p:cNvSpPr>
          <p:nvPr/>
        </p:nvSpPr>
        <p:spPr bwMode="auto">
          <a:xfrm>
            <a:off x="5334000" y="5334000"/>
            <a:ext cx="0" cy="533400"/>
          </a:xfrm>
          <a:prstGeom prst="line">
            <a:avLst/>
          </a:prstGeom>
          <a:noFill/>
          <a:ln w="28575">
            <a:solidFill>
              <a:srgbClr val="22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45" name="Line 38"/>
          <p:cNvSpPr>
            <a:spLocks noChangeShapeType="1"/>
          </p:cNvSpPr>
          <p:nvPr/>
        </p:nvSpPr>
        <p:spPr bwMode="auto">
          <a:xfrm>
            <a:off x="8153400" y="5410200"/>
            <a:ext cx="0" cy="533400"/>
          </a:xfrm>
          <a:prstGeom prst="line">
            <a:avLst/>
          </a:prstGeom>
          <a:noFill/>
          <a:ln w="28575">
            <a:solidFill>
              <a:srgbClr val="22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46" name="Line 39"/>
          <p:cNvSpPr>
            <a:spLocks noChangeShapeType="1"/>
          </p:cNvSpPr>
          <p:nvPr/>
        </p:nvSpPr>
        <p:spPr bwMode="auto">
          <a:xfrm>
            <a:off x="8153400" y="4495800"/>
            <a:ext cx="0" cy="533400"/>
          </a:xfrm>
          <a:prstGeom prst="line">
            <a:avLst/>
          </a:prstGeom>
          <a:noFill/>
          <a:ln w="28575">
            <a:solidFill>
              <a:srgbClr val="22007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47" name="Text Box 40"/>
          <p:cNvSpPr txBox="1">
            <a:spLocks noChangeArrowheads="1"/>
          </p:cNvSpPr>
          <p:nvPr/>
        </p:nvSpPr>
        <p:spPr bwMode="auto">
          <a:xfrm>
            <a:off x="4191000" y="914400"/>
            <a:ext cx="4572000" cy="588963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b="0">
                <a:solidFill>
                  <a:schemeClr val="tx1"/>
                </a:solidFill>
              </a:rPr>
              <a:t> pos := init + 10 * size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72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255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C037F2-18A0-4478-9313-8EC7970AEE33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Phân tích cú pháp </a:t>
            </a:r>
            <a:r>
              <a:rPr lang="en-US" altLang="en-US" sz="2800">
                <a:sym typeface="Symbol" panose="05050102010706020507" pitchFamily="18" charset="2"/>
              </a:rPr>
              <a:t> Cây cú pháp (syntax tree)</a:t>
            </a:r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Các giai đoạn chính của chương trình dịch</a:t>
            </a:r>
          </a:p>
        </p:txBody>
      </p:sp>
      <p:sp>
        <p:nvSpPr>
          <p:cNvPr id="1477670" name="Text Box 38"/>
          <p:cNvSpPr txBox="1">
            <a:spLocks noChangeArrowheads="1"/>
          </p:cNvSpPr>
          <p:nvPr/>
        </p:nvSpPr>
        <p:spPr bwMode="auto">
          <a:xfrm>
            <a:off x="4267200" y="2362200"/>
            <a:ext cx="4572000" cy="588963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b="0">
                <a:solidFill>
                  <a:schemeClr val="tx1"/>
                </a:solidFill>
              </a:rPr>
              <a:t> pos := init + 10 * size</a:t>
            </a:r>
          </a:p>
        </p:txBody>
      </p:sp>
      <p:grpSp>
        <p:nvGrpSpPr>
          <p:cNvPr id="1477675" name="Group 43"/>
          <p:cNvGrpSpPr>
            <a:grpSpLocks/>
          </p:cNvGrpSpPr>
          <p:nvPr/>
        </p:nvGrpSpPr>
        <p:grpSpPr bwMode="auto">
          <a:xfrm>
            <a:off x="1371600" y="2743200"/>
            <a:ext cx="5486400" cy="3276600"/>
            <a:chOff x="1632" y="1536"/>
            <a:chExt cx="3456" cy="2064"/>
          </a:xfrm>
        </p:grpSpPr>
        <p:sp>
          <p:nvSpPr>
            <p:cNvPr id="44040" name="Text Box 11"/>
            <p:cNvSpPr txBox="1">
              <a:spLocks noChangeArrowheads="1"/>
            </p:cNvSpPr>
            <p:nvPr/>
          </p:nvSpPr>
          <p:spPr bwMode="auto">
            <a:xfrm>
              <a:off x="2640" y="2640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rgbClr val="DF3507"/>
                  </a:solidFill>
                </a:rPr>
                <a:t>init</a:t>
              </a:r>
            </a:p>
          </p:txBody>
        </p:sp>
        <p:sp>
          <p:nvSpPr>
            <p:cNvPr id="44041" name="Text Box 12"/>
            <p:cNvSpPr txBox="1">
              <a:spLocks noChangeArrowheads="1"/>
            </p:cNvSpPr>
            <p:nvPr/>
          </p:nvSpPr>
          <p:spPr bwMode="auto">
            <a:xfrm>
              <a:off x="3408" y="3264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rgbClr val="DF3507"/>
                  </a:solidFill>
                </a:rPr>
                <a:t>10</a:t>
              </a:r>
            </a:p>
          </p:txBody>
        </p:sp>
        <p:sp>
          <p:nvSpPr>
            <p:cNvPr id="44042" name="Text Box 14"/>
            <p:cNvSpPr txBox="1">
              <a:spLocks noChangeArrowheads="1"/>
            </p:cNvSpPr>
            <p:nvPr/>
          </p:nvSpPr>
          <p:spPr bwMode="auto">
            <a:xfrm>
              <a:off x="1632" y="2064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rgbClr val="DF3507"/>
                  </a:solidFill>
                </a:rPr>
                <a:t>pos</a:t>
              </a:r>
            </a:p>
          </p:txBody>
        </p:sp>
        <p:sp>
          <p:nvSpPr>
            <p:cNvPr id="44043" name="Text Box 15"/>
            <p:cNvSpPr txBox="1">
              <a:spLocks noChangeArrowheads="1"/>
            </p:cNvSpPr>
            <p:nvPr/>
          </p:nvSpPr>
          <p:spPr bwMode="auto">
            <a:xfrm>
              <a:off x="2304" y="1536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rgbClr val="DF3507"/>
                  </a:solidFill>
                </a:rPr>
                <a:t>:=</a:t>
              </a:r>
            </a:p>
          </p:txBody>
        </p:sp>
        <p:sp>
          <p:nvSpPr>
            <p:cNvPr id="44044" name="Text Box 16"/>
            <p:cNvSpPr txBox="1">
              <a:spLocks noChangeArrowheads="1"/>
            </p:cNvSpPr>
            <p:nvPr/>
          </p:nvSpPr>
          <p:spPr bwMode="auto">
            <a:xfrm>
              <a:off x="3840" y="2553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rgbClr val="DF3507"/>
                  </a:solidFill>
                </a:rPr>
                <a:t>*</a:t>
              </a:r>
            </a:p>
          </p:txBody>
        </p:sp>
        <p:sp>
          <p:nvSpPr>
            <p:cNvPr id="44045" name="Text Box 19"/>
            <p:cNvSpPr txBox="1">
              <a:spLocks noChangeArrowheads="1"/>
            </p:cNvSpPr>
            <p:nvPr/>
          </p:nvSpPr>
          <p:spPr bwMode="auto">
            <a:xfrm>
              <a:off x="3168" y="2064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rgbClr val="DF3507"/>
                  </a:solidFill>
                </a:rPr>
                <a:t>+</a:t>
              </a:r>
            </a:p>
          </p:txBody>
        </p:sp>
        <p:sp>
          <p:nvSpPr>
            <p:cNvPr id="44046" name="Text Box 21"/>
            <p:cNvSpPr txBox="1">
              <a:spLocks noChangeArrowheads="1"/>
            </p:cNvSpPr>
            <p:nvPr/>
          </p:nvSpPr>
          <p:spPr bwMode="auto">
            <a:xfrm>
              <a:off x="4320" y="3273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rgbClr val="DF3507"/>
                  </a:solidFill>
                </a:rPr>
                <a:t>size</a:t>
              </a:r>
            </a:p>
          </p:txBody>
        </p:sp>
        <p:sp>
          <p:nvSpPr>
            <p:cNvPr id="44047" name="Line 23"/>
            <p:cNvSpPr>
              <a:spLocks noChangeShapeType="1"/>
            </p:cNvSpPr>
            <p:nvPr/>
          </p:nvSpPr>
          <p:spPr bwMode="auto">
            <a:xfrm flipH="1">
              <a:off x="2016" y="1776"/>
              <a:ext cx="480" cy="336"/>
            </a:xfrm>
            <a:prstGeom prst="line">
              <a:avLst/>
            </a:prstGeom>
            <a:noFill/>
            <a:ln w="28575">
              <a:solidFill>
                <a:srgbClr val="22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8" name="Line 24"/>
            <p:cNvSpPr>
              <a:spLocks noChangeShapeType="1"/>
            </p:cNvSpPr>
            <p:nvPr/>
          </p:nvSpPr>
          <p:spPr bwMode="auto">
            <a:xfrm>
              <a:off x="2832" y="1776"/>
              <a:ext cx="624" cy="384"/>
            </a:xfrm>
            <a:prstGeom prst="line">
              <a:avLst/>
            </a:prstGeom>
            <a:noFill/>
            <a:ln w="28575">
              <a:solidFill>
                <a:srgbClr val="22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9" name="Line 39"/>
            <p:cNvSpPr>
              <a:spLocks noChangeShapeType="1"/>
            </p:cNvSpPr>
            <p:nvPr/>
          </p:nvSpPr>
          <p:spPr bwMode="auto">
            <a:xfrm flipH="1">
              <a:off x="3024" y="2277"/>
              <a:ext cx="432" cy="384"/>
            </a:xfrm>
            <a:prstGeom prst="line">
              <a:avLst/>
            </a:prstGeom>
            <a:noFill/>
            <a:ln w="28575">
              <a:solidFill>
                <a:srgbClr val="22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0" name="Line 40"/>
            <p:cNvSpPr>
              <a:spLocks noChangeShapeType="1"/>
            </p:cNvSpPr>
            <p:nvPr/>
          </p:nvSpPr>
          <p:spPr bwMode="auto">
            <a:xfrm>
              <a:off x="3600" y="2256"/>
              <a:ext cx="576" cy="336"/>
            </a:xfrm>
            <a:prstGeom prst="line">
              <a:avLst/>
            </a:prstGeom>
            <a:noFill/>
            <a:ln w="28575">
              <a:solidFill>
                <a:srgbClr val="22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1" name="Line 41"/>
            <p:cNvSpPr>
              <a:spLocks noChangeShapeType="1"/>
            </p:cNvSpPr>
            <p:nvPr/>
          </p:nvSpPr>
          <p:spPr bwMode="auto">
            <a:xfrm flipH="1">
              <a:off x="3792" y="2736"/>
              <a:ext cx="336" cy="480"/>
            </a:xfrm>
            <a:prstGeom prst="line">
              <a:avLst/>
            </a:prstGeom>
            <a:noFill/>
            <a:ln w="28575">
              <a:solidFill>
                <a:srgbClr val="22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2" name="Line 42"/>
            <p:cNvSpPr>
              <a:spLocks noChangeShapeType="1"/>
            </p:cNvSpPr>
            <p:nvPr/>
          </p:nvSpPr>
          <p:spPr bwMode="auto">
            <a:xfrm flipH="1" flipV="1">
              <a:off x="4290" y="2748"/>
              <a:ext cx="414" cy="468"/>
            </a:xfrm>
            <a:prstGeom prst="line">
              <a:avLst/>
            </a:prstGeom>
            <a:noFill/>
            <a:ln w="28575">
              <a:solidFill>
                <a:srgbClr val="22007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039" name="Text Box 44"/>
          <p:cNvSpPr txBox="1">
            <a:spLocks noChangeArrowheads="1"/>
          </p:cNvSpPr>
          <p:nvPr/>
        </p:nvSpPr>
        <p:spPr bwMode="auto">
          <a:xfrm>
            <a:off x="381000" y="944563"/>
            <a:ext cx="8382000" cy="118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7663" indent="-347663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5000"/>
              </a:spcBef>
            </a:pPr>
            <a:r>
              <a:rPr lang="en-US" altLang="en-US" b="0"/>
              <a:t>Các nút trong là các toán tử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en-US" b="0"/>
              <a:t>Các toán hạng là các nút con của toán tử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77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7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767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83F053-A2E6-4CFE-B1F4-2EC6C7C415FC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Phân tích ngữ nghĩa (Semantic Analysis)</a:t>
            </a:r>
          </a:p>
        </p:txBody>
      </p:sp>
      <p:sp>
        <p:nvSpPr>
          <p:cNvPr id="45060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Các giai đoạn chính của chương trình dịch</a:t>
            </a:r>
          </a:p>
        </p:txBody>
      </p:sp>
      <p:sp>
        <p:nvSpPr>
          <p:cNvPr id="146330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66700" y="990600"/>
            <a:ext cx="8572500" cy="5715000"/>
          </a:xfrm>
          <a:noFill/>
        </p:spPr>
        <p:txBody>
          <a:bodyPr/>
          <a:lstStyle/>
          <a:p>
            <a:pPr marL="290513" indent="-290513" eaLnBrk="1" hangingPunct="1">
              <a:tabLst>
                <a:tab pos="1654175" algn="l"/>
              </a:tabLst>
            </a:pPr>
            <a:r>
              <a:rPr lang="en-US" altLang="en-US"/>
              <a:t>Kiểm tra lỗi ngữ nghĩa của chương trình</a:t>
            </a:r>
          </a:p>
          <a:p>
            <a:pPr marL="973138" lvl="1" indent="-292100" eaLnBrk="1" hangingPunct="1">
              <a:tabLst>
                <a:tab pos="1654175" algn="l"/>
              </a:tabLst>
            </a:pPr>
            <a:r>
              <a:rPr lang="en-US" altLang="en-US"/>
              <a:t>Lệnh </a:t>
            </a:r>
            <a:r>
              <a:rPr lang="en-US" altLang="en-US" i="1">
                <a:solidFill>
                  <a:srgbClr val="0000CC"/>
                </a:solidFill>
              </a:rPr>
              <a:t>pos := init+10*size</a:t>
            </a:r>
            <a:r>
              <a:rPr lang="en-US" altLang="en-US"/>
              <a:t> đúng cú pháp</a:t>
            </a:r>
          </a:p>
          <a:p>
            <a:pPr marL="973138" lvl="1" indent="-292100" eaLnBrk="1" hangingPunct="1">
              <a:tabLst>
                <a:tab pos="1654175" algn="l"/>
              </a:tabLst>
            </a:pPr>
            <a:r>
              <a:rPr lang="en-US" altLang="en-US"/>
              <a:t>Nếu pos là hằng số</a:t>
            </a:r>
          </a:p>
          <a:p>
            <a:pPr marL="973138" lvl="1" indent="-292100" eaLnBrk="1" hangingPunct="1">
              <a:buFontTx/>
              <a:buNone/>
              <a:tabLst>
                <a:tab pos="1654175" algn="l"/>
              </a:tabLst>
            </a:pPr>
            <a:r>
              <a:rPr lang="en-US" altLang="en-US">
                <a:sym typeface="Symbol" panose="05050102010706020507" pitchFamily="18" charset="2"/>
              </a:rPr>
              <a:t>	</a:t>
            </a:r>
            <a:r>
              <a:rPr lang="en-US" altLang="en-US"/>
              <a:t> </a:t>
            </a:r>
            <a:r>
              <a:rPr lang="en-US" altLang="en-US" i="1">
                <a:solidFill>
                  <a:srgbClr val="0000CC"/>
                </a:solidFill>
              </a:rPr>
              <a:t>pos := init+10*size</a:t>
            </a:r>
            <a:r>
              <a:rPr lang="en-US" altLang="en-US"/>
              <a:t> sai ngữ nghĩa</a:t>
            </a:r>
          </a:p>
          <a:p>
            <a:pPr marL="290513" indent="-290513" eaLnBrk="1" hangingPunct="1">
              <a:tabLst>
                <a:tab pos="1654175" algn="l"/>
              </a:tabLst>
            </a:pPr>
            <a:r>
              <a:rPr lang="en-US" altLang="en-US"/>
              <a:t>Kiểm tra kiểu toán hạng có phù hợp toán tử</a:t>
            </a:r>
          </a:p>
          <a:p>
            <a:pPr marL="973138" lvl="1" indent="-292100" eaLnBrk="1" hangingPunct="1">
              <a:tabLst>
                <a:tab pos="1654175" algn="l"/>
              </a:tabLst>
            </a:pPr>
            <a:r>
              <a:rPr lang="en-US" altLang="en-US"/>
              <a:t>% (MOD) đòi hỏi toán hạng nguyên</a:t>
            </a:r>
          </a:p>
          <a:p>
            <a:pPr marL="973138" lvl="1" indent="-292100" eaLnBrk="1" hangingPunct="1">
              <a:tabLst>
                <a:tab pos="1654175" algn="l"/>
              </a:tabLst>
            </a:pPr>
            <a:r>
              <a:rPr lang="en-US" altLang="en-US"/>
              <a:t>Một số toán tử chấp nhận toán hạng khác kiểu</a:t>
            </a:r>
          </a:p>
          <a:p>
            <a:pPr marL="1481138" lvl="2" indent="-219075" eaLnBrk="1" hangingPunct="1">
              <a:tabLst>
                <a:tab pos="1654175" algn="l"/>
              </a:tabLst>
            </a:pPr>
            <a:r>
              <a:rPr lang="en-US" altLang="en-US"/>
              <a:t>Vấn đề chuyển kiểu tự động (</a:t>
            </a:r>
            <a:r>
              <a:rPr lang="en-US" altLang="en-US" i="1">
                <a:solidFill>
                  <a:srgbClr val="0000CC"/>
                </a:solidFill>
              </a:rPr>
              <a:t>nguyên </a:t>
            </a:r>
            <a:r>
              <a:rPr lang="en-US" altLang="en-US" i="1">
                <a:solidFill>
                  <a:srgbClr val="0000CC"/>
                </a:solidFill>
                <a:sym typeface="Symbol" panose="05050102010706020507" pitchFamily="18" charset="2"/>
              </a:rPr>
              <a:t></a:t>
            </a:r>
            <a:r>
              <a:rPr lang="en-US" altLang="en-US" i="1">
                <a:solidFill>
                  <a:srgbClr val="0000CC"/>
                </a:solidFill>
              </a:rPr>
              <a:t> thực</a:t>
            </a:r>
            <a:r>
              <a:rPr lang="en-US" altLang="en-US"/>
              <a:t>)</a:t>
            </a:r>
          </a:p>
          <a:p>
            <a:pPr marL="1481138" lvl="2" indent="-219075" eaLnBrk="1" hangingPunct="1">
              <a:tabLst>
                <a:tab pos="1654175" algn="l"/>
              </a:tabLst>
            </a:pPr>
            <a:r>
              <a:rPr lang="en-US" altLang="en-US" i="1">
                <a:solidFill>
                  <a:srgbClr val="0000CC"/>
                </a:solidFill>
              </a:rPr>
              <a:t>Ví dụ pos := init+</a:t>
            </a:r>
            <a:r>
              <a:rPr lang="en-US" altLang="en-US" b="1" i="1">
                <a:solidFill>
                  <a:srgbClr val="996600"/>
                </a:solidFill>
              </a:rPr>
              <a:t>int2Real</a:t>
            </a:r>
            <a:r>
              <a:rPr lang="en-US" altLang="en-US" i="1">
                <a:solidFill>
                  <a:srgbClr val="0000CC"/>
                </a:solidFill>
              </a:rPr>
              <a:t>(10) * size</a:t>
            </a:r>
            <a:endParaRPr lang="en-US" altLang="en-US"/>
          </a:p>
          <a:p>
            <a:pPr marL="290513" indent="-290513" eaLnBrk="1" hangingPunct="1">
              <a:tabLst>
                <a:tab pos="1654175" algn="l"/>
              </a:tabLst>
            </a:pPr>
            <a:r>
              <a:rPr lang="en-US" altLang="en-US"/>
              <a:t>Lấy thông tin về kiểu của danh biểu (tên)</a:t>
            </a:r>
          </a:p>
          <a:p>
            <a:pPr marL="973138" lvl="1" indent="-292100" eaLnBrk="1" hangingPunct="1">
              <a:tabLst>
                <a:tab pos="1654175" algn="l"/>
              </a:tabLst>
            </a:pPr>
            <a:r>
              <a:rPr lang="en-US" altLang="en-US"/>
              <a:t>Thông tin dùng cho giai đoạn sinh mã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463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14633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4633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4633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4633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3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4633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3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633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3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4633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3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4633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3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4633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3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4633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6487CB7-80DC-4DBC-809D-15E1AEAB775D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Sinh mã (Code Generation)</a:t>
            </a:r>
          </a:p>
        </p:txBody>
      </p:sp>
      <p:sp>
        <p:nvSpPr>
          <p:cNvPr id="46084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Các giai đoạn chính của chương trình dịch</a:t>
            </a:r>
          </a:p>
        </p:txBody>
      </p:sp>
      <p:sp>
        <p:nvSpPr>
          <p:cNvPr id="4608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66700" y="1066800"/>
            <a:ext cx="8572500" cy="5334000"/>
          </a:xfrm>
          <a:noFill/>
        </p:spPr>
        <p:txBody>
          <a:bodyPr/>
          <a:lstStyle/>
          <a:p>
            <a:pPr marL="290513" indent="-290513" eaLnBrk="1" hangingPunct="1">
              <a:lnSpc>
                <a:spcPct val="120000"/>
              </a:lnSpc>
            </a:pPr>
            <a:r>
              <a:rPr lang="en-US" altLang="en-US"/>
              <a:t>Được thực hiện khi chương trình nguồn đúng cả về cú pháp và ngữ nghĩa</a:t>
            </a:r>
          </a:p>
          <a:p>
            <a:pPr marL="290513" indent="-290513" eaLnBrk="1" hangingPunct="1">
              <a:lnSpc>
                <a:spcPct val="120000"/>
              </a:lnSpc>
            </a:pPr>
            <a:r>
              <a:rPr lang="en-US" altLang="en-US"/>
              <a:t>Thường gồm 3 giai đoạn</a:t>
            </a:r>
          </a:p>
          <a:p>
            <a:pPr marL="1214438" lvl="1" indent="-533400" eaLnBrk="1" hangingPunct="1">
              <a:lnSpc>
                <a:spcPct val="120000"/>
              </a:lnSpc>
            </a:pPr>
            <a:r>
              <a:rPr lang="en-US" altLang="en-US"/>
              <a:t>Sinh mã trung gian</a:t>
            </a:r>
          </a:p>
          <a:p>
            <a:pPr marL="1214438" lvl="1" indent="-533400" eaLnBrk="1" hangingPunct="1">
              <a:lnSpc>
                <a:spcPct val="120000"/>
              </a:lnSpc>
            </a:pPr>
            <a:r>
              <a:rPr lang="en-US" altLang="en-US"/>
              <a:t>Tối ưu mã</a:t>
            </a:r>
          </a:p>
          <a:p>
            <a:pPr marL="1214438" lvl="1" indent="-533400" eaLnBrk="1" hangingPunct="1">
              <a:lnSpc>
                <a:spcPct val="120000"/>
              </a:lnSpc>
            </a:pPr>
            <a:r>
              <a:rPr lang="en-US" altLang="en-US"/>
              <a:t>Sinh mã đích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63A5101-27DF-418A-9B3E-98CEA06F31B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Sinh mã</a:t>
            </a:r>
            <a:r>
              <a:rPr lang="en-US" altLang="en-US" sz="2800">
                <a:sym typeface="Symbol" panose="05050102010706020507" pitchFamily="18" charset="2"/>
              </a:rPr>
              <a:t>Sinh mã trung gian</a:t>
            </a:r>
          </a:p>
        </p:txBody>
      </p:sp>
      <p:sp>
        <p:nvSpPr>
          <p:cNvPr id="47108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Các giai đoạn chính của chương trình dịch</a:t>
            </a:r>
          </a:p>
        </p:txBody>
      </p:sp>
      <p:sp>
        <p:nvSpPr>
          <p:cNvPr id="147456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8915400" cy="5791200"/>
          </a:xfrm>
          <a:noFill/>
        </p:spPr>
        <p:txBody>
          <a:bodyPr tIns="0" bIns="0"/>
          <a:lstStyle/>
          <a:p>
            <a:pPr marL="290513" indent="-290513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en-US" sz="2800"/>
              <a:t>Mã nguồn được chuyển sang chương trình tương đương trong ngôn ngữ trung gian</a:t>
            </a:r>
          </a:p>
          <a:p>
            <a:pPr marL="682625" lvl="1" indent="-277813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en-US" sz="2400"/>
              <a:t>Mã trung gian là mã máy độc lập, tương tự với tập lệnh trong máy.</a:t>
            </a:r>
          </a:p>
          <a:p>
            <a:pPr marL="290513" indent="-290513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en-US" sz="2800"/>
              <a:t>Ưu điểm của mã trung gian</a:t>
            </a:r>
          </a:p>
          <a:p>
            <a:pPr marL="682625" lvl="1" indent="-277813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en-US" sz="2400"/>
              <a:t>Thuận lợi khi cần thay đổi cách biểu diễn chương trình đích</a:t>
            </a:r>
          </a:p>
          <a:p>
            <a:pPr marL="682625" lvl="1" indent="-277813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en-US" sz="2400"/>
              <a:t>Có thể  tối ưu hóa mã độc lập với máy đích cho dạng biểu diễn trung gian.</a:t>
            </a:r>
          </a:p>
          <a:p>
            <a:pPr marL="682625" lvl="1" indent="-277813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en-US" sz="2400"/>
              <a:t>Giảm thời gian thực thi chương trình đích vì mã trung gian có thể được tối ưu</a:t>
            </a:r>
          </a:p>
          <a:p>
            <a:pPr marL="290513" indent="-290513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en-US" sz="2800"/>
              <a:t>Ngôn ngữ trung gian</a:t>
            </a:r>
          </a:p>
          <a:p>
            <a:pPr marL="682625" lvl="1" indent="-277813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en-US" sz="2400"/>
              <a:t>Mã 3 địa chỉ (</a:t>
            </a:r>
            <a:r>
              <a:rPr lang="en-US" altLang="en-US" sz="2400" i="1">
                <a:solidFill>
                  <a:schemeClr val="bg2"/>
                </a:solidFill>
              </a:rPr>
              <a:t>thường được dùng</a:t>
            </a:r>
            <a:r>
              <a:rPr lang="en-US" altLang="en-US" sz="2400"/>
              <a:t>)</a:t>
            </a:r>
          </a:p>
          <a:p>
            <a:pPr marL="682625" lvl="1" indent="-277813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en-US" sz="2400"/>
              <a:t>Cây cú pháp, Ký pháp Ba Lan sau (hậu tố),..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74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745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745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745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4745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4745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745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585AD3-44B1-4126-868B-4875F007CB4D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Sinh mã</a:t>
            </a:r>
            <a:r>
              <a:rPr lang="en-US" altLang="en-US" sz="2800">
                <a:sym typeface="Symbol" panose="05050102010706020507" pitchFamily="18" charset="2"/>
              </a:rPr>
              <a:t>Sinh mã trung gianMã 3 địa chỉ</a:t>
            </a:r>
          </a:p>
        </p:txBody>
      </p:sp>
      <p:sp>
        <p:nvSpPr>
          <p:cNvPr id="48132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Các giai đoạn chính của chương trình dịch</a:t>
            </a:r>
          </a:p>
        </p:txBody>
      </p:sp>
      <p:sp>
        <p:nvSpPr>
          <p:cNvPr id="149094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8763000" cy="5791200"/>
          </a:xfrm>
          <a:noFill/>
        </p:spPr>
        <p:txBody>
          <a:bodyPr tIns="0" bIns="0"/>
          <a:lstStyle/>
          <a:p>
            <a:pPr marL="290513" indent="-290513" eaLnBrk="1" hangingPunct="1">
              <a:lnSpc>
                <a:spcPct val="105000"/>
              </a:lnSpc>
              <a:spcBef>
                <a:spcPct val="10000"/>
              </a:spcBef>
            </a:pPr>
            <a:r>
              <a:rPr lang="en-US" altLang="en-US"/>
              <a:t>Mỗi câu lệnh có nhiều nhất </a:t>
            </a:r>
          </a:p>
          <a:p>
            <a:pPr marL="682625" lvl="1" indent="-277813" eaLnBrk="1" hangingPunct="1">
              <a:lnSpc>
                <a:spcPct val="105000"/>
              </a:lnSpc>
              <a:spcBef>
                <a:spcPct val="10000"/>
              </a:spcBef>
            </a:pPr>
            <a:r>
              <a:rPr lang="en-US" altLang="en-US"/>
              <a:t>3 toán hạng</a:t>
            </a:r>
          </a:p>
          <a:p>
            <a:pPr marL="682625" lvl="1" indent="-277813" eaLnBrk="1" hangingPunct="1">
              <a:lnSpc>
                <a:spcPct val="105000"/>
              </a:lnSpc>
              <a:spcBef>
                <a:spcPct val="10000"/>
              </a:spcBef>
            </a:pPr>
            <a:r>
              <a:rPr lang="en-US" altLang="en-US"/>
              <a:t>2 toán tử, trong đó có 1 toán tử gán</a:t>
            </a:r>
          </a:p>
          <a:p>
            <a:pPr marL="290513" indent="-290513" eaLnBrk="1" hangingPunct="1">
              <a:lnSpc>
                <a:spcPct val="105000"/>
              </a:lnSpc>
              <a:spcBef>
                <a:spcPct val="10000"/>
              </a:spcBef>
            </a:pPr>
            <a:r>
              <a:rPr lang="en-US" altLang="en-US"/>
              <a:t>Chương trình dịch phải sinh ra biến tạm để chứa giá trị tính toán sau mỗi lệnh</a:t>
            </a:r>
          </a:p>
          <a:p>
            <a:pPr marL="290513" indent="-290513" eaLnBrk="1" hangingPunct="1">
              <a:lnSpc>
                <a:spcPct val="105000"/>
              </a:lnSpc>
              <a:spcBef>
                <a:spcPct val="10000"/>
              </a:spcBef>
              <a:buFontTx/>
              <a:buNone/>
            </a:pPr>
            <a:r>
              <a:rPr lang="en-US" altLang="en-US" b="1"/>
              <a:t>Ví dụ:</a:t>
            </a:r>
            <a:r>
              <a:rPr lang="en-US" altLang="en-US"/>
              <a:t> 	</a:t>
            </a:r>
            <a:r>
              <a:rPr lang="en-US" altLang="en-US" i="1">
                <a:solidFill>
                  <a:srgbClr val="0000CC"/>
                </a:solidFill>
              </a:rPr>
              <a:t>pos := init+</a:t>
            </a:r>
            <a:r>
              <a:rPr lang="en-US" altLang="en-US" b="1" i="1">
                <a:solidFill>
                  <a:srgbClr val="996600"/>
                </a:solidFill>
              </a:rPr>
              <a:t>int2Real</a:t>
            </a:r>
            <a:r>
              <a:rPr lang="en-US" altLang="en-US" i="1">
                <a:solidFill>
                  <a:srgbClr val="0000CC"/>
                </a:solidFill>
              </a:rPr>
              <a:t>(10) * size</a:t>
            </a:r>
          </a:p>
          <a:p>
            <a:pPr marL="290513" indent="-290513" eaLnBrk="1" hangingPunct="1">
              <a:lnSpc>
                <a:spcPct val="105000"/>
              </a:lnSpc>
              <a:spcBef>
                <a:spcPct val="10000"/>
              </a:spcBef>
              <a:buFontTx/>
              <a:buNone/>
            </a:pPr>
            <a:r>
              <a:rPr lang="en-US" altLang="en-US"/>
              <a:t>Sinh ra mã 3 địa chỉ</a:t>
            </a:r>
            <a:endParaRPr lang="en-US" altLang="en-US" b="1">
              <a:solidFill>
                <a:srgbClr val="0000CC"/>
              </a:solidFill>
            </a:endParaRPr>
          </a:p>
          <a:p>
            <a:pPr marL="1785938" lvl="2" indent="-457200" eaLnBrk="1" hangingPunct="1">
              <a:lnSpc>
                <a:spcPct val="105000"/>
              </a:lnSpc>
              <a:spcBef>
                <a:spcPct val="10000"/>
              </a:spcBef>
              <a:buFontTx/>
              <a:buNone/>
            </a:pPr>
            <a:r>
              <a:rPr lang="en-US" altLang="en-US" sz="2800">
                <a:solidFill>
                  <a:srgbClr val="0000CC"/>
                </a:solidFill>
              </a:rPr>
              <a:t>Temp1 := Int2Real(10)</a:t>
            </a:r>
          </a:p>
          <a:p>
            <a:pPr marL="1785938" lvl="2" indent="-457200" eaLnBrk="1" hangingPunct="1">
              <a:lnSpc>
                <a:spcPct val="105000"/>
              </a:lnSpc>
              <a:spcBef>
                <a:spcPct val="10000"/>
              </a:spcBef>
              <a:buFontTx/>
              <a:buNone/>
            </a:pPr>
            <a:r>
              <a:rPr lang="en-US" altLang="en-US" sz="2800">
                <a:solidFill>
                  <a:srgbClr val="0000CC"/>
                </a:solidFill>
              </a:rPr>
              <a:t>Temp2 := Temp1 * Id 3</a:t>
            </a:r>
          </a:p>
          <a:p>
            <a:pPr marL="1785938" lvl="2" indent="-457200" eaLnBrk="1" hangingPunct="1">
              <a:lnSpc>
                <a:spcPct val="105000"/>
              </a:lnSpc>
              <a:spcBef>
                <a:spcPct val="10000"/>
              </a:spcBef>
              <a:buFontTx/>
              <a:buNone/>
            </a:pPr>
            <a:r>
              <a:rPr lang="en-US" altLang="en-US" sz="2800">
                <a:solidFill>
                  <a:srgbClr val="0000CC"/>
                </a:solidFill>
              </a:rPr>
              <a:t>Temp3 := Id2 + Temp2</a:t>
            </a:r>
          </a:p>
          <a:p>
            <a:pPr marL="1785938" lvl="2" indent="-457200" eaLnBrk="1" hangingPunct="1">
              <a:lnSpc>
                <a:spcPct val="105000"/>
              </a:lnSpc>
              <a:spcBef>
                <a:spcPct val="10000"/>
              </a:spcBef>
              <a:buFontTx/>
              <a:buNone/>
            </a:pPr>
            <a:r>
              <a:rPr lang="en-US" altLang="en-US" sz="2800">
                <a:solidFill>
                  <a:srgbClr val="0000CC"/>
                </a:solidFill>
              </a:rPr>
              <a:t>Id1	:= Temp3 </a:t>
            </a:r>
          </a:p>
        </p:txBody>
      </p:sp>
      <p:grpSp>
        <p:nvGrpSpPr>
          <p:cNvPr id="1490952" name="Group 8"/>
          <p:cNvGrpSpPr>
            <a:grpSpLocks/>
          </p:cNvGrpSpPr>
          <p:nvPr/>
        </p:nvGrpSpPr>
        <p:grpSpPr bwMode="auto">
          <a:xfrm>
            <a:off x="5105400" y="4495800"/>
            <a:ext cx="3810000" cy="2057400"/>
            <a:chOff x="3216" y="2832"/>
            <a:chExt cx="2400" cy="1296"/>
          </a:xfrm>
        </p:grpSpPr>
        <p:sp>
          <p:nvSpPr>
            <p:cNvPr id="48135" name="AutoShape 6"/>
            <p:cNvSpPr>
              <a:spLocks/>
            </p:cNvSpPr>
            <p:nvPr/>
          </p:nvSpPr>
          <p:spPr bwMode="auto">
            <a:xfrm>
              <a:off x="3216" y="2832"/>
              <a:ext cx="384" cy="1296"/>
            </a:xfrm>
            <a:prstGeom prst="rightBrace">
              <a:avLst>
                <a:gd name="adj1" fmla="val 2812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8136" name="Text Box 7"/>
            <p:cNvSpPr txBox="1">
              <a:spLocks noChangeArrowheads="1"/>
            </p:cNvSpPr>
            <p:nvPr/>
          </p:nvSpPr>
          <p:spPr bwMode="auto">
            <a:xfrm>
              <a:off x="3648" y="2958"/>
              <a:ext cx="1968" cy="10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Id1, Id2, Id 3 là các con trỏ, trỏ tới các phần tử size, init, pos trong bảng ký hiệu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9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909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9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909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9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909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9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909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9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909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9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909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90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90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F2A183-5FFD-43F0-932B-57DF11E02617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Sinh mã</a:t>
            </a:r>
            <a:r>
              <a:rPr lang="en-US" altLang="en-US" sz="2800">
                <a:sym typeface="Symbol" panose="05050102010706020507" pitchFamily="18" charset="2"/>
              </a:rPr>
              <a:t>Tối ưu mã trung gian</a:t>
            </a:r>
          </a:p>
        </p:txBody>
      </p:sp>
      <p:sp>
        <p:nvSpPr>
          <p:cNvPr id="49156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Các giai đoạn chính của chương trình dịch</a:t>
            </a:r>
          </a:p>
        </p:txBody>
      </p:sp>
      <p:sp>
        <p:nvSpPr>
          <p:cNvPr id="4915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66700" y="914400"/>
            <a:ext cx="8572500" cy="5715000"/>
          </a:xfrm>
          <a:noFill/>
        </p:spPr>
        <p:txBody>
          <a:bodyPr/>
          <a:lstStyle/>
          <a:p>
            <a:pPr marL="290513" indent="-290513" eaLnBrk="1" hangingPunct="1">
              <a:tabLst>
                <a:tab pos="1379538" algn="l"/>
              </a:tabLst>
            </a:pPr>
            <a:r>
              <a:rPr lang="en-US" altLang="en-US"/>
              <a:t>Mục đích: </a:t>
            </a:r>
          </a:p>
          <a:p>
            <a:pPr marL="914400" lvl="1" indent="-347663" eaLnBrk="1" hangingPunct="1">
              <a:tabLst>
                <a:tab pos="1379538" algn="l"/>
              </a:tabLst>
            </a:pPr>
            <a:r>
              <a:rPr lang="en-US" altLang="en-US"/>
              <a:t>Tối ưu về kích thước, tốc độ</a:t>
            </a:r>
          </a:p>
          <a:p>
            <a:pPr marL="290513" indent="-290513" eaLnBrk="1" hangingPunct="1">
              <a:buFontTx/>
              <a:buNone/>
              <a:tabLst>
                <a:tab pos="1379538" algn="l"/>
              </a:tabLst>
            </a:pPr>
            <a:r>
              <a:rPr lang="en-US" altLang="en-US" b="1"/>
              <a:t>Ví dụ</a:t>
            </a:r>
          </a:p>
          <a:p>
            <a:pPr marL="914400" lvl="1" indent="-347663" eaLnBrk="1" hangingPunct="1">
              <a:tabLst>
                <a:tab pos="1379538" algn="l"/>
              </a:tabLst>
            </a:pPr>
            <a:r>
              <a:rPr lang="en-US" altLang="en-US" i="1">
                <a:solidFill>
                  <a:srgbClr val="0000CC"/>
                </a:solidFill>
              </a:rPr>
              <a:t>Int2Real()</a:t>
            </a:r>
            <a:r>
              <a:rPr lang="en-US" altLang="en-US"/>
              <a:t> được thay bằng số thực tại thời điểm dịch</a:t>
            </a:r>
          </a:p>
          <a:p>
            <a:pPr marL="914400" lvl="1" indent="-347663" eaLnBrk="1" hangingPunct="1">
              <a:tabLst>
                <a:tab pos="1379538" algn="l"/>
              </a:tabLst>
            </a:pPr>
            <a:r>
              <a:rPr lang="en-US" altLang="en-US" i="1">
                <a:solidFill>
                  <a:srgbClr val="0000CC"/>
                </a:solidFill>
              </a:rPr>
              <a:t>Temp3</a:t>
            </a:r>
            <a:r>
              <a:rPr lang="en-US" altLang="en-US"/>
              <a:t> chỉ dùng 1 lần làm nơi lưu tạm thời dữ liệu trước khi chuyển cho Id1</a:t>
            </a:r>
          </a:p>
          <a:p>
            <a:pPr marL="1379538" lvl="2" indent="-290513" eaLnBrk="1" hangingPunct="1">
              <a:tabLst>
                <a:tab pos="1379538" algn="l"/>
              </a:tabLst>
            </a:pPr>
            <a:r>
              <a:rPr lang="en-US" altLang="en-US"/>
              <a:t>Có thể thay Id1 trực tiếp cho Temp3</a:t>
            </a:r>
          </a:p>
          <a:p>
            <a:pPr marL="914400" lvl="1" indent="-347663" eaLnBrk="1" hangingPunct="1">
              <a:tabLst>
                <a:tab pos="1379538" algn="l"/>
              </a:tabLst>
            </a:pPr>
            <a:r>
              <a:rPr lang="en-US" altLang="en-US"/>
              <a:t>Kết quả</a:t>
            </a:r>
          </a:p>
          <a:p>
            <a:pPr marL="1379538" lvl="2" indent="-290513" eaLnBrk="1" hangingPunct="1">
              <a:lnSpc>
                <a:spcPct val="105000"/>
              </a:lnSpc>
              <a:spcBef>
                <a:spcPct val="10000"/>
              </a:spcBef>
              <a:buFontTx/>
              <a:buNone/>
              <a:tabLst>
                <a:tab pos="1379538" algn="l"/>
              </a:tabLst>
            </a:pPr>
            <a:r>
              <a:rPr lang="en-US" altLang="en-US" sz="2800">
                <a:solidFill>
                  <a:srgbClr val="0000CC"/>
                </a:solidFill>
              </a:rPr>
              <a:t>	Temp1 	:= 10.0 *  Id 3</a:t>
            </a:r>
          </a:p>
          <a:p>
            <a:pPr marL="1379538" lvl="2" indent="-290513" eaLnBrk="1" hangingPunct="1">
              <a:lnSpc>
                <a:spcPct val="105000"/>
              </a:lnSpc>
              <a:spcBef>
                <a:spcPct val="10000"/>
              </a:spcBef>
              <a:buFontTx/>
              <a:buNone/>
              <a:tabLst>
                <a:tab pos="1379538" algn="l"/>
              </a:tabLst>
            </a:pPr>
            <a:r>
              <a:rPr lang="en-US" altLang="en-US" sz="2800">
                <a:solidFill>
                  <a:srgbClr val="0000CC"/>
                </a:solidFill>
              </a:rPr>
              <a:t>	Id1	:= Id2 + Temp1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4C5CABF-2FE0-4FEE-9298-7758AD19C5E9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Sinh mã</a:t>
            </a:r>
            <a:r>
              <a:rPr lang="en-US" altLang="en-US" sz="2800">
                <a:sym typeface="Symbol" panose="05050102010706020507" pitchFamily="18" charset="2"/>
              </a:rPr>
              <a:t>Sinh mã đích</a:t>
            </a:r>
          </a:p>
        </p:txBody>
      </p:sp>
      <p:sp>
        <p:nvSpPr>
          <p:cNvPr id="50180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Các giai đoạn chính của chương trình dịch</a:t>
            </a:r>
          </a:p>
        </p:txBody>
      </p:sp>
      <p:sp>
        <p:nvSpPr>
          <p:cNvPr id="147968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66700" y="838200"/>
            <a:ext cx="8572500" cy="5867400"/>
          </a:xfrm>
          <a:noFill/>
        </p:spPr>
        <p:txBody>
          <a:bodyPr/>
          <a:lstStyle/>
          <a:p>
            <a:pPr marL="290513" indent="-290513" eaLnBrk="1" hangingPunct="1">
              <a:lnSpc>
                <a:spcPct val="90000"/>
              </a:lnSpc>
            </a:pPr>
            <a:r>
              <a:rPr lang="en-US" altLang="en-US" b="1"/>
              <a:t>Mục đích:</a:t>
            </a:r>
            <a:r>
              <a:rPr lang="en-US" altLang="en-US"/>
              <a:t> Tạo chương trình thực thi </a:t>
            </a:r>
          </a:p>
          <a:p>
            <a:pPr marL="290513" indent="-290513" eaLnBrk="1" hangingPunct="1">
              <a:lnSpc>
                <a:spcPct val="90000"/>
              </a:lnSpc>
            </a:pPr>
            <a:r>
              <a:rPr lang="en-US" altLang="en-US" b="1"/>
              <a:t>Thực hiện:</a:t>
            </a:r>
          </a:p>
          <a:p>
            <a:pPr marL="973138" lvl="1" indent="-406400" eaLnBrk="1" hangingPunct="1">
              <a:lnSpc>
                <a:spcPct val="90000"/>
              </a:lnSpc>
            </a:pPr>
            <a:r>
              <a:rPr lang="en-US" altLang="en-US"/>
              <a:t>Các biến được cấp ô nhớ cụ thể</a:t>
            </a:r>
          </a:p>
          <a:p>
            <a:pPr marL="973138" lvl="1" indent="-406400" eaLnBrk="1" hangingPunct="1"/>
            <a:r>
              <a:rPr lang="en-US" altLang="en-US"/>
              <a:t>Các câu lệnh trung gian được thay bằng chuỗi mã máy tương đương</a:t>
            </a:r>
          </a:p>
          <a:p>
            <a:pPr marL="973138" lvl="1" indent="-406400" eaLnBrk="1" hangingPunct="1">
              <a:lnSpc>
                <a:spcPct val="90000"/>
              </a:lnSpc>
            </a:pPr>
            <a:r>
              <a:rPr lang="en-US" altLang="en-US"/>
              <a:t>Các biến được ấn định cho các thanh ghi</a:t>
            </a:r>
          </a:p>
          <a:p>
            <a:pPr marL="290513" indent="-290513" eaLnBrk="1" hangingPunct="1">
              <a:lnSpc>
                <a:spcPct val="90000"/>
              </a:lnSpc>
              <a:buFontTx/>
              <a:buNone/>
            </a:pPr>
            <a:r>
              <a:rPr lang="en-US" altLang="en-US" b="1"/>
              <a:t>Ví dụ</a:t>
            </a:r>
          </a:p>
          <a:p>
            <a:pPr marL="1481138" lvl="2" indent="-334963" eaLnBrk="1" hangingPunct="1">
              <a:lnSpc>
                <a:spcPct val="90000"/>
              </a:lnSpc>
              <a:buFontTx/>
              <a:buNone/>
            </a:pPr>
            <a:r>
              <a:rPr lang="en-US" altLang="en-US" sz="2800"/>
              <a:t>MOVF  Id3, R2</a:t>
            </a:r>
          </a:p>
          <a:p>
            <a:pPr marL="1481138" lvl="2" indent="-334963" eaLnBrk="1" hangingPunct="1">
              <a:lnSpc>
                <a:spcPct val="90000"/>
              </a:lnSpc>
              <a:buFontTx/>
              <a:buNone/>
            </a:pPr>
            <a:r>
              <a:rPr lang="en-US" altLang="en-US" sz="2800"/>
              <a:t>MULF  #10.0, R2</a:t>
            </a:r>
          </a:p>
          <a:p>
            <a:pPr marL="1481138" lvl="2" indent="-334963" eaLnBrk="1" hangingPunct="1">
              <a:lnSpc>
                <a:spcPct val="90000"/>
              </a:lnSpc>
              <a:buFontTx/>
              <a:buNone/>
            </a:pPr>
            <a:r>
              <a:rPr lang="en-US" altLang="en-US" sz="2800"/>
              <a:t>MOVF    Id2, R1</a:t>
            </a:r>
          </a:p>
          <a:p>
            <a:pPr marL="1481138" lvl="2" indent="-334963" eaLnBrk="1" hangingPunct="1">
              <a:lnSpc>
                <a:spcPct val="90000"/>
              </a:lnSpc>
              <a:buFontTx/>
              <a:buNone/>
            </a:pPr>
            <a:r>
              <a:rPr lang="en-US" altLang="en-US" sz="2800"/>
              <a:t>ADDF    R2, R1</a:t>
            </a:r>
          </a:p>
          <a:p>
            <a:pPr marL="1481138" lvl="2" indent="-334963" eaLnBrk="1" hangingPunct="1">
              <a:lnSpc>
                <a:spcPct val="90000"/>
              </a:lnSpc>
              <a:buFontTx/>
              <a:buNone/>
            </a:pPr>
            <a:r>
              <a:rPr lang="en-US" altLang="en-US" sz="2800"/>
              <a:t>MOVF   R1, Id1</a:t>
            </a:r>
          </a:p>
        </p:txBody>
      </p:sp>
      <p:grpSp>
        <p:nvGrpSpPr>
          <p:cNvPr id="1479689" name="Group 9"/>
          <p:cNvGrpSpPr>
            <a:grpSpLocks/>
          </p:cNvGrpSpPr>
          <p:nvPr/>
        </p:nvGrpSpPr>
        <p:grpSpPr bwMode="auto">
          <a:xfrm>
            <a:off x="4343400" y="4343400"/>
            <a:ext cx="4343400" cy="838200"/>
            <a:chOff x="2736" y="2736"/>
            <a:chExt cx="2736" cy="528"/>
          </a:xfrm>
        </p:grpSpPr>
        <p:sp>
          <p:nvSpPr>
            <p:cNvPr id="50186" name="AutoShape 5"/>
            <p:cNvSpPr>
              <a:spLocks/>
            </p:cNvSpPr>
            <p:nvPr/>
          </p:nvSpPr>
          <p:spPr bwMode="auto">
            <a:xfrm>
              <a:off x="2736" y="2736"/>
              <a:ext cx="288" cy="528"/>
            </a:xfrm>
            <a:prstGeom prst="rightBrace">
              <a:avLst>
                <a:gd name="adj1" fmla="val 15278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0187" name="Text Box 7"/>
            <p:cNvSpPr txBox="1">
              <a:spLocks noChangeArrowheads="1"/>
            </p:cNvSpPr>
            <p:nvPr/>
          </p:nvSpPr>
          <p:spPr bwMode="auto">
            <a:xfrm>
              <a:off x="3120" y="2819"/>
              <a:ext cx="2352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5000"/>
                </a:lnSpc>
                <a:spcBef>
                  <a:spcPct val="10000"/>
                </a:spcBef>
                <a:buFontTx/>
                <a:buNone/>
              </a:pPr>
              <a:r>
                <a:rPr lang="en-US" altLang="en-US" sz="2800" b="0">
                  <a:solidFill>
                    <a:srgbClr val="0000CC"/>
                  </a:solidFill>
                </a:rPr>
                <a:t>Temp1 := 10.0 *  Id 3</a:t>
              </a:r>
              <a:endParaRPr lang="en-US" altLang="en-US" sz="2800">
                <a:solidFill>
                  <a:schemeClr val="tx1"/>
                </a:solidFill>
              </a:endParaRPr>
            </a:p>
          </p:txBody>
        </p:sp>
      </p:grpSp>
      <p:grpSp>
        <p:nvGrpSpPr>
          <p:cNvPr id="1479690" name="Group 10"/>
          <p:cNvGrpSpPr>
            <a:grpSpLocks/>
          </p:cNvGrpSpPr>
          <p:nvPr/>
        </p:nvGrpSpPr>
        <p:grpSpPr bwMode="auto">
          <a:xfrm>
            <a:off x="4419600" y="5334000"/>
            <a:ext cx="4267200" cy="1295400"/>
            <a:chOff x="2784" y="3360"/>
            <a:chExt cx="2688" cy="816"/>
          </a:xfrm>
        </p:grpSpPr>
        <p:sp>
          <p:nvSpPr>
            <p:cNvPr id="50184" name="AutoShape 6"/>
            <p:cNvSpPr>
              <a:spLocks/>
            </p:cNvSpPr>
            <p:nvPr/>
          </p:nvSpPr>
          <p:spPr bwMode="auto">
            <a:xfrm>
              <a:off x="2784" y="3360"/>
              <a:ext cx="288" cy="816"/>
            </a:xfrm>
            <a:prstGeom prst="rightBrace">
              <a:avLst>
                <a:gd name="adj1" fmla="val 2361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0185" name="Text Box 8"/>
            <p:cNvSpPr txBox="1">
              <a:spLocks noChangeArrowheads="1"/>
            </p:cNvSpPr>
            <p:nvPr/>
          </p:nvSpPr>
          <p:spPr bwMode="auto">
            <a:xfrm>
              <a:off x="3120" y="3561"/>
              <a:ext cx="2352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5000"/>
                </a:lnSpc>
                <a:spcBef>
                  <a:spcPct val="10000"/>
                </a:spcBef>
                <a:buFontTx/>
                <a:buNone/>
              </a:pPr>
              <a:r>
                <a:rPr lang="en-US" altLang="en-US" sz="2800" b="0">
                  <a:solidFill>
                    <a:srgbClr val="0000CC"/>
                  </a:solidFill>
                </a:rPr>
                <a:t>ID1:= Id2 + Temp1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6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796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6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4796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79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79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6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796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6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796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6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796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79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79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86A9A29-40CB-461D-BDC3-A2682A368D79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Xử lý lỗi</a:t>
            </a:r>
          </a:p>
        </p:txBody>
      </p:sp>
      <p:sp>
        <p:nvSpPr>
          <p:cNvPr id="51204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Các giai đoạn chính của chương trình dịch</a:t>
            </a:r>
          </a:p>
        </p:txBody>
      </p:sp>
      <p:sp>
        <p:nvSpPr>
          <p:cNvPr id="146534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23838" y="838200"/>
            <a:ext cx="8724900" cy="5943600"/>
          </a:xfrm>
          <a:noFill/>
        </p:spPr>
        <p:txBody>
          <a:bodyPr/>
          <a:lstStyle/>
          <a:p>
            <a:pPr marL="347663" indent="-347663" eaLnBrk="1" hangingPunct="1">
              <a:lnSpc>
                <a:spcPct val="105000"/>
              </a:lnSpc>
              <a:buFontTx/>
              <a:buNone/>
            </a:pPr>
            <a:r>
              <a:rPr lang="en-US" altLang="en-US"/>
              <a:t>Lỗi có thể gặp trong mọi  pha của CTD</a:t>
            </a:r>
          </a:p>
          <a:p>
            <a:pPr marL="347663" indent="-347663" eaLnBrk="1" hangingPunct="1">
              <a:lnSpc>
                <a:spcPct val="105000"/>
              </a:lnSpc>
            </a:pPr>
            <a:r>
              <a:rPr lang="en-US" altLang="en-US"/>
              <a:t>Phân tích từ vựng</a:t>
            </a:r>
          </a:p>
          <a:p>
            <a:pPr marL="855663" lvl="1" indent="-347663" eaLnBrk="1" hangingPunct="1">
              <a:lnSpc>
                <a:spcPct val="105000"/>
              </a:lnSpc>
            </a:pPr>
            <a:r>
              <a:rPr lang="en-US" altLang="en-US"/>
              <a:t>Gặp ký tự lạ. Ví dụ: </a:t>
            </a:r>
            <a:r>
              <a:rPr lang="en-US" altLang="en-US">
                <a:solidFill>
                  <a:srgbClr val="DF3507"/>
                </a:solidFill>
              </a:rPr>
              <a:t>@, $,..</a:t>
            </a:r>
            <a:r>
              <a:rPr lang="en-US" altLang="en-US"/>
              <a:t> trong NNLT C</a:t>
            </a:r>
          </a:p>
          <a:p>
            <a:pPr marL="347663" indent="-347663" eaLnBrk="1" hangingPunct="1">
              <a:lnSpc>
                <a:spcPct val="105000"/>
              </a:lnSpc>
            </a:pPr>
            <a:r>
              <a:rPr lang="en-US" altLang="en-US"/>
              <a:t>Phân tích cú pháp</a:t>
            </a:r>
          </a:p>
          <a:p>
            <a:pPr marL="855663" lvl="1" indent="-347663" eaLnBrk="1" hangingPunct="1">
              <a:lnSpc>
                <a:spcPct val="105000"/>
              </a:lnSpc>
            </a:pPr>
            <a:r>
              <a:rPr lang="en-US" altLang="en-US"/>
              <a:t>Không tuân theo cú pháp: VD </a:t>
            </a:r>
            <a:r>
              <a:rPr lang="en-US" altLang="en-US" i="1">
                <a:solidFill>
                  <a:srgbClr val="DF3507"/>
                </a:solidFill>
              </a:rPr>
              <a:t>while (a </a:t>
            </a:r>
            <a:r>
              <a:rPr lang="en-US" altLang="en-US" b="1" i="1">
                <a:solidFill>
                  <a:srgbClr val="DF3507"/>
                </a:solidFill>
              </a:rPr>
              <a:t>&lt;&gt;</a:t>
            </a:r>
            <a:r>
              <a:rPr lang="en-US" altLang="en-US" i="1">
                <a:solidFill>
                  <a:srgbClr val="DF3507"/>
                </a:solidFill>
              </a:rPr>
              <a:t> b)</a:t>
            </a:r>
          </a:p>
          <a:p>
            <a:pPr marL="347663" indent="-347663" eaLnBrk="1" hangingPunct="1">
              <a:lnSpc>
                <a:spcPct val="105000"/>
              </a:lnSpc>
            </a:pPr>
            <a:r>
              <a:rPr lang="en-US" altLang="en-US"/>
              <a:t>Phân tích ngữ nghĩa</a:t>
            </a:r>
          </a:p>
          <a:p>
            <a:pPr marL="855663" lvl="1" indent="-347663" eaLnBrk="1" hangingPunct="1">
              <a:lnSpc>
                <a:spcPct val="105000"/>
              </a:lnSpc>
            </a:pPr>
            <a:r>
              <a:rPr lang="en-US" altLang="en-US"/>
              <a:t>Gán giá trị cho hằng, tính toán với tên thủ tục</a:t>
            </a:r>
          </a:p>
          <a:p>
            <a:pPr marL="347663" indent="-347663" eaLnBrk="1" hangingPunct="1">
              <a:lnSpc>
                <a:spcPct val="105000"/>
              </a:lnSpc>
            </a:pPr>
            <a:r>
              <a:rPr lang="en-US" altLang="en-US"/>
              <a:t>Sinh mã</a:t>
            </a:r>
          </a:p>
          <a:p>
            <a:pPr marL="855663" lvl="1" indent="-347663" eaLnBrk="1" hangingPunct="1">
              <a:lnSpc>
                <a:spcPct val="105000"/>
              </a:lnSpc>
            </a:pPr>
            <a:r>
              <a:rPr lang="en-US" altLang="en-US"/>
              <a:t>Kích thước quá lớn</a:t>
            </a:r>
          </a:p>
          <a:p>
            <a:pPr marL="855663" lvl="1" indent="-347663" eaLnBrk="1" hangingPunct="1">
              <a:lnSpc>
                <a:spcPct val="105000"/>
              </a:lnSpc>
              <a:buFontTx/>
              <a:buNone/>
            </a:pPr>
            <a:r>
              <a:rPr lang="en-US" altLang="en-US"/>
              <a:t>	Ví dụ: int Arr[1000][1000]; </a:t>
            </a:r>
            <a:r>
              <a:rPr lang="en-US" altLang="en-US">
                <a:sym typeface="Symbol" panose="05050102010706020507" pitchFamily="18" charset="2"/>
              </a:rPr>
              <a:t> Lỗi tràn ô nhớ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65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65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65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65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65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65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465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3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4653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3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653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653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3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653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653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3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653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653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4B41B2-8E9B-4C38-A0DF-33213277FFE7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Xử lý lỗi</a:t>
            </a:r>
          </a:p>
        </p:txBody>
      </p:sp>
      <p:sp>
        <p:nvSpPr>
          <p:cNvPr id="52228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Các giai đoạn chính của chương trình dịch</a:t>
            </a:r>
          </a:p>
        </p:txBody>
      </p:sp>
      <p:sp>
        <p:nvSpPr>
          <p:cNvPr id="5222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23838" y="1219200"/>
            <a:ext cx="8724900" cy="5181600"/>
          </a:xfrm>
          <a:noFill/>
        </p:spPr>
        <p:txBody>
          <a:bodyPr/>
          <a:lstStyle/>
          <a:p>
            <a:pPr marL="347663" indent="-347663" eaLnBrk="1" hangingPunct="1">
              <a:lnSpc>
                <a:spcPct val="125000"/>
              </a:lnSpc>
              <a:spcBef>
                <a:spcPct val="40000"/>
              </a:spcBef>
            </a:pPr>
            <a:r>
              <a:rPr lang="en-US" altLang="en-US">
                <a:sym typeface="Symbol" panose="05050102010706020507" pitchFamily="18" charset="2"/>
              </a:rPr>
              <a:t>Gặp lỗi, chương trình dịch cần thông báo </a:t>
            </a:r>
          </a:p>
          <a:p>
            <a:pPr marL="855663" lvl="1" indent="-347663" eaLnBrk="1" hangingPunct="1">
              <a:lnSpc>
                <a:spcPct val="125000"/>
              </a:lnSpc>
              <a:spcBef>
                <a:spcPct val="40000"/>
              </a:spcBef>
            </a:pPr>
            <a:r>
              <a:rPr lang="en-US" altLang="en-US">
                <a:sym typeface="Symbol" panose="05050102010706020507" pitchFamily="18" charset="2"/>
              </a:rPr>
              <a:t>Ghi nhận kiểu lỗi</a:t>
            </a:r>
          </a:p>
          <a:p>
            <a:pPr marL="855663" lvl="1" indent="-347663" eaLnBrk="1" hangingPunct="1">
              <a:lnSpc>
                <a:spcPct val="125000"/>
              </a:lnSpc>
              <a:spcBef>
                <a:spcPct val="40000"/>
              </a:spcBef>
            </a:pPr>
            <a:r>
              <a:rPr lang="en-US" altLang="en-US">
                <a:sym typeface="Symbol" panose="05050102010706020507" pitchFamily="18" charset="2"/>
              </a:rPr>
              <a:t>Ghi nhận vị trí gây ra lỗi (dòng, cột,..)</a:t>
            </a:r>
          </a:p>
          <a:p>
            <a:pPr marL="347663" indent="-347663" eaLnBrk="1" hangingPunct="1">
              <a:lnSpc>
                <a:spcPct val="125000"/>
              </a:lnSpc>
              <a:spcBef>
                <a:spcPct val="40000"/>
              </a:spcBef>
            </a:pPr>
            <a:r>
              <a:rPr lang="en-US" altLang="en-US">
                <a:sym typeface="Symbol" panose="05050102010706020507" pitchFamily="18" charset="2"/>
              </a:rPr>
              <a:t>Có thể cần hồi phục sau khi gặp lỗi</a:t>
            </a:r>
          </a:p>
          <a:p>
            <a:pPr marL="855663" lvl="1" indent="-347663" eaLnBrk="1" hangingPunct="1">
              <a:lnSpc>
                <a:spcPct val="125000"/>
              </a:lnSpc>
              <a:spcBef>
                <a:spcPct val="40000"/>
              </a:spcBef>
            </a:pPr>
            <a:r>
              <a:rPr lang="en-US" altLang="en-US">
                <a:sym typeface="Symbol" panose="05050102010706020507" pitchFamily="18" charset="2"/>
              </a:rPr>
              <a:t>Mục đích:  cho phép tiến hành phân tích tiếp tục, tránh lãng phí</a:t>
            </a:r>
          </a:p>
          <a:p>
            <a:pPr marL="855663" lvl="1" indent="-347663" eaLnBrk="1" hangingPunct="1">
              <a:lnSpc>
                <a:spcPct val="125000"/>
              </a:lnSpc>
              <a:spcBef>
                <a:spcPct val="40000"/>
              </a:spcBef>
            </a:pPr>
            <a:r>
              <a:rPr lang="en-US" altLang="en-US">
                <a:sym typeface="Symbol" panose="05050102010706020507" pitchFamily="18" charset="2"/>
              </a:rPr>
              <a:t>Có thể thông báo không chính xác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5B3260-344F-4559-9B74-1E3FF9DEDDB8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53251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381000"/>
            <a:ext cx="2438400" cy="6019800"/>
          </a:xfrm>
          <a:noFill/>
        </p:spPr>
        <p:txBody>
          <a:bodyPr vert="eaVert"/>
          <a:lstStyle/>
          <a:p>
            <a:pPr marL="609600" indent="-609600" algn="ctr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220076"/>
                </a:solidFill>
              </a:rPr>
              <a:t>Quá trình dịch một câu lệnh</a:t>
            </a:r>
          </a:p>
          <a:p>
            <a:pPr marL="609600" indent="-609600" algn="ctr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DF3507"/>
                </a:solidFill>
              </a:rPr>
              <a:t>Position := Initial+Rate*60</a:t>
            </a:r>
          </a:p>
          <a:p>
            <a:pPr marL="609600" indent="-609600" algn="ctr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en-US"/>
              <a:t>[</a:t>
            </a:r>
            <a:r>
              <a:rPr lang="en-US" altLang="en-US" sz="2400"/>
              <a:t>Phan Thị Tươi, 1998</a:t>
            </a:r>
            <a:r>
              <a:rPr lang="en-US" altLang="en-US"/>
              <a:t>]</a:t>
            </a:r>
          </a:p>
        </p:txBody>
      </p:sp>
      <p:graphicFrame>
        <p:nvGraphicFramePr>
          <p:cNvPr id="53252" name="Object 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18233486"/>
              </p:ext>
            </p:extLst>
          </p:nvPr>
        </p:nvGraphicFramePr>
        <p:xfrm>
          <a:off x="3886200" y="0"/>
          <a:ext cx="4191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2152951" imgH="4401164" progId="Paint.Picture">
                  <p:embed/>
                </p:oleObj>
              </mc:Choice>
              <mc:Fallback>
                <p:oleObj name="Bitmap Image" r:id="rId2" imgW="2152951" imgH="4401164" progId="Paint.Picture">
                  <p:embed/>
                  <p:pic>
                    <p:nvPicPr>
                      <p:cNvPr id="5325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0"/>
                        <a:ext cx="4191000" cy="6858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4717CF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3" name="AutoShape 7"/>
          <p:cNvSpPr>
            <a:spLocks/>
          </p:cNvSpPr>
          <p:nvPr/>
        </p:nvSpPr>
        <p:spPr bwMode="auto">
          <a:xfrm>
            <a:off x="3124200" y="0"/>
            <a:ext cx="609600" cy="6858000"/>
          </a:xfrm>
          <a:prstGeom prst="leftBrace">
            <a:avLst>
              <a:gd name="adj1" fmla="val 9375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8E3180-AE88-4CEB-8560-AEF33E1BB76B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Ghi chú</a:t>
            </a:r>
          </a:p>
        </p:txBody>
      </p:sp>
      <p:sp>
        <p:nvSpPr>
          <p:cNvPr id="54276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Các giai đoạn chính của chương trình dịch</a:t>
            </a:r>
          </a:p>
        </p:txBody>
      </p:sp>
      <p:sp>
        <p:nvSpPr>
          <p:cNvPr id="14817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23838" y="990600"/>
            <a:ext cx="8724900" cy="5562600"/>
          </a:xfrm>
          <a:noFill/>
        </p:spPr>
        <p:txBody>
          <a:bodyPr/>
          <a:lstStyle/>
          <a:p>
            <a:pPr marL="290513" indent="-290513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Phân chia thành từng pha nhằm mục đích nghiên cứu để chọn giải pháp thích hợp</a:t>
            </a:r>
          </a:p>
          <a:p>
            <a:pPr marL="290513" indent="-290513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Trong cài đặt, kết hợp các pha thành các modul chương trình. Thường gồm 2 phần</a:t>
            </a:r>
          </a:p>
          <a:p>
            <a:pPr marL="798513" lvl="1" indent="-290513" eaLnBrk="1" hangingPunct="1">
              <a:lnSpc>
                <a:spcPct val="110000"/>
              </a:lnSpc>
            </a:pPr>
            <a:r>
              <a:rPr lang="en-US" altLang="en-US" b="1">
                <a:sym typeface="Symbol" panose="05050102010706020507" pitchFamily="18" charset="2"/>
              </a:rPr>
              <a:t>Phần đầu:</a:t>
            </a:r>
            <a:r>
              <a:rPr lang="en-US" altLang="en-US">
                <a:sym typeface="Symbol" panose="05050102010706020507" pitchFamily="18" charset="2"/>
              </a:rPr>
              <a:t> Modul liên quan tới phân tích từ vựng, phân tích cú pháp, phân tích ngữ nghĩa và sinh mã trung gian</a:t>
            </a:r>
          </a:p>
          <a:p>
            <a:pPr marL="798513" lvl="1" indent="-290513" eaLnBrk="1" hangingPunct="1">
              <a:lnSpc>
                <a:spcPct val="110000"/>
              </a:lnSpc>
            </a:pPr>
            <a:r>
              <a:rPr lang="en-US" altLang="en-US" b="1">
                <a:sym typeface="Symbol" panose="05050102010706020507" pitchFamily="18" charset="2"/>
              </a:rPr>
              <a:t>Phần sau:</a:t>
            </a:r>
            <a:r>
              <a:rPr lang="en-US" altLang="en-US">
                <a:sym typeface="Symbol" panose="05050102010706020507" pitchFamily="18" charset="2"/>
              </a:rPr>
              <a:t> Tối ưu mã, sinh mã đích, xử lý lỗi</a:t>
            </a:r>
          </a:p>
          <a:p>
            <a:pPr marL="290513" indent="-290513" eaLnBrk="1" hangingPunct="1">
              <a:lnSpc>
                <a:spcPct val="110000"/>
              </a:lnSpc>
            </a:pPr>
            <a:r>
              <a:rPr lang="en-US" altLang="en-US">
                <a:sym typeface="Symbol" panose="05050102010706020507" pitchFamily="18" charset="2"/>
              </a:rPr>
              <a:t>Cơ sở đề ra ngôn ngữ lập trình là </a:t>
            </a:r>
            <a:r>
              <a:rPr lang="en-US" altLang="en-US" b="1">
                <a:sym typeface="Symbol" panose="05050102010706020507" pitchFamily="18" charset="2"/>
              </a:rPr>
              <a:t>lý thuyết ngôn ngữ</a:t>
            </a:r>
            <a:r>
              <a:rPr lang="en-US" altLang="en-US">
                <a:sym typeface="Symbol" panose="05050102010706020507" pitchFamily="18" charset="2"/>
              </a:rPr>
              <a:t> và </a:t>
            </a:r>
            <a:r>
              <a:rPr lang="en-US" altLang="en-US" b="1">
                <a:sym typeface="Symbol" panose="05050102010706020507" pitchFamily="18" charset="2"/>
              </a:rPr>
              <a:t>văn phạm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7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817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7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817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7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817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7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500"/>
                                        <p:tgtEl>
                                          <p:spTgt spid="14817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8E3180-AE88-4CEB-8560-AEF33E1BB76B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err="1"/>
              <a:t>Bài</a:t>
            </a:r>
            <a:r>
              <a:rPr lang="en-US" altLang="en-US" sz="2800"/>
              <a:t> </a:t>
            </a:r>
            <a:r>
              <a:rPr lang="en-US" altLang="en-US" sz="2800" err="1"/>
              <a:t>tập</a:t>
            </a:r>
            <a:r>
              <a:rPr lang="en-US" altLang="en-US" sz="2800"/>
              <a:t> </a:t>
            </a:r>
            <a:r>
              <a:rPr lang="en-US" altLang="en-US" sz="2800" err="1"/>
              <a:t>thực</a:t>
            </a:r>
            <a:r>
              <a:rPr lang="en-US" altLang="en-US" sz="2800"/>
              <a:t> </a:t>
            </a:r>
            <a:r>
              <a:rPr lang="en-US" altLang="en-US" sz="2800" err="1"/>
              <a:t>hành</a:t>
            </a:r>
            <a:r>
              <a:rPr lang="en-US" altLang="en-US" sz="2800"/>
              <a:t> </a:t>
            </a:r>
            <a:r>
              <a:rPr lang="en-US" altLang="en-US" sz="2800" err="1"/>
              <a:t>số</a:t>
            </a:r>
            <a:r>
              <a:rPr lang="en-US" altLang="en-US" sz="2800"/>
              <a:t> 2</a:t>
            </a:r>
          </a:p>
        </p:txBody>
      </p:sp>
      <p:sp>
        <p:nvSpPr>
          <p:cNvPr id="54276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3. Các giai đoạn chính của chương trình dịch</a:t>
            </a:r>
          </a:p>
        </p:txBody>
      </p:sp>
      <p:sp>
        <p:nvSpPr>
          <p:cNvPr id="14817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23838" y="990600"/>
            <a:ext cx="8724900" cy="5562600"/>
          </a:xfr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 </a:t>
            </a:r>
            <a:r>
              <a:rPr lang="en-US" err="1"/>
              <a:t>gcc</a:t>
            </a:r>
            <a:r>
              <a:rPr lang="en-US"/>
              <a:t> </a:t>
            </a:r>
            <a:r>
              <a:rPr lang="en-US" err="1"/>
              <a:t>để</a:t>
            </a:r>
            <a:r>
              <a:rPr lang="en-US"/>
              <a:t> </a:t>
            </a:r>
            <a:r>
              <a:rPr lang="en-US" err="1"/>
              <a:t>dịch</a:t>
            </a:r>
            <a:r>
              <a:rPr lang="en-US"/>
              <a:t> file </a:t>
            </a:r>
            <a:r>
              <a:rPr lang="en-US" err="1"/>
              <a:t>nguồn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chế</a:t>
            </a:r>
            <a:r>
              <a:rPr lang="en-US"/>
              <a:t> </a:t>
            </a:r>
            <a:r>
              <a:rPr lang="en-US" err="1"/>
              <a:t>độ</a:t>
            </a:r>
            <a:r>
              <a:rPr lang="en-US"/>
              <a:t> </a:t>
            </a:r>
            <a:r>
              <a:rPr lang="en-US" err="1"/>
              <a:t>dòng</a:t>
            </a:r>
            <a:r>
              <a:rPr lang="en-US"/>
              <a:t> </a:t>
            </a:r>
            <a:r>
              <a:rPr lang="en-US" err="1"/>
              <a:t>lệnh</a:t>
            </a:r>
            <a:endParaRPr lang="en-US"/>
          </a:p>
          <a:p>
            <a:pPr lvl="1"/>
            <a:r>
              <a:rPr lang="en-US"/>
              <a:t>\&gt;</a:t>
            </a:r>
            <a:r>
              <a:rPr lang="en-US" err="1">
                <a:solidFill>
                  <a:srgbClr val="0070C0"/>
                </a:solidFill>
              </a:rPr>
              <a:t>gcc</a:t>
            </a:r>
            <a:r>
              <a:rPr lang="en-US">
                <a:solidFill>
                  <a:srgbClr val="0070C0"/>
                </a:solidFill>
              </a:rPr>
              <a:t> </a:t>
            </a:r>
            <a:r>
              <a:rPr lang="en-US"/>
              <a:t> </a:t>
            </a:r>
            <a:r>
              <a:rPr lang="en-US" err="1"/>
              <a:t>sourcefile.c</a:t>
            </a:r>
            <a:endParaRPr lang="en-US"/>
          </a:p>
          <a:p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 </a:t>
            </a:r>
            <a:r>
              <a:rPr lang="en-US" err="1"/>
              <a:t>makefile</a:t>
            </a:r>
            <a:r>
              <a:rPr lang="en-US"/>
              <a:t> </a:t>
            </a:r>
            <a:r>
              <a:rPr lang="en-US" err="1"/>
              <a:t>để</a:t>
            </a:r>
            <a:r>
              <a:rPr lang="en-US"/>
              <a:t> </a:t>
            </a:r>
            <a:r>
              <a:rPr lang="en-US" err="1"/>
              <a:t>dịch</a:t>
            </a:r>
            <a:r>
              <a:rPr lang="en-US"/>
              <a:t> project </a:t>
            </a:r>
            <a:r>
              <a:rPr lang="en-US" err="1"/>
              <a:t>dịch</a:t>
            </a:r>
            <a:endParaRPr lang="en-US"/>
          </a:p>
          <a:p>
            <a:pPr lvl="1"/>
            <a:r>
              <a:rPr lang="en-US"/>
              <a:t>\&gt;</a:t>
            </a:r>
            <a:r>
              <a:rPr lang="en-US">
                <a:solidFill>
                  <a:srgbClr val="0070C0"/>
                </a:solidFill>
              </a:rPr>
              <a:t>make</a:t>
            </a:r>
          </a:p>
          <a:p>
            <a:r>
              <a:rPr lang="en-US"/>
              <a:t> </a:t>
            </a:r>
            <a:r>
              <a:rPr lang="en-US" err="1"/>
              <a:t>Viết</a:t>
            </a:r>
            <a:r>
              <a:rPr lang="en-US"/>
              <a:t> </a:t>
            </a:r>
            <a:r>
              <a:rPr lang="en-US" err="1"/>
              <a:t>chương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thực</a:t>
            </a:r>
            <a:r>
              <a:rPr lang="en-US"/>
              <a:t> </a:t>
            </a:r>
            <a:r>
              <a:rPr lang="en-US" err="1"/>
              <a:t>hiện</a:t>
            </a:r>
            <a:r>
              <a:rPr lang="en-US"/>
              <a:t> </a:t>
            </a:r>
          </a:p>
          <a:p>
            <a:pPr lvl="1"/>
            <a:r>
              <a:rPr lang="en-US" b="1"/>
              <a:t>Input:  </a:t>
            </a:r>
            <a:r>
              <a:rPr lang="en-US"/>
              <a:t>01 </a:t>
            </a:r>
            <a:r>
              <a:rPr lang="en-US" err="1"/>
              <a:t>tham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b="1">
                <a:solidFill>
                  <a:srgbClr val="0070C0"/>
                </a:solidFill>
              </a:rPr>
              <a:t>C:\&gt; </a:t>
            </a:r>
            <a:r>
              <a:rPr lang="en-US" err="1"/>
              <a:t>TenFile</a:t>
            </a:r>
            <a:r>
              <a:rPr lang="en-US"/>
              <a:t> </a:t>
            </a:r>
            <a:r>
              <a:rPr lang="en-US">
                <a:solidFill>
                  <a:srgbClr val="0070C0"/>
                </a:solidFill>
              </a:rPr>
              <a:t>TextFile.txt</a:t>
            </a:r>
          </a:p>
          <a:p>
            <a:pPr lvl="1">
              <a:lnSpc>
                <a:spcPct val="150000"/>
              </a:lnSpc>
            </a:pPr>
            <a:r>
              <a:rPr lang="en-US" b="1"/>
              <a:t>Output: </a:t>
            </a:r>
            <a:r>
              <a:rPr lang="en-US" err="1"/>
              <a:t>Hiện</a:t>
            </a:r>
            <a:r>
              <a:rPr lang="en-US"/>
              <a:t> </a:t>
            </a:r>
            <a:r>
              <a:rPr lang="en-US" err="1"/>
              <a:t>thị</a:t>
            </a:r>
            <a:r>
              <a:rPr lang="en-US"/>
              <a:t> </a:t>
            </a:r>
            <a:r>
              <a:rPr lang="en-US" err="1"/>
              <a:t>nội</a:t>
            </a:r>
            <a:r>
              <a:rPr lang="en-US"/>
              <a:t> dung </a:t>
            </a:r>
            <a:r>
              <a:rPr lang="en-US" err="1"/>
              <a:t>TextFile</a:t>
            </a:r>
            <a:r>
              <a:rPr lang="en-US"/>
              <a:t>, </a:t>
            </a:r>
            <a:r>
              <a:rPr lang="en-US" err="1"/>
              <a:t>mỗi</a:t>
            </a:r>
            <a:r>
              <a:rPr lang="en-US"/>
              <a:t> </a:t>
            </a:r>
            <a:r>
              <a:rPr lang="en-US" err="1"/>
              <a:t>từ</a:t>
            </a:r>
            <a:r>
              <a:rPr lang="en-US"/>
              <a:t> </a:t>
            </a:r>
            <a:r>
              <a:rPr lang="en-US" err="1"/>
              <a:t>trên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dòng</a:t>
            </a:r>
            <a:endParaRPr lang="en-US"/>
          </a:p>
          <a:p>
            <a:pPr marL="290513" indent="-290513" eaLnBrk="1" hangingPunct="1">
              <a:lnSpc>
                <a:spcPct val="110000"/>
              </a:lnSpc>
            </a:pPr>
            <a:endParaRPr lang="en-US" altLang="en-US" b="1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18297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AEC927-4202-4E8A-B93C-800371696F74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452034" name="Rectangle 2"/>
          <p:cNvSpPr>
            <a:spLocks noChangeArrowheads="1"/>
          </p:cNvSpPr>
          <p:nvPr/>
        </p:nvSpPr>
        <p:spPr bwMode="auto">
          <a:xfrm>
            <a:off x="0" y="3048000"/>
            <a:ext cx="9144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452035" name="Rectangle 3"/>
          <p:cNvSpPr>
            <a:spLocks noChangeArrowheads="1"/>
          </p:cNvSpPr>
          <p:nvPr/>
        </p:nvSpPr>
        <p:spPr bwMode="auto">
          <a:xfrm>
            <a:off x="0" y="3733800"/>
            <a:ext cx="9144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55301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00100"/>
          </a:xfrm>
        </p:spPr>
        <p:txBody>
          <a:bodyPr/>
          <a:lstStyle/>
          <a:p>
            <a:pPr eaLnBrk="1" hangingPunct="1"/>
            <a:r>
              <a:rPr lang="en-US" altLang="en-US" sz="4000"/>
              <a:t>Chương 1: Những khái niệm cơ bản</a:t>
            </a:r>
          </a:p>
        </p:txBody>
      </p:sp>
      <p:sp>
        <p:nvSpPr>
          <p:cNvPr id="5530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66700" y="1608138"/>
            <a:ext cx="8724900" cy="4792662"/>
          </a:xfrm>
        </p:spPr>
        <p:txBody>
          <a:bodyPr/>
          <a:lstStyle/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Ngôn ngữ lập trình cấp cao và trình dịch</a:t>
            </a: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Đặc trưng của ngôn ngữ lập trình cấp cao</a:t>
            </a: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/>
              <a:t>Các giai đoạn chính của chương trình dịch</a:t>
            </a:r>
            <a:endParaRPr lang="en-US" altLang="en-US">
              <a:solidFill>
                <a:srgbClr val="1E0068"/>
              </a:solidFill>
            </a:endParaRP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Khái niệm ngôn ngữ</a:t>
            </a: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Văn phạm phi ngữ cảnh</a:t>
            </a: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Giới thiệu ngôn ngữ PL/0 mở rộng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452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5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2034" grpId="0" animBg="1"/>
      <p:bldP spid="145203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DC4C6D-3D9F-4A5B-AC21-EDE9E91408DF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Giới thiệu</a:t>
            </a:r>
          </a:p>
        </p:txBody>
      </p:sp>
      <p:sp>
        <p:nvSpPr>
          <p:cNvPr id="56324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5632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763000" cy="5562600"/>
          </a:xfrm>
          <a:noFill/>
        </p:spPr>
        <p:txBody>
          <a:bodyPr/>
          <a:lstStyle/>
          <a:p>
            <a:pPr marL="231775" indent="-231775" eaLnBrk="1" hangingPunct="1">
              <a:lnSpc>
                <a:spcPct val="110000"/>
              </a:lnSpc>
            </a:pPr>
            <a:r>
              <a:rPr lang="en-US" altLang="en-US"/>
              <a:t>Ngôn ngữ (</a:t>
            </a:r>
            <a:r>
              <a:rPr lang="en-US" altLang="en-US" i="1"/>
              <a:t>tự nhiên/nhân tạo</a:t>
            </a:r>
            <a:r>
              <a:rPr lang="en-US" altLang="en-US"/>
              <a:t>): </a:t>
            </a:r>
          </a:p>
          <a:p>
            <a:pPr marL="739775" lvl="1" indent="-274638" eaLnBrk="1" hangingPunct="1">
              <a:lnSpc>
                <a:spcPct val="110000"/>
              </a:lnSpc>
            </a:pPr>
            <a:r>
              <a:rPr lang="en-US" altLang="en-US" b="1"/>
              <a:t>Tập hợp các câu</a:t>
            </a:r>
            <a:r>
              <a:rPr lang="en-US" altLang="en-US"/>
              <a:t> có </a:t>
            </a:r>
            <a:r>
              <a:rPr lang="en-US" altLang="en-US" b="1"/>
              <a:t>cấu trúc quy định</a:t>
            </a:r>
          </a:p>
          <a:p>
            <a:pPr marL="231775" indent="-231775" eaLnBrk="1" hangingPunct="1">
              <a:lnSpc>
                <a:spcPct val="110000"/>
              </a:lnSpc>
            </a:pPr>
            <a:r>
              <a:rPr lang="en-US" altLang="en-US"/>
              <a:t>Câu: </a:t>
            </a:r>
          </a:p>
          <a:p>
            <a:pPr marL="739775" lvl="1" indent="-274638" eaLnBrk="1" hangingPunct="1">
              <a:lnSpc>
                <a:spcPct val="110000"/>
              </a:lnSpc>
            </a:pPr>
            <a:r>
              <a:rPr lang="en-US" altLang="en-US"/>
              <a:t>Tập hợp các </a:t>
            </a:r>
            <a:r>
              <a:rPr lang="en-US" altLang="en-US" b="1"/>
              <a:t>từ</a:t>
            </a:r>
          </a:p>
          <a:p>
            <a:pPr marL="231775" indent="-231775" eaLnBrk="1" hangingPunct="1">
              <a:lnSpc>
                <a:spcPct val="110000"/>
              </a:lnSpc>
            </a:pPr>
            <a:r>
              <a:rPr lang="en-US" altLang="en-US"/>
              <a:t>Từ: </a:t>
            </a:r>
          </a:p>
          <a:p>
            <a:pPr marL="739775" lvl="1" indent="-274638" eaLnBrk="1" hangingPunct="1">
              <a:lnSpc>
                <a:spcPct val="110000"/>
              </a:lnSpc>
            </a:pPr>
            <a:r>
              <a:rPr lang="en-US" altLang="en-US"/>
              <a:t>Ký hiệu nào đó</a:t>
            </a:r>
          </a:p>
          <a:p>
            <a:pPr marL="231775" indent="-231775" eaLnBrk="1" hangingPunct="1">
              <a:lnSpc>
                <a:spcPct val="110000"/>
              </a:lnSpc>
            </a:pPr>
            <a:r>
              <a:rPr lang="en-US" altLang="en-US"/>
              <a:t>Ngữ pháp/cú pháp	</a:t>
            </a:r>
          </a:p>
          <a:p>
            <a:pPr marL="739775" lvl="1" indent="-274638" eaLnBrk="1" hangingPunct="1">
              <a:lnSpc>
                <a:spcPct val="110000"/>
              </a:lnSpc>
            </a:pPr>
            <a:r>
              <a:rPr lang="en-US" altLang="en-US" b="1"/>
              <a:t>Cấu trúc quy định</a:t>
            </a:r>
            <a:r>
              <a:rPr lang="en-US" altLang="en-US"/>
              <a:t> tạo câu của trong ngôn ngữ </a:t>
            </a:r>
          </a:p>
          <a:p>
            <a:pPr marL="739775" lvl="1" indent="-274638" eaLnBrk="1" hangingPunct="1">
              <a:lnSpc>
                <a:spcPct val="110000"/>
              </a:lnSpc>
            </a:pPr>
            <a:r>
              <a:rPr lang="en-US" altLang="en-US"/>
              <a:t>Ngôn ngữ lập trình </a:t>
            </a:r>
            <a:r>
              <a:rPr lang="en-US" altLang="en-US">
                <a:sym typeface="Symbol" panose="05050102010706020507" pitchFamily="18" charset="2"/>
              </a:rPr>
              <a:t></a:t>
            </a:r>
            <a:r>
              <a:rPr lang="en-US" altLang="en-US"/>
              <a:t> cú pháp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6776D4-E40E-44C3-8F2F-B5654205A9B7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Khái niệm văn phạm và ngôn ngữ</a:t>
            </a:r>
          </a:p>
        </p:txBody>
      </p:sp>
      <p:sp>
        <p:nvSpPr>
          <p:cNvPr id="57348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5734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763000" cy="5562600"/>
          </a:xfrm>
          <a:noFill/>
        </p:spPr>
        <p:txBody>
          <a:bodyPr/>
          <a:lstStyle/>
          <a:p>
            <a:pPr marL="609600" indent="-609600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/>
              <a:t>Kiến thức toán học liên quan</a:t>
            </a:r>
          </a:p>
          <a:p>
            <a:pPr marL="609600" indent="-609600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/>
              <a:t>Bộ chữ và xâu ký hiệu</a:t>
            </a:r>
          </a:p>
          <a:p>
            <a:pPr marL="609600" indent="-609600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/>
              <a:t>Văn phạm</a:t>
            </a:r>
          </a:p>
          <a:p>
            <a:pPr marL="609600" indent="-609600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/>
              <a:t>Suy dẫn</a:t>
            </a:r>
          </a:p>
          <a:p>
            <a:pPr marL="609600" indent="-609600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/>
              <a:t>Câu</a:t>
            </a:r>
          </a:p>
          <a:p>
            <a:pPr marL="609600" indent="-609600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/>
              <a:t>Ngôn ngữ</a:t>
            </a:r>
          </a:p>
          <a:p>
            <a:pPr marL="609600" indent="-609600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/>
              <a:t>Đệ quy</a:t>
            </a:r>
          </a:p>
          <a:p>
            <a:pPr marL="609600" indent="-609600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/>
              <a:t>Phân loại văn phạm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7E3A823-79BE-45D7-90F3-C93EB6DD4813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09600" indent="-609600" eaLnBrk="1" hangingPunct="1">
              <a:lnSpc>
                <a:spcPct val="110000"/>
              </a:lnSpc>
            </a:pPr>
            <a:r>
              <a:rPr lang="en-US" altLang="en-US" sz="2800"/>
              <a:t>Kiến thức toán học liên quan</a:t>
            </a:r>
            <a:r>
              <a:rPr lang="en-US" altLang="en-US" sz="2800">
                <a:sym typeface="Symbol" panose="05050102010706020507" pitchFamily="18" charset="2"/>
              </a:rPr>
              <a:t>Tập hợp</a:t>
            </a:r>
            <a:endParaRPr lang="en-US" altLang="en-US" sz="2800"/>
          </a:p>
        </p:txBody>
      </p:sp>
      <p:sp>
        <p:nvSpPr>
          <p:cNvPr id="58372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5837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98438" y="838200"/>
            <a:ext cx="8763000" cy="6019800"/>
          </a:xfrm>
          <a:noFill/>
        </p:spPr>
        <p:txBody>
          <a:bodyPr/>
          <a:lstStyle/>
          <a:p>
            <a:pPr marL="231775" indent="-231775" eaLnBrk="1" hangingPunct="1">
              <a:lnSpc>
                <a:spcPct val="105000"/>
              </a:lnSpc>
              <a:spcBef>
                <a:spcPts val="600"/>
              </a:spcBef>
            </a:pPr>
            <a:r>
              <a:rPr lang="en-US" altLang="en-US" sz="2800" dirty="0" err="1"/>
              <a:t>Khái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niêm</a:t>
            </a:r>
            <a:r>
              <a:rPr lang="en-US" altLang="en-US" sz="2800" dirty="0"/>
              <a:t>:</a:t>
            </a:r>
          </a:p>
          <a:p>
            <a:pPr marL="631825" lvl="1" indent="-231775" eaLnBrk="1" hangingPunct="1">
              <a:lnSpc>
                <a:spcPct val="105000"/>
              </a:lnSpc>
              <a:spcBef>
                <a:spcPts val="600"/>
              </a:spcBef>
            </a:pPr>
            <a:r>
              <a:rPr lang="en-US" altLang="en-US" sz="2400" dirty="0" err="1"/>
              <a:t>Tập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không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có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thứ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tự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và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không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lặp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lại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của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các</a:t>
            </a:r>
            <a:r>
              <a:rPr lang="en-US" altLang="en-US" sz="2400" dirty="0"/>
              <a:t> p/</a:t>
            </a:r>
            <a:r>
              <a:rPr lang="en-US" altLang="en-US" sz="2400" dirty="0" err="1"/>
              <a:t>tử</a:t>
            </a:r>
            <a:endParaRPr lang="en-US" altLang="en-US" sz="2400" dirty="0"/>
          </a:p>
          <a:p>
            <a:pPr marL="1031875" lvl="2" indent="-231775" eaLnBrk="1" hangingPunct="1">
              <a:lnSpc>
                <a:spcPct val="105000"/>
              </a:lnSpc>
              <a:spcBef>
                <a:spcPts val="600"/>
              </a:spcBef>
            </a:pPr>
            <a:r>
              <a:rPr lang="en-US" altLang="en-US" sz="2200" b="1" dirty="0" err="1"/>
              <a:t>Ví</a:t>
            </a:r>
            <a:r>
              <a:rPr lang="en-US" altLang="en-US" sz="2200" b="1" dirty="0"/>
              <a:t> </a:t>
            </a:r>
            <a:r>
              <a:rPr lang="en-US" altLang="en-US" sz="2200" b="1" dirty="0" err="1"/>
              <a:t>dụ</a:t>
            </a:r>
            <a:r>
              <a:rPr lang="en-US" altLang="en-US" sz="2200" b="1" dirty="0"/>
              <a:t>: </a:t>
            </a:r>
            <a:r>
              <a:rPr lang="en-US" altLang="en-US" sz="2200" dirty="0"/>
              <a:t>A</a:t>
            </a:r>
            <a:r>
              <a:rPr lang="en-US" altLang="en-US" sz="2200" baseline="-25000" dirty="0"/>
              <a:t>5</a:t>
            </a:r>
            <a:r>
              <a:rPr lang="en-US" altLang="en-US" sz="2200" dirty="0"/>
              <a:t> = {1,3,5} </a:t>
            </a:r>
            <a:r>
              <a:rPr lang="en-US" altLang="en-US" sz="2200" dirty="0" err="1"/>
              <a:t>tập</a:t>
            </a:r>
            <a:r>
              <a:rPr lang="en-US" altLang="en-US" sz="2200" dirty="0"/>
              <a:t> </a:t>
            </a:r>
            <a:r>
              <a:rPr lang="en-US" altLang="en-US" sz="2200" dirty="0" err="1"/>
              <a:t>các</a:t>
            </a:r>
            <a:r>
              <a:rPr lang="en-US" altLang="en-US" sz="2200" dirty="0"/>
              <a:t> </a:t>
            </a:r>
            <a:r>
              <a:rPr lang="en-US" altLang="en-US" sz="2200" dirty="0" err="1"/>
              <a:t>số</a:t>
            </a:r>
            <a:r>
              <a:rPr lang="en-US" altLang="en-US" sz="2200" dirty="0"/>
              <a:t> </a:t>
            </a:r>
            <a:r>
              <a:rPr lang="en-US" altLang="en-US" sz="2200" dirty="0" err="1"/>
              <a:t>nguyên</a:t>
            </a:r>
            <a:r>
              <a:rPr lang="en-US" altLang="en-US" sz="2200" dirty="0"/>
              <a:t> </a:t>
            </a:r>
            <a:r>
              <a:rPr lang="en-US" altLang="en-US" sz="2200" dirty="0" err="1"/>
              <a:t>dương</a:t>
            </a:r>
            <a:r>
              <a:rPr lang="en-US" altLang="en-US" sz="2200" dirty="0"/>
              <a:t> </a:t>
            </a:r>
            <a:r>
              <a:rPr lang="en-US" altLang="en-US" sz="2200" dirty="0" err="1"/>
              <a:t>lẻ</a:t>
            </a:r>
            <a:r>
              <a:rPr lang="en-US" altLang="en-US" sz="2200" dirty="0"/>
              <a:t> </a:t>
            </a:r>
            <a:r>
              <a:rPr lang="en-US" altLang="en-US" sz="2200" dirty="0" err="1"/>
              <a:t>nhỏ</a:t>
            </a:r>
            <a:r>
              <a:rPr lang="en-US" altLang="en-US" sz="2200" dirty="0"/>
              <a:t> </a:t>
            </a:r>
            <a:r>
              <a:rPr lang="en-US" altLang="en-US" sz="2200" dirty="0" err="1"/>
              <a:t>hơn</a:t>
            </a:r>
            <a:r>
              <a:rPr lang="en-US" altLang="en-US" sz="2200" dirty="0"/>
              <a:t> 6</a:t>
            </a:r>
          </a:p>
          <a:p>
            <a:pPr marL="631825" lvl="1" indent="-231775" eaLnBrk="1" hangingPunct="1">
              <a:lnSpc>
                <a:spcPct val="105000"/>
              </a:lnSpc>
              <a:spcBef>
                <a:spcPts val="600"/>
              </a:spcBef>
            </a:pPr>
            <a:r>
              <a:rPr lang="en-US" altLang="en-US" sz="2400" dirty="0" err="1"/>
              <a:t>Tập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không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có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phần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tử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nào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được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gọi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là</a:t>
            </a:r>
            <a:r>
              <a:rPr lang="en-US" altLang="en-US" sz="2400" dirty="0"/>
              <a:t> </a:t>
            </a:r>
            <a:r>
              <a:rPr lang="en-US" altLang="en-US" sz="2400" b="1" dirty="0" err="1">
                <a:solidFill>
                  <a:srgbClr val="4717CF"/>
                </a:solidFill>
              </a:rPr>
              <a:t>tập</a:t>
            </a:r>
            <a:r>
              <a:rPr lang="en-US" altLang="en-US" sz="2400" b="1" dirty="0">
                <a:solidFill>
                  <a:srgbClr val="4717CF"/>
                </a:solidFill>
              </a:rPr>
              <a:t> </a:t>
            </a:r>
            <a:r>
              <a:rPr lang="en-US" altLang="en-US" sz="2400" b="1" dirty="0" err="1">
                <a:solidFill>
                  <a:srgbClr val="4717CF"/>
                </a:solidFill>
              </a:rPr>
              <a:t>rỗng</a:t>
            </a:r>
            <a:endParaRPr lang="en-US" altLang="en-US" sz="2400" b="1" dirty="0">
              <a:solidFill>
                <a:srgbClr val="4717CF"/>
              </a:solidFill>
            </a:endParaRPr>
          </a:p>
          <a:p>
            <a:pPr marL="1031875" lvl="2" indent="-231775" eaLnBrk="1" hangingPunct="1">
              <a:lnSpc>
                <a:spcPct val="105000"/>
              </a:lnSpc>
              <a:spcBef>
                <a:spcPts val="600"/>
              </a:spcBef>
            </a:pPr>
            <a:r>
              <a:rPr lang="en-US" altLang="en-US" dirty="0"/>
              <a:t>Tập </a:t>
            </a:r>
            <a:r>
              <a:rPr lang="en-US" altLang="en-US" dirty="0" err="1"/>
              <a:t>rỗng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ký</a:t>
            </a:r>
            <a:r>
              <a:rPr lang="en-US" altLang="en-US" dirty="0"/>
              <a:t> </a:t>
            </a:r>
            <a:r>
              <a:rPr lang="en-US" altLang="en-US" dirty="0" err="1"/>
              <a:t>hiệu</a:t>
            </a:r>
            <a:r>
              <a:rPr lang="en-US" altLang="en-US" dirty="0"/>
              <a:t>: </a:t>
            </a:r>
            <a:r>
              <a:rPr lang="en-US" altLang="en-US" b="1" dirty="0">
                <a:sym typeface="Symbol" panose="05050102010706020507" pitchFamily="18" charset="2"/>
              </a:rPr>
              <a:t></a:t>
            </a:r>
            <a:endParaRPr lang="en-US" altLang="en-US" b="1" dirty="0"/>
          </a:p>
          <a:p>
            <a:pPr marL="231775" indent="-231775" eaLnBrk="1" hangingPunct="1">
              <a:lnSpc>
                <a:spcPct val="105000"/>
              </a:lnSpc>
              <a:spcBef>
                <a:spcPts val="600"/>
              </a:spcBef>
            </a:pPr>
            <a:r>
              <a:rPr lang="en-US" altLang="en-US" sz="2800" dirty="0" err="1"/>
              <a:t>Biểu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diễn</a:t>
            </a:r>
            <a:r>
              <a:rPr lang="en-US" altLang="en-US" sz="2800" dirty="0"/>
              <a:t>: 	A= {x| x </a:t>
            </a:r>
            <a:r>
              <a:rPr lang="en-US" altLang="en-US" sz="2800" dirty="0" err="1"/>
              <a:t>thỏa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mãn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chất</a:t>
            </a:r>
            <a:r>
              <a:rPr lang="en-US" altLang="en-US" sz="2800" dirty="0"/>
              <a:t> Q}</a:t>
            </a:r>
          </a:p>
          <a:p>
            <a:pPr marL="631825" lvl="1" indent="-231775" eaLnBrk="1" hangingPunct="1">
              <a:lnSpc>
                <a:spcPct val="105000"/>
              </a:lnSpc>
              <a:spcBef>
                <a:spcPts val="600"/>
              </a:spcBef>
            </a:pPr>
            <a:r>
              <a:rPr lang="en-US" altLang="en-US" sz="2400" dirty="0" err="1"/>
              <a:t>Chỉ</a:t>
            </a:r>
            <a:r>
              <a:rPr lang="en-US" altLang="en-US" sz="2400" dirty="0"/>
              <a:t> </a:t>
            </a:r>
            <a:r>
              <a:rPr lang="en-US" altLang="en-US" sz="2400" dirty="0" err="1"/>
              <a:t>ra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tập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các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phần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tử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thỏa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mãn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tính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chất</a:t>
            </a:r>
            <a:r>
              <a:rPr lang="en-US" altLang="en-US" sz="2400" dirty="0"/>
              <a:t> Q</a:t>
            </a:r>
          </a:p>
          <a:p>
            <a:pPr marL="631825" lvl="1" indent="-231775" eaLnBrk="1" hangingPunct="1">
              <a:lnSpc>
                <a:spcPct val="105000"/>
              </a:lnSpc>
              <a:spcBef>
                <a:spcPts val="600"/>
              </a:spcBef>
            </a:pPr>
            <a:r>
              <a:rPr lang="en-US" altLang="en-US" sz="2400" dirty="0" err="1"/>
              <a:t>Sử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dụng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biểu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đồ</a:t>
            </a:r>
            <a:r>
              <a:rPr lang="en-US" altLang="en-US" sz="2400" dirty="0"/>
              <a:t> Venn</a:t>
            </a:r>
          </a:p>
          <a:p>
            <a:pPr marL="1031875" lvl="2" indent="-231775" eaLnBrk="1" hangingPunct="1">
              <a:lnSpc>
                <a:spcPct val="105000"/>
              </a:lnSpc>
              <a:spcBef>
                <a:spcPts val="600"/>
              </a:spcBef>
            </a:pPr>
            <a:r>
              <a:rPr lang="en-US" altLang="en-US" sz="2000" dirty="0" err="1"/>
              <a:t>Mỗi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phần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tử</a:t>
            </a:r>
            <a:r>
              <a:rPr lang="en-US" altLang="en-US" sz="2000" dirty="0"/>
              <a:t> </a:t>
            </a:r>
            <a:r>
              <a:rPr lang="en-US" altLang="en-US" sz="2000" dirty="0" err="1"/>
              <a:t>biểu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diễn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là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một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điểm</a:t>
            </a:r>
            <a:endParaRPr lang="en-US" altLang="en-US" sz="2000" dirty="0"/>
          </a:p>
          <a:p>
            <a:pPr marL="1031875" lvl="2" indent="-231775" eaLnBrk="1" hangingPunct="1">
              <a:lnSpc>
                <a:spcPct val="105000"/>
              </a:lnSpc>
              <a:spcBef>
                <a:spcPts val="600"/>
              </a:spcBef>
            </a:pPr>
            <a:r>
              <a:rPr lang="en-US" altLang="en-US" sz="2000" dirty="0" err="1"/>
              <a:t>Mỗi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tập</a:t>
            </a:r>
            <a:r>
              <a:rPr lang="en-US" altLang="en-US" sz="2000" dirty="0"/>
              <a:t> </a:t>
            </a:r>
            <a:r>
              <a:rPr lang="en-US" altLang="en-US" sz="2000" dirty="0" err="1"/>
              <a:t>là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một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hình</a:t>
            </a:r>
            <a:r>
              <a:rPr lang="en-US" altLang="en-US" sz="2000" dirty="0"/>
              <a:t> bao </a:t>
            </a:r>
            <a:r>
              <a:rPr lang="en-US" altLang="en-US" sz="2000" dirty="0" err="1"/>
              <a:t>quanh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các</a:t>
            </a:r>
            <a:r>
              <a:rPr lang="en-US" altLang="en-US" sz="2000" dirty="0"/>
              <a:t> </a:t>
            </a:r>
            <a:r>
              <a:rPr lang="en-US" altLang="en-US" sz="2000" dirty="0" err="1"/>
              <a:t>điểm</a:t>
            </a:r>
            <a:endParaRPr lang="en-US" altLang="en-US" sz="2000" dirty="0"/>
          </a:p>
          <a:p>
            <a:pPr marL="231775" indent="-231775" eaLnBrk="1" hangingPunct="1">
              <a:lnSpc>
                <a:spcPct val="105000"/>
              </a:lnSpc>
              <a:spcBef>
                <a:spcPts val="600"/>
              </a:spcBef>
            </a:pPr>
            <a:r>
              <a:rPr lang="en-US" altLang="en-US" sz="2800" dirty="0"/>
              <a:t>Lực </a:t>
            </a:r>
            <a:r>
              <a:rPr lang="en-US" altLang="en-US" sz="2800" dirty="0" err="1"/>
              <a:t>lượng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: </a:t>
            </a:r>
            <a:r>
              <a:rPr lang="en-US" altLang="en-US" sz="2400" dirty="0" err="1"/>
              <a:t>Số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phần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tử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của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tập</a:t>
            </a:r>
            <a:endParaRPr lang="en-US" altLang="en-US" sz="2400" dirty="0"/>
          </a:p>
          <a:p>
            <a:pPr marL="631825" lvl="1" indent="-231775" eaLnBrk="1" hangingPunct="1">
              <a:lnSpc>
                <a:spcPct val="105000"/>
              </a:lnSpc>
              <a:spcBef>
                <a:spcPts val="600"/>
              </a:spcBef>
            </a:pPr>
            <a:r>
              <a:rPr lang="en-US" altLang="en-US" sz="2400" dirty="0" err="1"/>
              <a:t>Tập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có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thể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hữu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hạn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hoặc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vô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hạn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phần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tử</a:t>
            </a:r>
            <a:endParaRPr lang="en-US" altLang="en-US" dirty="0"/>
          </a:p>
          <a:p>
            <a:pPr marL="631825" lvl="1" indent="-231775" eaLnBrk="1" hangingPunct="1">
              <a:lnSpc>
                <a:spcPct val="105000"/>
              </a:lnSpc>
              <a:spcBef>
                <a:spcPts val="600"/>
              </a:spcBef>
            </a:pPr>
            <a:r>
              <a:rPr lang="en-US" altLang="en-US" sz="2400" dirty="0"/>
              <a:t>Lực </a:t>
            </a:r>
            <a:r>
              <a:rPr lang="en-US" altLang="en-US" sz="2400" dirty="0" err="1"/>
              <a:t>lượng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của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tập</a:t>
            </a:r>
            <a:r>
              <a:rPr lang="en-US" altLang="en-US" sz="2400" dirty="0"/>
              <a:t> A, </a:t>
            </a:r>
            <a:r>
              <a:rPr lang="en-US" altLang="en-US" sz="2400" dirty="0" err="1"/>
              <a:t>được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ký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hiệu</a:t>
            </a:r>
            <a:r>
              <a:rPr lang="en-US" altLang="en-US" sz="2400" dirty="0"/>
              <a:t> |A|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D9CF51-4190-4816-A3D0-B07683F48977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09600" indent="-609600" eaLnBrk="1" hangingPunct="1">
              <a:lnSpc>
                <a:spcPct val="110000"/>
              </a:lnSpc>
            </a:pPr>
            <a:r>
              <a:rPr lang="en-US" altLang="en-US" sz="2800"/>
              <a:t>Kiến thức toán học liên quan</a:t>
            </a:r>
            <a:r>
              <a:rPr lang="en-US" altLang="en-US" sz="2800">
                <a:sym typeface="Symbol" panose="05050102010706020507" pitchFamily="18" charset="2"/>
              </a:rPr>
              <a:t>Tập hợp</a:t>
            </a:r>
            <a:endParaRPr lang="en-US" altLang="en-US" sz="2800"/>
          </a:p>
        </p:txBody>
      </p:sp>
      <p:sp>
        <p:nvSpPr>
          <p:cNvPr id="59396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5939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854075"/>
            <a:ext cx="8763000" cy="5867400"/>
          </a:xfrm>
          <a:noFill/>
        </p:spPr>
        <p:txBody>
          <a:bodyPr/>
          <a:lstStyle/>
          <a:p>
            <a:pPr marL="231775" indent="-231775" eaLnBrk="1" hangingPunct="1">
              <a:lnSpc>
                <a:spcPct val="110000"/>
              </a:lnSpc>
            </a:pPr>
            <a:r>
              <a:rPr lang="en-US" altLang="en-US" sz="2800"/>
              <a:t>Ký hiệu : </a:t>
            </a:r>
          </a:p>
          <a:p>
            <a:pPr marL="631825" lvl="1" indent="-231775" eaLnBrk="1" hangingPunct="1">
              <a:lnSpc>
                <a:spcPct val="110000"/>
              </a:lnSpc>
            </a:pPr>
            <a:r>
              <a:rPr lang="en-US" altLang="en-US" b="1">
                <a:solidFill>
                  <a:srgbClr val="4717CF"/>
                </a:solidFill>
                <a:sym typeface="Symbol" panose="05050102010706020507" pitchFamily="18" charset="2"/>
              </a:rPr>
              <a:t>aA</a:t>
            </a:r>
            <a:r>
              <a:rPr lang="en-US" altLang="en-US" sz="2400" b="1">
                <a:solidFill>
                  <a:srgbClr val="4717CF"/>
                </a:solidFill>
                <a:sym typeface="Symbol" panose="05050102010706020507" pitchFamily="18" charset="2"/>
              </a:rPr>
              <a:t>  </a:t>
            </a:r>
            <a:r>
              <a:rPr lang="en-US" altLang="en-US" sz="2400">
                <a:sym typeface="Symbol" panose="05050102010706020507" pitchFamily="18" charset="2"/>
              </a:rPr>
              <a:t>a là phần tử trong tập A</a:t>
            </a:r>
          </a:p>
          <a:p>
            <a:pPr marL="631825" lvl="1" indent="-231775" eaLnBrk="1" hangingPunct="1">
              <a:lnSpc>
                <a:spcPct val="110000"/>
              </a:lnSpc>
            </a:pPr>
            <a:r>
              <a:rPr lang="en-US" altLang="en-US" sz="2400" b="1">
                <a:solidFill>
                  <a:srgbClr val="4717CF"/>
                </a:solidFill>
                <a:sym typeface="Symbol" panose="05050102010706020507" pitchFamily="18" charset="2"/>
              </a:rPr>
              <a:t>a A   </a:t>
            </a:r>
            <a:r>
              <a:rPr lang="en-US" altLang="en-US" sz="2400">
                <a:sym typeface="Symbol" panose="05050102010706020507" pitchFamily="18" charset="2"/>
              </a:rPr>
              <a:t>a không phải phần tử trong tập A</a:t>
            </a:r>
          </a:p>
          <a:p>
            <a:pPr marL="631825" lvl="1" indent="-231775" eaLnBrk="1" hangingPunct="1">
              <a:lnSpc>
                <a:spcPct val="110000"/>
              </a:lnSpc>
            </a:pPr>
            <a:r>
              <a:rPr lang="en-US" altLang="en-US" b="1">
                <a:solidFill>
                  <a:srgbClr val="4717CF"/>
                </a:solidFill>
                <a:sym typeface="Symbol" panose="05050102010706020507" pitchFamily="18" charset="2"/>
              </a:rPr>
              <a:t>AB  </a:t>
            </a:r>
            <a:r>
              <a:rPr lang="en-US" altLang="en-US">
                <a:sym typeface="Symbol" panose="05050102010706020507" pitchFamily="18" charset="2"/>
              </a:rPr>
              <a:t>A là tập con thực thụ của B</a:t>
            </a:r>
          </a:p>
          <a:p>
            <a:pPr marL="631825" lvl="1" indent="-231775" eaLnBrk="1" hangingPunct="1">
              <a:lnSpc>
                <a:spcPct val="110000"/>
              </a:lnSpc>
            </a:pPr>
            <a:r>
              <a:rPr lang="en-US" altLang="en-US" b="1">
                <a:solidFill>
                  <a:srgbClr val="4717CF"/>
                </a:solidFill>
                <a:sym typeface="Symbol" panose="05050102010706020507" pitchFamily="18" charset="2"/>
              </a:rPr>
              <a:t>AB  </a:t>
            </a:r>
            <a:r>
              <a:rPr lang="en-US" altLang="en-US">
                <a:sym typeface="Symbol" panose="05050102010706020507" pitchFamily="18" charset="2"/>
              </a:rPr>
              <a:t>A là tập con của B</a:t>
            </a:r>
          </a:p>
          <a:p>
            <a:pPr marL="231775" indent="-231775" eaLnBrk="1" hangingPunct="1">
              <a:lnSpc>
                <a:spcPct val="110000"/>
              </a:lnSpc>
            </a:pPr>
            <a:r>
              <a:rPr lang="en-US" altLang="en-US" sz="2800">
                <a:sym typeface="Symbol" panose="05050102010706020507" pitchFamily="18" charset="2"/>
              </a:rPr>
              <a:t>Tập lũy thừa của A: </a:t>
            </a:r>
            <a:r>
              <a:rPr lang="en-US" altLang="en-US" sz="2800">
                <a:solidFill>
                  <a:srgbClr val="4717CF"/>
                </a:solidFill>
                <a:sym typeface="Symbol" panose="05050102010706020507" pitchFamily="18" charset="2"/>
              </a:rPr>
              <a:t>Tập các tập con của A</a:t>
            </a:r>
          </a:p>
          <a:p>
            <a:pPr marL="631825" lvl="1" indent="-231775" eaLnBrk="1" hangingPunct="1">
              <a:lnSpc>
                <a:spcPct val="110000"/>
              </a:lnSpc>
            </a:pPr>
            <a:r>
              <a:rPr lang="en-US" altLang="en-US" sz="2400">
                <a:sym typeface="Symbol" panose="05050102010706020507" pitchFamily="18" charset="2"/>
              </a:rPr>
              <a:t>Tập lũy thừa của A ký kiệu 2</a:t>
            </a:r>
            <a:r>
              <a:rPr lang="en-US" altLang="en-US" sz="2400" baseline="30000">
                <a:sym typeface="Symbol" panose="05050102010706020507" pitchFamily="18" charset="2"/>
              </a:rPr>
              <a:t>A</a:t>
            </a:r>
          </a:p>
          <a:p>
            <a:pPr marL="631825" lvl="1" indent="-231775" eaLnBrk="1" hangingPunct="1">
              <a:lnSpc>
                <a:spcPct val="110000"/>
              </a:lnSpc>
            </a:pPr>
            <a:r>
              <a:rPr lang="en-US" altLang="en-US" sz="2400"/>
              <a:t>A là một tập thì  2</a:t>
            </a:r>
            <a:r>
              <a:rPr lang="en-US" altLang="en-US" sz="2400" baseline="30000"/>
              <a:t>A</a:t>
            </a:r>
            <a:r>
              <a:rPr lang="en-US" altLang="en-US" sz="2400"/>
              <a:t> = {S| S</a:t>
            </a:r>
            <a:r>
              <a:rPr lang="en-US" altLang="en-US" sz="2400">
                <a:sym typeface="Symbol" panose="05050102010706020507" pitchFamily="18" charset="2"/>
              </a:rPr>
              <a:t>A</a:t>
            </a:r>
            <a:r>
              <a:rPr lang="en-US" altLang="en-US" sz="2400"/>
              <a:t>}</a:t>
            </a:r>
          </a:p>
          <a:p>
            <a:pPr marL="631825" lvl="1" indent="-231775" eaLnBrk="1" hangingPunct="1">
              <a:lnSpc>
                <a:spcPct val="110000"/>
              </a:lnSpc>
            </a:pPr>
            <a:r>
              <a:rPr lang="en-US" altLang="en-US" sz="2400"/>
              <a:t>Ví dụ 2</a:t>
            </a:r>
            <a:r>
              <a:rPr lang="en-US" altLang="en-US" sz="2400" baseline="30000"/>
              <a:t>{1,3,5}</a:t>
            </a:r>
            <a:r>
              <a:rPr lang="en-US" altLang="en-US" sz="2400"/>
              <a:t> ={</a:t>
            </a:r>
            <a:r>
              <a:rPr lang="en-US" altLang="en-US" sz="2400">
                <a:sym typeface="Symbol" panose="05050102010706020507" pitchFamily="18" charset="2"/>
              </a:rPr>
              <a:t>, </a:t>
            </a:r>
            <a:r>
              <a:rPr lang="en-US" altLang="en-US" sz="2400"/>
              <a:t>{1}, {3}, {5}, {1,3}, {1,5}, {5,3}, {1,3,5} }</a:t>
            </a:r>
          </a:p>
          <a:p>
            <a:pPr marL="631825" lvl="1" indent="-231775" eaLnBrk="1" hangingPunct="1">
              <a:lnSpc>
                <a:spcPct val="110000"/>
              </a:lnSpc>
            </a:pPr>
            <a:r>
              <a:rPr lang="en-US" altLang="en-US" sz="2400"/>
              <a:t>Nhận xét |2</a:t>
            </a:r>
            <a:r>
              <a:rPr lang="en-US" altLang="en-US" sz="2400" baseline="30000"/>
              <a:t>A</a:t>
            </a:r>
            <a:r>
              <a:rPr lang="en-US" altLang="en-US" sz="2400"/>
              <a:t>| =2</a:t>
            </a:r>
            <a:r>
              <a:rPr lang="en-US" altLang="en-US" sz="2400" baseline="30000"/>
              <a:t>|A|</a:t>
            </a:r>
            <a:r>
              <a:rPr lang="en-US" altLang="en-US" sz="2400"/>
              <a:t> </a:t>
            </a:r>
          </a:p>
          <a:p>
            <a:pPr marL="1031875" lvl="2" indent="-231775" eaLnBrk="1" hangingPunct="1">
              <a:lnSpc>
                <a:spcPct val="110000"/>
              </a:lnSpc>
            </a:pPr>
            <a:r>
              <a:rPr lang="en-US" altLang="en-US" sz="2000"/>
              <a:t>S </a:t>
            </a:r>
            <a:r>
              <a:rPr lang="en-US" altLang="en-US" sz="2000">
                <a:sym typeface="Symbol" panose="05050102010706020507" pitchFamily="18" charset="2"/>
              </a:rPr>
              <a:t> 2</a:t>
            </a:r>
            <a:r>
              <a:rPr lang="en-US" altLang="en-US" sz="2000" baseline="30000">
                <a:sym typeface="Symbol" panose="05050102010706020507" pitchFamily="18" charset="2"/>
              </a:rPr>
              <a:t>A </a:t>
            </a:r>
            <a:r>
              <a:rPr lang="en-US" altLang="en-US" sz="2000">
                <a:sym typeface="Symbol" panose="05050102010706020507" pitchFamily="18" charset="2"/>
              </a:rPr>
              <a:t>  số nhị phân </a:t>
            </a:r>
            <a:r>
              <a:rPr lang="en-US" altLang="en-US" sz="2000">
                <a:solidFill>
                  <a:srgbClr val="4717CF"/>
                </a:solidFill>
                <a:sym typeface="Symbol" panose="05050102010706020507" pitchFamily="18" charset="2"/>
              </a:rPr>
              <a:t>e=e</a:t>
            </a:r>
            <a:r>
              <a:rPr lang="en-US" altLang="en-US" sz="2000" baseline="-25000">
                <a:solidFill>
                  <a:srgbClr val="4717CF"/>
                </a:solidFill>
                <a:sym typeface="Symbol" panose="05050102010706020507" pitchFamily="18" charset="2"/>
              </a:rPr>
              <a:t>1</a:t>
            </a:r>
            <a:r>
              <a:rPr lang="en-US" altLang="en-US" sz="2000">
                <a:solidFill>
                  <a:srgbClr val="4717CF"/>
                </a:solidFill>
                <a:sym typeface="Symbol" panose="05050102010706020507" pitchFamily="18" charset="2"/>
              </a:rPr>
              <a:t>..e</a:t>
            </a:r>
            <a:r>
              <a:rPr lang="en-US" altLang="en-US" sz="2000" baseline="-25000">
                <a:solidFill>
                  <a:srgbClr val="4717CF"/>
                </a:solidFill>
                <a:sym typeface="Symbol" panose="05050102010706020507" pitchFamily="18" charset="2"/>
              </a:rPr>
              <a:t>n</a:t>
            </a:r>
            <a:r>
              <a:rPr lang="en-US" altLang="en-US" sz="2000" baseline="-25000">
                <a:sym typeface="Symbol" panose="05050102010706020507" pitchFamily="18" charset="2"/>
              </a:rPr>
              <a:t> </a:t>
            </a:r>
            <a:r>
              <a:rPr lang="en-US" altLang="en-US" sz="2000">
                <a:sym typeface="Symbol" panose="05050102010706020507" pitchFamily="18" charset="2"/>
              </a:rPr>
              <a:t>(n = |A|) thỏa mãn : </a:t>
            </a:r>
            <a:r>
              <a:rPr lang="en-US" altLang="en-US" sz="2000">
                <a:solidFill>
                  <a:srgbClr val="4717CF"/>
                </a:solidFill>
                <a:sym typeface="Symbol" panose="05050102010706020507" pitchFamily="18" charset="2"/>
              </a:rPr>
              <a:t>e</a:t>
            </a:r>
            <a:r>
              <a:rPr lang="en-US" altLang="en-US" sz="2000" baseline="-25000">
                <a:solidFill>
                  <a:srgbClr val="4717CF"/>
                </a:solidFill>
                <a:sym typeface="Symbol" panose="05050102010706020507" pitchFamily="18" charset="2"/>
              </a:rPr>
              <a:t>i</a:t>
            </a:r>
            <a:r>
              <a:rPr lang="en-US" altLang="en-US" sz="2000">
                <a:solidFill>
                  <a:srgbClr val="4717CF"/>
                </a:solidFill>
                <a:sym typeface="Symbol" panose="05050102010706020507" pitchFamily="18" charset="2"/>
              </a:rPr>
              <a:t>=1</a:t>
            </a:r>
            <a:r>
              <a:rPr lang="en-US" altLang="en-US" sz="2000">
                <a:sym typeface="Symbol" panose="05050102010706020507" pitchFamily="18" charset="2"/>
              </a:rPr>
              <a:t> khi phần tử i của A có mặt trong S; Ngược lại </a:t>
            </a:r>
            <a:r>
              <a:rPr lang="en-US" altLang="en-US" sz="2000">
                <a:solidFill>
                  <a:srgbClr val="4717CF"/>
                </a:solidFill>
                <a:sym typeface="Symbol" panose="05050102010706020507" pitchFamily="18" charset="2"/>
              </a:rPr>
              <a:t>e</a:t>
            </a:r>
            <a:r>
              <a:rPr lang="en-US" altLang="en-US" sz="2000" baseline="-25000">
                <a:solidFill>
                  <a:srgbClr val="4717CF"/>
                </a:solidFill>
                <a:sym typeface="Symbol" panose="05050102010706020507" pitchFamily="18" charset="2"/>
              </a:rPr>
              <a:t>i</a:t>
            </a:r>
            <a:r>
              <a:rPr lang="en-US" altLang="en-US" sz="2000">
                <a:solidFill>
                  <a:srgbClr val="4717CF"/>
                </a:solidFill>
                <a:sym typeface="Symbol" panose="05050102010706020507" pitchFamily="18" charset="2"/>
              </a:rPr>
              <a:t>=0</a:t>
            </a:r>
            <a:endParaRPr lang="en-US" altLang="en-US" sz="2000">
              <a:solidFill>
                <a:srgbClr val="4717CF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65B3260-70E0-49FE-8E6C-999B193FA1A9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09600" indent="-609600" eaLnBrk="1" hangingPunct="1">
              <a:lnSpc>
                <a:spcPct val="110000"/>
              </a:lnSpc>
              <a:spcBef>
                <a:spcPts val="1200"/>
              </a:spcBef>
            </a:pPr>
            <a:r>
              <a:rPr lang="en-US" altLang="en-US" sz="2800"/>
              <a:t>Kiến thức toán học liên quan</a:t>
            </a:r>
            <a:r>
              <a:rPr lang="en-US" altLang="en-US" sz="2800">
                <a:sym typeface="Symbol" panose="05050102010706020507" pitchFamily="18" charset="2"/>
              </a:rPr>
              <a:t>Tập hợp</a:t>
            </a:r>
            <a:endParaRPr lang="en-US" altLang="en-US" sz="2800"/>
          </a:p>
        </p:txBody>
      </p:sp>
      <p:sp>
        <p:nvSpPr>
          <p:cNvPr id="60420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14561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854075"/>
            <a:ext cx="8763000" cy="5867400"/>
          </a:xfrm>
        </p:spPr>
        <p:txBody>
          <a:bodyPr/>
          <a:lstStyle/>
          <a:p>
            <a:pPr marL="231775" indent="-231775" eaLnBrk="1" hangingPunct="1">
              <a:lnSpc>
                <a:spcPct val="110000"/>
              </a:lnSpc>
              <a:spcBef>
                <a:spcPts val="1200"/>
              </a:spcBef>
              <a:defRPr/>
            </a:pPr>
            <a:r>
              <a:rPr lang="en-US" altLang="en-US" sz="2800" err="1"/>
              <a:t>Các</a:t>
            </a:r>
            <a:r>
              <a:rPr lang="en-US" altLang="en-US" sz="2800"/>
              <a:t> </a:t>
            </a:r>
            <a:r>
              <a:rPr lang="en-US" altLang="en-US" sz="2800" err="1"/>
              <a:t>phép</a:t>
            </a:r>
            <a:r>
              <a:rPr lang="en-US" altLang="en-US" sz="2800"/>
              <a:t> </a:t>
            </a:r>
            <a:r>
              <a:rPr lang="en-US" altLang="en-US" sz="2800" err="1"/>
              <a:t>toán</a:t>
            </a:r>
            <a:r>
              <a:rPr lang="en-US" altLang="en-US" sz="2800"/>
              <a:t> </a:t>
            </a:r>
            <a:r>
              <a:rPr lang="en-US" altLang="en-US" sz="2800" err="1"/>
              <a:t>trên</a:t>
            </a:r>
            <a:r>
              <a:rPr lang="en-US" altLang="en-US" sz="2800"/>
              <a:t> </a:t>
            </a:r>
            <a:r>
              <a:rPr lang="en-US" altLang="en-US" sz="2800" err="1"/>
              <a:t>tập</a:t>
            </a:r>
            <a:r>
              <a:rPr lang="en-US" altLang="en-US" sz="2800"/>
              <a:t>: A, B </a:t>
            </a:r>
            <a:r>
              <a:rPr lang="en-US" altLang="en-US" sz="2800" err="1"/>
              <a:t>là</a:t>
            </a:r>
            <a:r>
              <a:rPr lang="en-US" altLang="en-US" sz="2800"/>
              <a:t> 2 </a:t>
            </a:r>
            <a:r>
              <a:rPr lang="en-US" altLang="en-US" sz="2800" err="1"/>
              <a:t>tập</a:t>
            </a:r>
            <a:endParaRPr lang="en-US" altLang="en-US" sz="2800"/>
          </a:p>
          <a:p>
            <a:pPr marL="817563" lvl="1" indent="-274638" eaLnBrk="1" hangingPunct="1">
              <a:spcBef>
                <a:spcPts val="1200"/>
              </a:spcBef>
              <a:defRPr/>
            </a:pPr>
            <a:r>
              <a:rPr lang="en-US" altLang="en-US" b="1" i="1" err="1">
                <a:cs typeface="Arial" panose="020B0604020202020204" pitchFamily="34" charset="0"/>
              </a:rPr>
              <a:t>Hợp</a:t>
            </a:r>
            <a:r>
              <a:rPr lang="en-US" altLang="en-US" b="1" i="1">
                <a:cs typeface="Arial" panose="020B0604020202020204" pitchFamily="34" charset="0"/>
              </a:rPr>
              <a:t>:</a:t>
            </a:r>
            <a:r>
              <a:rPr lang="en-US" altLang="en-US" i="1">
                <a:cs typeface="Arial" panose="020B0604020202020204" pitchFamily="34" charset="0"/>
              </a:rPr>
              <a:t>		A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 B = {a| a A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hoặc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a B }</a:t>
            </a:r>
            <a:endParaRPr lang="el-GR" altLang="en-US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817563" lvl="1" indent="-274638" eaLnBrk="1" hangingPunct="1">
              <a:spcBef>
                <a:spcPts val="1200"/>
              </a:spcBef>
              <a:defRPr/>
            </a:pPr>
            <a:r>
              <a:rPr lang="en-US" altLang="en-US" b="1" i="1" err="1">
                <a:cs typeface="Arial" panose="020B0604020202020204" pitchFamily="34" charset="0"/>
              </a:rPr>
              <a:t>Giao</a:t>
            </a:r>
            <a:r>
              <a:rPr lang="en-US" altLang="en-US" b="1" i="1">
                <a:cs typeface="Arial" panose="020B0604020202020204" pitchFamily="34" charset="0"/>
              </a:rPr>
              <a:t>:</a:t>
            </a:r>
            <a:r>
              <a:rPr lang="en-US" altLang="en-US" i="1">
                <a:cs typeface="Arial" panose="020B0604020202020204" pitchFamily="34" charset="0"/>
              </a:rPr>
              <a:t>		A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 B = {a| a A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và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a B }</a:t>
            </a:r>
          </a:p>
          <a:p>
            <a:pPr marL="1217613" lvl="2" indent="-274638" eaLnBrk="1" hangingPunct="1">
              <a:spcBef>
                <a:spcPts val="1200"/>
              </a:spcBef>
              <a:defRPr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A, B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được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gọi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là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phân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biệt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nếu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en-US" b="1">
                <a:cs typeface="Arial" panose="020B0604020202020204" pitchFamily="34" charset="0"/>
                <a:sym typeface="Symbol" panose="05050102010706020507" pitchFamily="18" charset="2"/>
              </a:rPr>
              <a:t>A  B = </a:t>
            </a:r>
            <a:endParaRPr lang="en-US" altLang="en-US" b="1">
              <a:cs typeface="Arial" panose="020B0604020202020204" pitchFamily="34" charset="0"/>
            </a:endParaRPr>
          </a:p>
          <a:p>
            <a:pPr marL="817563" lvl="1" indent="-274638" eaLnBrk="1" hangingPunct="1">
              <a:spcBef>
                <a:spcPts val="1200"/>
              </a:spcBef>
              <a:defRPr/>
            </a:pPr>
            <a:r>
              <a:rPr lang="en-US" altLang="en-US" b="1" i="1" err="1">
                <a:cs typeface="Arial" panose="020B0604020202020204" pitchFamily="34" charset="0"/>
              </a:rPr>
              <a:t>Hiệu</a:t>
            </a:r>
            <a:r>
              <a:rPr lang="en-US" altLang="en-US" b="1" i="1">
                <a:cs typeface="Arial" panose="020B0604020202020204" pitchFamily="34" charset="0"/>
              </a:rPr>
              <a:t>:		</a:t>
            </a:r>
            <a:r>
              <a:rPr lang="en-US" altLang="en-US" i="1">
                <a:cs typeface="Arial" panose="020B0604020202020204" pitchFamily="34" charset="0"/>
              </a:rPr>
              <a:t>A - B = {a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| a  A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và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aB</a:t>
            </a:r>
            <a:r>
              <a:rPr lang="en-US" altLang="en-US" i="1">
                <a:cs typeface="Arial" panose="020B0604020202020204" pitchFamily="34" charset="0"/>
              </a:rPr>
              <a:t>}</a:t>
            </a:r>
          </a:p>
          <a:p>
            <a:pPr marL="817563" lvl="1" indent="-274638" eaLnBrk="1" hangingPunct="1">
              <a:spcBef>
                <a:spcPts val="1200"/>
              </a:spcBef>
              <a:defRPr/>
            </a:pPr>
            <a:r>
              <a:rPr lang="en-US" altLang="en-US" b="1" i="1" err="1">
                <a:cs typeface="Arial" panose="020B0604020202020204" pitchFamily="34" charset="0"/>
              </a:rPr>
              <a:t>Tích</a:t>
            </a:r>
            <a:r>
              <a:rPr lang="en-US" altLang="en-US" b="1" i="1">
                <a:cs typeface="Arial" panose="020B0604020202020204" pitchFamily="34" charset="0"/>
              </a:rPr>
              <a:t> </a:t>
            </a:r>
            <a:r>
              <a:rPr lang="en-US" altLang="en-US" b="1" i="1" err="1">
                <a:cs typeface="Arial" panose="020B0604020202020204" pitchFamily="34" charset="0"/>
              </a:rPr>
              <a:t>Đề-các</a:t>
            </a:r>
            <a:r>
              <a:rPr lang="en-US" altLang="en-US" b="1" i="1">
                <a:cs typeface="Arial" panose="020B0604020202020204" pitchFamily="34" charset="0"/>
              </a:rPr>
              <a:t>:  </a:t>
            </a:r>
            <a:r>
              <a:rPr lang="en-US" altLang="en-US" err="1">
                <a:cs typeface="Arial" panose="020B0604020202020204" pitchFamily="34" charset="0"/>
              </a:rPr>
              <a:t>AxB</a:t>
            </a:r>
            <a:r>
              <a:rPr lang="en-US" altLang="en-US">
                <a:cs typeface="Arial" panose="020B0604020202020204" pitchFamily="34" charset="0"/>
              </a:rPr>
              <a:t>={&lt;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a,b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&gt;| a A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và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b B </a:t>
            </a:r>
            <a:r>
              <a:rPr lang="en-US" altLang="en-US">
                <a:cs typeface="Arial" panose="020B0604020202020204" pitchFamily="34" charset="0"/>
              </a:rPr>
              <a:t>} </a:t>
            </a:r>
          </a:p>
          <a:p>
            <a:pPr marL="1217613" lvl="2" indent="-274638" eaLnBrk="1" hangingPunct="1">
              <a:spcBef>
                <a:spcPts val="1200"/>
              </a:spcBef>
              <a:defRPr/>
            </a:pPr>
            <a:r>
              <a:rPr lang="en-US" altLang="en-US">
                <a:cs typeface="Arial" panose="020B0604020202020204" pitchFamily="34" charset="0"/>
              </a:rPr>
              <a:t>A ={1, 2}</a:t>
            </a:r>
          </a:p>
          <a:p>
            <a:pPr marL="1217613" lvl="2" indent="-274638" eaLnBrk="1" hangingPunct="1">
              <a:spcBef>
                <a:spcPts val="1200"/>
              </a:spcBef>
              <a:defRPr/>
            </a:pPr>
            <a:r>
              <a:rPr lang="en-US" altLang="en-US">
                <a:cs typeface="Arial" panose="020B0604020202020204" pitchFamily="34" charset="0"/>
              </a:rPr>
              <a:t>B={a, b}</a:t>
            </a:r>
          </a:p>
          <a:p>
            <a:pPr marL="1217613" lvl="2" indent="-274638" eaLnBrk="1" hangingPunct="1">
              <a:spcBef>
                <a:spcPts val="1200"/>
              </a:spcBef>
              <a:defRPr/>
            </a:pPr>
            <a:r>
              <a:rPr lang="en-US" altLang="en-US">
                <a:cs typeface="Arial" panose="020B0604020202020204" pitchFamily="34" charset="0"/>
              </a:rPr>
              <a:t>A</a:t>
            </a:r>
            <a:r>
              <a:rPr lang="en-US" altLang="en-US" baseline="-25000">
                <a:cs typeface="Arial" panose="020B0604020202020204" pitchFamily="34" charset="0"/>
              </a:rPr>
              <a:t>1</a:t>
            </a:r>
            <a:r>
              <a:rPr lang="en-US" altLang="en-US">
                <a:cs typeface="Arial" panose="020B0604020202020204" pitchFamily="34" charset="0"/>
              </a:rPr>
              <a:t>xA</a:t>
            </a:r>
            <a:r>
              <a:rPr lang="en-US" altLang="en-US" baseline="-25000">
                <a:cs typeface="Arial" panose="020B0604020202020204" pitchFamily="34" charset="0"/>
              </a:rPr>
              <a:t>2</a:t>
            </a:r>
            <a:r>
              <a:rPr lang="en-US" altLang="en-US">
                <a:cs typeface="Arial" panose="020B0604020202020204" pitchFamily="34" charset="0"/>
              </a:rPr>
              <a:t>x..xA</a:t>
            </a:r>
            <a:r>
              <a:rPr lang="en-US" altLang="en-US" baseline="-25000">
                <a:cs typeface="Arial" panose="020B0604020202020204" pitchFamily="34" charset="0"/>
              </a:rPr>
              <a:t>n</a:t>
            </a:r>
            <a:r>
              <a:rPr lang="en-US" altLang="en-US">
                <a:cs typeface="Arial" panose="020B0604020202020204" pitchFamily="34" charset="0"/>
              </a:rPr>
              <a:t> = {(a</a:t>
            </a:r>
            <a:r>
              <a:rPr lang="en-US" altLang="en-US" baseline="-25000">
                <a:cs typeface="Arial" panose="020B0604020202020204" pitchFamily="34" charset="0"/>
              </a:rPr>
              <a:t>1</a:t>
            </a:r>
            <a:r>
              <a:rPr lang="en-US" altLang="en-US">
                <a:cs typeface="Arial" panose="020B0604020202020204" pitchFamily="34" charset="0"/>
              </a:rPr>
              <a:t>,a</a:t>
            </a:r>
            <a:r>
              <a:rPr lang="en-US" altLang="en-US" baseline="-25000">
                <a:cs typeface="Arial" panose="020B0604020202020204" pitchFamily="34" charset="0"/>
              </a:rPr>
              <a:t>2</a:t>
            </a:r>
            <a:r>
              <a:rPr lang="en-US" altLang="en-US">
                <a:cs typeface="Arial" panose="020B0604020202020204" pitchFamily="34" charset="0"/>
              </a:rPr>
              <a:t>,..,a</a:t>
            </a:r>
            <a:r>
              <a:rPr lang="en-US" altLang="en-US" baseline="-25000">
                <a:cs typeface="Arial" panose="020B0604020202020204" pitchFamily="34" charset="0"/>
              </a:rPr>
              <a:t>n</a:t>
            </a:r>
            <a:r>
              <a:rPr lang="en-US" altLang="en-US">
                <a:cs typeface="Arial" panose="020B0604020202020204" pitchFamily="34" charset="0"/>
              </a:rPr>
              <a:t>) | </a:t>
            </a:r>
            <a:r>
              <a:rPr lang="en-US" altLang="en-US" err="1">
                <a:cs typeface="Arial" panose="020B0604020202020204" pitchFamily="34" charset="0"/>
              </a:rPr>
              <a:t>a</a:t>
            </a:r>
            <a:r>
              <a:rPr lang="en-US" altLang="en-US" baseline="-25000" err="1">
                <a:cs typeface="Arial" panose="020B0604020202020204" pitchFamily="34" charset="0"/>
              </a:rPr>
              <a:t>i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 </a:t>
            </a:r>
            <a:r>
              <a:rPr lang="en-US" altLang="en-US">
                <a:cs typeface="Arial" panose="020B0604020202020204" pitchFamily="34" charset="0"/>
              </a:rPr>
              <a:t>A</a:t>
            </a:r>
            <a:r>
              <a:rPr lang="en-US" altLang="en-US" baseline="-25000">
                <a:cs typeface="Arial" panose="020B0604020202020204" pitchFamily="34" charset="0"/>
              </a:rPr>
              <a:t>i</a:t>
            </a:r>
            <a:r>
              <a:rPr lang="en-US" altLang="en-US">
                <a:cs typeface="Arial" panose="020B0604020202020204" pitchFamily="34" charset="0"/>
              </a:rPr>
              <a:t>} </a:t>
            </a:r>
          </a:p>
          <a:p>
            <a:pPr marL="1217613" lvl="2" indent="-274638" eaLnBrk="1" hangingPunct="1">
              <a:spcBef>
                <a:spcPts val="1200"/>
              </a:spcBef>
              <a:defRPr/>
            </a:pPr>
            <a:r>
              <a:rPr lang="en-US" altLang="en-US" err="1">
                <a:cs typeface="Arial" panose="020B0604020202020204" pitchFamily="34" charset="0"/>
              </a:rPr>
              <a:t>Tích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n-US" altLang="en-US" err="1">
                <a:cs typeface="Arial" panose="020B0604020202020204" pitchFamily="34" charset="0"/>
              </a:rPr>
              <a:t>Đề-các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n-US" altLang="en-US" err="1">
                <a:cs typeface="Arial" panose="020B0604020202020204" pitchFamily="34" charset="0"/>
              </a:rPr>
              <a:t>lũy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n-US" altLang="en-US" err="1">
                <a:cs typeface="Arial" panose="020B0604020202020204" pitchFamily="34" charset="0"/>
              </a:rPr>
              <a:t>thừa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n-US" altLang="en-US" err="1">
                <a:cs typeface="Arial" panose="020B0604020202020204" pitchFamily="34" charset="0"/>
              </a:rPr>
              <a:t>bậc</a:t>
            </a:r>
            <a:r>
              <a:rPr lang="en-US" altLang="en-US">
                <a:cs typeface="Arial" panose="020B0604020202020204" pitchFamily="34" charset="0"/>
              </a:rPr>
              <a:t> n: </a:t>
            </a:r>
          </a:p>
          <a:p>
            <a:pPr marL="942975" lvl="2" indent="0" eaLnBrk="1" hangingPunct="1">
              <a:spcBef>
                <a:spcPts val="0"/>
              </a:spcBef>
              <a:buFontTx/>
              <a:buNone/>
              <a:defRPr/>
            </a:pPr>
            <a:r>
              <a:rPr lang="en-US" altLang="en-US">
                <a:cs typeface="Arial" panose="020B0604020202020204" pitchFamily="34" charset="0"/>
              </a:rPr>
              <a:t>	A</a:t>
            </a:r>
            <a:r>
              <a:rPr lang="en-US" altLang="en-US" baseline="30000">
                <a:cs typeface="Arial" panose="020B0604020202020204" pitchFamily="34" charset="0"/>
              </a:rPr>
              <a:t>n  </a:t>
            </a:r>
            <a:r>
              <a:rPr lang="en-US" altLang="en-US">
                <a:cs typeface="Arial" panose="020B0604020202020204" pitchFamily="34" charset="0"/>
              </a:rPr>
              <a:t>= </a:t>
            </a:r>
            <a:r>
              <a:rPr lang="en-US" altLang="en-US" err="1">
                <a:cs typeface="Arial" panose="020B0604020202020204" pitchFamily="34" charset="0"/>
              </a:rPr>
              <a:t>AxAx</a:t>
            </a:r>
            <a:r>
              <a:rPr lang="en-US" altLang="en-US">
                <a:cs typeface="Arial" panose="020B0604020202020204" pitchFamily="34" charset="0"/>
              </a:rPr>
              <a:t>…</a:t>
            </a:r>
            <a:r>
              <a:rPr lang="en-US" altLang="en-US" err="1">
                <a:cs typeface="Arial" panose="020B0604020202020204" pitchFamily="34" charset="0"/>
              </a:rPr>
              <a:t>xA</a:t>
            </a:r>
            <a:r>
              <a:rPr lang="en-US" altLang="en-US">
                <a:cs typeface="Arial" panose="020B0604020202020204" pitchFamily="34" charset="0"/>
              </a:rPr>
              <a:t> = {(a</a:t>
            </a:r>
            <a:r>
              <a:rPr lang="en-US" altLang="en-US" baseline="-25000">
                <a:cs typeface="Arial" panose="020B0604020202020204" pitchFamily="34" charset="0"/>
              </a:rPr>
              <a:t>1</a:t>
            </a:r>
            <a:r>
              <a:rPr lang="en-US" altLang="en-US">
                <a:cs typeface="Arial" panose="020B0604020202020204" pitchFamily="34" charset="0"/>
              </a:rPr>
              <a:t>,..,a</a:t>
            </a:r>
            <a:r>
              <a:rPr lang="en-US" altLang="en-US" baseline="-25000">
                <a:cs typeface="Arial" panose="020B0604020202020204" pitchFamily="34" charset="0"/>
              </a:rPr>
              <a:t>n</a:t>
            </a:r>
            <a:r>
              <a:rPr lang="en-US" altLang="en-US">
                <a:cs typeface="Arial" panose="020B0604020202020204" pitchFamily="34" charset="0"/>
              </a:rPr>
              <a:t>) | </a:t>
            </a:r>
            <a:r>
              <a:rPr lang="en-US" altLang="en-US" err="1">
                <a:cs typeface="Arial" panose="020B0604020202020204" pitchFamily="34" charset="0"/>
              </a:rPr>
              <a:t>a</a:t>
            </a:r>
            <a:r>
              <a:rPr lang="en-US" altLang="en-US" baseline="-25000" err="1">
                <a:cs typeface="Arial" panose="020B0604020202020204" pitchFamily="34" charset="0"/>
              </a:rPr>
              <a:t>i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A</a:t>
            </a:r>
            <a:r>
              <a:rPr lang="en-US" altLang="en-US">
                <a:cs typeface="Arial" panose="020B0604020202020204" pitchFamily="34" charset="0"/>
              </a:rPr>
              <a:t>}</a:t>
            </a:r>
          </a:p>
          <a:p>
            <a:pPr marL="0" indent="0" eaLnBrk="1" hangingPunct="1">
              <a:lnSpc>
                <a:spcPct val="110000"/>
              </a:lnSpc>
              <a:spcBef>
                <a:spcPts val="1200"/>
              </a:spcBef>
              <a:buFontTx/>
              <a:buNone/>
              <a:defRPr/>
            </a:pPr>
            <a:endParaRPr lang="en-US" altLang="en-US" sz="2800"/>
          </a:p>
        </p:txBody>
      </p:sp>
      <p:grpSp>
        <p:nvGrpSpPr>
          <p:cNvPr id="60422" name="Group 3"/>
          <p:cNvGrpSpPr>
            <a:grpSpLocks/>
          </p:cNvGrpSpPr>
          <p:nvPr/>
        </p:nvGrpSpPr>
        <p:grpSpPr bwMode="auto">
          <a:xfrm>
            <a:off x="2743200" y="4300538"/>
            <a:ext cx="5791200" cy="1066800"/>
            <a:chOff x="2743200" y="4300210"/>
            <a:chExt cx="5791200" cy="1066800"/>
          </a:xfrm>
        </p:grpSpPr>
        <p:sp>
          <p:nvSpPr>
            <p:cNvPr id="60423" name="Right Brace 1"/>
            <p:cNvSpPr>
              <a:spLocks/>
            </p:cNvSpPr>
            <p:nvPr/>
          </p:nvSpPr>
          <p:spPr bwMode="auto">
            <a:xfrm>
              <a:off x="2743200" y="4300210"/>
              <a:ext cx="381000" cy="1066800"/>
            </a:xfrm>
            <a:prstGeom prst="rightBrace">
              <a:avLst>
                <a:gd name="adj1" fmla="val 8335"/>
                <a:gd name="adj2" fmla="val 50000"/>
              </a:avLst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60424" name="TextBox 2"/>
            <p:cNvSpPr txBox="1">
              <a:spLocks noChangeArrowheads="1"/>
            </p:cNvSpPr>
            <p:nvPr/>
          </p:nvSpPr>
          <p:spPr bwMode="auto">
            <a:xfrm>
              <a:off x="3276600" y="4572000"/>
              <a:ext cx="52578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800" b="0">
                  <a:solidFill>
                    <a:srgbClr val="002060"/>
                  </a:solidFill>
                </a:rPr>
                <a:t>AxB = {(1,a), (1,b), (2,a), (2,b)}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6E0EB3-27A0-4BFD-A234-4BCA8D4CB04C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09600" indent="-609600" eaLnBrk="1" hangingPunct="1">
              <a:lnSpc>
                <a:spcPct val="110000"/>
              </a:lnSpc>
              <a:spcBef>
                <a:spcPts val="1200"/>
              </a:spcBef>
            </a:pPr>
            <a:r>
              <a:rPr lang="en-US" altLang="en-US" sz="2800"/>
              <a:t>Kiến thức toán học liên quan</a:t>
            </a:r>
            <a:r>
              <a:rPr lang="en-US" altLang="en-US" sz="2800">
                <a:sym typeface="Symbol" panose="05050102010706020507" pitchFamily="18" charset="2"/>
              </a:rPr>
              <a:t>Quan hệ</a:t>
            </a:r>
            <a:endParaRPr lang="en-US" altLang="en-US" sz="2800"/>
          </a:p>
        </p:txBody>
      </p:sp>
      <p:sp>
        <p:nvSpPr>
          <p:cNvPr id="61444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6144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28600" y="854075"/>
            <a:ext cx="8458200" cy="5867400"/>
          </a:xfrm>
          <a:noFill/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ts val="1200"/>
              </a:spcBef>
            </a:pPr>
            <a:r>
              <a:rPr lang="en-US" altLang="en-US" sz="2800" dirty="0" err="1"/>
              <a:t>Khái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niệm</a:t>
            </a:r>
            <a:r>
              <a:rPr lang="en-US" altLang="en-US" sz="2800" dirty="0"/>
              <a:t>: </a:t>
            </a:r>
          </a:p>
          <a:p>
            <a:pPr lvl="1" eaLnBrk="1" hangingPunct="1">
              <a:lnSpc>
                <a:spcPct val="110000"/>
              </a:lnSpc>
              <a:spcBef>
                <a:spcPts val="1200"/>
              </a:spcBef>
            </a:pPr>
            <a:r>
              <a:rPr lang="en-US" altLang="en-US" sz="2400" dirty="0" err="1">
                <a:solidFill>
                  <a:srgbClr val="4717CF"/>
                </a:solidFill>
              </a:rPr>
              <a:t>Tập</a:t>
            </a:r>
            <a:r>
              <a:rPr lang="en-US" altLang="en-US" sz="2400" dirty="0">
                <a:solidFill>
                  <a:srgbClr val="4717CF"/>
                </a:solidFill>
              </a:rPr>
              <a:t> con </a:t>
            </a:r>
            <a:r>
              <a:rPr lang="en-US" altLang="en-US" sz="2400" dirty="0">
                <a:solidFill>
                  <a:srgbClr val="4717CF"/>
                </a:solidFill>
                <a:sym typeface="Symbol" panose="05050102010706020507" pitchFamily="18" charset="2"/>
              </a:rPr>
              <a:t></a:t>
            </a:r>
            <a:r>
              <a:rPr lang="en-US" altLang="en-US" sz="2400" dirty="0">
                <a:solidFill>
                  <a:srgbClr val="4717CF"/>
                </a:solidFill>
              </a:rPr>
              <a:t> </a:t>
            </a:r>
            <a:r>
              <a:rPr lang="en-US" altLang="en-US" sz="2400" dirty="0" err="1">
                <a:solidFill>
                  <a:srgbClr val="4717CF"/>
                </a:solidFill>
              </a:rPr>
              <a:t>của</a:t>
            </a:r>
            <a:r>
              <a:rPr lang="en-US" altLang="en-US" sz="2400" dirty="0">
                <a:solidFill>
                  <a:srgbClr val="4717CF"/>
                </a:solidFill>
              </a:rPr>
              <a:t> </a:t>
            </a:r>
            <a:r>
              <a:rPr lang="en-US" altLang="en-US" sz="2400" dirty="0" err="1">
                <a:solidFill>
                  <a:srgbClr val="4717CF"/>
                </a:solidFill>
              </a:rPr>
              <a:t>tích</a:t>
            </a:r>
            <a:r>
              <a:rPr lang="en-US" altLang="en-US" sz="2400" dirty="0">
                <a:solidFill>
                  <a:srgbClr val="4717CF"/>
                </a:solidFill>
              </a:rPr>
              <a:t> </a:t>
            </a:r>
            <a:r>
              <a:rPr lang="en-US" altLang="en-US" sz="2400" dirty="0" err="1">
                <a:solidFill>
                  <a:srgbClr val="4717CF"/>
                </a:solidFill>
              </a:rPr>
              <a:t>Đề-các</a:t>
            </a:r>
            <a:r>
              <a:rPr lang="en-US" altLang="en-US" sz="2400" dirty="0">
                <a:solidFill>
                  <a:srgbClr val="4717CF"/>
                </a:solidFill>
              </a:rPr>
              <a:t> </a:t>
            </a:r>
            <a:r>
              <a:rPr lang="en-US" altLang="en-US" sz="2400" dirty="0" err="1">
                <a:solidFill>
                  <a:srgbClr val="4717CF"/>
                </a:solidFill>
              </a:rPr>
              <a:t>của</a:t>
            </a:r>
            <a:r>
              <a:rPr lang="en-US" altLang="en-US" sz="2400" dirty="0">
                <a:solidFill>
                  <a:srgbClr val="4717CF"/>
                </a:solidFill>
              </a:rPr>
              <a:t> </a:t>
            </a:r>
            <a:r>
              <a:rPr lang="en-US" altLang="en-US" sz="2400" dirty="0" err="1">
                <a:solidFill>
                  <a:srgbClr val="4717CF"/>
                </a:solidFill>
              </a:rPr>
              <a:t>các</a:t>
            </a:r>
            <a:r>
              <a:rPr lang="en-US" altLang="en-US" sz="2400" dirty="0">
                <a:solidFill>
                  <a:srgbClr val="4717CF"/>
                </a:solidFill>
              </a:rPr>
              <a:t> </a:t>
            </a:r>
            <a:r>
              <a:rPr lang="en-US" altLang="en-US" sz="2400" dirty="0" err="1">
                <a:solidFill>
                  <a:srgbClr val="4717CF"/>
                </a:solidFill>
              </a:rPr>
              <a:t>tập</a:t>
            </a:r>
            <a:endParaRPr lang="en-US" altLang="en-US" sz="2400" dirty="0">
              <a:solidFill>
                <a:srgbClr val="4717CF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ts val="1200"/>
              </a:spcBef>
            </a:pPr>
            <a:r>
              <a:rPr lang="en-US" altLang="en-US" sz="2800" dirty="0"/>
              <a:t>Quan </a:t>
            </a:r>
            <a:r>
              <a:rPr lang="en-US" altLang="en-US" sz="2800" dirty="0" err="1"/>
              <a:t>hệ</a:t>
            </a:r>
            <a:r>
              <a:rPr lang="en-US" altLang="en-US" sz="2800" dirty="0"/>
              <a:t> 2 </a:t>
            </a:r>
            <a:r>
              <a:rPr lang="en-US" altLang="en-US" sz="2800" dirty="0" err="1"/>
              <a:t>ngôi</a:t>
            </a:r>
            <a:r>
              <a:rPr lang="en-US" altLang="en-US" sz="2800" dirty="0"/>
              <a:t>: </a:t>
            </a:r>
          </a:p>
          <a:p>
            <a:pPr lvl="1" eaLnBrk="1" hangingPunct="1">
              <a:lnSpc>
                <a:spcPct val="110000"/>
              </a:lnSpc>
              <a:spcBef>
                <a:spcPts val="1200"/>
              </a:spcBef>
            </a:pPr>
            <a:r>
              <a:rPr lang="en-US" altLang="en-US" sz="2400" dirty="0" err="1"/>
              <a:t>Tập</a:t>
            </a:r>
            <a:r>
              <a:rPr lang="en-US" altLang="en-US" sz="2400" dirty="0"/>
              <a:t> con </a:t>
            </a:r>
            <a:r>
              <a:rPr lang="en-US" altLang="en-US" sz="2400" dirty="0" err="1"/>
              <a:t>của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tích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Đề-các</a:t>
            </a:r>
            <a:r>
              <a:rPr lang="en-US" altLang="en-US" sz="2400" dirty="0"/>
              <a:t> 2 </a:t>
            </a:r>
            <a:r>
              <a:rPr lang="en-US" altLang="en-US" sz="2400" dirty="0" err="1"/>
              <a:t>tập</a:t>
            </a:r>
            <a:endParaRPr lang="en-US" altLang="en-US" sz="2400" dirty="0"/>
          </a:p>
          <a:p>
            <a:pPr eaLnBrk="1" hangingPunct="1">
              <a:lnSpc>
                <a:spcPct val="110000"/>
              </a:lnSpc>
              <a:spcBef>
                <a:spcPts val="1200"/>
              </a:spcBef>
            </a:pPr>
            <a:r>
              <a:rPr lang="en-US" altLang="en-US" sz="2800" dirty="0" err="1"/>
              <a:t>Ví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dụ</a:t>
            </a:r>
            <a:r>
              <a:rPr lang="en-US" altLang="en-US" sz="2800" dirty="0"/>
              <a:t>: </a:t>
            </a:r>
          </a:p>
          <a:p>
            <a:pPr lvl="1" eaLnBrk="1" hangingPunct="1">
              <a:lnSpc>
                <a:spcPct val="110000"/>
              </a:lnSpc>
              <a:spcBef>
                <a:spcPts val="1200"/>
              </a:spcBef>
            </a:pPr>
            <a:r>
              <a:rPr lang="en-US" altLang="en-US" sz="2400" dirty="0" err="1"/>
              <a:t>a</a:t>
            </a:r>
            <a:r>
              <a:rPr lang="en-US" altLang="en-US" sz="2400" dirty="0" err="1">
                <a:sym typeface="Symbol" panose="05050102010706020507" pitchFamily="18" charset="2"/>
              </a:rPr>
              <a:t>A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và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bB</a:t>
            </a:r>
            <a:r>
              <a:rPr lang="en-US" altLang="en-US" sz="2400" dirty="0">
                <a:sym typeface="Symbol" panose="05050102010706020507" pitchFamily="18" charset="2"/>
              </a:rPr>
              <a:t>   (</a:t>
            </a:r>
            <a:r>
              <a:rPr lang="en-US" altLang="en-US" sz="2400" dirty="0" err="1">
                <a:sym typeface="Symbol" panose="05050102010706020507" pitchFamily="18" charset="2"/>
              </a:rPr>
              <a:t>a,b</a:t>
            </a:r>
            <a:r>
              <a:rPr lang="en-US" altLang="en-US" sz="2400" dirty="0">
                <a:sym typeface="Symbol" panose="05050102010706020507" pitchFamily="18" charset="2"/>
              </a:rPr>
              <a:t>)  </a:t>
            </a:r>
            <a:r>
              <a:rPr lang="en-US" altLang="en-US" sz="2400" dirty="0" err="1">
                <a:sym typeface="Symbol" panose="05050102010706020507" pitchFamily="18" charset="2"/>
              </a:rPr>
              <a:t>AxB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là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một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quan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hệ</a:t>
            </a:r>
            <a:r>
              <a:rPr lang="en-US" altLang="en-US" sz="2400" dirty="0">
                <a:sym typeface="Symbol" panose="05050102010706020507" pitchFamily="18" charset="2"/>
              </a:rPr>
              <a:t> 2 </a:t>
            </a:r>
            <a:r>
              <a:rPr lang="en-US" altLang="en-US" sz="2400" dirty="0" err="1">
                <a:sym typeface="Symbol" panose="05050102010706020507" pitchFamily="18" charset="2"/>
              </a:rPr>
              <a:t>ngôi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10000"/>
              </a:lnSpc>
              <a:spcBef>
                <a:spcPts val="1200"/>
              </a:spcBef>
            </a:pPr>
            <a:r>
              <a:rPr lang="en-US" altLang="en-US" sz="2400" dirty="0" err="1">
                <a:sym typeface="Symbol" panose="05050102010706020507" pitchFamily="18" charset="2"/>
              </a:rPr>
              <a:t>Nếu</a:t>
            </a:r>
            <a:r>
              <a:rPr lang="en-US" altLang="en-US" sz="2400" dirty="0">
                <a:sym typeface="Symbol" panose="05050102010706020507" pitchFamily="18" charset="2"/>
              </a:rPr>
              <a:t> AB  Quan </a:t>
            </a:r>
            <a:r>
              <a:rPr lang="en-US" altLang="en-US" sz="2400" dirty="0" err="1">
                <a:sym typeface="Symbol" panose="05050102010706020507" pitchFamily="18" charset="2"/>
              </a:rPr>
              <a:t>hệ</a:t>
            </a:r>
            <a:r>
              <a:rPr lang="en-US" altLang="en-US" sz="2400" dirty="0">
                <a:sym typeface="Symbol" panose="05050102010706020507" pitchFamily="18" charset="2"/>
              </a:rPr>
              <a:t> 2 </a:t>
            </a:r>
            <a:r>
              <a:rPr lang="en-US" altLang="en-US" sz="2400" dirty="0" err="1">
                <a:sym typeface="Symbol" panose="05050102010706020507" pitchFamily="18" charset="2"/>
              </a:rPr>
              <a:t>ngôi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trên</a:t>
            </a:r>
            <a:r>
              <a:rPr lang="en-US" altLang="en-US" sz="2400" dirty="0">
                <a:sym typeface="Symbol" panose="05050102010706020507" pitchFamily="18" charset="2"/>
              </a:rPr>
              <a:t> A</a:t>
            </a:r>
          </a:p>
          <a:p>
            <a:pPr eaLnBrk="1" hangingPunct="1">
              <a:lnSpc>
                <a:spcPct val="110000"/>
              </a:lnSpc>
              <a:spcBef>
                <a:spcPts val="1200"/>
              </a:spcBef>
            </a:pPr>
            <a:r>
              <a:rPr lang="en-US" altLang="en-US" sz="2800" dirty="0" err="1">
                <a:sym typeface="Symbol" panose="05050102010706020507" pitchFamily="18" charset="2"/>
              </a:rPr>
              <a:t>Nếu</a:t>
            </a:r>
            <a:r>
              <a:rPr lang="en-US" altLang="en-US" sz="2800" dirty="0">
                <a:sym typeface="Symbol" panose="05050102010706020507" pitchFamily="18" charset="2"/>
              </a:rPr>
              <a:t>  </a:t>
            </a:r>
            <a:r>
              <a:rPr lang="en-US" altLang="en-US" sz="2800" dirty="0" err="1">
                <a:sym typeface="Symbol" panose="05050102010706020507" pitchFamily="18" charset="2"/>
              </a:rPr>
              <a:t>là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một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quan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hệ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và</a:t>
            </a:r>
            <a:r>
              <a:rPr lang="en-US" altLang="en-US" sz="2800" dirty="0">
                <a:sym typeface="Symbol" panose="05050102010706020507" pitchFamily="18" charset="2"/>
              </a:rPr>
              <a:t> (</a:t>
            </a:r>
            <a:r>
              <a:rPr lang="en-US" altLang="en-US" sz="2800" dirty="0" err="1">
                <a:sym typeface="Symbol" panose="05050102010706020507" pitchFamily="18" charset="2"/>
              </a:rPr>
              <a:t>a,b</a:t>
            </a:r>
            <a:r>
              <a:rPr lang="en-US" altLang="en-US" sz="2800" dirty="0">
                <a:sym typeface="Symbol" panose="05050102010706020507" pitchFamily="18" charset="2"/>
              </a:rPr>
              <a:t>), </a:t>
            </a:r>
            <a:r>
              <a:rPr lang="en-US" altLang="en-US" sz="2800" dirty="0" err="1">
                <a:sym typeface="Symbol" panose="05050102010706020507" pitchFamily="18" charset="2"/>
              </a:rPr>
              <a:t>ký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hiệu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ab</a:t>
            </a:r>
            <a:endParaRPr lang="en-US" altLang="en-US" sz="2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464D5C-6A35-49C3-8E78-57B05FE73D5B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09600" indent="-609600" eaLnBrk="1" hangingPunct="1">
              <a:lnSpc>
                <a:spcPct val="110000"/>
              </a:lnSpc>
              <a:spcBef>
                <a:spcPts val="1200"/>
              </a:spcBef>
            </a:pPr>
            <a:r>
              <a:rPr lang="en-US" altLang="en-US" sz="2800"/>
              <a:t>Kiến thức toán học liên quan</a:t>
            </a:r>
            <a:r>
              <a:rPr lang="en-US" altLang="en-US" sz="2800">
                <a:sym typeface="Symbol" panose="05050102010706020507" pitchFamily="18" charset="2"/>
              </a:rPr>
              <a:t>Hàm</a:t>
            </a:r>
            <a:endParaRPr lang="en-US" altLang="en-US" sz="2800"/>
          </a:p>
        </p:txBody>
      </p:sp>
      <p:sp>
        <p:nvSpPr>
          <p:cNvPr id="62468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14561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854075"/>
            <a:ext cx="8839200" cy="58674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en-US" sz="2800" err="1"/>
              <a:t>Hàm</a:t>
            </a:r>
            <a:r>
              <a:rPr lang="en-US" altLang="en-US" sz="2800"/>
              <a:t> </a:t>
            </a:r>
            <a:r>
              <a:rPr lang="en-US" altLang="en-US" sz="2800" err="1"/>
              <a:t>là</a:t>
            </a:r>
            <a:r>
              <a:rPr lang="en-US" altLang="en-US" sz="2800"/>
              <a:t> </a:t>
            </a:r>
            <a:r>
              <a:rPr lang="en-US" altLang="en-US" sz="2800" err="1"/>
              <a:t>một</a:t>
            </a:r>
            <a:r>
              <a:rPr lang="en-US" altLang="en-US" sz="2800"/>
              <a:t> </a:t>
            </a:r>
            <a:r>
              <a:rPr lang="en-US" altLang="en-US" sz="2800" err="1"/>
              <a:t>quan</a:t>
            </a:r>
            <a:r>
              <a:rPr lang="en-US" altLang="en-US" sz="2800"/>
              <a:t> </a:t>
            </a:r>
            <a:r>
              <a:rPr lang="en-US" altLang="en-US" sz="2800" err="1"/>
              <a:t>hệ</a:t>
            </a:r>
            <a:r>
              <a:rPr lang="en-US" altLang="en-US" sz="2800"/>
              <a:t> </a:t>
            </a:r>
            <a:r>
              <a:rPr lang="en-US" altLang="en-US" sz="2800" err="1"/>
              <a:t>trên</a:t>
            </a:r>
            <a:r>
              <a:rPr lang="en-US" altLang="en-US" sz="2800"/>
              <a:t> </a:t>
            </a:r>
            <a:r>
              <a:rPr lang="en-US" altLang="en-US" sz="2800" err="1"/>
              <a:t>tích</a:t>
            </a:r>
            <a:r>
              <a:rPr lang="en-US" altLang="en-US" sz="2800"/>
              <a:t> </a:t>
            </a:r>
            <a:r>
              <a:rPr lang="en-US" altLang="en-US" sz="2800" err="1"/>
              <a:t>Đề-các</a:t>
            </a:r>
            <a:r>
              <a:rPr lang="en-US" altLang="en-US" sz="2800"/>
              <a:t> </a:t>
            </a:r>
            <a:r>
              <a:rPr lang="en-US" altLang="en-US" sz="2800" err="1">
                <a:latin typeface="Script MT Bold" panose="03040602040607080904" pitchFamily="66" charset="0"/>
              </a:rPr>
              <a:t>D</a:t>
            </a:r>
            <a:r>
              <a:rPr lang="en-US" altLang="en-US" sz="1800" err="1"/>
              <a:t>x</a:t>
            </a:r>
            <a:r>
              <a:rPr lang="en-US" altLang="en-US" sz="2800" err="1">
                <a:latin typeface="Script MT Bold" panose="03040602040607080904" pitchFamily="66" charset="0"/>
              </a:rPr>
              <a:t>R</a:t>
            </a:r>
            <a:r>
              <a:rPr lang="en-US" altLang="en-US" sz="2800"/>
              <a:t>  </a:t>
            </a:r>
            <a:r>
              <a:rPr lang="en-US" altLang="en-US" sz="2800" err="1"/>
              <a:t>thỏa</a:t>
            </a:r>
            <a:r>
              <a:rPr lang="en-US" altLang="en-US" sz="2800"/>
              <a:t> </a:t>
            </a:r>
            <a:r>
              <a:rPr lang="en-US" altLang="en-US" sz="2800" err="1"/>
              <a:t>mãn</a:t>
            </a:r>
            <a:endParaRPr lang="en-US" altLang="en-US" sz="2800"/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en-US" sz="2400">
                <a:sym typeface="Symbol" panose="05050102010706020507" pitchFamily="18" charset="2"/>
              </a:rPr>
              <a:t> </a:t>
            </a:r>
            <a:r>
              <a:rPr lang="en-US" altLang="en-US" sz="2400" err="1">
                <a:sym typeface="Symbol" panose="05050102010706020507" pitchFamily="18" charset="2"/>
              </a:rPr>
              <a:t>d</a:t>
            </a:r>
            <a:r>
              <a:rPr lang="en-US" altLang="en-US" sz="2400" err="1">
                <a:latin typeface="Script MT Bold" panose="03040602040607080904" pitchFamily="66" charset="0"/>
                <a:sym typeface="Symbol" panose="05050102010706020507" pitchFamily="18" charset="2"/>
              </a:rPr>
              <a:t>D</a:t>
            </a:r>
            <a:r>
              <a:rPr lang="en-US" altLang="en-US" sz="2400">
                <a:latin typeface="Script MT Bold" panose="03040602040607080904" pitchFamily="66" charset="0"/>
                <a:sym typeface="Symbol" panose="05050102010706020507" pitchFamily="18" charset="2"/>
              </a:rPr>
              <a:t>, </a:t>
            </a:r>
            <a:r>
              <a:rPr lang="en-US" altLang="en-US" sz="2400">
                <a:latin typeface="+mj-lt"/>
                <a:sym typeface="Symbol" panose="05050102010706020507" pitchFamily="18" charset="2"/>
              </a:rPr>
              <a:t> </a:t>
            </a:r>
            <a:r>
              <a:rPr lang="en-US" altLang="en-US" sz="2400" err="1">
                <a:latin typeface="+mj-lt"/>
                <a:sym typeface="Symbol" panose="05050102010706020507" pitchFamily="18" charset="2"/>
              </a:rPr>
              <a:t>nhiều</a:t>
            </a:r>
            <a:r>
              <a:rPr lang="en-US" altLang="en-US" sz="2400">
                <a:latin typeface="+mj-lt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latin typeface="+mj-lt"/>
                <a:sym typeface="Symbol" panose="05050102010706020507" pitchFamily="18" charset="2"/>
              </a:rPr>
              <a:t>nhất</a:t>
            </a:r>
            <a:r>
              <a:rPr lang="en-US" altLang="en-US" sz="2400">
                <a:latin typeface="+mj-lt"/>
                <a:sym typeface="Symbol" panose="05050102010706020507" pitchFamily="18" charset="2"/>
              </a:rPr>
              <a:t> 1 </a:t>
            </a:r>
            <a:r>
              <a:rPr lang="en-US" altLang="en-US" sz="2400" err="1">
                <a:latin typeface="+mj-lt"/>
                <a:sym typeface="Symbol" panose="05050102010706020507" pitchFamily="18" charset="2"/>
              </a:rPr>
              <a:t>cặp</a:t>
            </a:r>
            <a:r>
              <a:rPr lang="en-US" altLang="en-US" sz="2400">
                <a:latin typeface="+mj-lt"/>
                <a:sym typeface="Symbol" panose="05050102010706020507" pitchFamily="18" charset="2"/>
              </a:rPr>
              <a:t> (</a:t>
            </a:r>
            <a:r>
              <a:rPr lang="en-US" altLang="en-US" sz="2400">
                <a:latin typeface="Script MT Bold" panose="03040602040607080904" pitchFamily="66" charset="0"/>
                <a:sym typeface="Symbol" panose="05050102010706020507" pitchFamily="18" charset="2"/>
              </a:rPr>
              <a:t>d</a:t>
            </a:r>
            <a:r>
              <a:rPr lang="en-US" altLang="en-US" sz="2400">
                <a:latin typeface="+mj-lt"/>
                <a:sym typeface="Symbol" panose="05050102010706020507" pitchFamily="18" charset="2"/>
              </a:rPr>
              <a:t>,</a:t>
            </a:r>
            <a:r>
              <a:rPr lang="en-US" altLang="en-US" sz="2400">
                <a:latin typeface="Script MT Bold" panose="03040602040607080904" pitchFamily="66" charset="0"/>
                <a:sym typeface="Symbol" panose="05050102010706020507" pitchFamily="18" charset="2"/>
              </a:rPr>
              <a:t> r</a:t>
            </a:r>
            <a:r>
              <a:rPr lang="en-US" altLang="en-US" sz="2400">
                <a:latin typeface="+mj-lt"/>
                <a:sym typeface="Symbol" panose="05050102010706020507" pitchFamily="18" charset="2"/>
              </a:rPr>
              <a:t>) </a:t>
            </a:r>
            <a:r>
              <a:rPr lang="en-US" altLang="en-US" sz="2400">
                <a:sym typeface="Symbol" panose="05050102010706020507" pitchFamily="18" charset="2"/>
              </a:rPr>
              <a:t>  </a:t>
            </a:r>
            <a:r>
              <a:rPr lang="en-US" altLang="en-US" sz="2400" err="1">
                <a:latin typeface="Script MT Bold" panose="03040602040607080904" pitchFamily="66" charset="0"/>
                <a:sym typeface="Symbol" panose="05050102010706020507" pitchFamily="18" charset="2"/>
              </a:rPr>
              <a:t>D</a:t>
            </a:r>
            <a:r>
              <a:rPr lang="en-US" altLang="en-US" sz="1800" err="1">
                <a:latin typeface="+mj-lt"/>
                <a:sym typeface="Symbol" panose="05050102010706020507" pitchFamily="18" charset="2"/>
              </a:rPr>
              <a:t>x</a:t>
            </a:r>
            <a:r>
              <a:rPr lang="en-US" altLang="en-US" sz="2400" err="1">
                <a:latin typeface="Script MT Bold" panose="03040602040607080904" pitchFamily="66" charset="0"/>
                <a:sym typeface="Symbol" panose="05050102010706020507" pitchFamily="18" charset="2"/>
              </a:rPr>
              <a:t>R</a:t>
            </a:r>
            <a:endParaRPr lang="en-US" altLang="en-US" sz="2400">
              <a:latin typeface="Script MT Bold" panose="03040602040607080904" pitchFamily="66" charset="0"/>
              <a:sym typeface="Symbol" panose="05050102010706020507" pitchFamily="18" charset="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en-US" sz="2400" b="1">
                <a:solidFill>
                  <a:srgbClr val="FF0000"/>
                </a:solidFill>
                <a:latin typeface="Script MT Bold" panose="03040602040607080904" pitchFamily="66" charset="0"/>
                <a:sym typeface="Symbol" panose="05050102010706020507" pitchFamily="18" charset="2"/>
              </a:rPr>
              <a:t>D</a:t>
            </a:r>
            <a:r>
              <a:rPr lang="en-US" altLang="en-US" sz="2400">
                <a:latin typeface="Script MT Bold" panose="03040602040607080904" pitchFamily="66" charset="0"/>
                <a:sym typeface="Symbol" panose="05050102010706020507" pitchFamily="18" charset="2"/>
              </a:rPr>
              <a:t> </a:t>
            </a:r>
            <a:r>
              <a:rPr lang="en-US" altLang="en-US" sz="2400">
                <a:latin typeface="+mj-lt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latin typeface="+mj-lt"/>
                <a:sym typeface="Symbol" panose="05050102010706020507" pitchFamily="18" charset="2"/>
              </a:rPr>
              <a:t>được</a:t>
            </a:r>
            <a:r>
              <a:rPr lang="en-US" altLang="en-US" sz="2400">
                <a:latin typeface="+mj-lt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latin typeface="+mj-lt"/>
                <a:sym typeface="Symbol" panose="05050102010706020507" pitchFamily="18" charset="2"/>
              </a:rPr>
              <a:t>gọi</a:t>
            </a:r>
            <a:r>
              <a:rPr lang="en-US" altLang="en-US" sz="2400">
                <a:latin typeface="+mj-lt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latin typeface="+mj-lt"/>
                <a:sym typeface="Symbol" panose="05050102010706020507" pitchFamily="18" charset="2"/>
              </a:rPr>
              <a:t>là</a:t>
            </a:r>
            <a:r>
              <a:rPr lang="en-US" altLang="en-US" sz="2400">
                <a:latin typeface="+mj-lt"/>
                <a:sym typeface="Symbol" panose="05050102010706020507" pitchFamily="18" charset="2"/>
              </a:rPr>
              <a:t> </a:t>
            </a:r>
            <a:r>
              <a:rPr lang="en-US" altLang="en-US" sz="2400" b="1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miền</a:t>
            </a:r>
            <a:r>
              <a:rPr lang="en-US" altLang="en-US" sz="2400" b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altLang="en-US" sz="2400" b="1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xác</a:t>
            </a:r>
            <a:r>
              <a:rPr lang="en-US" altLang="en-US" sz="2400" b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altLang="en-US" sz="2400" b="1" err="1">
                <a:solidFill>
                  <a:srgbClr val="FF0000"/>
                </a:solidFill>
                <a:latin typeface="+mj-lt"/>
                <a:sym typeface="Symbol" panose="05050102010706020507" pitchFamily="18" charset="2"/>
              </a:rPr>
              <a:t>định</a:t>
            </a:r>
            <a:endParaRPr lang="en-US" altLang="en-US" sz="2400" b="1">
              <a:solidFill>
                <a:srgbClr val="FF0000"/>
              </a:solidFill>
              <a:latin typeface="+mj-lt"/>
              <a:sym typeface="Symbol" panose="05050102010706020507" pitchFamily="18" charset="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en-US" sz="2400" b="1">
                <a:solidFill>
                  <a:srgbClr val="4717CF"/>
                </a:solidFill>
                <a:latin typeface="Script MT Bold" panose="03040602040607080904" pitchFamily="66" charset="0"/>
                <a:sym typeface="Symbol" panose="05050102010706020507" pitchFamily="18" charset="2"/>
              </a:rPr>
              <a:t>R</a:t>
            </a:r>
            <a:r>
              <a:rPr lang="en-US" altLang="en-US" sz="2400">
                <a:latin typeface="Script MT Bold" panose="03040602040607080904" pitchFamily="66" charset="0"/>
                <a:sym typeface="Symbol" panose="05050102010706020507" pitchFamily="18" charset="2"/>
              </a:rPr>
              <a:t> </a:t>
            </a:r>
            <a:r>
              <a:rPr lang="en-US" altLang="en-US" sz="2400"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ym typeface="Symbol" panose="05050102010706020507" pitchFamily="18" charset="2"/>
              </a:rPr>
              <a:t>được</a:t>
            </a:r>
            <a:r>
              <a:rPr lang="en-US" altLang="en-US" sz="2400"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ym typeface="Symbol" panose="05050102010706020507" pitchFamily="18" charset="2"/>
              </a:rPr>
              <a:t>gọi</a:t>
            </a:r>
            <a:r>
              <a:rPr lang="en-US" altLang="en-US" sz="2400"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ym typeface="Symbol" panose="05050102010706020507" pitchFamily="18" charset="2"/>
              </a:rPr>
              <a:t>là</a:t>
            </a:r>
            <a:r>
              <a:rPr lang="en-US" altLang="en-US" sz="2400">
                <a:sym typeface="Symbol" panose="05050102010706020507" pitchFamily="18" charset="2"/>
              </a:rPr>
              <a:t> </a:t>
            </a:r>
            <a:r>
              <a:rPr lang="en-US" altLang="en-US" sz="2400" b="1" err="1">
                <a:solidFill>
                  <a:srgbClr val="4717CF"/>
                </a:solidFill>
                <a:sym typeface="Symbol" panose="05050102010706020507" pitchFamily="18" charset="2"/>
              </a:rPr>
              <a:t>miền</a:t>
            </a:r>
            <a:r>
              <a:rPr lang="en-US" altLang="en-US" sz="2400" b="1">
                <a:solidFill>
                  <a:srgbClr val="4717C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b="1" err="1">
                <a:solidFill>
                  <a:srgbClr val="4717CF"/>
                </a:solidFill>
                <a:sym typeface="Symbol" panose="05050102010706020507" pitchFamily="18" charset="2"/>
              </a:rPr>
              <a:t>giá</a:t>
            </a:r>
            <a:r>
              <a:rPr lang="en-US" altLang="en-US" sz="2400" b="1">
                <a:solidFill>
                  <a:srgbClr val="4717C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b="1" err="1">
                <a:solidFill>
                  <a:srgbClr val="4717CF"/>
                </a:solidFill>
                <a:sym typeface="Symbol" panose="05050102010706020507" pitchFamily="18" charset="2"/>
              </a:rPr>
              <a:t>trị</a:t>
            </a:r>
            <a:endParaRPr lang="en-US" altLang="en-US" sz="2400" b="1">
              <a:solidFill>
                <a:srgbClr val="4717CF"/>
              </a:solidFill>
              <a:latin typeface="Script MT Bold" panose="03040602040607080904" pitchFamily="66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en-US" sz="2800" err="1">
                <a:latin typeface="+mj-lt"/>
                <a:sym typeface="Symbol" panose="05050102010706020507" pitchFamily="18" charset="2"/>
              </a:rPr>
              <a:t>Ký</a:t>
            </a:r>
            <a:r>
              <a:rPr lang="en-US" altLang="en-US" sz="2800">
                <a:latin typeface="+mj-lt"/>
                <a:sym typeface="Symbol" panose="05050102010706020507" pitchFamily="18" charset="2"/>
              </a:rPr>
              <a:t> </a:t>
            </a:r>
            <a:r>
              <a:rPr lang="en-US" altLang="en-US" sz="2800" err="1">
                <a:latin typeface="+mj-lt"/>
                <a:sym typeface="Symbol" panose="05050102010706020507" pitchFamily="18" charset="2"/>
              </a:rPr>
              <a:t>hiệu</a:t>
            </a:r>
            <a:r>
              <a:rPr lang="en-US" altLang="en-US" sz="2800">
                <a:latin typeface="+mj-lt"/>
                <a:sym typeface="Symbol" panose="05050102010706020507" pitchFamily="18" charset="2"/>
              </a:rPr>
              <a:t> 	</a:t>
            </a:r>
            <a:r>
              <a:rPr lang="en-US" altLang="en-US" sz="2800" i="1">
                <a:solidFill>
                  <a:srgbClr val="4717CF"/>
                </a:solidFill>
                <a:latin typeface="+mj-lt"/>
                <a:sym typeface="Symbol" panose="05050102010706020507" pitchFamily="18" charset="2"/>
              </a:rPr>
              <a:t>f: </a:t>
            </a:r>
            <a:r>
              <a:rPr lang="en-US" altLang="en-US" sz="2800" i="1">
                <a:solidFill>
                  <a:srgbClr val="4717CF"/>
                </a:solidFill>
                <a:latin typeface="Script MT Bold" panose="03040602040607080904" pitchFamily="66" charset="0"/>
                <a:sym typeface="Symbol" panose="05050102010706020507" pitchFamily="18" charset="2"/>
              </a:rPr>
              <a:t>D R    </a:t>
            </a:r>
            <a:r>
              <a:rPr lang="en-US" altLang="en-US" sz="2800">
                <a:solidFill>
                  <a:srgbClr val="002060"/>
                </a:solidFill>
                <a:latin typeface="+mj-lt"/>
              </a:rPr>
              <a:t>(</a:t>
            </a:r>
            <a:r>
              <a:rPr lang="en-US" altLang="en-US" sz="2800" b="1">
                <a:solidFill>
                  <a:srgbClr val="002060"/>
                </a:solidFill>
                <a:latin typeface="+mj-lt"/>
              </a:rPr>
              <a:t>f:  </a:t>
            </a:r>
            <a:r>
              <a:rPr lang="en-US" altLang="en-US" sz="2800" err="1">
                <a:solidFill>
                  <a:srgbClr val="002060"/>
                </a:solidFill>
                <a:latin typeface="+mj-lt"/>
              </a:rPr>
              <a:t>là</a:t>
            </a:r>
            <a:r>
              <a:rPr lang="en-US" altLang="en-US" sz="2800">
                <a:solidFill>
                  <a:srgbClr val="002060"/>
                </a:solidFill>
                <a:latin typeface="+mj-lt"/>
              </a:rPr>
              <a:t> </a:t>
            </a:r>
            <a:r>
              <a:rPr lang="en-US" altLang="en-US" sz="2800" err="1">
                <a:latin typeface="+mj-lt"/>
              </a:rPr>
              <a:t>một</a:t>
            </a:r>
            <a:r>
              <a:rPr lang="en-US" altLang="en-US" sz="2800">
                <a:latin typeface="+mj-lt"/>
              </a:rPr>
              <a:t> </a:t>
            </a:r>
            <a:r>
              <a:rPr lang="en-US" altLang="en-US" sz="2800" err="1">
                <a:latin typeface="+mj-lt"/>
              </a:rPr>
              <a:t>hàm</a:t>
            </a:r>
            <a:r>
              <a:rPr lang="en-US" altLang="en-US" sz="2800">
                <a:latin typeface="+mj-lt"/>
              </a:rPr>
              <a:t>/ </a:t>
            </a:r>
            <a:r>
              <a:rPr lang="en-US" altLang="en-US" sz="2800" err="1">
                <a:latin typeface="+mj-lt"/>
              </a:rPr>
              <a:t>ánh</a:t>
            </a:r>
            <a:r>
              <a:rPr lang="en-US" altLang="en-US" sz="2800">
                <a:latin typeface="+mj-lt"/>
              </a:rPr>
              <a:t> </a:t>
            </a:r>
            <a:r>
              <a:rPr lang="en-US" altLang="en-US" sz="2800" err="1">
                <a:latin typeface="+mj-lt"/>
              </a:rPr>
              <a:t>xạ</a:t>
            </a:r>
            <a:r>
              <a:rPr lang="en-US" altLang="en-US" sz="2800">
                <a:latin typeface="+mj-lt"/>
              </a:rPr>
              <a:t>)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en-US" sz="2400" err="1">
                <a:latin typeface="+mj-lt"/>
              </a:rPr>
              <a:t>Nếu</a:t>
            </a:r>
            <a:r>
              <a:rPr lang="en-US" altLang="en-US" sz="2400">
                <a:latin typeface="+mj-lt"/>
              </a:rPr>
              <a:t> </a:t>
            </a:r>
            <a:r>
              <a:rPr lang="en-US" altLang="en-US" sz="2400">
                <a:sym typeface="Symbol" panose="05050102010706020507" pitchFamily="18" charset="2"/>
              </a:rPr>
              <a:t>(</a:t>
            </a:r>
            <a:r>
              <a:rPr lang="en-US" altLang="en-US" sz="2400">
                <a:latin typeface="Script MT Bold" panose="03040602040607080904" pitchFamily="66" charset="0"/>
                <a:sym typeface="Symbol" panose="05050102010706020507" pitchFamily="18" charset="2"/>
              </a:rPr>
              <a:t>d</a:t>
            </a:r>
            <a:r>
              <a:rPr lang="en-US" altLang="en-US" sz="2400">
                <a:sym typeface="Symbol" panose="05050102010706020507" pitchFamily="18" charset="2"/>
              </a:rPr>
              <a:t>,</a:t>
            </a:r>
            <a:r>
              <a:rPr lang="en-US" altLang="en-US" sz="2400">
                <a:latin typeface="Script MT Bold" panose="03040602040607080904" pitchFamily="66" charset="0"/>
                <a:sym typeface="Symbol" panose="05050102010706020507" pitchFamily="18" charset="2"/>
              </a:rPr>
              <a:t> r</a:t>
            </a:r>
            <a:r>
              <a:rPr lang="en-US" altLang="en-US" sz="2400">
                <a:sym typeface="Symbol" panose="05050102010706020507" pitchFamily="18" charset="2"/>
              </a:rPr>
              <a:t>)   </a:t>
            </a:r>
            <a:r>
              <a:rPr lang="en-US" altLang="en-US" sz="2400" err="1">
                <a:latin typeface="Script MT Bold" panose="03040602040607080904" pitchFamily="66" charset="0"/>
                <a:sym typeface="Symbol" panose="05050102010706020507" pitchFamily="18" charset="2"/>
              </a:rPr>
              <a:t>D</a:t>
            </a:r>
            <a:r>
              <a:rPr lang="en-US" altLang="en-US" sz="1800" err="1">
                <a:sym typeface="Symbol" panose="05050102010706020507" pitchFamily="18" charset="2"/>
              </a:rPr>
              <a:t>x</a:t>
            </a:r>
            <a:r>
              <a:rPr lang="en-US" altLang="en-US" sz="2400" err="1">
                <a:latin typeface="Script MT Bold" panose="03040602040607080904" pitchFamily="66" charset="0"/>
                <a:sym typeface="Symbol" panose="05050102010706020507" pitchFamily="18" charset="2"/>
              </a:rPr>
              <a:t>R</a:t>
            </a:r>
            <a:r>
              <a:rPr lang="en-US" altLang="en-US" sz="2400">
                <a:latin typeface="Script MT Bold" panose="03040602040607080904" pitchFamily="66" charset="0"/>
                <a:sym typeface="Symbol" panose="05050102010706020507" pitchFamily="18" charset="2"/>
              </a:rPr>
              <a:t>  </a:t>
            </a:r>
            <a:r>
              <a:rPr lang="en-US" altLang="en-US" sz="2400" err="1">
                <a:latin typeface="+mj-lt"/>
              </a:rPr>
              <a:t>thì</a:t>
            </a:r>
            <a:r>
              <a:rPr lang="en-US" altLang="en-US" sz="2400">
                <a:latin typeface="+mj-lt"/>
              </a:rPr>
              <a:t> </a:t>
            </a: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en-US" err="1">
                <a:latin typeface="+mj-lt"/>
              </a:rPr>
              <a:t>Giá</a:t>
            </a:r>
            <a:r>
              <a:rPr lang="en-US" altLang="en-US">
                <a:latin typeface="+mj-lt"/>
              </a:rPr>
              <a:t> </a:t>
            </a:r>
            <a:r>
              <a:rPr lang="en-US" altLang="en-US" err="1">
                <a:latin typeface="+mj-lt"/>
              </a:rPr>
              <a:t>trị</a:t>
            </a:r>
            <a:r>
              <a:rPr lang="en-US" altLang="en-US">
                <a:latin typeface="+mj-lt"/>
              </a:rPr>
              <a:t> </a:t>
            </a:r>
            <a:r>
              <a:rPr lang="en-US" altLang="en-US" err="1">
                <a:latin typeface="+mj-lt"/>
              </a:rPr>
              <a:t>của</a:t>
            </a:r>
            <a:r>
              <a:rPr lang="en-US" altLang="en-US">
                <a:latin typeface="+mj-lt"/>
              </a:rPr>
              <a:t> </a:t>
            </a:r>
            <a:r>
              <a:rPr lang="en-US" altLang="en-US" err="1">
                <a:latin typeface="+mj-lt"/>
              </a:rPr>
              <a:t>hàm</a:t>
            </a:r>
            <a:r>
              <a:rPr lang="en-US" altLang="en-US">
                <a:latin typeface="+mj-lt"/>
              </a:rPr>
              <a:t> f </a:t>
            </a:r>
            <a:r>
              <a:rPr lang="en-US" altLang="en-US" err="1">
                <a:latin typeface="+mj-lt"/>
              </a:rPr>
              <a:t>tại</a:t>
            </a:r>
            <a:r>
              <a:rPr lang="en-US" altLang="en-US">
                <a:latin typeface="+mj-lt"/>
              </a:rPr>
              <a:t> </a:t>
            </a:r>
            <a:r>
              <a:rPr lang="en-US" altLang="en-US">
                <a:latin typeface="Script MT Bold" panose="03040602040607080904" pitchFamily="66" charset="0"/>
                <a:sym typeface="Symbol" panose="05050102010706020507" pitchFamily="18" charset="2"/>
              </a:rPr>
              <a:t>d</a:t>
            </a:r>
            <a:r>
              <a:rPr lang="en-US" altLang="en-US">
                <a:latin typeface="+mj-lt"/>
              </a:rPr>
              <a:t> </a:t>
            </a:r>
            <a:r>
              <a:rPr lang="en-US" altLang="en-US" err="1">
                <a:latin typeface="+mj-lt"/>
              </a:rPr>
              <a:t>là</a:t>
            </a:r>
            <a:r>
              <a:rPr lang="en-US" altLang="en-US">
                <a:latin typeface="+mj-lt"/>
              </a:rPr>
              <a:t> </a:t>
            </a:r>
            <a:r>
              <a:rPr lang="en-US" altLang="en-US">
                <a:latin typeface="Script MT Bold" panose="03040602040607080904" pitchFamily="66" charset="0"/>
                <a:sym typeface="Symbol" panose="05050102010706020507" pitchFamily="18" charset="2"/>
              </a:rPr>
              <a:t>r</a:t>
            </a:r>
            <a:r>
              <a:rPr lang="en-US" altLang="en-US">
                <a:latin typeface="+mj-lt"/>
              </a:rPr>
              <a:t> </a:t>
            </a:r>
            <a:r>
              <a:rPr lang="en-US" altLang="en-US" err="1">
                <a:latin typeface="+mj-lt"/>
              </a:rPr>
              <a:t>và</a:t>
            </a:r>
            <a:r>
              <a:rPr lang="en-US" altLang="en-US">
                <a:latin typeface="+mj-lt"/>
              </a:rPr>
              <a:t> </a:t>
            </a:r>
            <a:r>
              <a:rPr lang="en-US" altLang="en-US" err="1">
                <a:latin typeface="+mj-lt"/>
              </a:rPr>
              <a:t>ký</a:t>
            </a:r>
            <a:r>
              <a:rPr lang="en-US" altLang="en-US">
                <a:latin typeface="+mj-lt"/>
              </a:rPr>
              <a:t> </a:t>
            </a:r>
            <a:r>
              <a:rPr lang="en-US" altLang="en-US" err="1">
                <a:latin typeface="+mj-lt"/>
              </a:rPr>
              <a:t>hiệu</a:t>
            </a:r>
            <a:r>
              <a:rPr lang="en-US" altLang="en-US">
                <a:latin typeface="+mj-lt"/>
              </a:rPr>
              <a:t> </a:t>
            </a:r>
            <a:r>
              <a:rPr lang="en-US" altLang="en-US" sz="2800" b="1">
                <a:solidFill>
                  <a:srgbClr val="FF0000"/>
                </a:solidFill>
                <a:latin typeface="+mj-lt"/>
              </a:rPr>
              <a:t>f(</a:t>
            </a:r>
            <a:r>
              <a:rPr lang="en-US" altLang="en-US" sz="2800" b="1">
                <a:solidFill>
                  <a:srgbClr val="FF0000"/>
                </a:solidFill>
                <a:latin typeface="Script MT Bold" panose="03040602040607080904" pitchFamily="66" charset="0"/>
                <a:sym typeface="Symbol" panose="05050102010706020507" pitchFamily="18" charset="2"/>
              </a:rPr>
              <a:t>d</a:t>
            </a:r>
            <a:r>
              <a:rPr lang="en-US" altLang="en-US" sz="2800" b="1">
                <a:solidFill>
                  <a:srgbClr val="FF0000"/>
                </a:solidFill>
                <a:latin typeface="+mj-lt"/>
              </a:rPr>
              <a:t>) = </a:t>
            </a:r>
            <a:r>
              <a:rPr lang="en-US" altLang="en-US" sz="2800" b="1">
                <a:solidFill>
                  <a:srgbClr val="FF0000"/>
                </a:solidFill>
                <a:latin typeface="Script MT Bold" panose="03040602040607080904" pitchFamily="66" charset="0"/>
                <a:sym typeface="Symbol" panose="05050102010706020507" pitchFamily="18" charset="2"/>
              </a:rPr>
              <a:t>r</a:t>
            </a:r>
            <a:endParaRPr lang="en-US" altLang="en-US" sz="2800" b="1">
              <a:solidFill>
                <a:srgbClr val="FF0000"/>
              </a:solidFill>
              <a:latin typeface="+mj-lt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en-US" sz="2800" err="1">
                <a:latin typeface="+mj-lt"/>
              </a:rPr>
              <a:t>Hàm</a:t>
            </a:r>
            <a:r>
              <a:rPr lang="en-US" altLang="en-US" sz="2800">
                <a:latin typeface="+mj-lt"/>
              </a:rPr>
              <a:t> </a:t>
            </a:r>
            <a:r>
              <a:rPr lang="en-US" altLang="en-US" sz="2800" err="1">
                <a:latin typeface="+mj-lt"/>
              </a:rPr>
              <a:t>xác</a:t>
            </a:r>
            <a:r>
              <a:rPr lang="en-US" altLang="en-US" sz="2800">
                <a:latin typeface="+mj-lt"/>
              </a:rPr>
              <a:t> </a:t>
            </a:r>
            <a:r>
              <a:rPr lang="en-US" altLang="en-US" sz="2800" err="1">
                <a:latin typeface="+mj-lt"/>
              </a:rPr>
              <a:t>định</a:t>
            </a:r>
            <a:r>
              <a:rPr lang="en-US" altLang="en-US" sz="2800">
                <a:latin typeface="+mj-lt"/>
              </a:rPr>
              <a:t>: </a:t>
            </a:r>
            <a:r>
              <a:rPr lang="en-US" altLang="en-US" sz="2800" err="1">
                <a:latin typeface="+mj-lt"/>
              </a:rPr>
              <a:t>Khi</a:t>
            </a:r>
            <a:r>
              <a:rPr lang="en-US" altLang="en-US" sz="2800">
                <a:latin typeface="+mj-lt"/>
              </a:rPr>
              <a:t> </a:t>
            </a:r>
            <a:r>
              <a:rPr lang="en-US" altLang="en-US" sz="2800" i="1">
                <a:solidFill>
                  <a:srgbClr val="4717CF"/>
                </a:solidFill>
                <a:latin typeface="Script MT Bold" panose="03040602040607080904" pitchFamily="66" charset="0"/>
                <a:sym typeface="Symbol" panose="05050102010706020507" pitchFamily="18" charset="2"/>
              </a:rPr>
              <a:t>D  </a:t>
            </a:r>
            <a:r>
              <a:rPr lang="en-US" altLang="en-US" sz="2800" err="1">
                <a:latin typeface="+mj-lt"/>
              </a:rPr>
              <a:t>và</a:t>
            </a:r>
            <a:r>
              <a:rPr lang="en-US" altLang="en-US" sz="2800">
                <a:latin typeface="+mj-lt"/>
              </a:rPr>
              <a:t> </a:t>
            </a:r>
            <a:r>
              <a:rPr lang="en-US" altLang="en-US" sz="2800" i="1">
                <a:solidFill>
                  <a:srgbClr val="4717CF"/>
                </a:solidFill>
                <a:latin typeface="Script MT Bold" panose="03040602040607080904" pitchFamily="66" charset="0"/>
                <a:sym typeface="Symbol" panose="05050102010706020507" pitchFamily="18" charset="2"/>
              </a:rPr>
              <a:t>R </a:t>
            </a:r>
            <a:r>
              <a:rPr lang="en-US" altLang="en-US" sz="2800" err="1">
                <a:latin typeface="+mj-lt"/>
              </a:rPr>
              <a:t>là</a:t>
            </a:r>
            <a:r>
              <a:rPr lang="en-US" altLang="en-US" sz="2800">
                <a:latin typeface="+mj-lt"/>
              </a:rPr>
              <a:t> </a:t>
            </a:r>
            <a:r>
              <a:rPr lang="en-US" altLang="en-US" sz="2800" err="1">
                <a:latin typeface="+mj-lt"/>
              </a:rPr>
              <a:t>những</a:t>
            </a:r>
            <a:r>
              <a:rPr lang="en-US" altLang="en-US" sz="2800">
                <a:latin typeface="+mj-lt"/>
              </a:rPr>
              <a:t> </a:t>
            </a:r>
            <a:r>
              <a:rPr lang="en-US" altLang="en-US" sz="2800" err="1">
                <a:latin typeface="+mj-lt"/>
              </a:rPr>
              <a:t>tập</a:t>
            </a:r>
            <a:r>
              <a:rPr lang="en-US" altLang="en-US" sz="2800">
                <a:latin typeface="+mj-lt"/>
              </a:rPr>
              <a:t> </a:t>
            </a:r>
            <a:r>
              <a:rPr lang="en-US" altLang="en-US" sz="2800" err="1">
                <a:latin typeface="+mj-lt"/>
              </a:rPr>
              <a:t>xác</a:t>
            </a:r>
            <a:r>
              <a:rPr lang="en-US" altLang="en-US" sz="2800">
                <a:latin typeface="+mj-lt"/>
              </a:rPr>
              <a:t> </a:t>
            </a:r>
            <a:r>
              <a:rPr lang="en-US" altLang="en-US" sz="2800" err="1">
                <a:latin typeface="+mj-lt"/>
              </a:rPr>
              <a:t>định</a:t>
            </a:r>
            <a:endParaRPr lang="en-US" altLang="en-US" sz="2800">
              <a:latin typeface="+mj-lt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en-US" sz="2400" err="1">
                <a:latin typeface="+mj-lt"/>
              </a:rPr>
              <a:t>Có</a:t>
            </a:r>
            <a:r>
              <a:rPr lang="en-US" altLang="en-US" sz="2400">
                <a:latin typeface="+mj-lt"/>
              </a:rPr>
              <a:t> </a:t>
            </a:r>
            <a:r>
              <a:rPr lang="en-US" altLang="en-US" sz="2400" err="1">
                <a:latin typeface="+mj-lt"/>
              </a:rPr>
              <a:t>thể</a:t>
            </a:r>
            <a:r>
              <a:rPr lang="en-US" altLang="en-US" sz="2400">
                <a:latin typeface="+mj-lt"/>
              </a:rPr>
              <a:t> </a:t>
            </a:r>
            <a:r>
              <a:rPr lang="en-US" altLang="en-US" sz="2400" err="1">
                <a:latin typeface="+mj-lt"/>
              </a:rPr>
              <a:t>biểu</a:t>
            </a:r>
            <a:r>
              <a:rPr lang="en-US" altLang="en-US" sz="2400">
                <a:latin typeface="+mj-lt"/>
              </a:rPr>
              <a:t> </a:t>
            </a:r>
            <a:r>
              <a:rPr lang="en-US" altLang="en-US" sz="2400" err="1">
                <a:latin typeface="+mj-lt"/>
              </a:rPr>
              <a:t>diễn</a:t>
            </a:r>
            <a:r>
              <a:rPr lang="en-US" altLang="en-US" sz="2400">
                <a:latin typeface="+mj-lt"/>
              </a:rPr>
              <a:t> </a:t>
            </a:r>
            <a:r>
              <a:rPr lang="en-US" altLang="en-US" sz="2400" err="1">
                <a:latin typeface="+mj-lt"/>
              </a:rPr>
              <a:t>bằng</a:t>
            </a:r>
            <a:r>
              <a:rPr lang="en-US" altLang="en-US" sz="2400">
                <a:latin typeface="+mj-lt"/>
              </a:rPr>
              <a:t> </a:t>
            </a:r>
            <a:r>
              <a:rPr lang="en-US" altLang="en-US" sz="2400" err="1">
                <a:latin typeface="+mj-lt"/>
              </a:rPr>
              <a:t>bảng</a:t>
            </a:r>
            <a:r>
              <a:rPr lang="en-US" altLang="en-US" sz="2400">
                <a:latin typeface="+mj-lt"/>
              </a:rPr>
              <a:t> </a:t>
            </a:r>
            <a:r>
              <a:rPr lang="en-US" altLang="en-US" sz="2400" err="1">
                <a:latin typeface="+mj-lt"/>
              </a:rPr>
              <a:t>các</a:t>
            </a:r>
            <a:r>
              <a:rPr lang="en-US" altLang="en-US" sz="2400">
                <a:latin typeface="+mj-lt"/>
              </a:rPr>
              <a:t> </a:t>
            </a:r>
            <a:r>
              <a:rPr lang="en-US" altLang="en-US" sz="2400" err="1">
                <a:latin typeface="+mj-lt"/>
              </a:rPr>
              <a:t>cặp</a:t>
            </a:r>
            <a:r>
              <a:rPr lang="en-US" altLang="en-US" sz="2400">
                <a:latin typeface="+mj-lt"/>
              </a:rPr>
              <a:t> {(</a:t>
            </a:r>
            <a:r>
              <a:rPr lang="en-US" altLang="en-US" sz="2400">
                <a:latin typeface="Script MT Bold" panose="03040602040607080904" pitchFamily="66" charset="0"/>
                <a:sym typeface="Symbol" panose="05050102010706020507" pitchFamily="18" charset="2"/>
              </a:rPr>
              <a:t>d</a:t>
            </a:r>
            <a:r>
              <a:rPr lang="en-US" altLang="en-US" sz="2400">
                <a:sym typeface="Symbol" panose="05050102010706020507" pitchFamily="18" charset="2"/>
              </a:rPr>
              <a:t>,</a:t>
            </a:r>
            <a:r>
              <a:rPr lang="en-US" altLang="en-US" sz="2400">
                <a:latin typeface="Script MT Bold" panose="03040602040607080904" pitchFamily="66" charset="0"/>
                <a:sym typeface="Symbol" panose="05050102010706020507" pitchFamily="18" charset="2"/>
              </a:rPr>
              <a:t> r</a:t>
            </a:r>
            <a:r>
              <a:rPr lang="en-US" altLang="en-US" sz="2400">
                <a:latin typeface="+mj-lt"/>
              </a:rPr>
              <a:t>)}</a:t>
            </a: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en-US" sz="2800" err="1">
                <a:latin typeface="+mj-lt"/>
              </a:rPr>
              <a:t>Hàm</a:t>
            </a:r>
            <a:r>
              <a:rPr lang="en-US" altLang="en-US" sz="2800">
                <a:latin typeface="+mj-lt"/>
              </a:rPr>
              <a:t> n </a:t>
            </a:r>
            <a:r>
              <a:rPr lang="en-US" altLang="en-US" sz="2800" err="1">
                <a:latin typeface="+mj-lt"/>
              </a:rPr>
              <a:t>biến</a:t>
            </a:r>
            <a:r>
              <a:rPr lang="en-US" altLang="en-US" sz="2800">
                <a:latin typeface="+mj-lt"/>
              </a:rPr>
              <a:t> </a:t>
            </a:r>
            <a:r>
              <a:rPr lang="en-US" altLang="en-US" sz="2800" err="1">
                <a:latin typeface="+mj-lt"/>
              </a:rPr>
              <a:t>vào</a:t>
            </a:r>
            <a:r>
              <a:rPr lang="en-US" altLang="en-US" sz="2800">
                <a:latin typeface="+mj-lt"/>
              </a:rPr>
              <a:t>, m </a:t>
            </a:r>
            <a:r>
              <a:rPr lang="en-US" altLang="en-US" sz="2800" err="1">
                <a:latin typeface="+mj-lt"/>
              </a:rPr>
              <a:t>biến</a:t>
            </a:r>
            <a:r>
              <a:rPr lang="en-US" altLang="en-US" sz="2800">
                <a:latin typeface="+mj-lt"/>
              </a:rPr>
              <a:t> </a:t>
            </a:r>
            <a:r>
              <a:rPr lang="en-US" altLang="en-US" sz="2800" err="1">
                <a:latin typeface="+mj-lt"/>
              </a:rPr>
              <a:t>ra</a:t>
            </a:r>
            <a:endParaRPr lang="en-US" altLang="en-US" sz="2800">
              <a:latin typeface="+mj-lt"/>
            </a:endParaRPr>
          </a:p>
          <a:p>
            <a:pPr lvl="2" eaLnBrk="1" hangingPunct="1">
              <a:spcBef>
                <a:spcPts val="300"/>
              </a:spcBef>
              <a:buFont typeface="Arial" panose="020B0604020202020204" pitchFamily="34" charset="0"/>
              <a:buChar char="−"/>
              <a:defRPr/>
            </a:pPr>
            <a:r>
              <a:rPr lang="en-US" altLang="en-US" err="1">
                <a:latin typeface="+mj-lt"/>
              </a:rPr>
              <a:t>Miền</a:t>
            </a:r>
            <a:r>
              <a:rPr lang="en-US" altLang="en-US">
                <a:latin typeface="+mj-lt"/>
              </a:rPr>
              <a:t> </a:t>
            </a:r>
            <a:r>
              <a:rPr lang="en-US" altLang="en-US" err="1">
                <a:latin typeface="+mj-lt"/>
              </a:rPr>
              <a:t>xác</a:t>
            </a:r>
            <a:r>
              <a:rPr lang="en-US" altLang="en-US">
                <a:latin typeface="+mj-lt"/>
              </a:rPr>
              <a:t> </a:t>
            </a:r>
            <a:r>
              <a:rPr lang="en-US" altLang="en-US" err="1">
                <a:latin typeface="+mj-lt"/>
              </a:rPr>
              <a:t>định</a:t>
            </a:r>
            <a:r>
              <a:rPr lang="en-US" altLang="en-US">
                <a:latin typeface="+mj-lt"/>
              </a:rPr>
              <a:t> </a:t>
            </a:r>
            <a:r>
              <a:rPr lang="en-US" altLang="en-US" err="1">
                <a:latin typeface="+mj-lt"/>
              </a:rPr>
              <a:t>là</a:t>
            </a:r>
            <a:r>
              <a:rPr lang="en-US" altLang="en-US">
                <a:latin typeface="+mj-lt"/>
              </a:rPr>
              <a:t> </a:t>
            </a:r>
            <a:r>
              <a:rPr lang="en-US" altLang="en-US" err="1">
                <a:latin typeface="+mj-lt"/>
              </a:rPr>
              <a:t>tích</a:t>
            </a:r>
            <a:r>
              <a:rPr lang="en-US" altLang="en-US">
                <a:latin typeface="+mj-lt"/>
              </a:rPr>
              <a:t> </a:t>
            </a:r>
            <a:r>
              <a:rPr lang="en-US" altLang="en-US" err="1">
                <a:latin typeface="+mj-lt"/>
              </a:rPr>
              <a:t>Đề-các</a:t>
            </a:r>
            <a:r>
              <a:rPr lang="en-US" altLang="en-US">
                <a:latin typeface="+mj-lt"/>
              </a:rPr>
              <a:t> </a:t>
            </a:r>
            <a:r>
              <a:rPr lang="en-US" altLang="en-US" err="1">
                <a:latin typeface="+mj-lt"/>
              </a:rPr>
              <a:t>của</a:t>
            </a:r>
            <a:r>
              <a:rPr lang="en-US" altLang="en-US">
                <a:latin typeface="+mj-lt"/>
              </a:rPr>
              <a:t> n </a:t>
            </a:r>
            <a:r>
              <a:rPr lang="en-US" altLang="en-US" err="1">
                <a:latin typeface="+mj-lt"/>
              </a:rPr>
              <a:t>tập</a:t>
            </a:r>
            <a:r>
              <a:rPr lang="en-US" altLang="en-US">
                <a:latin typeface="+mj-lt"/>
              </a:rPr>
              <a:t>,</a:t>
            </a:r>
          </a:p>
          <a:p>
            <a:pPr lvl="2" eaLnBrk="1" hangingPunct="1">
              <a:spcBef>
                <a:spcPts val="300"/>
              </a:spcBef>
              <a:buFont typeface="Arial" panose="020B0604020202020204" pitchFamily="34" charset="0"/>
              <a:buChar char="−"/>
              <a:defRPr/>
            </a:pPr>
            <a:r>
              <a:rPr lang="en-US" altLang="en-US" err="1">
                <a:latin typeface="+mj-lt"/>
              </a:rPr>
              <a:t>Miền</a:t>
            </a:r>
            <a:r>
              <a:rPr lang="en-US" altLang="en-US">
                <a:latin typeface="+mj-lt"/>
              </a:rPr>
              <a:t> </a:t>
            </a:r>
            <a:r>
              <a:rPr lang="en-US" altLang="en-US" err="1">
                <a:latin typeface="+mj-lt"/>
              </a:rPr>
              <a:t>giá</a:t>
            </a:r>
            <a:r>
              <a:rPr lang="en-US" altLang="en-US">
                <a:latin typeface="+mj-lt"/>
              </a:rPr>
              <a:t> </a:t>
            </a:r>
            <a:r>
              <a:rPr lang="en-US" altLang="en-US" err="1">
                <a:latin typeface="+mj-lt"/>
              </a:rPr>
              <a:t>trị</a:t>
            </a:r>
            <a:r>
              <a:rPr lang="en-US" altLang="en-US">
                <a:latin typeface="+mj-lt"/>
              </a:rPr>
              <a:t> </a:t>
            </a:r>
            <a:r>
              <a:rPr lang="en-US" altLang="en-US" err="1">
                <a:latin typeface="+mj-lt"/>
              </a:rPr>
              <a:t>là</a:t>
            </a:r>
            <a:r>
              <a:rPr lang="en-US" altLang="en-US">
                <a:latin typeface="+mj-lt"/>
              </a:rPr>
              <a:t> </a:t>
            </a:r>
            <a:r>
              <a:rPr lang="en-US" altLang="en-US" err="1">
                <a:latin typeface="+mj-lt"/>
              </a:rPr>
              <a:t>tích</a:t>
            </a:r>
            <a:r>
              <a:rPr lang="en-US" altLang="en-US">
                <a:latin typeface="+mj-lt"/>
              </a:rPr>
              <a:t> </a:t>
            </a:r>
            <a:r>
              <a:rPr lang="en-US" altLang="en-US" err="1">
                <a:latin typeface="+mj-lt"/>
              </a:rPr>
              <a:t>Đề-các</a:t>
            </a:r>
            <a:r>
              <a:rPr lang="en-US" altLang="en-US">
                <a:latin typeface="+mj-lt"/>
              </a:rPr>
              <a:t>  </a:t>
            </a:r>
            <a:r>
              <a:rPr lang="en-US" altLang="en-US" err="1">
                <a:latin typeface="+mj-lt"/>
              </a:rPr>
              <a:t>của</a:t>
            </a:r>
            <a:r>
              <a:rPr lang="en-US" altLang="en-US">
                <a:latin typeface="+mj-lt"/>
              </a:rPr>
              <a:t> m </a:t>
            </a:r>
            <a:r>
              <a:rPr lang="en-US" altLang="en-US" err="1">
                <a:latin typeface="+mj-lt"/>
              </a:rPr>
              <a:t>tập</a:t>
            </a:r>
            <a:endParaRPr lang="en-US" altLang="en-US">
              <a:latin typeface="+mj-l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558162-4788-49D4-B619-EF8DCC334FF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09600" indent="-609600" eaLnBrk="1" hangingPunct="1">
              <a:lnSpc>
                <a:spcPct val="110000"/>
              </a:lnSpc>
              <a:spcBef>
                <a:spcPts val="1200"/>
              </a:spcBef>
            </a:pPr>
            <a:r>
              <a:rPr lang="en-US" altLang="en-US" sz="2800"/>
              <a:t>Kiến thức toán học liên quan</a:t>
            </a:r>
            <a:r>
              <a:rPr lang="en-US" altLang="en-US" sz="2800">
                <a:sym typeface="Symbol" panose="05050102010706020507" pitchFamily="18" charset="2"/>
              </a:rPr>
              <a:t>Đồ thị</a:t>
            </a:r>
            <a:endParaRPr lang="en-US" altLang="en-US" sz="2800"/>
          </a:p>
        </p:txBody>
      </p:sp>
      <p:sp>
        <p:nvSpPr>
          <p:cNvPr id="63492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14561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854075"/>
            <a:ext cx="8763000" cy="5867400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spcBef>
                <a:spcPts val="600"/>
              </a:spcBef>
              <a:buFontTx/>
              <a:buNone/>
              <a:defRPr/>
            </a:pPr>
            <a:r>
              <a:rPr lang="en-US" altLang="en-US" sz="2800" dirty="0" err="1"/>
              <a:t>Đồ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thị</a:t>
            </a:r>
            <a:r>
              <a:rPr lang="en-US" altLang="en-US" sz="2800" dirty="0"/>
              <a:t> G = (V,E) bao </a:t>
            </a:r>
            <a:r>
              <a:rPr lang="en-US" altLang="en-US" sz="2800" dirty="0" err="1"/>
              <a:t>gồm</a:t>
            </a:r>
            <a:endParaRPr lang="en-US" altLang="en-US" sz="2800" dirty="0"/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en-US" sz="2800" dirty="0"/>
              <a:t>Tập </a:t>
            </a:r>
            <a:r>
              <a:rPr lang="en-US" altLang="en-US" sz="2800" dirty="0" err="1"/>
              <a:t>hữu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hạn</a:t>
            </a:r>
            <a:r>
              <a:rPr lang="en-US" altLang="en-US" sz="2800" dirty="0"/>
              <a:t> V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nút</a:t>
            </a:r>
            <a:r>
              <a:rPr lang="en-US" altLang="en-US" sz="2800" dirty="0"/>
              <a:t> - </a:t>
            </a:r>
            <a:r>
              <a:rPr lang="en-US" altLang="en-US" sz="2800" dirty="0" err="1"/>
              <a:t>đỉnh</a:t>
            </a:r>
            <a:endParaRPr lang="en-US" altLang="en-US" sz="2800" dirty="0"/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en-US" sz="2800" dirty="0"/>
              <a:t>Tập </a:t>
            </a:r>
            <a:r>
              <a:rPr lang="en-US" altLang="en-US" sz="2800" dirty="0" err="1"/>
              <a:t>hữu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hạn</a:t>
            </a:r>
            <a:r>
              <a:rPr lang="en-US" altLang="en-US" sz="2800" dirty="0"/>
              <a:t> E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cặp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nút</a:t>
            </a:r>
            <a:r>
              <a:rPr lang="en-US" altLang="en-US" sz="2800" dirty="0"/>
              <a:t> – </a:t>
            </a:r>
            <a:r>
              <a:rPr lang="en-US" altLang="en-US" sz="2800" dirty="0" err="1"/>
              <a:t>cạnh</a:t>
            </a:r>
            <a:endParaRPr lang="en-US" altLang="en-US" sz="2800" dirty="0"/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en-US" sz="2400" dirty="0"/>
              <a:t>E = {(v1,v2)| v1, v2 </a:t>
            </a:r>
            <a:r>
              <a:rPr lang="en-US" altLang="en-US" sz="2400" dirty="0">
                <a:sym typeface="Symbol" panose="05050102010706020507" pitchFamily="18" charset="2"/>
              </a:rPr>
              <a:t></a:t>
            </a:r>
            <a:r>
              <a:rPr lang="en-US" altLang="en-US" sz="2400" dirty="0"/>
              <a:t>V} </a:t>
            </a:r>
            <a:r>
              <a:rPr lang="en-US" altLang="en-US" sz="2400" dirty="0">
                <a:sym typeface="Symbol" panose="05050102010706020507" pitchFamily="18" charset="2"/>
              </a:rPr>
              <a:t>  E </a:t>
            </a:r>
            <a:r>
              <a:rPr lang="en-US" altLang="en-US" sz="2400" dirty="0" err="1">
                <a:sym typeface="Symbol" panose="05050102010706020507" pitchFamily="18" charset="2"/>
              </a:rPr>
              <a:t>VxV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en-US" sz="2800" dirty="0" err="1">
                <a:sym typeface="Symbol" panose="05050102010706020507" pitchFamily="18" charset="2"/>
              </a:rPr>
              <a:t>Đồ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thị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vô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hướng</a:t>
            </a:r>
            <a:r>
              <a:rPr lang="en-US" altLang="en-US" sz="2800" dirty="0">
                <a:sym typeface="Symbol" panose="05050102010706020507" pitchFamily="18" charset="2"/>
              </a:rPr>
              <a:t>:  (v</a:t>
            </a:r>
            <a:r>
              <a:rPr lang="en-US" altLang="en-US" sz="2800" baseline="-25000" dirty="0"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sym typeface="Symbol" panose="05050102010706020507" pitchFamily="18" charset="2"/>
              </a:rPr>
              <a:t>,v</a:t>
            </a:r>
            <a:r>
              <a:rPr lang="en-US" altLang="en-US" sz="2800" baseline="-25000" dirty="0"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ym typeface="Symbol" panose="05050102010706020507" pitchFamily="18" charset="2"/>
              </a:rPr>
              <a:t>)  E    (v</a:t>
            </a:r>
            <a:r>
              <a:rPr lang="en-US" altLang="en-US" sz="2800" baseline="-25000" dirty="0">
                <a:sym typeface="Symbol" panose="05050102010706020507" pitchFamily="18" charset="2"/>
              </a:rPr>
              <a:t>2</a:t>
            </a:r>
            <a:r>
              <a:rPr lang="en-US" altLang="en-US" sz="2800" dirty="0">
                <a:sym typeface="Symbol" panose="05050102010706020507" pitchFamily="18" charset="2"/>
              </a:rPr>
              <a:t>,v</a:t>
            </a:r>
            <a:r>
              <a:rPr lang="en-US" altLang="en-US" sz="2800" baseline="-25000" dirty="0">
                <a:sym typeface="Symbol" panose="05050102010706020507" pitchFamily="18" charset="2"/>
              </a:rPr>
              <a:t>1</a:t>
            </a:r>
            <a:r>
              <a:rPr lang="en-US" altLang="en-US" sz="2800" dirty="0">
                <a:sym typeface="Symbol" panose="05050102010706020507" pitchFamily="18" charset="2"/>
              </a:rPr>
              <a:t>)  E</a:t>
            </a: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en-US" sz="2800" dirty="0" err="1">
                <a:sym typeface="Symbol" panose="05050102010706020507" pitchFamily="18" charset="2"/>
              </a:rPr>
              <a:t>Đồ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thị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có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hướng</a:t>
            </a:r>
            <a:r>
              <a:rPr lang="en-US" altLang="en-US" sz="2800" dirty="0">
                <a:sym typeface="Symbol" panose="05050102010706020507" pitchFamily="18" charset="2"/>
              </a:rPr>
              <a:t>: </a:t>
            </a:r>
            <a:r>
              <a:rPr lang="en-US" altLang="en-US" sz="2800" dirty="0" err="1">
                <a:sym typeface="Symbol" panose="05050102010706020507" pitchFamily="18" charset="2"/>
              </a:rPr>
              <a:t>Không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phải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là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đồ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thị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vô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hướng</a:t>
            </a:r>
            <a:endParaRPr lang="en-US" altLang="en-US" sz="28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en-US" sz="2400" dirty="0" err="1">
                <a:sym typeface="Symbol" panose="05050102010706020507" pitchFamily="18" charset="2"/>
              </a:rPr>
              <a:t>Nếu</a:t>
            </a:r>
            <a:r>
              <a:rPr lang="en-US" altLang="en-US" sz="2400" dirty="0">
                <a:sym typeface="Symbol" panose="05050102010706020507" pitchFamily="18" charset="2"/>
              </a:rPr>
              <a:t> (v</a:t>
            </a:r>
            <a:r>
              <a:rPr lang="en-US" altLang="en-US" sz="2400" baseline="-25000" dirty="0"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ym typeface="Symbol" panose="05050102010706020507" pitchFamily="18" charset="2"/>
              </a:rPr>
              <a:t>,v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)  E: </a:t>
            </a:r>
            <a:r>
              <a:rPr lang="en-US" altLang="en-US" sz="2400" b="1" dirty="0">
                <a:solidFill>
                  <a:srgbClr val="4717CF"/>
                </a:solidFill>
                <a:sym typeface="Symbol" panose="05050102010706020507" pitchFamily="18" charset="2"/>
              </a:rPr>
              <a:t>v</a:t>
            </a:r>
            <a:r>
              <a:rPr lang="en-US" altLang="en-US" sz="2400" b="1" baseline="-25000" dirty="0">
                <a:solidFill>
                  <a:srgbClr val="4717CF"/>
                </a:solidFill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là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đỉnh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đứng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trước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olidFill>
                  <a:srgbClr val="4717CF"/>
                </a:solidFill>
                <a:sym typeface="Symbol" panose="05050102010706020507" pitchFamily="18" charset="2"/>
              </a:rPr>
              <a:t>v</a:t>
            </a:r>
            <a:r>
              <a:rPr lang="en-US" altLang="en-US" sz="2400" b="1" baseline="-25000" dirty="0">
                <a:solidFill>
                  <a:srgbClr val="4717CF"/>
                </a:solidFill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trong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đồ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thị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en-US" sz="2800" dirty="0" err="1">
                <a:sym typeface="Symbol" panose="05050102010706020507" pitchFamily="18" charset="2"/>
              </a:rPr>
              <a:t>Đường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đi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trên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đồ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thị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có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hướng</a:t>
            </a:r>
            <a:r>
              <a:rPr lang="en-US" altLang="en-US" sz="2800" dirty="0">
                <a:sym typeface="Symbol" panose="05050102010706020507" pitchFamily="18" charset="2"/>
              </a:rPr>
              <a:t>/</a:t>
            </a:r>
            <a:r>
              <a:rPr lang="en-US" altLang="en-US" sz="2800" dirty="0" err="1">
                <a:sym typeface="Symbol" panose="05050102010706020507" pitchFamily="18" charset="2"/>
              </a:rPr>
              <a:t>vô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hướng</a:t>
            </a:r>
            <a:endParaRPr lang="en-US" altLang="en-US" sz="28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en-US" sz="2400" dirty="0" err="1">
                <a:sym typeface="Symbol" panose="05050102010706020507" pitchFamily="18" charset="2"/>
              </a:rPr>
              <a:t>Dãy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đỉnh</a:t>
            </a:r>
            <a:r>
              <a:rPr lang="en-US" altLang="en-US" sz="2400" dirty="0">
                <a:sym typeface="Symbol" panose="05050102010706020507" pitchFamily="18" charset="2"/>
              </a:rPr>
              <a:t> (v</a:t>
            </a:r>
            <a:r>
              <a:rPr lang="en-US" altLang="en-US" sz="2400" baseline="-25000" dirty="0"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ym typeface="Symbol" panose="05050102010706020507" pitchFamily="18" charset="2"/>
              </a:rPr>
              <a:t>, v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,.., </a:t>
            </a:r>
            <a:r>
              <a:rPr lang="en-US" altLang="en-US" sz="2400" dirty="0" err="1">
                <a:sym typeface="Symbol" panose="05050102010706020507" pitchFamily="18" charset="2"/>
              </a:rPr>
              <a:t>v</a:t>
            </a:r>
            <a:r>
              <a:rPr lang="en-US" altLang="en-US" sz="2400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ym typeface="Symbol" panose="05050102010706020507" pitchFamily="18" charset="2"/>
              </a:rPr>
              <a:t>) </a:t>
            </a:r>
            <a:r>
              <a:rPr lang="en-US" altLang="en-US" sz="2400" dirty="0" err="1">
                <a:sym typeface="Symbol" panose="05050102010706020507" pitchFamily="18" charset="2"/>
              </a:rPr>
              <a:t>thỏa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mãn</a:t>
            </a:r>
            <a:r>
              <a:rPr lang="en-US" altLang="en-US" sz="2400" dirty="0">
                <a:sym typeface="Symbol" panose="05050102010706020507" pitchFamily="18" charset="2"/>
              </a:rPr>
              <a:t> (v</a:t>
            </a:r>
            <a:r>
              <a:rPr lang="en-US" altLang="en-US" sz="2400" baseline="-25000" dirty="0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,v</a:t>
            </a:r>
            <a:r>
              <a:rPr lang="en-US" altLang="en-US" sz="2400" baseline="-25000" dirty="0">
                <a:sym typeface="Symbol" panose="05050102010706020507" pitchFamily="18" charset="2"/>
              </a:rPr>
              <a:t>i+1</a:t>
            </a:r>
            <a:r>
              <a:rPr lang="en-US" altLang="en-US" sz="2400" dirty="0">
                <a:sym typeface="Symbol" panose="05050102010706020507" pitchFamily="18" charset="2"/>
              </a:rPr>
              <a:t>)E (</a:t>
            </a:r>
            <a:r>
              <a:rPr lang="en-US" altLang="en-US" sz="2400" dirty="0" err="1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: 1..n-1)</a:t>
            </a: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en-US" sz="2800" dirty="0" err="1">
                <a:sym typeface="Symbol" panose="05050102010706020507" pitchFamily="18" charset="2"/>
              </a:rPr>
              <a:t>Đồ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thị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dirty="0" err="1">
                <a:sym typeface="Symbol" panose="05050102010706020507" pitchFamily="18" charset="2"/>
              </a:rPr>
              <a:t>có</a:t>
            </a:r>
            <a:r>
              <a:rPr lang="en-US" altLang="en-US" sz="2800" dirty="0">
                <a:sym typeface="Symbol" panose="05050102010706020507" pitchFamily="18" charset="2"/>
              </a:rPr>
              <a:t> chu </a:t>
            </a:r>
            <a:r>
              <a:rPr lang="en-US" altLang="en-US" sz="2800" dirty="0" err="1">
                <a:sym typeface="Symbol" panose="05050102010706020507" pitchFamily="18" charset="2"/>
              </a:rPr>
              <a:t>trình</a:t>
            </a:r>
            <a:r>
              <a:rPr lang="en-US" altLang="en-US" sz="2800" dirty="0">
                <a:sym typeface="Symbol" panose="05050102010706020507" pitchFamily="18" charset="2"/>
              </a:rPr>
              <a:t>: 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 </a:t>
            </a:r>
            <a:r>
              <a:rPr lang="en-US" altLang="en-US" sz="2400" dirty="0" err="1">
                <a:sym typeface="Symbol" panose="05050102010706020507" pitchFamily="18" charset="2"/>
              </a:rPr>
              <a:t>đương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đi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đỉnh</a:t>
            </a:r>
            <a:r>
              <a:rPr lang="en-US" altLang="en-US" sz="2400" dirty="0">
                <a:sym typeface="Symbol" panose="05050102010706020507" pitchFamily="18" charset="2"/>
              </a:rPr>
              <a:t> (v</a:t>
            </a:r>
            <a:r>
              <a:rPr lang="en-US" altLang="en-US" sz="2400" baseline="-25000" dirty="0"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ym typeface="Symbol" panose="05050102010706020507" pitchFamily="18" charset="2"/>
              </a:rPr>
              <a:t>, v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,.., </a:t>
            </a:r>
            <a:r>
              <a:rPr lang="en-US" altLang="en-US" sz="2400" dirty="0" err="1">
                <a:sym typeface="Symbol" panose="05050102010706020507" pitchFamily="18" charset="2"/>
              </a:rPr>
              <a:t>v</a:t>
            </a:r>
            <a:r>
              <a:rPr lang="en-US" altLang="en-US" sz="2400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ym typeface="Symbol" panose="05050102010706020507" pitchFamily="18" charset="2"/>
              </a:rPr>
              <a:t>), </a:t>
            </a:r>
            <a:r>
              <a:rPr lang="en-US" altLang="en-US" sz="2400" dirty="0" err="1">
                <a:sym typeface="Symbol" panose="05050102010706020507" pitchFamily="18" charset="2"/>
              </a:rPr>
              <a:t>trong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sym typeface="Symbol" panose="05050102010706020507" pitchFamily="18" charset="2"/>
              </a:rPr>
              <a:t>đó</a:t>
            </a:r>
            <a:r>
              <a:rPr lang="en-US" altLang="en-US" sz="2400" dirty="0">
                <a:sym typeface="Symbol" panose="05050102010706020507" pitchFamily="18" charset="2"/>
              </a:rPr>
              <a:t> v</a:t>
            </a:r>
            <a:r>
              <a:rPr lang="en-US" altLang="en-US" sz="2400" baseline="-25000" dirty="0"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ym typeface="Symbol" panose="05050102010706020507" pitchFamily="18" charset="2"/>
              </a:rPr>
              <a:t>v</a:t>
            </a:r>
            <a:r>
              <a:rPr lang="en-US" altLang="en-US" sz="2400" baseline="-25000" dirty="0">
                <a:sym typeface="Symbol" panose="05050102010706020507" pitchFamily="18" charset="2"/>
              </a:rPr>
              <a:t>1</a:t>
            </a:r>
            <a:endParaRPr lang="en-US" altLang="en-US" sz="2400" baseline="-25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0B8212-507B-4001-B52E-B46614B5DF3F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63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09600" indent="-609600" eaLnBrk="1" hangingPunct="1">
              <a:lnSpc>
                <a:spcPct val="110000"/>
              </a:lnSpc>
              <a:spcBef>
                <a:spcPts val="1200"/>
              </a:spcBef>
            </a:pPr>
            <a:r>
              <a:rPr lang="en-US" altLang="en-US" sz="2800"/>
              <a:t>Kiến thức toán học liên quan</a:t>
            </a:r>
            <a:r>
              <a:rPr lang="en-US" altLang="en-US" sz="2800">
                <a:sym typeface="Symbol" panose="05050102010706020507" pitchFamily="18" charset="2"/>
              </a:rPr>
              <a:t>Cây</a:t>
            </a:r>
            <a:endParaRPr lang="en-US" altLang="en-US" sz="2800"/>
          </a:p>
        </p:txBody>
      </p:sp>
      <p:sp>
        <p:nvSpPr>
          <p:cNvPr id="64516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14561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854075"/>
            <a:ext cx="8839200" cy="5867400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spcBef>
                <a:spcPts val="800"/>
              </a:spcBef>
              <a:buFontTx/>
              <a:buNone/>
              <a:defRPr/>
            </a:pPr>
            <a:r>
              <a:rPr lang="en-US" altLang="en-US" sz="2800" err="1"/>
              <a:t>Là</a:t>
            </a:r>
            <a:r>
              <a:rPr lang="en-US" altLang="en-US" sz="2800"/>
              <a:t> </a:t>
            </a:r>
            <a:r>
              <a:rPr lang="en-US" altLang="en-US" sz="2800" err="1"/>
              <a:t>một</a:t>
            </a:r>
            <a:r>
              <a:rPr lang="en-US" altLang="en-US" sz="2800"/>
              <a:t> </a:t>
            </a:r>
            <a:r>
              <a:rPr lang="en-US" altLang="en-US" sz="2800" err="1"/>
              <a:t>đồ</a:t>
            </a:r>
            <a:r>
              <a:rPr lang="en-US" altLang="en-US" sz="2800"/>
              <a:t> </a:t>
            </a:r>
            <a:r>
              <a:rPr lang="en-US" altLang="en-US" sz="2800" err="1"/>
              <a:t>thị</a:t>
            </a:r>
            <a:r>
              <a:rPr lang="en-US" altLang="en-US" sz="2800"/>
              <a:t> </a:t>
            </a:r>
            <a:r>
              <a:rPr lang="en-US" altLang="en-US" sz="2800" err="1"/>
              <a:t>định</a:t>
            </a:r>
            <a:r>
              <a:rPr lang="en-US" altLang="en-US" sz="2800"/>
              <a:t> </a:t>
            </a:r>
            <a:r>
              <a:rPr lang="en-US" altLang="en-US" sz="2800" err="1"/>
              <a:t>hướng</a:t>
            </a:r>
            <a:r>
              <a:rPr lang="en-US" altLang="en-US" sz="2800"/>
              <a:t> </a:t>
            </a:r>
            <a:r>
              <a:rPr lang="en-US" altLang="en-US" sz="2800" err="1"/>
              <a:t>với</a:t>
            </a:r>
            <a:r>
              <a:rPr lang="en-US" altLang="en-US" sz="2800"/>
              <a:t> </a:t>
            </a:r>
            <a:r>
              <a:rPr lang="en-US" altLang="en-US" sz="2800" err="1"/>
              <a:t>các</a:t>
            </a:r>
            <a:r>
              <a:rPr lang="en-US" altLang="en-US" sz="2800"/>
              <a:t> </a:t>
            </a:r>
            <a:r>
              <a:rPr lang="en-US" altLang="en-US" sz="2800" err="1"/>
              <a:t>tính</a:t>
            </a:r>
            <a:r>
              <a:rPr lang="en-US" altLang="en-US" sz="2800"/>
              <a:t> </a:t>
            </a:r>
            <a:r>
              <a:rPr lang="en-US" altLang="en-US" sz="2800" err="1"/>
              <a:t>chất</a:t>
            </a:r>
            <a:r>
              <a:rPr lang="en-US" altLang="en-US" sz="2800"/>
              <a:t> </a:t>
            </a:r>
            <a:r>
              <a:rPr lang="en-US" altLang="en-US" sz="2800" err="1"/>
              <a:t>sau</a:t>
            </a:r>
            <a:endParaRPr lang="en-US" altLang="en-US" sz="2800"/>
          </a:p>
          <a:p>
            <a:pPr eaLnBrk="1" hangingPunct="1">
              <a:lnSpc>
                <a:spcPct val="110000"/>
              </a:lnSpc>
              <a:spcBef>
                <a:spcPts val="800"/>
              </a:spcBef>
              <a:defRPr/>
            </a:pPr>
            <a:r>
              <a:rPr lang="en-US" altLang="en-US" sz="2800" err="1"/>
              <a:t>Có</a:t>
            </a:r>
            <a:r>
              <a:rPr lang="en-US" altLang="en-US" sz="2800"/>
              <a:t> </a:t>
            </a:r>
            <a:r>
              <a:rPr lang="en-US" altLang="en-US" sz="2800" err="1"/>
              <a:t>một</a:t>
            </a:r>
            <a:r>
              <a:rPr lang="en-US" altLang="en-US" sz="2800"/>
              <a:t> </a:t>
            </a:r>
            <a:r>
              <a:rPr lang="en-US" altLang="en-US" sz="2800" err="1"/>
              <a:t>nút</a:t>
            </a:r>
            <a:r>
              <a:rPr lang="en-US" altLang="en-US" sz="2800"/>
              <a:t> </a:t>
            </a:r>
            <a:r>
              <a:rPr lang="en-US" altLang="en-US" sz="2800" err="1"/>
              <a:t>gọi</a:t>
            </a:r>
            <a:r>
              <a:rPr lang="en-US" altLang="en-US" sz="2800"/>
              <a:t> </a:t>
            </a:r>
            <a:r>
              <a:rPr lang="en-US" altLang="en-US" sz="2800" err="1"/>
              <a:t>là</a:t>
            </a:r>
            <a:r>
              <a:rPr lang="en-US" altLang="en-US" sz="2800"/>
              <a:t> </a:t>
            </a:r>
            <a:r>
              <a:rPr lang="en-US" altLang="en-US" sz="2800" err="1"/>
              <a:t>gốc</a:t>
            </a:r>
            <a:r>
              <a:rPr lang="en-US" altLang="en-US" sz="2800"/>
              <a:t>, </a:t>
            </a:r>
            <a:r>
              <a:rPr lang="en-US" altLang="en-US" sz="2800" err="1"/>
              <a:t>có</a:t>
            </a:r>
            <a:r>
              <a:rPr lang="en-US" altLang="en-US" sz="2800"/>
              <a:t> </a:t>
            </a:r>
            <a:r>
              <a:rPr lang="en-US" altLang="en-US" sz="2800" err="1"/>
              <a:t>các</a:t>
            </a:r>
            <a:r>
              <a:rPr lang="en-US" altLang="en-US" sz="2800"/>
              <a:t> </a:t>
            </a:r>
            <a:r>
              <a:rPr lang="en-US" altLang="en-US" sz="2800" err="1"/>
              <a:t>tính</a:t>
            </a:r>
            <a:r>
              <a:rPr lang="en-US" altLang="en-US" sz="2800"/>
              <a:t> </a:t>
            </a:r>
            <a:r>
              <a:rPr lang="en-US" altLang="en-US" sz="2800" err="1"/>
              <a:t>chất</a:t>
            </a:r>
            <a:endParaRPr lang="en-US" altLang="en-US" sz="2800"/>
          </a:p>
          <a:p>
            <a:pPr lvl="1" eaLnBrk="1" hangingPunct="1">
              <a:lnSpc>
                <a:spcPct val="110000"/>
              </a:lnSpc>
              <a:spcBef>
                <a:spcPts val="800"/>
              </a:spcBef>
              <a:defRPr/>
            </a:pPr>
            <a:r>
              <a:rPr lang="en-US" altLang="en-US" sz="2400" err="1"/>
              <a:t>Không</a:t>
            </a:r>
            <a:r>
              <a:rPr lang="en-US" altLang="en-US" sz="2400"/>
              <a:t> </a:t>
            </a:r>
            <a:r>
              <a:rPr lang="en-US" altLang="en-US" sz="2400" err="1"/>
              <a:t>có</a:t>
            </a:r>
            <a:r>
              <a:rPr lang="en-US" altLang="en-US" sz="2400"/>
              <a:t> </a:t>
            </a:r>
            <a:r>
              <a:rPr lang="en-US" altLang="en-US" sz="2400" err="1"/>
              <a:t>nút</a:t>
            </a:r>
            <a:r>
              <a:rPr lang="en-US" altLang="en-US" sz="2400"/>
              <a:t> </a:t>
            </a:r>
            <a:r>
              <a:rPr lang="en-US" altLang="en-US" sz="2400" err="1"/>
              <a:t>đứng</a:t>
            </a:r>
            <a:r>
              <a:rPr lang="en-US" altLang="en-US" sz="2400"/>
              <a:t> </a:t>
            </a:r>
            <a:r>
              <a:rPr lang="en-US" altLang="en-US" sz="2400" err="1"/>
              <a:t>trước</a:t>
            </a:r>
            <a:r>
              <a:rPr lang="en-US" altLang="en-US" sz="2400"/>
              <a:t> </a:t>
            </a:r>
            <a:r>
              <a:rPr lang="en-US" altLang="en-US" sz="2400" err="1"/>
              <a:t>gốc</a:t>
            </a:r>
            <a:endParaRPr lang="en-US" altLang="en-US" sz="2400"/>
          </a:p>
          <a:p>
            <a:pPr lvl="1" eaLnBrk="1" hangingPunct="1">
              <a:lnSpc>
                <a:spcPct val="110000"/>
              </a:lnSpc>
              <a:spcBef>
                <a:spcPts val="800"/>
              </a:spcBef>
              <a:defRPr/>
            </a:pPr>
            <a:r>
              <a:rPr lang="en-US" altLang="en-US" sz="2400" err="1"/>
              <a:t>Có</a:t>
            </a:r>
            <a:r>
              <a:rPr lang="en-US" altLang="en-US" sz="2400"/>
              <a:t> </a:t>
            </a:r>
            <a:r>
              <a:rPr lang="en-US" altLang="en-US" sz="2400" err="1"/>
              <a:t>một</a:t>
            </a:r>
            <a:r>
              <a:rPr lang="en-US" altLang="en-US" sz="2400"/>
              <a:t> </a:t>
            </a:r>
            <a:r>
              <a:rPr lang="en-US" altLang="en-US" sz="2400" err="1"/>
              <a:t>đường</a:t>
            </a:r>
            <a:r>
              <a:rPr lang="en-US" altLang="en-US" sz="2400"/>
              <a:t> </a:t>
            </a:r>
            <a:r>
              <a:rPr lang="en-US" altLang="en-US" sz="2400" err="1"/>
              <a:t>đi</a:t>
            </a:r>
            <a:r>
              <a:rPr lang="en-US" altLang="en-US" sz="2400"/>
              <a:t> </a:t>
            </a:r>
            <a:r>
              <a:rPr lang="en-US" altLang="en-US" sz="2400" err="1"/>
              <a:t>từ</a:t>
            </a:r>
            <a:r>
              <a:rPr lang="en-US" altLang="en-US" sz="2400"/>
              <a:t> </a:t>
            </a:r>
            <a:r>
              <a:rPr lang="en-US" altLang="en-US" sz="2400" err="1"/>
              <a:t>gốc</a:t>
            </a:r>
            <a:r>
              <a:rPr lang="en-US" altLang="en-US" sz="2400"/>
              <a:t> </a:t>
            </a:r>
            <a:r>
              <a:rPr lang="en-US" altLang="en-US" sz="2400" err="1"/>
              <a:t>đến</a:t>
            </a:r>
            <a:r>
              <a:rPr lang="en-US" altLang="en-US" sz="2400"/>
              <a:t> </a:t>
            </a:r>
            <a:r>
              <a:rPr lang="en-US" altLang="en-US" sz="2400" err="1"/>
              <a:t>mọi</a:t>
            </a:r>
            <a:r>
              <a:rPr lang="en-US" altLang="en-US" sz="2400"/>
              <a:t> </a:t>
            </a:r>
            <a:r>
              <a:rPr lang="en-US" altLang="en-US" sz="2400" err="1"/>
              <a:t>nút</a:t>
            </a:r>
            <a:r>
              <a:rPr lang="en-US" altLang="en-US" sz="2400"/>
              <a:t> </a:t>
            </a:r>
            <a:r>
              <a:rPr lang="en-US" altLang="en-US" sz="2400" err="1"/>
              <a:t>khác</a:t>
            </a:r>
            <a:endParaRPr lang="en-US" altLang="en-US" sz="2400"/>
          </a:p>
          <a:p>
            <a:pPr eaLnBrk="1" hangingPunct="1">
              <a:lnSpc>
                <a:spcPct val="110000"/>
              </a:lnSpc>
              <a:spcBef>
                <a:spcPts val="800"/>
              </a:spcBef>
              <a:defRPr/>
            </a:pPr>
            <a:r>
              <a:rPr lang="en-US" altLang="en-US" sz="2800" err="1"/>
              <a:t>Nút</a:t>
            </a:r>
            <a:r>
              <a:rPr lang="en-US" altLang="en-US" sz="2800"/>
              <a:t> </a:t>
            </a:r>
            <a:r>
              <a:rPr lang="en-US" altLang="en-US" sz="2800" err="1"/>
              <a:t>khác</a:t>
            </a:r>
            <a:r>
              <a:rPr lang="en-US" altLang="en-US" sz="2800"/>
              <a:t> </a:t>
            </a:r>
            <a:r>
              <a:rPr lang="en-US" altLang="en-US" sz="2800" err="1"/>
              <a:t>với</a:t>
            </a:r>
            <a:r>
              <a:rPr lang="en-US" altLang="en-US" sz="2800"/>
              <a:t> </a:t>
            </a:r>
            <a:r>
              <a:rPr lang="en-US" altLang="en-US" sz="2800" err="1"/>
              <a:t>nút</a:t>
            </a:r>
            <a:r>
              <a:rPr lang="en-US" altLang="en-US" sz="2800"/>
              <a:t> </a:t>
            </a:r>
            <a:r>
              <a:rPr lang="en-US" altLang="en-US" sz="2800" err="1"/>
              <a:t>gốc</a:t>
            </a:r>
            <a:r>
              <a:rPr lang="en-US" altLang="en-US" sz="2800"/>
              <a:t> </a:t>
            </a:r>
            <a:r>
              <a:rPr lang="en-US" altLang="en-US" sz="2800" err="1"/>
              <a:t>có</a:t>
            </a:r>
            <a:r>
              <a:rPr lang="en-US" altLang="en-US" sz="2800"/>
              <a:t> </a:t>
            </a:r>
            <a:r>
              <a:rPr lang="en-US" altLang="en-US" sz="2800" err="1"/>
              <a:t>đúng</a:t>
            </a:r>
            <a:r>
              <a:rPr lang="en-US" altLang="en-US" sz="2800"/>
              <a:t> </a:t>
            </a:r>
            <a:r>
              <a:rPr lang="en-US" altLang="en-US" sz="2800" err="1"/>
              <a:t>một</a:t>
            </a:r>
            <a:r>
              <a:rPr lang="en-US" altLang="en-US" sz="2800"/>
              <a:t> </a:t>
            </a:r>
            <a:r>
              <a:rPr lang="en-US" altLang="en-US" sz="2800" err="1"/>
              <a:t>nút</a:t>
            </a:r>
            <a:r>
              <a:rPr lang="en-US" altLang="en-US" sz="2800"/>
              <a:t> </a:t>
            </a:r>
            <a:r>
              <a:rPr lang="en-US" altLang="en-US" sz="2800" err="1"/>
              <a:t>đứng</a:t>
            </a:r>
            <a:r>
              <a:rPr lang="en-US" altLang="en-US" sz="2800"/>
              <a:t> </a:t>
            </a:r>
            <a:r>
              <a:rPr lang="en-US" altLang="en-US" sz="2800" err="1"/>
              <a:t>trước</a:t>
            </a:r>
            <a:endParaRPr lang="en-US" altLang="en-US" sz="2800"/>
          </a:p>
          <a:p>
            <a:pPr eaLnBrk="1" hangingPunct="1">
              <a:lnSpc>
                <a:spcPct val="110000"/>
              </a:lnSpc>
              <a:spcBef>
                <a:spcPts val="800"/>
              </a:spcBef>
              <a:defRPr/>
            </a:pPr>
            <a:r>
              <a:rPr lang="en-US" altLang="en-US" sz="2800" err="1"/>
              <a:t>Các</a:t>
            </a:r>
            <a:r>
              <a:rPr lang="en-US" altLang="en-US" sz="2800"/>
              <a:t> </a:t>
            </a:r>
            <a:r>
              <a:rPr lang="en-US" altLang="en-US" sz="2800" err="1"/>
              <a:t>nút</a:t>
            </a:r>
            <a:r>
              <a:rPr lang="en-US" altLang="en-US" sz="2800"/>
              <a:t> </a:t>
            </a:r>
            <a:r>
              <a:rPr lang="en-US" altLang="en-US" sz="2800" err="1"/>
              <a:t>sau</a:t>
            </a:r>
            <a:r>
              <a:rPr lang="en-US" altLang="en-US" sz="2800"/>
              <a:t> </a:t>
            </a:r>
            <a:r>
              <a:rPr lang="en-US" altLang="en-US" sz="2800" err="1"/>
              <a:t>của</a:t>
            </a:r>
            <a:r>
              <a:rPr lang="en-US" altLang="en-US" sz="2800"/>
              <a:t> </a:t>
            </a:r>
            <a:r>
              <a:rPr lang="en-US" altLang="en-US" sz="2800" err="1"/>
              <a:t>một</a:t>
            </a:r>
            <a:r>
              <a:rPr lang="en-US" altLang="en-US" sz="2800"/>
              <a:t> </a:t>
            </a:r>
            <a:r>
              <a:rPr lang="en-US" altLang="en-US" sz="2800" err="1"/>
              <a:t>nút</a:t>
            </a:r>
            <a:r>
              <a:rPr lang="en-US" altLang="en-US" sz="2800"/>
              <a:t>: </a:t>
            </a:r>
            <a:r>
              <a:rPr lang="en-US" altLang="en-US" err="1"/>
              <a:t>S</a:t>
            </a:r>
            <a:r>
              <a:rPr lang="en-US" altLang="en-US" sz="2800" err="1"/>
              <a:t>ắp</a:t>
            </a:r>
            <a:r>
              <a:rPr lang="en-US" altLang="en-US" sz="2800"/>
              <a:t> </a:t>
            </a:r>
            <a:r>
              <a:rPr lang="en-US" altLang="en-US" sz="2800" err="1"/>
              <a:t>thứ</a:t>
            </a:r>
            <a:r>
              <a:rPr lang="en-US" altLang="en-US" sz="2800"/>
              <a:t> </a:t>
            </a:r>
            <a:r>
              <a:rPr lang="en-US" altLang="en-US" sz="2800" err="1"/>
              <a:t>tự</a:t>
            </a:r>
            <a:r>
              <a:rPr lang="en-US" altLang="en-US" sz="2800"/>
              <a:t> </a:t>
            </a:r>
            <a:r>
              <a:rPr lang="en-US" altLang="en-US" sz="2800" err="1"/>
              <a:t>từ</a:t>
            </a:r>
            <a:r>
              <a:rPr lang="en-US" altLang="en-US" sz="2800"/>
              <a:t> </a:t>
            </a:r>
            <a:r>
              <a:rPr lang="en-US" altLang="en-US" sz="2800" err="1"/>
              <a:t>trái</a:t>
            </a:r>
            <a:r>
              <a:rPr lang="en-US" altLang="en-US" sz="2800"/>
              <a:t> qua </a:t>
            </a:r>
            <a:r>
              <a:rPr lang="en-US" altLang="en-US" sz="2800" err="1"/>
              <a:t>phải</a:t>
            </a:r>
            <a:endParaRPr lang="en-US" altLang="en-US" sz="2400"/>
          </a:p>
          <a:p>
            <a:pPr eaLnBrk="1" hangingPunct="1">
              <a:lnSpc>
                <a:spcPct val="110000"/>
              </a:lnSpc>
              <a:spcBef>
                <a:spcPts val="800"/>
              </a:spcBef>
              <a:defRPr/>
            </a:pPr>
            <a:r>
              <a:rPr lang="en-US" altLang="en-US" sz="2800" err="1"/>
              <a:t>Quy</a:t>
            </a:r>
            <a:r>
              <a:rPr lang="en-US" altLang="en-US" sz="2800"/>
              <a:t> </a:t>
            </a:r>
            <a:r>
              <a:rPr lang="en-US" altLang="en-US" sz="2800" err="1"/>
              <a:t>ước</a:t>
            </a:r>
            <a:r>
              <a:rPr lang="en-US" altLang="en-US" sz="2800"/>
              <a:t> </a:t>
            </a:r>
            <a:r>
              <a:rPr lang="en-US" altLang="en-US" sz="2800" err="1"/>
              <a:t>biểu</a:t>
            </a:r>
            <a:r>
              <a:rPr lang="en-US" altLang="en-US" sz="2800"/>
              <a:t> </a:t>
            </a:r>
            <a:r>
              <a:rPr lang="en-US" altLang="en-US" sz="2800" err="1"/>
              <a:t>diễn</a:t>
            </a:r>
            <a:r>
              <a:rPr lang="en-US" altLang="en-US" sz="2800"/>
              <a:t> </a:t>
            </a:r>
            <a:r>
              <a:rPr lang="en-US" altLang="en-US" sz="2800" err="1"/>
              <a:t>cây</a:t>
            </a:r>
            <a:endParaRPr lang="en-US" altLang="en-US" sz="2800"/>
          </a:p>
          <a:p>
            <a:pPr lvl="1" eaLnBrk="1" hangingPunct="1">
              <a:lnSpc>
                <a:spcPct val="110000"/>
              </a:lnSpc>
              <a:spcBef>
                <a:spcPts val="800"/>
              </a:spcBef>
              <a:defRPr/>
            </a:pPr>
            <a:r>
              <a:rPr lang="en-US" altLang="en-US" sz="2400" err="1"/>
              <a:t>Vẽ</a:t>
            </a:r>
            <a:r>
              <a:rPr lang="en-US" altLang="en-US" sz="2400"/>
              <a:t> </a:t>
            </a:r>
            <a:r>
              <a:rPr lang="en-US" altLang="en-US" sz="2400" err="1"/>
              <a:t>nút</a:t>
            </a:r>
            <a:r>
              <a:rPr lang="en-US" altLang="en-US" sz="2400"/>
              <a:t> </a:t>
            </a:r>
            <a:r>
              <a:rPr lang="en-US" altLang="en-US" sz="2400" err="1"/>
              <a:t>gốc</a:t>
            </a:r>
            <a:r>
              <a:rPr lang="en-US" altLang="en-US" sz="2400"/>
              <a:t> ở </a:t>
            </a:r>
            <a:r>
              <a:rPr lang="en-US" altLang="en-US" sz="2400" err="1"/>
              <a:t>trên</a:t>
            </a:r>
            <a:r>
              <a:rPr lang="en-US" altLang="en-US" sz="2400"/>
              <a:t>, </a:t>
            </a:r>
            <a:r>
              <a:rPr lang="en-US" altLang="en-US" sz="2400" err="1"/>
              <a:t>cung</a:t>
            </a:r>
            <a:r>
              <a:rPr lang="en-US" altLang="en-US" sz="2400"/>
              <a:t> </a:t>
            </a:r>
            <a:r>
              <a:rPr lang="en-US" altLang="en-US" sz="2400" err="1"/>
              <a:t>hướng</a:t>
            </a:r>
            <a:r>
              <a:rPr lang="en-US" altLang="en-US" sz="2400"/>
              <a:t> </a:t>
            </a:r>
            <a:r>
              <a:rPr lang="en-US" altLang="en-US" sz="2400" err="1"/>
              <a:t>xuống</a:t>
            </a:r>
            <a:r>
              <a:rPr lang="en-US" altLang="en-US" sz="2400"/>
              <a:t> </a:t>
            </a:r>
            <a:r>
              <a:rPr lang="en-US" altLang="en-US" sz="2400" err="1"/>
              <a:t>dưới</a:t>
            </a:r>
            <a:r>
              <a:rPr lang="en-US" altLang="en-US" sz="2400"/>
              <a:t> (</a:t>
            </a:r>
            <a:r>
              <a:rPr lang="en-US" altLang="en-US" sz="2400" err="1"/>
              <a:t>bỏ</a:t>
            </a:r>
            <a:r>
              <a:rPr lang="en-US" altLang="en-US" sz="2400"/>
              <a:t> </a:t>
            </a:r>
            <a:r>
              <a:rPr lang="en-US" altLang="en-US" sz="2400" err="1"/>
              <a:t>mũi</a:t>
            </a:r>
            <a:r>
              <a:rPr lang="en-US" altLang="en-US" sz="2400"/>
              <a:t> </a:t>
            </a:r>
            <a:r>
              <a:rPr lang="en-US" altLang="en-US" sz="2400" err="1"/>
              <a:t>tên</a:t>
            </a:r>
            <a:r>
              <a:rPr lang="en-US" altLang="en-US" sz="2400"/>
              <a:t>)</a:t>
            </a:r>
          </a:p>
          <a:p>
            <a:pPr lvl="1" eaLnBrk="1" hangingPunct="1">
              <a:lnSpc>
                <a:spcPct val="110000"/>
              </a:lnSpc>
              <a:spcBef>
                <a:spcPts val="800"/>
              </a:spcBef>
              <a:defRPr/>
            </a:pPr>
            <a:r>
              <a:rPr lang="en-US" altLang="en-US" sz="2400" err="1"/>
              <a:t>Các</a:t>
            </a:r>
            <a:r>
              <a:rPr lang="en-US" altLang="en-US" sz="2400"/>
              <a:t> </a:t>
            </a:r>
            <a:r>
              <a:rPr lang="en-US" altLang="en-US" sz="2400" err="1"/>
              <a:t>nút</a:t>
            </a:r>
            <a:r>
              <a:rPr lang="en-US" altLang="en-US" sz="2400"/>
              <a:t> </a:t>
            </a:r>
            <a:r>
              <a:rPr lang="en-US" altLang="en-US" sz="2400" err="1"/>
              <a:t>sau</a:t>
            </a:r>
            <a:r>
              <a:rPr lang="en-US" altLang="en-US" sz="2400"/>
              <a:t> </a:t>
            </a:r>
            <a:r>
              <a:rPr lang="en-US" altLang="en-US" sz="2400" err="1"/>
              <a:t>vẽ</a:t>
            </a:r>
            <a:r>
              <a:rPr lang="en-US" altLang="en-US" sz="2400"/>
              <a:t> </a:t>
            </a:r>
            <a:r>
              <a:rPr lang="en-US" altLang="en-US" sz="2400" err="1"/>
              <a:t>theo</a:t>
            </a:r>
            <a:r>
              <a:rPr lang="en-US" altLang="en-US" sz="2400"/>
              <a:t> </a:t>
            </a:r>
            <a:r>
              <a:rPr lang="en-US" altLang="en-US" sz="2400" err="1"/>
              <a:t>thứ</a:t>
            </a:r>
            <a:r>
              <a:rPr lang="en-US" altLang="en-US" sz="2400"/>
              <a:t> </a:t>
            </a:r>
            <a:r>
              <a:rPr lang="en-US" altLang="en-US" sz="2400" err="1"/>
              <a:t>tự</a:t>
            </a:r>
            <a:r>
              <a:rPr lang="en-US" altLang="en-US" sz="2400"/>
              <a:t> </a:t>
            </a:r>
            <a:r>
              <a:rPr lang="en-US" altLang="en-US" sz="2400" err="1"/>
              <a:t>từ</a:t>
            </a:r>
            <a:r>
              <a:rPr lang="en-US" altLang="en-US" sz="2400"/>
              <a:t> </a:t>
            </a:r>
            <a:r>
              <a:rPr lang="en-US" altLang="en-US" sz="2400" err="1"/>
              <a:t>trái</a:t>
            </a:r>
            <a:r>
              <a:rPr lang="en-US" altLang="en-US" sz="2400"/>
              <a:t> qua </a:t>
            </a:r>
            <a:r>
              <a:rPr lang="en-US" altLang="en-US" sz="2400" err="1"/>
              <a:t>phải</a:t>
            </a:r>
            <a:endParaRPr lang="en-US" altLang="en-US" sz="2400"/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en-US" sz="2800" err="1"/>
              <a:t>Nút</a:t>
            </a:r>
            <a:r>
              <a:rPr lang="en-US" altLang="en-US" sz="2800"/>
              <a:t> </a:t>
            </a:r>
            <a:r>
              <a:rPr lang="en-US" altLang="en-US" sz="2800" err="1"/>
              <a:t>lá</a:t>
            </a:r>
            <a:r>
              <a:rPr lang="en-US" altLang="en-US" sz="2800"/>
              <a:t>: </a:t>
            </a:r>
            <a:r>
              <a:rPr lang="en-US" altLang="en-US" sz="2800" err="1"/>
              <a:t>Không</a:t>
            </a:r>
            <a:r>
              <a:rPr lang="en-US" altLang="en-US" sz="2800"/>
              <a:t> </a:t>
            </a:r>
            <a:r>
              <a:rPr lang="en-US" altLang="en-US" sz="2800" err="1"/>
              <a:t>có</a:t>
            </a:r>
            <a:r>
              <a:rPr lang="en-US" altLang="en-US" sz="2800"/>
              <a:t> </a:t>
            </a:r>
            <a:r>
              <a:rPr lang="en-US" altLang="en-US" sz="2800" err="1"/>
              <a:t>nút</a:t>
            </a:r>
            <a:r>
              <a:rPr lang="en-US" altLang="en-US" sz="2800"/>
              <a:t> </a:t>
            </a:r>
            <a:r>
              <a:rPr lang="en-US" altLang="en-US" sz="2800" err="1"/>
              <a:t>sau</a:t>
            </a:r>
            <a:r>
              <a:rPr lang="en-US" altLang="en-US" sz="2800"/>
              <a:t> (</a:t>
            </a:r>
            <a:r>
              <a:rPr lang="en-US" altLang="en-US" sz="2800" err="1"/>
              <a:t>không</a:t>
            </a:r>
            <a:r>
              <a:rPr lang="en-US" altLang="en-US" sz="2800"/>
              <a:t> </a:t>
            </a:r>
            <a:r>
              <a:rPr lang="en-US" altLang="en-US" sz="2800" err="1"/>
              <a:t>có</a:t>
            </a:r>
            <a:r>
              <a:rPr lang="en-US" altLang="en-US" sz="2800"/>
              <a:t> con)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en-US" sz="2400" err="1"/>
              <a:t>Nút</a:t>
            </a:r>
            <a:r>
              <a:rPr lang="en-US" altLang="en-US" sz="2400"/>
              <a:t> </a:t>
            </a:r>
            <a:r>
              <a:rPr lang="en-US" altLang="en-US" sz="2400" err="1"/>
              <a:t>trong</a:t>
            </a:r>
            <a:r>
              <a:rPr lang="en-US" altLang="en-US" sz="2400"/>
              <a:t>: </a:t>
            </a:r>
            <a:r>
              <a:rPr lang="en-US" altLang="en-US" sz="2400" err="1"/>
              <a:t>Mọi</a:t>
            </a:r>
            <a:r>
              <a:rPr lang="en-US" altLang="en-US" sz="2400"/>
              <a:t> </a:t>
            </a:r>
            <a:r>
              <a:rPr lang="en-US" altLang="en-US" sz="2400" err="1"/>
              <a:t>nút</a:t>
            </a:r>
            <a:r>
              <a:rPr lang="en-US" altLang="en-US" sz="2400"/>
              <a:t> </a:t>
            </a:r>
            <a:r>
              <a:rPr lang="en-US" altLang="en-US" sz="2400" err="1"/>
              <a:t>khác</a:t>
            </a:r>
            <a:r>
              <a:rPr lang="en-US" altLang="en-US" sz="2400"/>
              <a:t> </a:t>
            </a:r>
            <a:r>
              <a:rPr lang="en-US" altLang="en-US" sz="2400" err="1"/>
              <a:t>nút</a:t>
            </a:r>
            <a:r>
              <a:rPr lang="en-US" altLang="en-US" sz="2400"/>
              <a:t> </a:t>
            </a:r>
            <a:r>
              <a:rPr lang="en-US" altLang="en-US" sz="2400" err="1"/>
              <a:t>lá</a:t>
            </a:r>
            <a:endParaRPr lang="en-US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19F02B-6408-4261-B913-745C30386A83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64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609600" indent="-609600" eaLnBrk="1" hangingPunct="1">
              <a:lnSpc>
                <a:spcPct val="110000"/>
              </a:lnSpc>
              <a:spcBef>
                <a:spcPts val="1200"/>
              </a:spcBef>
            </a:pPr>
            <a:r>
              <a:rPr lang="en-US" altLang="en-US" sz="2800"/>
              <a:t>Kiến thức toán học liên quan</a:t>
            </a:r>
            <a:r>
              <a:rPr lang="en-US" altLang="en-US" sz="2800">
                <a:sym typeface="Symbol" panose="05050102010706020507" pitchFamily="18" charset="2"/>
              </a:rPr>
              <a:t>Cây</a:t>
            </a:r>
            <a:endParaRPr lang="en-US" altLang="en-US" sz="2800"/>
          </a:p>
        </p:txBody>
      </p:sp>
      <p:sp>
        <p:nvSpPr>
          <p:cNvPr id="65540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6554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854075"/>
            <a:ext cx="8763000" cy="593725"/>
          </a:xfrm>
          <a:noFill/>
        </p:spPr>
        <p:txBody>
          <a:bodyPr/>
          <a:lstStyle/>
          <a:p>
            <a:pPr marL="0" indent="0" eaLnBrk="1" hangingPunct="1">
              <a:lnSpc>
                <a:spcPct val="110000"/>
              </a:lnSpc>
              <a:spcBef>
                <a:spcPts val="1200"/>
              </a:spcBef>
              <a:buFontTx/>
              <a:buNone/>
            </a:pPr>
            <a:r>
              <a:rPr lang="en-US" altLang="en-US" sz="2800"/>
              <a:t>Cấu trúc ngữ pháp của một câu tiếng việt</a:t>
            </a:r>
          </a:p>
        </p:txBody>
      </p:sp>
      <p:grpSp>
        <p:nvGrpSpPr>
          <p:cNvPr id="65542" name="Group 57"/>
          <p:cNvGrpSpPr>
            <a:grpSpLocks/>
          </p:cNvGrpSpPr>
          <p:nvPr/>
        </p:nvGrpSpPr>
        <p:grpSpPr bwMode="auto">
          <a:xfrm>
            <a:off x="304800" y="1447800"/>
            <a:ext cx="8534400" cy="5146675"/>
            <a:chOff x="381000" y="1524920"/>
            <a:chExt cx="8534400" cy="5146119"/>
          </a:xfrm>
        </p:grpSpPr>
        <p:sp>
          <p:nvSpPr>
            <p:cNvPr id="65543" name="TextBox 3"/>
            <p:cNvSpPr txBox="1">
              <a:spLocks noChangeArrowheads="1"/>
            </p:cNvSpPr>
            <p:nvPr/>
          </p:nvSpPr>
          <p:spPr bwMode="auto">
            <a:xfrm>
              <a:off x="3554730" y="1524920"/>
              <a:ext cx="1181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rgbClr val="002060"/>
                  </a:solidFill>
                </a:rPr>
                <a:t>&lt;Câu&gt;</a:t>
              </a:r>
            </a:p>
          </p:txBody>
        </p:sp>
        <p:sp>
          <p:nvSpPr>
            <p:cNvPr id="65544" name="TextBox 8"/>
            <p:cNvSpPr txBox="1">
              <a:spLocks noChangeArrowheads="1"/>
            </p:cNvSpPr>
            <p:nvPr/>
          </p:nvSpPr>
          <p:spPr bwMode="auto">
            <a:xfrm>
              <a:off x="1160145" y="2433935"/>
              <a:ext cx="1828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rgbClr val="002060"/>
                  </a:solidFill>
                </a:rPr>
                <a:t>&lt;Chủ ngữ&gt;</a:t>
              </a:r>
            </a:p>
          </p:txBody>
        </p:sp>
        <p:sp>
          <p:nvSpPr>
            <p:cNvPr id="65545" name="TextBox 9"/>
            <p:cNvSpPr txBox="1">
              <a:spLocks noChangeArrowheads="1"/>
            </p:cNvSpPr>
            <p:nvPr/>
          </p:nvSpPr>
          <p:spPr bwMode="auto">
            <a:xfrm>
              <a:off x="5181600" y="2433935"/>
              <a:ext cx="1676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rgbClr val="002060"/>
                  </a:solidFill>
                </a:rPr>
                <a:t>&lt;Vị ngữ&gt;</a:t>
              </a:r>
            </a:p>
          </p:txBody>
        </p:sp>
        <p:sp>
          <p:nvSpPr>
            <p:cNvPr id="65546" name="TextBox 10"/>
            <p:cNvSpPr txBox="1">
              <a:spLocks noChangeArrowheads="1"/>
            </p:cNvSpPr>
            <p:nvPr/>
          </p:nvSpPr>
          <p:spPr bwMode="auto">
            <a:xfrm>
              <a:off x="6404610" y="3538833"/>
              <a:ext cx="167259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rgbClr val="002060"/>
                  </a:solidFill>
                </a:rPr>
                <a:t>&lt;Bổ ngữ&gt;</a:t>
              </a:r>
            </a:p>
          </p:txBody>
        </p:sp>
        <p:sp>
          <p:nvSpPr>
            <p:cNvPr id="65547" name="TextBox 11"/>
            <p:cNvSpPr txBox="1">
              <a:spLocks noChangeArrowheads="1"/>
            </p:cNvSpPr>
            <p:nvPr/>
          </p:nvSpPr>
          <p:spPr bwMode="auto">
            <a:xfrm>
              <a:off x="3848100" y="3538833"/>
              <a:ext cx="17145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rgbClr val="002060"/>
                  </a:solidFill>
                </a:rPr>
                <a:t>&lt;Động từ&gt;</a:t>
              </a:r>
            </a:p>
          </p:txBody>
        </p:sp>
        <p:sp>
          <p:nvSpPr>
            <p:cNvPr id="65548" name="TextBox 13"/>
            <p:cNvSpPr txBox="1">
              <a:spLocks noChangeArrowheads="1"/>
            </p:cNvSpPr>
            <p:nvPr/>
          </p:nvSpPr>
          <p:spPr bwMode="auto">
            <a:xfrm>
              <a:off x="624840" y="6209374"/>
              <a:ext cx="1181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rgbClr val="4717CF"/>
                  </a:solidFill>
                </a:rPr>
                <a:t>Bò</a:t>
              </a:r>
            </a:p>
          </p:txBody>
        </p:sp>
        <p:sp>
          <p:nvSpPr>
            <p:cNvPr id="65549" name="TextBox 14"/>
            <p:cNvSpPr txBox="1">
              <a:spLocks noChangeArrowheads="1"/>
            </p:cNvSpPr>
            <p:nvPr/>
          </p:nvSpPr>
          <p:spPr bwMode="auto">
            <a:xfrm>
              <a:off x="6286500" y="4495800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rgbClr val="002060"/>
                  </a:solidFill>
                </a:rPr>
                <a:t>&lt;Danh ngữ&gt;</a:t>
              </a:r>
            </a:p>
          </p:txBody>
        </p:sp>
        <p:sp>
          <p:nvSpPr>
            <p:cNvPr id="65550" name="TextBox 15"/>
            <p:cNvSpPr txBox="1">
              <a:spLocks noChangeArrowheads="1"/>
            </p:cNvSpPr>
            <p:nvPr/>
          </p:nvSpPr>
          <p:spPr bwMode="auto">
            <a:xfrm>
              <a:off x="5410200" y="5350553"/>
              <a:ext cx="1676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rgbClr val="002060"/>
                  </a:solidFill>
                </a:rPr>
                <a:t>&lt;Danh từ&gt;</a:t>
              </a:r>
            </a:p>
          </p:txBody>
        </p:sp>
        <p:sp>
          <p:nvSpPr>
            <p:cNvPr id="65551" name="TextBox 16"/>
            <p:cNvSpPr txBox="1">
              <a:spLocks noChangeArrowheads="1"/>
            </p:cNvSpPr>
            <p:nvPr/>
          </p:nvSpPr>
          <p:spPr bwMode="auto">
            <a:xfrm>
              <a:off x="7292340" y="5334000"/>
              <a:ext cx="16230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rgbClr val="002060"/>
                  </a:solidFill>
                </a:rPr>
                <a:t>&lt;Tính từ&gt;</a:t>
              </a:r>
            </a:p>
          </p:txBody>
        </p:sp>
        <p:sp>
          <p:nvSpPr>
            <p:cNvPr id="65552" name="TextBox 17"/>
            <p:cNvSpPr txBox="1">
              <a:spLocks noChangeArrowheads="1"/>
            </p:cNvSpPr>
            <p:nvPr/>
          </p:nvSpPr>
          <p:spPr bwMode="auto">
            <a:xfrm>
              <a:off x="1104900" y="3565766"/>
              <a:ext cx="1943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rgbClr val="002060"/>
                  </a:solidFill>
                </a:rPr>
                <a:t>&lt;Danh ngữ&gt;</a:t>
              </a:r>
            </a:p>
          </p:txBody>
        </p:sp>
        <p:sp>
          <p:nvSpPr>
            <p:cNvPr id="65553" name="TextBox 18"/>
            <p:cNvSpPr txBox="1">
              <a:spLocks noChangeArrowheads="1"/>
            </p:cNvSpPr>
            <p:nvPr/>
          </p:nvSpPr>
          <p:spPr bwMode="auto">
            <a:xfrm>
              <a:off x="381000" y="4429451"/>
              <a:ext cx="1676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rgbClr val="002060"/>
                  </a:solidFill>
                </a:rPr>
                <a:t>&lt;Danh từ&gt;</a:t>
              </a:r>
            </a:p>
          </p:txBody>
        </p:sp>
        <p:sp>
          <p:nvSpPr>
            <p:cNvPr id="65554" name="TextBox 19"/>
            <p:cNvSpPr txBox="1">
              <a:spLocks noChangeArrowheads="1"/>
            </p:cNvSpPr>
            <p:nvPr/>
          </p:nvSpPr>
          <p:spPr bwMode="auto">
            <a:xfrm>
              <a:off x="2286000" y="4412898"/>
              <a:ext cx="16230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rgbClr val="002060"/>
                  </a:solidFill>
                </a:rPr>
                <a:t>&lt;Tính từ&gt;</a:t>
              </a:r>
            </a:p>
          </p:txBody>
        </p:sp>
        <p:cxnSp>
          <p:nvCxnSpPr>
            <p:cNvPr id="65555" name="Straight Connector 6"/>
            <p:cNvCxnSpPr>
              <a:cxnSpLocks noChangeShapeType="1"/>
              <a:stCxn id="65543" idx="2"/>
              <a:endCxn id="65544" idx="0"/>
            </p:cNvCxnSpPr>
            <p:nvPr/>
          </p:nvCxnSpPr>
          <p:spPr bwMode="auto">
            <a:xfrm flipH="1">
              <a:off x="2074545" y="1986585"/>
              <a:ext cx="2070735" cy="4473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56" name="Straight Connector 20"/>
            <p:cNvCxnSpPr>
              <a:cxnSpLocks noChangeShapeType="1"/>
              <a:stCxn id="65543" idx="2"/>
              <a:endCxn id="65545" idx="0"/>
            </p:cNvCxnSpPr>
            <p:nvPr/>
          </p:nvCxnSpPr>
          <p:spPr bwMode="auto">
            <a:xfrm>
              <a:off x="4145280" y="1986585"/>
              <a:ext cx="1874520" cy="4473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57" name="Straight Connector 22"/>
            <p:cNvCxnSpPr>
              <a:cxnSpLocks noChangeShapeType="1"/>
              <a:stCxn id="65544" idx="2"/>
              <a:endCxn id="65552" idx="0"/>
            </p:cNvCxnSpPr>
            <p:nvPr/>
          </p:nvCxnSpPr>
          <p:spPr bwMode="auto">
            <a:xfrm>
              <a:off x="2074545" y="2895600"/>
              <a:ext cx="1905" cy="67016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58" name="Straight Connector 24"/>
            <p:cNvCxnSpPr>
              <a:cxnSpLocks noChangeShapeType="1"/>
              <a:stCxn id="65552" idx="2"/>
              <a:endCxn id="65553" idx="0"/>
            </p:cNvCxnSpPr>
            <p:nvPr/>
          </p:nvCxnSpPr>
          <p:spPr bwMode="auto">
            <a:xfrm flipH="1">
              <a:off x="1219200" y="4027431"/>
              <a:ext cx="857250" cy="40202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59" name="Straight Connector 28"/>
            <p:cNvCxnSpPr>
              <a:cxnSpLocks noChangeShapeType="1"/>
              <a:stCxn id="65552" idx="2"/>
              <a:endCxn id="65554" idx="0"/>
            </p:cNvCxnSpPr>
            <p:nvPr/>
          </p:nvCxnSpPr>
          <p:spPr bwMode="auto">
            <a:xfrm>
              <a:off x="2076450" y="4027431"/>
              <a:ext cx="1021080" cy="38546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60" name="Straight Connector 31"/>
            <p:cNvCxnSpPr>
              <a:cxnSpLocks noChangeShapeType="1"/>
              <a:stCxn id="65545" idx="2"/>
              <a:endCxn id="65547" idx="0"/>
            </p:cNvCxnSpPr>
            <p:nvPr/>
          </p:nvCxnSpPr>
          <p:spPr bwMode="auto">
            <a:xfrm flipH="1">
              <a:off x="4705350" y="2895600"/>
              <a:ext cx="1314450" cy="64323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61" name="Straight Connector 33"/>
            <p:cNvCxnSpPr>
              <a:cxnSpLocks noChangeShapeType="1"/>
              <a:stCxn id="65545" idx="2"/>
              <a:endCxn id="65546" idx="0"/>
            </p:cNvCxnSpPr>
            <p:nvPr/>
          </p:nvCxnSpPr>
          <p:spPr bwMode="auto">
            <a:xfrm>
              <a:off x="6019800" y="2895600"/>
              <a:ext cx="1221105" cy="64323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62" name="Straight Connector 35"/>
            <p:cNvCxnSpPr>
              <a:cxnSpLocks noChangeShapeType="1"/>
              <a:stCxn id="65546" idx="2"/>
              <a:endCxn id="65549" idx="0"/>
            </p:cNvCxnSpPr>
            <p:nvPr/>
          </p:nvCxnSpPr>
          <p:spPr bwMode="auto">
            <a:xfrm>
              <a:off x="7240905" y="4000498"/>
              <a:ext cx="17145" cy="49530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63" name="Straight Connector 37"/>
            <p:cNvCxnSpPr>
              <a:cxnSpLocks noChangeShapeType="1"/>
              <a:stCxn id="65549" idx="2"/>
              <a:endCxn id="65550" idx="0"/>
            </p:cNvCxnSpPr>
            <p:nvPr/>
          </p:nvCxnSpPr>
          <p:spPr bwMode="auto">
            <a:xfrm flipH="1">
              <a:off x="6248400" y="4957465"/>
              <a:ext cx="1009650" cy="3930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64" name="Straight Connector 39"/>
            <p:cNvCxnSpPr>
              <a:cxnSpLocks noChangeShapeType="1"/>
              <a:stCxn id="65549" idx="2"/>
              <a:endCxn id="65551" idx="0"/>
            </p:cNvCxnSpPr>
            <p:nvPr/>
          </p:nvCxnSpPr>
          <p:spPr bwMode="auto">
            <a:xfrm>
              <a:off x="7258050" y="4957465"/>
              <a:ext cx="845820" cy="37653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5565" name="TextBox 43"/>
            <p:cNvSpPr txBox="1">
              <a:spLocks noChangeArrowheads="1"/>
            </p:cNvSpPr>
            <p:nvPr/>
          </p:nvSpPr>
          <p:spPr bwMode="auto">
            <a:xfrm>
              <a:off x="2514600" y="6167735"/>
              <a:ext cx="1181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rgbClr val="4717CF"/>
                  </a:solidFill>
                </a:rPr>
                <a:t>vàng</a:t>
              </a:r>
            </a:p>
          </p:txBody>
        </p:sp>
        <p:sp>
          <p:nvSpPr>
            <p:cNvPr id="65566" name="TextBox 44"/>
            <p:cNvSpPr txBox="1">
              <a:spLocks noChangeArrowheads="1"/>
            </p:cNvSpPr>
            <p:nvPr/>
          </p:nvSpPr>
          <p:spPr bwMode="auto">
            <a:xfrm>
              <a:off x="4145280" y="6194133"/>
              <a:ext cx="1181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rgbClr val="4717CF"/>
                  </a:solidFill>
                </a:rPr>
                <a:t>gặm</a:t>
              </a:r>
            </a:p>
          </p:txBody>
        </p:sp>
        <p:sp>
          <p:nvSpPr>
            <p:cNvPr id="65567" name="TextBox 45"/>
            <p:cNvSpPr txBox="1">
              <a:spLocks noChangeArrowheads="1"/>
            </p:cNvSpPr>
            <p:nvPr/>
          </p:nvSpPr>
          <p:spPr bwMode="auto">
            <a:xfrm>
              <a:off x="5669280" y="6170347"/>
              <a:ext cx="1181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rgbClr val="4717CF"/>
                  </a:solidFill>
                </a:rPr>
                <a:t>cỏ</a:t>
              </a:r>
            </a:p>
          </p:txBody>
        </p:sp>
        <p:sp>
          <p:nvSpPr>
            <p:cNvPr id="65568" name="TextBox 46"/>
            <p:cNvSpPr txBox="1">
              <a:spLocks noChangeArrowheads="1"/>
            </p:cNvSpPr>
            <p:nvPr/>
          </p:nvSpPr>
          <p:spPr bwMode="auto">
            <a:xfrm>
              <a:off x="7505700" y="6167735"/>
              <a:ext cx="1181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rgbClr val="4717CF"/>
                  </a:solidFill>
                </a:rPr>
                <a:t>non</a:t>
              </a:r>
            </a:p>
          </p:txBody>
        </p:sp>
        <p:cxnSp>
          <p:nvCxnSpPr>
            <p:cNvPr id="65569" name="Straight Connector 47"/>
            <p:cNvCxnSpPr>
              <a:cxnSpLocks noChangeShapeType="1"/>
              <a:stCxn id="65551" idx="2"/>
              <a:endCxn id="65568" idx="0"/>
            </p:cNvCxnSpPr>
            <p:nvPr/>
          </p:nvCxnSpPr>
          <p:spPr bwMode="auto">
            <a:xfrm flipH="1">
              <a:off x="8096250" y="5795665"/>
              <a:ext cx="7620" cy="37207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70" name="Straight Connector 49"/>
            <p:cNvCxnSpPr>
              <a:cxnSpLocks noChangeShapeType="1"/>
              <a:stCxn id="65550" idx="2"/>
              <a:endCxn id="65567" idx="0"/>
            </p:cNvCxnSpPr>
            <p:nvPr/>
          </p:nvCxnSpPr>
          <p:spPr bwMode="auto">
            <a:xfrm>
              <a:off x="6248400" y="5812218"/>
              <a:ext cx="11430" cy="358129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71" name="Straight Connector 51"/>
            <p:cNvCxnSpPr>
              <a:cxnSpLocks noChangeShapeType="1"/>
              <a:stCxn id="65547" idx="2"/>
              <a:endCxn id="65566" idx="0"/>
            </p:cNvCxnSpPr>
            <p:nvPr/>
          </p:nvCxnSpPr>
          <p:spPr bwMode="auto">
            <a:xfrm>
              <a:off x="4705350" y="4000498"/>
              <a:ext cx="30480" cy="219363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72" name="Straight Connector 53"/>
            <p:cNvCxnSpPr>
              <a:cxnSpLocks noChangeShapeType="1"/>
              <a:stCxn id="65554" idx="2"/>
              <a:endCxn id="65565" idx="0"/>
            </p:cNvCxnSpPr>
            <p:nvPr/>
          </p:nvCxnSpPr>
          <p:spPr bwMode="auto">
            <a:xfrm>
              <a:off x="3097530" y="4874563"/>
              <a:ext cx="7620" cy="129317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73" name="Straight Connector 56"/>
            <p:cNvCxnSpPr>
              <a:cxnSpLocks noChangeShapeType="1"/>
              <a:stCxn id="65553" idx="2"/>
              <a:endCxn id="65548" idx="0"/>
            </p:cNvCxnSpPr>
            <p:nvPr/>
          </p:nvCxnSpPr>
          <p:spPr bwMode="auto">
            <a:xfrm flipH="1">
              <a:off x="1215390" y="4891116"/>
              <a:ext cx="3810" cy="131825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B1C2E5-DAEC-4967-9DB4-994C25997933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65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Bộ chữ</a:t>
            </a:r>
          </a:p>
        </p:txBody>
      </p:sp>
      <p:sp>
        <p:nvSpPr>
          <p:cNvPr id="66564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14561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763000" cy="5562600"/>
          </a:xfrm>
        </p:spPr>
        <p:txBody>
          <a:bodyPr/>
          <a:lstStyle/>
          <a:p>
            <a:pPr marL="231775" indent="-231775" eaLnBrk="1" hangingPunct="1">
              <a:lnSpc>
                <a:spcPct val="110000"/>
              </a:lnSpc>
              <a:defRPr/>
            </a:pPr>
            <a:r>
              <a:rPr lang="en-US" altLang="en-US" err="1"/>
              <a:t>Tập</a:t>
            </a:r>
            <a:r>
              <a:rPr lang="en-US" altLang="en-US"/>
              <a:t> </a:t>
            </a:r>
            <a:r>
              <a:rPr lang="en-US" altLang="en-US" err="1"/>
              <a:t>các</a:t>
            </a:r>
            <a:r>
              <a:rPr lang="en-US" altLang="en-US"/>
              <a:t> </a:t>
            </a:r>
            <a:r>
              <a:rPr lang="en-US" altLang="en-US" err="1"/>
              <a:t>thành</a:t>
            </a:r>
            <a:r>
              <a:rPr lang="en-US" altLang="en-US"/>
              <a:t> </a:t>
            </a:r>
            <a:r>
              <a:rPr lang="en-US" altLang="en-US" err="1"/>
              <a:t>phần</a:t>
            </a:r>
            <a:r>
              <a:rPr lang="en-US" altLang="en-US"/>
              <a:t> </a:t>
            </a:r>
            <a:r>
              <a:rPr lang="en-US" altLang="en-US" err="1"/>
              <a:t>được</a:t>
            </a:r>
            <a:r>
              <a:rPr lang="en-US" altLang="en-US"/>
              <a:t> </a:t>
            </a:r>
            <a:r>
              <a:rPr lang="en-US" altLang="en-US" err="1"/>
              <a:t>gọi</a:t>
            </a:r>
            <a:r>
              <a:rPr lang="en-US" altLang="en-US"/>
              <a:t> </a:t>
            </a:r>
            <a:r>
              <a:rPr lang="en-US" altLang="en-US" err="1"/>
              <a:t>là</a:t>
            </a:r>
            <a:r>
              <a:rPr lang="en-US" altLang="en-US"/>
              <a:t> </a:t>
            </a:r>
            <a:r>
              <a:rPr lang="en-US" altLang="en-US" err="1"/>
              <a:t>các</a:t>
            </a:r>
            <a:r>
              <a:rPr lang="en-US" altLang="en-US"/>
              <a:t> </a:t>
            </a:r>
            <a:r>
              <a:rPr lang="en-US" altLang="en-US" err="1"/>
              <a:t>ký</a:t>
            </a:r>
            <a:r>
              <a:rPr lang="en-US" altLang="en-US"/>
              <a:t> </a:t>
            </a:r>
            <a:r>
              <a:rPr lang="en-US" altLang="en-US" err="1"/>
              <a:t>hiệu</a:t>
            </a:r>
            <a:endParaRPr lang="en-US" altLang="en-US"/>
          </a:p>
          <a:p>
            <a:pPr marL="631825" lvl="1" indent="-231775" eaLnBrk="1" hangingPunct="1">
              <a:lnSpc>
                <a:spcPct val="110000"/>
              </a:lnSpc>
              <a:defRPr/>
            </a:pPr>
            <a:r>
              <a:rPr lang="en-US" altLang="en-US" err="1"/>
              <a:t>Trong</a:t>
            </a:r>
            <a:r>
              <a:rPr lang="en-US" altLang="en-US"/>
              <a:t> </a:t>
            </a:r>
            <a:r>
              <a:rPr lang="en-US" altLang="en-US" err="1"/>
              <a:t>thực</a:t>
            </a:r>
            <a:r>
              <a:rPr lang="en-US" altLang="en-US"/>
              <a:t> </a:t>
            </a:r>
            <a:r>
              <a:rPr lang="en-US" altLang="en-US" err="1"/>
              <a:t>tế</a:t>
            </a:r>
            <a:r>
              <a:rPr lang="en-US" altLang="en-US"/>
              <a:t>: </a:t>
            </a:r>
            <a:r>
              <a:rPr lang="en-US" altLang="en-US" err="1"/>
              <a:t>Tập</a:t>
            </a:r>
            <a:r>
              <a:rPr lang="en-US" altLang="en-US"/>
              <a:t> </a:t>
            </a:r>
            <a:r>
              <a:rPr lang="en-US" altLang="en-US" err="1"/>
              <a:t>là</a:t>
            </a:r>
            <a:r>
              <a:rPr lang="en-US" altLang="en-US"/>
              <a:t> </a:t>
            </a:r>
            <a:r>
              <a:rPr lang="en-US" altLang="en-US" err="1"/>
              <a:t>hữu</a:t>
            </a:r>
            <a:r>
              <a:rPr lang="en-US" altLang="en-US"/>
              <a:t> </a:t>
            </a:r>
            <a:r>
              <a:rPr lang="en-US" altLang="en-US" err="1"/>
              <a:t>hạn</a:t>
            </a:r>
            <a:r>
              <a:rPr lang="en-US" altLang="en-US"/>
              <a:t> </a:t>
            </a:r>
            <a:r>
              <a:rPr lang="en-US" altLang="en-US" err="1"/>
              <a:t>và</a:t>
            </a:r>
            <a:r>
              <a:rPr lang="en-US" altLang="en-US"/>
              <a:t> </a:t>
            </a:r>
            <a:r>
              <a:rPr lang="en-US" altLang="en-US" err="1"/>
              <a:t>khác</a:t>
            </a:r>
            <a:r>
              <a:rPr lang="en-US" altLang="en-US"/>
              <a:t> </a:t>
            </a:r>
            <a:r>
              <a:rPr lang="en-US" altLang="en-US" err="1"/>
              <a:t>rỗng</a:t>
            </a:r>
            <a:r>
              <a:rPr lang="en-US" altLang="en-US"/>
              <a:t>.</a:t>
            </a:r>
          </a:p>
          <a:p>
            <a:pPr marL="631825" lvl="1" indent="-231775" eaLnBrk="1" hangingPunct="1">
              <a:lnSpc>
                <a:spcPct val="110000"/>
              </a:lnSpc>
              <a:defRPr/>
            </a:pPr>
            <a:r>
              <a:rPr lang="en-US" altLang="en-US" err="1"/>
              <a:t>Thường</a:t>
            </a:r>
            <a:r>
              <a:rPr lang="en-US" altLang="en-US"/>
              <a:t> </a:t>
            </a:r>
            <a:r>
              <a:rPr lang="en-US" altLang="en-US" err="1"/>
              <a:t>được</a:t>
            </a:r>
            <a:r>
              <a:rPr lang="en-US" altLang="en-US"/>
              <a:t> </a:t>
            </a:r>
            <a:r>
              <a:rPr lang="en-US" altLang="en-US" err="1"/>
              <a:t>ký</a:t>
            </a:r>
            <a:r>
              <a:rPr lang="en-US" altLang="en-US"/>
              <a:t> </a:t>
            </a:r>
            <a:r>
              <a:rPr lang="en-US" altLang="en-US" err="1"/>
              <a:t>hiệu</a:t>
            </a:r>
            <a:r>
              <a:rPr lang="en-US" altLang="en-US"/>
              <a:t> </a:t>
            </a:r>
            <a:r>
              <a:rPr lang="en-US" altLang="en-US" b="1"/>
              <a:t>V</a:t>
            </a:r>
            <a:r>
              <a:rPr lang="en-US" altLang="en-US"/>
              <a:t> (</a:t>
            </a:r>
            <a:r>
              <a:rPr lang="en-US" altLang="en-US" b="1">
                <a:solidFill>
                  <a:srgbClr val="4717CF"/>
                </a:solidFill>
              </a:rPr>
              <a:t>V</a:t>
            </a:r>
            <a:r>
              <a:rPr lang="en-US" altLang="en-US">
                <a:solidFill>
                  <a:srgbClr val="4717CF"/>
                </a:solidFill>
              </a:rPr>
              <a:t>ocabulary</a:t>
            </a:r>
            <a:r>
              <a:rPr lang="en-US" altLang="en-US"/>
              <a:t>)</a:t>
            </a:r>
            <a:r>
              <a:rPr lang="en-US" altLang="en-US">
                <a:sym typeface="Symbol" panose="05050102010706020507" pitchFamily="18" charset="2"/>
              </a:rPr>
              <a:t> </a:t>
            </a:r>
            <a:r>
              <a:rPr lang="en-US" altLang="en-US" err="1">
                <a:sym typeface="Symbol" panose="05050102010706020507" pitchFamily="18" charset="2"/>
              </a:rPr>
              <a:t>hoặc</a:t>
            </a:r>
            <a:r>
              <a:rPr lang="en-US" altLang="en-US">
                <a:sym typeface="Symbol" panose="05050102010706020507" pitchFamily="18" charset="2"/>
              </a:rPr>
              <a:t> </a:t>
            </a:r>
            <a:endParaRPr lang="en-US" altLang="en-US"/>
          </a:p>
          <a:p>
            <a:pPr marL="231775" indent="-231775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en-US" b="1" i="1" u="sng" err="1"/>
              <a:t>Ví</a:t>
            </a:r>
            <a:r>
              <a:rPr lang="en-US" altLang="en-US" b="1" i="1" u="sng"/>
              <a:t> </a:t>
            </a:r>
            <a:r>
              <a:rPr lang="en-US" altLang="en-US" b="1" i="1" u="sng" err="1"/>
              <a:t>dụ</a:t>
            </a:r>
            <a:endParaRPr lang="en-US" altLang="en-US" b="1" i="1" u="sng"/>
          </a:p>
          <a:p>
            <a:pPr marL="739775" lvl="1" indent="-274638" eaLnBrk="1" hangingPunct="1">
              <a:lnSpc>
                <a:spcPct val="110000"/>
              </a:lnSpc>
              <a:defRPr/>
            </a:pPr>
            <a:r>
              <a:rPr lang="en-US" altLang="en-US" err="1"/>
              <a:t>Bảng</a:t>
            </a:r>
            <a:r>
              <a:rPr lang="en-US" altLang="en-US"/>
              <a:t> </a:t>
            </a:r>
            <a:r>
              <a:rPr lang="en-US" altLang="en-US" err="1"/>
              <a:t>chữ</a:t>
            </a:r>
            <a:r>
              <a:rPr lang="en-US" altLang="en-US"/>
              <a:t> </a:t>
            </a:r>
            <a:r>
              <a:rPr lang="en-US" altLang="en-US" err="1"/>
              <a:t>cái</a:t>
            </a:r>
            <a:r>
              <a:rPr lang="en-US" altLang="en-US"/>
              <a:t> </a:t>
            </a:r>
            <a:r>
              <a:rPr lang="en-US" altLang="en-US" err="1"/>
              <a:t>a,b,c</a:t>
            </a:r>
            <a:r>
              <a:rPr lang="en-US" altLang="en-US"/>
              <a:t>…: </a:t>
            </a:r>
          </a:p>
          <a:p>
            <a:pPr marL="1139825" lvl="2" indent="-274638" eaLnBrk="1" hangingPunct="1">
              <a:lnSpc>
                <a:spcPct val="110000"/>
              </a:lnSpc>
              <a:defRPr/>
            </a:pPr>
            <a:r>
              <a:rPr lang="en-US" altLang="en-US" err="1"/>
              <a:t>Bộ</a:t>
            </a:r>
            <a:r>
              <a:rPr lang="en-US" altLang="en-US"/>
              <a:t> </a:t>
            </a:r>
            <a:r>
              <a:rPr lang="en-US" altLang="en-US" err="1"/>
              <a:t>chữ</a:t>
            </a:r>
            <a:r>
              <a:rPr lang="en-US" altLang="en-US"/>
              <a:t> </a:t>
            </a:r>
            <a:r>
              <a:rPr lang="en-US" altLang="en-US" err="1"/>
              <a:t>cái</a:t>
            </a:r>
            <a:r>
              <a:rPr lang="en-US" altLang="en-US"/>
              <a:t> </a:t>
            </a:r>
            <a:r>
              <a:rPr lang="en-US" altLang="en-US" err="1"/>
              <a:t>của</a:t>
            </a:r>
            <a:r>
              <a:rPr lang="en-US" altLang="en-US"/>
              <a:t> </a:t>
            </a:r>
            <a:r>
              <a:rPr lang="en-US" altLang="en-US" err="1"/>
              <a:t>một</a:t>
            </a:r>
            <a:r>
              <a:rPr lang="en-US" altLang="en-US"/>
              <a:t> </a:t>
            </a:r>
            <a:r>
              <a:rPr lang="en-US" altLang="en-US" err="1"/>
              <a:t>ngôn</a:t>
            </a:r>
            <a:r>
              <a:rPr lang="en-US" altLang="en-US"/>
              <a:t> </a:t>
            </a:r>
            <a:r>
              <a:rPr lang="en-US" altLang="en-US" err="1"/>
              <a:t>ngữ</a:t>
            </a:r>
            <a:r>
              <a:rPr lang="en-US" altLang="en-US"/>
              <a:t> </a:t>
            </a:r>
            <a:r>
              <a:rPr lang="en-US" altLang="en-US" err="1"/>
              <a:t>tự</a:t>
            </a:r>
            <a:r>
              <a:rPr lang="en-US" altLang="en-US"/>
              <a:t> </a:t>
            </a:r>
            <a:r>
              <a:rPr lang="en-US" altLang="en-US" err="1"/>
              <a:t>nhiên</a:t>
            </a:r>
            <a:endParaRPr lang="en-US" altLang="en-US"/>
          </a:p>
          <a:p>
            <a:pPr marL="739775" lvl="1" indent="-274638" eaLnBrk="1" hangingPunct="1">
              <a:lnSpc>
                <a:spcPct val="110000"/>
              </a:lnSpc>
              <a:defRPr/>
            </a:pPr>
            <a:r>
              <a:rPr lang="en-US" altLang="en-US" err="1"/>
              <a:t>Bộ</a:t>
            </a:r>
            <a:r>
              <a:rPr lang="en-US" altLang="en-US"/>
              <a:t> </a:t>
            </a:r>
            <a:r>
              <a:rPr lang="en-US" altLang="en-US" err="1"/>
              <a:t>từ</a:t>
            </a:r>
            <a:r>
              <a:rPr lang="en-US" altLang="en-US"/>
              <a:t> </a:t>
            </a:r>
            <a:r>
              <a:rPr lang="en-US" altLang="en-US" err="1"/>
              <a:t>điển</a:t>
            </a:r>
            <a:r>
              <a:rPr lang="en-US" altLang="en-US"/>
              <a:t> </a:t>
            </a:r>
            <a:r>
              <a:rPr lang="en-US" altLang="en-US" err="1"/>
              <a:t>tiếng</a:t>
            </a:r>
            <a:r>
              <a:rPr lang="en-US" altLang="en-US"/>
              <a:t> Anh </a:t>
            </a:r>
          </a:p>
          <a:p>
            <a:pPr marL="1139825" lvl="2" indent="-274638" eaLnBrk="1" hangingPunct="1">
              <a:lnSpc>
                <a:spcPct val="110000"/>
              </a:lnSpc>
              <a:defRPr/>
            </a:pPr>
            <a:r>
              <a:rPr lang="en-US" altLang="en-US" err="1"/>
              <a:t>Bộ</a:t>
            </a:r>
            <a:r>
              <a:rPr lang="en-US" altLang="en-US"/>
              <a:t> </a:t>
            </a:r>
            <a:r>
              <a:rPr lang="en-US" altLang="en-US" err="1"/>
              <a:t>chữ</a:t>
            </a:r>
            <a:r>
              <a:rPr lang="en-US" altLang="en-US"/>
              <a:t> </a:t>
            </a:r>
            <a:r>
              <a:rPr lang="en-US" altLang="en-US" err="1"/>
              <a:t>cái</a:t>
            </a:r>
            <a:r>
              <a:rPr lang="en-US" altLang="en-US"/>
              <a:t> </a:t>
            </a:r>
            <a:r>
              <a:rPr lang="en-US" altLang="en-US" err="1"/>
              <a:t>trong</a:t>
            </a:r>
            <a:r>
              <a:rPr lang="en-US" altLang="en-US"/>
              <a:t> </a:t>
            </a:r>
            <a:r>
              <a:rPr lang="en-US" altLang="en-US" err="1"/>
              <a:t>ngôn</a:t>
            </a:r>
            <a:r>
              <a:rPr lang="en-US" altLang="en-US"/>
              <a:t> </a:t>
            </a:r>
            <a:r>
              <a:rPr lang="en-US" altLang="en-US" err="1"/>
              <a:t>ngữ</a:t>
            </a:r>
            <a:r>
              <a:rPr lang="en-US" altLang="en-US"/>
              <a:t> </a:t>
            </a:r>
            <a:r>
              <a:rPr lang="en-US" altLang="en-US" err="1"/>
              <a:t>tiếng</a:t>
            </a:r>
            <a:r>
              <a:rPr lang="en-US" altLang="en-US"/>
              <a:t> Anh</a:t>
            </a:r>
          </a:p>
          <a:p>
            <a:pPr marL="739775" lvl="1" indent="-274638" eaLnBrk="1" hangingPunct="1">
              <a:lnSpc>
                <a:spcPct val="110000"/>
              </a:lnSpc>
              <a:defRPr/>
            </a:pPr>
            <a:r>
              <a:rPr lang="en-US" altLang="en-US" err="1"/>
              <a:t>Các</a:t>
            </a:r>
            <a:r>
              <a:rPr lang="en-US" altLang="en-US"/>
              <a:t> </a:t>
            </a:r>
            <a:r>
              <a:rPr lang="en-US" altLang="en-US" err="1"/>
              <a:t>từ</a:t>
            </a:r>
            <a:r>
              <a:rPr lang="en-US" altLang="en-US"/>
              <a:t> </a:t>
            </a:r>
            <a:r>
              <a:rPr lang="en-US" altLang="en-US" err="1"/>
              <a:t>khóa</a:t>
            </a:r>
            <a:r>
              <a:rPr lang="en-US" altLang="en-US"/>
              <a:t>, </a:t>
            </a:r>
            <a:r>
              <a:rPr lang="en-US" altLang="en-US" err="1"/>
              <a:t>tên</a:t>
            </a:r>
            <a:r>
              <a:rPr lang="en-US" altLang="en-US"/>
              <a:t>, </a:t>
            </a:r>
            <a:r>
              <a:rPr lang="en-US" altLang="en-US" err="1"/>
              <a:t>ký</a:t>
            </a:r>
            <a:r>
              <a:rPr lang="en-US" altLang="en-US"/>
              <a:t> </a:t>
            </a:r>
            <a:r>
              <a:rPr lang="en-US" altLang="en-US" err="1"/>
              <a:t>hiệu</a:t>
            </a:r>
            <a:r>
              <a:rPr lang="en-US" altLang="en-US"/>
              <a:t>.. </a:t>
            </a:r>
          </a:p>
          <a:p>
            <a:pPr marL="1139825" lvl="2" indent="-274638" eaLnBrk="1" hangingPunct="1">
              <a:lnSpc>
                <a:spcPct val="110000"/>
              </a:lnSpc>
              <a:defRPr/>
            </a:pPr>
            <a:r>
              <a:rPr lang="en-US" altLang="en-US" err="1"/>
              <a:t>Bộ</a:t>
            </a:r>
            <a:r>
              <a:rPr lang="en-US" altLang="en-US"/>
              <a:t> </a:t>
            </a:r>
            <a:r>
              <a:rPr lang="en-US" altLang="en-US" err="1"/>
              <a:t>chữ</a:t>
            </a:r>
            <a:r>
              <a:rPr lang="en-US" altLang="en-US"/>
              <a:t> </a:t>
            </a:r>
            <a:r>
              <a:rPr lang="en-US" altLang="en-US" err="1"/>
              <a:t>của</a:t>
            </a:r>
            <a:r>
              <a:rPr lang="en-US" altLang="en-US"/>
              <a:t> </a:t>
            </a:r>
            <a:r>
              <a:rPr lang="en-US" altLang="en-US" err="1"/>
              <a:t>một</a:t>
            </a:r>
            <a:r>
              <a:rPr lang="en-US" altLang="en-US"/>
              <a:t> </a:t>
            </a:r>
            <a:r>
              <a:rPr lang="en-US" altLang="en-US" err="1"/>
              <a:t>ngôn</a:t>
            </a:r>
            <a:r>
              <a:rPr lang="en-US" altLang="en-US"/>
              <a:t> </a:t>
            </a:r>
            <a:r>
              <a:rPr lang="en-US" altLang="en-US" err="1"/>
              <a:t>ngữ</a:t>
            </a:r>
            <a:r>
              <a:rPr lang="en-US" altLang="en-US"/>
              <a:t> </a:t>
            </a:r>
            <a:r>
              <a:rPr lang="en-US" altLang="en-US" err="1"/>
              <a:t>lập</a:t>
            </a:r>
            <a:r>
              <a:rPr lang="en-US" altLang="en-US"/>
              <a:t> </a:t>
            </a:r>
            <a:r>
              <a:rPr lang="en-US" altLang="en-US" err="1"/>
              <a:t>trình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1456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500"/>
                                        <p:tgtEl>
                                          <p:spTgt spid="1456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500"/>
                                        <p:tgtEl>
                                          <p:spTgt spid="1456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500"/>
                                        <p:tgtEl>
                                          <p:spTgt spid="1456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500"/>
                                        <p:tgtEl>
                                          <p:spTgt spid="14561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500"/>
                                        <p:tgtEl>
                                          <p:spTgt spid="14561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1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500"/>
                                        <p:tgtEl>
                                          <p:spTgt spid="14561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CE470A-93D4-4CEF-B837-38EBF8471799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66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Xâu ký hiệu</a:t>
            </a:r>
          </a:p>
        </p:txBody>
      </p:sp>
      <p:sp>
        <p:nvSpPr>
          <p:cNvPr id="67588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145818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914400"/>
            <a:ext cx="8763000" cy="57150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270076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5087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en-US" dirty="0" err="1"/>
              <a:t>Khái</a:t>
            </a:r>
            <a:r>
              <a:rPr lang="en-US" altLang="en-US" dirty="0"/>
              <a:t> </a:t>
            </a:r>
            <a:r>
              <a:rPr lang="en-US" altLang="en-US" dirty="0" err="1"/>
              <a:t>niệm</a:t>
            </a:r>
            <a:endParaRPr lang="en-US" altLang="en-US" dirty="0"/>
          </a:p>
          <a:p>
            <a:pPr marL="739775" lvl="1" indent="-274638" eaLnBrk="1" hangingPunct="1">
              <a:lnSpc>
                <a:spcPct val="110000"/>
              </a:lnSpc>
              <a:defRPr/>
            </a:pP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dãy</a:t>
            </a:r>
            <a:r>
              <a:rPr lang="en-US" altLang="en-US" dirty="0"/>
              <a:t> </a:t>
            </a:r>
            <a:r>
              <a:rPr lang="en-US" altLang="en-US" dirty="0" err="1"/>
              <a:t>liên</a:t>
            </a:r>
            <a:r>
              <a:rPr lang="en-US" altLang="en-US" dirty="0"/>
              <a:t> </a:t>
            </a:r>
            <a:r>
              <a:rPr lang="en-US" altLang="en-US" dirty="0" err="1"/>
              <a:t>tiếp</a:t>
            </a:r>
            <a:r>
              <a:rPr lang="en-US" altLang="en-US" dirty="0"/>
              <a:t> </a:t>
            </a:r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ký</a:t>
            </a:r>
            <a:r>
              <a:rPr lang="en-US" altLang="en-US" dirty="0"/>
              <a:t> </a:t>
            </a:r>
            <a:r>
              <a:rPr lang="en-US" altLang="en-US" dirty="0" err="1"/>
              <a:t>hiệu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bộ</a:t>
            </a:r>
            <a:r>
              <a:rPr lang="en-US" altLang="en-US" dirty="0"/>
              <a:t> </a:t>
            </a:r>
            <a:r>
              <a:rPr lang="en-US" altLang="en-US" dirty="0" err="1"/>
              <a:t>chữ</a:t>
            </a:r>
            <a:r>
              <a:rPr lang="en-US" altLang="en-US" dirty="0"/>
              <a:t> </a:t>
            </a:r>
          </a:p>
          <a:p>
            <a:pPr marL="1139825" lvl="2" indent="-274638" eaLnBrk="1" hangingPunct="1">
              <a:lnSpc>
                <a:spcPct val="110000"/>
              </a:lnSpc>
              <a:defRPr/>
            </a:pPr>
            <a:r>
              <a:rPr lang="en-US" altLang="en-US" dirty="0"/>
              <a:t>Được </a:t>
            </a:r>
            <a:r>
              <a:rPr lang="en-US" altLang="en-US" dirty="0" err="1"/>
              <a:t>gọi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xâu</a:t>
            </a:r>
            <a:r>
              <a:rPr lang="en-US" altLang="en-US" dirty="0"/>
              <a:t> </a:t>
            </a:r>
            <a:r>
              <a:rPr lang="en-US" altLang="en-US" dirty="0" err="1"/>
              <a:t>trên</a:t>
            </a:r>
            <a:r>
              <a:rPr lang="en-US" altLang="en-US" dirty="0"/>
              <a:t> </a:t>
            </a:r>
            <a:r>
              <a:rPr lang="en-US" altLang="en-US" dirty="0" err="1"/>
              <a:t>bộ</a:t>
            </a:r>
            <a:r>
              <a:rPr lang="en-US" altLang="en-US" dirty="0"/>
              <a:t> </a:t>
            </a:r>
            <a:r>
              <a:rPr lang="en-US" altLang="en-US" dirty="0" err="1"/>
              <a:t>chữ</a:t>
            </a:r>
            <a:r>
              <a:rPr lang="en-US" altLang="en-US" dirty="0"/>
              <a:t> </a:t>
            </a:r>
            <a:r>
              <a:rPr lang="en-US" altLang="en-US" dirty="0" err="1"/>
              <a:t>đó</a:t>
            </a:r>
            <a:endParaRPr lang="en-US" altLang="en-US" dirty="0"/>
          </a:p>
          <a:p>
            <a:pPr marL="1139825" lvl="2" indent="-274638" eaLnBrk="1" hangingPunct="1">
              <a:lnSpc>
                <a:spcPct val="110000"/>
              </a:lnSpc>
              <a:defRPr/>
            </a:pPr>
            <a:r>
              <a:rPr lang="en-US" altLang="en-US" dirty="0"/>
              <a:t>Thường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ký</a:t>
            </a:r>
            <a:r>
              <a:rPr lang="en-US" altLang="en-US" dirty="0"/>
              <a:t> </a:t>
            </a:r>
            <a:r>
              <a:rPr lang="en-US" altLang="en-US" dirty="0" err="1"/>
              <a:t>hiệu</a:t>
            </a:r>
            <a:r>
              <a:rPr lang="en-US" altLang="en-US" dirty="0"/>
              <a:t> </a:t>
            </a:r>
            <a:r>
              <a:rPr lang="el-GR" altLang="en-US" b="1" dirty="0">
                <a:cs typeface="Arial" panose="020B0604020202020204" pitchFamily="34" charset="0"/>
              </a:rPr>
              <a:t>α</a:t>
            </a:r>
            <a:r>
              <a:rPr lang="en-US" altLang="en-US" dirty="0">
                <a:cs typeface="Arial" panose="020B0604020202020204" pitchFamily="34" charset="0"/>
              </a:rPr>
              <a:t>, </a:t>
            </a:r>
            <a:r>
              <a:rPr lang="el-GR" altLang="en-US" b="1" dirty="0">
                <a:cs typeface="Arial" panose="020B0604020202020204" pitchFamily="34" charset="0"/>
              </a:rPr>
              <a:t>β</a:t>
            </a:r>
            <a:r>
              <a:rPr lang="en-US" altLang="en-US" dirty="0">
                <a:cs typeface="Arial" panose="020B0604020202020204" pitchFamily="34" charset="0"/>
              </a:rPr>
              <a:t>, </a:t>
            </a:r>
            <a:r>
              <a:rPr lang="el-GR" altLang="en-US" b="1" dirty="0">
                <a:cs typeface="Arial" panose="020B0604020202020204" pitchFamily="34" charset="0"/>
              </a:rPr>
              <a:t>γ</a:t>
            </a:r>
            <a:r>
              <a:rPr lang="en-US" altLang="en-US" dirty="0">
                <a:cs typeface="Arial" panose="020B0604020202020204" pitchFamily="34" charset="0"/>
              </a:rPr>
              <a:t>,..</a:t>
            </a:r>
          </a:p>
          <a:p>
            <a:pPr marL="739775" lvl="1" indent="-274638" eaLnBrk="1" hangingPunct="1">
              <a:lnSpc>
                <a:spcPct val="110000"/>
              </a:lnSpc>
              <a:defRPr/>
            </a:pPr>
            <a:r>
              <a:rPr lang="en-US" altLang="en-US" dirty="0">
                <a:cs typeface="Arial" panose="020B0604020202020204" pitchFamily="34" charset="0"/>
              </a:rPr>
              <a:t>Xâu </a:t>
            </a:r>
            <a:r>
              <a:rPr lang="en-US" altLang="en-US" dirty="0" err="1">
                <a:cs typeface="Arial" panose="020B0604020202020204" pitchFamily="34" charset="0"/>
              </a:rPr>
              <a:t>rỗng</a:t>
            </a:r>
            <a:r>
              <a:rPr lang="en-US" altLang="en-US" dirty="0">
                <a:cs typeface="Arial" panose="020B0604020202020204" pitchFamily="34" charset="0"/>
              </a:rPr>
              <a:t>: </a:t>
            </a:r>
            <a:r>
              <a:rPr lang="en-US" altLang="en-US" dirty="0" err="1">
                <a:cs typeface="Arial" panose="020B0604020202020204" pitchFamily="34" charset="0"/>
              </a:rPr>
              <a:t>xâu</a:t>
            </a:r>
            <a:r>
              <a:rPr lang="en-US" altLang="en-US" dirty="0">
                <a:cs typeface="Arial" panose="020B0604020202020204" pitchFamily="34" charset="0"/>
              </a:rPr>
              <a:t> </a:t>
            </a:r>
            <a:r>
              <a:rPr lang="en-US" altLang="en-US" dirty="0" err="1">
                <a:cs typeface="Arial" panose="020B0604020202020204" pitchFamily="34" charset="0"/>
              </a:rPr>
              <a:t>không</a:t>
            </a:r>
            <a:r>
              <a:rPr lang="en-US" altLang="en-US" dirty="0">
                <a:cs typeface="Arial" panose="020B0604020202020204" pitchFamily="34" charset="0"/>
              </a:rPr>
              <a:t> </a:t>
            </a:r>
            <a:r>
              <a:rPr lang="en-US" altLang="en-US" dirty="0" err="1">
                <a:cs typeface="Arial" panose="020B0604020202020204" pitchFamily="34" charset="0"/>
              </a:rPr>
              <a:t>chứa</a:t>
            </a:r>
            <a:r>
              <a:rPr lang="en-US" altLang="en-US" dirty="0">
                <a:cs typeface="Arial" panose="020B0604020202020204" pitchFamily="34" charset="0"/>
              </a:rPr>
              <a:t> </a:t>
            </a:r>
            <a:r>
              <a:rPr lang="en-US" altLang="en-US" dirty="0" err="1">
                <a:cs typeface="Arial" panose="020B0604020202020204" pitchFamily="34" charset="0"/>
              </a:rPr>
              <a:t>ký</a:t>
            </a:r>
            <a:r>
              <a:rPr lang="en-US" altLang="en-US" dirty="0">
                <a:cs typeface="Arial" panose="020B0604020202020204" pitchFamily="34" charset="0"/>
              </a:rPr>
              <a:t> </a:t>
            </a:r>
            <a:r>
              <a:rPr lang="en-US" altLang="en-US" dirty="0" err="1">
                <a:cs typeface="Arial" panose="020B0604020202020204" pitchFamily="34" charset="0"/>
              </a:rPr>
              <a:t>hiệu</a:t>
            </a:r>
            <a:r>
              <a:rPr lang="en-US" altLang="en-US" dirty="0">
                <a:cs typeface="Arial" panose="020B0604020202020204" pitchFamily="34" charset="0"/>
              </a:rPr>
              <a:t> </a:t>
            </a:r>
            <a:r>
              <a:rPr lang="en-US" altLang="en-US" dirty="0" err="1">
                <a:cs typeface="Arial" panose="020B0604020202020204" pitchFamily="34" charset="0"/>
              </a:rPr>
              <a:t>nào</a:t>
            </a:r>
            <a:endParaRPr lang="en-US" altLang="en-US" dirty="0">
              <a:cs typeface="Arial" panose="020B0604020202020204" pitchFamily="34" charset="0"/>
            </a:endParaRPr>
          </a:p>
          <a:p>
            <a:pPr marL="1422400" lvl="2" indent="-333375" eaLnBrk="1" hangingPunct="1">
              <a:lnSpc>
                <a:spcPct val="110000"/>
              </a:lnSpc>
              <a:defRPr/>
            </a:pPr>
            <a:r>
              <a:rPr lang="en-US" altLang="en-US" dirty="0">
                <a:cs typeface="Arial" panose="020B0604020202020204" pitchFamily="34" charset="0"/>
              </a:rPr>
              <a:t>Thường </a:t>
            </a:r>
            <a:r>
              <a:rPr lang="en-US" altLang="en-US" dirty="0" err="1">
                <a:cs typeface="Arial" panose="020B0604020202020204" pitchFamily="34" charset="0"/>
              </a:rPr>
              <a:t>được</a:t>
            </a:r>
            <a:r>
              <a:rPr lang="en-US" altLang="en-US" dirty="0">
                <a:cs typeface="Arial" panose="020B0604020202020204" pitchFamily="34" charset="0"/>
              </a:rPr>
              <a:t> </a:t>
            </a:r>
            <a:r>
              <a:rPr lang="en-US" altLang="en-US" dirty="0" err="1">
                <a:cs typeface="Arial" panose="020B0604020202020204" pitchFamily="34" charset="0"/>
              </a:rPr>
              <a:t>ký</a:t>
            </a:r>
            <a:r>
              <a:rPr lang="en-US" altLang="en-US" dirty="0">
                <a:cs typeface="Arial" panose="020B0604020202020204" pitchFamily="34" charset="0"/>
              </a:rPr>
              <a:t> </a:t>
            </a:r>
            <a:r>
              <a:rPr lang="en-US" altLang="en-US" dirty="0" err="1">
                <a:cs typeface="Arial" panose="020B0604020202020204" pitchFamily="34" charset="0"/>
              </a:rPr>
              <a:t>hiệu</a:t>
            </a:r>
            <a:r>
              <a:rPr lang="en-US" altLang="en-US" dirty="0">
                <a:cs typeface="Arial" panose="020B0604020202020204" pitchFamily="34" charset="0"/>
              </a:rPr>
              <a:t> </a:t>
            </a:r>
            <a:r>
              <a:rPr lang="el-GR" altLang="en-US" dirty="0">
                <a:cs typeface="Arial" panose="020B0604020202020204" pitchFamily="34" charset="0"/>
              </a:rPr>
              <a:t>ε</a:t>
            </a:r>
          </a:p>
          <a:p>
            <a:pPr marL="231775" indent="-231775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en-US" b="1" i="1" u="sng" dirty="0" err="1"/>
              <a:t>Ví</a:t>
            </a:r>
            <a:r>
              <a:rPr lang="en-US" altLang="en-US" b="1" i="1" u="sng" dirty="0"/>
              <a:t> </a:t>
            </a:r>
            <a:r>
              <a:rPr lang="en-US" altLang="en-US" b="1" i="1" u="sng" dirty="0" err="1"/>
              <a:t>dụ</a:t>
            </a:r>
            <a:endParaRPr lang="en-US" altLang="en-US" b="1" i="1" u="sng" dirty="0"/>
          </a:p>
          <a:p>
            <a:pPr marL="739775" lvl="1" indent="-274638" eaLnBrk="1" hangingPunct="1">
              <a:lnSpc>
                <a:spcPct val="110000"/>
              </a:lnSpc>
              <a:defRPr/>
            </a:pPr>
            <a:r>
              <a:rPr lang="el-GR" altLang="en-US" b="1" dirty="0">
                <a:cs typeface="Arial" panose="020B0604020202020204" pitchFamily="34" charset="0"/>
              </a:rPr>
              <a:t>α</a:t>
            </a:r>
            <a:r>
              <a:rPr lang="en-US" altLang="en-US" dirty="0">
                <a:solidFill>
                  <a:srgbClr val="DF3507"/>
                </a:solidFill>
              </a:rPr>
              <a:t> : Madam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dirty="0" err="1">
                <a:sym typeface="Symbol" panose="05050102010706020507" pitchFamily="18" charset="2"/>
              </a:rPr>
              <a:t>Xâu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ym typeface="Symbol" panose="05050102010706020507" pitchFamily="18" charset="2"/>
              </a:rPr>
              <a:t>trên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ym typeface="Symbol" panose="05050102010706020507" pitchFamily="18" charset="2"/>
              </a:rPr>
              <a:t>bảng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ym typeface="Symbol" panose="05050102010706020507" pitchFamily="18" charset="2"/>
              </a:rPr>
              <a:t>chữ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ym typeface="Symbol" panose="05050102010706020507" pitchFamily="18" charset="2"/>
              </a:rPr>
              <a:t>cái</a:t>
            </a:r>
            <a:r>
              <a:rPr lang="en-US" altLang="en-US" dirty="0">
                <a:sym typeface="Symbol" panose="05050102010706020507" pitchFamily="18" charset="2"/>
              </a:rPr>
              <a:t> a, b, c,..</a:t>
            </a:r>
          </a:p>
          <a:p>
            <a:pPr marL="739775" lvl="1" indent="-274638" eaLnBrk="1" hangingPunct="1">
              <a:lnSpc>
                <a:spcPct val="110000"/>
              </a:lnSpc>
              <a:defRPr/>
            </a:pPr>
            <a:r>
              <a:rPr lang="el-GR" altLang="en-US" b="1" dirty="0">
                <a:cs typeface="Arial" panose="020B0604020202020204" pitchFamily="34" charset="0"/>
              </a:rPr>
              <a:t>β</a:t>
            </a:r>
            <a:r>
              <a:rPr lang="en-US" altLang="en-US" dirty="0">
                <a:solidFill>
                  <a:srgbClr val="DF3507"/>
                </a:solidFill>
              </a:rPr>
              <a:t> : </a:t>
            </a:r>
            <a:r>
              <a:rPr lang="en-US" altLang="en-US" dirty="0" err="1">
                <a:solidFill>
                  <a:srgbClr val="DF3507"/>
                </a:solidFill>
              </a:rPr>
              <a:t>Hôm_nay</a:t>
            </a:r>
            <a:r>
              <a:rPr lang="en-US" altLang="en-US" dirty="0">
                <a:solidFill>
                  <a:srgbClr val="DF3507"/>
                </a:solidFill>
              </a:rPr>
              <a:t> </a:t>
            </a:r>
            <a:r>
              <a:rPr lang="en-US" altLang="en-US" dirty="0" err="1">
                <a:solidFill>
                  <a:srgbClr val="DF3507"/>
                </a:solidFill>
              </a:rPr>
              <a:t>trời</a:t>
            </a:r>
            <a:r>
              <a:rPr lang="en-US" altLang="en-US" dirty="0">
                <a:solidFill>
                  <a:srgbClr val="DF3507"/>
                </a:solidFill>
              </a:rPr>
              <a:t> </a:t>
            </a:r>
            <a:r>
              <a:rPr lang="en-US" altLang="en-US" dirty="0" err="1">
                <a:solidFill>
                  <a:srgbClr val="DF3507"/>
                </a:solidFill>
              </a:rPr>
              <a:t>đẹp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/>
              <a:t> </a:t>
            </a:r>
            <a:r>
              <a:rPr lang="en-US" altLang="en-US" dirty="0" err="1">
                <a:sym typeface="Symbol" panose="05050102010706020507" pitchFamily="18" charset="2"/>
              </a:rPr>
              <a:t>Xâu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ym typeface="Symbol" panose="05050102010706020507" pitchFamily="18" charset="2"/>
              </a:rPr>
              <a:t>trong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ym typeface="Symbol" panose="05050102010706020507" pitchFamily="18" charset="2"/>
              </a:rPr>
              <a:t>tiếng</a:t>
            </a:r>
            <a:r>
              <a:rPr lang="en-US" altLang="en-US" dirty="0">
                <a:sym typeface="Symbol" panose="05050102010706020507" pitchFamily="18" charset="2"/>
              </a:rPr>
              <a:t> Việt</a:t>
            </a:r>
            <a:endParaRPr lang="en-US" altLang="en-US" dirty="0"/>
          </a:p>
          <a:p>
            <a:pPr marL="739775" lvl="1" indent="-274638" eaLnBrk="1" hangingPunct="1">
              <a:lnSpc>
                <a:spcPct val="110000"/>
              </a:lnSpc>
              <a:defRPr/>
            </a:pPr>
            <a:r>
              <a:rPr lang="el-GR" altLang="en-US" b="1" dirty="0">
                <a:cs typeface="Arial" panose="020B0604020202020204" pitchFamily="34" charset="0"/>
              </a:rPr>
              <a:t>γ</a:t>
            </a:r>
            <a:r>
              <a:rPr lang="en-US" altLang="en-US" dirty="0">
                <a:solidFill>
                  <a:srgbClr val="DF3507"/>
                </a:solidFill>
              </a:rPr>
              <a:t> : while (a &gt; b) a = a – b;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dirty="0" err="1">
                <a:sym typeface="Symbol" panose="05050102010706020507" pitchFamily="18" charset="2"/>
              </a:rPr>
              <a:t>Xâu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 err="1">
                <a:sym typeface="Symbol" panose="05050102010706020507" pitchFamily="18" charset="2"/>
              </a:rPr>
              <a:t>trong</a:t>
            </a:r>
            <a:r>
              <a:rPr lang="en-US" altLang="en-US" dirty="0">
                <a:sym typeface="Symbol" panose="05050102010706020507" pitchFamily="18" charset="2"/>
              </a:rPr>
              <a:t> NNLT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458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1458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1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500"/>
                                        <p:tgtEl>
                                          <p:spTgt spid="14581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1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500"/>
                                        <p:tgtEl>
                                          <p:spTgt spid="14581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DA34C5-A44B-4DE7-9FDD-D9A9CDD5A388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67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Xâu ký hiệu</a:t>
            </a:r>
          </a:p>
        </p:txBody>
      </p:sp>
      <p:sp>
        <p:nvSpPr>
          <p:cNvPr id="68612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146125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777875"/>
            <a:ext cx="8763000" cy="6019800"/>
          </a:xfrm>
        </p:spPr>
        <p:txBody>
          <a:bodyPr/>
          <a:lstStyle/>
          <a:p>
            <a:pPr marL="231775" indent="-231775" eaLnBrk="1" hangingPunct="1">
              <a:lnSpc>
                <a:spcPct val="110000"/>
              </a:lnSpc>
              <a:defRPr/>
            </a:pPr>
            <a:r>
              <a:rPr lang="en-US" altLang="en-US" sz="2800" err="1"/>
              <a:t>Độ</a:t>
            </a:r>
            <a:r>
              <a:rPr lang="en-US" altLang="en-US" sz="2800"/>
              <a:t> </a:t>
            </a:r>
            <a:r>
              <a:rPr lang="en-US" altLang="en-US" sz="2800" err="1"/>
              <a:t>dài</a:t>
            </a:r>
            <a:r>
              <a:rPr lang="en-US" altLang="en-US" sz="2800"/>
              <a:t> </a:t>
            </a:r>
            <a:r>
              <a:rPr lang="en-US" altLang="en-US" sz="2800" err="1"/>
              <a:t>xâu</a:t>
            </a:r>
            <a:endParaRPr lang="en-US" altLang="en-US" sz="2800"/>
          </a:p>
          <a:p>
            <a:pPr marL="739775" lvl="1" indent="-274638" eaLnBrk="1" hangingPunct="1">
              <a:lnSpc>
                <a:spcPct val="110000"/>
              </a:lnSpc>
              <a:defRPr/>
            </a:pPr>
            <a:r>
              <a:rPr lang="en-US" altLang="en-US" sz="2400" err="1"/>
              <a:t>Số</a:t>
            </a:r>
            <a:r>
              <a:rPr lang="en-US" altLang="en-US" sz="2400"/>
              <a:t> </a:t>
            </a:r>
            <a:r>
              <a:rPr lang="en-US" altLang="en-US" sz="2400" err="1"/>
              <a:t>ký</a:t>
            </a:r>
            <a:r>
              <a:rPr lang="en-US" altLang="en-US" sz="2400"/>
              <a:t> </a:t>
            </a:r>
            <a:r>
              <a:rPr lang="en-US" altLang="en-US" sz="2400" err="1"/>
              <a:t>hiệu</a:t>
            </a:r>
            <a:r>
              <a:rPr lang="en-US" altLang="en-US" sz="2400"/>
              <a:t> </a:t>
            </a:r>
            <a:r>
              <a:rPr lang="en-US" altLang="en-US" sz="2400" err="1"/>
              <a:t>trong</a:t>
            </a:r>
            <a:r>
              <a:rPr lang="en-US" altLang="en-US" sz="2400"/>
              <a:t> </a:t>
            </a:r>
            <a:r>
              <a:rPr lang="en-US" altLang="en-US" sz="2400" err="1"/>
              <a:t>xâu</a:t>
            </a:r>
            <a:r>
              <a:rPr lang="en-US" altLang="en-US" sz="2400"/>
              <a:t> </a:t>
            </a:r>
            <a:r>
              <a:rPr lang="en-US" altLang="en-US" sz="2400" err="1"/>
              <a:t>đó</a:t>
            </a:r>
            <a:endParaRPr lang="en-US" altLang="en-US" sz="2400"/>
          </a:p>
          <a:p>
            <a:pPr marL="739775" lvl="1" indent="-274638" eaLnBrk="1" hangingPunct="1">
              <a:lnSpc>
                <a:spcPct val="110000"/>
              </a:lnSpc>
              <a:defRPr/>
            </a:pPr>
            <a:r>
              <a:rPr lang="en-US" altLang="en-US" sz="2400" err="1"/>
              <a:t>Thường</a:t>
            </a:r>
            <a:r>
              <a:rPr lang="en-US" altLang="en-US" sz="2400"/>
              <a:t> </a:t>
            </a:r>
            <a:r>
              <a:rPr lang="en-US" altLang="en-US" sz="2400" err="1"/>
              <a:t>được</a:t>
            </a:r>
            <a:r>
              <a:rPr lang="en-US" altLang="en-US" sz="2400"/>
              <a:t> </a:t>
            </a:r>
            <a:r>
              <a:rPr lang="en-US" altLang="en-US" sz="2400" err="1"/>
              <a:t>ký</a:t>
            </a:r>
            <a:r>
              <a:rPr lang="en-US" altLang="en-US" sz="2400"/>
              <a:t> </a:t>
            </a:r>
            <a:r>
              <a:rPr lang="en-US" altLang="en-US" sz="2400" err="1"/>
              <a:t>hiệu</a:t>
            </a:r>
            <a:r>
              <a:rPr lang="en-US" altLang="en-US" sz="2400"/>
              <a:t> |</a:t>
            </a:r>
            <a:r>
              <a:rPr lang="el-GR" altLang="en-US" sz="2400">
                <a:cs typeface="Arial" panose="020B0604020202020204" pitchFamily="34" charset="0"/>
              </a:rPr>
              <a:t>α</a:t>
            </a:r>
            <a:r>
              <a:rPr lang="en-US" altLang="en-US" sz="2400"/>
              <a:t>| hay l(</a:t>
            </a:r>
            <a:r>
              <a:rPr lang="el-GR" altLang="en-US" sz="2400">
                <a:cs typeface="Arial" panose="020B0604020202020204" pitchFamily="34" charset="0"/>
              </a:rPr>
              <a:t>α</a:t>
            </a:r>
            <a:r>
              <a:rPr lang="en-US" altLang="en-US" sz="2400">
                <a:cs typeface="Arial" panose="020B0604020202020204" pitchFamily="34" charset="0"/>
              </a:rPr>
              <a:t>)</a:t>
            </a:r>
            <a:endParaRPr lang="en-US" altLang="en-US" sz="2400"/>
          </a:p>
          <a:p>
            <a:pPr marL="739775" lvl="1" indent="-274638" eaLnBrk="1" hangingPunct="1">
              <a:lnSpc>
                <a:spcPct val="110000"/>
              </a:lnSpc>
              <a:defRPr/>
            </a:pPr>
            <a:r>
              <a:rPr lang="en-US" altLang="en-US" sz="2400" err="1"/>
              <a:t>Ví</a:t>
            </a:r>
            <a:r>
              <a:rPr lang="en-US" altLang="en-US" sz="2400"/>
              <a:t> </a:t>
            </a:r>
            <a:r>
              <a:rPr lang="en-US" altLang="en-US" sz="2400" err="1"/>
              <a:t>dụ</a:t>
            </a:r>
            <a:r>
              <a:rPr lang="en-US" altLang="en-US" sz="2400"/>
              <a:t>:		l(</a:t>
            </a:r>
            <a:r>
              <a:rPr lang="el-GR" altLang="en-US" sz="2400">
                <a:cs typeface="Arial" panose="020B0604020202020204" pitchFamily="34" charset="0"/>
              </a:rPr>
              <a:t>α</a:t>
            </a:r>
            <a:r>
              <a:rPr lang="en-US" altLang="en-US" sz="2400">
                <a:cs typeface="Arial" panose="020B0604020202020204" pitchFamily="34" charset="0"/>
              </a:rPr>
              <a:t>) = 5		l(</a:t>
            </a:r>
            <a:r>
              <a:rPr lang="el-GR" altLang="en-US" sz="2400">
                <a:cs typeface="Arial" panose="020B0604020202020204" pitchFamily="34" charset="0"/>
              </a:rPr>
              <a:t>β</a:t>
            </a:r>
            <a:r>
              <a:rPr lang="en-US" altLang="en-US" sz="2400">
                <a:cs typeface="Arial" panose="020B0604020202020204" pitchFamily="34" charset="0"/>
              </a:rPr>
              <a:t>)= 3</a:t>
            </a:r>
          </a:p>
          <a:p>
            <a:pPr marL="739775" lvl="1" indent="-274638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en-US" sz="2400">
                <a:cs typeface="Arial" panose="020B0604020202020204" pitchFamily="34" charset="0"/>
              </a:rPr>
              <a:t>				l(</a:t>
            </a:r>
            <a:r>
              <a:rPr lang="el-GR" altLang="en-US" sz="2400">
                <a:cs typeface="Arial" panose="020B0604020202020204" pitchFamily="34" charset="0"/>
              </a:rPr>
              <a:t>γ</a:t>
            </a:r>
            <a:r>
              <a:rPr lang="en-US" altLang="en-US" sz="2400">
                <a:cs typeface="Arial" panose="020B0604020202020204" pitchFamily="34" charset="0"/>
              </a:rPr>
              <a:t>)</a:t>
            </a:r>
            <a:r>
              <a:rPr lang="el-GR" altLang="en-US" sz="2400">
                <a:cs typeface="Arial" panose="020B0604020202020204" pitchFamily="34" charset="0"/>
              </a:rPr>
              <a:t> </a:t>
            </a:r>
            <a:r>
              <a:rPr lang="en-US" altLang="en-US" sz="2400">
                <a:cs typeface="Arial" panose="020B0604020202020204" pitchFamily="34" charset="0"/>
              </a:rPr>
              <a:t>= 	12		</a:t>
            </a:r>
            <a:r>
              <a:rPr lang="en-US" altLang="en-US" sz="2400"/>
              <a:t>l(</a:t>
            </a:r>
            <a:r>
              <a:rPr lang="el-GR" altLang="en-US" sz="2400">
                <a:cs typeface="Arial" panose="020B0604020202020204" pitchFamily="34" charset="0"/>
              </a:rPr>
              <a:t>ε</a:t>
            </a:r>
            <a:r>
              <a:rPr lang="en-US" altLang="en-US" sz="2400">
                <a:cs typeface="Arial" panose="020B0604020202020204" pitchFamily="34" charset="0"/>
              </a:rPr>
              <a:t>) = 0</a:t>
            </a:r>
            <a:endParaRPr lang="el-GR" altLang="en-US" sz="2400">
              <a:cs typeface="Arial" panose="020B0604020202020204" pitchFamily="34" charset="0"/>
            </a:endParaRPr>
          </a:p>
          <a:p>
            <a:pPr marL="231775" indent="-231775"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en-US" altLang="en-US" sz="2800" err="1"/>
              <a:t>Đảo</a:t>
            </a:r>
            <a:r>
              <a:rPr lang="en-US" altLang="en-US" sz="2800"/>
              <a:t> </a:t>
            </a:r>
            <a:r>
              <a:rPr lang="en-US" altLang="en-US" sz="2800" err="1"/>
              <a:t>ngược</a:t>
            </a:r>
            <a:r>
              <a:rPr lang="en-US" altLang="en-US" sz="2800"/>
              <a:t> </a:t>
            </a:r>
            <a:r>
              <a:rPr lang="en-US" altLang="en-US" sz="2800" err="1"/>
              <a:t>xâu</a:t>
            </a:r>
            <a:endParaRPr lang="en-US" altLang="en-US" sz="2800"/>
          </a:p>
          <a:p>
            <a:pPr marL="739775" lvl="1" indent="-274638" eaLnBrk="1" hangingPunct="1">
              <a:lnSpc>
                <a:spcPct val="110000"/>
              </a:lnSpc>
              <a:defRPr/>
            </a:pPr>
            <a:r>
              <a:rPr lang="en-US" altLang="en-US" sz="2400" err="1"/>
              <a:t>Đảo</a:t>
            </a:r>
            <a:r>
              <a:rPr lang="en-US" altLang="en-US" sz="2400"/>
              <a:t> </a:t>
            </a:r>
            <a:r>
              <a:rPr lang="en-US" altLang="en-US" sz="2400" err="1"/>
              <a:t>ngược</a:t>
            </a:r>
            <a:r>
              <a:rPr lang="en-US" altLang="en-US" sz="2400"/>
              <a:t> </a:t>
            </a:r>
            <a:r>
              <a:rPr lang="en-US" altLang="en-US" sz="2400" err="1"/>
              <a:t>xâu</a:t>
            </a:r>
            <a:r>
              <a:rPr lang="en-US" altLang="en-US" sz="2400"/>
              <a:t> </a:t>
            </a:r>
            <a:r>
              <a:rPr lang="el-GR" altLang="en-US" sz="2400" b="1" i="1">
                <a:solidFill>
                  <a:srgbClr val="DF3507"/>
                </a:solidFill>
                <a:cs typeface="Arial" panose="020B0604020202020204" pitchFamily="34" charset="0"/>
              </a:rPr>
              <a:t>α</a:t>
            </a:r>
            <a:r>
              <a:rPr lang="en-US" altLang="en-US" sz="2400">
                <a:cs typeface="Arial" panose="020B0604020202020204" pitchFamily="34" charset="0"/>
              </a:rPr>
              <a:t>, (</a:t>
            </a:r>
            <a:r>
              <a:rPr lang="en-US" altLang="en-US" sz="2400" err="1">
                <a:cs typeface="Arial" panose="020B0604020202020204" pitchFamily="34" charset="0"/>
              </a:rPr>
              <a:t>ký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hiệu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là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l-GR" altLang="en-US" sz="2400" b="1" i="1">
                <a:solidFill>
                  <a:srgbClr val="DF3507"/>
                </a:solidFill>
                <a:cs typeface="Arial" panose="020B0604020202020204" pitchFamily="34" charset="0"/>
              </a:rPr>
              <a:t>α</a:t>
            </a:r>
            <a:r>
              <a:rPr lang="en-US" altLang="en-US" sz="2400" b="1" i="1" baseline="30000">
                <a:solidFill>
                  <a:srgbClr val="DF3507"/>
                </a:solidFill>
                <a:cs typeface="Arial" panose="020B0604020202020204" pitchFamily="34" charset="0"/>
              </a:rPr>
              <a:t>R</a:t>
            </a:r>
            <a:r>
              <a:rPr lang="en-US" altLang="en-US" sz="2400">
                <a:cs typeface="Arial" panose="020B0604020202020204" pitchFamily="34" charset="0"/>
              </a:rPr>
              <a:t>)</a:t>
            </a:r>
          </a:p>
          <a:p>
            <a:pPr marL="1139825" lvl="2" indent="-274638" eaLnBrk="1" hangingPunct="1">
              <a:lnSpc>
                <a:spcPct val="110000"/>
              </a:lnSpc>
              <a:defRPr/>
            </a:pPr>
            <a:r>
              <a:rPr lang="en-US" altLang="en-US" sz="2000" err="1">
                <a:cs typeface="Arial" panose="020B0604020202020204" pitchFamily="34" charset="0"/>
              </a:rPr>
              <a:t>Viết</a:t>
            </a:r>
            <a:r>
              <a:rPr lang="en-US" altLang="en-US" sz="2000">
                <a:cs typeface="Arial" panose="020B0604020202020204" pitchFamily="34" charset="0"/>
              </a:rPr>
              <a:t> </a:t>
            </a:r>
            <a:r>
              <a:rPr lang="en-US" altLang="en-US" sz="2000" err="1">
                <a:cs typeface="Arial" panose="020B0604020202020204" pitchFamily="34" charset="0"/>
              </a:rPr>
              <a:t>các</a:t>
            </a:r>
            <a:r>
              <a:rPr lang="en-US" altLang="en-US" sz="2000">
                <a:cs typeface="Arial" panose="020B0604020202020204" pitchFamily="34" charset="0"/>
              </a:rPr>
              <a:t> </a:t>
            </a:r>
            <a:r>
              <a:rPr lang="en-US" altLang="en-US" sz="2000" err="1">
                <a:cs typeface="Arial" panose="020B0604020202020204" pitchFamily="34" charset="0"/>
              </a:rPr>
              <a:t>ký</a:t>
            </a:r>
            <a:r>
              <a:rPr lang="en-US" altLang="en-US" sz="2000">
                <a:cs typeface="Arial" panose="020B0604020202020204" pitchFamily="34" charset="0"/>
              </a:rPr>
              <a:t> </a:t>
            </a:r>
            <a:r>
              <a:rPr lang="en-US" altLang="en-US" sz="2000" err="1">
                <a:cs typeface="Arial" panose="020B0604020202020204" pitchFamily="34" charset="0"/>
              </a:rPr>
              <a:t>hiệu</a:t>
            </a:r>
            <a:r>
              <a:rPr lang="en-US" altLang="en-US" sz="2000">
                <a:cs typeface="Arial" panose="020B0604020202020204" pitchFamily="34" charset="0"/>
              </a:rPr>
              <a:t> </a:t>
            </a:r>
            <a:r>
              <a:rPr lang="en-US" altLang="en-US" sz="2000" err="1">
                <a:cs typeface="Arial" panose="020B0604020202020204" pitchFamily="34" charset="0"/>
              </a:rPr>
              <a:t>của</a:t>
            </a:r>
            <a:r>
              <a:rPr lang="en-US" altLang="en-US" sz="2000">
                <a:cs typeface="Arial" panose="020B0604020202020204" pitchFamily="34" charset="0"/>
              </a:rPr>
              <a:t> </a:t>
            </a:r>
            <a:r>
              <a:rPr lang="en-US" altLang="en-US" sz="2000" err="1">
                <a:cs typeface="Arial" panose="020B0604020202020204" pitchFamily="34" charset="0"/>
              </a:rPr>
              <a:t>xâu</a:t>
            </a:r>
            <a:r>
              <a:rPr lang="en-US" altLang="en-US" sz="2000">
                <a:cs typeface="Arial" panose="020B0604020202020204" pitchFamily="34" charset="0"/>
              </a:rPr>
              <a:t>  </a:t>
            </a:r>
            <a:r>
              <a:rPr lang="el-GR" altLang="en-US" sz="2000" b="1" i="1">
                <a:solidFill>
                  <a:srgbClr val="DF3507"/>
                </a:solidFill>
                <a:cs typeface="Arial" panose="020B0604020202020204" pitchFamily="34" charset="0"/>
              </a:rPr>
              <a:t>α</a:t>
            </a:r>
            <a:r>
              <a:rPr lang="en-US" altLang="en-US" sz="2000">
                <a:cs typeface="Arial" panose="020B0604020202020204" pitchFamily="34" charset="0"/>
              </a:rPr>
              <a:t> </a:t>
            </a:r>
            <a:r>
              <a:rPr lang="en-US" altLang="en-US" sz="2000" err="1">
                <a:cs typeface="Arial" panose="020B0604020202020204" pitchFamily="34" charset="0"/>
              </a:rPr>
              <a:t>theo</a:t>
            </a:r>
            <a:r>
              <a:rPr lang="en-US" altLang="en-US" sz="2000">
                <a:cs typeface="Arial" panose="020B0604020202020204" pitchFamily="34" charset="0"/>
              </a:rPr>
              <a:t> </a:t>
            </a:r>
            <a:r>
              <a:rPr lang="en-US" altLang="en-US" sz="2000" err="1">
                <a:cs typeface="Arial" panose="020B0604020202020204" pitchFamily="34" charset="0"/>
              </a:rPr>
              <a:t>chiều</a:t>
            </a:r>
            <a:r>
              <a:rPr lang="en-US" altLang="en-US" sz="2000">
                <a:cs typeface="Arial" panose="020B0604020202020204" pitchFamily="34" charset="0"/>
              </a:rPr>
              <a:t> </a:t>
            </a:r>
            <a:r>
              <a:rPr lang="en-US" altLang="en-US" sz="2000" err="1">
                <a:cs typeface="Arial" panose="020B0604020202020204" pitchFamily="34" charset="0"/>
              </a:rPr>
              <a:t>ngược</a:t>
            </a:r>
            <a:r>
              <a:rPr lang="en-US" altLang="en-US" sz="2000">
                <a:cs typeface="Arial" panose="020B0604020202020204" pitchFamily="34" charset="0"/>
              </a:rPr>
              <a:t> </a:t>
            </a:r>
            <a:r>
              <a:rPr lang="en-US" altLang="en-US" sz="2000" err="1">
                <a:cs typeface="Arial" panose="020B0604020202020204" pitchFamily="34" charset="0"/>
              </a:rPr>
              <a:t>lại</a:t>
            </a:r>
            <a:endParaRPr lang="en-US" altLang="en-US" sz="2000" b="1" i="1">
              <a:solidFill>
                <a:srgbClr val="DF3507"/>
              </a:solidFill>
              <a:cs typeface="Arial" panose="020B0604020202020204" pitchFamily="34" charset="0"/>
            </a:endParaRPr>
          </a:p>
          <a:p>
            <a:pPr marL="231775" indent="-231775" eaLnBrk="1" hangingPunct="1">
              <a:lnSpc>
                <a:spcPct val="110000"/>
              </a:lnSpc>
              <a:defRPr/>
            </a:pPr>
            <a:r>
              <a:rPr lang="en-US" altLang="en-US" sz="2800" err="1">
                <a:cs typeface="Arial" panose="020B0604020202020204" pitchFamily="34" charset="0"/>
              </a:rPr>
              <a:t>Xâu</a:t>
            </a:r>
            <a:r>
              <a:rPr lang="en-US" altLang="en-US" sz="2800">
                <a:cs typeface="Arial" panose="020B0604020202020204" pitchFamily="34" charset="0"/>
              </a:rPr>
              <a:t> con</a:t>
            </a:r>
          </a:p>
          <a:p>
            <a:pPr marL="739775" lvl="1" indent="-274638" eaLnBrk="1" hangingPunct="1">
              <a:lnSpc>
                <a:spcPct val="110000"/>
              </a:lnSpc>
              <a:defRPr/>
            </a:pPr>
            <a:r>
              <a:rPr lang="en-US" altLang="en-US" sz="2400" err="1">
                <a:cs typeface="Arial" panose="020B0604020202020204" pitchFamily="34" charset="0"/>
              </a:rPr>
              <a:t>Xâu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b="1" i="1">
                <a:solidFill>
                  <a:srgbClr val="DF3507"/>
                </a:solidFill>
                <a:cs typeface="Arial" panose="020B0604020202020204" pitchFamily="34" charset="0"/>
              </a:rPr>
              <a:t>v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là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xâu</a:t>
            </a:r>
            <a:r>
              <a:rPr lang="en-US" altLang="en-US" sz="2400">
                <a:cs typeface="Arial" panose="020B0604020202020204" pitchFamily="34" charset="0"/>
              </a:rPr>
              <a:t> con </a:t>
            </a:r>
            <a:r>
              <a:rPr lang="en-US" altLang="en-US" sz="2400" err="1">
                <a:cs typeface="Arial" panose="020B0604020202020204" pitchFamily="34" charset="0"/>
              </a:rPr>
              <a:t>của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b="1" i="1">
                <a:solidFill>
                  <a:srgbClr val="DF3507"/>
                </a:solidFill>
                <a:cs typeface="Arial" panose="020B0604020202020204" pitchFamily="34" charset="0"/>
              </a:rPr>
              <a:t>w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nếu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xâu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b="1" i="1">
                <a:solidFill>
                  <a:srgbClr val="DF3507"/>
                </a:solidFill>
                <a:cs typeface="Arial" panose="020B0604020202020204" pitchFamily="34" charset="0"/>
              </a:rPr>
              <a:t>v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được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tạo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nên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từ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dãy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các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ký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hiệu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liên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tiếp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của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xâu</a:t>
            </a:r>
            <a:r>
              <a:rPr lang="en-US" altLang="en-US" sz="2400">
                <a:solidFill>
                  <a:srgbClr val="DF3507"/>
                </a:solidFill>
                <a:cs typeface="Arial" panose="020B0604020202020204" pitchFamily="34" charset="0"/>
              </a:rPr>
              <a:t> </a:t>
            </a:r>
            <a:r>
              <a:rPr lang="en-US" altLang="en-US" sz="2400" b="1" i="1">
                <a:solidFill>
                  <a:srgbClr val="DF3507"/>
                </a:solidFill>
                <a:cs typeface="Arial" panose="020B0604020202020204" pitchFamily="34" charset="0"/>
              </a:rPr>
              <a:t>w</a:t>
            </a:r>
          </a:p>
          <a:p>
            <a:pPr marL="1422400" lvl="2" indent="-333375" eaLnBrk="1" hangingPunct="1">
              <a:lnSpc>
                <a:spcPct val="110000"/>
              </a:lnSpc>
              <a:defRPr/>
            </a:pPr>
            <a:r>
              <a:rPr lang="en-US" altLang="en-US" sz="2000" b="1" i="1">
                <a:solidFill>
                  <a:srgbClr val="DF3507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b="1" i="1">
                <a:cs typeface="Arial" panose="020B0604020202020204" pitchFamily="34" charset="0"/>
              </a:rPr>
              <a:t> </a:t>
            </a:r>
            <a:r>
              <a:rPr lang="en-US" altLang="en-US" sz="2000" i="1" err="1">
                <a:cs typeface="Arial" panose="020B0604020202020204" pitchFamily="34" charset="0"/>
              </a:rPr>
              <a:t>là</a:t>
            </a:r>
            <a:r>
              <a:rPr lang="en-US" altLang="en-US" sz="2000" i="1">
                <a:cs typeface="Arial" panose="020B0604020202020204" pitchFamily="34" charset="0"/>
              </a:rPr>
              <a:t> </a:t>
            </a:r>
            <a:r>
              <a:rPr lang="en-US" altLang="en-US" sz="2000" i="1" err="1">
                <a:cs typeface="Arial" panose="020B0604020202020204" pitchFamily="34" charset="0"/>
              </a:rPr>
              <a:t>tiền</a:t>
            </a:r>
            <a:r>
              <a:rPr lang="en-US" altLang="en-US" sz="2000" i="1">
                <a:cs typeface="Arial" panose="020B0604020202020204" pitchFamily="34" charset="0"/>
              </a:rPr>
              <a:t> </a:t>
            </a:r>
            <a:r>
              <a:rPr lang="en-US" altLang="en-US" sz="2000" i="1" err="1">
                <a:cs typeface="Arial" panose="020B0604020202020204" pitchFamily="34" charset="0"/>
              </a:rPr>
              <a:t>tố</a:t>
            </a:r>
            <a:r>
              <a:rPr lang="en-US" altLang="en-US" sz="2000" i="1">
                <a:cs typeface="Arial" panose="020B0604020202020204" pitchFamily="34" charset="0"/>
              </a:rPr>
              <a:t> </a:t>
            </a:r>
            <a:r>
              <a:rPr lang="en-US" altLang="en-US" sz="2000" i="1">
                <a:solidFill>
                  <a:srgbClr val="DF3507"/>
                </a:solidFill>
                <a:cs typeface="Arial" panose="020B0604020202020204" pitchFamily="34" charset="0"/>
              </a:rPr>
              <a:t>w</a:t>
            </a:r>
            <a:r>
              <a:rPr lang="en-US" altLang="en-US" sz="2000" i="1">
                <a:cs typeface="Arial" panose="020B0604020202020204" pitchFamily="34" charset="0"/>
              </a:rPr>
              <a:t> </a:t>
            </a:r>
            <a:r>
              <a:rPr lang="en-US" altLang="en-US" sz="2000" i="1" err="1">
                <a:cs typeface="Arial" panose="020B0604020202020204" pitchFamily="34" charset="0"/>
              </a:rPr>
              <a:t>nếu</a:t>
            </a:r>
            <a:r>
              <a:rPr lang="en-US" altLang="en-US" sz="2000" i="1">
                <a:cs typeface="Arial" panose="020B0604020202020204" pitchFamily="34" charset="0"/>
              </a:rPr>
              <a:t> </a:t>
            </a:r>
            <a:r>
              <a:rPr lang="en-US" altLang="en-US" sz="2000" i="1">
                <a:solidFill>
                  <a:srgbClr val="DF3507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>
                <a:cs typeface="Arial" panose="020B0604020202020204" pitchFamily="34" charset="0"/>
              </a:rPr>
              <a:t> </a:t>
            </a:r>
            <a:r>
              <a:rPr lang="en-US" altLang="en-US" sz="2000" i="1" err="1">
                <a:cs typeface="Arial" panose="020B0604020202020204" pitchFamily="34" charset="0"/>
              </a:rPr>
              <a:t>nằm</a:t>
            </a:r>
            <a:r>
              <a:rPr lang="en-US" altLang="en-US" sz="2000" i="1">
                <a:cs typeface="Arial" panose="020B0604020202020204" pitchFamily="34" charset="0"/>
              </a:rPr>
              <a:t> ở </a:t>
            </a:r>
            <a:r>
              <a:rPr lang="en-US" altLang="en-US" sz="2000" i="1" err="1">
                <a:cs typeface="Arial" panose="020B0604020202020204" pitchFamily="34" charset="0"/>
              </a:rPr>
              <a:t>đầu</a:t>
            </a:r>
            <a:r>
              <a:rPr lang="en-US" altLang="en-US" sz="2000" i="1">
                <a:cs typeface="Arial" panose="020B0604020202020204" pitchFamily="34" charset="0"/>
              </a:rPr>
              <a:t>, </a:t>
            </a:r>
            <a:r>
              <a:rPr lang="en-US" altLang="en-US" sz="2000" i="1" err="1">
                <a:cs typeface="Arial" panose="020B0604020202020204" pitchFamily="34" charset="0"/>
              </a:rPr>
              <a:t>nếu</a:t>
            </a:r>
            <a:r>
              <a:rPr lang="en-US" altLang="en-US" sz="2000" i="1">
                <a:cs typeface="Arial" panose="020B0604020202020204" pitchFamily="34" charset="0"/>
              </a:rPr>
              <a:t> </a:t>
            </a:r>
            <a:r>
              <a:rPr lang="en-US" altLang="en-US" sz="2000" i="1" err="1">
                <a:cs typeface="Arial" panose="020B0604020202020204" pitchFamily="34" charset="0"/>
              </a:rPr>
              <a:t>nằm</a:t>
            </a:r>
            <a:r>
              <a:rPr lang="en-US" altLang="en-US" sz="2000" i="1">
                <a:cs typeface="Arial" panose="020B0604020202020204" pitchFamily="34" charset="0"/>
              </a:rPr>
              <a:t> ở </a:t>
            </a:r>
            <a:r>
              <a:rPr lang="en-US" altLang="en-US" sz="2000" i="1" err="1">
                <a:cs typeface="Arial" panose="020B0604020202020204" pitchFamily="34" charset="0"/>
              </a:rPr>
              <a:t>cuối</a:t>
            </a:r>
            <a:r>
              <a:rPr lang="en-US" altLang="en-US" sz="2000" i="1">
                <a:cs typeface="Arial" panose="020B0604020202020204" pitchFamily="34" charset="0"/>
              </a:rPr>
              <a:t>, </a:t>
            </a:r>
            <a:r>
              <a:rPr lang="en-US" altLang="en-US" sz="2000" i="1">
                <a:solidFill>
                  <a:srgbClr val="DF3507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>
                <a:cs typeface="Arial" panose="020B0604020202020204" pitchFamily="34" charset="0"/>
              </a:rPr>
              <a:t> </a:t>
            </a:r>
            <a:r>
              <a:rPr lang="en-US" altLang="en-US" sz="2000" i="1" err="1">
                <a:cs typeface="Arial" panose="020B0604020202020204" pitchFamily="34" charset="0"/>
              </a:rPr>
              <a:t>là</a:t>
            </a:r>
            <a:r>
              <a:rPr lang="en-US" altLang="en-US" sz="2000" i="1">
                <a:cs typeface="Arial" panose="020B0604020202020204" pitchFamily="34" charset="0"/>
              </a:rPr>
              <a:t> </a:t>
            </a:r>
            <a:r>
              <a:rPr lang="en-US" altLang="en-US" sz="2000" i="1" err="1">
                <a:cs typeface="Arial" panose="020B0604020202020204" pitchFamily="34" charset="0"/>
              </a:rPr>
              <a:t>hậu</a:t>
            </a:r>
            <a:r>
              <a:rPr lang="en-US" altLang="en-US" sz="2000" i="1">
                <a:cs typeface="Arial" panose="020B0604020202020204" pitchFamily="34" charset="0"/>
              </a:rPr>
              <a:t> </a:t>
            </a:r>
            <a:r>
              <a:rPr lang="en-US" altLang="en-US" sz="2000" i="1" err="1">
                <a:cs typeface="Arial" panose="020B0604020202020204" pitchFamily="34" charset="0"/>
              </a:rPr>
              <a:t>tố</a:t>
            </a:r>
            <a:endParaRPr lang="en-US" altLang="en-US" sz="2000" i="1">
              <a:cs typeface="Arial" panose="020B0604020202020204" pitchFamily="34" charset="0"/>
            </a:endParaRPr>
          </a:p>
          <a:p>
            <a:pPr marL="1422400" lvl="2" indent="-333375" eaLnBrk="1" hangingPunct="1">
              <a:lnSpc>
                <a:spcPct val="110000"/>
              </a:lnSpc>
              <a:defRPr/>
            </a:pPr>
            <a:r>
              <a:rPr lang="en-US" altLang="en-US" sz="2000" b="1" i="1" u="sng" err="1">
                <a:cs typeface="Arial" panose="020B0604020202020204" pitchFamily="34" charset="0"/>
              </a:rPr>
              <a:t>Ví</a:t>
            </a:r>
            <a:r>
              <a:rPr lang="en-US" altLang="en-US" sz="2000" b="1" i="1" u="sng">
                <a:cs typeface="Arial" panose="020B0604020202020204" pitchFamily="34" charset="0"/>
              </a:rPr>
              <a:t> </a:t>
            </a:r>
            <a:r>
              <a:rPr lang="en-US" altLang="en-US" sz="2000" b="1" i="1" u="sng" err="1">
                <a:cs typeface="Arial" panose="020B0604020202020204" pitchFamily="34" charset="0"/>
              </a:rPr>
              <a:t>dụ</a:t>
            </a:r>
            <a:r>
              <a:rPr lang="en-US" altLang="en-US" sz="2000" b="1" i="1" u="sng">
                <a:cs typeface="Arial" panose="020B0604020202020204" pitchFamily="34" charset="0"/>
              </a:rPr>
              <a:t>:</a:t>
            </a:r>
            <a:r>
              <a:rPr lang="en-US" altLang="en-US" sz="2000" i="1">
                <a:cs typeface="Arial" panose="020B0604020202020204" pitchFamily="34" charset="0"/>
              </a:rPr>
              <a:t>  </a:t>
            </a:r>
            <a:r>
              <a:rPr lang="en-US" altLang="en-US" sz="2000" i="1" err="1">
                <a:solidFill>
                  <a:srgbClr val="DF3507"/>
                </a:solidFill>
                <a:cs typeface="Arial" panose="020B0604020202020204" pitchFamily="34" charset="0"/>
              </a:rPr>
              <a:t>ada</a:t>
            </a:r>
            <a:r>
              <a:rPr lang="en-US" altLang="en-US" sz="2000" i="1">
                <a:solidFill>
                  <a:srgbClr val="DF3507"/>
                </a:solidFill>
                <a:cs typeface="Arial" panose="020B0604020202020204" pitchFamily="34" charset="0"/>
              </a:rPr>
              <a:t> </a:t>
            </a:r>
            <a:r>
              <a:rPr lang="en-US" altLang="en-US" sz="2000" i="1" err="1">
                <a:cs typeface="Arial" panose="020B0604020202020204" pitchFamily="34" charset="0"/>
              </a:rPr>
              <a:t>là</a:t>
            </a:r>
            <a:r>
              <a:rPr lang="en-US" altLang="en-US" sz="2000" i="1">
                <a:cs typeface="Arial" panose="020B0604020202020204" pitchFamily="34" charset="0"/>
              </a:rPr>
              <a:t> </a:t>
            </a:r>
            <a:r>
              <a:rPr lang="en-US" altLang="en-US" sz="2000" i="1" err="1">
                <a:cs typeface="Arial" panose="020B0604020202020204" pitchFamily="34" charset="0"/>
              </a:rPr>
              <a:t>xâu</a:t>
            </a:r>
            <a:r>
              <a:rPr lang="en-US" altLang="en-US" sz="2000" i="1">
                <a:cs typeface="Arial" panose="020B0604020202020204" pitchFamily="34" charset="0"/>
              </a:rPr>
              <a:t> con </a:t>
            </a:r>
            <a:r>
              <a:rPr lang="en-US" altLang="en-US" sz="2000" i="1" err="1">
                <a:cs typeface="Arial" panose="020B0604020202020204" pitchFamily="34" charset="0"/>
              </a:rPr>
              <a:t>của</a:t>
            </a:r>
            <a:r>
              <a:rPr lang="en-US" altLang="en-US" sz="2000" i="1">
                <a:cs typeface="Arial" panose="020B0604020202020204" pitchFamily="34" charset="0"/>
              </a:rPr>
              <a:t> </a:t>
            </a:r>
            <a:r>
              <a:rPr lang="en-US" altLang="en-US" sz="2000" i="1" err="1">
                <a:cs typeface="Arial" panose="020B0604020202020204" pitchFamily="34" charset="0"/>
              </a:rPr>
              <a:t>xâu</a:t>
            </a:r>
            <a:r>
              <a:rPr lang="en-US" altLang="en-US" sz="2000" i="1">
                <a:cs typeface="Arial" panose="020B0604020202020204" pitchFamily="34" charset="0"/>
              </a:rPr>
              <a:t> </a:t>
            </a:r>
            <a:r>
              <a:rPr lang="en-US" altLang="en-US" sz="2000" i="1">
                <a:solidFill>
                  <a:srgbClr val="DF3507"/>
                </a:solidFill>
                <a:cs typeface="Arial" panose="020B0604020202020204" pitchFamily="34" charset="0"/>
              </a:rPr>
              <a:t>madam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2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2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2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4612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2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4612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2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4612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2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4612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46285A-E1A5-4C78-8F0F-BC22B68EB54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68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Xâu ký hiệu</a:t>
            </a:r>
          </a:p>
        </p:txBody>
      </p:sp>
      <p:sp>
        <p:nvSpPr>
          <p:cNvPr id="69636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146227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8809038" cy="5867400"/>
          </a:xfrm>
        </p:spPr>
        <p:txBody>
          <a:bodyPr/>
          <a:lstStyle/>
          <a:p>
            <a:pPr marL="231775" indent="-231775" eaLnBrk="1" hangingPunct="1">
              <a:lnSpc>
                <a:spcPct val="110000"/>
              </a:lnSpc>
              <a:defRPr/>
            </a:pPr>
            <a:r>
              <a:rPr lang="en-US" altLang="en-US" sz="2800" err="1"/>
              <a:t>Ghép</a:t>
            </a:r>
            <a:r>
              <a:rPr lang="en-US" altLang="en-US" sz="2800"/>
              <a:t> </a:t>
            </a:r>
            <a:r>
              <a:rPr lang="en-US" altLang="en-US" sz="2800" err="1"/>
              <a:t>xâu</a:t>
            </a:r>
            <a:endParaRPr lang="en-US" altLang="en-US" sz="2800"/>
          </a:p>
          <a:p>
            <a:pPr marL="739775" lvl="1" indent="-274638" eaLnBrk="1" hangingPunct="1">
              <a:lnSpc>
                <a:spcPct val="110000"/>
              </a:lnSpc>
              <a:defRPr/>
            </a:pPr>
            <a:r>
              <a:rPr lang="en-US" altLang="en-US" sz="2400" err="1"/>
              <a:t>Ghép</a:t>
            </a:r>
            <a:r>
              <a:rPr lang="en-US" altLang="en-US" sz="2400"/>
              <a:t> 2 </a:t>
            </a:r>
            <a:r>
              <a:rPr lang="en-US" altLang="en-US" sz="2400" err="1"/>
              <a:t>xâu</a:t>
            </a:r>
            <a:r>
              <a:rPr lang="en-US" altLang="en-US" sz="2400"/>
              <a:t> </a:t>
            </a:r>
            <a:r>
              <a:rPr lang="el-GR" altLang="en-US" sz="2400" b="1" i="1">
                <a:solidFill>
                  <a:srgbClr val="DF3507"/>
                </a:solidFill>
                <a:cs typeface="Arial" panose="020B0604020202020204" pitchFamily="34" charset="0"/>
              </a:rPr>
              <a:t>α</a:t>
            </a:r>
            <a:r>
              <a:rPr lang="en-US" altLang="en-US" sz="2400">
                <a:cs typeface="Arial" panose="020B0604020202020204" pitchFamily="34" charset="0"/>
              </a:rPr>
              <a:t>, </a:t>
            </a:r>
            <a:r>
              <a:rPr lang="el-GR" altLang="en-US" sz="2400" i="1">
                <a:solidFill>
                  <a:srgbClr val="DF3507"/>
                </a:solidFill>
                <a:cs typeface="Arial" panose="020B0604020202020204" pitchFamily="34" charset="0"/>
              </a:rPr>
              <a:t>β</a:t>
            </a:r>
            <a:r>
              <a:rPr lang="en-US" altLang="en-US" sz="2400" i="1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là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việc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viết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các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ký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hiệu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của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xâu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l-GR" altLang="en-US" sz="2400" b="1" i="1">
                <a:solidFill>
                  <a:srgbClr val="DF3507"/>
                </a:solidFill>
                <a:cs typeface="Arial" panose="020B0604020202020204" pitchFamily="34" charset="0"/>
              </a:rPr>
              <a:t>α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rồi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viết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tiếp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các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ký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hiệu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của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xâu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l-GR" altLang="en-US" sz="2400" b="1" i="1">
                <a:solidFill>
                  <a:srgbClr val="DF3507"/>
                </a:solidFill>
                <a:cs typeface="Arial" panose="020B0604020202020204" pitchFamily="34" charset="0"/>
              </a:rPr>
              <a:t>β</a:t>
            </a:r>
            <a:endParaRPr lang="en-US" altLang="en-US" sz="2400" b="1" i="1">
              <a:solidFill>
                <a:srgbClr val="DF3507"/>
              </a:solidFill>
              <a:cs typeface="Arial" panose="020B0604020202020204" pitchFamily="34" charset="0"/>
            </a:endParaRPr>
          </a:p>
          <a:p>
            <a:pPr marL="339725" indent="-274638" eaLnBrk="1" hangingPunct="1">
              <a:lnSpc>
                <a:spcPct val="110000"/>
              </a:lnSpc>
              <a:defRPr/>
            </a:pPr>
            <a:r>
              <a:rPr lang="en-US" altLang="en-US" sz="2800" err="1">
                <a:solidFill>
                  <a:srgbClr val="002060"/>
                </a:solidFill>
                <a:cs typeface="Arial" panose="020B0604020202020204" pitchFamily="34" charset="0"/>
              </a:rPr>
              <a:t>Xâu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err="1">
                <a:solidFill>
                  <a:srgbClr val="002060"/>
                </a:solidFill>
                <a:cs typeface="Arial" panose="020B0604020202020204" pitchFamily="34" charset="0"/>
              </a:rPr>
              <a:t>lũy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err="1">
                <a:solidFill>
                  <a:srgbClr val="002060"/>
                </a:solidFill>
                <a:cs typeface="Arial" panose="020B0604020202020204" pitchFamily="34" charset="0"/>
              </a:rPr>
              <a:t>thừa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</a:rPr>
              <a:t>:</a:t>
            </a:r>
          </a:p>
          <a:p>
            <a:pPr marL="739775" lvl="1" indent="-274638" eaLnBrk="1" hangingPunct="1">
              <a:lnSpc>
                <a:spcPct val="110000"/>
              </a:lnSpc>
              <a:defRPr/>
            </a:pP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el-GR" altLang="en-US">
                <a:solidFill>
                  <a:srgbClr val="002060"/>
                </a:solidFill>
                <a:cs typeface="Arial" panose="020B0604020202020204" pitchFamily="34" charset="0"/>
              </a:rPr>
              <a:t>α</a:t>
            </a:r>
            <a:r>
              <a:rPr lang="en-US" altLang="en-US" baseline="30000">
                <a:solidFill>
                  <a:srgbClr val="002060"/>
                </a:solidFill>
                <a:cs typeface="Arial" panose="020B0604020202020204" pitchFamily="34" charset="0"/>
              </a:rPr>
              <a:t>n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</a:rPr>
              <a:t> = </a:t>
            </a:r>
            <a:r>
              <a:rPr lang="el-GR" altLang="en-US">
                <a:solidFill>
                  <a:srgbClr val="002060"/>
                </a:solidFill>
                <a:cs typeface="Arial" panose="020B0604020202020204" pitchFamily="34" charset="0"/>
              </a:rPr>
              <a:t>α α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</a:rPr>
              <a:t>…</a:t>
            </a:r>
            <a:r>
              <a:rPr lang="el-GR" altLang="en-US">
                <a:solidFill>
                  <a:srgbClr val="002060"/>
                </a:solidFill>
                <a:cs typeface="Arial" panose="020B0604020202020204" pitchFamily="34" charset="0"/>
              </a:rPr>
              <a:t> α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</a:rPr>
              <a:t>  </a:t>
            </a:r>
            <a:r>
              <a:rPr lang="en-US" altLang="en-US" i="1">
                <a:solidFill>
                  <a:srgbClr val="002060"/>
                </a:solidFill>
                <a:cs typeface="Arial" panose="020B0604020202020204" pitchFamily="34" charset="0"/>
              </a:rPr>
              <a:t>(</a:t>
            </a:r>
            <a:r>
              <a:rPr lang="en-US" altLang="en-US" i="1" err="1">
                <a:solidFill>
                  <a:schemeClr val="bg1">
                    <a:lumMod val="65000"/>
                  </a:schemeClr>
                </a:solidFill>
                <a:cs typeface="Arial" panose="020B0604020202020204" pitchFamily="34" charset="0"/>
              </a:rPr>
              <a:t>ghép</a:t>
            </a:r>
            <a:r>
              <a:rPr lang="en-US" altLang="en-US" i="1">
                <a:solidFill>
                  <a:schemeClr val="bg1">
                    <a:lumMod val="65000"/>
                  </a:schemeClr>
                </a:solidFill>
                <a:cs typeface="Arial" panose="020B0604020202020204" pitchFamily="34" charset="0"/>
              </a:rPr>
              <a:t> n </a:t>
            </a:r>
            <a:r>
              <a:rPr lang="en-US" altLang="en-US" i="1" err="1">
                <a:solidFill>
                  <a:schemeClr val="bg1">
                    <a:lumMod val="65000"/>
                  </a:schemeClr>
                </a:solidFill>
                <a:cs typeface="Arial" panose="020B0604020202020204" pitchFamily="34" charset="0"/>
              </a:rPr>
              <a:t>xâu</a:t>
            </a:r>
            <a:r>
              <a:rPr lang="en-US" altLang="en-US" i="1">
                <a:solidFill>
                  <a:schemeClr val="bg1">
                    <a:lumMod val="6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l-GR" altLang="en-US" i="1">
                <a:solidFill>
                  <a:schemeClr val="bg1">
                    <a:lumMod val="65000"/>
                  </a:schemeClr>
                </a:solidFill>
                <a:cs typeface="Arial" panose="020B0604020202020204" pitchFamily="34" charset="0"/>
              </a:rPr>
              <a:t>α</a:t>
            </a:r>
            <a:r>
              <a:rPr lang="en-US" altLang="en-US" i="1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en-US" altLang="en-US">
              <a:solidFill>
                <a:srgbClr val="002060"/>
              </a:solidFill>
              <a:cs typeface="Arial" panose="020B0604020202020204" pitchFamily="34" charset="0"/>
            </a:endParaRPr>
          </a:p>
          <a:p>
            <a:pPr marL="339725" indent="-274638" eaLnBrk="1" hangingPunct="1">
              <a:lnSpc>
                <a:spcPct val="110000"/>
              </a:lnSpc>
              <a:defRPr/>
            </a:pPr>
            <a:r>
              <a:rPr lang="en-US" altLang="en-US" sz="2800" b="1" err="1">
                <a:solidFill>
                  <a:srgbClr val="002060"/>
                </a:solidFill>
                <a:cs typeface="Arial" panose="020B0604020202020204" pitchFamily="34" charset="0"/>
              </a:rPr>
              <a:t>Ví</a:t>
            </a:r>
            <a:r>
              <a:rPr lang="en-US" altLang="en-US" sz="2800" b="1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b="1" err="1">
                <a:solidFill>
                  <a:srgbClr val="002060"/>
                </a:solidFill>
                <a:cs typeface="Arial" panose="020B0604020202020204" pitchFamily="34" charset="0"/>
              </a:rPr>
              <a:t>dụ</a:t>
            </a:r>
            <a:r>
              <a:rPr lang="en-US" altLang="en-US" sz="2800" b="1">
                <a:solidFill>
                  <a:srgbClr val="002060"/>
                </a:solidFill>
                <a:cs typeface="Arial" panose="020B0604020202020204" pitchFamily="34" charset="0"/>
              </a:rPr>
              <a:t>: </a:t>
            </a:r>
            <a:r>
              <a:rPr lang="el-GR" altLang="en-US" sz="2800" i="1">
                <a:solidFill>
                  <a:srgbClr val="002060"/>
                </a:solidFill>
                <a:cs typeface="Arial" panose="020B0604020202020204" pitchFamily="34" charset="0"/>
              </a:rPr>
              <a:t>α</a:t>
            </a:r>
            <a:r>
              <a:rPr lang="en-US" altLang="en-US" sz="2800" i="1">
                <a:solidFill>
                  <a:srgbClr val="002060"/>
                </a:solidFill>
                <a:cs typeface="Arial" panose="020B0604020202020204" pitchFamily="34" charset="0"/>
              </a:rPr>
              <a:t>: </a:t>
            </a:r>
            <a:r>
              <a:rPr lang="en-US" altLang="en-US" sz="2800" i="1" err="1">
                <a:solidFill>
                  <a:srgbClr val="002060"/>
                </a:solidFill>
                <a:cs typeface="Arial" panose="020B0604020202020204" pitchFamily="34" charset="0"/>
              </a:rPr>
              <a:t>abc</a:t>
            </a:r>
            <a:r>
              <a:rPr lang="en-US" altLang="en-US" sz="2800" i="1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i="1" err="1">
                <a:solidFill>
                  <a:srgbClr val="002060"/>
                </a:solidFill>
                <a:cs typeface="Arial" panose="020B0604020202020204" pitchFamily="34" charset="0"/>
              </a:rPr>
              <a:t>và</a:t>
            </a:r>
            <a:r>
              <a:rPr lang="en-US" altLang="en-US" sz="2800" i="1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el-GR" altLang="en-US" sz="2800" i="1">
                <a:solidFill>
                  <a:srgbClr val="002060"/>
                </a:solidFill>
                <a:cs typeface="Arial" panose="020B0604020202020204" pitchFamily="34" charset="0"/>
              </a:rPr>
              <a:t>β</a:t>
            </a:r>
            <a:r>
              <a:rPr lang="en-US" altLang="en-US" sz="2800" i="1">
                <a:solidFill>
                  <a:srgbClr val="002060"/>
                </a:solidFill>
                <a:cs typeface="Arial" panose="020B0604020202020204" pitchFamily="34" charset="0"/>
              </a:rPr>
              <a:t>: </a:t>
            </a:r>
            <a:r>
              <a:rPr lang="en-US" altLang="en-US" sz="2800" i="1" err="1">
                <a:solidFill>
                  <a:srgbClr val="002060"/>
                </a:solidFill>
                <a:cs typeface="Arial" panose="020B0604020202020204" pitchFamily="34" charset="0"/>
              </a:rPr>
              <a:t>ba</a:t>
            </a:r>
            <a:r>
              <a:rPr lang="en-US" altLang="en-US" sz="2800" i="1">
                <a:solidFill>
                  <a:srgbClr val="002060"/>
                </a:solidFill>
                <a:cs typeface="Arial" panose="020B0604020202020204" pitchFamily="34" charset="0"/>
              </a:rPr>
              <a:t>  </a:t>
            </a:r>
          </a:p>
          <a:p>
            <a:pPr marL="922337" lvl="1" indent="-457200" eaLnBrk="1" hangingPunct="1">
              <a:spcBef>
                <a:spcPts val="0"/>
              </a:spcBef>
              <a:defRPr/>
            </a:pPr>
            <a:r>
              <a:rPr lang="el-GR" altLang="en-US" i="1">
                <a:solidFill>
                  <a:srgbClr val="002060"/>
                </a:solidFill>
                <a:cs typeface="Arial" panose="020B0604020202020204" pitchFamily="34" charset="0"/>
              </a:rPr>
              <a:t>αβ</a:t>
            </a:r>
            <a:r>
              <a:rPr lang="en-US" altLang="en-US" i="1">
                <a:solidFill>
                  <a:srgbClr val="002060"/>
                </a:solidFill>
                <a:cs typeface="Arial" panose="020B0604020202020204" pitchFamily="34" charset="0"/>
              </a:rPr>
              <a:t> = </a:t>
            </a:r>
            <a:r>
              <a:rPr lang="en-US" altLang="en-US" i="1" err="1">
                <a:solidFill>
                  <a:srgbClr val="002060"/>
                </a:solidFill>
                <a:cs typeface="Arial" panose="020B0604020202020204" pitchFamily="34" charset="0"/>
              </a:rPr>
              <a:t>abcba</a:t>
            </a:r>
            <a:r>
              <a:rPr lang="en-US" altLang="en-US" i="1">
                <a:solidFill>
                  <a:srgbClr val="002060"/>
                </a:solidFill>
                <a:cs typeface="Arial" panose="020B0604020202020204" pitchFamily="34" charset="0"/>
              </a:rPr>
              <a:t>  </a:t>
            </a:r>
            <a:r>
              <a:rPr lang="en-US" altLang="en-US" err="1">
                <a:solidFill>
                  <a:srgbClr val="002060"/>
                </a:solidFill>
                <a:cs typeface="Arial" panose="020B0604020202020204" pitchFamily="34" charset="0"/>
              </a:rPr>
              <a:t>và</a:t>
            </a:r>
            <a:r>
              <a:rPr lang="en-US" altLang="en-US" i="1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el-GR" altLang="en-US" i="1">
                <a:solidFill>
                  <a:srgbClr val="002060"/>
                </a:solidFill>
                <a:cs typeface="Arial" panose="020B0604020202020204" pitchFamily="34" charset="0"/>
              </a:rPr>
              <a:t>βα</a:t>
            </a:r>
            <a:r>
              <a:rPr lang="en-US" altLang="en-US" i="1">
                <a:solidFill>
                  <a:srgbClr val="002060"/>
                </a:solidFill>
                <a:cs typeface="Arial" panose="020B0604020202020204" pitchFamily="34" charset="0"/>
              </a:rPr>
              <a:t> = </a:t>
            </a:r>
            <a:r>
              <a:rPr lang="en-US" altLang="en-US" i="1" err="1">
                <a:solidFill>
                  <a:srgbClr val="002060"/>
                </a:solidFill>
                <a:cs typeface="Arial" panose="020B0604020202020204" pitchFamily="34" charset="0"/>
              </a:rPr>
              <a:t>bacab</a:t>
            </a:r>
            <a:endParaRPr lang="en-US" altLang="en-US" i="1">
              <a:solidFill>
                <a:srgbClr val="002060"/>
              </a:solidFill>
              <a:cs typeface="Arial" panose="020B0604020202020204" pitchFamily="34" charset="0"/>
            </a:endParaRPr>
          </a:p>
          <a:p>
            <a:pPr marL="922337" lvl="1" indent="-457200" eaLnBrk="1" hangingPunct="1">
              <a:spcBef>
                <a:spcPts val="0"/>
              </a:spcBef>
              <a:defRPr/>
            </a:pPr>
            <a:r>
              <a:rPr lang="el-GR" altLang="en-US" i="1">
                <a:solidFill>
                  <a:srgbClr val="002060"/>
                </a:solidFill>
                <a:cs typeface="Arial" panose="020B0604020202020204" pitchFamily="34" charset="0"/>
              </a:rPr>
              <a:t>α</a:t>
            </a:r>
            <a:r>
              <a:rPr lang="en-US" altLang="en-US" i="1" baseline="30000">
                <a:solidFill>
                  <a:srgbClr val="002060"/>
                </a:solidFill>
                <a:cs typeface="Arial" panose="020B0604020202020204" pitchFamily="34" charset="0"/>
              </a:rPr>
              <a:t>3</a:t>
            </a:r>
            <a:r>
              <a:rPr lang="en-US" altLang="en-US" i="1">
                <a:solidFill>
                  <a:srgbClr val="002060"/>
                </a:solidFill>
                <a:cs typeface="Arial" panose="020B0604020202020204" pitchFamily="34" charset="0"/>
              </a:rPr>
              <a:t> = </a:t>
            </a:r>
            <a:r>
              <a:rPr lang="en-US" altLang="en-US" i="1" err="1">
                <a:solidFill>
                  <a:srgbClr val="002060"/>
                </a:solidFill>
                <a:cs typeface="Arial" panose="020B0604020202020204" pitchFamily="34" charset="0"/>
              </a:rPr>
              <a:t>abcabcabc</a:t>
            </a:r>
            <a:r>
              <a:rPr lang="en-US" altLang="en-US" i="1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endParaRPr lang="en-US" altLang="en-US">
              <a:solidFill>
                <a:srgbClr val="002060"/>
              </a:solidFill>
              <a:cs typeface="Arial" panose="020B0604020202020204" pitchFamily="34" charset="0"/>
            </a:endParaRPr>
          </a:p>
          <a:p>
            <a:pPr marL="339725" indent="-274638" eaLnBrk="1" hangingPunct="1">
              <a:lnSpc>
                <a:spcPct val="110000"/>
              </a:lnSpc>
              <a:defRPr/>
            </a:pPr>
            <a:r>
              <a:rPr lang="en-US" altLang="en-US" sz="2800" err="1">
                <a:solidFill>
                  <a:srgbClr val="002060"/>
                </a:solidFill>
                <a:cs typeface="Arial" panose="020B0604020202020204" pitchFamily="34" charset="0"/>
              </a:rPr>
              <a:t>Nhận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err="1">
                <a:solidFill>
                  <a:srgbClr val="002060"/>
                </a:solidFill>
                <a:cs typeface="Arial" panose="020B0604020202020204" pitchFamily="34" charset="0"/>
              </a:rPr>
              <a:t>xét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</a:rPr>
              <a:t>: </a:t>
            </a:r>
          </a:p>
          <a:p>
            <a:pPr marL="922337" lvl="1" indent="-457200" eaLnBrk="1" hangingPunct="1">
              <a:spcBef>
                <a:spcPts val="0"/>
              </a:spcBef>
              <a:defRPr/>
            </a:pPr>
            <a:r>
              <a:rPr lang="el-GR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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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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;   </a:t>
            </a:r>
            <a:r>
              <a:rPr lang="el-GR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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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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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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;  </a:t>
            </a:r>
            <a:r>
              <a:rPr lang="el-GR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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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; </a:t>
            </a:r>
          </a:p>
          <a:p>
            <a:pPr marL="922337" lvl="1" indent="-457200" eaLnBrk="1" hangingPunct="1">
              <a:spcBef>
                <a:spcPts val="0"/>
              </a:spcBef>
              <a:defRPr/>
            </a:pP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l(</a:t>
            </a:r>
            <a:r>
              <a:rPr lang="el-GR" altLang="en-US">
                <a:solidFill>
                  <a:srgbClr val="002060"/>
                </a:solidFill>
                <a:cs typeface="Arial" panose="020B0604020202020204" pitchFamily="34" charset="0"/>
              </a:rPr>
              <a:t>αβ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</a:rPr>
              <a:t>) = 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l(</a:t>
            </a:r>
            <a:r>
              <a:rPr lang="el-GR" altLang="en-US">
                <a:solidFill>
                  <a:srgbClr val="002060"/>
                </a:solidFill>
                <a:cs typeface="Arial" panose="020B0604020202020204" pitchFamily="34" charset="0"/>
              </a:rPr>
              <a:t>α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</a:rPr>
              <a:t>) + 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l(</a:t>
            </a:r>
            <a:r>
              <a:rPr lang="el-GR" altLang="en-US">
                <a:solidFill>
                  <a:srgbClr val="002060"/>
                </a:solidFill>
                <a:cs typeface="Arial" panose="020B0604020202020204" pitchFamily="34" charset="0"/>
              </a:rPr>
              <a:t>β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  <a:endParaRPr lang="el-GR" altLang="en-US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2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2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2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94945B-CB61-44DF-BC94-DBB22092C033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69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err="1"/>
              <a:t>Xâu</a:t>
            </a:r>
            <a:r>
              <a:rPr lang="en-US" altLang="en-US" sz="2800"/>
              <a:t> </a:t>
            </a:r>
            <a:r>
              <a:rPr lang="en-US" altLang="en-US" sz="2800" err="1"/>
              <a:t>ký</a:t>
            </a:r>
            <a:r>
              <a:rPr lang="en-US" altLang="en-US" sz="2800"/>
              <a:t> </a:t>
            </a:r>
            <a:r>
              <a:rPr lang="en-US" altLang="en-US" sz="2800" err="1"/>
              <a:t>hiệu</a:t>
            </a:r>
            <a:r>
              <a:rPr lang="en-US" altLang="en-US" sz="2800"/>
              <a:t> </a:t>
            </a:r>
            <a:r>
              <a:rPr lang="en-US" altLang="en-US" sz="2800">
                <a:sym typeface="Symbol" panose="05050102010706020507" pitchFamily="18" charset="2"/>
              </a:rPr>
              <a:t> </a:t>
            </a:r>
            <a:r>
              <a:rPr lang="en-US" altLang="en-US" sz="2800" err="1"/>
              <a:t>Tính</a:t>
            </a:r>
            <a:r>
              <a:rPr lang="en-US" altLang="en-US" sz="2800"/>
              <a:t> </a:t>
            </a:r>
            <a:r>
              <a:rPr lang="en-US" altLang="en-US" sz="2800" err="1"/>
              <a:t>toán</a:t>
            </a:r>
            <a:r>
              <a:rPr lang="en-US" altLang="en-US" sz="2800"/>
              <a:t> </a:t>
            </a:r>
            <a:r>
              <a:rPr lang="en-US" altLang="en-US" sz="2800" err="1"/>
              <a:t>trên</a:t>
            </a:r>
            <a:r>
              <a:rPr lang="en-US" altLang="en-US" sz="2800"/>
              <a:t> </a:t>
            </a:r>
            <a:r>
              <a:rPr lang="en-US" altLang="en-US" sz="2800" err="1"/>
              <a:t>tập</a:t>
            </a:r>
            <a:r>
              <a:rPr lang="en-US" altLang="en-US" sz="2800"/>
              <a:t> </a:t>
            </a:r>
            <a:r>
              <a:rPr lang="en-US" altLang="en-US" sz="2800" err="1"/>
              <a:t>xâu</a:t>
            </a:r>
            <a:endParaRPr lang="en-US" altLang="en-US" sz="2800"/>
          </a:p>
        </p:txBody>
      </p:sp>
      <p:sp>
        <p:nvSpPr>
          <p:cNvPr id="70660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146227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8839200" cy="5867400"/>
          </a:xfrm>
        </p:spPr>
        <p:txBody>
          <a:bodyPr/>
          <a:lstStyle/>
          <a:p>
            <a:pPr marL="363538" indent="-363538"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en-US" sz="2800" i="1">
                <a:cs typeface="Arial" panose="020B0604020202020204" pitchFamily="34" charset="0"/>
              </a:rPr>
              <a:t>A, B </a:t>
            </a:r>
            <a:r>
              <a:rPr lang="en-US" altLang="en-US" sz="2800" i="1" err="1">
                <a:cs typeface="Arial" panose="020B0604020202020204" pitchFamily="34" charset="0"/>
              </a:rPr>
              <a:t>là</a:t>
            </a:r>
            <a:r>
              <a:rPr lang="en-US" altLang="en-US" sz="2800" i="1">
                <a:cs typeface="Arial" panose="020B0604020202020204" pitchFamily="34" charset="0"/>
              </a:rPr>
              <a:t> 2 </a:t>
            </a:r>
            <a:r>
              <a:rPr lang="en-US" altLang="en-US" sz="2800" i="1" err="1">
                <a:cs typeface="Arial" panose="020B0604020202020204" pitchFamily="34" charset="0"/>
              </a:rPr>
              <a:t>tập</a:t>
            </a:r>
            <a:r>
              <a:rPr lang="en-US" altLang="en-US" sz="2800" i="1">
                <a:cs typeface="Arial" panose="020B0604020202020204" pitchFamily="34" charset="0"/>
              </a:rPr>
              <a:t> </a:t>
            </a:r>
            <a:r>
              <a:rPr lang="en-US" altLang="en-US" sz="2800" i="1" err="1">
                <a:cs typeface="Arial" panose="020B0604020202020204" pitchFamily="34" charset="0"/>
              </a:rPr>
              <a:t>xâu</a:t>
            </a:r>
            <a:r>
              <a:rPr lang="en-US" altLang="en-US" sz="2800" i="1">
                <a:cs typeface="Arial" panose="020B0604020202020204" pitchFamily="34" charset="0"/>
              </a:rPr>
              <a:t> </a:t>
            </a:r>
            <a:r>
              <a:rPr lang="en-US" altLang="en-US" sz="2800" i="1" err="1">
                <a:cs typeface="Arial" panose="020B0604020202020204" pitchFamily="34" charset="0"/>
              </a:rPr>
              <a:t>trên</a:t>
            </a:r>
            <a:r>
              <a:rPr lang="en-US" altLang="en-US" sz="2800" i="1">
                <a:cs typeface="Arial" panose="020B0604020202020204" pitchFamily="34" charset="0"/>
              </a:rPr>
              <a:t> </a:t>
            </a:r>
            <a:r>
              <a:rPr lang="en-US" altLang="en-US" sz="2800" i="1" err="1">
                <a:cs typeface="Arial" panose="020B0604020202020204" pitchFamily="34" charset="0"/>
              </a:rPr>
              <a:t>một</a:t>
            </a:r>
            <a:r>
              <a:rPr lang="en-US" altLang="en-US" sz="2800" i="1">
                <a:cs typeface="Arial" panose="020B0604020202020204" pitchFamily="34" charset="0"/>
              </a:rPr>
              <a:t> </a:t>
            </a:r>
            <a:r>
              <a:rPr lang="en-US" altLang="en-US" sz="2800" i="1" err="1">
                <a:cs typeface="Arial" panose="020B0604020202020204" pitchFamily="34" charset="0"/>
              </a:rPr>
              <a:t>bộ</a:t>
            </a:r>
            <a:r>
              <a:rPr lang="en-US" altLang="en-US" sz="2800" i="1">
                <a:cs typeface="Arial" panose="020B0604020202020204" pitchFamily="34" charset="0"/>
              </a:rPr>
              <a:t> </a:t>
            </a:r>
            <a:r>
              <a:rPr lang="en-US" altLang="en-US" sz="2800" i="1" err="1">
                <a:cs typeface="Arial" panose="020B0604020202020204" pitchFamily="34" charset="0"/>
              </a:rPr>
              <a:t>chữ</a:t>
            </a:r>
            <a:endParaRPr lang="en-US" altLang="en-US" sz="2800" i="1">
              <a:cs typeface="Arial" panose="020B0604020202020204" pitchFamily="34" charset="0"/>
            </a:endParaRPr>
          </a:p>
          <a:p>
            <a:pPr marL="817563" lvl="1" indent="-274638"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en-US" sz="2400" b="1" i="1" err="1">
                <a:cs typeface="Arial" panose="020B0604020202020204" pitchFamily="34" charset="0"/>
              </a:rPr>
              <a:t>Hợp</a:t>
            </a:r>
            <a:r>
              <a:rPr lang="en-US" altLang="en-US" sz="2400" b="1" i="1">
                <a:cs typeface="Arial" panose="020B0604020202020204" pitchFamily="34" charset="0"/>
              </a:rPr>
              <a:t>:</a:t>
            </a:r>
            <a:r>
              <a:rPr lang="en-US" altLang="en-US" sz="2400" i="1">
                <a:cs typeface="Arial" panose="020B0604020202020204" pitchFamily="34" charset="0"/>
              </a:rPr>
              <a:t>		A 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 B = {</a:t>
            </a:r>
            <a:r>
              <a:rPr lang="el-GR" altLang="en-US" sz="24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| </a:t>
            </a:r>
            <a:r>
              <a:rPr lang="el-GR" altLang="en-US" sz="24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 A </a:t>
            </a:r>
            <a:r>
              <a:rPr lang="en-US" altLang="en-US" sz="2400" err="1">
                <a:cs typeface="Arial" panose="020B0604020202020204" pitchFamily="34" charset="0"/>
                <a:sym typeface="Symbol" panose="05050102010706020507" pitchFamily="18" charset="2"/>
              </a:rPr>
              <a:t>hoặc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sz="24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 B }</a:t>
            </a:r>
            <a:endParaRPr lang="el-GR" altLang="en-US" sz="2400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817563" lvl="1" indent="-274638"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en-US" sz="2400" b="1" i="1" err="1">
                <a:cs typeface="Arial" panose="020B0604020202020204" pitchFamily="34" charset="0"/>
              </a:rPr>
              <a:t>Giao</a:t>
            </a:r>
            <a:r>
              <a:rPr lang="en-US" altLang="en-US" sz="2400" b="1" i="1">
                <a:cs typeface="Arial" panose="020B0604020202020204" pitchFamily="34" charset="0"/>
              </a:rPr>
              <a:t>:</a:t>
            </a:r>
            <a:r>
              <a:rPr lang="en-US" altLang="en-US" sz="2400" i="1">
                <a:cs typeface="Arial" panose="020B0604020202020204" pitchFamily="34" charset="0"/>
              </a:rPr>
              <a:t>		A 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 B = {</a:t>
            </a:r>
            <a:r>
              <a:rPr lang="el-GR" altLang="en-US" sz="24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| </a:t>
            </a:r>
            <a:r>
              <a:rPr lang="el-GR" altLang="en-US" sz="24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 A </a:t>
            </a:r>
            <a:r>
              <a:rPr lang="en-US" altLang="en-US" sz="2400" err="1">
                <a:cs typeface="Arial" panose="020B0604020202020204" pitchFamily="34" charset="0"/>
                <a:sym typeface="Symbol" panose="05050102010706020507" pitchFamily="18" charset="2"/>
              </a:rPr>
              <a:t>và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sz="24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 B }</a:t>
            </a:r>
            <a:endParaRPr lang="en-US" altLang="en-US" sz="2400" i="1">
              <a:cs typeface="Arial" panose="020B0604020202020204" pitchFamily="34" charset="0"/>
            </a:endParaRPr>
          </a:p>
          <a:p>
            <a:pPr marL="817563" lvl="1" indent="-274638"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en-US" sz="2400" b="1" i="1" err="1">
                <a:cs typeface="Arial" panose="020B0604020202020204" pitchFamily="34" charset="0"/>
              </a:rPr>
              <a:t>Tích</a:t>
            </a:r>
            <a:r>
              <a:rPr lang="en-US" altLang="en-US" sz="2400" b="1" i="1">
                <a:cs typeface="Arial" panose="020B0604020202020204" pitchFamily="34" charset="0"/>
              </a:rPr>
              <a:t>/</a:t>
            </a:r>
            <a:r>
              <a:rPr lang="en-US" altLang="en-US" sz="2400" b="1" i="1" err="1">
                <a:cs typeface="Arial" panose="020B0604020202020204" pitchFamily="34" charset="0"/>
              </a:rPr>
              <a:t>Ghép</a:t>
            </a:r>
            <a:r>
              <a:rPr lang="en-US" altLang="en-US" sz="2400" b="1" i="1">
                <a:cs typeface="Arial" panose="020B0604020202020204" pitchFamily="34" charset="0"/>
              </a:rPr>
              <a:t>:</a:t>
            </a:r>
            <a:r>
              <a:rPr lang="en-US" altLang="en-US" sz="2400" i="1">
                <a:cs typeface="Arial" panose="020B0604020202020204" pitchFamily="34" charset="0"/>
              </a:rPr>
              <a:t>		</a:t>
            </a:r>
            <a:r>
              <a:rPr lang="en-US" altLang="en-US" sz="2400">
                <a:cs typeface="Arial" panose="020B0604020202020204" pitchFamily="34" charset="0"/>
              </a:rPr>
              <a:t>AB={x=</a:t>
            </a:r>
            <a:r>
              <a:rPr lang="el-GR" altLang="en-US" sz="2400">
                <a:cs typeface="Arial" panose="020B0604020202020204" pitchFamily="34" charset="0"/>
                <a:sym typeface="Symbol" panose="05050102010706020507" pitchFamily="18" charset="2"/>
              </a:rPr>
              <a:t>αβ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| </a:t>
            </a:r>
            <a:r>
              <a:rPr lang="el-GR" altLang="en-US" sz="24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 A </a:t>
            </a:r>
            <a:r>
              <a:rPr lang="en-US" altLang="en-US" sz="2400" err="1">
                <a:cs typeface="Arial" panose="020B0604020202020204" pitchFamily="34" charset="0"/>
                <a:sym typeface="Symbol" panose="05050102010706020507" pitchFamily="18" charset="2"/>
              </a:rPr>
              <a:t>và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sz="2400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 B </a:t>
            </a:r>
            <a:r>
              <a:rPr lang="en-US" altLang="en-US" sz="2400">
                <a:cs typeface="Arial" panose="020B0604020202020204" pitchFamily="34" charset="0"/>
              </a:rPr>
              <a:t>}</a:t>
            </a:r>
            <a:r>
              <a:rPr lang="en-US" altLang="en-US" sz="2400" i="1">
                <a:cs typeface="Arial" panose="020B0604020202020204" pitchFamily="34" charset="0"/>
              </a:rPr>
              <a:t> </a:t>
            </a:r>
          </a:p>
          <a:p>
            <a:pPr marL="817563" lvl="1" indent="-274638"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en-US" sz="2400" b="1" i="1" err="1">
                <a:cs typeface="Arial" panose="020B0604020202020204" pitchFamily="34" charset="0"/>
              </a:rPr>
              <a:t>Tích</a:t>
            </a:r>
            <a:r>
              <a:rPr lang="en-US" altLang="en-US" sz="2400" b="1" i="1">
                <a:cs typeface="Arial" panose="020B0604020202020204" pitchFamily="34" charset="0"/>
              </a:rPr>
              <a:t> </a:t>
            </a:r>
            <a:r>
              <a:rPr lang="en-US" altLang="en-US" sz="2400" b="1" i="1" err="1">
                <a:cs typeface="Arial" panose="020B0604020202020204" pitchFamily="34" charset="0"/>
              </a:rPr>
              <a:t>Descarter</a:t>
            </a:r>
            <a:r>
              <a:rPr lang="en-US" altLang="en-US" sz="2400" b="1" i="1">
                <a:cs typeface="Arial" panose="020B0604020202020204" pitchFamily="34" charset="0"/>
              </a:rPr>
              <a:t>:  </a:t>
            </a:r>
            <a:r>
              <a:rPr lang="en-US" altLang="en-US" sz="2400" err="1">
                <a:cs typeface="Arial" panose="020B0604020202020204" pitchFamily="34" charset="0"/>
              </a:rPr>
              <a:t>AxB</a:t>
            </a:r>
            <a:r>
              <a:rPr lang="en-US" altLang="en-US" sz="2400">
                <a:cs typeface="Arial" panose="020B0604020202020204" pitchFamily="34" charset="0"/>
              </a:rPr>
              <a:t>={&lt;</a:t>
            </a:r>
            <a:r>
              <a:rPr lang="el-GR" altLang="en-US" sz="24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el-GR" altLang="en-US" sz="2400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&gt;| </a:t>
            </a:r>
            <a:r>
              <a:rPr lang="el-GR" altLang="en-US" sz="24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 A </a:t>
            </a:r>
            <a:r>
              <a:rPr lang="en-US" altLang="en-US" sz="2400" err="1">
                <a:cs typeface="Arial" panose="020B0604020202020204" pitchFamily="34" charset="0"/>
                <a:sym typeface="Symbol" panose="05050102010706020507" pitchFamily="18" charset="2"/>
              </a:rPr>
              <a:t>và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sz="2400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 B </a:t>
            </a:r>
            <a:r>
              <a:rPr lang="en-US" altLang="en-US" sz="2400">
                <a:cs typeface="Arial" panose="020B0604020202020204" pitchFamily="34" charset="0"/>
              </a:rPr>
              <a:t>} </a:t>
            </a:r>
          </a:p>
          <a:p>
            <a:pPr marL="363538" indent="-363538"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en-US" sz="2800" b="1" err="1">
                <a:cs typeface="Arial" panose="020B0604020202020204" pitchFamily="34" charset="0"/>
              </a:rPr>
              <a:t>Ví</a:t>
            </a:r>
            <a:r>
              <a:rPr lang="en-US" altLang="en-US" sz="2800" b="1">
                <a:cs typeface="Arial" panose="020B0604020202020204" pitchFamily="34" charset="0"/>
              </a:rPr>
              <a:t> </a:t>
            </a:r>
            <a:r>
              <a:rPr lang="en-US" altLang="en-US" sz="2800" b="1" err="1">
                <a:cs typeface="Arial" panose="020B0604020202020204" pitchFamily="34" charset="0"/>
              </a:rPr>
              <a:t>dụ</a:t>
            </a:r>
            <a:r>
              <a:rPr lang="en-US" altLang="en-US" sz="2800" b="1">
                <a:cs typeface="Arial" panose="020B0604020202020204" pitchFamily="34" charset="0"/>
              </a:rPr>
              <a:t>:</a:t>
            </a:r>
            <a:r>
              <a:rPr lang="en-US" altLang="en-US" sz="2800">
                <a:cs typeface="Arial" panose="020B0604020202020204" pitchFamily="34" charset="0"/>
              </a:rPr>
              <a:t>  A = { 0, 01}  B= { 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, </a:t>
            </a:r>
            <a:r>
              <a:rPr lang="en-US" altLang="en-US" sz="2800">
                <a:cs typeface="Arial" panose="020B0604020202020204" pitchFamily="34" charset="0"/>
              </a:rPr>
              <a:t>1, 01}</a:t>
            </a:r>
          </a:p>
          <a:p>
            <a:pPr marL="817563" lvl="1" indent="-274638"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en-US" sz="2400" i="1">
                <a:cs typeface="Arial" panose="020B0604020202020204" pitchFamily="34" charset="0"/>
              </a:rPr>
              <a:t>A 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 B = </a:t>
            </a:r>
            <a:r>
              <a:rPr lang="en-US" altLang="en-US" sz="2400">
                <a:cs typeface="Arial" panose="020B0604020202020204" pitchFamily="34" charset="0"/>
              </a:rPr>
              <a:t>{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en-US" sz="2400">
                <a:cs typeface="Arial" panose="020B0604020202020204" pitchFamily="34" charset="0"/>
              </a:rPr>
              <a:t> ,0, 1, 01}</a:t>
            </a:r>
          </a:p>
          <a:p>
            <a:pPr marL="817563" lvl="1" indent="-274638"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en-US" sz="2400" i="1">
                <a:cs typeface="Arial" panose="020B0604020202020204" pitchFamily="34" charset="0"/>
              </a:rPr>
              <a:t>A 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 B = </a:t>
            </a:r>
            <a:r>
              <a:rPr lang="en-US" altLang="en-US" sz="2400">
                <a:cs typeface="Arial" panose="020B0604020202020204" pitchFamily="34" charset="0"/>
              </a:rPr>
              <a:t>{01}</a:t>
            </a:r>
          </a:p>
          <a:p>
            <a:pPr marL="817563" lvl="1" indent="-274638"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en-US" sz="2400">
                <a:cs typeface="Arial" panose="020B0604020202020204" pitchFamily="34" charset="0"/>
              </a:rPr>
              <a:t>AB = {0, 01, 001, 011, 0101}</a:t>
            </a:r>
          </a:p>
          <a:p>
            <a:pPr marL="817563" lvl="1" indent="-274638"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en-US" sz="2400" err="1">
                <a:cs typeface="Arial" panose="020B0604020202020204" pitchFamily="34" charset="0"/>
              </a:rPr>
              <a:t>AxB</a:t>
            </a:r>
            <a:r>
              <a:rPr lang="en-US" altLang="en-US" sz="2400">
                <a:cs typeface="Arial" panose="020B0604020202020204" pitchFamily="34" charset="0"/>
              </a:rPr>
              <a:t> ={&lt;0, 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en-US" sz="2400">
                <a:cs typeface="Arial" panose="020B0604020202020204" pitchFamily="34" charset="0"/>
              </a:rPr>
              <a:t>&gt;, &lt;0,1&gt;, &lt;0,01&gt;,&lt;01, 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en-US" sz="2400">
                <a:cs typeface="Arial" panose="020B0604020202020204" pitchFamily="34" charset="0"/>
              </a:rPr>
              <a:t> &gt;,&lt;01,1&gt;, &lt;01, 01&gt;}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62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62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2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622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2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622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2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622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BBD5C2-2EE2-4F77-B057-232766A9A17F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err="1"/>
              <a:t>Xâu</a:t>
            </a:r>
            <a:r>
              <a:rPr lang="en-US" altLang="en-US" sz="2800"/>
              <a:t> </a:t>
            </a:r>
            <a:r>
              <a:rPr lang="en-US" altLang="en-US" sz="2800" err="1"/>
              <a:t>ký</a:t>
            </a:r>
            <a:r>
              <a:rPr lang="en-US" altLang="en-US" sz="2800"/>
              <a:t> </a:t>
            </a:r>
            <a:r>
              <a:rPr lang="en-US" altLang="en-US" sz="2800" err="1"/>
              <a:t>hiệu</a:t>
            </a:r>
            <a:r>
              <a:rPr lang="en-US" altLang="en-US" sz="2800"/>
              <a:t> </a:t>
            </a:r>
            <a:r>
              <a:rPr lang="en-US" altLang="en-US" sz="2800">
                <a:sym typeface="Symbol" panose="05050102010706020507" pitchFamily="18" charset="2"/>
              </a:rPr>
              <a:t> </a:t>
            </a:r>
            <a:r>
              <a:rPr lang="en-US" altLang="en-US" sz="2800" err="1"/>
              <a:t>Tính</a:t>
            </a:r>
            <a:r>
              <a:rPr lang="en-US" altLang="en-US" sz="2800"/>
              <a:t> </a:t>
            </a:r>
            <a:r>
              <a:rPr lang="en-US" altLang="en-US" sz="2800" err="1"/>
              <a:t>toán</a:t>
            </a:r>
            <a:r>
              <a:rPr lang="en-US" altLang="en-US" sz="2800"/>
              <a:t> </a:t>
            </a:r>
            <a:r>
              <a:rPr lang="en-US" altLang="en-US" sz="2800" err="1"/>
              <a:t>trên</a:t>
            </a:r>
            <a:r>
              <a:rPr lang="en-US" altLang="en-US" sz="2800"/>
              <a:t> </a:t>
            </a:r>
            <a:r>
              <a:rPr lang="en-US" altLang="en-US" sz="2800" err="1"/>
              <a:t>tập</a:t>
            </a:r>
            <a:r>
              <a:rPr lang="en-US" altLang="en-US" sz="2800"/>
              <a:t> </a:t>
            </a:r>
            <a:r>
              <a:rPr lang="en-US" altLang="en-US" sz="2800" err="1"/>
              <a:t>xâu</a:t>
            </a:r>
            <a:endParaRPr lang="en-US" altLang="en-US" sz="2800"/>
          </a:p>
        </p:txBody>
      </p:sp>
      <p:sp>
        <p:nvSpPr>
          <p:cNvPr id="72708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148378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792163"/>
            <a:ext cx="8839200" cy="6019800"/>
          </a:xfrm>
        </p:spPr>
        <p:txBody>
          <a:bodyPr/>
          <a:lstStyle/>
          <a:p>
            <a:pPr marL="363538" indent="-363538" eaLnBrk="1" hangingPunct="1"/>
            <a:r>
              <a:rPr lang="en-US" altLang="en-US" dirty="0">
                <a:cs typeface="Arial" panose="020B0604020202020204" pitchFamily="34" charset="0"/>
              </a:rPr>
              <a:t>A </a:t>
            </a:r>
            <a:r>
              <a:rPr lang="en-US" altLang="en-US" dirty="0" err="1">
                <a:cs typeface="Arial" panose="020B0604020202020204" pitchFamily="34" charset="0"/>
              </a:rPr>
              <a:t>là</a:t>
            </a:r>
            <a:r>
              <a:rPr lang="en-US" altLang="en-US" dirty="0">
                <a:cs typeface="Arial" panose="020B0604020202020204" pitchFamily="34" charset="0"/>
              </a:rPr>
              <a:t> </a:t>
            </a:r>
            <a:r>
              <a:rPr lang="en-US" altLang="en-US" i="1" dirty="0" err="1">
                <a:cs typeface="Arial" panose="020B0604020202020204" pitchFamily="34" charset="0"/>
              </a:rPr>
              <a:t>tập</a:t>
            </a:r>
            <a:r>
              <a:rPr lang="en-US" altLang="en-US" i="1" dirty="0">
                <a:cs typeface="Arial" panose="020B0604020202020204" pitchFamily="34" charset="0"/>
              </a:rPr>
              <a:t> </a:t>
            </a:r>
            <a:r>
              <a:rPr lang="en-US" altLang="en-US" i="1" dirty="0" err="1">
                <a:cs typeface="Arial" panose="020B0604020202020204" pitchFamily="34" charset="0"/>
              </a:rPr>
              <a:t>xâu</a:t>
            </a:r>
            <a:r>
              <a:rPr lang="en-US" altLang="en-US" i="1" dirty="0">
                <a:cs typeface="Arial" panose="020B0604020202020204" pitchFamily="34" charset="0"/>
              </a:rPr>
              <a:t> </a:t>
            </a:r>
            <a:r>
              <a:rPr lang="en-US" altLang="en-US" i="1" dirty="0" err="1">
                <a:cs typeface="Arial" panose="020B0604020202020204" pitchFamily="34" charset="0"/>
              </a:rPr>
              <a:t>trên</a:t>
            </a:r>
            <a:r>
              <a:rPr lang="en-US" altLang="en-US" i="1" dirty="0">
                <a:cs typeface="Arial" panose="020B0604020202020204" pitchFamily="34" charset="0"/>
              </a:rPr>
              <a:t> </a:t>
            </a:r>
            <a:r>
              <a:rPr lang="en-US" altLang="en-US" i="1" dirty="0" err="1">
                <a:cs typeface="Arial" panose="020B0604020202020204" pitchFamily="34" charset="0"/>
              </a:rPr>
              <a:t>một</a:t>
            </a:r>
            <a:r>
              <a:rPr lang="en-US" altLang="en-US" i="1" dirty="0">
                <a:cs typeface="Arial" panose="020B0604020202020204" pitchFamily="34" charset="0"/>
              </a:rPr>
              <a:t> </a:t>
            </a:r>
            <a:r>
              <a:rPr lang="en-US" altLang="en-US" i="1" dirty="0" err="1">
                <a:cs typeface="Arial" panose="020B0604020202020204" pitchFamily="34" charset="0"/>
              </a:rPr>
              <a:t>bộ</a:t>
            </a:r>
            <a:r>
              <a:rPr lang="en-US" altLang="en-US" i="1" dirty="0">
                <a:cs typeface="Arial" panose="020B0604020202020204" pitchFamily="34" charset="0"/>
              </a:rPr>
              <a:t> </a:t>
            </a:r>
            <a:r>
              <a:rPr lang="en-US" altLang="en-US" i="1" dirty="0" err="1">
                <a:cs typeface="Arial" panose="020B0604020202020204" pitchFamily="34" charset="0"/>
              </a:rPr>
              <a:t>chữ</a:t>
            </a:r>
            <a:r>
              <a:rPr lang="en-US" altLang="en-US" i="1" dirty="0">
                <a:cs typeface="Arial" panose="020B0604020202020204" pitchFamily="34" charset="0"/>
              </a:rPr>
              <a:t> </a:t>
            </a:r>
          </a:p>
          <a:p>
            <a:pPr marL="763588" lvl="1" indent="-363538" eaLnBrk="1" hangingPunct="1"/>
            <a:r>
              <a:rPr lang="en-US" altLang="en-US" b="1" i="1" dirty="0" err="1">
                <a:cs typeface="Arial" panose="020B0604020202020204" pitchFamily="34" charset="0"/>
              </a:rPr>
              <a:t>Lũy</a:t>
            </a:r>
            <a:r>
              <a:rPr lang="en-US" altLang="en-US" b="1" i="1" dirty="0">
                <a:cs typeface="Arial" panose="020B0604020202020204" pitchFamily="34" charset="0"/>
              </a:rPr>
              <a:t> </a:t>
            </a:r>
            <a:r>
              <a:rPr lang="en-US" altLang="en-US" b="1" i="1" dirty="0" err="1">
                <a:cs typeface="Arial" panose="020B0604020202020204" pitchFamily="34" charset="0"/>
              </a:rPr>
              <a:t>thừa</a:t>
            </a:r>
            <a:r>
              <a:rPr lang="en-US" altLang="en-US" i="1" dirty="0">
                <a:cs typeface="Arial" panose="020B0604020202020204" pitchFamily="34" charset="0"/>
              </a:rPr>
              <a:t>:	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baseline="30000" dirty="0"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= {</a:t>
            </a:r>
            <a:r>
              <a:rPr lang="el-GR" altLang="en-US" dirty="0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} 			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nếu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n = 0</a:t>
            </a:r>
          </a:p>
          <a:p>
            <a:pPr marL="363538" indent="-363538" eaLnBrk="1" hangingPunct="1">
              <a:buFontTx/>
              <a:buNone/>
            </a:pPr>
            <a:r>
              <a:rPr lang="en-US" altLang="en-US" i="1" dirty="0">
                <a:cs typeface="Arial" panose="020B0604020202020204" pitchFamily="34" charset="0"/>
              </a:rPr>
              <a:t>				</a:t>
            </a:r>
            <a:r>
              <a:rPr lang="en-US" altLang="en-US" dirty="0">
                <a:cs typeface="Arial" panose="020B0604020202020204" pitchFamily="34" charset="0"/>
              </a:rPr>
              <a:t>A</a:t>
            </a:r>
            <a:r>
              <a:rPr lang="en-US" altLang="en-US" baseline="30000" dirty="0">
                <a:cs typeface="Arial" panose="020B0604020202020204" pitchFamily="34" charset="0"/>
              </a:rPr>
              <a:t>n</a:t>
            </a:r>
            <a:r>
              <a:rPr lang="en-US" altLang="en-US" dirty="0">
                <a:cs typeface="Arial" panose="020B0604020202020204" pitchFamily="34" charset="0"/>
              </a:rPr>
              <a:t> = AA</a:t>
            </a:r>
            <a:r>
              <a:rPr lang="en-US" altLang="en-US" baseline="30000" dirty="0">
                <a:cs typeface="Arial" panose="020B0604020202020204" pitchFamily="34" charset="0"/>
              </a:rPr>
              <a:t>n-1 </a:t>
            </a:r>
            <a:r>
              <a:rPr lang="en-US" altLang="en-US" dirty="0">
                <a:cs typeface="Arial" panose="020B0604020202020204" pitchFamily="34" charset="0"/>
              </a:rPr>
              <a:t>= A</a:t>
            </a:r>
            <a:r>
              <a:rPr lang="en-US" altLang="en-US" baseline="30000" dirty="0">
                <a:cs typeface="Arial" panose="020B0604020202020204" pitchFamily="34" charset="0"/>
              </a:rPr>
              <a:t>n-1</a:t>
            </a:r>
            <a:r>
              <a:rPr lang="en-US" altLang="en-US" dirty="0">
                <a:cs typeface="Arial" panose="020B0604020202020204" pitchFamily="34" charset="0"/>
              </a:rPr>
              <a:t>A 	</a:t>
            </a:r>
            <a:r>
              <a:rPr lang="en-US" altLang="en-US" dirty="0" err="1">
                <a:cs typeface="Arial" panose="020B0604020202020204" pitchFamily="34" charset="0"/>
              </a:rPr>
              <a:t>nếu</a:t>
            </a:r>
            <a:r>
              <a:rPr lang="en-US" altLang="en-US" dirty="0">
                <a:cs typeface="Arial" panose="020B0604020202020204" pitchFamily="34" charset="0"/>
              </a:rPr>
              <a:t> n &gt; 0</a:t>
            </a:r>
            <a:endParaRPr lang="en-US" altLang="en-US" i="1" dirty="0">
              <a:cs typeface="Arial" panose="020B0604020202020204" pitchFamily="34" charset="0"/>
            </a:endParaRPr>
          </a:p>
          <a:p>
            <a:pPr marL="817563" lvl="1" indent="-274638" eaLnBrk="1" hangingPunct="1"/>
            <a:r>
              <a:rPr lang="en-US" altLang="en-US" b="1" i="1" dirty="0">
                <a:cs typeface="Arial" panose="020B0604020202020204" pitchFamily="34" charset="0"/>
              </a:rPr>
              <a:t>Bao </a:t>
            </a:r>
            <a:r>
              <a:rPr lang="en-US" altLang="en-US" b="1" i="1" dirty="0" err="1">
                <a:cs typeface="Arial" panose="020B0604020202020204" pitchFamily="34" charset="0"/>
              </a:rPr>
              <a:t>đóng</a:t>
            </a:r>
            <a:r>
              <a:rPr lang="en-US" altLang="en-US" i="1" dirty="0">
                <a:cs typeface="Arial" panose="020B0604020202020204" pitchFamily="34" charset="0"/>
              </a:rPr>
              <a:t>: 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baseline="30000" dirty="0"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lim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(A</a:t>
            </a:r>
            <a:r>
              <a:rPr lang="en-US" altLang="en-US" baseline="30000" dirty="0"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 A</a:t>
            </a:r>
            <a:r>
              <a:rPr lang="en-US" altLang="en-US" baseline="30000" dirty="0"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..  A</a:t>
            </a:r>
            <a:r>
              <a:rPr lang="en-US" altLang="en-US" baseline="30000" dirty="0"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),  n</a:t>
            </a:r>
          </a:p>
          <a:p>
            <a:pPr marL="817563" lvl="1" indent="-274638" eaLnBrk="1" hangingPunct="1"/>
            <a:r>
              <a:rPr lang="en-US" altLang="en-US" b="1" i="1" dirty="0">
                <a:cs typeface="Arial" panose="020B0604020202020204" pitchFamily="34" charset="0"/>
              </a:rPr>
              <a:t>Bao </a:t>
            </a:r>
            <a:r>
              <a:rPr lang="en-US" altLang="en-US" b="1" i="1" dirty="0" err="1">
                <a:cs typeface="Arial" panose="020B0604020202020204" pitchFamily="34" charset="0"/>
              </a:rPr>
              <a:t>đóng</a:t>
            </a:r>
            <a:r>
              <a:rPr lang="en-US" altLang="en-US" b="1" i="1" dirty="0">
                <a:cs typeface="Arial" panose="020B0604020202020204" pitchFamily="34" charset="0"/>
              </a:rPr>
              <a:t> </a:t>
            </a:r>
            <a:r>
              <a:rPr lang="en-US" altLang="en-US" b="1" i="1" dirty="0" err="1">
                <a:cs typeface="Arial" panose="020B0604020202020204" pitchFamily="34" charset="0"/>
              </a:rPr>
              <a:t>dương</a:t>
            </a:r>
            <a:r>
              <a:rPr lang="en-US" altLang="en-US" i="1" dirty="0">
                <a:cs typeface="Arial" panose="020B0604020202020204" pitchFamily="34" charset="0"/>
              </a:rPr>
              <a:t> : 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baseline="30000" dirty="0"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lim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(A</a:t>
            </a:r>
            <a:r>
              <a:rPr lang="en-US" altLang="en-US" baseline="30000" dirty="0"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 A</a:t>
            </a:r>
            <a:r>
              <a:rPr lang="en-US" altLang="en-US" baseline="30000" dirty="0"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..  A</a:t>
            </a:r>
            <a:r>
              <a:rPr lang="en-US" altLang="en-US" baseline="30000" dirty="0"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marL="363538" indent="-363538" eaLnBrk="1" hangingPunct="1"/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Nhận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xét</a:t>
            </a:r>
            <a:endParaRPr lang="en-US" altLang="en-US" dirty="0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763588" lvl="1" indent="-363538" eaLnBrk="1" hangingPunct="1"/>
            <a:r>
              <a:rPr lang="en-US" altLang="en-US" b="1" dirty="0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b="1" baseline="30000" dirty="0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 b="1" dirty="0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Tập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tất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cả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các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xâu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có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thể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được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tạo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nên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từ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các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ký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hiệu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trong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A, </a:t>
            </a:r>
            <a:r>
              <a:rPr lang="en-US" altLang="en-US" i="1" dirty="0" err="1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kể</a:t>
            </a:r>
            <a:r>
              <a:rPr lang="en-US" altLang="en-US" i="1" dirty="0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cả</a:t>
            </a:r>
            <a:r>
              <a:rPr lang="en-US" altLang="en-US" i="1" dirty="0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xâu</a:t>
            </a:r>
            <a:r>
              <a:rPr lang="en-US" altLang="en-US" i="1" dirty="0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rỗng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marL="763588" lvl="1" indent="-363538" eaLnBrk="1" hangingPunct="1"/>
            <a:r>
              <a:rPr lang="en-US" altLang="en-US" b="1" dirty="0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b="1" baseline="30000" dirty="0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 b="1" dirty="0"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Tập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tất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cả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các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xâu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có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thể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được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tạo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nên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từ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các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ký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hiệu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trong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A, </a:t>
            </a:r>
            <a:r>
              <a:rPr lang="en-US" altLang="en-US" i="1" dirty="0" err="1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không</a:t>
            </a:r>
            <a:r>
              <a:rPr lang="en-US" altLang="en-US" i="1" dirty="0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kể</a:t>
            </a:r>
            <a:r>
              <a:rPr lang="en-US" altLang="en-US" i="1" dirty="0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xâu</a:t>
            </a:r>
            <a:r>
              <a:rPr lang="en-US" altLang="en-US" i="1" dirty="0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rỗng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837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4837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837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03A8ECF-862F-44BC-BF38-45EF54270EE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err="1"/>
              <a:t>Xâu</a:t>
            </a:r>
            <a:r>
              <a:rPr lang="en-US" altLang="en-US" sz="2800"/>
              <a:t> </a:t>
            </a:r>
            <a:r>
              <a:rPr lang="en-US" altLang="en-US" sz="2800" err="1"/>
              <a:t>ký</a:t>
            </a:r>
            <a:r>
              <a:rPr lang="en-US" altLang="en-US" sz="2800"/>
              <a:t> </a:t>
            </a:r>
            <a:r>
              <a:rPr lang="en-US" altLang="en-US" sz="2800" err="1"/>
              <a:t>hiệu</a:t>
            </a:r>
            <a:r>
              <a:rPr lang="en-US" altLang="en-US" sz="2800"/>
              <a:t> </a:t>
            </a:r>
            <a:r>
              <a:rPr lang="en-US" altLang="en-US" sz="2800">
                <a:sym typeface="Symbol" panose="05050102010706020507" pitchFamily="18" charset="2"/>
              </a:rPr>
              <a:t> </a:t>
            </a:r>
            <a:r>
              <a:rPr lang="en-US" altLang="en-US" sz="2800" err="1"/>
              <a:t>Tính</a:t>
            </a:r>
            <a:r>
              <a:rPr lang="en-US" altLang="en-US" sz="2800"/>
              <a:t> </a:t>
            </a:r>
            <a:r>
              <a:rPr lang="en-US" altLang="en-US" sz="2800" err="1"/>
              <a:t>toán</a:t>
            </a:r>
            <a:r>
              <a:rPr lang="en-US" altLang="en-US" sz="2800"/>
              <a:t> </a:t>
            </a:r>
            <a:r>
              <a:rPr lang="en-US" altLang="en-US" sz="2800" err="1"/>
              <a:t>trên</a:t>
            </a:r>
            <a:r>
              <a:rPr lang="en-US" altLang="en-US" sz="2800"/>
              <a:t> </a:t>
            </a:r>
            <a:r>
              <a:rPr lang="en-US" altLang="en-US" sz="2800" err="1"/>
              <a:t>tập</a:t>
            </a:r>
            <a:r>
              <a:rPr lang="en-US" altLang="en-US" sz="2800"/>
              <a:t> </a:t>
            </a:r>
            <a:r>
              <a:rPr lang="en-US" altLang="en-US" sz="2800" err="1"/>
              <a:t>xâu</a:t>
            </a:r>
            <a:endParaRPr lang="en-US" altLang="en-US" sz="2800">
              <a:sym typeface="Symbol" panose="05050102010706020507" pitchFamily="18" charset="2"/>
            </a:endParaRPr>
          </a:p>
        </p:txBody>
      </p:sp>
      <p:sp>
        <p:nvSpPr>
          <p:cNvPr id="73732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148685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8763000" cy="5867400"/>
          </a:xfrm>
          <a:noFill/>
        </p:spPr>
        <p:txBody>
          <a:bodyPr/>
          <a:lstStyle/>
          <a:p>
            <a:pPr marL="231775" indent="-231775" eaLnBrk="1" hangingPunct="1">
              <a:lnSpc>
                <a:spcPct val="110000"/>
              </a:lnSpc>
            </a:pPr>
            <a:r>
              <a:rPr lang="en-US" altLang="en-US" b="1" dirty="0" err="1">
                <a:cs typeface="Arial" panose="020B0604020202020204" pitchFamily="34" charset="0"/>
                <a:sym typeface="Symbol" panose="05050102010706020507" pitchFamily="18" charset="2"/>
              </a:rPr>
              <a:t>Ví</a:t>
            </a:r>
            <a:r>
              <a:rPr lang="en-US" altLang="en-US" b="1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b="1" dirty="0" err="1">
                <a:cs typeface="Arial" panose="020B0604020202020204" pitchFamily="34" charset="0"/>
                <a:sym typeface="Symbol" panose="05050102010706020507" pitchFamily="18" charset="2"/>
              </a:rPr>
              <a:t>dụ</a:t>
            </a:r>
            <a:r>
              <a:rPr lang="en-US" altLang="en-US" b="1" dirty="0">
                <a:cs typeface="Arial" panose="020B0604020202020204" pitchFamily="34" charset="0"/>
                <a:sym typeface="Symbol" panose="05050102010706020507" pitchFamily="18" charset="2"/>
              </a:rPr>
              <a:t> :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Cho A = {0, 1}, B = {a, b}</a:t>
            </a:r>
          </a:p>
          <a:p>
            <a:pPr marL="739775" lvl="1" indent="-274638" eaLnBrk="1" hangingPunct="1"/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baseline="30000" dirty="0">
                <a:cs typeface="Arial" panose="020B0604020202020204" pitchFamily="34" charset="0"/>
                <a:sym typeface="Symbol" panose="05050102010706020507" pitchFamily="18" charset="2"/>
              </a:rPr>
              <a:t>0 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= {</a:t>
            </a:r>
            <a:r>
              <a:rPr lang="el-GR" altLang="en-US" dirty="0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}     A</a:t>
            </a:r>
            <a:r>
              <a:rPr lang="en-US" altLang="en-US" baseline="30000" dirty="0">
                <a:cs typeface="Arial" panose="020B0604020202020204" pitchFamily="34" charset="0"/>
                <a:sym typeface="Symbol" panose="05050102010706020507" pitchFamily="18" charset="2"/>
              </a:rPr>
              <a:t>1 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= {0, 1}      </a:t>
            </a:r>
          </a:p>
          <a:p>
            <a:pPr marL="739775" lvl="1" indent="-274638" eaLnBrk="1" hangingPunct="1"/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baseline="30000" dirty="0"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= = {00, 01, 10, 11}</a:t>
            </a:r>
          </a:p>
          <a:p>
            <a:pPr marL="739775" lvl="1" indent="-274638" eaLnBrk="1" hangingPunct="1"/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baseline="30000" dirty="0"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= {</a:t>
            </a:r>
            <a:r>
              <a:rPr lang="en-US" altLang="en-US" i="1" dirty="0" err="1">
                <a:cs typeface="Arial" panose="020B0604020202020204" pitchFamily="34" charset="0"/>
                <a:sym typeface="Symbol" panose="05050102010706020507" pitchFamily="18" charset="2"/>
              </a:rPr>
              <a:t>Tập</a:t>
            </a:r>
            <a:r>
              <a:rPr lang="en-US" altLang="en-US" i="1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cs typeface="Arial" panose="020B0604020202020204" pitchFamily="34" charset="0"/>
                <a:sym typeface="Symbol" panose="05050102010706020507" pitchFamily="18" charset="2"/>
              </a:rPr>
              <a:t>các</a:t>
            </a:r>
            <a:r>
              <a:rPr lang="en-US" altLang="en-US" i="1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cs typeface="Arial" panose="020B0604020202020204" pitchFamily="34" charset="0"/>
                <a:sym typeface="Symbol" panose="05050102010706020507" pitchFamily="18" charset="2"/>
              </a:rPr>
              <a:t>số</a:t>
            </a:r>
            <a:r>
              <a:rPr lang="en-US" altLang="en-US" i="1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cs typeface="Arial" panose="020B0604020202020204" pitchFamily="34" charset="0"/>
                <a:sym typeface="Symbol" panose="05050102010706020507" pitchFamily="18" charset="2"/>
              </a:rPr>
              <a:t>nhị</a:t>
            </a:r>
            <a:r>
              <a:rPr lang="en-US" altLang="en-US" i="1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cs typeface="Arial" panose="020B0604020202020204" pitchFamily="34" charset="0"/>
                <a:sym typeface="Symbol" panose="05050102010706020507" pitchFamily="18" charset="2"/>
              </a:rPr>
              <a:t>phân</a:t>
            </a:r>
            <a:r>
              <a:rPr lang="en-US" altLang="en-US" i="1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cs typeface="Arial" panose="020B0604020202020204" pitchFamily="34" charset="0"/>
                <a:sym typeface="Symbol" panose="05050102010706020507" pitchFamily="18" charset="2"/>
              </a:rPr>
              <a:t>độ</a:t>
            </a:r>
            <a:r>
              <a:rPr lang="en-US" altLang="en-US" i="1" dirty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cs typeface="Arial" panose="020B0604020202020204" pitchFamily="34" charset="0"/>
                <a:sym typeface="Symbol" panose="05050102010706020507" pitchFamily="18" charset="2"/>
              </a:rPr>
              <a:t>dài</a:t>
            </a:r>
            <a:r>
              <a:rPr lang="en-US" altLang="en-US" i="1" dirty="0">
                <a:cs typeface="Arial" panose="020B0604020202020204" pitchFamily="34" charset="0"/>
                <a:sym typeface="Symbol" panose="05050102010706020507" pitchFamily="18" charset="2"/>
              </a:rPr>
              <a:t> n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}</a:t>
            </a:r>
          </a:p>
          <a:p>
            <a:pPr marL="739775" lvl="1" indent="-274638" eaLnBrk="1" hangingPunct="1"/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baseline="30000" dirty="0"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	= {0, 1, 00, 01, 10, 11, 000, 001,…}</a:t>
            </a:r>
            <a:endParaRPr lang="en-US" altLang="en-US" baseline="30000" dirty="0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739775" lvl="1" indent="-274638" eaLnBrk="1" hangingPunct="1"/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baseline="30000" dirty="0"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	= {</a:t>
            </a:r>
            <a:r>
              <a:rPr lang="el-GR" altLang="en-US" dirty="0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, 0, 1, 00, 01, 10, 11, 000, 001,…}</a:t>
            </a:r>
          </a:p>
          <a:p>
            <a:pPr marL="739775" lvl="1" indent="-274638" eaLnBrk="1" hangingPunct="1"/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BA</a:t>
            </a:r>
            <a:r>
              <a:rPr lang="en-US" altLang="en-US" baseline="30000" dirty="0"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baseline="-25000" dirty="0"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= {</a:t>
            </a:r>
            <a:r>
              <a:rPr lang="en-US" altLang="en-US" dirty="0" err="1">
                <a:cs typeface="Arial" panose="020B0604020202020204" pitchFamily="34" charset="0"/>
                <a:sym typeface="Symbol" panose="05050102010706020507" pitchFamily="18" charset="2"/>
              </a:rPr>
              <a:t>a,b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}{00,01,10,11}</a:t>
            </a:r>
          </a:p>
          <a:p>
            <a:pPr marL="739775" lvl="1" indent="-274638" eaLnBrk="1" hangingPunct="1">
              <a:buFontTx/>
              <a:buNone/>
            </a:pPr>
            <a:r>
              <a:rPr lang="en-US" altLang="en-US" baseline="30000" dirty="0">
                <a:cs typeface="Arial" panose="020B0604020202020204" pitchFamily="34" charset="0"/>
                <a:sym typeface="Symbol" panose="05050102010706020507" pitchFamily="18" charset="2"/>
              </a:rPr>
              <a:t>			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= {a00,a01,a10,a11, b00,b01,b10,b11}</a:t>
            </a:r>
          </a:p>
          <a:p>
            <a:pPr marL="739775" lvl="1" indent="-274638" eaLnBrk="1" hangingPunct="1"/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BA</a:t>
            </a:r>
            <a:r>
              <a:rPr lang="en-US" altLang="en-US" baseline="30000" dirty="0"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	= {a0, a1, a00, b0, b1, b00, b01,….}</a:t>
            </a:r>
          </a:p>
          <a:p>
            <a:pPr marL="739775" lvl="1" indent="-274638" eaLnBrk="1" hangingPunct="1"/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baseline="30000" dirty="0"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BA</a:t>
            </a:r>
            <a:r>
              <a:rPr lang="en-US" altLang="en-US" baseline="30000"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= {0a0, 0a1,….}</a:t>
            </a:r>
            <a:endParaRPr lang="en-US" altLang="en-US" dirty="0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739775" lvl="1" indent="-274638" eaLnBrk="1" hangingPunct="1"/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ABA</a:t>
            </a:r>
            <a:r>
              <a:rPr lang="en-US" altLang="en-US" baseline="30000" dirty="0"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=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8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868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8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868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8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868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8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868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8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868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8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4868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8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4868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4F76F0-2D4D-47CF-90EF-A4AF9E6216F7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Ngôn ngữ (Languages)</a:t>
            </a:r>
          </a:p>
        </p:txBody>
      </p:sp>
      <p:sp>
        <p:nvSpPr>
          <p:cNvPr id="71684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148378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792163"/>
            <a:ext cx="8839200" cy="6019800"/>
          </a:xfrm>
        </p:spPr>
        <p:txBody>
          <a:bodyPr/>
          <a:lstStyle/>
          <a:p>
            <a:pPr marL="290513" indent="-290513" eaLnBrk="1" hangingPunct="1">
              <a:lnSpc>
                <a:spcPct val="110000"/>
              </a:lnSpc>
              <a:defRPr/>
            </a:pP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Cho </a:t>
            </a:r>
            <a:r>
              <a:rPr lang="en-US" altLang="en-US" sz="2800" b="1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Là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một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bộ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chữ</a:t>
            </a:r>
            <a:endParaRPr lang="en-US" altLang="en-US" sz="2800">
              <a:solidFill>
                <a:srgbClr val="002060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690563" lvl="1" indent="-290513" eaLnBrk="1" hangingPunct="1">
              <a:lnSpc>
                <a:spcPct val="110000"/>
              </a:lnSpc>
              <a:defRPr/>
            </a:pPr>
            <a:r>
              <a:rPr lang="en-US" altLang="en-US" sz="2400" b="1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n-US" altLang="en-US" sz="2400" b="1" baseline="30000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Tập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tất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cả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các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xâu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trên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bộ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chữ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kể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cả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xâu</a:t>
            </a:r>
            <a:r>
              <a:rPr lang="en-US" altLang="en-US" sz="2400" b="1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</a:t>
            </a:r>
          </a:p>
          <a:p>
            <a:pPr marL="690563" lvl="1" indent="-290513" eaLnBrk="1" hangingPunct="1">
              <a:lnSpc>
                <a:spcPct val="110000"/>
              </a:lnSpc>
              <a:defRPr/>
            </a:pPr>
            <a:r>
              <a:rPr lang="en-US" altLang="en-US" sz="2400" b="1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n-US" altLang="en-US" sz="2400" b="1" baseline="30000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Tập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tất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cả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các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xâu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trên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bộ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chữ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không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kể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xâu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b="1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</a:p>
          <a:p>
            <a:pPr marL="1090613" lvl="2" indent="-290513" eaLnBrk="1" hangingPunct="1">
              <a:lnSpc>
                <a:spcPct val="110000"/>
              </a:lnSpc>
              <a:defRPr/>
            </a:pPr>
            <a:r>
              <a:rPr lang="en-US" altLang="en-US" sz="2000" b="1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n-US" altLang="en-US" sz="2000" b="1" baseline="30000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 </a:t>
            </a: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là</a:t>
            </a:r>
            <a:r>
              <a:rPr lang="en-US" altLang="en-US" sz="20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đếm</a:t>
            </a:r>
            <a:r>
              <a:rPr lang="en-US" altLang="en-US" sz="20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được</a:t>
            </a:r>
            <a:r>
              <a:rPr lang="en-US" altLang="en-US" sz="20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Liệt</a:t>
            </a:r>
            <a:r>
              <a:rPr lang="en-US" altLang="en-US" sz="20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kê</a:t>
            </a:r>
            <a:r>
              <a:rPr lang="en-US" altLang="en-US" sz="20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lần</a:t>
            </a:r>
            <a:r>
              <a:rPr lang="en-US" altLang="en-US" sz="20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lượt</a:t>
            </a:r>
            <a:r>
              <a:rPr lang="en-US" altLang="en-US" sz="20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các</a:t>
            </a:r>
            <a:r>
              <a:rPr lang="en-US" altLang="en-US" sz="20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xâu</a:t>
            </a:r>
            <a:r>
              <a:rPr lang="en-US" altLang="en-US" sz="20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của</a:t>
            </a:r>
            <a:r>
              <a:rPr lang="en-US" altLang="en-US" sz="20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 b="1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n-US" altLang="en-US" sz="2000" b="1" baseline="30000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  </a:t>
            </a: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theo</a:t>
            </a:r>
            <a:r>
              <a:rPr lang="en-US" altLang="en-US" sz="20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thứ</a:t>
            </a:r>
            <a:r>
              <a:rPr lang="en-US" altLang="en-US" sz="20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tự</a:t>
            </a:r>
            <a:r>
              <a:rPr lang="en-US" altLang="en-US" sz="20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độ</a:t>
            </a:r>
            <a:r>
              <a:rPr lang="en-US" altLang="en-US" sz="20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dài</a:t>
            </a:r>
            <a:endParaRPr lang="en-US" altLang="en-US" sz="2000">
              <a:solidFill>
                <a:srgbClr val="002060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800100" lvl="2" indent="2232025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Cùng</a:t>
            </a:r>
            <a:r>
              <a:rPr lang="en-US" altLang="en-US" sz="20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độ</a:t>
            </a:r>
            <a:r>
              <a:rPr lang="en-US" altLang="en-US" sz="20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dài</a:t>
            </a:r>
            <a:r>
              <a:rPr lang="en-US" altLang="en-US" sz="20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liệt</a:t>
            </a:r>
            <a:r>
              <a:rPr lang="en-US" altLang="en-US" sz="20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kê</a:t>
            </a:r>
            <a:r>
              <a:rPr lang="en-US" altLang="en-US" sz="20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theo</a:t>
            </a:r>
            <a:r>
              <a:rPr lang="en-US" altLang="en-US" sz="20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thứ</a:t>
            </a:r>
            <a:r>
              <a:rPr lang="en-US" altLang="en-US" sz="20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tự</a:t>
            </a:r>
            <a:r>
              <a:rPr lang="en-US" altLang="en-US" sz="20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từ</a:t>
            </a:r>
            <a:r>
              <a:rPr lang="en-US" altLang="en-US" sz="20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điển</a:t>
            </a:r>
            <a:endParaRPr lang="en-US" altLang="en-US" sz="2000">
              <a:solidFill>
                <a:srgbClr val="002060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290513" indent="-290513" eaLnBrk="1" hangingPunct="1">
              <a:lnSpc>
                <a:spcPct val="110000"/>
              </a:lnSpc>
              <a:spcBef>
                <a:spcPts val="1200"/>
              </a:spcBef>
              <a:defRPr/>
            </a:pP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Cho </a:t>
            </a:r>
            <a:r>
              <a:rPr lang="en-US" altLang="en-US" sz="2800" b="1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Là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một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bộ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chữ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</a:p>
          <a:p>
            <a:pPr marL="0" indent="0" eaLnBrk="1" hangingPunct="1">
              <a:lnSpc>
                <a:spcPct val="110000"/>
              </a:lnSpc>
              <a:buFontTx/>
              <a:buNone/>
              <a:defRPr/>
            </a:pP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 sz="2800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 V</a:t>
            </a:r>
            <a:r>
              <a:rPr lang="en-US" altLang="en-US" sz="2800" baseline="30000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 sz="28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được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gọi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là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một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ngôn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ngữ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trên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bộ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chữ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>
                <a:solidFill>
                  <a:srgbClr val="4717C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</a:p>
          <a:p>
            <a:pPr marL="1371600" lvl="2" indent="-457200" eaLnBrk="1" hangingPunct="1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Mỗi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p/</a:t>
            </a:r>
            <a:r>
              <a:rPr lang="en-US" altLang="en-US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tử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của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L </a:t>
            </a:r>
            <a:r>
              <a:rPr lang="en-US" altLang="en-US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được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gọi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là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một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câu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/</a:t>
            </a:r>
            <a:r>
              <a:rPr lang="en-US" altLang="en-US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từ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/</a:t>
            </a:r>
            <a:r>
              <a:rPr lang="en-US" altLang="en-US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xâu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ngôn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ngữ</a:t>
            </a:r>
            <a:endParaRPr lang="en-US" altLang="en-US">
              <a:solidFill>
                <a:srgbClr val="002060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1371600" lvl="2" indent="-457200" eaLnBrk="1" hangingPunct="1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Tập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{} </a:t>
            </a:r>
            <a:r>
              <a:rPr lang="en-US" altLang="en-US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và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 </a:t>
            </a:r>
            <a:r>
              <a:rPr lang="en-US" altLang="en-US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là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en-US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ngôn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ngữ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trên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mọi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bộ</a:t>
            </a:r>
            <a:r>
              <a:rPr lang="en-US" altLang="en-US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chữ</a:t>
            </a:r>
            <a:endParaRPr lang="en-US" altLang="en-US">
              <a:solidFill>
                <a:srgbClr val="002060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571500" indent="-457200" eaLnBrk="1" hangingPunct="1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8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Nhận</a:t>
            </a:r>
            <a:r>
              <a:rPr lang="en-US" altLang="en-US" sz="28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xét</a:t>
            </a:r>
            <a:endParaRPr lang="en-US" altLang="en-US" sz="2800">
              <a:solidFill>
                <a:srgbClr val="002060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971550" lvl="1" indent="-457200" eaLnBrk="1" hangingPunct="1">
              <a:lnSpc>
                <a:spcPct val="110000"/>
              </a:lnSpc>
              <a:buFont typeface="Arial" panose="020B0604020202020204" pitchFamily="34" charset="0"/>
              <a:buChar char="−"/>
              <a:defRPr/>
            </a:pP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Ngôn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ngữ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là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một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tập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lang="en-US" altLang="en-US" sz="2400" i="1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các</a:t>
            </a:r>
            <a:r>
              <a:rPr lang="en-US" altLang="en-US" sz="2400" i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i="1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xâu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) 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Có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thể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tạo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ngôn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ngữ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mới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từ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các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ngôn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ngữ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đã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có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bởi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sử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dụng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toán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tử</a:t>
            </a:r>
            <a:r>
              <a:rPr lang="en-US" altLang="en-US" sz="2400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 err="1">
                <a:solidFill>
                  <a:srgbClr val="00206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tập</a:t>
            </a:r>
            <a:endParaRPr lang="en-US" altLang="en-US" sz="2400">
              <a:solidFill>
                <a:srgbClr val="002060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837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4837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837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4837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4837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48378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9A88B7-9EF5-40BE-BAB5-8815735C84E5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Ngôn ngữ (Languages)</a:t>
            </a:r>
            <a:r>
              <a:rPr lang="en-US" altLang="en-US" sz="2800">
                <a:sym typeface="Symbol" panose="05050102010706020507" pitchFamily="18" charset="2"/>
              </a:rPr>
              <a:t>  Các phép toán</a:t>
            </a:r>
            <a:endParaRPr lang="en-US" altLang="en-US" sz="2800"/>
          </a:p>
        </p:txBody>
      </p:sp>
      <p:sp>
        <p:nvSpPr>
          <p:cNvPr id="72708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148378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792163"/>
            <a:ext cx="8839200" cy="6019800"/>
          </a:xfrm>
        </p:spPr>
        <p:txBody>
          <a:bodyPr/>
          <a:lstStyle/>
          <a:p>
            <a:pPr marL="363538" indent="-363538" eaLnBrk="1" hangingPunct="1"/>
            <a:r>
              <a:rPr lang="en-US" altLang="en-US" err="1">
                <a:cs typeface="Arial" panose="020B0604020202020204" pitchFamily="34" charset="0"/>
              </a:rPr>
              <a:t>Ví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n-US" altLang="en-US" err="1">
                <a:cs typeface="Arial" panose="020B0604020202020204" pitchFamily="34" charset="0"/>
              </a:rPr>
              <a:t>dụ</a:t>
            </a:r>
            <a:r>
              <a:rPr lang="en-US" altLang="en-US">
                <a:cs typeface="Arial" panose="020B0604020202020204" pitchFamily="34" charset="0"/>
              </a:rPr>
              <a:t>: </a:t>
            </a:r>
          </a:p>
          <a:p>
            <a:pPr marL="763588" lvl="1" indent="-363538" eaLnBrk="1" hangingPunct="1"/>
            <a:r>
              <a:rPr lang="en-US" altLang="en-US" err="1">
                <a:cs typeface="Arial" panose="020B0604020202020204" pitchFamily="34" charset="0"/>
              </a:rPr>
              <a:t>Nếu</a:t>
            </a:r>
            <a:r>
              <a:rPr lang="en-US" altLang="en-US">
                <a:cs typeface="Arial" panose="020B0604020202020204" pitchFamily="34" charset="0"/>
              </a:rPr>
              <a:t> L, L</a:t>
            </a:r>
            <a:r>
              <a:rPr lang="en-US" altLang="en-US" baseline="-25000">
                <a:cs typeface="Arial" panose="020B0604020202020204" pitchFamily="34" charset="0"/>
              </a:rPr>
              <a:t>1</a:t>
            </a:r>
            <a:r>
              <a:rPr lang="en-US" altLang="en-US">
                <a:cs typeface="Arial" panose="020B0604020202020204" pitchFamily="34" charset="0"/>
              </a:rPr>
              <a:t>, L</a:t>
            </a:r>
            <a:r>
              <a:rPr lang="en-US" altLang="en-US" baseline="-25000">
                <a:cs typeface="Arial" panose="020B0604020202020204" pitchFamily="34" charset="0"/>
              </a:rPr>
              <a:t>2</a:t>
            </a:r>
            <a:r>
              <a:rPr lang="en-US" altLang="en-US">
                <a:cs typeface="Arial" panose="020B0604020202020204" pitchFamily="34" charset="0"/>
              </a:rPr>
              <a:t> : </a:t>
            </a:r>
            <a:r>
              <a:rPr lang="en-US" altLang="en-US" err="1">
                <a:cs typeface="Arial" panose="020B0604020202020204" pitchFamily="34" charset="0"/>
              </a:rPr>
              <a:t>Ngôn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n-US" altLang="en-US" err="1">
                <a:cs typeface="Arial" panose="020B0604020202020204" pitchFamily="34" charset="0"/>
              </a:rPr>
              <a:t>ngữ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n-US" altLang="en-US" err="1">
                <a:cs typeface="Arial" panose="020B0604020202020204" pitchFamily="34" charset="0"/>
              </a:rPr>
              <a:t>trên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n-US" altLang="en-US" err="1">
                <a:cs typeface="Arial" panose="020B0604020202020204" pitchFamily="34" charset="0"/>
              </a:rPr>
              <a:t>cùng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n-US" altLang="en-US" err="1">
                <a:cs typeface="Arial" panose="020B0604020202020204" pitchFamily="34" charset="0"/>
              </a:rPr>
              <a:t>một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n-US" altLang="en-US" err="1">
                <a:cs typeface="Arial" panose="020B0604020202020204" pitchFamily="34" charset="0"/>
              </a:rPr>
              <a:t>bộ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n-US" altLang="en-US" err="1">
                <a:cs typeface="Arial" panose="020B0604020202020204" pitchFamily="34" charset="0"/>
              </a:rPr>
              <a:t>chữ</a:t>
            </a:r>
            <a:r>
              <a:rPr lang="en-US" altLang="en-US">
                <a:cs typeface="Arial" panose="020B0604020202020204" pitchFamily="34" charset="0"/>
              </a:rPr>
              <a:t> V</a:t>
            </a:r>
          </a:p>
          <a:p>
            <a:pPr marL="1163638" lvl="2" indent="-363538" eaLnBrk="1" hangingPunct="1"/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L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, L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L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, L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- L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, L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2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Ngôn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ngữ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trên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V</a:t>
            </a:r>
          </a:p>
          <a:p>
            <a:pPr marL="1163638" lvl="2" indent="-363538" eaLnBrk="1" hangingPunct="1"/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V*- L, L</a:t>
            </a:r>
            <a:r>
              <a:rPr lang="en-US" altLang="en-US" baseline="30000"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, L</a:t>
            </a:r>
            <a:r>
              <a:rPr lang="en-US" altLang="en-US" baseline="30000"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: 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Ngôn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ngữ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trên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V</a:t>
            </a:r>
          </a:p>
          <a:p>
            <a:pPr marL="363538" indent="-363538" eaLnBrk="1" hangingPunct="1"/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Tính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chất</a:t>
            </a:r>
            <a:endParaRPr lang="en-US" altLang="en-US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817563" lvl="1" indent="-274638" eaLnBrk="1" hangingPunct="1"/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 baseline="30000"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= LL</a:t>
            </a:r>
            <a:r>
              <a:rPr lang="en-US" altLang="en-US" baseline="30000"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= L</a:t>
            </a:r>
            <a:r>
              <a:rPr lang="en-US" altLang="en-US" baseline="30000">
                <a:cs typeface="Arial" panose="020B0604020202020204" pitchFamily="34" charset="0"/>
                <a:sym typeface="Symbol" panose="05050102010706020507" pitchFamily="18" charset="2"/>
              </a:rPr>
              <a:t>*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</a:p>
          <a:p>
            <a:pPr marL="817563" lvl="1" indent="-274638" eaLnBrk="1" hangingPunct="1"/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L* = L</a:t>
            </a:r>
            <a:r>
              <a:rPr lang="en-US" altLang="en-US" baseline="30000"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 {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}</a:t>
            </a:r>
          </a:p>
          <a:p>
            <a:pPr marL="417513" indent="-274638" eaLnBrk="1" hangingPunct="1"/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Câu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hỏi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Các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phát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biểu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sau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đúng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hay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sai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?</a:t>
            </a:r>
          </a:p>
          <a:p>
            <a:pPr marL="817563" lvl="1" indent="-274638" eaLnBrk="1" hangingPunct="1"/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L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là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ngôn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ngữ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thì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L</a:t>
            </a:r>
            <a:r>
              <a:rPr lang="en-US" altLang="en-US" baseline="30000"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= L*- {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}</a:t>
            </a:r>
          </a:p>
          <a:p>
            <a:pPr marL="817563" lvl="1" indent="-274638" eaLnBrk="1" hangingPunct="1"/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|L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| = |L1|x|L2|</a:t>
            </a:r>
          </a:p>
        </p:txBody>
      </p:sp>
    </p:spTree>
    <p:extLst>
      <p:ext uri="{BB962C8B-B14F-4D97-AF65-F5344CB8AC3E}">
        <p14:creationId xmlns:p14="http://schemas.microsoft.com/office/powerpoint/2010/main" val="752411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837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4837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837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837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837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4837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F8380D-BF76-4816-B80D-3DC9E7429C39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Văn phạm (Grammar)</a:t>
            </a:r>
          </a:p>
        </p:txBody>
      </p:sp>
      <p:sp>
        <p:nvSpPr>
          <p:cNvPr id="74756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148378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1371600"/>
            <a:ext cx="8839200" cy="5410200"/>
          </a:xfrm>
          <a:noFill/>
        </p:spPr>
        <p:txBody>
          <a:bodyPr/>
          <a:lstStyle/>
          <a:p>
            <a:pPr marL="290513" indent="-290513" eaLnBrk="1" hangingPunct="1">
              <a:lnSpc>
                <a:spcPct val="110000"/>
              </a:lnSpc>
            </a:pPr>
            <a:r>
              <a:rPr lang="en-US" altLang="en-US" sz="2800" b="1"/>
              <a:t>V</a:t>
            </a:r>
            <a:r>
              <a:rPr lang="en-US" altLang="en-US" sz="2800" b="1" baseline="-25000"/>
              <a:t>T</a:t>
            </a:r>
            <a:r>
              <a:rPr lang="en-US" altLang="en-US" sz="2800"/>
              <a:t>: Tập các ký hiệu kết thúc của một bảng chữ</a:t>
            </a:r>
          </a:p>
          <a:p>
            <a:pPr marL="914400" lvl="1" indent="-292100" eaLnBrk="1" hangingPunct="1">
              <a:lnSpc>
                <a:spcPct val="110000"/>
              </a:lnSpc>
            </a:pPr>
            <a:r>
              <a:rPr lang="en-US" altLang="en-US" sz="2400"/>
              <a:t>Các phần tử của V</a:t>
            </a:r>
            <a:r>
              <a:rPr lang="en-US" altLang="en-US" sz="2400" baseline="-25000"/>
              <a:t>T</a:t>
            </a:r>
            <a:r>
              <a:rPr lang="en-US" altLang="en-US" sz="2400"/>
              <a:t> thường được ký hiệu: a, b, c,..</a:t>
            </a:r>
          </a:p>
          <a:p>
            <a:pPr marL="290513" indent="-290513" eaLnBrk="1" hangingPunct="1">
              <a:lnSpc>
                <a:spcPct val="110000"/>
              </a:lnSpc>
            </a:pPr>
            <a:r>
              <a:rPr lang="en-US" altLang="en-US" sz="2800" b="1"/>
              <a:t>V</a:t>
            </a:r>
            <a:r>
              <a:rPr lang="en-US" altLang="en-US" sz="2800" b="1" baseline="-25000"/>
              <a:t>N</a:t>
            </a:r>
            <a:r>
              <a:rPr lang="en-US" altLang="en-US" sz="2800"/>
              <a:t>: Tập các k/hiệu không kết thúc của một bảng chữ</a:t>
            </a:r>
          </a:p>
          <a:p>
            <a:pPr marL="914400" lvl="1" indent="-292100" eaLnBrk="1" hangingPunct="1">
              <a:lnSpc>
                <a:spcPct val="110000"/>
              </a:lnSpc>
            </a:pPr>
            <a:r>
              <a:rPr lang="en-US" altLang="en-US" sz="2400"/>
              <a:t>Các phần tử của V</a:t>
            </a:r>
            <a:r>
              <a:rPr lang="en-US" altLang="en-US" sz="2400" baseline="-25000"/>
              <a:t>N</a:t>
            </a:r>
            <a:r>
              <a:rPr lang="en-US" altLang="en-US" sz="2400"/>
              <a:t> thường được ký hiệu: A, B, C,..</a:t>
            </a:r>
          </a:p>
          <a:p>
            <a:pPr marL="914400" lvl="1" indent="-292100" eaLnBrk="1" hangingPunct="1">
              <a:lnSpc>
                <a:spcPct val="110000"/>
              </a:lnSpc>
            </a:pPr>
            <a:r>
              <a:rPr lang="en-US" altLang="en-US" sz="2400"/>
              <a:t>V</a:t>
            </a:r>
            <a:r>
              <a:rPr lang="en-US" altLang="en-US" sz="2400" baseline="-25000"/>
              <a:t>T</a:t>
            </a:r>
            <a:r>
              <a:rPr lang="en-US" altLang="en-US" sz="2400">
                <a:sym typeface="Symbol" panose="05050102010706020507" pitchFamily="18" charset="2"/>
              </a:rPr>
              <a:t>V</a:t>
            </a:r>
            <a:r>
              <a:rPr lang="en-US" altLang="en-US" sz="2400" baseline="-25000">
                <a:sym typeface="Symbol" panose="05050102010706020507" pitchFamily="18" charset="2"/>
              </a:rPr>
              <a:t>N</a:t>
            </a:r>
            <a:r>
              <a:rPr lang="en-US" altLang="en-US" sz="2400">
                <a:sym typeface="Symbol" panose="05050102010706020507" pitchFamily="18" charset="2"/>
              </a:rPr>
              <a:t> =  ; </a:t>
            </a:r>
            <a:r>
              <a:rPr lang="en-US" altLang="en-US" sz="2400"/>
              <a:t>V = V</a:t>
            </a:r>
            <a:r>
              <a:rPr lang="en-US" altLang="en-US" sz="2400" baseline="-25000"/>
              <a:t>T</a:t>
            </a:r>
            <a:r>
              <a:rPr lang="en-US" altLang="en-US" sz="2400">
                <a:sym typeface="Symbol" panose="05050102010706020507" pitchFamily="18" charset="2"/>
              </a:rPr>
              <a:t></a:t>
            </a:r>
            <a:r>
              <a:rPr lang="en-US" altLang="en-US" sz="2400"/>
              <a:t>V</a:t>
            </a:r>
            <a:r>
              <a:rPr lang="en-US" altLang="en-US" sz="2400" baseline="-25000"/>
              <a:t>N</a:t>
            </a:r>
            <a:r>
              <a:rPr lang="en-US" altLang="en-US" sz="2400"/>
              <a:t>: Bộ chữ của văn phạm</a:t>
            </a:r>
          </a:p>
          <a:p>
            <a:pPr marL="290513" indent="-290513" eaLnBrk="1" hangingPunct="1">
              <a:lnSpc>
                <a:spcPct val="110000"/>
              </a:lnSpc>
            </a:pPr>
            <a:r>
              <a:rPr lang="en-US" altLang="en-US" sz="2800" b="1"/>
              <a:t>S</a:t>
            </a:r>
            <a:r>
              <a:rPr lang="en-US" altLang="en-US" sz="2800"/>
              <a:t>: Ký hiệu bắt đầu. S </a:t>
            </a:r>
            <a:r>
              <a:rPr lang="en-US" altLang="en-US" sz="2800">
                <a:sym typeface="Symbol" panose="05050102010706020507" pitchFamily="18" charset="2"/>
              </a:rPr>
              <a:t></a:t>
            </a:r>
            <a:r>
              <a:rPr lang="en-US" altLang="en-US" sz="2800"/>
              <a:t>V</a:t>
            </a:r>
            <a:r>
              <a:rPr lang="en-US" altLang="en-US" sz="2800" baseline="-25000"/>
              <a:t>N</a:t>
            </a:r>
          </a:p>
          <a:p>
            <a:pPr marL="290513" indent="-290513" eaLnBrk="1" hangingPunct="1">
              <a:lnSpc>
                <a:spcPct val="110000"/>
              </a:lnSpc>
            </a:pPr>
            <a:r>
              <a:rPr lang="en-US" altLang="en-US" sz="2800" b="1"/>
              <a:t>P</a:t>
            </a:r>
            <a:r>
              <a:rPr lang="en-US" altLang="en-US" sz="2800"/>
              <a:t>: Tập hữu hạn các cặp (</a:t>
            </a:r>
            <a:r>
              <a:rPr lang="el-GR" altLang="en-US" sz="2800">
                <a:cs typeface="Arial" panose="020B0604020202020204" pitchFamily="34" charset="0"/>
              </a:rPr>
              <a:t>α</a:t>
            </a:r>
            <a:r>
              <a:rPr lang="en-US" altLang="en-US" sz="2800">
                <a:cs typeface="Arial" panose="020B0604020202020204" pitchFamily="34" charset="0"/>
              </a:rPr>
              <a:t>,</a:t>
            </a:r>
            <a:r>
              <a:rPr lang="el-GR" altLang="en-US" sz="2800">
                <a:cs typeface="Arial" panose="020B0604020202020204" pitchFamily="34" charset="0"/>
              </a:rPr>
              <a:t>β</a:t>
            </a:r>
            <a:r>
              <a:rPr lang="en-US" altLang="en-US" sz="2800">
                <a:cs typeface="Arial" panose="020B0604020202020204" pitchFamily="34" charset="0"/>
              </a:rPr>
              <a:t>) được gọi là các quy tắc hay các sản xuất. Thường được viết </a:t>
            </a:r>
            <a:r>
              <a:rPr lang="el-GR" altLang="en-US" sz="2800">
                <a:cs typeface="Arial" panose="020B0604020202020204" pitchFamily="34" charset="0"/>
              </a:rPr>
              <a:t>α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l-GR" altLang="en-US" sz="2800">
                <a:cs typeface="Arial" panose="020B0604020202020204" pitchFamily="34" charset="0"/>
              </a:rPr>
              <a:t>β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</a:p>
          <a:p>
            <a:pPr marL="914400" lvl="1" indent="-292100" eaLnBrk="1" hangingPunct="1">
              <a:lnSpc>
                <a:spcPct val="110000"/>
              </a:lnSpc>
            </a:pPr>
            <a:r>
              <a:rPr lang="el-GR" altLang="en-US" sz="2400">
                <a:cs typeface="Arial" panose="020B0604020202020204" pitchFamily="34" charset="0"/>
              </a:rPr>
              <a:t>α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>
                <a:sym typeface="Symbol" panose="05050102010706020507" pitchFamily="18" charset="2"/>
              </a:rPr>
              <a:t> </a:t>
            </a:r>
            <a:r>
              <a:rPr lang="en-US" altLang="en-US" sz="2400"/>
              <a:t>V* V</a:t>
            </a:r>
            <a:r>
              <a:rPr lang="en-US" altLang="en-US" sz="2400" baseline="-25000"/>
              <a:t>N</a:t>
            </a:r>
            <a:r>
              <a:rPr lang="en-US" altLang="en-US" sz="2400"/>
              <a:t> V* //</a:t>
            </a:r>
            <a:r>
              <a:rPr lang="el-GR" altLang="en-US" sz="2400" i="1">
                <a:solidFill>
                  <a:schemeClr val="bg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2400" i="1">
                <a:solidFill>
                  <a:schemeClr val="bg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Phải có ít nhất một ký hiệu không k/thúc</a:t>
            </a:r>
            <a:endParaRPr lang="en-US" altLang="en-US" sz="2400" i="1">
              <a:solidFill>
                <a:schemeClr val="bg2"/>
              </a:solidFill>
            </a:endParaRPr>
          </a:p>
          <a:p>
            <a:pPr marL="914400" lvl="1" indent="-292100" eaLnBrk="1" hangingPunct="1">
              <a:lnSpc>
                <a:spcPct val="110000"/>
              </a:lnSpc>
            </a:pPr>
            <a:r>
              <a:rPr lang="el-GR" altLang="en-US" sz="2400">
                <a:cs typeface="Arial" panose="020B0604020202020204" pitchFamily="34" charset="0"/>
              </a:rPr>
              <a:t>β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>
                <a:sym typeface="Symbol" panose="05050102010706020507" pitchFamily="18" charset="2"/>
              </a:rPr>
              <a:t>  V*	// </a:t>
            </a:r>
            <a:r>
              <a:rPr lang="el-GR" altLang="en-US" sz="2400" i="1">
                <a:solidFill>
                  <a:schemeClr val="bg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2400" i="1">
                <a:solidFill>
                  <a:schemeClr val="bg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Có thể chứa xâu rỗng</a:t>
            </a:r>
            <a:endParaRPr lang="el-GR" altLang="en-US" sz="2400" i="1">
              <a:solidFill>
                <a:schemeClr val="bg2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4758" name="Text Box 5"/>
          <p:cNvSpPr txBox="1">
            <a:spLocks noChangeArrowheads="1"/>
          </p:cNvSpPr>
          <p:nvPr/>
        </p:nvSpPr>
        <p:spPr bwMode="auto">
          <a:xfrm>
            <a:off x="2667000" y="838200"/>
            <a:ext cx="3733800" cy="528638"/>
          </a:xfrm>
          <a:prstGeom prst="rect">
            <a:avLst/>
          </a:prstGeom>
          <a:noFill/>
          <a:ln w="9525">
            <a:solidFill>
              <a:srgbClr val="27007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</a:rPr>
              <a:t>G = (V</a:t>
            </a:r>
            <a:r>
              <a:rPr lang="en-US" altLang="en-US" sz="2800" b="0" baseline="-25000">
                <a:solidFill>
                  <a:schemeClr val="tx1"/>
                </a:solidFill>
              </a:rPr>
              <a:t>T</a:t>
            </a:r>
            <a:r>
              <a:rPr lang="en-US" altLang="en-US" sz="2800" b="0">
                <a:solidFill>
                  <a:schemeClr val="tx1"/>
                </a:solidFill>
              </a:rPr>
              <a:t>, V</a:t>
            </a:r>
            <a:r>
              <a:rPr lang="en-US" altLang="en-US" sz="2800" b="0" baseline="-25000">
                <a:solidFill>
                  <a:schemeClr val="tx1"/>
                </a:solidFill>
              </a:rPr>
              <a:t>N</a:t>
            </a:r>
            <a:r>
              <a:rPr lang="en-US" altLang="en-US" sz="2800" b="0">
                <a:solidFill>
                  <a:schemeClr val="tx1"/>
                </a:solidFill>
              </a:rPr>
              <a:t>,  P,  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83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4837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5" dur="500"/>
                                        <p:tgtEl>
                                          <p:spTgt spid="14837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8" dur="500"/>
                                        <p:tgtEl>
                                          <p:spTgt spid="14837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1" dur="500"/>
                                        <p:tgtEl>
                                          <p:spTgt spid="14837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837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837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7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4837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31C0961-B79E-442B-A21C-13DA3B030ACB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Văn phạm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2800"/>
              <a:t> Ví dụ</a:t>
            </a:r>
          </a:p>
        </p:txBody>
      </p:sp>
      <p:sp>
        <p:nvSpPr>
          <p:cNvPr id="75780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148275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382000" cy="5562600"/>
          </a:xfrm>
          <a:noFill/>
        </p:spPr>
        <p:txBody>
          <a:bodyPr/>
          <a:lstStyle/>
          <a:p>
            <a:pPr marL="290513" indent="-290513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Cho văn phạm</a:t>
            </a:r>
          </a:p>
          <a:p>
            <a:pPr marL="290513" indent="-290513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		 G</a:t>
            </a:r>
            <a:r>
              <a:rPr lang="en-US" altLang="en-US" baseline="-25000"/>
              <a:t>1</a:t>
            </a:r>
            <a:r>
              <a:rPr lang="en-US" altLang="en-US"/>
              <a:t> = (V</a:t>
            </a:r>
            <a:r>
              <a:rPr lang="en-US" altLang="en-US" baseline="-25000"/>
              <a:t>T</a:t>
            </a:r>
            <a:r>
              <a:rPr lang="en-US" altLang="en-US"/>
              <a:t>, V</a:t>
            </a:r>
            <a:r>
              <a:rPr lang="en-US" altLang="en-US" baseline="-25000"/>
              <a:t>N</a:t>
            </a:r>
            <a:r>
              <a:rPr lang="en-US" altLang="en-US"/>
              <a:t>,  P,  S)</a:t>
            </a:r>
          </a:p>
          <a:p>
            <a:pPr marL="290513" indent="-290513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Trong đó</a:t>
            </a:r>
          </a:p>
          <a:p>
            <a:pPr marL="1030288" lvl="1" indent="-407988" eaLnBrk="1" hangingPunct="1">
              <a:lnSpc>
                <a:spcPct val="110000"/>
              </a:lnSpc>
            </a:pPr>
            <a:r>
              <a:rPr lang="en-US" altLang="en-US" sz="3200"/>
              <a:t>V</a:t>
            </a:r>
            <a:r>
              <a:rPr lang="en-US" altLang="en-US" sz="3200" baseline="-25000"/>
              <a:t>T </a:t>
            </a:r>
            <a:r>
              <a:rPr lang="en-US" altLang="en-US" sz="3200"/>
              <a:t>={a, b, c}</a:t>
            </a:r>
          </a:p>
          <a:p>
            <a:pPr marL="1030288" lvl="1" indent="-407988" eaLnBrk="1" hangingPunct="1">
              <a:lnSpc>
                <a:spcPct val="110000"/>
              </a:lnSpc>
            </a:pPr>
            <a:r>
              <a:rPr lang="en-US" altLang="en-US" sz="3200"/>
              <a:t>V</a:t>
            </a:r>
            <a:r>
              <a:rPr lang="en-US" altLang="en-US" sz="3200" baseline="-25000"/>
              <a:t>N </a:t>
            </a:r>
            <a:r>
              <a:rPr lang="en-US" altLang="en-US" sz="3200"/>
              <a:t>={S, A} </a:t>
            </a:r>
          </a:p>
          <a:p>
            <a:pPr marL="1030288" lvl="1" indent="-407988" eaLnBrk="1" hangingPunct="1">
              <a:lnSpc>
                <a:spcPct val="110000"/>
              </a:lnSpc>
            </a:pPr>
            <a:r>
              <a:rPr lang="en-US" altLang="en-US" sz="3200"/>
              <a:t>P ={S 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3200">
                <a:cs typeface="Arial" panose="020B0604020202020204" pitchFamily="34" charset="0"/>
                <a:sym typeface="Symbol" panose="05050102010706020507" pitchFamily="18" charset="2"/>
              </a:rPr>
              <a:t>aSA, S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3200">
                <a:cs typeface="Arial" panose="020B0604020202020204" pitchFamily="34" charset="0"/>
                <a:sym typeface="Symbol" panose="05050102010706020507" pitchFamily="18" charset="2"/>
              </a:rPr>
              <a:t>b, 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>
                <a:cs typeface="Arial" panose="020B0604020202020204" pitchFamily="34" charset="0"/>
                <a:sym typeface="Symbol" panose="05050102010706020507" pitchFamily="18" charset="2"/>
              </a:rPr>
              <a:t>A 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3200">
                <a:cs typeface="Arial" panose="020B0604020202020204" pitchFamily="34" charset="0"/>
                <a:sym typeface="Symbol" panose="05050102010706020507" pitchFamily="18" charset="2"/>
              </a:rPr>
              <a:t>bA,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3200">
                <a:cs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n-US" altLang="en-US" sz="3200"/>
              <a:t>}</a:t>
            </a:r>
          </a:p>
          <a:p>
            <a:pPr marL="290513" indent="-290513" eaLnBrk="1" hangingPunct="1">
              <a:lnSpc>
                <a:spcPct val="110000"/>
              </a:lnSpc>
              <a:buFontTx/>
              <a:buNone/>
            </a:pPr>
            <a:r>
              <a:rPr lang="en-US" altLang="en-US" b="1"/>
              <a:t>Ghi chú</a:t>
            </a:r>
            <a:r>
              <a:rPr lang="en-US" altLang="en-US"/>
              <a:t>	</a:t>
            </a:r>
          </a:p>
          <a:p>
            <a:pPr marL="1030288" lvl="1" indent="-407988" eaLnBrk="1" hangingPunct="1">
              <a:lnSpc>
                <a:spcPct val="110000"/>
              </a:lnSpc>
            </a:pPr>
            <a:r>
              <a:rPr lang="en-US" altLang="en-US"/>
              <a:t>Chỉ cần nhắc tới tập sản xuất khi giới thiệu văn phạm</a:t>
            </a:r>
            <a:endParaRPr lang="el-G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827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827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827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827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475504-9039-4C5B-9336-012D5B1DDBDA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Suy dẫn (Derivation)</a:t>
            </a:r>
          </a:p>
        </p:txBody>
      </p:sp>
      <p:sp>
        <p:nvSpPr>
          <p:cNvPr id="76804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14848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14313" y="914400"/>
            <a:ext cx="8763000" cy="5757863"/>
          </a:xfrm>
          <a:noFill/>
        </p:spPr>
        <p:txBody>
          <a:bodyPr/>
          <a:lstStyle/>
          <a:p>
            <a:pPr marL="406400" indent="-406400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Cho văn phạm  G = (V</a:t>
            </a:r>
            <a:r>
              <a:rPr lang="en-US" altLang="en-US" baseline="-25000"/>
              <a:t>T</a:t>
            </a:r>
            <a:r>
              <a:rPr lang="en-US" altLang="en-US"/>
              <a:t>, V</a:t>
            </a:r>
            <a:r>
              <a:rPr lang="en-US" altLang="en-US" baseline="-25000"/>
              <a:t>N</a:t>
            </a:r>
            <a:r>
              <a:rPr lang="en-US" altLang="en-US"/>
              <a:t>,  P,  S)</a:t>
            </a:r>
          </a:p>
          <a:p>
            <a:pPr marL="406400" indent="-406400" eaLnBrk="1" hangingPunct="1">
              <a:lnSpc>
                <a:spcPct val="110000"/>
              </a:lnSpc>
            </a:pPr>
            <a:r>
              <a:rPr lang="en-US" altLang="en-US"/>
              <a:t>Gọi </a:t>
            </a:r>
            <a:r>
              <a:rPr lang="el-GR" altLang="en-US">
                <a:solidFill>
                  <a:srgbClr val="DF3507"/>
                </a:solidFill>
                <a:cs typeface="Arial" panose="020B0604020202020204" pitchFamily="34" charset="0"/>
              </a:rPr>
              <a:t>γ</a:t>
            </a:r>
            <a:r>
              <a:rPr lang="en-US" altLang="en-US"/>
              <a:t> </a:t>
            </a:r>
            <a:r>
              <a:rPr lang="en-US" altLang="en-US" i="1">
                <a:solidFill>
                  <a:srgbClr val="0000CC"/>
                </a:solidFill>
              </a:rPr>
              <a:t>viết ra</a:t>
            </a:r>
            <a:r>
              <a:rPr lang="en-US" altLang="en-US"/>
              <a:t> </a:t>
            </a:r>
            <a:r>
              <a:rPr lang="el-GR" altLang="en-US">
                <a:solidFill>
                  <a:srgbClr val="DF3507"/>
                </a:solidFill>
                <a:cs typeface="Arial" panose="020B0604020202020204" pitchFamily="34" charset="0"/>
              </a:rPr>
              <a:t>δ</a:t>
            </a:r>
            <a:r>
              <a:rPr lang="en-US" altLang="en-US"/>
              <a:t>  hay </a:t>
            </a:r>
            <a:r>
              <a:rPr lang="el-GR" altLang="en-US">
                <a:solidFill>
                  <a:srgbClr val="F85124"/>
                </a:solidFill>
                <a:cs typeface="Arial" panose="020B0604020202020204" pitchFamily="34" charset="0"/>
              </a:rPr>
              <a:t>δ</a:t>
            </a:r>
            <a:r>
              <a:rPr lang="en-US" altLang="en-US"/>
              <a:t> </a:t>
            </a:r>
            <a:r>
              <a:rPr lang="en-US" altLang="en-US" i="1">
                <a:solidFill>
                  <a:srgbClr val="0000CC"/>
                </a:solidFill>
              </a:rPr>
              <a:t>được suy dẫn trực tiếp</a:t>
            </a:r>
            <a:r>
              <a:rPr lang="en-US" altLang="en-US"/>
              <a:t> ra từ </a:t>
            </a:r>
            <a:r>
              <a:rPr lang="el-GR" altLang="en-US">
                <a:solidFill>
                  <a:srgbClr val="F85124"/>
                </a:solidFill>
                <a:cs typeface="Arial" panose="020B0604020202020204" pitchFamily="34" charset="0"/>
              </a:rPr>
              <a:t>γ</a:t>
            </a:r>
            <a:r>
              <a:rPr lang="en-US" altLang="en-US">
                <a:cs typeface="Arial" panose="020B0604020202020204" pitchFamily="34" charset="0"/>
              </a:rPr>
              <a:t>, và được ký hiệu </a:t>
            </a:r>
            <a:r>
              <a:rPr lang="el-GR" altLang="en-US">
                <a:solidFill>
                  <a:srgbClr val="F85124"/>
                </a:solidFill>
                <a:cs typeface="Arial" panose="020B0604020202020204" pitchFamily="34" charset="0"/>
              </a:rPr>
              <a:t>γ </a:t>
            </a:r>
            <a:r>
              <a:rPr lang="el-GR" altLang="en-US">
                <a:solidFill>
                  <a:srgbClr val="F8512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>
                <a:solidFill>
                  <a:srgbClr val="F85124"/>
                </a:solidFill>
                <a:cs typeface="Arial" panose="020B0604020202020204" pitchFamily="34" charset="0"/>
              </a:rPr>
              <a:t> </a:t>
            </a:r>
            <a:r>
              <a:rPr lang="el-GR" altLang="en-US">
                <a:solidFill>
                  <a:srgbClr val="F85124"/>
                </a:solidFill>
                <a:cs typeface="Arial" panose="020B0604020202020204" pitchFamily="34" charset="0"/>
              </a:rPr>
              <a:t>δ</a:t>
            </a:r>
            <a:r>
              <a:rPr lang="en-US" altLang="en-US"/>
              <a:t> </a:t>
            </a:r>
            <a:r>
              <a:rPr lang="en-US" altLang="en-US">
                <a:cs typeface="Arial" panose="020B0604020202020204" pitchFamily="34" charset="0"/>
              </a:rPr>
              <a:t>nếu tồn tại các xâu </a:t>
            </a:r>
            <a:r>
              <a:rPr lang="el-GR" altLang="en-US">
                <a:solidFill>
                  <a:srgbClr val="F85124"/>
                </a:solidFill>
                <a:cs typeface="Arial" panose="020B0604020202020204" pitchFamily="34" charset="0"/>
              </a:rPr>
              <a:t>α</a:t>
            </a:r>
            <a:r>
              <a:rPr lang="en-US" altLang="en-US">
                <a:solidFill>
                  <a:srgbClr val="F85124"/>
                </a:solidFill>
                <a:cs typeface="Arial" panose="020B0604020202020204" pitchFamily="34" charset="0"/>
              </a:rPr>
              <a:t>, </a:t>
            </a:r>
            <a:r>
              <a:rPr lang="el-GR" altLang="en-US">
                <a:solidFill>
                  <a:srgbClr val="F85124"/>
                </a:solidFill>
                <a:cs typeface="Arial" panose="020B0604020202020204" pitchFamily="34" charset="0"/>
              </a:rPr>
              <a:t>β</a:t>
            </a:r>
            <a:r>
              <a:rPr lang="en-US" altLang="en-US">
                <a:solidFill>
                  <a:srgbClr val="F85124"/>
                </a:solidFill>
                <a:cs typeface="Arial" panose="020B0604020202020204" pitchFamily="34" charset="0"/>
              </a:rPr>
              <a:t>, v, w</a:t>
            </a:r>
            <a:r>
              <a:rPr lang="en-US" altLang="en-US">
                <a:cs typeface="Arial" panose="020B0604020202020204" pitchFamily="34" charset="0"/>
              </a:rPr>
              <a:t> thỏa mãn các điều kiện</a:t>
            </a:r>
          </a:p>
          <a:p>
            <a:pPr marL="1030288" lvl="1" indent="-407988" eaLnBrk="1" hangingPunct="1">
              <a:lnSpc>
                <a:spcPct val="110000"/>
              </a:lnSpc>
            </a:pPr>
            <a:r>
              <a:rPr lang="el-GR" altLang="en-US">
                <a:cs typeface="Arial" panose="020B0604020202020204" pitchFamily="34" charset="0"/>
              </a:rPr>
              <a:t>γ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= </a:t>
            </a:r>
            <a:r>
              <a:rPr lang="el-GR" altLang="en-US">
                <a:cs typeface="Arial" panose="020B0604020202020204" pitchFamily="34" charset="0"/>
              </a:rPr>
              <a:t>α</a:t>
            </a:r>
            <a:r>
              <a:rPr lang="en-US" altLang="en-US">
                <a:cs typeface="Arial" panose="020B0604020202020204" pitchFamily="34" charset="0"/>
              </a:rPr>
              <a:t>v</a:t>
            </a:r>
            <a:r>
              <a:rPr lang="el-GR" altLang="en-US">
                <a:cs typeface="Arial" panose="020B0604020202020204" pitchFamily="34" charset="0"/>
              </a:rPr>
              <a:t>β</a:t>
            </a:r>
            <a:endParaRPr lang="en-US" altLang="en-US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1030288" lvl="1" indent="-407988" eaLnBrk="1" hangingPunct="1">
              <a:lnSpc>
                <a:spcPct val="110000"/>
              </a:lnSpc>
            </a:pPr>
            <a:r>
              <a:rPr lang="el-GR" altLang="en-US">
                <a:cs typeface="Arial" panose="020B0604020202020204" pitchFamily="34" charset="0"/>
              </a:rPr>
              <a:t>δ</a:t>
            </a:r>
            <a:r>
              <a:rPr lang="en-US" altLang="en-US">
                <a:cs typeface="Arial" panose="020B0604020202020204" pitchFamily="34" charset="0"/>
              </a:rPr>
              <a:t> = </a:t>
            </a:r>
            <a:r>
              <a:rPr lang="el-GR" altLang="en-US">
                <a:cs typeface="Arial" panose="020B0604020202020204" pitchFamily="34" charset="0"/>
              </a:rPr>
              <a:t>α</a:t>
            </a:r>
            <a:r>
              <a:rPr lang="en-US" altLang="en-US">
                <a:cs typeface="Arial" panose="020B0604020202020204" pitchFamily="34" charset="0"/>
              </a:rPr>
              <a:t>w</a:t>
            </a:r>
            <a:r>
              <a:rPr lang="el-GR" altLang="en-US">
                <a:cs typeface="Arial" panose="020B0604020202020204" pitchFamily="34" charset="0"/>
              </a:rPr>
              <a:t>β</a:t>
            </a:r>
            <a:endParaRPr lang="en-US" altLang="en-US">
              <a:cs typeface="Arial" panose="020B0604020202020204" pitchFamily="34" charset="0"/>
            </a:endParaRPr>
          </a:p>
          <a:p>
            <a:pPr marL="1030288" lvl="1" indent="-407988" eaLnBrk="1" hangingPunct="1">
              <a:lnSpc>
                <a:spcPct val="110000"/>
              </a:lnSpc>
            </a:pPr>
            <a:r>
              <a:rPr lang="en-US" altLang="en-US">
                <a:cs typeface="Arial" panose="020B0604020202020204" pitchFamily="34" charset="0"/>
              </a:rPr>
              <a:t>(v, w)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P {có thể viết vw  P}</a:t>
            </a:r>
          </a:p>
          <a:p>
            <a:pPr marL="1030288" lvl="1" indent="-407988" eaLnBrk="1" hangingPunct="1">
              <a:lnSpc>
                <a:spcPct val="110000"/>
              </a:lnSpc>
            </a:pPr>
            <a:r>
              <a:rPr lang="el-GR" altLang="en-US">
                <a:cs typeface="Arial" panose="020B0604020202020204" pitchFamily="34" charset="0"/>
              </a:rPr>
              <a:t>α</a:t>
            </a:r>
            <a:r>
              <a:rPr lang="en-US" altLang="en-US">
                <a:cs typeface="Arial" panose="020B0604020202020204" pitchFamily="34" charset="0"/>
              </a:rPr>
              <a:t>, </a:t>
            </a:r>
            <a:r>
              <a:rPr lang="el-GR" altLang="en-US">
                <a:cs typeface="Arial" panose="020B0604020202020204" pitchFamily="34" charset="0"/>
              </a:rPr>
              <a:t>β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 V</a:t>
            </a:r>
            <a:r>
              <a:rPr lang="en-US" altLang="en-US" baseline="30000"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en-US">
                <a:cs typeface="Arial" panose="020B0604020202020204" pitchFamily="34" charset="0"/>
              </a:rPr>
              <a:t>v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V</a:t>
            </a:r>
            <a:r>
              <a:rPr lang="en-US" altLang="en-US" baseline="30000"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n-US" altLang="en-US" baseline="30000"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, w V</a:t>
            </a:r>
            <a:r>
              <a:rPr lang="en-US" altLang="en-US" baseline="30000"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endParaRPr lang="en-US" altLang="en-US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06400" indent="-406400" eaLnBrk="1" hangingPunct="1">
              <a:lnSpc>
                <a:spcPct val="110000"/>
              </a:lnSpc>
            </a:pPr>
            <a:r>
              <a:rPr lang="en-US" altLang="en-US"/>
              <a:t>Ví dụ với văn phạm G</a:t>
            </a:r>
            <a:r>
              <a:rPr lang="en-US" altLang="en-US" baseline="-25000"/>
              <a:t>1</a:t>
            </a:r>
          </a:p>
          <a:p>
            <a:pPr marL="1030288" lvl="1" indent="-407988" eaLnBrk="1" hangingPunct="1">
              <a:lnSpc>
                <a:spcPct val="110000"/>
              </a:lnSpc>
            </a:pPr>
            <a:r>
              <a:rPr lang="en-US" altLang="en-US"/>
              <a:t>aSc</a:t>
            </a:r>
            <a:r>
              <a:rPr lang="en-US" altLang="en-US" baseline="-25000"/>
              <a:t>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>
                <a:cs typeface="Arial" panose="020B0604020202020204" pitchFamily="34" charset="0"/>
              </a:rPr>
              <a:t> abc {</a:t>
            </a:r>
            <a:r>
              <a:rPr lang="el-GR" altLang="en-US" i="1">
                <a:solidFill>
                  <a:schemeClr val="bg2"/>
                </a:solidFill>
                <a:cs typeface="Arial" panose="020B0604020202020204" pitchFamily="34" charset="0"/>
              </a:rPr>
              <a:t>α</a:t>
            </a:r>
            <a:r>
              <a:rPr lang="en-US" altLang="en-US" i="1">
                <a:solidFill>
                  <a:schemeClr val="bg2"/>
                </a:solidFill>
                <a:cs typeface="Arial" panose="020B0604020202020204" pitchFamily="34" charset="0"/>
              </a:rPr>
              <a:t>=a, </a:t>
            </a:r>
            <a:r>
              <a:rPr lang="el-GR" altLang="en-US" i="1">
                <a:solidFill>
                  <a:schemeClr val="bg2"/>
                </a:solidFill>
                <a:cs typeface="Arial" panose="020B0604020202020204" pitchFamily="34" charset="0"/>
              </a:rPr>
              <a:t>β</a:t>
            </a:r>
            <a:r>
              <a:rPr lang="en-US" altLang="en-US" i="1">
                <a:solidFill>
                  <a:schemeClr val="bg2"/>
                </a:solidFill>
                <a:cs typeface="Arial" panose="020B0604020202020204" pitchFamily="34" charset="0"/>
              </a:rPr>
              <a:t>=c, v=S,w=b, S </a:t>
            </a:r>
            <a:r>
              <a:rPr lang="en-US" altLang="en-US" i="1">
                <a:solidFill>
                  <a:schemeClr val="bg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b P</a:t>
            </a:r>
            <a:r>
              <a:rPr lang="en-US" altLang="en-US">
                <a:cs typeface="Arial" panose="020B0604020202020204" pitchFamily="34" charset="0"/>
              </a:rPr>
              <a:t> }</a:t>
            </a:r>
            <a:endParaRPr lang="el-GR" altLang="en-US">
              <a:cs typeface="Arial" panose="020B0604020202020204" pitchFamily="34" charset="0"/>
            </a:endParaRPr>
          </a:p>
        </p:txBody>
      </p:sp>
      <p:grpSp>
        <p:nvGrpSpPr>
          <p:cNvPr id="1484807" name="Group 7"/>
          <p:cNvGrpSpPr>
            <a:grpSpLocks/>
          </p:cNvGrpSpPr>
          <p:nvPr/>
        </p:nvGrpSpPr>
        <p:grpSpPr bwMode="auto">
          <a:xfrm>
            <a:off x="2590800" y="3352800"/>
            <a:ext cx="6324600" cy="946150"/>
            <a:chOff x="1632" y="2112"/>
            <a:chExt cx="3984" cy="596"/>
          </a:xfrm>
        </p:grpSpPr>
        <p:sp>
          <p:nvSpPr>
            <p:cNvPr id="76807" name="AutoShape 5"/>
            <p:cNvSpPr>
              <a:spLocks/>
            </p:cNvSpPr>
            <p:nvPr/>
          </p:nvSpPr>
          <p:spPr bwMode="auto">
            <a:xfrm>
              <a:off x="1632" y="2160"/>
              <a:ext cx="384" cy="528"/>
            </a:xfrm>
            <a:prstGeom prst="rightBrace">
              <a:avLst>
                <a:gd name="adj1" fmla="val 11458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76808" name="Text Box 6"/>
            <p:cNvSpPr txBox="1">
              <a:spLocks noChangeArrowheads="1"/>
            </p:cNvSpPr>
            <p:nvPr/>
          </p:nvSpPr>
          <p:spPr bwMode="auto">
            <a:xfrm>
              <a:off x="2064" y="2112"/>
              <a:ext cx="3552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chemeClr val="bg2"/>
                  </a:solidFill>
                  <a:sym typeface="Symbol" panose="05050102010706020507" pitchFamily="18" charset="2"/>
                </a:rPr>
                <a:t>Do </a:t>
              </a:r>
              <a:r>
                <a:rPr lang="en-US" altLang="en-US" sz="2800" b="0">
                  <a:sym typeface="Symbol" panose="05050102010706020507" pitchFamily="18" charset="2"/>
                </a:rPr>
                <a:t>vw</a:t>
              </a:r>
              <a:r>
                <a:rPr lang="en-US" altLang="en-US" sz="2800">
                  <a:solidFill>
                    <a:schemeClr val="bg2"/>
                  </a:solidFill>
                  <a:sym typeface="Symbol" panose="05050102010706020507" pitchFamily="18" charset="2"/>
                </a:rPr>
                <a:t> </a:t>
              </a:r>
              <a:r>
                <a:rPr lang="en-US" altLang="en-US" sz="2800" b="0" i="1">
                  <a:solidFill>
                    <a:schemeClr val="bg2"/>
                  </a:solidFill>
                </a:rPr>
                <a:t>là một sản xuất của P. Thay </a:t>
              </a:r>
              <a:r>
                <a:rPr lang="en-US" altLang="en-US" sz="2800" b="0" i="1"/>
                <a:t>v</a:t>
              </a:r>
              <a:r>
                <a:rPr lang="en-US" altLang="en-US" sz="2800" b="0" i="1">
                  <a:solidFill>
                    <a:schemeClr val="bg2"/>
                  </a:solidFill>
                </a:rPr>
                <a:t> trong </a:t>
              </a:r>
              <a:r>
                <a:rPr lang="el-GR" altLang="en-US" sz="2800" b="0">
                  <a:solidFill>
                    <a:srgbClr val="DF3507"/>
                  </a:solidFill>
                </a:rPr>
                <a:t>γ</a:t>
              </a:r>
              <a:r>
                <a:rPr lang="en-US" altLang="en-US" sz="2800" b="0" i="1">
                  <a:solidFill>
                    <a:schemeClr val="bg2"/>
                  </a:solidFill>
                </a:rPr>
                <a:t> bằng </a:t>
              </a:r>
              <a:r>
                <a:rPr lang="en-US" altLang="en-US" sz="2800" b="0" i="1"/>
                <a:t>w</a:t>
              </a:r>
              <a:r>
                <a:rPr lang="en-US" altLang="en-US" sz="2800" b="0" i="1">
                  <a:solidFill>
                    <a:schemeClr val="bg2"/>
                  </a:solidFill>
                </a:rPr>
                <a:t>, sẽ được </a:t>
              </a:r>
              <a:r>
                <a:rPr lang="el-GR" altLang="en-US" sz="2800" b="0">
                  <a:solidFill>
                    <a:srgbClr val="DF3507"/>
                  </a:solidFill>
                </a:rPr>
                <a:t>δ</a:t>
              </a:r>
              <a:endParaRPr lang="en-US" altLang="en-US" sz="2800" b="0">
                <a:solidFill>
                  <a:srgbClr val="DF3507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84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84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848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848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645F29-E098-41AC-905C-306AF1948780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Suy dẫn</a:t>
            </a:r>
          </a:p>
        </p:txBody>
      </p:sp>
      <p:sp>
        <p:nvSpPr>
          <p:cNvPr id="77828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14929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14313" y="914400"/>
            <a:ext cx="8763000" cy="575786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06400" indent="-406400" eaLnBrk="1" hangingPunct="1">
              <a:lnSpc>
                <a:spcPct val="120000"/>
              </a:lnSpc>
              <a:buFontTx/>
              <a:buNone/>
            </a:pPr>
            <a:r>
              <a:rPr lang="en-US" altLang="en-US"/>
              <a:t>Cho văn phạm  G = (V</a:t>
            </a:r>
            <a:r>
              <a:rPr lang="en-US" altLang="en-US" baseline="-25000"/>
              <a:t>T</a:t>
            </a:r>
            <a:r>
              <a:rPr lang="en-US" altLang="en-US"/>
              <a:t>, V</a:t>
            </a:r>
            <a:r>
              <a:rPr lang="en-US" altLang="en-US" baseline="-25000"/>
              <a:t>N</a:t>
            </a:r>
            <a:r>
              <a:rPr lang="en-US" altLang="en-US"/>
              <a:t>,  P,  S)</a:t>
            </a:r>
          </a:p>
          <a:p>
            <a:pPr marL="406400" indent="-406400" eaLnBrk="1" hangingPunct="1">
              <a:lnSpc>
                <a:spcPct val="120000"/>
              </a:lnSpc>
            </a:pPr>
            <a:r>
              <a:rPr lang="en-US" altLang="en-US"/>
              <a:t>Gọi </a:t>
            </a:r>
            <a:r>
              <a:rPr lang="el-GR" altLang="en-US" b="1">
                <a:solidFill>
                  <a:srgbClr val="DF3507"/>
                </a:solidFill>
                <a:cs typeface="Arial" panose="020B0604020202020204" pitchFamily="34" charset="0"/>
              </a:rPr>
              <a:t>δ</a:t>
            </a:r>
            <a:r>
              <a:rPr lang="en-US" altLang="en-US"/>
              <a:t> được suy dẫn ra từ </a:t>
            </a:r>
            <a:r>
              <a:rPr lang="el-GR" altLang="en-US" b="1">
                <a:solidFill>
                  <a:srgbClr val="DF3507"/>
                </a:solidFill>
                <a:cs typeface="Arial" panose="020B0604020202020204" pitchFamily="34" charset="0"/>
              </a:rPr>
              <a:t>γ</a:t>
            </a:r>
            <a:r>
              <a:rPr lang="en-US" altLang="en-US">
                <a:cs typeface="Arial" panose="020B0604020202020204" pitchFamily="34" charset="0"/>
              </a:rPr>
              <a:t>, nếu tồn tại dãy các xâu </a:t>
            </a:r>
            <a:r>
              <a:rPr lang="el-GR" altLang="en-US">
                <a:solidFill>
                  <a:srgbClr val="DF3507"/>
                </a:solidFill>
                <a:cs typeface="Arial" panose="020B0604020202020204" pitchFamily="34" charset="0"/>
              </a:rPr>
              <a:t>α</a:t>
            </a:r>
            <a:r>
              <a:rPr lang="en-US" altLang="en-US" baseline="-25000">
                <a:solidFill>
                  <a:srgbClr val="DF3507"/>
                </a:solidFill>
                <a:cs typeface="Arial" panose="020B0604020202020204" pitchFamily="34" charset="0"/>
              </a:rPr>
              <a:t>0</a:t>
            </a:r>
            <a:r>
              <a:rPr lang="en-US" altLang="en-US">
                <a:cs typeface="Arial" panose="020B0604020202020204" pitchFamily="34" charset="0"/>
              </a:rPr>
              <a:t>, </a:t>
            </a:r>
            <a:r>
              <a:rPr lang="el-GR" altLang="en-US">
                <a:solidFill>
                  <a:srgbClr val="DF3507"/>
                </a:solidFill>
                <a:cs typeface="Arial" panose="020B0604020202020204" pitchFamily="34" charset="0"/>
              </a:rPr>
              <a:t>α</a:t>
            </a:r>
            <a:r>
              <a:rPr lang="en-US" altLang="en-US" baseline="-25000">
                <a:solidFill>
                  <a:srgbClr val="DF3507"/>
                </a:solidFill>
                <a:cs typeface="Arial" panose="020B0604020202020204" pitchFamily="34" charset="0"/>
              </a:rPr>
              <a:t>1</a:t>
            </a:r>
            <a:r>
              <a:rPr lang="en-US" altLang="en-US">
                <a:cs typeface="Arial" panose="020B0604020202020204" pitchFamily="34" charset="0"/>
              </a:rPr>
              <a:t>, </a:t>
            </a:r>
            <a:r>
              <a:rPr lang="el-GR" altLang="en-US">
                <a:solidFill>
                  <a:srgbClr val="DF3507"/>
                </a:solidFill>
                <a:cs typeface="Arial" panose="020B0604020202020204" pitchFamily="34" charset="0"/>
              </a:rPr>
              <a:t>α</a:t>
            </a:r>
            <a:r>
              <a:rPr lang="en-US" altLang="en-US" baseline="-25000">
                <a:solidFill>
                  <a:srgbClr val="DF3507"/>
                </a:solidFill>
                <a:cs typeface="Arial" panose="020B0604020202020204" pitchFamily="34" charset="0"/>
              </a:rPr>
              <a:t>2</a:t>
            </a:r>
            <a:r>
              <a:rPr lang="en-US" altLang="en-US">
                <a:cs typeface="Arial" panose="020B0604020202020204" pitchFamily="34" charset="0"/>
              </a:rPr>
              <a:t>,…, </a:t>
            </a:r>
            <a:r>
              <a:rPr lang="el-GR" altLang="en-US">
                <a:solidFill>
                  <a:srgbClr val="DF3507"/>
                </a:solidFill>
                <a:cs typeface="Arial" panose="020B0604020202020204" pitchFamily="34" charset="0"/>
              </a:rPr>
              <a:t>α</a:t>
            </a:r>
            <a:r>
              <a:rPr lang="en-US" altLang="en-US" baseline="-25000">
                <a:solidFill>
                  <a:srgbClr val="DF3507"/>
                </a:solidFill>
                <a:cs typeface="Arial" panose="020B0604020202020204" pitchFamily="34" charset="0"/>
              </a:rPr>
              <a:t>n</a:t>
            </a:r>
            <a:r>
              <a:rPr lang="en-US" altLang="en-US">
                <a:cs typeface="Arial" panose="020B0604020202020204" pitchFamily="34" charset="0"/>
              </a:rPr>
              <a:t> thỏa mãn điều kiện</a:t>
            </a:r>
          </a:p>
          <a:p>
            <a:pPr marL="406400" indent="-406400" eaLnBrk="1" hangingPunct="1">
              <a:lnSpc>
                <a:spcPct val="120000"/>
              </a:lnSpc>
              <a:buFontTx/>
              <a:buNone/>
            </a:pPr>
            <a:r>
              <a:rPr lang="en-US" altLang="en-US">
                <a:cs typeface="Arial" panose="020B0604020202020204" pitchFamily="34" charset="0"/>
              </a:rPr>
              <a:t>		</a:t>
            </a:r>
            <a:r>
              <a:rPr lang="el-GR" altLang="en-US" sz="3600">
                <a:cs typeface="Arial" panose="020B0604020202020204" pitchFamily="34" charset="0"/>
              </a:rPr>
              <a:t>γ 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= </a:t>
            </a:r>
            <a:r>
              <a:rPr lang="el-GR" altLang="en-US" sz="3600">
                <a:cs typeface="Arial" panose="020B0604020202020204" pitchFamily="34" charset="0"/>
              </a:rPr>
              <a:t>α</a:t>
            </a:r>
            <a:r>
              <a:rPr lang="en-US" altLang="en-US" sz="3600" baseline="-25000">
                <a:cs typeface="Arial" panose="020B0604020202020204" pitchFamily="34" charset="0"/>
              </a:rPr>
              <a:t>0</a:t>
            </a:r>
            <a:r>
              <a:rPr lang="en-US" altLang="en-US" sz="3600">
                <a:cs typeface="Arial" panose="020B0604020202020204" pitchFamily="34" charset="0"/>
              </a:rPr>
              <a:t> 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l-GR" altLang="en-US" sz="3600">
                <a:cs typeface="Arial" panose="020B0604020202020204" pitchFamily="34" charset="0"/>
              </a:rPr>
              <a:t>α</a:t>
            </a:r>
            <a:r>
              <a:rPr lang="en-US" altLang="en-US" sz="3600" baseline="-25000">
                <a:cs typeface="Arial" panose="020B0604020202020204" pitchFamily="34" charset="0"/>
              </a:rPr>
              <a:t>1</a:t>
            </a:r>
            <a:r>
              <a:rPr lang="el-GR" altLang="en-US" sz="3600">
                <a:cs typeface="Arial" panose="020B0604020202020204" pitchFamily="34" charset="0"/>
              </a:rPr>
              <a:t> 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l-GR" altLang="en-US" sz="3600">
                <a:cs typeface="Arial" panose="020B0604020202020204" pitchFamily="34" charset="0"/>
              </a:rPr>
              <a:t>α</a:t>
            </a:r>
            <a:r>
              <a:rPr lang="en-US" altLang="en-US" sz="3600" baseline="-25000">
                <a:cs typeface="Arial" panose="020B0604020202020204" pitchFamily="34" charset="0"/>
              </a:rPr>
              <a:t>2</a:t>
            </a:r>
            <a:r>
              <a:rPr lang="el-GR" altLang="en-US" sz="3600">
                <a:cs typeface="Arial" panose="020B0604020202020204" pitchFamily="34" charset="0"/>
              </a:rPr>
              <a:t> 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 ….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  </a:t>
            </a:r>
            <a:r>
              <a:rPr lang="el-GR" altLang="en-US" sz="3600">
                <a:cs typeface="Arial" panose="020B0604020202020204" pitchFamily="34" charset="0"/>
              </a:rPr>
              <a:t>α</a:t>
            </a:r>
            <a:r>
              <a:rPr lang="en-US" altLang="en-US" sz="3600" baseline="-25000">
                <a:cs typeface="Arial" panose="020B0604020202020204" pitchFamily="34" charset="0"/>
              </a:rPr>
              <a:t>n</a:t>
            </a:r>
            <a:r>
              <a:rPr lang="en-US" altLang="en-US" sz="3600">
                <a:cs typeface="Arial" panose="020B0604020202020204" pitchFamily="34" charset="0"/>
              </a:rPr>
              <a:t> 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= </a:t>
            </a:r>
            <a:r>
              <a:rPr lang="el-GR" altLang="en-US" sz="3600">
                <a:cs typeface="Arial" panose="020B0604020202020204" pitchFamily="34" charset="0"/>
              </a:rPr>
              <a:t>δ</a:t>
            </a:r>
            <a:r>
              <a:rPr lang="en-US" altLang="en-US">
                <a:cs typeface="Arial" panose="020B0604020202020204" pitchFamily="34" charset="0"/>
              </a:rPr>
              <a:t> </a:t>
            </a:r>
          </a:p>
          <a:p>
            <a:pPr marL="406400" indent="-406400" eaLnBrk="1" hangingPunct="1">
              <a:lnSpc>
                <a:spcPct val="120000"/>
              </a:lnSpc>
            </a:pPr>
            <a:r>
              <a:rPr lang="en-US" altLang="en-US">
                <a:cs typeface="Arial" panose="020B0604020202020204" pitchFamily="34" charset="0"/>
              </a:rPr>
              <a:t>Nếu n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</a:t>
            </a:r>
            <a:r>
              <a:rPr lang="en-US" altLang="en-US">
                <a:cs typeface="Arial" panose="020B0604020202020204" pitchFamily="34" charset="0"/>
              </a:rPr>
              <a:t> 1, áp dụng ít nhất 1 bước suy dẫn, ký hiệu: </a:t>
            </a:r>
            <a:r>
              <a:rPr lang="el-GR" altLang="en-US" b="1">
                <a:solidFill>
                  <a:srgbClr val="DF3507"/>
                </a:solidFill>
                <a:cs typeface="Arial" panose="020B0604020202020204" pitchFamily="34" charset="0"/>
              </a:rPr>
              <a:t>γ</a:t>
            </a:r>
            <a:r>
              <a:rPr lang="en-US" altLang="en-US" b="1">
                <a:solidFill>
                  <a:srgbClr val="DF3507"/>
                </a:solidFill>
                <a:cs typeface="Arial" panose="020B0604020202020204" pitchFamily="34" charset="0"/>
              </a:rPr>
              <a:t> </a:t>
            </a:r>
            <a:r>
              <a:rPr lang="el-GR" altLang="en-US" b="1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b="1" baseline="30000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 b="1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b="1">
                <a:solidFill>
                  <a:srgbClr val="DF3507"/>
                </a:solidFill>
                <a:cs typeface="Arial" panose="020B0604020202020204" pitchFamily="34" charset="0"/>
              </a:rPr>
              <a:t>δ</a:t>
            </a:r>
            <a:endParaRPr lang="en-US" altLang="en-US" b="1">
              <a:solidFill>
                <a:srgbClr val="DF3507"/>
              </a:solidFill>
              <a:cs typeface="Arial" panose="020B0604020202020204" pitchFamily="34" charset="0"/>
            </a:endParaRPr>
          </a:p>
          <a:p>
            <a:pPr marL="406400" indent="-406400" eaLnBrk="1" hangingPunct="1">
              <a:lnSpc>
                <a:spcPct val="120000"/>
              </a:lnSpc>
            </a:pPr>
            <a:r>
              <a:rPr lang="en-US" altLang="en-US">
                <a:cs typeface="Arial" panose="020B0604020202020204" pitchFamily="34" charset="0"/>
              </a:rPr>
              <a:t>Nếu n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 0, có thể không áp dụng bước nào, ký hiệu: </a:t>
            </a:r>
            <a:r>
              <a:rPr lang="el-GR" altLang="en-US" b="1">
                <a:solidFill>
                  <a:srgbClr val="DF3507"/>
                </a:solidFill>
                <a:cs typeface="Arial" panose="020B0604020202020204" pitchFamily="34" charset="0"/>
              </a:rPr>
              <a:t>γ</a:t>
            </a:r>
            <a:r>
              <a:rPr lang="en-US" altLang="en-US" b="1">
                <a:solidFill>
                  <a:srgbClr val="DF3507"/>
                </a:solidFill>
                <a:cs typeface="Arial" panose="020B0604020202020204" pitchFamily="34" charset="0"/>
              </a:rPr>
              <a:t> </a:t>
            </a:r>
            <a:r>
              <a:rPr lang="el-GR" altLang="en-US" b="1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b="1" baseline="30000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 b="1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b="1">
                <a:solidFill>
                  <a:srgbClr val="DF3507"/>
                </a:solidFill>
                <a:cs typeface="Arial" panose="020B0604020202020204" pitchFamily="34" charset="0"/>
              </a:rPr>
              <a:t>δ</a:t>
            </a:r>
            <a:endParaRPr lang="en-US" altLang="en-US" b="1">
              <a:solidFill>
                <a:srgbClr val="DF3507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4929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9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14929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89CB72A-FE08-42E6-BEB5-895D03B84A8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Suy dẫn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2800"/>
              <a:t> Ví dụ</a:t>
            </a:r>
          </a:p>
        </p:txBody>
      </p:sp>
      <p:sp>
        <p:nvSpPr>
          <p:cNvPr id="78852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7885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763000" cy="5562600"/>
          </a:xfrm>
          <a:noFill/>
        </p:spPr>
        <p:txBody>
          <a:bodyPr/>
          <a:lstStyle/>
          <a:p>
            <a:pPr marL="290513" indent="-290513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Xét văn phạm G</a:t>
            </a:r>
            <a:r>
              <a:rPr lang="en-US" altLang="en-US" baseline="-25000"/>
              <a:t>1</a:t>
            </a:r>
          </a:p>
          <a:p>
            <a:pPr marL="290513" indent="-290513" eaLnBrk="1" hangingPunct="1">
              <a:lnSpc>
                <a:spcPct val="110000"/>
              </a:lnSpc>
            </a:pPr>
            <a:r>
              <a:rPr lang="en-US" altLang="en-US" sz="2800"/>
              <a:t>abA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800">
                <a:cs typeface="Arial" panose="020B0604020202020204" pitchFamily="34" charset="0"/>
              </a:rPr>
              <a:t> abbA {</a:t>
            </a:r>
            <a:r>
              <a:rPr lang="el-GR" altLang="en-US" sz="2800" i="1">
                <a:solidFill>
                  <a:schemeClr val="bg2"/>
                </a:solidFill>
                <a:cs typeface="Arial" panose="020B0604020202020204" pitchFamily="34" charset="0"/>
              </a:rPr>
              <a:t>α</a:t>
            </a:r>
            <a:r>
              <a:rPr lang="en-US" altLang="en-US" sz="2800" i="1">
                <a:solidFill>
                  <a:schemeClr val="bg2"/>
                </a:solidFill>
                <a:cs typeface="Arial" panose="020B0604020202020204" pitchFamily="34" charset="0"/>
              </a:rPr>
              <a:t>=ab, </a:t>
            </a:r>
            <a:r>
              <a:rPr lang="el-GR" altLang="en-US" sz="2800" i="1">
                <a:solidFill>
                  <a:schemeClr val="bg2"/>
                </a:solidFill>
                <a:cs typeface="Arial" panose="020B0604020202020204" pitchFamily="34" charset="0"/>
              </a:rPr>
              <a:t>β</a:t>
            </a:r>
            <a:r>
              <a:rPr lang="en-US" altLang="en-US" sz="2800" i="1">
                <a:solidFill>
                  <a:schemeClr val="bg2"/>
                </a:solidFill>
                <a:cs typeface="Arial" panose="020B0604020202020204" pitchFamily="34" charset="0"/>
              </a:rPr>
              <a:t>=</a:t>
            </a:r>
            <a:r>
              <a:rPr lang="el-GR" altLang="en-US" sz="2800" i="1">
                <a:solidFill>
                  <a:schemeClr val="bg2"/>
                </a:solidFill>
                <a:cs typeface="Arial" panose="020B0604020202020204" pitchFamily="34" charset="0"/>
              </a:rPr>
              <a:t>ε</a:t>
            </a:r>
            <a:r>
              <a:rPr lang="en-US" altLang="en-US" sz="2800" i="1">
                <a:solidFill>
                  <a:schemeClr val="bg2"/>
                </a:solidFill>
                <a:cs typeface="Arial" panose="020B0604020202020204" pitchFamily="34" charset="0"/>
              </a:rPr>
              <a:t>, v=A,w=bA, A </a:t>
            </a:r>
            <a:r>
              <a:rPr lang="en-US" altLang="en-US" sz="2800" i="1">
                <a:solidFill>
                  <a:schemeClr val="bg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bA P</a:t>
            </a:r>
            <a:r>
              <a:rPr lang="en-US" altLang="en-US" sz="2800">
                <a:cs typeface="Arial" panose="020B0604020202020204" pitchFamily="34" charset="0"/>
              </a:rPr>
              <a:t> }</a:t>
            </a:r>
            <a:endParaRPr lang="el-GR" altLang="en-US" sz="2800">
              <a:cs typeface="Arial" panose="020B0604020202020204" pitchFamily="34" charset="0"/>
            </a:endParaRPr>
          </a:p>
          <a:p>
            <a:pPr marL="290513" indent="-290513" eaLnBrk="1" hangingPunct="1">
              <a:lnSpc>
                <a:spcPct val="110000"/>
              </a:lnSpc>
            </a:pPr>
            <a:r>
              <a:rPr lang="en-US" altLang="en-US" sz="2800"/>
              <a:t>abA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800">
                <a:cs typeface="Arial" panose="020B0604020202020204" pitchFamily="34" charset="0"/>
              </a:rPr>
              <a:t> abbA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800">
                <a:cs typeface="Arial" panose="020B0604020202020204" pitchFamily="34" charset="0"/>
              </a:rPr>
              <a:t> abbbA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800">
                <a:cs typeface="Arial" panose="020B0604020202020204" pitchFamily="34" charset="0"/>
              </a:rPr>
              <a:t> abbbbA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800">
                <a:cs typeface="Arial" panose="020B0604020202020204" pitchFamily="34" charset="0"/>
              </a:rPr>
              <a:t> abbbb</a:t>
            </a:r>
            <a:r>
              <a:rPr lang="en-US" altLang="en-US" sz="2800" b="1">
                <a:cs typeface="Arial" panose="020B0604020202020204" pitchFamily="34" charset="0"/>
              </a:rPr>
              <a:t>c</a:t>
            </a:r>
          </a:p>
          <a:p>
            <a:pPr marL="290513" indent="-290513" eaLnBrk="1" hangingPunct="1">
              <a:lnSpc>
                <a:spcPct val="110000"/>
              </a:lnSpc>
              <a:buFontTx/>
              <a:buNone/>
            </a:pPr>
            <a:r>
              <a:rPr lang="en-US" altLang="en-US" sz="2800">
                <a:cs typeface="Arial" panose="020B0604020202020204" pitchFamily="34" charset="0"/>
              </a:rPr>
              <a:t>		{</a:t>
            </a:r>
            <a:r>
              <a:rPr lang="el-GR" altLang="en-US" sz="2800" i="1">
                <a:solidFill>
                  <a:schemeClr val="bg2"/>
                </a:solidFill>
                <a:cs typeface="Arial" panose="020B0604020202020204" pitchFamily="34" charset="0"/>
              </a:rPr>
              <a:t>α</a:t>
            </a:r>
            <a:r>
              <a:rPr lang="en-US" altLang="en-US" sz="2800" i="1" baseline="-25000">
                <a:solidFill>
                  <a:schemeClr val="bg2"/>
                </a:solidFill>
                <a:cs typeface="Arial" panose="020B0604020202020204" pitchFamily="34" charset="0"/>
              </a:rPr>
              <a:t>0</a:t>
            </a:r>
            <a:r>
              <a:rPr lang="en-US" altLang="en-US" sz="2800" i="1">
                <a:solidFill>
                  <a:schemeClr val="bg2"/>
                </a:solidFill>
                <a:cs typeface="Arial" panose="020B0604020202020204" pitchFamily="34" charset="0"/>
              </a:rPr>
              <a:t>= </a:t>
            </a:r>
            <a:r>
              <a:rPr lang="en-US" altLang="en-US" sz="2800"/>
              <a:t>abA, </a:t>
            </a:r>
            <a:r>
              <a:rPr lang="el-GR" altLang="en-US" sz="2800" i="1">
                <a:solidFill>
                  <a:schemeClr val="bg2"/>
                </a:solidFill>
                <a:cs typeface="Arial" panose="020B0604020202020204" pitchFamily="34" charset="0"/>
              </a:rPr>
              <a:t>α</a:t>
            </a:r>
            <a:r>
              <a:rPr lang="en-US" altLang="en-US" sz="2800" i="1" baseline="-25000">
                <a:solidFill>
                  <a:schemeClr val="bg2"/>
                </a:solidFill>
                <a:cs typeface="Arial" panose="020B0604020202020204" pitchFamily="34" charset="0"/>
              </a:rPr>
              <a:t>1</a:t>
            </a:r>
            <a:r>
              <a:rPr lang="en-US" altLang="en-US" sz="2800" i="1">
                <a:solidFill>
                  <a:schemeClr val="bg2"/>
                </a:solidFill>
                <a:cs typeface="Arial" panose="020B0604020202020204" pitchFamily="34" charset="0"/>
              </a:rPr>
              <a:t>= </a:t>
            </a:r>
            <a:r>
              <a:rPr lang="en-US" altLang="en-US" sz="2800"/>
              <a:t>abbA,… </a:t>
            </a:r>
            <a:r>
              <a:rPr lang="el-GR" altLang="en-US" sz="2800" i="1">
                <a:solidFill>
                  <a:schemeClr val="bg2"/>
                </a:solidFill>
                <a:cs typeface="Arial" panose="020B0604020202020204" pitchFamily="34" charset="0"/>
              </a:rPr>
              <a:t>α</a:t>
            </a:r>
            <a:r>
              <a:rPr lang="en-US" altLang="en-US" sz="2800" i="1" baseline="-25000">
                <a:solidFill>
                  <a:schemeClr val="bg2"/>
                </a:solidFill>
                <a:cs typeface="Arial" panose="020B0604020202020204" pitchFamily="34" charset="0"/>
              </a:rPr>
              <a:t>4</a:t>
            </a:r>
            <a:r>
              <a:rPr lang="en-US" altLang="en-US" sz="2800" i="1">
                <a:solidFill>
                  <a:schemeClr val="bg2"/>
                </a:solidFill>
                <a:cs typeface="Arial" panose="020B0604020202020204" pitchFamily="34" charset="0"/>
              </a:rPr>
              <a:t>= </a:t>
            </a:r>
            <a:r>
              <a:rPr lang="en-US" altLang="en-US" sz="2800"/>
              <a:t>abbbbc</a:t>
            </a:r>
            <a:r>
              <a:rPr lang="en-US" altLang="en-US" sz="2800">
                <a:cs typeface="Arial" panose="020B0604020202020204" pitchFamily="34" charset="0"/>
              </a:rPr>
              <a:t>}</a:t>
            </a:r>
            <a:endParaRPr lang="el-GR" altLang="en-US" sz="2800">
              <a:cs typeface="Arial" panose="020B0604020202020204" pitchFamily="34" charset="0"/>
            </a:endParaRPr>
          </a:p>
          <a:p>
            <a:pPr marL="290513" indent="-290513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Vậy</a:t>
            </a:r>
          </a:p>
          <a:p>
            <a:pPr marL="290513" indent="-290513" eaLnBrk="1" hangingPunct="1">
              <a:lnSpc>
                <a:spcPct val="110000"/>
              </a:lnSpc>
              <a:buFontTx/>
              <a:buNone/>
            </a:pPr>
            <a:r>
              <a:rPr lang="en-US" altLang="en-US" sz="2800"/>
              <a:t>	abA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800" baseline="30000"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/>
              <a:t>abbbbc</a:t>
            </a:r>
          </a:p>
          <a:p>
            <a:pPr marL="290513" indent="-290513" eaLnBrk="1" hangingPunct="1">
              <a:lnSpc>
                <a:spcPct val="110000"/>
              </a:lnSpc>
              <a:buFontTx/>
              <a:buNone/>
            </a:pPr>
            <a:r>
              <a:rPr lang="en-US" altLang="en-US" sz="2800"/>
              <a:t>	abA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800" baseline="30000"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/>
              <a:t>abbbbc</a:t>
            </a:r>
          </a:p>
          <a:p>
            <a:pPr marL="290513" indent="-290513" eaLnBrk="1" hangingPunct="1">
              <a:lnSpc>
                <a:spcPct val="110000"/>
              </a:lnSpc>
              <a:buFontTx/>
              <a:buNone/>
            </a:pPr>
            <a:r>
              <a:rPr lang="en-US" altLang="en-US" sz="2800"/>
              <a:t>	abA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800" baseline="30000"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/>
              <a:t>abA //</a:t>
            </a:r>
            <a:r>
              <a:rPr lang="en-US" altLang="en-US" sz="2800">
                <a:solidFill>
                  <a:schemeClr val="bg2"/>
                </a:solidFill>
                <a:sym typeface="Symbol" panose="05050102010706020507" pitchFamily="18" charset="2"/>
              </a:rPr>
              <a:t> Áp dụng 0 bước suy dẫn</a:t>
            </a:r>
            <a:endParaRPr lang="en-US" altLang="en-US" sz="2800">
              <a:solidFill>
                <a:schemeClr val="bg2"/>
              </a:solidFill>
            </a:endParaRPr>
          </a:p>
          <a:p>
            <a:pPr marL="290513" indent="-290513" eaLnBrk="1" hangingPunct="1">
              <a:lnSpc>
                <a:spcPct val="110000"/>
              </a:lnSpc>
              <a:buFontTx/>
              <a:buNone/>
            </a:pPr>
            <a:r>
              <a:rPr lang="en-US" altLang="en-US" sz="2800"/>
              <a:t>	abA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800" baseline="30000"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/>
              <a:t>abA //</a:t>
            </a:r>
            <a:r>
              <a:rPr lang="en-US" altLang="en-US" sz="2800">
                <a:solidFill>
                  <a:schemeClr val="bg2"/>
                </a:solidFill>
                <a:sym typeface="Symbol" panose="05050102010706020507" pitchFamily="18" charset="2"/>
              </a:rPr>
              <a:t> Sai, do áp dụng ít nhất 1 suy dẫn</a:t>
            </a:r>
            <a:endParaRPr lang="el-GR" altLang="en-US" sz="28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DCDB26-4E98-42A0-A58E-E759C43F8118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79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Câu</a:t>
            </a:r>
          </a:p>
        </p:txBody>
      </p:sp>
      <p:sp>
        <p:nvSpPr>
          <p:cNvPr id="79876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14940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82000" cy="5334000"/>
          </a:xfrm>
          <a:noFill/>
        </p:spPr>
        <p:txBody>
          <a:bodyPr/>
          <a:lstStyle/>
          <a:p>
            <a:pPr marL="290513" indent="-290513" eaLnBrk="1" hangingPunct="1">
              <a:lnSpc>
                <a:spcPct val="120000"/>
              </a:lnSpc>
              <a:spcBef>
                <a:spcPct val="25000"/>
              </a:spcBef>
              <a:buFontTx/>
              <a:buNone/>
            </a:pPr>
            <a:r>
              <a:rPr lang="en-US" altLang="en-US"/>
              <a:t>Cho </a:t>
            </a:r>
            <a:r>
              <a:rPr lang="en-US" altLang="en-US" err="1"/>
              <a:t>văn</a:t>
            </a:r>
            <a:r>
              <a:rPr lang="en-US" altLang="en-US"/>
              <a:t> </a:t>
            </a:r>
            <a:r>
              <a:rPr lang="en-US" altLang="en-US" err="1"/>
              <a:t>phạm</a:t>
            </a:r>
            <a:r>
              <a:rPr lang="en-US" altLang="en-US"/>
              <a:t>  G = (V</a:t>
            </a:r>
            <a:r>
              <a:rPr lang="en-US" altLang="en-US" baseline="-25000"/>
              <a:t>T</a:t>
            </a:r>
            <a:r>
              <a:rPr lang="en-US" altLang="en-US"/>
              <a:t>, V</a:t>
            </a:r>
            <a:r>
              <a:rPr lang="en-US" altLang="en-US" baseline="-25000"/>
              <a:t>N</a:t>
            </a:r>
            <a:r>
              <a:rPr lang="en-US" altLang="en-US"/>
              <a:t>,  P,  S)</a:t>
            </a:r>
          </a:p>
          <a:p>
            <a:pPr marL="290513" indent="-290513" eaLnBrk="1" hangingPunct="1">
              <a:lnSpc>
                <a:spcPct val="120000"/>
              </a:lnSpc>
              <a:spcBef>
                <a:spcPct val="25000"/>
              </a:spcBef>
            </a:pPr>
            <a:r>
              <a:rPr lang="en-US" altLang="en-US" err="1"/>
              <a:t>Một</a:t>
            </a:r>
            <a:r>
              <a:rPr lang="en-US" altLang="en-US"/>
              <a:t> </a:t>
            </a:r>
            <a:r>
              <a:rPr lang="en-US" altLang="en-US" err="1"/>
              <a:t>xâu</a:t>
            </a:r>
            <a:r>
              <a:rPr lang="en-US" altLang="en-US"/>
              <a:t> </a:t>
            </a:r>
            <a:r>
              <a:rPr lang="el-GR" altLang="en-US" b="1">
                <a:solidFill>
                  <a:srgbClr val="DF3507"/>
                </a:solidFill>
                <a:cs typeface="Arial" panose="020B0604020202020204" pitchFamily="34" charset="0"/>
              </a:rPr>
              <a:t>δ</a:t>
            </a:r>
            <a:r>
              <a:rPr lang="en-US" altLang="en-US"/>
              <a:t> </a:t>
            </a:r>
            <a:r>
              <a:rPr lang="en-US" altLang="en-US" err="1"/>
              <a:t>được</a:t>
            </a:r>
            <a:r>
              <a:rPr lang="en-US" altLang="en-US"/>
              <a:t> </a:t>
            </a:r>
            <a:r>
              <a:rPr lang="en-US" altLang="en-US" err="1"/>
              <a:t>suy</a:t>
            </a:r>
            <a:r>
              <a:rPr lang="en-US" altLang="en-US"/>
              <a:t> ra </a:t>
            </a:r>
            <a:r>
              <a:rPr lang="en-US" altLang="en-US" err="1"/>
              <a:t>từ</a:t>
            </a:r>
            <a:r>
              <a:rPr lang="en-US" altLang="en-US"/>
              <a:t> </a:t>
            </a:r>
            <a:r>
              <a:rPr lang="en-US" altLang="en-US" err="1"/>
              <a:t>ký</a:t>
            </a:r>
            <a:r>
              <a:rPr lang="en-US" altLang="en-US"/>
              <a:t> </a:t>
            </a:r>
            <a:r>
              <a:rPr lang="en-US" altLang="en-US" err="1"/>
              <a:t>hiệu</a:t>
            </a:r>
            <a:r>
              <a:rPr lang="en-US" altLang="en-US"/>
              <a:t> </a:t>
            </a:r>
            <a:r>
              <a:rPr lang="en-US" altLang="en-US" err="1"/>
              <a:t>khởi</a:t>
            </a:r>
            <a:r>
              <a:rPr lang="en-US" altLang="en-US"/>
              <a:t> </a:t>
            </a:r>
            <a:r>
              <a:rPr lang="en-US" altLang="en-US" err="1"/>
              <a:t>đầu</a:t>
            </a:r>
            <a:r>
              <a:rPr lang="en-US" altLang="en-US"/>
              <a:t> </a:t>
            </a:r>
            <a:r>
              <a:rPr lang="en-US" altLang="en-US" b="1"/>
              <a:t>S</a:t>
            </a:r>
            <a:r>
              <a:rPr lang="en-US" altLang="en-US"/>
              <a:t>,</a:t>
            </a:r>
            <a:r>
              <a:rPr lang="en-US" altLang="en-US" b="1"/>
              <a:t> </a:t>
            </a:r>
            <a:r>
              <a:rPr lang="en-US" altLang="en-US" err="1"/>
              <a:t>được</a:t>
            </a:r>
            <a:r>
              <a:rPr lang="en-US" altLang="en-US"/>
              <a:t> </a:t>
            </a:r>
            <a:r>
              <a:rPr lang="en-US" altLang="en-US" err="1"/>
              <a:t>gọi</a:t>
            </a:r>
            <a:r>
              <a:rPr lang="en-US" altLang="en-US"/>
              <a:t> </a:t>
            </a:r>
            <a:r>
              <a:rPr lang="en-US" altLang="en-US" err="1"/>
              <a:t>là</a:t>
            </a:r>
            <a:r>
              <a:rPr lang="en-US" altLang="en-US"/>
              <a:t> </a:t>
            </a:r>
            <a:r>
              <a:rPr lang="en-US" altLang="en-US" i="1" err="1">
                <a:solidFill>
                  <a:srgbClr val="0000CC"/>
                </a:solidFill>
              </a:rPr>
              <a:t>dạng</a:t>
            </a:r>
            <a:r>
              <a:rPr lang="en-US" altLang="en-US" i="1">
                <a:solidFill>
                  <a:srgbClr val="0000CC"/>
                </a:solidFill>
              </a:rPr>
              <a:t> </a:t>
            </a:r>
            <a:r>
              <a:rPr lang="en-US" altLang="en-US" i="1" err="1">
                <a:solidFill>
                  <a:srgbClr val="0000CC"/>
                </a:solidFill>
              </a:rPr>
              <a:t>câu</a:t>
            </a:r>
            <a:r>
              <a:rPr lang="en-US" altLang="en-US"/>
              <a:t> hay </a:t>
            </a:r>
            <a:r>
              <a:rPr lang="en-US" altLang="en-US" i="1" err="1">
                <a:solidFill>
                  <a:srgbClr val="0000CC"/>
                </a:solidFill>
              </a:rPr>
              <a:t>dạng</a:t>
            </a:r>
            <a:r>
              <a:rPr lang="en-US" altLang="en-US" i="1">
                <a:solidFill>
                  <a:srgbClr val="0000CC"/>
                </a:solidFill>
              </a:rPr>
              <a:t> </a:t>
            </a:r>
            <a:r>
              <a:rPr lang="en-US" altLang="en-US" i="1" err="1">
                <a:solidFill>
                  <a:srgbClr val="0000CC"/>
                </a:solidFill>
              </a:rPr>
              <a:t>cú</a:t>
            </a:r>
            <a:r>
              <a:rPr lang="en-US" altLang="en-US" i="1">
                <a:solidFill>
                  <a:srgbClr val="0000CC"/>
                </a:solidFill>
              </a:rPr>
              <a:t> </a:t>
            </a:r>
            <a:r>
              <a:rPr lang="en-US" altLang="en-US" i="1" err="1">
                <a:solidFill>
                  <a:srgbClr val="0000CC"/>
                </a:solidFill>
              </a:rPr>
              <a:t>pháp</a:t>
            </a:r>
            <a:endParaRPr lang="en-US" altLang="en-US" i="1">
              <a:solidFill>
                <a:srgbClr val="0000CC"/>
              </a:solidFill>
            </a:endParaRPr>
          </a:p>
          <a:p>
            <a:pPr marL="1030288" lvl="1" indent="-407988" eaLnBrk="1" hangingPunct="1">
              <a:lnSpc>
                <a:spcPct val="120000"/>
              </a:lnSpc>
              <a:spcBef>
                <a:spcPct val="25000"/>
              </a:spcBef>
            </a:pPr>
            <a:r>
              <a:rPr lang="el-GR" altLang="en-US" b="1">
                <a:solidFill>
                  <a:srgbClr val="220076"/>
                </a:solidFill>
                <a:cs typeface="Arial" panose="020B0604020202020204" pitchFamily="34" charset="0"/>
              </a:rPr>
              <a:t> </a:t>
            </a:r>
            <a:r>
              <a:rPr lang="el-GR" altLang="en-US" b="1">
                <a:solidFill>
                  <a:srgbClr val="DF3507"/>
                </a:solidFill>
                <a:cs typeface="Arial" panose="020B0604020202020204" pitchFamily="34" charset="0"/>
              </a:rPr>
              <a:t>δ</a:t>
            </a:r>
            <a:r>
              <a:rPr lang="en-US" altLang="en-US"/>
              <a:t> </a:t>
            </a:r>
            <a:r>
              <a:rPr lang="en-US" altLang="en-US" err="1"/>
              <a:t>là</a:t>
            </a:r>
            <a:r>
              <a:rPr lang="en-US" altLang="en-US"/>
              <a:t> </a:t>
            </a:r>
            <a:r>
              <a:rPr lang="en-US" altLang="en-US" err="1"/>
              <a:t>một</a:t>
            </a:r>
            <a:r>
              <a:rPr lang="en-US" altLang="en-US"/>
              <a:t> </a:t>
            </a:r>
            <a:r>
              <a:rPr lang="en-US" altLang="en-US" err="1"/>
              <a:t>dạng</a:t>
            </a:r>
            <a:r>
              <a:rPr lang="en-US" altLang="en-US"/>
              <a:t> </a:t>
            </a:r>
            <a:r>
              <a:rPr lang="en-US" altLang="en-US" err="1"/>
              <a:t>câu</a:t>
            </a:r>
            <a:r>
              <a:rPr lang="en-US" altLang="en-US"/>
              <a:t> </a:t>
            </a:r>
            <a:r>
              <a:rPr lang="en-US" altLang="en-US" err="1"/>
              <a:t>nếu</a:t>
            </a:r>
            <a:r>
              <a:rPr lang="en-US" altLang="en-US"/>
              <a:t> S </a:t>
            </a:r>
            <a:r>
              <a:rPr lang="el-GR" altLang="en-US" sz="240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400" baseline="30000"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l-GR" altLang="en-US" sz="24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b="1">
                <a:solidFill>
                  <a:srgbClr val="DF3507"/>
                </a:solidFill>
                <a:cs typeface="Arial" panose="020B0604020202020204" pitchFamily="34" charset="0"/>
              </a:rPr>
              <a:t>δ</a:t>
            </a:r>
            <a:endParaRPr lang="en-US" altLang="en-US"/>
          </a:p>
          <a:p>
            <a:pPr marL="290513" indent="-290513" eaLnBrk="1" hangingPunct="1">
              <a:lnSpc>
                <a:spcPct val="120000"/>
              </a:lnSpc>
              <a:spcBef>
                <a:spcPct val="25000"/>
              </a:spcBef>
            </a:pPr>
            <a:r>
              <a:rPr lang="en-US" altLang="en-US" err="1"/>
              <a:t>Câu</a:t>
            </a:r>
            <a:r>
              <a:rPr lang="en-US" altLang="en-US"/>
              <a:t> </a:t>
            </a:r>
            <a:r>
              <a:rPr lang="en-US" altLang="en-US" err="1"/>
              <a:t>là</a:t>
            </a:r>
            <a:r>
              <a:rPr lang="en-US" altLang="en-US"/>
              <a:t> </a:t>
            </a:r>
            <a:r>
              <a:rPr lang="en-US" altLang="en-US" err="1"/>
              <a:t>một</a:t>
            </a:r>
            <a:r>
              <a:rPr lang="en-US" altLang="en-US"/>
              <a:t> </a:t>
            </a:r>
            <a:r>
              <a:rPr lang="en-US" altLang="en-US" err="1"/>
              <a:t>dạng</a:t>
            </a:r>
            <a:r>
              <a:rPr lang="en-US" altLang="en-US"/>
              <a:t> </a:t>
            </a:r>
            <a:r>
              <a:rPr lang="en-US" altLang="en-US" err="1"/>
              <a:t>cú</a:t>
            </a:r>
            <a:r>
              <a:rPr lang="en-US" altLang="en-US"/>
              <a:t> </a:t>
            </a:r>
            <a:r>
              <a:rPr lang="en-US" altLang="en-US" err="1"/>
              <a:t>pháp</a:t>
            </a:r>
            <a:r>
              <a:rPr lang="en-US" altLang="en-US"/>
              <a:t> </a:t>
            </a:r>
            <a:r>
              <a:rPr lang="en-US" altLang="en-US" err="1"/>
              <a:t>chỉ</a:t>
            </a:r>
            <a:r>
              <a:rPr lang="en-US" altLang="en-US"/>
              <a:t> bao </a:t>
            </a:r>
            <a:r>
              <a:rPr lang="en-US" altLang="en-US" err="1"/>
              <a:t>gồm</a:t>
            </a:r>
            <a:r>
              <a:rPr lang="en-US" altLang="en-US"/>
              <a:t> </a:t>
            </a:r>
            <a:r>
              <a:rPr lang="en-US" altLang="en-US" err="1"/>
              <a:t>toàn</a:t>
            </a:r>
            <a:r>
              <a:rPr lang="en-US" altLang="en-US"/>
              <a:t> </a:t>
            </a:r>
            <a:r>
              <a:rPr lang="en-US" altLang="en-US" err="1"/>
              <a:t>ký</a:t>
            </a:r>
            <a:r>
              <a:rPr lang="en-US" altLang="en-US"/>
              <a:t> </a:t>
            </a:r>
            <a:r>
              <a:rPr lang="en-US" altLang="en-US" err="1"/>
              <a:t>hiệu</a:t>
            </a:r>
            <a:r>
              <a:rPr lang="en-US" altLang="en-US"/>
              <a:t> </a:t>
            </a:r>
            <a:r>
              <a:rPr lang="en-US" altLang="en-US" err="1"/>
              <a:t>kết</a:t>
            </a:r>
            <a:r>
              <a:rPr lang="en-US" altLang="en-US"/>
              <a:t> </a:t>
            </a:r>
            <a:r>
              <a:rPr lang="en-US" altLang="en-US" err="1"/>
              <a:t>thúc</a:t>
            </a:r>
            <a:endParaRPr lang="en-US" altLang="en-US"/>
          </a:p>
          <a:p>
            <a:pPr marL="1030288" lvl="1" indent="-407988" eaLnBrk="1" hangingPunct="1">
              <a:lnSpc>
                <a:spcPct val="120000"/>
              </a:lnSpc>
              <a:spcBef>
                <a:spcPct val="25000"/>
              </a:spcBef>
            </a:pPr>
            <a:r>
              <a:rPr lang="en-US" altLang="en-US"/>
              <a:t> </a:t>
            </a:r>
            <a:r>
              <a:rPr lang="el-GR" altLang="en-US" b="1">
                <a:solidFill>
                  <a:srgbClr val="DF3507"/>
                </a:solidFill>
                <a:cs typeface="Arial" panose="020B0604020202020204" pitchFamily="34" charset="0"/>
              </a:rPr>
              <a:t>δ </a:t>
            </a:r>
            <a:r>
              <a:rPr lang="en-US" altLang="en-US" err="1"/>
              <a:t>là</a:t>
            </a:r>
            <a:r>
              <a:rPr lang="en-US" altLang="en-US"/>
              <a:t> </a:t>
            </a:r>
            <a:r>
              <a:rPr lang="en-US" altLang="en-US" err="1"/>
              <a:t>một</a:t>
            </a:r>
            <a:r>
              <a:rPr lang="en-US" altLang="en-US"/>
              <a:t> </a:t>
            </a:r>
            <a:r>
              <a:rPr lang="en-US" altLang="en-US" err="1"/>
              <a:t>câu</a:t>
            </a:r>
            <a:r>
              <a:rPr lang="en-US" altLang="en-US"/>
              <a:t> </a:t>
            </a:r>
            <a:r>
              <a:rPr lang="en-US" altLang="en-US" err="1"/>
              <a:t>nếu</a:t>
            </a:r>
            <a:r>
              <a:rPr lang="en-US" altLang="en-US"/>
              <a:t> S </a:t>
            </a:r>
            <a:r>
              <a:rPr lang="el-GR" altLang="en-US" sz="240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400" baseline="30000"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l-GR" altLang="en-US" sz="24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b="1">
                <a:solidFill>
                  <a:srgbClr val="DF3507"/>
                </a:solidFill>
                <a:cs typeface="Arial" panose="020B0604020202020204" pitchFamily="34" charset="0"/>
              </a:rPr>
              <a:t>δ</a:t>
            </a:r>
            <a:r>
              <a:rPr lang="en-US" altLang="en-US" b="1">
                <a:solidFill>
                  <a:srgbClr val="DF3507"/>
                </a:solidFill>
                <a:cs typeface="Arial" panose="020B0604020202020204" pitchFamily="34" charset="0"/>
              </a:rPr>
              <a:t> </a:t>
            </a:r>
            <a:r>
              <a:rPr lang="en-US" altLang="en-US" err="1">
                <a:solidFill>
                  <a:srgbClr val="220076"/>
                </a:solidFill>
                <a:cs typeface="Arial" panose="020B0604020202020204" pitchFamily="34" charset="0"/>
              </a:rPr>
              <a:t>và</a:t>
            </a:r>
            <a:r>
              <a:rPr lang="en-US" altLang="en-US">
                <a:solidFill>
                  <a:srgbClr val="220076"/>
                </a:solidFill>
                <a:cs typeface="Arial" panose="020B0604020202020204" pitchFamily="34" charset="0"/>
              </a:rPr>
              <a:t> </a:t>
            </a:r>
            <a:r>
              <a:rPr lang="el-GR" altLang="en-US" b="1">
                <a:solidFill>
                  <a:srgbClr val="DF3507"/>
                </a:solidFill>
                <a:cs typeface="Arial" panose="020B0604020202020204" pitchFamily="34" charset="0"/>
              </a:rPr>
              <a:t>δ</a:t>
            </a:r>
            <a:r>
              <a:rPr lang="el-GR" altLang="en-US" b="1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en-US" b="1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V</a:t>
            </a:r>
            <a:r>
              <a:rPr lang="en-US" altLang="en-US" b="1" baseline="-25000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en-US" b="1" baseline="30000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endParaRPr lang="el-G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0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940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0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940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E5CD4F-F20F-4CFA-81E1-BD30011C8BB7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80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808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Câu </a:t>
            </a:r>
            <a:r>
              <a:rPr lang="en-US" altLang="en-US" sz="2800">
                <a:sym typeface="Symbol" panose="05050102010706020507" pitchFamily="18" charset="2"/>
              </a:rPr>
              <a:t> </a:t>
            </a:r>
            <a:r>
              <a:rPr lang="en-US" altLang="en-US" sz="2800"/>
              <a:t>Ví dụ</a:t>
            </a:r>
          </a:p>
        </p:txBody>
      </p:sp>
      <p:sp>
        <p:nvSpPr>
          <p:cNvPr id="80900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148787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382000" cy="5562600"/>
          </a:xfrm>
          <a:noFill/>
        </p:spPr>
        <p:txBody>
          <a:bodyPr/>
          <a:lstStyle/>
          <a:p>
            <a:pPr marL="406400" indent="-406400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Ví dụ văn phạm G</a:t>
            </a:r>
            <a:r>
              <a:rPr lang="en-US" altLang="en-US" baseline="-25000"/>
              <a:t>1</a:t>
            </a:r>
          </a:p>
          <a:p>
            <a:pPr marL="1030288" lvl="1" indent="-407988" eaLnBrk="1" hangingPunct="1">
              <a:lnSpc>
                <a:spcPct val="110000"/>
              </a:lnSpc>
              <a:buFontTx/>
              <a:buNone/>
            </a:pPr>
            <a:r>
              <a:rPr lang="en-US" altLang="en-US" sz="3200"/>
              <a:t>S</a:t>
            </a:r>
            <a:r>
              <a:rPr lang="en-US" altLang="en-US" sz="3200">
                <a:sym typeface="Symbol" panose="05050102010706020507" pitchFamily="18" charset="2"/>
              </a:rPr>
              <a:t>aSA abA </a:t>
            </a:r>
            <a:r>
              <a:rPr lang="en-US" altLang="en-US" sz="3200">
                <a:solidFill>
                  <a:srgbClr val="DF3507"/>
                </a:solidFill>
                <a:sym typeface="Symbol" panose="05050102010706020507" pitchFamily="18" charset="2"/>
              </a:rPr>
              <a:t>abc</a:t>
            </a:r>
          </a:p>
          <a:p>
            <a:pPr marL="1030288" lvl="1" indent="-407988" eaLnBrk="1" hangingPunct="1">
              <a:lnSpc>
                <a:spcPct val="110000"/>
              </a:lnSpc>
              <a:buFontTx/>
              <a:buNone/>
            </a:pPr>
            <a:r>
              <a:rPr lang="en-US" altLang="en-US" sz="3200"/>
              <a:t>S</a:t>
            </a:r>
            <a:r>
              <a:rPr lang="en-US" altLang="en-US" sz="3200">
                <a:sym typeface="Symbol" panose="05050102010706020507" pitchFamily="18" charset="2"/>
              </a:rPr>
              <a:t>aSA abA abbA</a:t>
            </a:r>
            <a:r>
              <a:rPr lang="en-US" altLang="en-US" sz="3200">
                <a:solidFill>
                  <a:srgbClr val="DF3507"/>
                </a:solidFill>
                <a:sym typeface="Symbol" panose="05050102010706020507" pitchFamily="18" charset="2"/>
              </a:rPr>
              <a:t>abbc</a:t>
            </a:r>
          </a:p>
          <a:p>
            <a:pPr marL="1030288" lvl="1" indent="-407988" eaLnBrk="1" hangingPunct="1">
              <a:lnSpc>
                <a:spcPct val="110000"/>
              </a:lnSpc>
              <a:buFontTx/>
              <a:buNone/>
            </a:pPr>
            <a:r>
              <a:rPr lang="en-US" altLang="en-US" sz="3200"/>
              <a:t>S</a:t>
            </a:r>
            <a:r>
              <a:rPr lang="en-US" altLang="en-US" sz="3200">
                <a:sym typeface="Symbol" panose="05050102010706020507" pitchFamily="18" charset="2"/>
              </a:rPr>
              <a:t>aSA abA abbA abbbA</a:t>
            </a:r>
            <a:r>
              <a:rPr lang="en-US" altLang="en-US" sz="3200">
                <a:solidFill>
                  <a:srgbClr val="DF3507"/>
                </a:solidFill>
                <a:sym typeface="Symbol" panose="05050102010706020507" pitchFamily="18" charset="2"/>
              </a:rPr>
              <a:t>abbbc</a:t>
            </a:r>
          </a:p>
          <a:p>
            <a:pPr marL="406400" indent="-406400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solidFill>
                  <a:srgbClr val="220076"/>
                </a:solidFill>
                <a:sym typeface="Symbol" panose="05050102010706020507" pitchFamily="18" charset="2"/>
              </a:rPr>
              <a:t>Dạng câu</a:t>
            </a:r>
            <a:r>
              <a:rPr lang="en-US" altLang="en-US">
                <a:solidFill>
                  <a:srgbClr val="220076"/>
                </a:solidFill>
                <a:sym typeface="Symbol" panose="05050102010706020507" pitchFamily="18" charset="2"/>
              </a:rPr>
              <a:t>: aSA, abA, abc, abbA, abbc,…</a:t>
            </a:r>
          </a:p>
          <a:p>
            <a:pPr marL="406400" indent="-406400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solidFill>
                  <a:srgbClr val="220076"/>
                </a:solidFill>
                <a:sym typeface="Symbol" panose="05050102010706020507" pitchFamily="18" charset="2"/>
              </a:rPr>
              <a:t>Câu</a:t>
            </a:r>
            <a:r>
              <a:rPr lang="en-US" altLang="en-US">
                <a:solidFill>
                  <a:srgbClr val="220076"/>
                </a:solidFill>
                <a:sym typeface="Symbol" panose="05050102010706020507" pitchFamily="18" charset="2"/>
              </a:rPr>
              <a:t>: abc, abbc, abbbc, abbbbc,…</a:t>
            </a:r>
          </a:p>
          <a:p>
            <a:pPr marL="406400" indent="-406400" algn="ctr" eaLnBrk="1" hangingPunct="1">
              <a:lnSpc>
                <a:spcPct val="110000"/>
              </a:lnSpc>
              <a:spcBef>
                <a:spcPct val="80000"/>
              </a:spcBef>
              <a:buFontTx/>
              <a:buNone/>
            </a:pPr>
            <a:r>
              <a:rPr lang="en-US" altLang="en-US" sz="3600">
                <a:solidFill>
                  <a:srgbClr val="DF3507"/>
                </a:solidFill>
                <a:sym typeface="Symbol" panose="05050102010706020507" pitchFamily="18" charset="2"/>
              </a:rPr>
              <a:t>aabbcc </a:t>
            </a:r>
            <a:r>
              <a:rPr lang="en-US" altLang="en-US" sz="3600">
                <a:solidFill>
                  <a:srgbClr val="220076"/>
                </a:solidFill>
                <a:sym typeface="Symbol" panose="05050102010706020507" pitchFamily="18" charset="2"/>
              </a:rPr>
              <a:t>có phải là một câu?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8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100" decel="5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878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878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878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542FDA-70AE-4A93-9E25-B428896C1DA6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81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Ngôn ngữ sản sinh</a:t>
            </a:r>
          </a:p>
        </p:txBody>
      </p:sp>
      <p:sp>
        <p:nvSpPr>
          <p:cNvPr id="81924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148890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610600" cy="5562600"/>
          </a:xfrm>
          <a:noFill/>
        </p:spPr>
        <p:txBody>
          <a:bodyPr/>
          <a:lstStyle/>
          <a:p>
            <a:pPr marL="290513" indent="-290513" eaLnBrk="1" hangingPunct="1">
              <a:lnSpc>
                <a:spcPct val="120000"/>
              </a:lnSpc>
              <a:buFontTx/>
              <a:buNone/>
            </a:pPr>
            <a:r>
              <a:rPr lang="en-US" altLang="en-US">
                <a:solidFill>
                  <a:srgbClr val="0000CC"/>
                </a:solidFill>
              </a:rPr>
              <a:t>Cho văn phạm  G = (V</a:t>
            </a:r>
            <a:r>
              <a:rPr lang="en-US" altLang="en-US" baseline="-25000">
                <a:solidFill>
                  <a:srgbClr val="0000CC"/>
                </a:solidFill>
              </a:rPr>
              <a:t>T</a:t>
            </a:r>
            <a:r>
              <a:rPr lang="en-US" altLang="en-US">
                <a:solidFill>
                  <a:srgbClr val="0000CC"/>
                </a:solidFill>
              </a:rPr>
              <a:t>, V</a:t>
            </a:r>
            <a:r>
              <a:rPr lang="en-US" altLang="en-US" baseline="-25000">
                <a:solidFill>
                  <a:srgbClr val="0000CC"/>
                </a:solidFill>
              </a:rPr>
              <a:t>N</a:t>
            </a:r>
            <a:r>
              <a:rPr lang="en-US" altLang="en-US">
                <a:solidFill>
                  <a:srgbClr val="0000CC"/>
                </a:solidFill>
              </a:rPr>
              <a:t>,  P,  S)</a:t>
            </a:r>
          </a:p>
          <a:p>
            <a:pPr marL="290513" indent="-290513" eaLnBrk="1" hangingPunct="1">
              <a:lnSpc>
                <a:spcPct val="120000"/>
              </a:lnSpc>
            </a:pPr>
            <a:r>
              <a:rPr lang="en-US" altLang="en-US"/>
              <a:t>Ngôn ngữ </a:t>
            </a:r>
            <a:r>
              <a:rPr lang="en-US" altLang="en-US" b="1"/>
              <a:t>L</a:t>
            </a:r>
            <a:r>
              <a:rPr lang="en-US" altLang="en-US"/>
              <a:t> được </a:t>
            </a:r>
            <a:r>
              <a:rPr lang="en-US" altLang="en-US" i="1">
                <a:solidFill>
                  <a:srgbClr val="4100C4"/>
                </a:solidFill>
              </a:rPr>
              <a:t>sinh ra</a:t>
            </a:r>
            <a:r>
              <a:rPr lang="en-US" altLang="en-US"/>
              <a:t> từ văn phạm </a:t>
            </a:r>
            <a:r>
              <a:rPr lang="en-US" altLang="en-US" b="1"/>
              <a:t>G</a:t>
            </a:r>
            <a:r>
              <a:rPr lang="en-US" altLang="en-US"/>
              <a:t>, ký hiệu L(G) là tập tất cả các câu của văn phạm</a:t>
            </a:r>
          </a:p>
          <a:p>
            <a:pPr marL="1030288" lvl="1" indent="-407988" eaLnBrk="1" hangingPunct="1">
              <a:lnSpc>
                <a:spcPct val="120000"/>
              </a:lnSpc>
            </a:pPr>
            <a:r>
              <a:rPr lang="en-US" altLang="en-US"/>
              <a:t>L(G) = {</a:t>
            </a:r>
            <a:r>
              <a:rPr lang="el-GR" altLang="en-US">
                <a:solidFill>
                  <a:srgbClr val="220076"/>
                </a:solidFill>
                <a:cs typeface="Arial" panose="020B0604020202020204" pitchFamily="34" charset="0"/>
              </a:rPr>
              <a:t>δ</a:t>
            </a:r>
            <a:r>
              <a:rPr lang="en-US" altLang="en-US"/>
              <a:t> | </a:t>
            </a:r>
            <a:r>
              <a:rPr lang="el-GR" altLang="en-US">
                <a:solidFill>
                  <a:srgbClr val="220076"/>
                </a:solidFill>
                <a:cs typeface="Arial" panose="020B0604020202020204" pitchFamily="34" charset="0"/>
              </a:rPr>
              <a:t>δ</a:t>
            </a:r>
            <a:r>
              <a:rPr lang="el-GR" altLang="en-US">
                <a:solidFill>
                  <a:srgbClr val="220076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en-US">
                <a:solidFill>
                  <a:srgbClr val="220076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V</a:t>
            </a:r>
            <a:r>
              <a:rPr lang="en-US" altLang="en-US" baseline="-25000">
                <a:solidFill>
                  <a:srgbClr val="220076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en-US" b="1" baseline="30000"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/>
              <a:t>  và </a:t>
            </a:r>
            <a:r>
              <a:rPr lang="en-US" altLang="en-US">
                <a:solidFill>
                  <a:srgbClr val="220076"/>
                </a:solidFill>
              </a:rPr>
              <a:t>S </a:t>
            </a:r>
            <a:r>
              <a:rPr lang="el-GR" altLang="en-US" sz="2400">
                <a:solidFill>
                  <a:srgbClr val="220076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400" baseline="30000">
                <a:solidFill>
                  <a:srgbClr val="220076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l-GR" altLang="en-US" sz="2400">
                <a:solidFill>
                  <a:srgbClr val="220076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>
                <a:solidFill>
                  <a:srgbClr val="220076"/>
                </a:solidFill>
                <a:cs typeface="Arial" panose="020B0604020202020204" pitchFamily="34" charset="0"/>
              </a:rPr>
              <a:t>δ</a:t>
            </a:r>
            <a:r>
              <a:rPr lang="en-US" altLang="en-US">
                <a:solidFill>
                  <a:srgbClr val="220076"/>
                </a:solidFill>
                <a:cs typeface="Arial" panose="020B0604020202020204" pitchFamily="34" charset="0"/>
              </a:rPr>
              <a:t> </a:t>
            </a:r>
            <a:r>
              <a:rPr lang="en-US" altLang="en-US"/>
              <a:t>} </a:t>
            </a:r>
          </a:p>
          <a:p>
            <a:pPr marL="290513" indent="-290513" eaLnBrk="1" hangingPunct="1">
              <a:lnSpc>
                <a:spcPct val="120000"/>
              </a:lnSpc>
            </a:pPr>
            <a:r>
              <a:rPr lang="en-US" altLang="en-US"/>
              <a:t>Ví dụ văn phạm G</a:t>
            </a:r>
            <a:r>
              <a:rPr lang="en-US" altLang="en-US" baseline="-25000"/>
              <a:t>1</a:t>
            </a:r>
            <a:endParaRPr lang="en-US" altLang="en-US"/>
          </a:p>
          <a:p>
            <a:pPr marL="1030288" lvl="1" indent="-407988" eaLnBrk="1" hangingPunct="1">
              <a:lnSpc>
                <a:spcPct val="120000"/>
              </a:lnSpc>
            </a:pPr>
            <a:r>
              <a:rPr lang="en-US" altLang="en-US"/>
              <a:t>L(G</a:t>
            </a:r>
            <a:r>
              <a:rPr lang="en-US" altLang="en-US" baseline="-25000"/>
              <a:t>1</a:t>
            </a:r>
            <a:r>
              <a:rPr lang="en-US" altLang="en-US"/>
              <a:t>) = {b, abc, abbc, abbbc,… aabbcc,…}</a:t>
            </a:r>
          </a:p>
          <a:p>
            <a:pPr marL="290513" indent="-290513" eaLnBrk="1" hangingPunct="1">
              <a:lnSpc>
                <a:spcPct val="120000"/>
              </a:lnSpc>
            </a:pPr>
            <a:r>
              <a:rPr lang="en-US" altLang="en-US"/>
              <a:t>G</a:t>
            </a:r>
            <a:r>
              <a:rPr lang="en-US" altLang="en-US" baseline="-25000"/>
              <a:t>2</a:t>
            </a:r>
            <a:r>
              <a:rPr lang="en-US" altLang="en-US"/>
              <a:t>= ({a,b}, {S,A}, {S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aA, A</a:t>
            </a:r>
            <a:r>
              <a:rPr lang="en-US" altLang="en-US"/>
              <a:t>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a, A</a:t>
            </a:r>
            <a:r>
              <a:rPr lang="en-US" altLang="en-US"/>
              <a:t>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en-US"/>
              <a:t>},S)</a:t>
            </a:r>
          </a:p>
          <a:p>
            <a:pPr marL="1030288" lvl="1" indent="-407988" eaLnBrk="1" hangingPunct="1">
              <a:lnSpc>
                <a:spcPct val="120000"/>
              </a:lnSpc>
            </a:pPr>
            <a:r>
              <a:rPr lang="en-US" altLang="en-US"/>
              <a:t>L(G</a:t>
            </a:r>
            <a:r>
              <a:rPr lang="en-US" altLang="en-US" baseline="-25000"/>
              <a:t>2</a:t>
            </a:r>
            <a:r>
              <a:rPr lang="en-US" altLang="en-US"/>
              <a:t>) = {aa, ab}</a:t>
            </a:r>
            <a:r>
              <a:rPr lang="en-US" altLang="en-US" baseline="-25000"/>
              <a:t>	</a:t>
            </a:r>
            <a:endParaRPr lang="el-GR" altLang="en-US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88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488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9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4889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9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4889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8911CD-29EA-4839-A87F-9DDAE5A3085E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82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Quy ước</a:t>
            </a:r>
            <a:endParaRPr lang="en-US" altLang="en-US" sz="2800">
              <a:sym typeface="Symbol" panose="05050102010706020507" pitchFamily="18" charset="2"/>
            </a:endParaRPr>
          </a:p>
        </p:txBody>
      </p:sp>
      <p:sp>
        <p:nvSpPr>
          <p:cNvPr id="82948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149504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610600" cy="5686425"/>
          </a:xfrm>
          <a:noFill/>
        </p:spPr>
        <p:txBody>
          <a:bodyPr tIns="0" bIns="0"/>
          <a:lstStyle/>
          <a:p>
            <a:pPr marL="1030288" lvl="1" indent="-407988" eaLnBrk="1" hangingPunct="1">
              <a:lnSpc>
                <a:spcPct val="105000"/>
              </a:lnSpc>
              <a:spcBef>
                <a:spcPct val="10000"/>
              </a:spcBef>
              <a:buFontTx/>
              <a:buNone/>
            </a:pPr>
            <a:r>
              <a:rPr lang="en-US" altLang="en-US" sz="3200"/>
              <a:t>Nếu 	A</a:t>
            </a:r>
            <a:r>
              <a:rPr lang="en-US" altLang="en-US" sz="3200">
                <a:sym typeface="Symbol" panose="05050102010706020507" pitchFamily="18" charset="2"/>
              </a:rPr>
              <a:t>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3200" baseline="-25000"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marL="1727200" lvl="2" indent="-457200" eaLnBrk="1" hangingPunct="1">
              <a:lnSpc>
                <a:spcPct val="105000"/>
              </a:lnSpc>
              <a:spcBef>
                <a:spcPct val="10000"/>
              </a:spcBef>
              <a:buFontTx/>
              <a:buNone/>
            </a:pPr>
            <a:r>
              <a:rPr lang="en-US" altLang="en-US" sz="3200"/>
              <a:t>		A</a:t>
            </a:r>
            <a:r>
              <a:rPr lang="en-US" altLang="en-US" sz="3200">
                <a:sym typeface="Symbol" panose="05050102010706020507" pitchFamily="18" charset="2"/>
              </a:rPr>
              <a:t>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3200" baseline="-25000"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</a:p>
          <a:p>
            <a:pPr marL="1727200" lvl="2" indent="-457200" eaLnBrk="1" hangingPunct="1">
              <a:lnSpc>
                <a:spcPct val="105000"/>
              </a:lnSpc>
              <a:spcBef>
                <a:spcPct val="10000"/>
              </a:spcBef>
              <a:buFontTx/>
              <a:buNone/>
            </a:pPr>
            <a:r>
              <a:rPr lang="en-US" altLang="en-US" sz="3200">
                <a:cs typeface="Arial" panose="020B0604020202020204" pitchFamily="34" charset="0"/>
                <a:sym typeface="Symbol" panose="05050102010706020507" pitchFamily="18" charset="2"/>
              </a:rPr>
              <a:t>		…..</a:t>
            </a:r>
          </a:p>
          <a:p>
            <a:pPr marL="1727200" lvl="2" indent="-457200" eaLnBrk="1" hangingPunct="1">
              <a:lnSpc>
                <a:spcPct val="105000"/>
              </a:lnSpc>
              <a:spcBef>
                <a:spcPct val="10000"/>
              </a:spcBef>
              <a:buFontTx/>
              <a:buNone/>
            </a:pPr>
            <a:r>
              <a:rPr lang="en-US" altLang="en-US" sz="3200"/>
              <a:t>		A</a:t>
            </a:r>
            <a:r>
              <a:rPr lang="en-US" altLang="en-US" sz="3200">
                <a:sym typeface="Symbol" panose="05050102010706020507" pitchFamily="18" charset="2"/>
              </a:rPr>
              <a:t>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3200" baseline="-25000"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</a:p>
          <a:p>
            <a:pPr marL="1030288" lvl="1" indent="-407988" eaLnBrk="1" hangingPunct="1">
              <a:lnSpc>
                <a:spcPct val="105000"/>
              </a:lnSpc>
              <a:spcBef>
                <a:spcPct val="10000"/>
              </a:spcBef>
              <a:buFontTx/>
              <a:buNone/>
            </a:pPr>
            <a:r>
              <a:rPr lang="en-US" altLang="en-US" sz="3200">
                <a:cs typeface="Arial" panose="020B0604020202020204" pitchFamily="34" charset="0"/>
                <a:sym typeface="Symbol" panose="05050102010706020507" pitchFamily="18" charset="2"/>
              </a:rPr>
              <a:t>Được viết gọn lại thành </a:t>
            </a:r>
            <a:r>
              <a:rPr lang="en-US" altLang="en-US" sz="3200"/>
              <a:t>A</a:t>
            </a:r>
            <a:r>
              <a:rPr lang="en-US" altLang="en-US" sz="3200">
                <a:sym typeface="Symbol" panose="05050102010706020507" pitchFamily="18" charset="2"/>
              </a:rPr>
              <a:t>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3200" baseline="-25000"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3200">
                <a:cs typeface="Arial" panose="020B0604020202020204" pitchFamily="34" charset="0"/>
                <a:sym typeface="Symbol" panose="05050102010706020507" pitchFamily="18" charset="2"/>
              </a:rPr>
              <a:t>| 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3200" baseline="-25000"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3200">
                <a:cs typeface="Arial" panose="020B0604020202020204" pitchFamily="34" charset="0"/>
                <a:sym typeface="Symbol" panose="05050102010706020507" pitchFamily="18" charset="2"/>
              </a:rPr>
              <a:t>| …| 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3200" baseline="-25000"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</a:p>
          <a:p>
            <a:pPr marL="290513" indent="-290513" eaLnBrk="1" hangingPunct="1">
              <a:lnSpc>
                <a:spcPct val="120000"/>
              </a:lnSpc>
              <a:buFontTx/>
              <a:buNone/>
            </a:pPr>
            <a:r>
              <a:rPr lang="en-US" altLang="en-US" b="1" u="sng"/>
              <a:t>Ví dụ:</a:t>
            </a:r>
            <a:r>
              <a:rPr lang="en-US" altLang="en-US"/>
              <a:t>  </a:t>
            </a:r>
          </a:p>
          <a:p>
            <a:pPr marL="290513" indent="-290513" eaLnBrk="1" hangingPunct="1">
              <a:lnSpc>
                <a:spcPct val="120000"/>
              </a:lnSpc>
              <a:buFontTx/>
              <a:buNone/>
            </a:pPr>
            <a:r>
              <a:rPr lang="en-US" altLang="en-US"/>
              <a:t>	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=({a,b,c},{S,A},{</a:t>
            </a:r>
            <a:r>
              <a:rPr lang="en-US" altLang="en-US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S </a:t>
            </a:r>
            <a:r>
              <a:rPr lang="el-GR" altLang="en-US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aSA|b, A </a:t>
            </a:r>
            <a:r>
              <a:rPr lang="el-GR" altLang="en-US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bA|c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},S)</a:t>
            </a:r>
          </a:p>
          <a:p>
            <a:pPr marL="290513" indent="-290513" eaLnBrk="1" hangingPunct="1">
              <a:lnSpc>
                <a:spcPct val="120000"/>
              </a:lnSpc>
              <a:buFontTx/>
              <a:buNone/>
            </a:pPr>
            <a:r>
              <a:rPr lang="en-US" altLang="en-US"/>
              <a:t>	 G</a:t>
            </a:r>
            <a:r>
              <a:rPr lang="en-US" altLang="en-US" baseline="-25000"/>
              <a:t>2</a:t>
            </a:r>
            <a:r>
              <a:rPr lang="en-US" altLang="en-US"/>
              <a:t>= ({a,b},  {S,A}, {S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aA, </a:t>
            </a:r>
            <a:r>
              <a:rPr lang="en-US" altLang="en-US" b="1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b="1">
                <a:solidFill>
                  <a:srgbClr val="DF3507"/>
                </a:solidFill>
              </a:rPr>
              <a:t> </a:t>
            </a:r>
            <a:r>
              <a:rPr lang="el-GR" altLang="en-US" b="1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b="1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a|b</a:t>
            </a:r>
            <a:r>
              <a:rPr lang="en-US" altLang="en-US"/>
              <a:t>}, S)</a:t>
            </a:r>
            <a:endParaRPr lang="el-GR" altLang="en-US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95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950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950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C3F84C-F1EB-426C-9D3C-21EBE13DAF6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83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Ngôn ngữ</a:t>
            </a:r>
            <a:r>
              <a:rPr lang="en-US" altLang="en-US" sz="2800">
                <a:sym typeface="Symbol" panose="05050102010706020507" pitchFamily="18" charset="2"/>
              </a:rPr>
              <a:t>Ví dụ</a:t>
            </a:r>
          </a:p>
        </p:txBody>
      </p:sp>
      <p:sp>
        <p:nvSpPr>
          <p:cNvPr id="83972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14960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610600" cy="5686425"/>
          </a:xfrm>
          <a:noFill/>
        </p:spPr>
        <p:txBody>
          <a:bodyPr tIns="0" bIns="0"/>
          <a:lstStyle/>
          <a:p>
            <a:pPr marL="231775" indent="-231775" eaLnBrk="1" hangingPunct="1">
              <a:lnSpc>
                <a:spcPct val="120000"/>
              </a:lnSpc>
              <a:buFontTx/>
              <a:buNone/>
              <a:tabLst>
                <a:tab pos="623888" algn="l"/>
              </a:tabLst>
            </a:pPr>
            <a:r>
              <a:rPr lang="en-US" altLang="en-US"/>
              <a:t>Cho văn phạm  G = (V</a:t>
            </a:r>
            <a:r>
              <a:rPr lang="en-US" altLang="en-US" baseline="-25000"/>
              <a:t>T</a:t>
            </a:r>
            <a:r>
              <a:rPr lang="en-US" altLang="en-US"/>
              <a:t>, V</a:t>
            </a:r>
            <a:r>
              <a:rPr lang="en-US" altLang="en-US" baseline="-25000"/>
              <a:t>N</a:t>
            </a:r>
            <a:r>
              <a:rPr lang="en-US" altLang="en-US"/>
              <a:t>,  P,  S)</a:t>
            </a:r>
          </a:p>
          <a:p>
            <a:pPr marL="623888" lvl="1" indent="-277813" eaLnBrk="1" hangingPunct="1">
              <a:lnSpc>
                <a:spcPct val="110000"/>
              </a:lnSpc>
              <a:spcBef>
                <a:spcPct val="15000"/>
              </a:spcBef>
              <a:tabLst>
                <a:tab pos="623888" algn="l"/>
              </a:tabLst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= {Mơ, Mận, thì, uống, nhanh, đẹp}</a:t>
            </a:r>
          </a:p>
          <a:p>
            <a:pPr marL="623888" lvl="1" indent="-277813" eaLnBrk="1" hangingPunct="1">
              <a:lnSpc>
                <a:spcPct val="110000"/>
              </a:lnSpc>
              <a:spcBef>
                <a:spcPct val="15000"/>
              </a:spcBef>
              <a:tabLst>
                <a:tab pos="623888" algn="l"/>
              </a:tabLst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n-US" altLang="en-US" baseline="-25000"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={&lt;Câu&gt;,&lt;Danh từ&gt;,&lt;Động từ&gt;,&lt;Tính từ&gt;}</a:t>
            </a:r>
            <a:endParaRPr lang="el-GR" altLang="en-US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623888" lvl="1" indent="-277813" eaLnBrk="1" hangingPunct="1">
              <a:lnSpc>
                <a:spcPct val="110000"/>
              </a:lnSpc>
              <a:spcBef>
                <a:spcPct val="15000"/>
              </a:spcBef>
              <a:tabLst>
                <a:tab pos="623888" algn="l"/>
              </a:tabLst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S :  Câu</a:t>
            </a:r>
          </a:p>
          <a:p>
            <a:pPr marL="623888" lvl="1" indent="-277813" eaLnBrk="1" hangingPunct="1">
              <a:lnSpc>
                <a:spcPct val="110000"/>
              </a:lnSpc>
              <a:spcBef>
                <a:spcPct val="15000"/>
              </a:spcBef>
              <a:tabLst>
                <a:tab pos="623888" algn="l"/>
              </a:tabLst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P = {	&lt;Câu&gt;&lt;Danh từ&gt;&lt;Động từ&gt;&lt;Tính từ&gt;,</a:t>
            </a:r>
          </a:p>
          <a:p>
            <a:pPr marL="623888" lvl="1" indent="-277813" eaLnBrk="1" hangingPunct="1">
              <a:lnSpc>
                <a:spcPct val="110000"/>
              </a:lnSpc>
              <a:spcBef>
                <a:spcPct val="15000"/>
              </a:spcBef>
              <a:buFontTx/>
              <a:buNone/>
              <a:tabLst>
                <a:tab pos="623888" algn="l"/>
              </a:tabLst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			&lt;Danh từ&gt;  Mơ | Mận, </a:t>
            </a:r>
          </a:p>
          <a:p>
            <a:pPr marL="623888" lvl="1" indent="-277813" eaLnBrk="1" hangingPunct="1">
              <a:lnSpc>
                <a:spcPct val="110000"/>
              </a:lnSpc>
              <a:spcBef>
                <a:spcPct val="15000"/>
              </a:spcBef>
              <a:buFontTx/>
              <a:buNone/>
              <a:tabLst>
                <a:tab pos="623888" algn="l"/>
              </a:tabLst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			&lt;Động từ&gt;  uống | thì, </a:t>
            </a:r>
            <a:endParaRPr lang="el-GR" altLang="en-US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623888" lvl="1" indent="-277813" eaLnBrk="1" hangingPunct="1">
              <a:lnSpc>
                <a:spcPct val="110000"/>
              </a:lnSpc>
              <a:spcBef>
                <a:spcPct val="15000"/>
              </a:spcBef>
              <a:buFontTx/>
              <a:buNone/>
              <a:tabLst>
                <a:tab pos="623888" algn="l"/>
              </a:tabLst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			&lt;Tính từ&gt;   nhanh | đẹp }</a:t>
            </a:r>
            <a:endParaRPr lang="el-GR" altLang="en-US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623888" lvl="1" indent="-277813" eaLnBrk="1" hangingPunct="1">
              <a:lnSpc>
                <a:spcPct val="110000"/>
              </a:lnSpc>
              <a:spcBef>
                <a:spcPct val="15000"/>
              </a:spcBef>
              <a:buFontTx/>
              <a:buNone/>
              <a:tabLst>
                <a:tab pos="623888" algn="l"/>
              </a:tabLst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L(G) = {Mơ uống nhanh, Mơ thì nhanh, Mơ thì đẹp, </a:t>
            </a:r>
            <a:r>
              <a:rPr lang="en-US" altLang="en-US" i="1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Mơ uống đẹp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, Mận thì nhanh,…}</a:t>
            </a:r>
            <a:endParaRPr lang="el-GR" altLang="en-US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0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960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2F4A7F-1D7C-4385-9F6D-892C494E4A34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84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849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Đệ quy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149197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04800" y="685800"/>
            <a:ext cx="8763000" cy="5878513"/>
          </a:xfrm>
          <a:noFill/>
        </p:spPr>
        <p:txBody>
          <a:bodyPr/>
          <a:lstStyle/>
          <a:p>
            <a:pPr marL="290513" indent="-290513" eaLnBrk="1" hangingPunct="1">
              <a:lnSpc>
                <a:spcPct val="105000"/>
              </a:lnSpc>
              <a:buFontTx/>
              <a:buNone/>
            </a:pPr>
            <a:r>
              <a:rPr lang="en-US" altLang="en-US" sz="2800"/>
              <a:t>Cho văn phạm  G = (V</a:t>
            </a:r>
            <a:r>
              <a:rPr lang="en-US" altLang="en-US" sz="2800" baseline="-25000"/>
              <a:t>T</a:t>
            </a:r>
            <a:r>
              <a:rPr lang="en-US" altLang="en-US" sz="2800"/>
              <a:t>, V</a:t>
            </a:r>
            <a:r>
              <a:rPr lang="en-US" altLang="en-US" sz="2800" baseline="-25000"/>
              <a:t>N</a:t>
            </a:r>
            <a:r>
              <a:rPr lang="en-US" altLang="en-US" sz="2800"/>
              <a:t>,  P,  S)</a:t>
            </a:r>
          </a:p>
          <a:p>
            <a:pPr marL="290513" indent="-290513" eaLnBrk="1" hangingPunct="1">
              <a:lnSpc>
                <a:spcPct val="105000"/>
              </a:lnSpc>
              <a:buFontTx/>
              <a:buNone/>
            </a:pPr>
            <a:r>
              <a:rPr lang="en-US" altLang="en-US" sz="2800"/>
              <a:t>A </a:t>
            </a:r>
            <a:r>
              <a:rPr lang="en-US" altLang="en-US" sz="2800">
                <a:sym typeface="Symbol" panose="05050102010706020507" pitchFamily="18" charset="2"/>
              </a:rPr>
              <a:t></a:t>
            </a:r>
            <a:r>
              <a:rPr lang="en-US" altLang="en-US" sz="2800"/>
              <a:t>V</a:t>
            </a:r>
            <a:r>
              <a:rPr lang="en-US" altLang="en-US" sz="2800" baseline="-25000"/>
              <a:t>N</a:t>
            </a:r>
            <a:r>
              <a:rPr lang="en-US" altLang="en-US" sz="2800"/>
              <a:t> //</a:t>
            </a:r>
            <a:r>
              <a:rPr lang="en-US" altLang="en-US" sz="2800">
                <a:sym typeface="Symbol" panose="05050102010706020507" pitchFamily="18" charset="2"/>
              </a:rPr>
              <a:t> </a:t>
            </a:r>
            <a:r>
              <a:rPr lang="en-US" altLang="en-US" sz="2800" i="1">
                <a:solidFill>
                  <a:schemeClr val="bg2"/>
                </a:solidFill>
                <a:sym typeface="Symbol" panose="05050102010706020507" pitchFamily="18" charset="2"/>
              </a:rPr>
              <a:t>A </a:t>
            </a:r>
            <a:r>
              <a:rPr lang="en-US" altLang="en-US" sz="2800" i="1">
                <a:solidFill>
                  <a:schemeClr val="bg2"/>
                </a:solidFill>
              </a:rPr>
              <a:t>là một ký hiệu không kết thúc</a:t>
            </a:r>
          </a:p>
          <a:p>
            <a:pPr marL="290513" indent="-290513" eaLnBrk="1" hangingPunct="1">
              <a:lnSpc>
                <a:spcPct val="105000"/>
              </a:lnSpc>
            </a:pPr>
            <a:r>
              <a:rPr lang="en-US" altLang="en-US" sz="2800"/>
              <a:t>A được gọi là đệ quy nếu tồn tại </a:t>
            </a:r>
          </a:p>
          <a:p>
            <a:pPr marL="290513" indent="-290513" eaLnBrk="1" hangingPunct="1">
              <a:lnSpc>
                <a:spcPct val="105000"/>
              </a:lnSpc>
              <a:buFontTx/>
              <a:buNone/>
            </a:pPr>
            <a:r>
              <a:rPr lang="en-US" altLang="en-US" sz="2800"/>
              <a:t>		</a:t>
            </a:r>
            <a:r>
              <a:rPr lang="en-US" altLang="en-US" sz="2800">
                <a:solidFill>
                  <a:srgbClr val="DF3507"/>
                </a:solidFill>
              </a:rPr>
              <a:t>A</a:t>
            </a:r>
            <a:r>
              <a:rPr lang="en-US" altLang="en-US" sz="2800">
                <a:solidFill>
                  <a:srgbClr val="DF3507"/>
                </a:solidFill>
                <a:sym typeface="Symbol" panose="05050102010706020507" pitchFamily="18" charset="2"/>
              </a:rPr>
              <a:t></a:t>
            </a:r>
            <a:r>
              <a:rPr lang="en-US" altLang="en-US" sz="2800" baseline="30000">
                <a:solidFill>
                  <a:srgbClr val="DF3507"/>
                </a:solidFill>
                <a:sym typeface="Symbol" panose="05050102010706020507" pitchFamily="18" charset="2"/>
              </a:rPr>
              <a:t>+</a:t>
            </a:r>
            <a:r>
              <a:rPr lang="el-GR" altLang="en-US" sz="2800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800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l-GR" altLang="en-US" sz="2800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, với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>
                <a:sym typeface="Symbol" panose="05050102010706020507" pitchFamily="18" charset="2"/>
              </a:rPr>
              <a:t>V</a:t>
            </a:r>
            <a:r>
              <a:rPr lang="en-US" altLang="en-US" sz="2800" baseline="30000">
                <a:sym typeface="Symbol" panose="05050102010706020507" pitchFamily="18" charset="2"/>
              </a:rPr>
              <a:t>*</a:t>
            </a:r>
          </a:p>
          <a:p>
            <a:pPr marL="290513" indent="-290513" eaLnBrk="1" hangingPunct="1">
              <a:lnSpc>
                <a:spcPct val="105000"/>
              </a:lnSpc>
            </a:pPr>
            <a:r>
              <a:rPr lang="en-US" altLang="en-US" sz="2800">
                <a:sym typeface="Symbol" panose="05050102010706020507" pitchFamily="18" charset="2"/>
              </a:rPr>
              <a:t>Nếu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, (</a:t>
            </a:r>
            <a:r>
              <a:rPr lang="en-US" altLang="en-US" sz="2800" i="1"/>
              <a:t>A</a:t>
            </a:r>
            <a:r>
              <a:rPr lang="en-US" altLang="en-US" sz="2800" i="1">
                <a:sym typeface="Symbol" panose="05050102010706020507" pitchFamily="18" charset="2"/>
              </a:rPr>
              <a:t></a:t>
            </a:r>
            <a:r>
              <a:rPr lang="en-US" altLang="en-US" sz="2800" i="1" baseline="30000">
                <a:sym typeface="Symbol" panose="05050102010706020507" pitchFamily="18" charset="2"/>
              </a:rPr>
              <a:t>+</a:t>
            </a:r>
            <a:r>
              <a:rPr lang="en-US" altLang="en-US" sz="2800" i="1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l-GR" altLang="en-US" sz="2800" i="1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) thì gọi là </a:t>
            </a:r>
            <a:r>
              <a:rPr lang="en-US" altLang="en-US" sz="2800" i="1">
                <a:cs typeface="Arial" panose="020B0604020202020204" pitchFamily="34" charset="0"/>
                <a:sym typeface="Symbol" panose="05050102010706020507" pitchFamily="18" charset="2"/>
              </a:rPr>
              <a:t>đệ quy trái</a:t>
            </a:r>
          </a:p>
          <a:p>
            <a:pPr marL="914400" lvl="1" indent="-292100" eaLnBrk="1" hangingPunct="1">
              <a:lnSpc>
                <a:spcPct val="105000"/>
              </a:lnSpc>
            </a:pP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Nếu </a:t>
            </a:r>
            <a:r>
              <a:rPr lang="en-US" altLang="en-US" sz="2400" i="1">
                <a:solidFill>
                  <a:srgbClr val="DF3507"/>
                </a:solidFill>
              </a:rPr>
              <a:t>A</a:t>
            </a:r>
            <a:r>
              <a:rPr lang="en-US" altLang="en-US" sz="2400" i="1">
                <a:solidFill>
                  <a:srgbClr val="DF3507"/>
                </a:solidFill>
                <a:sym typeface="Symbol" panose="05050102010706020507" pitchFamily="18" charset="2"/>
              </a:rPr>
              <a:t></a:t>
            </a:r>
            <a:r>
              <a:rPr lang="en-US" altLang="en-US" sz="2400" i="1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l-GR" altLang="en-US" sz="2400" i="1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sz="2400" i="1"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Đệ quy</a:t>
            </a:r>
            <a:r>
              <a:rPr lang="en-US" altLang="en-US" sz="2400" b="1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trái 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trực tiếp (</a:t>
            </a:r>
            <a:r>
              <a:rPr lang="en-US" altLang="en-US" sz="2400" i="1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Sản xuất: A  A</a:t>
            </a:r>
            <a:r>
              <a:rPr lang="el-GR" altLang="en-US" sz="2400" i="1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marL="290513" indent="-290513" eaLnBrk="1" hangingPunct="1">
              <a:lnSpc>
                <a:spcPct val="105000"/>
              </a:lnSpc>
            </a:pPr>
            <a:r>
              <a:rPr lang="en-US" altLang="en-US" sz="2800">
                <a:sym typeface="Symbol" panose="05050102010706020507" pitchFamily="18" charset="2"/>
              </a:rPr>
              <a:t>Nếu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β 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, (</a:t>
            </a:r>
            <a:r>
              <a:rPr lang="en-US" altLang="en-US" sz="2800" i="1"/>
              <a:t>A</a:t>
            </a:r>
            <a:r>
              <a:rPr lang="en-US" altLang="en-US" sz="2800" i="1">
                <a:sym typeface="Symbol" panose="05050102010706020507" pitchFamily="18" charset="2"/>
              </a:rPr>
              <a:t></a:t>
            </a:r>
            <a:r>
              <a:rPr lang="en-US" altLang="en-US" sz="2800" i="1" baseline="30000">
                <a:sym typeface="Symbol" panose="05050102010706020507" pitchFamily="18" charset="2"/>
              </a:rPr>
              <a:t>+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800" i="1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) thì gọi là </a:t>
            </a:r>
            <a:r>
              <a:rPr lang="en-US" altLang="en-US" sz="2800" i="1">
                <a:cs typeface="Arial" panose="020B0604020202020204" pitchFamily="34" charset="0"/>
                <a:sym typeface="Symbol" panose="05050102010706020507" pitchFamily="18" charset="2"/>
              </a:rPr>
              <a:t>đệ quy phải</a:t>
            </a:r>
            <a:endParaRPr lang="el-GR" altLang="en-US" sz="2800" i="1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914400" lvl="1" indent="-292100" eaLnBrk="1" hangingPunct="1">
              <a:lnSpc>
                <a:spcPct val="105000"/>
              </a:lnSpc>
            </a:pP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Nếu </a:t>
            </a:r>
            <a:r>
              <a:rPr lang="en-US" altLang="en-US" sz="2400" i="1">
                <a:solidFill>
                  <a:srgbClr val="DF3507"/>
                </a:solidFill>
              </a:rPr>
              <a:t>A</a:t>
            </a:r>
            <a:r>
              <a:rPr lang="en-US" altLang="en-US" sz="2400" i="1">
                <a:solidFill>
                  <a:srgbClr val="DF3507"/>
                </a:solidFill>
                <a:sym typeface="Symbol" panose="05050102010706020507" pitchFamily="18" charset="2"/>
              </a:rPr>
              <a:t></a:t>
            </a:r>
            <a:r>
              <a:rPr lang="en-US" altLang="en-US" sz="2400" i="1" baseline="30000">
                <a:solidFill>
                  <a:srgbClr val="DF3507"/>
                </a:solidFill>
                <a:sym typeface="Symbol" panose="05050102010706020507" pitchFamily="18" charset="2"/>
              </a:rPr>
              <a:t> </a:t>
            </a:r>
            <a:r>
              <a:rPr lang="el-GR" altLang="en-US" sz="2400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400" i="1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 : Đệ quy </a:t>
            </a:r>
            <a:r>
              <a:rPr lang="en-US" altLang="en-US" sz="2400" b="1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phải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 trực tiếp (</a:t>
            </a:r>
            <a:r>
              <a:rPr lang="en-US" altLang="en-US" sz="2400" i="1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Sản xuất: A  </a:t>
            </a:r>
            <a:r>
              <a:rPr lang="el-GR" altLang="en-US" sz="2400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400" i="1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marL="290513" indent="-290513" eaLnBrk="1" hangingPunct="1">
              <a:lnSpc>
                <a:spcPct val="105000"/>
              </a:lnSpc>
            </a:pPr>
            <a:r>
              <a:rPr lang="en-US" altLang="en-US" sz="2800">
                <a:sym typeface="Symbol" panose="05050102010706020507" pitchFamily="18" charset="2"/>
              </a:rPr>
              <a:t>Nếu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800">
                <a:sym typeface="Symbol" panose="05050102010706020507" pitchFamily="18" charset="2"/>
              </a:rPr>
              <a:t>,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β 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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, (</a:t>
            </a:r>
            <a:r>
              <a:rPr lang="en-US" altLang="en-US" sz="2800" i="1"/>
              <a:t>A</a:t>
            </a:r>
            <a:r>
              <a:rPr lang="en-US" altLang="en-US" sz="2800" i="1">
                <a:sym typeface="Symbol" panose="05050102010706020507" pitchFamily="18" charset="2"/>
              </a:rPr>
              <a:t></a:t>
            </a:r>
            <a:r>
              <a:rPr lang="en-US" altLang="en-US" sz="2800" i="1" baseline="30000">
                <a:sym typeface="Symbol" panose="05050102010706020507" pitchFamily="18" charset="2"/>
              </a:rPr>
              <a:t>+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800" i="1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) thì gọi là </a:t>
            </a:r>
            <a:r>
              <a:rPr lang="en-US" altLang="en-US" sz="2800" i="1">
                <a:cs typeface="Arial" panose="020B0604020202020204" pitchFamily="34" charset="0"/>
                <a:sym typeface="Symbol" panose="05050102010706020507" pitchFamily="18" charset="2"/>
              </a:rPr>
              <a:t>đệ quy trong</a:t>
            </a:r>
            <a:endParaRPr lang="el-GR" altLang="en-US" sz="2800" i="1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914400" lvl="1" indent="-292100" eaLnBrk="1" hangingPunct="1">
              <a:lnSpc>
                <a:spcPct val="105000"/>
              </a:lnSpc>
            </a:pP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Nếu </a:t>
            </a:r>
            <a:r>
              <a:rPr lang="en-US" altLang="en-US" sz="2400" i="1">
                <a:solidFill>
                  <a:srgbClr val="DF3507"/>
                </a:solidFill>
              </a:rPr>
              <a:t>A</a:t>
            </a:r>
            <a:r>
              <a:rPr lang="en-US" altLang="en-US" sz="2400" i="1">
                <a:solidFill>
                  <a:srgbClr val="DF3507"/>
                </a:solidFill>
                <a:sym typeface="Symbol" panose="05050102010706020507" pitchFamily="18" charset="2"/>
              </a:rPr>
              <a:t></a:t>
            </a:r>
            <a:r>
              <a:rPr lang="en-US" altLang="en-US" sz="2400" i="1" baseline="30000">
                <a:solidFill>
                  <a:srgbClr val="DF3507"/>
                </a:solidFill>
                <a:sym typeface="Symbol" panose="05050102010706020507" pitchFamily="18" charset="2"/>
              </a:rPr>
              <a:t> </a:t>
            </a:r>
            <a:r>
              <a:rPr lang="el-GR" altLang="en-US" sz="2400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400" i="1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l-GR" altLang="en-US" sz="2400" i="1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: Đệ quy trong trực tiếp (</a:t>
            </a:r>
            <a:r>
              <a:rPr lang="en-US" altLang="en-US" sz="2400" i="1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Sản xuất:A </a:t>
            </a:r>
            <a:r>
              <a:rPr lang="el-GR" altLang="en-US" sz="2400" i="1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400" i="1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l-GR" altLang="en-US" sz="2400" i="1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marL="290513" indent="-290513" eaLnBrk="1" hangingPunct="1">
              <a:lnSpc>
                <a:spcPct val="105000"/>
              </a:lnSpc>
              <a:buFontTx/>
              <a:buNone/>
            </a:pPr>
            <a:r>
              <a:rPr lang="en-US" altLang="en-US" sz="2800" b="1">
                <a:cs typeface="Arial" panose="020B0604020202020204" pitchFamily="34" charset="0"/>
                <a:sym typeface="Symbol" panose="05050102010706020507" pitchFamily="18" charset="2"/>
              </a:rPr>
              <a:t>Ví dụ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, định nghĩa Tên</a:t>
            </a:r>
          </a:p>
          <a:p>
            <a:pPr marL="914400" lvl="1" indent="-292100" eaLnBrk="1" hangingPunct="1">
              <a:lnSpc>
                <a:spcPct val="105000"/>
              </a:lnSpc>
              <a:buFontTx/>
              <a:buNone/>
            </a:pP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&lt;Tên&gt;&lt;Chữ cái&gt;|&lt;Tên&gt;&lt;Chữ cái&gt;|&lt;Tên&gt;&lt;Chữ số&gt;</a:t>
            </a:r>
            <a:endParaRPr lang="el-GR" altLang="en-US" sz="2400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9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919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9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919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9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919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9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919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9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919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9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919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9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919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919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97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9197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9197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BA5992-770B-41C6-B008-E2C05EE33E78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85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860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Văn phạm tương đương</a:t>
            </a:r>
          </a:p>
        </p:txBody>
      </p:sp>
      <p:sp>
        <p:nvSpPr>
          <p:cNvPr id="86020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8602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458200" cy="5573713"/>
          </a:xfrm>
          <a:noFill/>
        </p:spPr>
        <p:txBody>
          <a:bodyPr/>
          <a:lstStyle/>
          <a:p>
            <a:pPr marL="290513" indent="-290513" eaLnBrk="1" hangingPunct="1">
              <a:lnSpc>
                <a:spcPct val="125000"/>
              </a:lnSpc>
              <a:spcBef>
                <a:spcPct val="30000"/>
              </a:spcBef>
              <a:buFontTx/>
              <a:buNone/>
            </a:pPr>
            <a:r>
              <a:rPr lang="en-US" altLang="en-US"/>
              <a:t>Hai văn phạm là tương đương, nếu chúng cùng sinh ra một ngôn ngữ</a:t>
            </a:r>
          </a:p>
          <a:p>
            <a:pPr marL="914400" lvl="1" indent="-292100" eaLnBrk="1" hangingPunct="1">
              <a:lnSpc>
                <a:spcPct val="125000"/>
              </a:lnSpc>
              <a:spcBef>
                <a:spcPct val="30000"/>
              </a:spcBef>
              <a:buFontTx/>
              <a:buNone/>
            </a:pPr>
            <a:r>
              <a:rPr lang="en-US" altLang="en-US" sz="3600">
                <a:solidFill>
                  <a:srgbClr val="4100C4"/>
                </a:solidFill>
              </a:rPr>
              <a:t>	G</a:t>
            </a:r>
            <a:r>
              <a:rPr lang="en-US" altLang="en-US" sz="3600" baseline="-25000">
                <a:solidFill>
                  <a:srgbClr val="4100C4"/>
                </a:solidFill>
              </a:rPr>
              <a:t>1</a:t>
            </a:r>
            <a:r>
              <a:rPr lang="en-US" altLang="en-US" sz="3600">
                <a:solidFill>
                  <a:srgbClr val="4100C4"/>
                </a:solidFill>
              </a:rPr>
              <a:t> = (</a:t>
            </a:r>
            <a:r>
              <a:rPr lang="en-US" altLang="en-US" sz="3600" baseline="30000">
                <a:solidFill>
                  <a:srgbClr val="4100C4"/>
                </a:solidFill>
              </a:rPr>
              <a:t>1</a:t>
            </a:r>
            <a:r>
              <a:rPr lang="en-US" altLang="en-US" sz="3600">
                <a:solidFill>
                  <a:srgbClr val="4100C4"/>
                </a:solidFill>
              </a:rPr>
              <a:t>V</a:t>
            </a:r>
            <a:r>
              <a:rPr lang="en-US" altLang="en-US" sz="3600" baseline="-25000">
                <a:solidFill>
                  <a:srgbClr val="4100C4"/>
                </a:solidFill>
              </a:rPr>
              <a:t>T</a:t>
            </a:r>
            <a:r>
              <a:rPr lang="en-US" altLang="en-US" sz="3600">
                <a:solidFill>
                  <a:srgbClr val="4100C4"/>
                </a:solidFill>
              </a:rPr>
              <a:t>, </a:t>
            </a:r>
            <a:r>
              <a:rPr lang="en-US" altLang="en-US" sz="3600" baseline="30000">
                <a:solidFill>
                  <a:srgbClr val="4100C4"/>
                </a:solidFill>
              </a:rPr>
              <a:t>1</a:t>
            </a:r>
            <a:r>
              <a:rPr lang="en-US" altLang="en-US" sz="3600">
                <a:solidFill>
                  <a:srgbClr val="4100C4"/>
                </a:solidFill>
              </a:rPr>
              <a:t>V</a:t>
            </a:r>
            <a:r>
              <a:rPr lang="en-US" altLang="en-US" sz="3600" baseline="-25000">
                <a:solidFill>
                  <a:srgbClr val="4100C4"/>
                </a:solidFill>
              </a:rPr>
              <a:t>N</a:t>
            </a:r>
            <a:r>
              <a:rPr lang="en-US" altLang="en-US" sz="3600">
                <a:solidFill>
                  <a:srgbClr val="4100C4"/>
                </a:solidFill>
              </a:rPr>
              <a:t>,  P</a:t>
            </a:r>
            <a:r>
              <a:rPr lang="en-US" altLang="en-US" sz="3600" baseline="-25000">
                <a:solidFill>
                  <a:srgbClr val="4100C4"/>
                </a:solidFill>
              </a:rPr>
              <a:t>1</a:t>
            </a:r>
            <a:r>
              <a:rPr lang="en-US" altLang="en-US" sz="3600">
                <a:solidFill>
                  <a:srgbClr val="4100C4"/>
                </a:solidFill>
              </a:rPr>
              <a:t>,  S</a:t>
            </a:r>
            <a:r>
              <a:rPr lang="en-US" altLang="en-US" sz="3600" baseline="-25000">
                <a:solidFill>
                  <a:srgbClr val="4100C4"/>
                </a:solidFill>
              </a:rPr>
              <a:t>1</a:t>
            </a:r>
            <a:r>
              <a:rPr lang="en-US" altLang="en-US" sz="3600">
                <a:solidFill>
                  <a:srgbClr val="4100C4"/>
                </a:solidFill>
              </a:rPr>
              <a:t>)</a:t>
            </a:r>
          </a:p>
          <a:p>
            <a:pPr marL="914400" lvl="1" indent="-292100" eaLnBrk="1" hangingPunct="1">
              <a:lnSpc>
                <a:spcPct val="125000"/>
              </a:lnSpc>
              <a:spcBef>
                <a:spcPct val="30000"/>
              </a:spcBef>
              <a:buFontTx/>
              <a:buNone/>
            </a:pPr>
            <a:r>
              <a:rPr lang="en-US" altLang="en-US" sz="3600">
                <a:solidFill>
                  <a:srgbClr val="4100C4"/>
                </a:solidFill>
              </a:rPr>
              <a:t>	G</a:t>
            </a:r>
            <a:r>
              <a:rPr lang="en-US" altLang="en-US" sz="3600" baseline="-25000">
                <a:solidFill>
                  <a:srgbClr val="4100C4"/>
                </a:solidFill>
              </a:rPr>
              <a:t>2</a:t>
            </a:r>
            <a:r>
              <a:rPr lang="en-US" altLang="en-US" sz="3600">
                <a:solidFill>
                  <a:srgbClr val="4100C4"/>
                </a:solidFill>
              </a:rPr>
              <a:t> = (</a:t>
            </a:r>
            <a:r>
              <a:rPr lang="en-US" altLang="en-US" sz="3600" baseline="30000">
                <a:solidFill>
                  <a:srgbClr val="4100C4"/>
                </a:solidFill>
              </a:rPr>
              <a:t>2</a:t>
            </a:r>
            <a:r>
              <a:rPr lang="en-US" altLang="en-US" sz="3600">
                <a:solidFill>
                  <a:srgbClr val="4100C4"/>
                </a:solidFill>
              </a:rPr>
              <a:t>V</a:t>
            </a:r>
            <a:r>
              <a:rPr lang="en-US" altLang="en-US" sz="3600" baseline="-25000">
                <a:solidFill>
                  <a:srgbClr val="4100C4"/>
                </a:solidFill>
              </a:rPr>
              <a:t>T</a:t>
            </a:r>
            <a:r>
              <a:rPr lang="en-US" altLang="en-US" sz="3600">
                <a:solidFill>
                  <a:srgbClr val="4100C4"/>
                </a:solidFill>
              </a:rPr>
              <a:t>, </a:t>
            </a:r>
            <a:r>
              <a:rPr lang="en-US" altLang="en-US" sz="3600" baseline="30000">
                <a:solidFill>
                  <a:srgbClr val="4100C4"/>
                </a:solidFill>
              </a:rPr>
              <a:t>2</a:t>
            </a:r>
            <a:r>
              <a:rPr lang="en-US" altLang="en-US" sz="3600">
                <a:solidFill>
                  <a:srgbClr val="4100C4"/>
                </a:solidFill>
              </a:rPr>
              <a:t>V</a:t>
            </a:r>
            <a:r>
              <a:rPr lang="en-US" altLang="en-US" sz="3600" baseline="-25000">
                <a:solidFill>
                  <a:srgbClr val="4100C4"/>
                </a:solidFill>
              </a:rPr>
              <a:t>N</a:t>
            </a:r>
            <a:r>
              <a:rPr lang="en-US" altLang="en-US" sz="3600">
                <a:solidFill>
                  <a:srgbClr val="4100C4"/>
                </a:solidFill>
              </a:rPr>
              <a:t>,  P</a:t>
            </a:r>
            <a:r>
              <a:rPr lang="en-US" altLang="en-US" sz="3600" baseline="-25000">
                <a:solidFill>
                  <a:srgbClr val="4100C4"/>
                </a:solidFill>
              </a:rPr>
              <a:t>2</a:t>
            </a:r>
            <a:r>
              <a:rPr lang="en-US" altLang="en-US" sz="3600">
                <a:solidFill>
                  <a:srgbClr val="4100C4"/>
                </a:solidFill>
              </a:rPr>
              <a:t>,  S</a:t>
            </a:r>
            <a:r>
              <a:rPr lang="en-US" altLang="en-US" sz="3600" baseline="-25000">
                <a:solidFill>
                  <a:srgbClr val="4100C4"/>
                </a:solidFill>
              </a:rPr>
              <a:t>2</a:t>
            </a:r>
            <a:r>
              <a:rPr lang="en-US" altLang="en-US" sz="3600">
                <a:solidFill>
                  <a:srgbClr val="4100C4"/>
                </a:solidFill>
              </a:rPr>
              <a:t>)</a:t>
            </a:r>
          </a:p>
          <a:p>
            <a:pPr marL="914400" lvl="1" indent="-292100" eaLnBrk="1" hangingPunct="1">
              <a:lnSpc>
                <a:spcPct val="125000"/>
              </a:lnSpc>
              <a:spcBef>
                <a:spcPct val="30000"/>
              </a:spcBef>
              <a:buFontTx/>
              <a:buNone/>
            </a:pPr>
            <a:r>
              <a:rPr lang="en-US" altLang="en-US" sz="3600">
                <a:solidFill>
                  <a:srgbClr val="4100C4"/>
                </a:solidFill>
              </a:rPr>
              <a:t>	L(G</a:t>
            </a:r>
            <a:r>
              <a:rPr lang="en-US" altLang="en-US" sz="3600" baseline="-25000">
                <a:solidFill>
                  <a:srgbClr val="4100C4"/>
                </a:solidFill>
              </a:rPr>
              <a:t>1</a:t>
            </a:r>
            <a:r>
              <a:rPr lang="en-US" altLang="en-US" sz="3600">
                <a:solidFill>
                  <a:srgbClr val="4100C4"/>
                </a:solidFill>
              </a:rPr>
              <a:t>) = L(G</a:t>
            </a:r>
            <a:r>
              <a:rPr lang="en-US" altLang="en-US" sz="3600" baseline="-25000">
                <a:solidFill>
                  <a:srgbClr val="4100C4"/>
                </a:solidFill>
              </a:rPr>
              <a:t>2</a:t>
            </a:r>
            <a:r>
              <a:rPr lang="en-US" altLang="en-US" sz="3600">
                <a:solidFill>
                  <a:srgbClr val="4100C4"/>
                </a:solidFill>
              </a:rPr>
              <a:t>) </a:t>
            </a:r>
            <a:r>
              <a:rPr lang="en-US" altLang="en-US" sz="3600">
                <a:solidFill>
                  <a:srgbClr val="4100C4"/>
                </a:solidFill>
                <a:sym typeface="Symbol" panose="05050102010706020507" pitchFamily="18" charset="2"/>
              </a:rPr>
              <a:t> </a:t>
            </a:r>
            <a:r>
              <a:rPr lang="en-US" altLang="en-US" sz="3600">
                <a:solidFill>
                  <a:srgbClr val="4100C4"/>
                </a:solidFill>
              </a:rPr>
              <a:t>G</a:t>
            </a:r>
            <a:r>
              <a:rPr lang="en-US" altLang="en-US" sz="3600" baseline="-25000">
                <a:solidFill>
                  <a:srgbClr val="4100C4"/>
                </a:solidFill>
              </a:rPr>
              <a:t>1</a:t>
            </a:r>
            <a:r>
              <a:rPr lang="en-US" altLang="en-US" sz="3600">
                <a:solidFill>
                  <a:srgbClr val="4100C4"/>
                </a:solidFill>
                <a:sym typeface="Symbol" panose="05050102010706020507" pitchFamily="18" charset="2"/>
              </a:rPr>
              <a:t>G</a:t>
            </a:r>
            <a:r>
              <a:rPr lang="en-US" altLang="en-US" sz="3600" baseline="-25000">
                <a:solidFill>
                  <a:srgbClr val="4100C4"/>
                </a:solidFill>
                <a:sym typeface="Symbol" panose="05050102010706020507" pitchFamily="18" charset="2"/>
              </a:rPr>
              <a:t>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0F0EBB-50FF-4A89-B2C1-9C8D352C5B9D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86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870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Phân loại văn phạm</a:t>
            </a:r>
          </a:p>
        </p:txBody>
      </p:sp>
      <p:sp>
        <p:nvSpPr>
          <p:cNvPr id="87044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sp>
        <p:nvSpPr>
          <p:cNvPr id="148992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92088" y="914400"/>
            <a:ext cx="8723312" cy="5715000"/>
          </a:xfrm>
          <a:noFill/>
        </p:spPr>
        <p:txBody>
          <a:bodyPr/>
          <a:lstStyle/>
          <a:p>
            <a:pPr marL="533400" indent="-533400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Phân thành 4 loại [Chomsky,1957]</a:t>
            </a:r>
          </a:p>
          <a:p>
            <a:pPr marL="533400" indent="-533400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 sz="2800"/>
              <a:t>Văn phạm ngữ cấu (</a:t>
            </a:r>
            <a:r>
              <a:rPr lang="en-US" altLang="en-US" sz="2800" i="1">
                <a:solidFill>
                  <a:srgbClr val="B205FF"/>
                </a:solidFill>
              </a:rPr>
              <a:t>pharse structure grammar</a:t>
            </a:r>
            <a:r>
              <a:rPr lang="en-US" altLang="en-US" sz="2800"/>
              <a:t>)</a:t>
            </a:r>
          </a:p>
          <a:p>
            <a:pPr marL="1173163" lvl="1" indent="-457200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 sz="2400" b="1"/>
              <a:t>Ràng buộc:</a:t>
            </a:r>
            <a:r>
              <a:rPr lang="en-US" altLang="en-US" sz="2400"/>
              <a:t> Không có ràng buộc ngoài đ/nghĩa</a:t>
            </a:r>
          </a:p>
          <a:p>
            <a:pPr marL="533400" indent="-533400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 sz="2800"/>
              <a:t>Văn Phạm cảm ngữ cảnh (</a:t>
            </a:r>
            <a:r>
              <a:rPr lang="en-US" altLang="en-US" sz="2800" i="1">
                <a:solidFill>
                  <a:srgbClr val="B205FF"/>
                </a:solidFill>
              </a:rPr>
              <a:t>context sensitive</a:t>
            </a:r>
            <a:r>
              <a:rPr lang="en-US" altLang="en-US" sz="2800"/>
              <a:t>)</a:t>
            </a:r>
          </a:p>
          <a:p>
            <a:pPr marL="1173163" lvl="1" indent="-457200" eaLnBrk="1" hangingPunct="1">
              <a:lnSpc>
                <a:spcPct val="110000"/>
              </a:lnSpc>
              <a:buFontTx/>
              <a:buChar char="•"/>
            </a:pPr>
            <a:r>
              <a:rPr lang="en-US" altLang="en-US" sz="2400" b="1">
                <a:cs typeface="Arial" panose="020B0604020202020204" pitchFamily="34" charset="0"/>
              </a:rPr>
              <a:t>Ràng buộc:</a:t>
            </a:r>
            <a:r>
              <a:rPr lang="en-US" altLang="en-US" sz="2400">
                <a:cs typeface="Arial" panose="020B0604020202020204" pitchFamily="34" charset="0"/>
              </a:rPr>
              <a:t> Nếu </a:t>
            </a:r>
            <a:r>
              <a:rPr lang="el-GR" altLang="en-US" sz="2400">
                <a:cs typeface="Arial" panose="020B0604020202020204" pitchFamily="34" charset="0"/>
              </a:rPr>
              <a:t>α</a:t>
            </a:r>
            <a:r>
              <a:rPr lang="el-GR" altLang="en-US" sz="2400">
                <a:cs typeface="Arial" panose="020B0604020202020204" pitchFamily="34" charset="0"/>
                <a:sym typeface="Symbol" panose="05050102010706020507" pitchFamily="18" charset="2"/>
              </a:rPr>
              <a:t>β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 thì l(</a:t>
            </a:r>
            <a:r>
              <a:rPr lang="el-GR" altLang="en-US" sz="24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  <a:r>
              <a:rPr lang="el-GR" altLang="en-US" sz="2400"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l(</a:t>
            </a:r>
            <a:r>
              <a:rPr lang="el-GR" altLang="en-US" sz="2400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); S </a:t>
            </a:r>
            <a:r>
              <a:rPr lang="el-GR" altLang="en-US" sz="2400">
                <a:cs typeface="Arial" panose="020B0604020202020204" pitchFamily="34" charset="0"/>
                <a:sym typeface="Symbol" panose="05050102010706020507" pitchFamily="18" charset="2"/>
              </a:rPr>
              <a:t>ε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 được chấp nhận khi S không là vế phải của SX bất kỳ</a:t>
            </a:r>
            <a:endParaRPr lang="el-GR" altLang="en-US" sz="2400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533400" indent="-533400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 sz="2800"/>
              <a:t>Văn phạm phi ngữ cảnh (</a:t>
            </a:r>
            <a:r>
              <a:rPr lang="en-US" altLang="en-US" sz="2800" i="1">
                <a:solidFill>
                  <a:srgbClr val="B205FF"/>
                </a:solidFill>
              </a:rPr>
              <a:t>context free grammar</a:t>
            </a:r>
            <a:r>
              <a:rPr lang="en-US" altLang="en-US" sz="2800"/>
              <a:t>)</a:t>
            </a:r>
          </a:p>
          <a:p>
            <a:pPr marL="1173163" lvl="1" indent="-457200" eaLnBrk="1" hangingPunct="1">
              <a:lnSpc>
                <a:spcPct val="110000"/>
              </a:lnSpc>
              <a:buFontTx/>
              <a:buChar char="•"/>
            </a:pPr>
            <a:r>
              <a:rPr lang="en-US" altLang="en-US" sz="2400" b="1"/>
              <a:t>Ràng buộc:</a:t>
            </a:r>
            <a:r>
              <a:rPr lang="en-US" altLang="en-US" sz="2400"/>
              <a:t> Vế trái của các  sản xuất là một ký hiệu không kết thúc</a:t>
            </a:r>
          </a:p>
          <a:p>
            <a:pPr marL="533400" indent="-533400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 sz="2800"/>
              <a:t>Văn phạm chính quy (</a:t>
            </a:r>
            <a:r>
              <a:rPr lang="en-US" altLang="en-US" sz="2800" i="1">
                <a:solidFill>
                  <a:srgbClr val="B205FF"/>
                </a:solidFill>
              </a:rPr>
              <a:t>regular grammar</a:t>
            </a:r>
            <a:r>
              <a:rPr lang="en-US" altLang="en-US" sz="2800"/>
              <a:t>)</a:t>
            </a:r>
          </a:p>
          <a:p>
            <a:pPr marL="1173163" lvl="1" indent="-457200" eaLnBrk="1" hangingPunct="1">
              <a:lnSpc>
                <a:spcPct val="110000"/>
              </a:lnSpc>
              <a:buFontTx/>
              <a:buNone/>
            </a:pPr>
            <a:r>
              <a:rPr lang="en-US" altLang="en-US" sz="2400" b="1"/>
              <a:t>Ràng buộc:</a:t>
            </a:r>
            <a:r>
              <a:rPr lang="en-US" altLang="en-US" sz="2400"/>
              <a:t> SX có dạng </a:t>
            </a:r>
            <a:r>
              <a:rPr lang="en-US" altLang="en-US" sz="2400">
                <a:solidFill>
                  <a:srgbClr val="996600"/>
                </a:solidFill>
              </a:rPr>
              <a:t>A </a:t>
            </a:r>
            <a:r>
              <a:rPr lang="el-GR" altLang="en-US" sz="2400">
                <a:solidFill>
                  <a:srgbClr val="99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2400">
                <a:solidFill>
                  <a:srgbClr val="99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a|aB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 hoặc </a:t>
            </a:r>
            <a:r>
              <a:rPr lang="en-US" altLang="en-US" sz="2400">
                <a:solidFill>
                  <a:srgbClr val="996600"/>
                </a:solidFill>
              </a:rPr>
              <a:t>A </a:t>
            </a:r>
            <a:r>
              <a:rPr lang="el-GR" altLang="en-US" sz="2400">
                <a:solidFill>
                  <a:srgbClr val="99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n-US" altLang="en-US" sz="2400">
                <a:solidFill>
                  <a:srgbClr val="99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a|Ba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l-GR" altLang="en-US" sz="2400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9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4899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9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14899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9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500"/>
                                        <p:tgtEl>
                                          <p:spTgt spid="14899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9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" dur="500"/>
                                        <p:tgtEl>
                                          <p:spTgt spid="14899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9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899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9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4899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9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9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100" decel="5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899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899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899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5" presetID="3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9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7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9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8" dur="100" decel="5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899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9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899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0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899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A72AED9-DBBC-47B2-96C6-6BF7D60A2D40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87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Phân loại văn phạm</a:t>
            </a:r>
          </a:p>
        </p:txBody>
      </p:sp>
      <p:sp>
        <p:nvSpPr>
          <p:cNvPr id="88068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4. Khái niệm ngôn ngữ</a:t>
            </a:r>
          </a:p>
        </p:txBody>
      </p:sp>
      <p:grpSp>
        <p:nvGrpSpPr>
          <p:cNvPr id="88069" name="Group 14"/>
          <p:cNvGrpSpPr>
            <a:grpSpLocks/>
          </p:cNvGrpSpPr>
          <p:nvPr/>
        </p:nvGrpSpPr>
        <p:grpSpPr bwMode="auto">
          <a:xfrm>
            <a:off x="609600" y="1143000"/>
            <a:ext cx="7239000" cy="5181600"/>
            <a:chOff x="480" y="720"/>
            <a:chExt cx="4560" cy="3264"/>
          </a:xfrm>
        </p:grpSpPr>
        <p:sp>
          <p:nvSpPr>
            <p:cNvPr id="88081" name="Oval 6"/>
            <p:cNvSpPr>
              <a:spLocks noChangeArrowheads="1"/>
            </p:cNvSpPr>
            <p:nvPr/>
          </p:nvSpPr>
          <p:spPr bwMode="auto">
            <a:xfrm>
              <a:off x="480" y="720"/>
              <a:ext cx="4560" cy="3264"/>
            </a:xfrm>
            <a:prstGeom prst="ellipse">
              <a:avLst/>
            </a:prstGeom>
            <a:solidFill>
              <a:srgbClr val="D1EAEB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88082" name="Text Box 10"/>
            <p:cNvSpPr txBox="1">
              <a:spLocks noChangeArrowheads="1"/>
            </p:cNvSpPr>
            <p:nvPr/>
          </p:nvSpPr>
          <p:spPr bwMode="auto">
            <a:xfrm>
              <a:off x="672" y="2112"/>
              <a:ext cx="43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000" b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88070" name="Group 15"/>
          <p:cNvGrpSpPr>
            <a:grpSpLocks/>
          </p:cNvGrpSpPr>
          <p:nvPr/>
        </p:nvGrpSpPr>
        <p:grpSpPr bwMode="auto">
          <a:xfrm>
            <a:off x="1676400" y="1981200"/>
            <a:ext cx="5562600" cy="3733800"/>
            <a:chOff x="1152" y="1200"/>
            <a:chExt cx="3504" cy="2352"/>
          </a:xfrm>
        </p:grpSpPr>
        <p:sp>
          <p:nvSpPr>
            <p:cNvPr id="88079" name="Oval 7"/>
            <p:cNvSpPr>
              <a:spLocks noChangeArrowheads="1"/>
            </p:cNvSpPr>
            <p:nvPr/>
          </p:nvSpPr>
          <p:spPr bwMode="auto">
            <a:xfrm>
              <a:off x="1152" y="1200"/>
              <a:ext cx="3504" cy="235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88080" name="Text Box 12"/>
            <p:cNvSpPr txBox="1">
              <a:spLocks noChangeArrowheads="1"/>
            </p:cNvSpPr>
            <p:nvPr/>
          </p:nvSpPr>
          <p:spPr bwMode="auto">
            <a:xfrm>
              <a:off x="1200" y="2160"/>
              <a:ext cx="43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000" b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88071" name="Group 16"/>
          <p:cNvGrpSpPr>
            <a:grpSpLocks/>
          </p:cNvGrpSpPr>
          <p:nvPr/>
        </p:nvGrpSpPr>
        <p:grpSpPr bwMode="auto">
          <a:xfrm>
            <a:off x="2590800" y="2667000"/>
            <a:ext cx="4191000" cy="2362200"/>
            <a:chOff x="1584" y="1632"/>
            <a:chExt cx="2640" cy="1488"/>
          </a:xfrm>
        </p:grpSpPr>
        <p:sp>
          <p:nvSpPr>
            <p:cNvPr id="88077" name="Oval 8"/>
            <p:cNvSpPr>
              <a:spLocks noChangeArrowheads="1"/>
            </p:cNvSpPr>
            <p:nvPr/>
          </p:nvSpPr>
          <p:spPr bwMode="auto">
            <a:xfrm>
              <a:off x="1584" y="1632"/>
              <a:ext cx="2640" cy="1488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220076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88078" name="Text Box 11"/>
            <p:cNvSpPr txBox="1">
              <a:spLocks noChangeArrowheads="1"/>
            </p:cNvSpPr>
            <p:nvPr/>
          </p:nvSpPr>
          <p:spPr bwMode="auto">
            <a:xfrm>
              <a:off x="1680" y="2208"/>
              <a:ext cx="43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000" b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88072" name="Group 17"/>
          <p:cNvGrpSpPr>
            <a:grpSpLocks/>
          </p:cNvGrpSpPr>
          <p:nvPr/>
        </p:nvGrpSpPr>
        <p:grpSpPr bwMode="auto">
          <a:xfrm>
            <a:off x="3581400" y="3276600"/>
            <a:ext cx="1981200" cy="990600"/>
            <a:chOff x="2256" y="2064"/>
            <a:chExt cx="1248" cy="624"/>
          </a:xfrm>
        </p:grpSpPr>
        <p:sp>
          <p:nvSpPr>
            <p:cNvPr id="88075" name="Oval 9"/>
            <p:cNvSpPr>
              <a:spLocks noChangeArrowheads="1"/>
            </p:cNvSpPr>
            <p:nvPr/>
          </p:nvSpPr>
          <p:spPr bwMode="auto">
            <a:xfrm>
              <a:off x="2256" y="2064"/>
              <a:ext cx="1248" cy="624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rgbClr val="F85124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88076" name="Text Box 13"/>
            <p:cNvSpPr txBox="1">
              <a:spLocks noChangeArrowheads="1"/>
            </p:cNvSpPr>
            <p:nvPr/>
          </p:nvSpPr>
          <p:spPr bwMode="auto">
            <a:xfrm>
              <a:off x="2592" y="2160"/>
              <a:ext cx="43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4000" b="0">
                  <a:solidFill>
                    <a:schemeClr val="tx1"/>
                  </a:solidFill>
                </a:rPr>
                <a:t>4</a:t>
              </a:r>
            </a:p>
          </p:txBody>
        </p:sp>
      </p:grpSp>
      <p:sp>
        <p:nvSpPr>
          <p:cNvPr id="1499155" name="AutoShape 19"/>
          <p:cNvSpPr>
            <a:spLocks noChangeArrowheads="1"/>
          </p:cNvSpPr>
          <p:nvPr/>
        </p:nvSpPr>
        <p:spPr bwMode="auto">
          <a:xfrm>
            <a:off x="5486400" y="1066800"/>
            <a:ext cx="3124200" cy="1676400"/>
          </a:xfrm>
          <a:prstGeom prst="wedgeRoundRectCallout">
            <a:avLst>
              <a:gd name="adj1" fmla="val -74847"/>
              <a:gd name="adj2" fmla="val 99431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</a:rPr>
              <a:t>Được sử dụng trong biểu diễn cấu trúc từ vựng</a:t>
            </a:r>
          </a:p>
        </p:txBody>
      </p:sp>
      <p:sp>
        <p:nvSpPr>
          <p:cNvPr id="1499156" name="AutoShape 20"/>
          <p:cNvSpPr>
            <a:spLocks noChangeArrowheads="1"/>
          </p:cNvSpPr>
          <p:nvPr/>
        </p:nvSpPr>
        <p:spPr bwMode="auto">
          <a:xfrm>
            <a:off x="5029200" y="5181600"/>
            <a:ext cx="3886200" cy="1524000"/>
          </a:xfrm>
          <a:prstGeom prst="wedgeRoundRectCallout">
            <a:avLst>
              <a:gd name="adj1" fmla="val -61806"/>
              <a:gd name="adj2" fmla="val -95833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2800" b="0">
                <a:solidFill>
                  <a:schemeClr val="tx1"/>
                </a:solidFill>
              </a:rPr>
              <a:t>Thường được dùng biểu diễn cú pháp của ngôn ngữ lập trình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9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500"/>
                                        <p:tgtEl>
                                          <p:spTgt spid="149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9155" grpId="0" animBg="1"/>
      <p:bldP spid="1499156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BFBD69-AC37-47C8-9DB6-86E3A623992A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88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460226" name="Rectangle 2"/>
          <p:cNvSpPr>
            <a:spLocks noChangeArrowheads="1"/>
          </p:cNvSpPr>
          <p:nvPr/>
        </p:nvSpPr>
        <p:spPr bwMode="auto">
          <a:xfrm>
            <a:off x="0" y="3810000"/>
            <a:ext cx="9144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460227" name="Rectangle 3"/>
          <p:cNvSpPr>
            <a:spLocks noChangeArrowheads="1"/>
          </p:cNvSpPr>
          <p:nvPr/>
        </p:nvSpPr>
        <p:spPr bwMode="auto">
          <a:xfrm>
            <a:off x="0" y="4495800"/>
            <a:ext cx="9144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89093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00100"/>
          </a:xfrm>
        </p:spPr>
        <p:txBody>
          <a:bodyPr/>
          <a:lstStyle/>
          <a:p>
            <a:pPr eaLnBrk="1" hangingPunct="1"/>
            <a:r>
              <a:rPr lang="en-US" altLang="en-US" sz="4000"/>
              <a:t>Chương 1: Những khái niệm cơ bản</a:t>
            </a:r>
          </a:p>
        </p:txBody>
      </p:sp>
      <p:sp>
        <p:nvSpPr>
          <p:cNvPr id="89094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66700" y="1608138"/>
            <a:ext cx="8724900" cy="4792662"/>
          </a:xfrm>
        </p:spPr>
        <p:txBody>
          <a:bodyPr/>
          <a:lstStyle/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Ngôn ngữ lập trình cấp cao và trình dịch</a:t>
            </a: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Đặc trưng của ngôn ngữ lập trình cấp cao</a:t>
            </a: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/>
              <a:t>Các giai đoạn chính của chương trình dịch</a:t>
            </a:r>
            <a:endParaRPr lang="en-US" altLang="en-US">
              <a:solidFill>
                <a:srgbClr val="1E0068"/>
              </a:solidFill>
            </a:endParaRP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Khái niệm ngôn ngữ</a:t>
            </a: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Văn phạm phi ngữ cảnh</a:t>
            </a: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Giới thiệu ngôn ngữ PL/0 mở rộng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460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6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0226" grpId="0" animBg="1"/>
      <p:bldP spid="1460227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7FB333-66C1-4ADD-B5BA-C6ED7D73080F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89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Văn phạm phi ngữ cảnh</a:t>
            </a:r>
          </a:p>
        </p:txBody>
      </p:sp>
      <p:sp>
        <p:nvSpPr>
          <p:cNvPr id="90116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5. Văn phạm phi ngữ cảnh</a:t>
            </a:r>
          </a:p>
        </p:txBody>
      </p:sp>
      <p:sp>
        <p:nvSpPr>
          <p:cNvPr id="9011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495800"/>
          </a:xfrm>
          <a:noFill/>
        </p:spPr>
        <p:txBody>
          <a:bodyPr/>
          <a:lstStyle/>
          <a:p>
            <a:pPr marL="406400" indent="-406400"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en-US" sz="3600" err="1"/>
              <a:t>Cây</a:t>
            </a:r>
            <a:r>
              <a:rPr lang="en-US" altLang="en-US" sz="3600"/>
              <a:t> </a:t>
            </a:r>
            <a:r>
              <a:rPr lang="en-US" altLang="en-US" sz="3600" err="1"/>
              <a:t>suy</a:t>
            </a:r>
            <a:r>
              <a:rPr lang="en-US" altLang="en-US" sz="3600"/>
              <a:t> </a:t>
            </a:r>
            <a:r>
              <a:rPr lang="en-US" altLang="en-US" sz="3600" err="1"/>
              <a:t>dẫn</a:t>
            </a:r>
            <a:endParaRPr lang="en-US" altLang="en-US" sz="3600"/>
          </a:p>
          <a:p>
            <a:pPr marL="406400" indent="-406400"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en-US" sz="3600" err="1"/>
              <a:t>Suy</a:t>
            </a:r>
            <a:r>
              <a:rPr lang="en-US" altLang="en-US" sz="3600"/>
              <a:t> </a:t>
            </a:r>
            <a:r>
              <a:rPr lang="en-US" altLang="en-US" sz="3600" err="1"/>
              <a:t>dẫn</a:t>
            </a:r>
            <a:r>
              <a:rPr lang="en-US" altLang="en-US" sz="3600"/>
              <a:t> </a:t>
            </a:r>
            <a:r>
              <a:rPr lang="en-US" altLang="en-US" sz="3600" err="1"/>
              <a:t>trái</a:t>
            </a:r>
            <a:r>
              <a:rPr lang="en-US" altLang="en-US" sz="3600"/>
              <a:t>, </a:t>
            </a:r>
            <a:r>
              <a:rPr lang="en-US" altLang="en-US" sz="3600" err="1"/>
              <a:t>suy</a:t>
            </a:r>
            <a:r>
              <a:rPr lang="en-US" altLang="en-US" sz="3600"/>
              <a:t> </a:t>
            </a:r>
            <a:r>
              <a:rPr lang="en-US" altLang="en-US" sz="3600" err="1"/>
              <a:t>dẫn</a:t>
            </a:r>
            <a:r>
              <a:rPr lang="en-US" altLang="en-US" sz="3600"/>
              <a:t> </a:t>
            </a:r>
            <a:r>
              <a:rPr lang="en-US" altLang="en-US" sz="3600" err="1"/>
              <a:t>phải</a:t>
            </a:r>
            <a:endParaRPr lang="en-US" altLang="en-US" sz="3600"/>
          </a:p>
          <a:p>
            <a:pPr marL="406400" indent="-406400"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en-US" sz="3600" err="1"/>
              <a:t>Văn</a:t>
            </a:r>
            <a:r>
              <a:rPr lang="en-US" altLang="en-US" sz="3600"/>
              <a:t> </a:t>
            </a:r>
            <a:r>
              <a:rPr lang="en-US" altLang="en-US" sz="3600" err="1"/>
              <a:t>phạm</a:t>
            </a:r>
            <a:r>
              <a:rPr lang="en-US" altLang="en-US" sz="3600"/>
              <a:t> </a:t>
            </a:r>
            <a:r>
              <a:rPr lang="en-US" altLang="en-US" sz="3600" err="1"/>
              <a:t>đơn</a:t>
            </a:r>
            <a:r>
              <a:rPr lang="en-US" altLang="en-US" sz="3600"/>
              <a:t> </a:t>
            </a:r>
            <a:r>
              <a:rPr lang="en-US" altLang="en-US" sz="3600" err="1"/>
              <a:t>nghĩa</a:t>
            </a:r>
            <a:endParaRPr lang="en-US" altLang="en-US" sz="3600"/>
          </a:p>
          <a:p>
            <a:pPr marL="406400" indent="-406400"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en-US" sz="3600" err="1"/>
              <a:t>Sản</a:t>
            </a:r>
            <a:r>
              <a:rPr lang="en-US" altLang="en-US" sz="3600"/>
              <a:t> </a:t>
            </a:r>
            <a:r>
              <a:rPr lang="en-US" altLang="en-US" sz="3600" err="1"/>
              <a:t>xuất</a:t>
            </a:r>
            <a:r>
              <a:rPr lang="en-US" altLang="en-US" sz="3600"/>
              <a:t> </a:t>
            </a:r>
            <a:r>
              <a:rPr lang="en-US" altLang="en-US" sz="3600" err="1"/>
              <a:t>đệ</a:t>
            </a:r>
            <a:r>
              <a:rPr lang="en-US" altLang="en-US" sz="3600"/>
              <a:t> </a:t>
            </a:r>
            <a:r>
              <a:rPr lang="en-US" altLang="en-US" sz="3600" err="1"/>
              <a:t>quy</a:t>
            </a:r>
            <a:endParaRPr lang="en-US" altLang="en-US" sz="3600"/>
          </a:p>
          <a:p>
            <a:pPr marL="406400" indent="-406400"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en-US" sz="3600" err="1"/>
              <a:t>Ký</a:t>
            </a:r>
            <a:r>
              <a:rPr lang="en-US" altLang="en-US" sz="3600"/>
              <a:t> </a:t>
            </a:r>
            <a:r>
              <a:rPr lang="en-US" altLang="en-US" sz="3600" err="1"/>
              <a:t>hiệu</a:t>
            </a:r>
            <a:r>
              <a:rPr lang="en-US" altLang="en-US" sz="3600"/>
              <a:t> </a:t>
            </a:r>
            <a:r>
              <a:rPr lang="en-US" altLang="en-US" sz="3600" err="1"/>
              <a:t>vô</a:t>
            </a:r>
            <a:r>
              <a:rPr lang="en-US" altLang="en-US" sz="3600"/>
              <a:t> </a:t>
            </a:r>
            <a:r>
              <a:rPr lang="en-US" altLang="en-US" sz="3600" err="1"/>
              <a:t>ích</a:t>
            </a:r>
            <a:endParaRPr lang="en-US" altLang="en-US" sz="3600"/>
          </a:p>
          <a:p>
            <a:pPr marL="406400" indent="-406400"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en-US" sz="3600" err="1"/>
              <a:t>Vấn</a:t>
            </a:r>
            <a:r>
              <a:rPr lang="en-US" altLang="en-US" sz="3600"/>
              <a:t> </a:t>
            </a:r>
            <a:r>
              <a:rPr lang="en-US" altLang="en-US" sz="3600" err="1"/>
              <a:t>đề</a:t>
            </a:r>
            <a:r>
              <a:rPr lang="en-US" altLang="en-US" sz="3600"/>
              <a:t> </a:t>
            </a:r>
            <a:r>
              <a:rPr lang="en-US" altLang="en-US" sz="3600" err="1"/>
              <a:t>phân</a:t>
            </a:r>
            <a:r>
              <a:rPr lang="en-US" altLang="en-US" sz="3600"/>
              <a:t> </a:t>
            </a:r>
            <a:r>
              <a:rPr lang="en-US" altLang="en-US" sz="3600" err="1"/>
              <a:t>tích</a:t>
            </a:r>
            <a:r>
              <a:rPr lang="en-US" altLang="en-US" sz="3600"/>
              <a:t> </a:t>
            </a:r>
            <a:r>
              <a:rPr lang="en-US" altLang="en-US" sz="3600" err="1"/>
              <a:t>cú</a:t>
            </a:r>
            <a:r>
              <a:rPr lang="en-US" altLang="en-US" sz="3600"/>
              <a:t> </a:t>
            </a:r>
            <a:r>
              <a:rPr lang="en-US" altLang="en-US" sz="3600" err="1"/>
              <a:t>pháp</a:t>
            </a:r>
            <a:endParaRPr lang="en-US" altLang="en-US" sz="36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53CDC0-A52D-4060-96D5-03D09ADC6CD7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90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Cây suy dẫn</a:t>
            </a:r>
          </a:p>
        </p:txBody>
      </p:sp>
      <p:sp>
        <p:nvSpPr>
          <p:cNvPr id="149709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09538" y="914400"/>
            <a:ext cx="8805862" cy="57150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F85124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1775" indent="-231775" eaLnBrk="1" hangingPunct="1"/>
            <a:r>
              <a:rPr lang="en-US" altLang="en-US" sz="2800"/>
              <a:t>G = (V</a:t>
            </a:r>
            <a:r>
              <a:rPr lang="en-US" altLang="en-US" sz="2800" baseline="-25000"/>
              <a:t>T</a:t>
            </a:r>
            <a:r>
              <a:rPr lang="en-US" altLang="en-US" sz="2800"/>
              <a:t>, V</a:t>
            </a:r>
            <a:r>
              <a:rPr lang="en-US" altLang="en-US" sz="2800" baseline="-25000"/>
              <a:t>N</a:t>
            </a:r>
            <a:r>
              <a:rPr lang="en-US" altLang="en-US" sz="2800"/>
              <a:t>,P, S) là văn pham phi ngữ cảnh </a:t>
            </a:r>
          </a:p>
          <a:p>
            <a:pPr marL="231775" indent="-231775" eaLnBrk="1" hangingPunct="1">
              <a:spcBef>
                <a:spcPct val="5000"/>
              </a:spcBef>
            </a:pPr>
            <a:r>
              <a:rPr lang="en-US" altLang="en-US" sz="2800"/>
              <a:t>Cây suy dẫn </a:t>
            </a:r>
            <a:r>
              <a:rPr lang="en-US" altLang="en-US" sz="2800">
                <a:solidFill>
                  <a:srgbClr val="996600"/>
                </a:solidFill>
              </a:rPr>
              <a:t>D </a:t>
            </a:r>
            <a:r>
              <a:rPr lang="en-US" altLang="en-US" sz="2800"/>
              <a:t>cho VP </a:t>
            </a:r>
            <a:r>
              <a:rPr lang="en-US" altLang="en-US" sz="2800">
                <a:solidFill>
                  <a:srgbClr val="996600"/>
                </a:solidFill>
              </a:rPr>
              <a:t>G</a:t>
            </a:r>
            <a:r>
              <a:rPr lang="en-US" altLang="en-US" sz="2800"/>
              <a:t> là cây có thứ tự, trong đó</a:t>
            </a:r>
          </a:p>
          <a:p>
            <a:pPr marL="623888" lvl="1" indent="-277813" eaLnBrk="1" hangingPunct="1"/>
            <a:r>
              <a:rPr lang="en-US" altLang="en-US" sz="2400"/>
              <a:t>Mỗi một nút có nhãn là ký hiệu trong tập </a:t>
            </a:r>
            <a:r>
              <a:rPr lang="en-US" altLang="en-US" sz="2400">
                <a:solidFill>
                  <a:srgbClr val="996600"/>
                </a:solidFill>
              </a:rPr>
              <a:t>V</a:t>
            </a:r>
            <a:r>
              <a:rPr lang="en-US" altLang="en-US" sz="2400" baseline="-25000">
                <a:solidFill>
                  <a:srgbClr val="996600"/>
                </a:solidFill>
              </a:rPr>
              <a:t>T</a:t>
            </a:r>
            <a:r>
              <a:rPr lang="en-US" altLang="en-US" sz="2400">
                <a:solidFill>
                  <a:srgbClr val="996600"/>
                </a:solidFill>
                <a:sym typeface="Symbol" panose="05050102010706020507" pitchFamily="18" charset="2"/>
              </a:rPr>
              <a:t></a:t>
            </a:r>
            <a:r>
              <a:rPr lang="en-US" altLang="en-US" sz="2400">
                <a:solidFill>
                  <a:srgbClr val="996600"/>
                </a:solidFill>
              </a:rPr>
              <a:t>V</a:t>
            </a:r>
            <a:r>
              <a:rPr lang="en-US" altLang="en-US" sz="2400" baseline="-25000">
                <a:solidFill>
                  <a:srgbClr val="996600"/>
                </a:solidFill>
              </a:rPr>
              <a:t>N</a:t>
            </a:r>
            <a:r>
              <a:rPr lang="en-US" altLang="en-US" sz="2400">
                <a:solidFill>
                  <a:srgbClr val="996600"/>
                </a:solidFill>
              </a:rPr>
              <a:t> </a:t>
            </a:r>
            <a:r>
              <a:rPr lang="en-US" altLang="en-US" sz="2400">
                <a:solidFill>
                  <a:srgbClr val="996600"/>
                </a:solidFill>
                <a:sym typeface="Symbol" panose="05050102010706020507" pitchFamily="18" charset="2"/>
              </a:rPr>
              <a:t> {</a:t>
            </a:r>
            <a:r>
              <a:rPr lang="el-GR" altLang="en-US">
                <a:solidFill>
                  <a:srgbClr val="9966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 sz="2400">
                <a:solidFill>
                  <a:srgbClr val="996600"/>
                </a:solidFill>
                <a:sym typeface="Symbol" panose="05050102010706020507" pitchFamily="18" charset="2"/>
              </a:rPr>
              <a:t>}</a:t>
            </a:r>
            <a:endParaRPr lang="en-US" altLang="en-US" sz="2400">
              <a:solidFill>
                <a:srgbClr val="996600"/>
              </a:solidFill>
            </a:endParaRPr>
          </a:p>
          <a:p>
            <a:pPr marL="623888" lvl="1" indent="-277813" eaLnBrk="1" hangingPunct="1"/>
            <a:r>
              <a:rPr lang="en-US" altLang="en-US" sz="2400"/>
              <a:t>Nhãn của nút gốc là </a:t>
            </a:r>
            <a:r>
              <a:rPr lang="en-US" altLang="en-US" sz="2400">
                <a:solidFill>
                  <a:srgbClr val="996600"/>
                </a:solidFill>
              </a:rPr>
              <a:t>S </a:t>
            </a:r>
            <a:r>
              <a:rPr lang="en-US" altLang="en-US" sz="2400" i="1">
                <a:solidFill>
                  <a:schemeClr val="bg2"/>
                </a:solidFill>
              </a:rPr>
              <a:t>(Start Symbol)</a:t>
            </a:r>
          </a:p>
          <a:p>
            <a:pPr marL="623888" lvl="1" indent="-277813" eaLnBrk="1" hangingPunct="1"/>
            <a:r>
              <a:rPr lang="en-US" altLang="en-US" sz="2400"/>
              <a:t>Các nút lá có nhãn là </a:t>
            </a:r>
            <a:r>
              <a:rPr lang="en-US" altLang="en-US" sz="2400" i="1">
                <a:solidFill>
                  <a:srgbClr val="DF3507"/>
                </a:solidFill>
              </a:rPr>
              <a:t>một ký hiệu kết thúc</a:t>
            </a:r>
            <a:r>
              <a:rPr lang="en-US" altLang="en-US" sz="2400"/>
              <a:t> hoặc </a:t>
            </a:r>
            <a:r>
              <a:rPr lang="el-GR" altLang="en-US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endParaRPr lang="en-US" altLang="en-US" sz="2400">
              <a:solidFill>
                <a:srgbClr val="DF3507"/>
              </a:solidFill>
            </a:endParaRPr>
          </a:p>
          <a:p>
            <a:pPr marL="623888" lvl="1" indent="-277813" eaLnBrk="1" hangingPunct="1"/>
            <a:r>
              <a:rPr lang="en-US" altLang="en-US" sz="2400"/>
              <a:t>Nếu </a:t>
            </a:r>
            <a:r>
              <a:rPr lang="en-US" altLang="en-US" sz="2400">
                <a:solidFill>
                  <a:srgbClr val="DF3507"/>
                </a:solidFill>
              </a:rPr>
              <a:t>A</a:t>
            </a:r>
            <a:r>
              <a:rPr lang="en-US" altLang="en-US" sz="2400"/>
              <a:t> là nút trong của D và </a:t>
            </a:r>
            <a:r>
              <a:rPr lang="en-US" altLang="en-US" sz="2400">
                <a:solidFill>
                  <a:srgbClr val="996600"/>
                </a:solidFill>
              </a:rPr>
              <a:t>X</a:t>
            </a:r>
            <a:r>
              <a:rPr lang="en-US" altLang="en-US" sz="2400" baseline="-25000">
                <a:solidFill>
                  <a:srgbClr val="996600"/>
                </a:solidFill>
              </a:rPr>
              <a:t>1</a:t>
            </a:r>
            <a:r>
              <a:rPr lang="en-US" altLang="en-US" sz="2400">
                <a:solidFill>
                  <a:srgbClr val="996600"/>
                </a:solidFill>
              </a:rPr>
              <a:t>,X</a:t>
            </a:r>
            <a:r>
              <a:rPr lang="en-US" altLang="en-US" sz="2400" baseline="-25000">
                <a:solidFill>
                  <a:srgbClr val="996600"/>
                </a:solidFill>
              </a:rPr>
              <a:t>2</a:t>
            </a:r>
            <a:r>
              <a:rPr lang="en-US" altLang="en-US" sz="2400">
                <a:solidFill>
                  <a:srgbClr val="996600"/>
                </a:solidFill>
              </a:rPr>
              <a:t>,.., X</a:t>
            </a:r>
            <a:r>
              <a:rPr lang="en-US" altLang="en-US" sz="2400" baseline="-25000">
                <a:solidFill>
                  <a:srgbClr val="996600"/>
                </a:solidFill>
              </a:rPr>
              <a:t>n</a:t>
            </a:r>
            <a:r>
              <a:rPr lang="en-US" altLang="en-US" sz="2400"/>
              <a:t> là các hậu duệ trực tiếp của </a:t>
            </a:r>
            <a:r>
              <a:rPr lang="en-US" altLang="en-US" sz="2400">
                <a:solidFill>
                  <a:srgbClr val="DF3507"/>
                </a:solidFill>
              </a:rPr>
              <a:t>A</a:t>
            </a:r>
            <a:r>
              <a:rPr lang="en-US" altLang="en-US" sz="2400"/>
              <a:t> theo tự trái qua phải thì </a:t>
            </a:r>
          </a:p>
          <a:p>
            <a:pPr marL="623888" lvl="1" indent="-277813" eaLnBrk="1" hangingPunct="1">
              <a:buFontTx/>
              <a:buNone/>
            </a:pPr>
            <a:r>
              <a:rPr lang="en-US" altLang="en-US" sz="2400"/>
              <a:t>		</a:t>
            </a:r>
            <a:r>
              <a:rPr lang="en-US" altLang="en-US" sz="2400">
                <a:solidFill>
                  <a:srgbClr val="996600"/>
                </a:solidFill>
              </a:rPr>
              <a:t>A </a:t>
            </a:r>
            <a:r>
              <a:rPr lang="en-US" altLang="en-US" sz="2400">
                <a:solidFill>
                  <a:srgbClr val="996600"/>
                </a:solidFill>
                <a:sym typeface="Symbol" panose="05050102010706020507" pitchFamily="18" charset="2"/>
              </a:rPr>
              <a:t> </a:t>
            </a:r>
            <a:r>
              <a:rPr lang="en-US" altLang="en-US" sz="2400">
                <a:solidFill>
                  <a:srgbClr val="996600"/>
                </a:solidFill>
              </a:rPr>
              <a:t>X</a:t>
            </a:r>
            <a:r>
              <a:rPr lang="en-US" altLang="en-US" sz="2400" baseline="-25000">
                <a:solidFill>
                  <a:srgbClr val="996600"/>
                </a:solidFill>
              </a:rPr>
              <a:t>1</a:t>
            </a:r>
            <a:r>
              <a:rPr lang="en-US" altLang="en-US" sz="2400">
                <a:solidFill>
                  <a:srgbClr val="996600"/>
                </a:solidFill>
              </a:rPr>
              <a:t>X</a:t>
            </a:r>
            <a:r>
              <a:rPr lang="en-US" altLang="en-US" sz="2400" baseline="-25000">
                <a:solidFill>
                  <a:srgbClr val="996600"/>
                </a:solidFill>
              </a:rPr>
              <a:t>2</a:t>
            </a:r>
            <a:r>
              <a:rPr lang="en-US" altLang="en-US" sz="2400">
                <a:solidFill>
                  <a:srgbClr val="996600"/>
                </a:solidFill>
              </a:rPr>
              <a:t>..X</a:t>
            </a:r>
            <a:r>
              <a:rPr lang="en-US" altLang="en-US" sz="2400" baseline="-25000">
                <a:solidFill>
                  <a:srgbClr val="996600"/>
                </a:solidFill>
              </a:rPr>
              <a:t>n</a:t>
            </a:r>
            <a:r>
              <a:rPr lang="en-US" altLang="en-US" sz="2400"/>
              <a:t> là một sản xuất của P</a:t>
            </a:r>
          </a:p>
          <a:p>
            <a:pPr marL="623888" lvl="1" indent="-277813" eaLnBrk="1" hangingPunct="1"/>
            <a:r>
              <a:rPr lang="en-US" altLang="en-US" sz="2400"/>
              <a:t>Nếu </a:t>
            </a:r>
            <a:r>
              <a:rPr lang="en-US" altLang="en-US" sz="2400">
                <a:solidFill>
                  <a:srgbClr val="996600"/>
                </a:solidFill>
              </a:rPr>
              <a:t>n=0</a:t>
            </a:r>
            <a:r>
              <a:rPr lang="en-US" altLang="en-US" sz="2400"/>
              <a:t> (</a:t>
            </a:r>
            <a:r>
              <a:rPr lang="en-US" altLang="en-US" sz="2400" i="1">
                <a:solidFill>
                  <a:schemeClr val="bg2"/>
                </a:solidFill>
              </a:rPr>
              <a:t>X= </a:t>
            </a:r>
            <a:r>
              <a:rPr lang="el-GR" altLang="en-US" sz="2400" i="1">
                <a:solidFill>
                  <a:schemeClr val="bg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) thì X là hậu duệ đơn và duy nhất của A và </a:t>
            </a:r>
            <a:r>
              <a:rPr lang="en-US" altLang="en-US" sz="2400">
                <a:solidFill>
                  <a:srgbClr val="00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 </a:t>
            </a:r>
            <a:r>
              <a:rPr lang="en-US" altLang="en-US" sz="2400">
                <a:solidFill>
                  <a:srgbClr val="0000CC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2400">
                <a:solidFill>
                  <a:srgbClr val="00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sz="2400">
                <a:solidFill>
                  <a:srgbClr val="00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 là một sản xuất trong P</a:t>
            </a:r>
            <a:r>
              <a:rPr lang="en-US" altLang="en-US" sz="2400"/>
              <a:t>,</a:t>
            </a:r>
            <a:r>
              <a:rPr lang="en-US" altLang="en-US" sz="2000"/>
              <a:t> </a:t>
            </a:r>
          </a:p>
          <a:p>
            <a:pPr marL="231775" indent="-231775" eaLnBrk="1" hangingPunct="1"/>
            <a:r>
              <a:rPr lang="en-US" altLang="en-US" sz="2800">
                <a:solidFill>
                  <a:srgbClr val="DF3507"/>
                </a:solidFill>
              </a:rPr>
              <a:t>Biên</a:t>
            </a:r>
            <a:r>
              <a:rPr lang="en-US" altLang="en-US" sz="2800"/>
              <a:t> (</a:t>
            </a:r>
            <a:r>
              <a:rPr lang="en-US" altLang="en-US" sz="2800" i="1">
                <a:solidFill>
                  <a:srgbClr val="DF3507"/>
                </a:solidFill>
              </a:rPr>
              <a:t>kết quả</a:t>
            </a:r>
            <a:r>
              <a:rPr lang="en-US" altLang="en-US" sz="2800"/>
              <a:t>) của cây suy dẫn: Từ thu được bằng cách nối các nút lá lại theo thứ tự từ trái qua phải</a:t>
            </a:r>
          </a:p>
          <a:p>
            <a:pPr marL="623888" lvl="1" indent="-277813" eaLnBrk="1" hangingPunct="1"/>
            <a:r>
              <a:rPr lang="en-US" altLang="en-US"/>
              <a:t>Rõ ràng, nếu </a:t>
            </a:r>
            <a:r>
              <a:rPr lang="el-GR" altLang="en-US">
                <a:solidFill>
                  <a:srgbClr val="0000CC"/>
                </a:solidFill>
                <a:cs typeface="Arial" panose="020B0604020202020204" pitchFamily="34" charset="0"/>
              </a:rPr>
              <a:t>α</a:t>
            </a:r>
            <a:r>
              <a:rPr lang="en-US" altLang="en-US">
                <a:cs typeface="Arial" panose="020B0604020202020204" pitchFamily="34" charset="0"/>
              </a:rPr>
              <a:t> là biên của D thì </a:t>
            </a:r>
            <a:r>
              <a:rPr lang="en-US" altLang="en-US">
                <a:solidFill>
                  <a:srgbClr val="0000CC"/>
                </a:solidFill>
                <a:cs typeface="Arial" panose="020B0604020202020204" pitchFamily="34" charset="0"/>
              </a:rPr>
              <a:t>S </a:t>
            </a:r>
            <a:r>
              <a:rPr lang="el-GR" altLang="en-US">
                <a:solidFill>
                  <a:srgbClr val="00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baseline="30000">
                <a:solidFill>
                  <a:srgbClr val="00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l-GR" altLang="en-US">
                <a:solidFill>
                  <a:srgbClr val="00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>
                <a:solidFill>
                  <a:srgbClr val="0000CC"/>
                </a:solidFill>
                <a:cs typeface="Arial" panose="020B0604020202020204" pitchFamily="34" charset="0"/>
              </a:rPr>
              <a:t>α</a:t>
            </a:r>
            <a:endParaRPr lang="en-US" altLang="en-US" sz="2400">
              <a:solidFill>
                <a:srgbClr val="0000CC"/>
              </a:solidFill>
            </a:endParaRPr>
          </a:p>
        </p:txBody>
      </p:sp>
      <p:sp>
        <p:nvSpPr>
          <p:cNvPr id="91141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5. Văn phạm phi ngữ cảnh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0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970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0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970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74C9A7-0415-4588-9648-387511B71782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91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498175" name="Freeform 63"/>
          <p:cNvSpPr>
            <a:spLocks/>
          </p:cNvSpPr>
          <p:nvPr/>
        </p:nvSpPr>
        <p:spPr bwMode="auto">
          <a:xfrm>
            <a:off x="6610350" y="4800600"/>
            <a:ext cx="2362200" cy="1981200"/>
          </a:xfrm>
          <a:custGeom>
            <a:avLst/>
            <a:gdLst>
              <a:gd name="T0" fmla="*/ 0 w 1488"/>
              <a:gd name="T1" fmla="*/ 2147483646 h 1248"/>
              <a:gd name="T2" fmla="*/ 2147483646 w 1488"/>
              <a:gd name="T3" fmla="*/ 2147483646 h 1248"/>
              <a:gd name="T4" fmla="*/ 2147483646 w 1488"/>
              <a:gd name="T5" fmla="*/ 0 h 1248"/>
              <a:gd name="T6" fmla="*/ 2147483646 w 1488"/>
              <a:gd name="T7" fmla="*/ 0 h 1248"/>
              <a:gd name="T8" fmla="*/ 2147483646 w 1488"/>
              <a:gd name="T9" fmla="*/ 2147483646 h 1248"/>
              <a:gd name="T10" fmla="*/ 2147483646 w 1488"/>
              <a:gd name="T11" fmla="*/ 2147483646 h 1248"/>
              <a:gd name="T12" fmla="*/ 2147483646 w 1488"/>
              <a:gd name="T13" fmla="*/ 2147483646 h 1248"/>
              <a:gd name="T14" fmla="*/ 2147483646 w 1488"/>
              <a:gd name="T15" fmla="*/ 2147483646 h 1248"/>
              <a:gd name="T16" fmla="*/ 2147483646 w 1488"/>
              <a:gd name="T17" fmla="*/ 2147483646 h 1248"/>
              <a:gd name="T18" fmla="*/ 2147483646 w 1488"/>
              <a:gd name="T19" fmla="*/ 2147483646 h 1248"/>
              <a:gd name="T20" fmla="*/ 2147483646 w 1488"/>
              <a:gd name="T21" fmla="*/ 2147483646 h 1248"/>
              <a:gd name="T22" fmla="*/ 2147483646 w 1488"/>
              <a:gd name="T23" fmla="*/ 2147483646 h 1248"/>
              <a:gd name="T24" fmla="*/ 2147483646 w 1488"/>
              <a:gd name="T25" fmla="*/ 2147483646 h 1248"/>
              <a:gd name="T26" fmla="*/ 2147483646 w 1488"/>
              <a:gd name="T27" fmla="*/ 2147483646 h 1248"/>
              <a:gd name="T28" fmla="*/ 2147483646 w 1488"/>
              <a:gd name="T29" fmla="*/ 2147483646 h 1248"/>
              <a:gd name="T30" fmla="*/ 2147483646 w 1488"/>
              <a:gd name="T31" fmla="*/ 2147483646 h 1248"/>
              <a:gd name="T32" fmla="*/ 2147483646 w 1488"/>
              <a:gd name="T33" fmla="*/ 2147483646 h 1248"/>
              <a:gd name="T34" fmla="*/ 2147483646 w 1488"/>
              <a:gd name="T35" fmla="*/ 2147483646 h 1248"/>
              <a:gd name="T36" fmla="*/ 0 w 1488"/>
              <a:gd name="T37" fmla="*/ 2147483646 h 1248"/>
              <a:gd name="T38" fmla="*/ 0 w 1488"/>
              <a:gd name="T39" fmla="*/ 2147483646 h 1248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1488" h="1248">
                <a:moveTo>
                  <a:pt x="0" y="528"/>
                </a:moveTo>
                <a:lnTo>
                  <a:pt x="192" y="528"/>
                </a:lnTo>
                <a:lnTo>
                  <a:pt x="432" y="0"/>
                </a:lnTo>
                <a:lnTo>
                  <a:pt x="576" y="0"/>
                </a:lnTo>
                <a:lnTo>
                  <a:pt x="672" y="144"/>
                </a:lnTo>
                <a:lnTo>
                  <a:pt x="384" y="624"/>
                </a:lnTo>
                <a:lnTo>
                  <a:pt x="384" y="960"/>
                </a:lnTo>
                <a:lnTo>
                  <a:pt x="672" y="960"/>
                </a:lnTo>
                <a:lnTo>
                  <a:pt x="864" y="480"/>
                </a:lnTo>
                <a:lnTo>
                  <a:pt x="1056" y="480"/>
                </a:lnTo>
                <a:lnTo>
                  <a:pt x="1248" y="1008"/>
                </a:lnTo>
                <a:lnTo>
                  <a:pt x="1488" y="1008"/>
                </a:lnTo>
                <a:lnTo>
                  <a:pt x="1488" y="1248"/>
                </a:lnTo>
                <a:lnTo>
                  <a:pt x="1200" y="1248"/>
                </a:lnTo>
                <a:lnTo>
                  <a:pt x="960" y="720"/>
                </a:lnTo>
                <a:lnTo>
                  <a:pt x="720" y="1248"/>
                </a:lnTo>
                <a:lnTo>
                  <a:pt x="336" y="1248"/>
                </a:lnTo>
                <a:lnTo>
                  <a:pt x="288" y="720"/>
                </a:lnTo>
                <a:lnTo>
                  <a:pt x="0" y="720"/>
                </a:lnTo>
                <a:lnTo>
                  <a:pt x="0" y="528"/>
                </a:lnTo>
                <a:close/>
              </a:path>
            </a:pathLst>
          </a:custGeom>
          <a:solidFill>
            <a:srgbClr val="E1E1E1"/>
          </a:solidFill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98144" name="Freeform 32"/>
          <p:cNvSpPr>
            <a:spLocks/>
          </p:cNvSpPr>
          <p:nvPr/>
        </p:nvSpPr>
        <p:spPr bwMode="auto">
          <a:xfrm>
            <a:off x="152400" y="2686050"/>
            <a:ext cx="2590800" cy="1828800"/>
          </a:xfrm>
          <a:custGeom>
            <a:avLst/>
            <a:gdLst>
              <a:gd name="T0" fmla="*/ 0 w 1632"/>
              <a:gd name="T1" fmla="*/ 2147483646 h 1152"/>
              <a:gd name="T2" fmla="*/ 2147483646 w 1632"/>
              <a:gd name="T3" fmla="*/ 2147483646 h 1152"/>
              <a:gd name="T4" fmla="*/ 2147483646 w 1632"/>
              <a:gd name="T5" fmla="*/ 2147483646 h 1152"/>
              <a:gd name="T6" fmla="*/ 2147483646 w 1632"/>
              <a:gd name="T7" fmla="*/ 2147483646 h 1152"/>
              <a:gd name="T8" fmla="*/ 2147483646 w 1632"/>
              <a:gd name="T9" fmla="*/ 2147483646 h 1152"/>
              <a:gd name="T10" fmla="*/ 2147483646 w 1632"/>
              <a:gd name="T11" fmla="*/ 2147483646 h 1152"/>
              <a:gd name="T12" fmla="*/ 2147483646 w 1632"/>
              <a:gd name="T13" fmla="*/ 2147483646 h 1152"/>
              <a:gd name="T14" fmla="*/ 2147483646 w 1632"/>
              <a:gd name="T15" fmla="*/ 2147483646 h 1152"/>
              <a:gd name="T16" fmla="*/ 2147483646 w 1632"/>
              <a:gd name="T17" fmla="*/ 0 h 1152"/>
              <a:gd name="T18" fmla="*/ 2147483646 w 1632"/>
              <a:gd name="T19" fmla="*/ 0 h 1152"/>
              <a:gd name="T20" fmla="*/ 2147483646 w 1632"/>
              <a:gd name="T21" fmla="*/ 2147483646 h 1152"/>
              <a:gd name="T22" fmla="*/ 2147483646 w 1632"/>
              <a:gd name="T23" fmla="*/ 2147483646 h 1152"/>
              <a:gd name="T24" fmla="*/ 2147483646 w 1632"/>
              <a:gd name="T25" fmla="*/ 2147483646 h 1152"/>
              <a:gd name="T26" fmla="*/ 2147483646 w 1632"/>
              <a:gd name="T27" fmla="*/ 2147483646 h 1152"/>
              <a:gd name="T28" fmla="*/ 2147483646 w 1632"/>
              <a:gd name="T29" fmla="*/ 2147483646 h 1152"/>
              <a:gd name="T30" fmla="*/ 2147483646 w 1632"/>
              <a:gd name="T31" fmla="*/ 2147483646 h 1152"/>
              <a:gd name="T32" fmla="*/ 2147483646 w 1632"/>
              <a:gd name="T33" fmla="*/ 2147483646 h 1152"/>
              <a:gd name="T34" fmla="*/ 2147483646 w 1632"/>
              <a:gd name="T35" fmla="*/ 2147483646 h 1152"/>
              <a:gd name="T36" fmla="*/ 2147483646 w 1632"/>
              <a:gd name="T37" fmla="*/ 2147483646 h 1152"/>
              <a:gd name="T38" fmla="*/ 0 w 1632"/>
              <a:gd name="T39" fmla="*/ 2147483646 h 1152"/>
              <a:gd name="T40" fmla="*/ 0 w 1632"/>
              <a:gd name="T41" fmla="*/ 2147483646 h 1152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632" h="1152">
                <a:moveTo>
                  <a:pt x="0" y="912"/>
                </a:moveTo>
                <a:lnTo>
                  <a:pt x="288" y="912"/>
                </a:lnTo>
                <a:lnTo>
                  <a:pt x="528" y="432"/>
                </a:lnTo>
                <a:lnTo>
                  <a:pt x="720" y="432"/>
                </a:lnTo>
                <a:lnTo>
                  <a:pt x="960" y="912"/>
                </a:lnTo>
                <a:lnTo>
                  <a:pt x="1200" y="912"/>
                </a:lnTo>
                <a:lnTo>
                  <a:pt x="1152" y="288"/>
                </a:lnTo>
                <a:lnTo>
                  <a:pt x="912" y="96"/>
                </a:lnTo>
                <a:lnTo>
                  <a:pt x="960" y="0"/>
                </a:lnTo>
                <a:lnTo>
                  <a:pt x="1104" y="0"/>
                </a:lnTo>
                <a:lnTo>
                  <a:pt x="1392" y="432"/>
                </a:lnTo>
                <a:lnTo>
                  <a:pt x="1632" y="432"/>
                </a:lnTo>
                <a:lnTo>
                  <a:pt x="1632" y="672"/>
                </a:lnTo>
                <a:lnTo>
                  <a:pt x="1392" y="672"/>
                </a:lnTo>
                <a:lnTo>
                  <a:pt x="1200" y="1152"/>
                </a:lnTo>
                <a:lnTo>
                  <a:pt x="912" y="1152"/>
                </a:lnTo>
                <a:lnTo>
                  <a:pt x="672" y="720"/>
                </a:lnTo>
                <a:lnTo>
                  <a:pt x="576" y="720"/>
                </a:lnTo>
                <a:lnTo>
                  <a:pt x="336" y="1152"/>
                </a:lnTo>
                <a:lnTo>
                  <a:pt x="0" y="1152"/>
                </a:lnTo>
                <a:lnTo>
                  <a:pt x="0" y="912"/>
                </a:lnTo>
                <a:close/>
              </a:path>
            </a:pathLst>
          </a:custGeom>
          <a:solidFill>
            <a:srgbClr val="E1E1E1"/>
          </a:solidFill>
          <a:ln w="9525" cap="flat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Cây suy dẫn</a:t>
            </a:r>
            <a:r>
              <a:rPr lang="en-US" altLang="en-US" sz="2800">
                <a:sym typeface="Symbol" panose="05050102010706020507" pitchFamily="18" charset="2"/>
              </a:rPr>
              <a:t>Ví dụ</a:t>
            </a:r>
          </a:p>
        </p:txBody>
      </p:sp>
      <p:sp>
        <p:nvSpPr>
          <p:cNvPr id="9216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610600" cy="11430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FDBDA3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90513" indent="-290513" eaLnBrk="1" hangingPunct="1">
              <a:spcBef>
                <a:spcPct val="5000"/>
              </a:spcBef>
              <a:buFontTx/>
              <a:buNone/>
            </a:pPr>
            <a:r>
              <a:rPr lang="en-US" altLang="en-US" sz="2800">
                <a:cs typeface="Arial" panose="020B0604020202020204" pitchFamily="34" charset="0"/>
              </a:rPr>
              <a:t>Văn phạm: </a:t>
            </a:r>
            <a:r>
              <a:rPr lang="en-US" altLang="en-US">
                <a:cs typeface="Arial" panose="020B0604020202020204" pitchFamily="34" charset="0"/>
              </a:rPr>
              <a:t>E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 E+E | E*E | (E) | a</a:t>
            </a:r>
          </a:p>
          <a:p>
            <a:pPr marL="290513" indent="-290513" eaLnBrk="1" hangingPunct="1">
              <a:lnSpc>
                <a:spcPct val="110000"/>
              </a:lnSpc>
              <a:buFontTx/>
              <a:buNone/>
            </a:pP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Xét xâu: </a:t>
            </a:r>
            <a:r>
              <a:rPr lang="en-US" altLang="en-US" sz="2800" b="1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</a:t>
            </a:r>
            <a:r>
              <a:rPr lang="en-US" altLang="en-US" sz="2800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=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en-US" sz="2800">
                <a:solidFill>
                  <a:srgbClr val="00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 + a * a</a:t>
            </a:r>
            <a:endParaRPr lang="en-US" altLang="en-US" sz="2800" b="1">
              <a:solidFill>
                <a:srgbClr val="0000CC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1498153" name="Group 41"/>
          <p:cNvGrpSpPr>
            <a:grpSpLocks/>
          </p:cNvGrpSpPr>
          <p:nvPr/>
        </p:nvGrpSpPr>
        <p:grpSpPr bwMode="auto">
          <a:xfrm>
            <a:off x="76200" y="1981200"/>
            <a:ext cx="2681288" cy="2581275"/>
            <a:chOff x="240" y="1563"/>
            <a:chExt cx="1689" cy="1626"/>
          </a:xfrm>
        </p:grpSpPr>
        <p:grpSp>
          <p:nvGrpSpPr>
            <p:cNvPr id="92199" name="Group 14"/>
            <p:cNvGrpSpPr>
              <a:grpSpLocks/>
            </p:cNvGrpSpPr>
            <p:nvPr/>
          </p:nvGrpSpPr>
          <p:grpSpPr bwMode="auto">
            <a:xfrm>
              <a:off x="240" y="2448"/>
              <a:ext cx="396" cy="741"/>
              <a:chOff x="240" y="2448"/>
              <a:chExt cx="396" cy="741"/>
            </a:xfrm>
          </p:grpSpPr>
          <p:sp>
            <p:nvSpPr>
              <p:cNvPr id="92220" name="Text Box 5"/>
              <p:cNvSpPr txBox="1">
                <a:spLocks noChangeArrowheads="1"/>
              </p:cNvSpPr>
              <p:nvPr/>
            </p:nvSpPr>
            <p:spPr bwMode="auto">
              <a:xfrm>
                <a:off x="240" y="244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E</a:t>
                </a:r>
              </a:p>
            </p:txBody>
          </p:sp>
          <p:sp>
            <p:nvSpPr>
              <p:cNvPr id="92221" name="Text Box 12"/>
              <p:cNvSpPr txBox="1">
                <a:spLocks noChangeArrowheads="1"/>
              </p:cNvSpPr>
              <p:nvPr/>
            </p:nvSpPr>
            <p:spPr bwMode="auto">
              <a:xfrm>
                <a:off x="252" y="286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a</a:t>
                </a:r>
              </a:p>
            </p:txBody>
          </p:sp>
          <p:sp>
            <p:nvSpPr>
              <p:cNvPr id="92222" name="Line 13"/>
              <p:cNvSpPr>
                <a:spLocks noChangeShapeType="1"/>
              </p:cNvSpPr>
              <p:nvPr/>
            </p:nvSpPr>
            <p:spPr bwMode="auto">
              <a:xfrm flipV="1">
                <a:off x="432" y="270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2200" name="Group 15"/>
            <p:cNvGrpSpPr>
              <a:grpSpLocks/>
            </p:cNvGrpSpPr>
            <p:nvPr/>
          </p:nvGrpSpPr>
          <p:grpSpPr bwMode="auto">
            <a:xfrm>
              <a:off x="672" y="1995"/>
              <a:ext cx="396" cy="741"/>
              <a:chOff x="240" y="2448"/>
              <a:chExt cx="396" cy="741"/>
            </a:xfrm>
          </p:grpSpPr>
          <p:sp>
            <p:nvSpPr>
              <p:cNvPr id="92217" name="Text Box 16"/>
              <p:cNvSpPr txBox="1">
                <a:spLocks noChangeArrowheads="1"/>
              </p:cNvSpPr>
              <p:nvPr/>
            </p:nvSpPr>
            <p:spPr bwMode="auto">
              <a:xfrm>
                <a:off x="240" y="244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E</a:t>
                </a:r>
              </a:p>
            </p:txBody>
          </p:sp>
          <p:sp>
            <p:nvSpPr>
              <p:cNvPr id="92218" name="Text Box 17"/>
              <p:cNvSpPr txBox="1">
                <a:spLocks noChangeArrowheads="1"/>
              </p:cNvSpPr>
              <p:nvPr/>
            </p:nvSpPr>
            <p:spPr bwMode="auto">
              <a:xfrm>
                <a:off x="252" y="286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+</a:t>
                </a:r>
              </a:p>
            </p:txBody>
          </p:sp>
          <p:sp>
            <p:nvSpPr>
              <p:cNvPr id="92219" name="Line 18"/>
              <p:cNvSpPr>
                <a:spLocks noChangeShapeType="1"/>
              </p:cNvSpPr>
              <p:nvPr/>
            </p:nvSpPr>
            <p:spPr bwMode="auto">
              <a:xfrm flipV="1">
                <a:off x="432" y="270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2201" name="Group 19"/>
            <p:cNvGrpSpPr>
              <a:grpSpLocks/>
            </p:cNvGrpSpPr>
            <p:nvPr/>
          </p:nvGrpSpPr>
          <p:grpSpPr bwMode="auto">
            <a:xfrm>
              <a:off x="1122" y="2445"/>
              <a:ext cx="396" cy="741"/>
              <a:chOff x="240" y="2448"/>
              <a:chExt cx="396" cy="741"/>
            </a:xfrm>
          </p:grpSpPr>
          <p:sp>
            <p:nvSpPr>
              <p:cNvPr id="92214" name="Text Box 20"/>
              <p:cNvSpPr txBox="1">
                <a:spLocks noChangeArrowheads="1"/>
              </p:cNvSpPr>
              <p:nvPr/>
            </p:nvSpPr>
            <p:spPr bwMode="auto">
              <a:xfrm>
                <a:off x="240" y="244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E</a:t>
                </a:r>
              </a:p>
            </p:txBody>
          </p:sp>
          <p:sp>
            <p:nvSpPr>
              <p:cNvPr id="92215" name="Text Box 21"/>
              <p:cNvSpPr txBox="1">
                <a:spLocks noChangeArrowheads="1"/>
              </p:cNvSpPr>
              <p:nvPr/>
            </p:nvSpPr>
            <p:spPr bwMode="auto">
              <a:xfrm>
                <a:off x="252" y="286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a</a:t>
                </a:r>
              </a:p>
            </p:txBody>
          </p:sp>
          <p:sp>
            <p:nvSpPr>
              <p:cNvPr id="92216" name="Line 22"/>
              <p:cNvSpPr>
                <a:spLocks noChangeShapeType="1"/>
              </p:cNvSpPr>
              <p:nvPr/>
            </p:nvSpPr>
            <p:spPr bwMode="auto">
              <a:xfrm flipV="1">
                <a:off x="432" y="270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2202" name="Group 23"/>
            <p:cNvGrpSpPr>
              <a:grpSpLocks/>
            </p:cNvGrpSpPr>
            <p:nvPr/>
          </p:nvGrpSpPr>
          <p:grpSpPr bwMode="auto">
            <a:xfrm>
              <a:off x="1104" y="1563"/>
              <a:ext cx="396" cy="741"/>
              <a:chOff x="240" y="2448"/>
              <a:chExt cx="396" cy="741"/>
            </a:xfrm>
          </p:grpSpPr>
          <p:sp>
            <p:nvSpPr>
              <p:cNvPr id="92211" name="Text Box 24"/>
              <p:cNvSpPr txBox="1">
                <a:spLocks noChangeArrowheads="1"/>
              </p:cNvSpPr>
              <p:nvPr/>
            </p:nvSpPr>
            <p:spPr bwMode="auto">
              <a:xfrm>
                <a:off x="240" y="244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E</a:t>
                </a:r>
              </a:p>
            </p:txBody>
          </p:sp>
          <p:sp>
            <p:nvSpPr>
              <p:cNvPr id="92212" name="Text Box 25"/>
              <p:cNvSpPr txBox="1">
                <a:spLocks noChangeArrowheads="1"/>
              </p:cNvSpPr>
              <p:nvPr/>
            </p:nvSpPr>
            <p:spPr bwMode="auto">
              <a:xfrm>
                <a:off x="252" y="286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*</a:t>
                </a:r>
              </a:p>
            </p:txBody>
          </p:sp>
          <p:sp>
            <p:nvSpPr>
              <p:cNvPr id="92213" name="Line 26"/>
              <p:cNvSpPr>
                <a:spLocks noChangeShapeType="1"/>
              </p:cNvSpPr>
              <p:nvPr/>
            </p:nvSpPr>
            <p:spPr bwMode="auto">
              <a:xfrm flipV="1">
                <a:off x="432" y="270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2203" name="Line 27"/>
            <p:cNvSpPr>
              <a:spLocks noChangeShapeType="1"/>
            </p:cNvSpPr>
            <p:nvPr/>
          </p:nvSpPr>
          <p:spPr bwMode="auto">
            <a:xfrm>
              <a:off x="1353" y="1815"/>
              <a:ext cx="288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04" name="Line 29"/>
            <p:cNvSpPr>
              <a:spLocks noChangeShapeType="1"/>
            </p:cNvSpPr>
            <p:nvPr/>
          </p:nvSpPr>
          <p:spPr bwMode="auto">
            <a:xfrm flipH="1">
              <a:off x="960" y="1824"/>
              <a:ext cx="288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05" name="Line 30"/>
            <p:cNvSpPr>
              <a:spLocks noChangeShapeType="1"/>
            </p:cNvSpPr>
            <p:nvPr/>
          </p:nvSpPr>
          <p:spPr bwMode="auto">
            <a:xfrm flipH="1">
              <a:off x="480" y="2256"/>
              <a:ext cx="288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06" name="Line 31"/>
            <p:cNvSpPr>
              <a:spLocks noChangeShapeType="1"/>
            </p:cNvSpPr>
            <p:nvPr/>
          </p:nvSpPr>
          <p:spPr bwMode="auto">
            <a:xfrm>
              <a:off x="981" y="2235"/>
              <a:ext cx="288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2207" name="Group 33"/>
            <p:cNvGrpSpPr>
              <a:grpSpLocks/>
            </p:cNvGrpSpPr>
            <p:nvPr/>
          </p:nvGrpSpPr>
          <p:grpSpPr bwMode="auto">
            <a:xfrm>
              <a:off x="1533" y="1986"/>
              <a:ext cx="396" cy="741"/>
              <a:chOff x="240" y="2448"/>
              <a:chExt cx="396" cy="741"/>
            </a:xfrm>
          </p:grpSpPr>
          <p:sp>
            <p:nvSpPr>
              <p:cNvPr id="92208" name="Text Box 34"/>
              <p:cNvSpPr txBox="1">
                <a:spLocks noChangeArrowheads="1"/>
              </p:cNvSpPr>
              <p:nvPr/>
            </p:nvSpPr>
            <p:spPr bwMode="auto">
              <a:xfrm>
                <a:off x="240" y="244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E</a:t>
                </a:r>
              </a:p>
            </p:txBody>
          </p:sp>
          <p:sp>
            <p:nvSpPr>
              <p:cNvPr id="92209" name="Text Box 35"/>
              <p:cNvSpPr txBox="1">
                <a:spLocks noChangeArrowheads="1"/>
              </p:cNvSpPr>
              <p:nvPr/>
            </p:nvSpPr>
            <p:spPr bwMode="auto">
              <a:xfrm>
                <a:off x="252" y="286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a</a:t>
                </a:r>
              </a:p>
            </p:txBody>
          </p:sp>
          <p:sp>
            <p:nvSpPr>
              <p:cNvPr id="92210" name="Line 36"/>
              <p:cNvSpPr>
                <a:spLocks noChangeShapeType="1"/>
              </p:cNvSpPr>
              <p:nvPr/>
            </p:nvSpPr>
            <p:spPr bwMode="auto">
              <a:xfrm flipV="1">
                <a:off x="432" y="270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498174" name="Group 62"/>
          <p:cNvGrpSpPr>
            <a:grpSpLocks/>
          </p:cNvGrpSpPr>
          <p:nvPr/>
        </p:nvGrpSpPr>
        <p:grpSpPr bwMode="auto">
          <a:xfrm>
            <a:off x="6515100" y="4081463"/>
            <a:ext cx="2552700" cy="2700337"/>
            <a:chOff x="3924" y="1467"/>
            <a:chExt cx="1608" cy="1701"/>
          </a:xfrm>
        </p:grpSpPr>
        <p:grpSp>
          <p:nvGrpSpPr>
            <p:cNvPr id="92175" name="Group 37"/>
            <p:cNvGrpSpPr>
              <a:grpSpLocks/>
            </p:cNvGrpSpPr>
            <p:nvPr/>
          </p:nvGrpSpPr>
          <p:grpSpPr bwMode="auto">
            <a:xfrm>
              <a:off x="3924" y="1968"/>
              <a:ext cx="396" cy="741"/>
              <a:chOff x="240" y="2448"/>
              <a:chExt cx="396" cy="741"/>
            </a:xfrm>
          </p:grpSpPr>
          <p:sp>
            <p:nvSpPr>
              <p:cNvPr id="92196" name="Text Box 38"/>
              <p:cNvSpPr txBox="1">
                <a:spLocks noChangeArrowheads="1"/>
              </p:cNvSpPr>
              <p:nvPr/>
            </p:nvSpPr>
            <p:spPr bwMode="auto">
              <a:xfrm>
                <a:off x="240" y="244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E</a:t>
                </a:r>
              </a:p>
            </p:txBody>
          </p:sp>
          <p:sp>
            <p:nvSpPr>
              <p:cNvPr id="92197" name="Text Box 39"/>
              <p:cNvSpPr txBox="1">
                <a:spLocks noChangeArrowheads="1"/>
              </p:cNvSpPr>
              <p:nvPr/>
            </p:nvSpPr>
            <p:spPr bwMode="auto">
              <a:xfrm>
                <a:off x="252" y="286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a</a:t>
                </a:r>
              </a:p>
            </p:txBody>
          </p:sp>
          <p:sp>
            <p:nvSpPr>
              <p:cNvPr id="92198" name="Line 40"/>
              <p:cNvSpPr>
                <a:spLocks noChangeShapeType="1"/>
              </p:cNvSpPr>
              <p:nvPr/>
            </p:nvSpPr>
            <p:spPr bwMode="auto">
              <a:xfrm flipV="1">
                <a:off x="432" y="270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2176" name="Group 42"/>
            <p:cNvGrpSpPr>
              <a:grpSpLocks/>
            </p:cNvGrpSpPr>
            <p:nvPr/>
          </p:nvGrpSpPr>
          <p:grpSpPr bwMode="auto">
            <a:xfrm>
              <a:off x="4320" y="1467"/>
              <a:ext cx="396" cy="741"/>
              <a:chOff x="240" y="2448"/>
              <a:chExt cx="396" cy="741"/>
            </a:xfrm>
          </p:grpSpPr>
          <p:sp>
            <p:nvSpPr>
              <p:cNvPr id="92193" name="Text Box 43"/>
              <p:cNvSpPr txBox="1">
                <a:spLocks noChangeArrowheads="1"/>
              </p:cNvSpPr>
              <p:nvPr/>
            </p:nvSpPr>
            <p:spPr bwMode="auto">
              <a:xfrm>
                <a:off x="240" y="244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E</a:t>
                </a:r>
              </a:p>
            </p:txBody>
          </p:sp>
          <p:sp>
            <p:nvSpPr>
              <p:cNvPr id="92194" name="Text Box 44"/>
              <p:cNvSpPr txBox="1">
                <a:spLocks noChangeArrowheads="1"/>
              </p:cNvSpPr>
              <p:nvPr/>
            </p:nvSpPr>
            <p:spPr bwMode="auto">
              <a:xfrm>
                <a:off x="252" y="286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+</a:t>
                </a:r>
              </a:p>
            </p:txBody>
          </p:sp>
          <p:sp>
            <p:nvSpPr>
              <p:cNvPr id="92195" name="Line 45"/>
              <p:cNvSpPr>
                <a:spLocks noChangeShapeType="1"/>
              </p:cNvSpPr>
              <p:nvPr/>
            </p:nvSpPr>
            <p:spPr bwMode="auto">
              <a:xfrm flipV="1">
                <a:off x="432" y="270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2177" name="Group 46"/>
            <p:cNvGrpSpPr>
              <a:grpSpLocks/>
            </p:cNvGrpSpPr>
            <p:nvPr/>
          </p:nvGrpSpPr>
          <p:grpSpPr bwMode="auto">
            <a:xfrm>
              <a:off x="4356" y="2427"/>
              <a:ext cx="396" cy="741"/>
              <a:chOff x="240" y="2448"/>
              <a:chExt cx="396" cy="741"/>
            </a:xfrm>
          </p:grpSpPr>
          <p:sp>
            <p:nvSpPr>
              <p:cNvPr id="92190" name="Text Box 47"/>
              <p:cNvSpPr txBox="1">
                <a:spLocks noChangeArrowheads="1"/>
              </p:cNvSpPr>
              <p:nvPr/>
            </p:nvSpPr>
            <p:spPr bwMode="auto">
              <a:xfrm>
                <a:off x="240" y="244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E</a:t>
                </a:r>
              </a:p>
            </p:txBody>
          </p:sp>
          <p:sp>
            <p:nvSpPr>
              <p:cNvPr id="92191" name="Text Box 48"/>
              <p:cNvSpPr txBox="1">
                <a:spLocks noChangeArrowheads="1"/>
              </p:cNvSpPr>
              <p:nvPr/>
            </p:nvSpPr>
            <p:spPr bwMode="auto">
              <a:xfrm>
                <a:off x="252" y="286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a</a:t>
                </a:r>
              </a:p>
            </p:txBody>
          </p:sp>
          <p:sp>
            <p:nvSpPr>
              <p:cNvPr id="92192" name="Line 49"/>
              <p:cNvSpPr>
                <a:spLocks noChangeShapeType="1"/>
              </p:cNvSpPr>
              <p:nvPr/>
            </p:nvSpPr>
            <p:spPr bwMode="auto">
              <a:xfrm flipV="1">
                <a:off x="432" y="270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2178" name="Group 50"/>
            <p:cNvGrpSpPr>
              <a:grpSpLocks/>
            </p:cNvGrpSpPr>
            <p:nvPr/>
          </p:nvGrpSpPr>
          <p:grpSpPr bwMode="auto">
            <a:xfrm>
              <a:off x="4740" y="1947"/>
              <a:ext cx="396" cy="741"/>
              <a:chOff x="240" y="2448"/>
              <a:chExt cx="396" cy="741"/>
            </a:xfrm>
          </p:grpSpPr>
          <p:sp>
            <p:nvSpPr>
              <p:cNvPr id="92187" name="Text Box 51"/>
              <p:cNvSpPr txBox="1">
                <a:spLocks noChangeArrowheads="1"/>
              </p:cNvSpPr>
              <p:nvPr/>
            </p:nvSpPr>
            <p:spPr bwMode="auto">
              <a:xfrm>
                <a:off x="240" y="244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E</a:t>
                </a:r>
              </a:p>
            </p:txBody>
          </p:sp>
          <p:sp>
            <p:nvSpPr>
              <p:cNvPr id="92188" name="Text Box 52"/>
              <p:cNvSpPr txBox="1">
                <a:spLocks noChangeArrowheads="1"/>
              </p:cNvSpPr>
              <p:nvPr/>
            </p:nvSpPr>
            <p:spPr bwMode="auto">
              <a:xfrm>
                <a:off x="252" y="286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*</a:t>
                </a:r>
              </a:p>
            </p:txBody>
          </p:sp>
          <p:sp>
            <p:nvSpPr>
              <p:cNvPr id="92189" name="Line 53"/>
              <p:cNvSpPr>
                <a:spLocks noChangeShapeType="1"/>
              </p:cNvSpPr>
              <p:nvPr/>
            </p:nvSpPr>
            <p:spPr bwMode="auto">
              <a:xfrm flipV="1">
                <a:off x="432" y="270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2179" name="Group 54"/>
            <p:cNvGrpSpPr>
              <a:grpSpLocks/>
            </p:cNvGrpSpPr>
            <p:nvPr/>
          </p:nvGrpSpPr>
          <p:grpSpPr bwMode="auto">
            <a:xfrm>
              <a:off x="5136" y="2427"/>
              <a:ext cx="396" cy="741"/>
              <a:chOff x="240" y="2448"/>
              <a:chExt cx="396" cy="741"/>
            </a:xfrm>
          </p:grpSpPr>
          <p:sp>
            <p:nvSpPr>
              <p:cNvPr id="92184" name="Text Box 55"/>
              <p:cNvSpPr txBox="1">
                <a:spLocks noChangeArrowheads="1"/>
              </p:cNvSpPr>
              <p:nvPr/>
            </p:nvSpPr>
            <p:spPr bwMode="auto">
              <a:xfrm>
                <a:off x="240" y="244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E</a:t>
                </a:r>
              </a:p>
            </p:txBody>
          </p:sp>
          <p:sp>
            <p:nvSpPr>
              <p:cNvPr id="92185" name="Text Box 56"/>
              <p:cNvSpPr txBox="1">
                <a:spLocks noChangeArrowheads="1"/>
              </p:cNvSpPr>
              <p:nvPr/>
            </p:nvSpPr>
            <p:spPr bwMode="auto">
              <a:xfrm>
                <a:off x="252" y="286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a</a:t>
                </a:r>
              </a:p>
            </p:txBody>
          </p:sp>
          <p:sp>
            <p:nvSpPr>
              <p:cNvPr id="92186" name="Line 57"/>
              <p:cNvSpPr>
                <a:spLocks noChangeShapeType="1"/>
              </p:cNvSpPr>
              <p:nvPr/>
            </p:nvSpPr>
            <p:spPr bwMode="auto">
              <a:xfrm flipV="1">
                <a:off x="432" y="270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2180" name="Line 58"/>
            <p:cNvSpPr>
              <a:spLocks noChangeShapeType="1"/>
            </p:cNvSpPr>
            <p:nvPr/>
          </p:nvSpPr>
          <p:spPr bwMode="auto">
            <a:xfrm flipH="1">
              <a:off x="4608" y="2208"/>
              <a:ext cx="288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181" name="Line 59"/>
            <p:cNvSpPr>
              <a:spLocks noChangeShapeType="1"/>
            </p:cNvSpPr>
            <p:nvPr/>
          </p:nvSpPr>
          <p:spPr bwMode="auto">
            <a:xfrm flipH="1">
              <a:off x="4176" y="1755"/>
              <a:ext cx="288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182" name="Line 60"/>
            <p:cNvSpPr>
              <a:spLocks noChangeShapeType="1"/>
            </p:cNvSpPr>
            <p:nvPr/>
          </p:nvSpPr>
          <p:spPr bwMode="auto">
            <a:xfrm flipH="1" flipV="1">
              <a:off x="4992" y="2208"/>
              <a:ext cx="288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183" name="Line 61"/>
            <p:cNvSpPr>
              <a:spLocks noChangeShapeType="1"/>
            </p:cNvSpPr>
            <p:nvPr/>
          </p:nvSpPr>
          <p:spPr bwMode="auto">
            <a:xfrm flipH="1" flipV="1">
              <a:off x="4560" y="1755"/>
              <a:ext cx="288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98176" name="Text Box 64"/>
          <p:cNvSpPr txBox="1">
            <a:spLocks noChangeArrowheads="1"/>
          </p:cNvSpPr>
          <p:nvPr/>
        </p:nvSpPr>
        <p:spPr bwMode="auto">
          <a:xfrm>
            <a:off x="2590800" y="2133600"/>
            <a:ext cx="6248400" cy="85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Thay thế các biến </a:t>
            </a:r>
            <a:r>
              <a:rPr lang="en-US" altLang="en-US" sz="2400">
                <a:solidFill>
                  <a:srgbClr val="A7010D"/>
                </a:solidFill>
              </a:rPr>
              <a:t>trái nhất</a:t>
            </a:r>
            <a:r>
              <a:rPr lang="en-US" altLang="en-US" sz="2400" b="0"/>
              <a:t>: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2400" b="0"/>
              <a:t>E</a:t>
            </a:r>
            <a:r>
              <a:rPr lang="en-US" altLang="en-US" sz="2400" b="0">
                <a:sym typeface="Symbol" panose="05050102010706020507" pitchFamily="18" charset="2"/>
              </a:rPr>
              <a:t>E*E E+E*E a+E*E a+a*E a+a*a</a:t>
            </a:r>
          </a:p>
        </p:txBody>
      </p:sp>
      <p:sp>
        <p:nvSpPr>
          <p:cNvPr id="1498177" name="Text Box 65"/>
          <p:cNvSpPr txBox="1">
            <a:spLocks noChangeArrowheads="1"/>
          </p:cNvSpPr>
          <p:nvPr/>
        </p:nvSpPr>
        <p:spPr bwMode="auto">
          <a:xfrm>
            <a:off x="2743200" y="3179763"/>
            <a:ext cx="62484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Thay thế các biến </a:t>
            </a:r>
            <a:r>
              <a:rPr lang="en-US" altLang="en-US" sz="2400">
                <a:solidFill>
                  <a:srgbClr val="A7010D"/>
                </a:solidFill>
              </a:rPr>
              <a:t>phải nhất</a:t>
            </a:r>
            <a:r>
              <a:rPr lang="en-US" altLang="en-US" sz="2400" b="0"/>
              <a:t>: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2400" b="0"/>
              <a:t>E</a:t>
            </a:r>
            <a:r>
              <a:rPr lang="en-US" altLang="en-US" sz="2400" b="0">
                <a:sym typeface="Symbol" panose="05050102010706020507" pitchFamily="18" charset="2"/>
              </a:rPr>
              <a:t>E*E E*a E+E*a E+a*a a+a*a</a:t>
            </a:r>
          </a:p>
        </p:txBody>
      </p:sp>
      <p:sp>
        <p:nvSpPr>
          <p:cNvPr id="1498178" name="Text Box 66"/>
          <p:cNvSpPr txBox="1">
            <a:spLocks noChangeArrowheads="1"/>
          </p:cNvSpPr>
          <p:nvPr/>
        </p:nvSpPr>
        <p:spPr bwMode="auto">
          <a:xfrm>
            <a:off x="457200" y="4876800"/>
            <a:ext cx="6248400" cy="85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Thay thế các biến </a:t>
            </a:r>
            <a:r>
              <a:rPr lang="en-US" altLang="en-US" sz="2400">
                <a:solidFill>
                  <a:srgbClr val="A7010D"/>
                </a:solidFill>
              </a:rPr>
              <a:t>trái nhất</a:t>
            </a:r>
            <a:r>
              <a:rPr lang="en-US" altLang="en-US" sz="2400" b="0"/>
              <a:t>: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2400" b="0"/>
              <a:t>E</a:t>
            </a:r>
            <a:r>
              <a:rPr lang="en-US" altLang="en-US" sz="2400" b="0">
                <a:sym typeface="Symbol" panose="05050102010706020507" pitchFamily="18" charset="2"/>
              </a:rPr>
              <a:t>E+Ea+Ea+E*E</a:t>
            </a:r>
            <a:r>
              <a:rPr lang="en-US" altLang="en-US" sz="2400" b="0">
                <a:solidFill>
                  <a:schemeClr val="tx1"/>
                </a:solidFill>
                <a:sym typeface="Symbol" panose="05050102010706020507" pitchFamily="18" charset="2"/>
              </a:rPr>
              <a:t>a+a*E</a:t>
            </a:r>
            <a:r>
              <a:rPr lang="en-US" altLang="en-US" sz="2400" b="0">
                <a:sym typeface="Symbol" panose="05050102010706020507" pitchFamily="18" charset="2"/>
              </a:rPr>
              <a:t>a+a*a</a:t>
            </a:r>
          </a:p>
        </p:txBody>
      </p:sp>
      <p:sp>
        <p:nvSpPr>
          <p:cNvPr id="1498179" name="Text Box 67"/>
          <p:cNvSpPr txBox="1">
            <a:spLocks noChangeArrowheads="1"/>
          </p:cNvSpPr>
          <p:nvPr/>
        </p:nvSpPr>
        <p:spPr bwMode="auto">
          <a:xfrm>
            <a:off x="533400" y="5846763"/>
            <a:ext cx="6248400" cy="85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Thay thế các biến </a:t>
            </a:r>
            <a:r>
              <a:rPr lang="en-US" altLang="en-US" sz="2400">
                <a:solidFill>
                  <a:srgbClr val="A7010D"/>
                </a:solidFill>
              </a:rPr>
              <a:t>phải nhất</a:t>
            </a:r>
            <a:r>
              <a:rPr lang="en-US" altLang="en-US" sz="2400" b="0"/>
              <a:t>: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en-US" sz="2400" b="0"/>
              <a:t>E</a:t>
            </a:r>
            <a:r>
              <a:rPr lang="en-US" altLang="en-US" sz="2400" b="0">
                <a:sym typeface="Symbol" panose="05050102010706020507" pitchFamily="18" charset="2"/>
              </a:rPr>
              <a:t>E+E E+E*E E+E*a E+a*a a+a*a</a:t>
            </a:r>
          </a:p>
        </p:txBody>
      </p:sp>
      <p:sp>
        <p:nvSpPr>
          <p:cNvPr id="1498180" name="AutoShape 68"/>
          <p:cNvSpPr>
            <a:spLocks noChangeArrowheads="1"/>
          </p:cNvSpPr>
          <p:nvPr/>
        </p:nvSpPr>
        <p:spPr bwMode="auto">
          <a:xfrm rot="1033811">
            <a:off x="2308225" y="4194175"/>
            <a:ext cx="4267200" cy="717550"/>
          </a:xfrm>
          <a:prstGeom prst="leftRightArrow">
            <a:avLst>
              <a:gd name="adj1" fmla="val 44676"/>
              <a:gd name="adj2" fmla="val 13033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0">
                <a:solidFill>
                  <a:srgbClr val="E46B20"/>
                </a:solidFill>
              </a:rPr>
              <a:t>Khác nhau?</a:t>
            </a:r>
          </a:p>
        </p:txBody>
      </p:sp>
      <p:sp>
        <p:nvSpPr>
          <p:cNvPr id="92174" name="Text Box 69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5. Văn phạm phi ngữ cảnh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98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149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98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98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498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98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498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498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43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4" dur="100" decel="5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9817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5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9817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6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498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98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98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981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9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8175" grpId="0" animBg="1"/>
      <p:bldP spid="1498144" grpId="0" animBg="1"/>
      <p:bldP spid="1498176" grpId="0"/>
      <p:bldP spid="1498177" grpId="0"/>
      <p:bldP spid="1498178" grpId="0"/>
      <p:bldP spid="1498179" grpId="0"/>
      <p:bldP spid="1498180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79814A-E24D-4CF9-832C-AD758E941843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92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931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Suy dẫn trái</a:t>
            </a:r>
          </a:p>
        </p:txBody>
      </p:sp>
      <p:sp>
        <p:nvSpPr>
          <p:cNvPr id="150016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09538" y="776288"/>
            <a:ext cx="8805862" cy="5983287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F85124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1775" indent="-231775" eaLnBrk="1" hangingPunct="1">
              <a:lnSpc>
                <a:spcPct val="110000"/>
              </a:lnSpc>
              <a:buFontTx/>
              <a:buNone/>
            </a:pPr>
            <a:r>
              <a:rPr lang="en-US" altLang="en-US" sz="2800"/>
              <a:t>Cho văn phạm  G = (V</a:t>
            </a:r>
            <a:r>
              <a:rPr lang="en-US" altLang="en-US" sz="2800" baseline="-25000"/>
              <a:t>T</a:t>
            </a:r>
            <a:r>
              <a:rPr lang="en-US" altLang="en-US" sz="2800"/>
              <a:t>, V</a:t>
            </a:r>
            <a:r>
              <a:rPr lang="en-US" altLang="en-US" sz="2800" baseline="-25000"/>
              <a:t>N</a:t>
            </a:r>
            <a:r>
              <a:rPr lang="en-US" altLang="en-US" sz="2800"/>
              <a:t>,  P,  S)</a:t>
            </a:r>
          </a:p>
          <a:p>
            <a:pPr marL="231775" indent="-231775" eaLnBrk="1" hangingPunct="1">
              <a:lnSpc>
                <a:spcPct val="110000"/>
              </a:lnSpc>
            </a:pPr>
            <a:r>
              <a:rPr lang="en-US" altLang="en-US" sz="2800"/>
              <a:t>Gọi </a:t>
            </a:r>
            <a:r>
              <a:rPr lang="el-GR" altLang="en-US" sz="2800" b="1">
                <a:solidFill>
                  <a:srgbClr val="DF3507"/>
                </a:solidFill>
                <a:cs typeface="Arial" panose="020B0604020202020204" pitchFamily="34" charset="0"/>
              </a:rPr>
              <a:t>δ</a:t>
            </a:r>
            <a:r>
              <a:rPr lang="en-US" altLang="en-US" sz="2800"/>
              <a:t> được suy dẫn </a:t>
            </a:r>
            <a:r>
              <a:rPr lang="en-US" altLang="en-US" sz="2800" i="1">
                <a:solidFill>
                  <a:srgbClr val="4100C4"/>
                </a:solidFill>
              </a:rPr>
              <a:t>trực tiếp</a:t>
            </a:r>
            <a:r>
              <a:rPr lang="en-US" altLang="en-US" sz="2800"/>
              <a:t> ra từ bên </a:t>
            </a:r>
            <a:r>
              <a:rPr lang="en-US" altLang="en-US" sz="2800">
                <a:solidFill>
                  <a:srgbClr val="E46B20"/>
                </a:solidFill>
              </a:rPr>
              <a:t>trái</a:t>
            </a:r>
            <a:r>
              <a:rPr lang="en-US" altLang="en-US" sz="2800"/>
              <a:t> của  </a:t>
            </a:r>
            <a:r>
              <a:rPr lang="el-GR" altLang="en-US" sz="2800" b="1">
                <a:solidFill>
                  <a:srgbClr val="DF3507"/>
                </a:solidFill>
                <a:cs typeface="Arial" panose="020B0604020202020204" pitchFamily="34" charset="0"/>
              </a:rPr>
              <a:t>γ</a:t>
            </a:r>
            <a:r>
              <a:rPr lang="en-US" altLang="en-US" sz="2800">
                <a:cs typeface="Arial" panose="020B0604020202020204" pitchFamily="34" charset="0"/>
              </a:rPr>
              <a:t>, và được ký kiệu </a:t>
            </a:r>
            <a:r>
              <a:rPr lang="el-GR" altLang="en-US" sz="2800">
                <a:solidFill>
                  <a:srgbClr val="F85124"/>
                </a:solidFill>
                <a:cs typeface="Arial" panose="020B0604020202020204" pitchFamily="34" charset="0"/>
              </a:rPr>
              <a:t>γ</a:t>
            </a:r>
            <a:r>
              <a:rPr lang="en-US" altLang="en-US" sz="2800">
                <a:solidFill>
                  <a:srgbClr val="F85124"/>
                </a:solidFill>
                <a:cs typeface="Arial" panose="020B0604020202020204" pitchFamily="34" charset="0"/>
              </a:rPr>
              <a:t> </a:t>
            </a:r>
            <a:r>
              <a:rPr lang="el-GR" altLang="en-US" sz="2800">
                <a:solidFill>
                  <a:srgbClr val="F8512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fr-FR" altLang="en-US" sz="2800" baseline="-25000">
                <a:solidFill>
                  <a:srgbClr val="F8512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 sz="2800">
                <a:solidFill>
                  <a:srgbClr val="F85124"/>
                </a:solidFill>
                <a:cs typeface="Arial" panose="020B0604020202020204" pitchFamily="34" charset="0"/>
              </a:rPr>
              <a:t> </a:t>
            </a:r>
            <a:r>
              <a:rPr lang="el-GR" altLang="en-US" sz="2800">
                <a:solidFill>
                  <a:srgbClr val="F85124"/>
                </a:solidFill>
                <a:cs typeface="Arial" panose="020B0604020202020204" pitchFamily="34" charset="0"/>
              </a:rPr>
              <a:t>δ</a:t>
            </a:r>
            <a:r>
              <a:rPr lang="en-US" altLang="en-US" sz="2800"/>
              <a:t> </a:t>
            </a:r>
            <a:r>
              <a:rPr lang="en-US" altLang="en-US" sz="2800">
                <a:cs typeface="Arial" panose="020B0604020202020204" pitchFamily="34" charset="0"/>
              </a:rPr>
              <a:t>nếu tồn tại các xâu </a:t>
            </a:r>
            <a:r>
              <a:rPr lang="en-US" altLang="en-US" sz="2800">
                <a:solidFill>
                  <a:srgbClr val="E46B20"/>
                </a:solidFill>
                <a:cs typeface="Arial" panose="020B0604020202020204" pitchFamily="34" charset="0"/>
              </a:rPr>
              <a:t>x</a:t>
            </a:r>
            <a:r>
              <a:rPr lang="en-US" altLang="en-US" sz="2800">
                <a:cs typeface="Arial" panose="020B0604020202020204" pitchFamily="34" charset="0"/>
              </a:rPr>
              <a:t>,</a:t>
            </a:r>
            <a:r>
              <a:rPr lang="en-US" altLang="en-US" sz="2800">
                <a:solidFill>
                  <a:srgbClr val="E46B20"/>
                </a:solidFill>
                <a:cs typeface="Arial" panose="020B0604020202020204" pitchFamily="34" charset="0"/>
              </a:rPr>
              <a:t> </a:t>
            </a:r>
            <a:r>
              <a:rPr lang="el-GR" altLang="en-US" sz="2800">
                <a:solidFill>
                  <a:srgbClr val="E46B20"/>
                </a:solidFill>
                <a:cs typeface="Arial" panose="020B0604020202020204" pitchFamily="34" charset="0"/>
              </a:rPr>
              <a:t>α</a:t>
            </a:r>
            <a:r>
              <a:rPr lang="en-US" altLang="en-US" sz="2800">
                <a:cs typeface="Arial" panose="020B0604020202020204" pitchFamily="34" charset="0"/>
              </a:rPr>
              <a:t>,</a:t>
            </a:r>
            <a:r>
              <a:rPr lang="en-US" altLang="en-US" sz="2800">
                <a:solidFill>
                  <a:srgbClr val="E46B20"/>
                </a:solidFill>
                <a:cs typeface="Arial" panose="020B0604020202020204" pitchFamily="34" charset="0"/>
              </a:rPr>
              <a:t> </a:t>
            </a:r>
            <a:r>
              <a:rPr lang="el-GR" altLang="en-US" sz="2800">
                <a:solidFill>
                  <a:srgbClr val="E46B20"/>
                </a:solidFill>
                <a:cs typeface="Arial" panose="020B0604020202020204" pitchFamily="34" charset="0"/>
              </a:rPr>
              <a:t>β</a:t>
            </a:r>
            <a:r>
              <a:rPr lang="en-US" altLang="en-US" sz="2800">
                <a:solidFill>
                  <a:srgbClr val="F85124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>
                <a:cs typeface="Arial" panose="020B0604020202020204" pitchFamily="34" charset="0"/>
              </a:rPr>
              <a:t>thỏa mãn các điều kiện</a:t>
            </a:r>
          </a:p>
          <a:p>
            <a:pPr marL="623888" lvl="1" indent="-277813" eaLnBrk="1" hangingPunct="1">
              <a:spcBef>
                <a:spcPct val="10000"/>
              </a:spcBef>
            </a:pPr>
            <a:r>
              <a:rPr lang="en-US" altLang="en-US" sz="2400"/>
              <a:t> </a:t>
            </a:r>
            <a:r>
              <a:rPr lang="el-GR" altLang="en-US">
                <a:solidFill>
                  <a:srgbClr val="4100C4"/>
                </a:solidFill>
                <a:cs typeface="Arial" panose="020B0604020202020204" pitchFamily="34" charset="0"/>
              </a:rPr>
              <a:t>γ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</a:rPr>
              <a:t> = x</a:t>
            </a:r>
            <a:r>
              <a:rPr lang="en-US" altLang="en-US" b="1">
                <a:solidFill>
                  <a:srgbClr val="4100C4"/>
                </a:solidFill>
                <a:cs typeface="Arial" panose="020B0604020202020204" pitchFamily="34" charset="0"/>
              </a:rPr>
              <a:t>A</a:t>
            </a:r>
            <a:r>
              <a:rPr lang="el-GR" altLang="en-US">
                <a:solidFill>
                  <a:srgbClr val="4100C4"/>
                </a:solidFill>
                <a:cs typeface="Arial" panose="020B0604020202020204" pitchFamily="34" charset="0"/>
              </a:rPr>
              <a:t>α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</a:rPr>
              <a:t> </a:t>
            </a:r>
            <a:r>
              <a:rPr lang="el-GR" altLang="en-US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</a:rPr>
              <a:t> x</a:t>
            </a:r>
            <a:r>
              <a:rPr lang="el-GR" altLang="en-US" b="1">
                <a:solidFill>
                  <a:srgbClr val="4100C4"/>
                </a:solidFill>
                <a:cs typeface="Arial" panose="020B0604020202020204" pitchFamily="34" charset="0"/>
              </a:rPr>
              <a:t>β</a:t>
            </a:r>
            <a:r>
              <a:rPr lang="el-GR" altLang="en-US">
                <a:solidFill>
                  <a:srgbClr val="4100C4"/>
                </a:solidFill>
                <a:cs typeface="Arial" panose="020B0604020202020204" pitchFamily="34" charset="0"/>
              </a:rPr>
              <a:t>α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</a:rPr>
              <a:t> = </a:t>
            </a:r>
            <a:r>
              <a:rPr lang="el-GR" altLang="en-US">
                <a:solidFill>
                  <a:srgbClr val="4100C4"/>
                </a:solidFill>
                <a:cs typeface="Arial" panose="020B0604020202020204" pitchFamily="34" charset="0"/>
              </a:rPr>
              <a:t>δ</a:t>
            </a:r>
            <a:r>
              <a:rPr lang="en-US" altLang="en-US"/>
              <a:t> </a:t>
            </a:r>
            <a:endParaRPr lang="en-US" altLang="en-US">
              <a:solidFill>
                <a:srgbClr val="F85124"/>
              </a:solidFill>
              <a:cs typeface="Arial" panose="020B0604020202020204" pitchFamily="34" charset="0"/>
            </a:endParaRPr>
          </a:p>
          <a:p>
            <a:pPr marL="623888" lvl="1" indent="-277813" eaLnBrk="1" hangingPunct="1">
              <a:spcBef>
                <a:spcPct val="10000"/>
              </a:spcBef>
            </a:pPr>
            <a:r>
              <a:rPr lang="en-US" altLang="en-US" b="1">
                <a:solidFill>
                  <a:srgbClr val="DF3507"/>
                </a:solidFill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</a:rPr>
              <a:t>A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l-GR" altLang="en-US">
                <a:solidFill>
                  <a:srgbClr val="4100C4"/>
                </a:solidFill>
                <a:cs typeface="Arial" panose="020B0604020202020204" pitchFamily="34" charset="0"/>
              </a:rPr>
              <a:t>β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P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, và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 marL="623888" lvl="1" indent="-277813" eaLnBrk="1" hangingPunct="1">
              <a:spcBef>
                <a:spcPct val="10000"/>
              </a:spcBef>
            </a:pPr>
            <a:r>
              <a:rPr lang="el-GR" altLang="en-US">
                <a:solidFill>
                  <a:srgbClr val="4100C4"/>
                </a:solidFill>
                <a:cs typeface="Arial" panose="020B0604020202020204" pitchFamily="34" charset="0"/>
              </a:rPr>
              <a:t>α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</a:rPr>
              <a:t>, </a:t>
            </a:r>
            <a:r>
              <a:rPr lang="el-GR" altLang="en-US">
                <a:solidFill>
                  <a:srgbClr val="4100C4"/>
                </a:solidFill>
                <a:cs typeface="Arial" panose="020B0604020202020204" pitchFamily="34" charset="0"/>
              </a:rPr>
              <a:t>β 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V</a:t>
            </a:r>
            <a:r>
              <a:rPr lang="en-US" altLang="en-US" baseline="30000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</a:rPr>
              <a:t>, x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V</a:t>
            </a:r>
            <a:r>
              <a:rPr lang="en-US" altLang="en-US" baseline="-25000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en-US" baseline="30000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endParaRPr lang="en-US" altLang="en-US" baseline="30000">
              <a:solidFill>
                <a:srgbClr val="4100C4"/>
              </a:solidFill>
              <a:sym typeface="Symbol" panose="05050102010706020507" pitchFamily="18" charset="2"/>
            </a:endParaRPr>
          </a:p>
          <a:p>
            <a:pPr marL="231775" indent="-231775" eaLnBrk="1" hangingPunct="1">
              <a:lnSpc>
                <a:spcPct val="110000"/>
              </a:lnSpc>
            </a:pPr>
            <a:r>
              <a:rPr lang="en-US" altLang="en-US" sz="2800"/>
              <a:t>Gọi </a:t>
            </a:r>
            <a:r>
              <a:rPr lang="el-GR" altLang="en-US" sz="2800" b="1">
                <a:solidFill>
                  <a:srgbClr val="DF3507"/>
                </a:solidFill>
                <a:cs typeface="Arial" panose="020B0604020202020204" pitchFamily="34" charset="0"/>
              </a:rPr>
              <a:t>δ</a:t>
            </a:r>
            <a:r>
              <a:rPr lang="en-US" altLang="en-US" sz="2800"/>
              <a:t> được suy dẫn ra từ bên trái của  </a:t>
            </a:r>
            <a:r>
              <a:rPr lang="el-GR" altLang="en-US" sz="2800" b="1">
                <a:solidFill>
                  <a:srgbClr val="DF3507"/>
                </a:solidFill>
                <a:cs typeface="Arial" panose="020B0604020202020204" pitchFamily="34" charset="0"/>
              </a:rPr>
              <a:t>γ</a:t>
            </a:r>
            <a:r>
              <a:rPr lang="en-US" altLang="en-US" sz="2800">
                <a:cs typeface="Arial" panose="020B0604020202020204" pitchFamily="34" charset="0"/>
              </a:rPr>
              <a:t> nếu tồn tại dãy các xâu </a:t>
            </a:r>
            <a:r>
              <a:rPr lang="el-GR" altLang="en-US" sz="2800">
                <a:solidFill>
                  <a:srgbClr val="DF3507"/>
                </a:solidFill>
                <a:cs typeface="Arial" panose="020B0604020202020204" pitchFamily="34" charset="0"/>
              </a:rPr>
              <a:t>α</a:t>
            </a:r>
            <a:r>
              <a:rPr lang="en-US" altLang="en-US" sz="2800" baseline="-25000">
                <a:solidFill>
                  <a:srgbClr val="DF3507"/>
                </a:solidFill>
                <a:cs typeface="Arial" panose="020B0604020202020204" pitchFamily="34" charset="0"/>
              </a:rPr>
              <a:t>0</a:t>
            </a:r>
            <a:r>
              <a:rPr lang="en-US" altLang="en-US" sz="2800">
                <a:cs typeface="Arial" panose="020B0604020202020204" pitchFamily="34" charset="0"/>
              </a:rPr>
              <a:t>, </a:t>
            </a:r>
            <a:r>
              <a:rPr lang="el-GR" altLang="en-US" sz="2800">
                <a:solidFill>
                  <a:srgbClr val="DF3507"/>
                </a:solidFill>
                <a:cs typeface="Arial" panose="020B0604020202020204" pitchFamily="34" charset="0"/>
              </a:rPr>
              <a:t>α</a:t>
            </a:r>
            <a:r>
              <a:rPr lang="en-US" altLang="en-US" sz="2800" baseline="-25000">
                <a:solidFill>
                  <a:srgbClr val="DF3507"/>
                </a:solidFill>
                <a:cs typeface="Arial" panose="020B0604020202020204" pitchFamily="34" charset="0"/>
              </a:rPr>
              <a:t>1</a:t>
            </a:r>
            <a:r>
              <a:rPr lang="en-US" altLang="en-US" sz="2800">
                <a:cs typeface="Arial" panose="020B0604020202020204" pitchFamily="34" charset="0"/>
              </a:rPr>
              <a:t>, </a:t>
            </a:r>
            <a:r>
              <a:rPr lang="el-GR" altLang="en-US" sz="2800">
                <a:solidFill>
                  <a:srgbClr val="DF3507"/>
                </a:solidFill>
                <a:cs typeface="Arial" panose="020B0604020202020204" pitchFamily="34" charset="0"/>
              </a:rPr>
              <a:t>α</a:t>
            </a:r>
            <a:r>
              <a:rPr lang="en-US" altLang="en-US" sz="2800" baseline="-25000">
                <a:solidFill>
                  <a:srgbClr val="DF3507"/>
                </a:solidFill>
                <a:cs typeface="Arial" panose="020B0604020202020204" pitchFamily="34" charset="0"/>
              </a:rPr>
              <a:t>2</a:t>
            </a:r>
            <a:r>
              <a:rPr lang="en-US" altLang="en-US" sz="2800">
                <a:cs typeface="Arial" panose="020B0604020202020204" pitchFamily="34" charset="0"/>
              </a:rPr>
              <a:t>,…,</a:t>
            </a:r>
            <a:r>
              <a:rPr lang="el-GR" altLang="en-US" sz="2800">
                <a:solidFill>
                  <a:srgbClr val="DF3507"/>
                </a:solidFill>
                <a:cs typeface="Arial" panose="020B0604020202020204" pitchFamily="34" charset="0"/>
              </a:rPr>
              <a:t>α</a:t>
            </a:r>
            <a:r>
              <a:rPr lang="en-US" altLang="en-US" sz="2800" baseline="-25000">
                <a:solidFill>
                  <a:srgbClr val="DF3507"/>
                </a:solidFill>
                <a:cs typeface="Arial" panose="020B0604020202020204" pitchFamily="34" charset="0"/>
              </a:rPr>
              <a:t>n</a:t>
            </a:r>
            <a:r>
              <a:rPr lang="en-US" altLang="en-US" sz="2800">
                <a:cs typeface="Arial" panose="020B0604020202020204" pitchFamily="34" charset="0"/>
              </a:rPr>
              <a:t> thỏa mãn </a:t>
            </a:r>
          </a:p>
          <a:p>
            <a:pPr marL="231775" indent="-231775" eaLnBrk="1" hangingPunct="1">
              <a:lnSpc>
                <a:spcPct val="110000"/>
              </a:lnSpc>
              <a:buFontTx/>
              <a:buNone/>
            </a:pPr>
            <a:r>
              <a:rPr lang="en-US" altLang="en-US" sz="2800">
                <a:cs typeface="Arial" panose="020B0604020202020204" pitchFamily="34" charset="0"/>
              </a:rPr>
              <a:t>		</a:t>
            </a:r>
            <a:r>
              <a:rPr lang="el-GR" altLang="en-US" sz="2800">
                <a:cs typeface="Arial" panose="020B0604020202020204" pitchFamily="34" charset="0"/>
              </a:rPr>
              <a:t>γ 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= </a:t>
            </a:r>
            <a:r>
              <a:rPr lang="el-GR" altLang="en-US" sz="2800">
                <a:cs typeface="Arial" panose="020B0604020202020204" pitchFamily="34" charset="0"/>
              </a:rPr>
              <a:t>α</a:t>
            </a:r>
            <a:r>
              <a:rPr lang="en-US" altLang="en-US" sz="2800" baseline="-25000">
                <a:cs typeface="Arial" panose="020B0604020202020204" pitchFamily="34" charset="0"/>
              </a:rPr>
              <a:t>0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800" baseline="-25000"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sz="2800">
                <a:cs typeface="Arial" panose="020B0604020202020204" pitchFamily="34" charset="0"/>
              </a:rPr>
              <a:t>α</a:t>
            </a:r>
            <a:r>
              <a:rPr lang="en-US" altLang="en-US" sz="2800" baseline="-25000">
                <a:cs typeface="Arial" panose="020B0604020202020204" pitchFamily="34" charset="0"/>
              </a:rPr>
              <a:t>1</a:t>
            </a:r>
            <a:r>
              <a:rPr lang="el-GR" altLang="en-US" sz="2800">
                <a:cs typeface="Arial" panose="020B0604020202020204" pitchFamily="34" charset="0"/>
              </a:rPr>
              <a:t>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800" baseline="-25000"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sz="2800">
                <a:cs typeface="Arial" panose="020B0604020202020204" pitchFamily="34" charset="0"/>
              </a:rPr>
              <a:t>α</a:t>
            </a:r>
            <a:r>
              <a:rPr lang="en-US" altLang="en-US" sz="2800" baseline="-25000">
                <a:cs typeface="Arial" panose="020B0604020202020204" pitchFamily="34" charset="0"/>
              </a:rPr>
              <a:t>2</a:t>
            </a:r>
            <a:r>
              <a:rPr lang="el-GR" altLang="en-US" sz="2800">
                <a:cs typeface="Arial" panose="020B0604020202020204" pitchFamily="34" charset="0"/>
              </a:rPr>
              <a:t>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800" baseline="-25000"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 ….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 </a:t>
            </a:r>
            <a:r>
              <a:rPr lang="en-US" altLang="en-US" sz="2800" baseline="-25000"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sz="2800">
                <a:cs typeface="Arial" panose="020B0604020202020204" pitchFamily="34" charset="0"/>
              </a:rPr>
              <a:t>α</a:t>
            </a:r>
            <a:r>
              <a:rPr lang="en-US" altLang="en-US" sz="2800" baseline="-25000">
                <a:cs typeface="Arial" panose="020B0604020202020204" pitchFamily="34" charset="0"/>
              </a:rPr>
              <a:t>n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= </a:t>
            </a:r>
            <a:r>
              <a:rPr lang="el-GR" altLang="en-US" sz="2800">
                <a:cs typeface="Arial" panose="020B0604020202020204" pitchFamily="34" charset="0"/>
              </a:rPr>
              <a:t>δ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</a:p>
          <a:p>
            <a:pPr marL="623888" lvl="1" indent="-277813" eaLnBrk="1" hangingPunct="1">
              <a:lnSpc>
                <a:spcPct val="110000"/>
              </a:lnSpc>
            </a:pPr>
            <a:r>
              <a:rPr lang="en-US" altLang="en-US" sz="2400">
                <a:cs typeface="Arial" panose="020B0604020202020204" pitchFamily="34" charset="0"/>
              </a:rPr>
              <a:t>Nếu n 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</a:t>
            </a:r>
            <a:r>
              <a:rPr lang="en-US" altLang="en-US" sz="2400">
                <a:cs typeface="Arial" panose="020B0604020202020204" pitchFamily="34" charset="0"/>
              </a:rPr>
              <a:t> 1, dùng ít nhất một suy dẫn,   ký hiệu: </a:t>
            </a:r>
            <a:r>
              <a:rPr lang="el-GR" altLang="en-US" sz="2400" b="1">
                <a:solidFill>
                  <a:srgbClr val="DF3507"/>
                </a:solidFill>
                <a:cs typeface="Arial" panose="020B0604020202020204" pitchFamily="34" charset="0"/>
              </a:rPr>
              <a:t>γ</a:t>
            </a:r>
            <a:r>
              <a:rPr lang="en-US" altLang="en-US" sz="2400" b="1">
                <a:solidFill>
                  <a:srgbClr val="DF3507"/>
                </a:solidFill>
                <a:cs typeface="Arial" panose="020B0604020202020204" pitchFamily="34" charset="0"/>
              </a:rPr>
              <a:t> </a:t>
            </a:r>
            <a:r>
              <a:rPr lang="el-GR" altLang="en-US" sz="2400" b="1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400" b="1" baseline="-25000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 sz="2400" b="1" baseline="30000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2400" b="1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sz="2400" b="1">
                <a:solidFill>
                  <a:srgbClr val="DF3507"/>
                </a:solidFill>
                <a:cs typeface="Arial" panose="020B0604020202020204" pitchFamily="34" charset="0"/>
              </a:rPr>
              <a:t>δ</a:t>
            </a:r>
            <a:endParaRPr lang="en-US" altLang="en-US" sz="2400" b="1">
              <a:solidFill>
                <a:srgbClr val="DF3507"/>
              </a:solidFill>
              <a:cs typeface="Arial" panose="020B0604020202020204" pitchFamily="34" charset="0"/>
            </a:endParaRPr>
          </a:p>
          <a:p>
            <a:pPr marL="623888" lvl="1" indent="-277813" eaLnBrk="1" hangingPunct="1">
              <a:lnSpc>
                <a:spcPct val="110000"/>
              </a:lnSpc>
            </a:pPr>
            <a:r>
              <a:rPr lang="en-US" altLang="en-US" sz="2400">
                <a:cs typeface="Arial" panose="020B0604020202020204" pitchFamily="34" charset="0"/>
              </a:rPr>
              <a:t>Nếu n 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 0, </a:t>
            </a:r>
            <a:r>
              <a:rPr lang="en-US" altLang="en-US" sz="2400">
                <a:cs typeface="Arial" panose="020B0604020202020204" pitchFamily="34" charset="0"/>
              </a:rPr>
              <a:t>có thể không suy dẫn nào, ký hiệu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l-GR" altLang="en-US" sz="2400" b="1">
                <a:solidFill>
                  <a:srgbClr val="DF3507"/>
                </a:solidFill>
                <a:cs typeface="Arial" panose="020B0604020202020204" pitchFamily="34" charset="0"/>
              </a:rPr>
              <a:t>γ</a:t>
            </a:r>
            <a:r>
              <a:rPr lang="en-US" altLang="en-US" sz="2400" b="1">
                <a:solidFill>
                  <a:srgbClr val="DF3507"/>
                </a:solidFill>
                <a:cs typeface="Arial" panose="020B0604020202020204" pitchFamily="34" charset="0"/>
              </a:rPr>
              <a:t> </a:t>
            </a:r>
            <a:r>
              <a:rPr lang="el-GR" altLang="en-US" sz="2400" b="1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400" b="1" baseline="-25000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L</a:t>
            </a:r>
            <a:r>
              <a:rPr lang="en-US" altLang="en-US" sz="2400" b="1" baseline="30000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 sz="2400" b="1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sz="2400" b="1">
                <a:solidFill>
                  <a:srgbClr val="DF3507"/>
                </a:solidFill>
                <a:cs typeface="Arial" panose="020B0604020202020204" pitchFamily="34" charset="0"/>
              </a:rPr>
              <a:t>δ</a:t>
            </a:r>
            <a:endParaRPr lang="en-US" altLang="en-US" sz="2400" b="1">
              <a:solidFill>
                <a:srgbClr val="DF3507"/>
              </a:solidFill>
              <a:cs typeface="Arial" panose="020B0604020202020204" pitchFamily="34" charset="0"/>
            </a:endParaRPr>
          </a:p>
        </p:txBody>
      </p:sp>
      <p:grpSp>
        <p:nvGrpSpPr>
          <p:cNvPr id="1500167" name="Group 7"/>
          <p:cNvGrpSpPr>
            <a:grpSpLocks/>
          </p:cNvGrpSpPr>
          <p:nvPr/>
        </p:nvGrpSpPr>
        <p:grpSpPr bwMode="auto">
          <a:xfrm>
            <a:off x="3962400" y="2876550"/>
            <a:ext cx="5080000" cy="1371600"/>
            <a:chOff x="2496" y="1812"/>
            <a:chExt cx="3200" cy="864"/>
          </a:xfrm>
        </p:grpSpPr>
        <p:sp>
          <p:nvSpPr>
            <p:cNvPr id="93191" name="AutoShape 5"/>
            <p:cNvSpPr>
              <a:spLocks/>
            </p:cNvSpPr>
            <p:nvPr/>
          </p:nvSpPr>
          <p:spPr bwMode="auto">
            <a:xfrm>
              <a:off x="2496" y="1812"/>
              <a:ext cx="288" cy="864"/>
            </a:xfrm>
            <a:prstGeom prst="rightBrace">
              <a:avLst>
                <a:gd name="adj1" fmla="val 25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93192" name="Text Box 6"/>
            <p:cNvSpPr txBox="1">
              <a:spLocks noChangeArrowheads="1"/>
            </p:cNvSpPr>
            <p:nvPr/>
          </p:nvSpPr>
          <p:spPr bwMode="auto">
            <a:xfrm>
              <a:off x="2736" y="1872"/>
              <a:ext cx="2960" cy="7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25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Luôn thay ký hiệu không kết thúc </a:t>
              </a:r>
              <a:r>
                <a:rPr lang="en-US" altLang="en-US" sz="2800" b="0" i="1">
                  <a:solidFill>
                    <a:srgbClr val="E46B20"/>
                  </a:solidFill>
                </a:rPr>
                <a:t>bên trái nhất</a:t>
              </a:r>
              <a:r>
                <a:rPr lang="en-US" altLang="en-US" sz="2800" b="0"/>
                <a:t> của xâu</a:t>
              </a:r>
            </a:p>
          </p:txBody>
        </p:sp>
      </p:grpSp>
      <p:sp>
        <p:nvSpPr>
          <p:cNvPr id="93190" name="Text Box 8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5. Văn phạm phi ngữ cảnh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00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00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1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5001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1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5001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1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5001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1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5001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9B31AE-D0C2-41F8-8AF5-80CF445BD985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93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Suy dẫn phải</a:t>
            </a:r>
          </a:p>
        </p:txBody>
      </p:sp>
      <p:sp>
        <p:nvSpPr>
          <p:cNvPr id="150118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09538" y="776288"/>
            <a:ext cx="8805862" cy="5983287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F85124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1775" indent="-231775" eaLnBrk="1" hangingPunct="1">
              <a:lnSpc>
                <a:spcPct val="110000"/>
              </a:lnSpc>
              <a:buFontTx/>
              <a:buNone/>
            </a:pPr>
            <a:r>
              <a:rPr lang="en-US" altLang="en-US" sz="2800"/>
              <a:t>Cho </a:t>
            </a:r>
            <a:r>
              <a:rPr lang="en-US" altLang="en-US" sz="2800" err="1"/>
              <a:t>văn</a:t>
            </a:r>
            <a:r>
              <a:rPr lang="en-US" altLang="en-US" sz="2800"/>
              <a:t> </a:t>
            </a:r>
            <a:r>
              <a:rPr lang="en-US" altLang="en-US" sz="2800" err="1"/>
              <a:t>phạm</a:t>
            </a:r>
            <a:r>
              <a:rPr lang="en-US" altLang="en-US" sz="2800"/>
              <a:t>  G = (V</a:t>
            </a:r>
            <a:r>
              <a:rPr lang="en-US" altLang="en-US" sz="2800" baseline="-25000"/>
              <a:t>T</a:t>
            </a:r>
            <a:r>
              <a:rPr lang="en-US" altLang="en-US" sz="2800"/>
              <a:t>, V</a:t>
            </a:r>
            <a:r>
              <a:rPr lang="en-US" altLang="en-US" sz="2800" baseline="-25000"/>
              <a:t>N</a:t>
            </a:r>
            <a:r>
              <a:rPr lang="en-US" altLang="en-US" sz="2800"/>
              <a:t>,  P,  S)</a:t>
            </a:r>
          </a:p>
          <a:p>
            <a:pPr marL="231775" indent="-231775" eaLnBrk="1" hangingPunct="1">
              <a:lnSpc>
                <a:spcPct val="110000"/>
              </a:lnSpc>
            </a:pPr>
            <a:r>
              <a:rPr lang="en-US" altLang="en-US" sz="2800" err="1"/>
              <a:t>Gọi</a:t>
            </a:r>
            <a:r>
              <a:rPr lang="en-US" altLang="en-US" sz="2800"/>
              <a:t> </a:t>
            </a:r>
            <a:r>
              <a:rPr lang="el-GR" altLang="en-US" sz="2800" b="1">
                <a:solidFill>
                  <a:srgbClr val="DF3507"/>
                </a:solidFill>
                <a:cs typeface="Arial" panose="020B0604020202020204" pitchFamily="34" charset="0"/>
              </a:rPr>
              <a:t>δ</a:t>
            </a:r>
            <a:r>
              <a:rPr lang="en-US" altLang="en-US" sz="2800"/>
              <a:t> </a:t>
            </a:r>
            <a:r>
              <a:rPr lang="en-US" altLang="en-US" sz="2800" err="1"/>
              <a:t>được</a:t>
            </a:r>
            <a:r>
              <a:rPr lang="en-US" altLang="en-US" sz="2800"/>
              <a:t> </a:t>
            </a:r>
            <a:r>
              <a:rPr lang="en-US" altLang="en-US" sz="2800" err="1"/>
              <a:t>suy</a:t>
            </a:r>
            <a:r>
              <a:rPr lang="en-US" altLang="en-US" sz="2800"/>
              <a:t> </a:t>
            </a:r>
            <a:r>
              <a:rPr lang="en-US" altLang="en-US" sz="2800" err="1"/>
              <a:t>dẫn</a:t>
            </a:r>
            <a:r>
              <a:rPr lang="en-US" altLang="en-US" sz="2800"/>
              <a:t> </a:t>
            </a:r>
            <a:r>
              <a:rPr lang="en-US" altLang="en-US" sz="2800" i="1" err="1">
                <a:solidFill>
                  <a:srgbClr val="4100C4"/>
                </a:solidFill>
              </a:rPr>
              <a:t>trực</a:t>
            </a:r>
            <a:r>
              <a:rPr lang="en-US" altLang="en-US" sz="2800" i="1">
                <a:solidFill>
                  <a:srgbClr val="4100C4"/>
                </a:solidFill>
              </a:rPr>
              <a:t> </a:t>
            </a:r>
            <a:r>
              <a:rPr lang="en-US" altLang="en-US" sz="2800" i="1" err="1">
                <a:solidFill>
                  <a:srgbClr val="4100C4"/>
                </a:solidFill>
              </a:rPr>
              <a:t>tiếp</a:t>
            </a:r>
            <a:r>
              <a:rPr lang="en-US" altLang="en-US" sz="2800"/>
              <a:t> ra </a:t>
            </a:r>
            <a:r>
              <a:rPr lang="en-US" altLang="en-US" sz="2800" err="1"/>
              <a:t>từ</a:t>
            </a:r>
            <a:r>
              <a:rPr lang="en-US" altLang="en-US" sz="2800"/>
              <a:t> </a:t>
            </a:r>
            <a:r>
              <a:rPr lang="en-US" altLang="en-US" sz="2800" err="1"/>
              <a:t>bên</a:t>
            </a:r>
            <a:r>
              <a:rPr lang="en-US" altLang="en-US" sz="2800"/>
              <a:t> </a:t>
            </a:r>
            <a:r>
              <a:rPr lang="en-US" altLang="en-US" sz="2800" err="1">
                <a:solidFill>
                  <a:srgbClr val="E46B20"/>
                </a:solidFill>
              </a:rPr>
              <a:t>phải</a:t>
            </a:r>
            <a:r>
              <a:rPr lang="en-US" altLang="en-US" sz="2800"/>
              <a:t> </a:t>
            </a:r>
            <a:r>
              <a:rPr lang="en-US" altLang="en-US" sz="2800" err="1"/>
              <a:t>của</a:t>
            </a:r>
            <a:r>
              <a:rPr lang="en-US" altLang="en-US" sz="2800"/>
              <a:t>  </a:t>
            </a:r>
            <a:r>
              <a:rPr lang="el-GR" altLang="en-US" sz="2800" b="1">
                <a:solidFill>
                  <a:srgbClr val="DF3507"/>
                </a:solidFill>
                <a:cs typeface="Arial" panose="020B0604020202020204" pitchFamily="34" charset="0"/>
              </a:rPr>
              <a:t>γ</a:t>
            </a:r>
            <a:r>
              <a:rPr lang="en-US" altLang="en-US" sz="2800">
                <a:cs typeface="Arial" panose="020B0604020202020204" pitchFamily="34" charset="0"/>
              </a:rPr>
              <a:t>, </a:t>
            </a:r>
            <a:r>
              <a:rPr lang="en-US" altLang="en-US" sz="2800" err="1">
                <a:cs typeface="Arial" panose="020B0604020202020204" pitchFamily="34" charset="0"/>
              </a:rPr>
              <a:t>và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n-US" altLang="en-US" sz="2800" err="1">
                <a:cs typeface="Arial" panose="020B0604020202020204" pitchFamily="34" charset="0"/>
              </a:rPr>
              <a:t>được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n-US" altLang="en-US" sz="2800" err="1">
                <a:cs typeface="Arial" panose="020B0604020202020204" pitchFamily="34" charset="0"/>
              </a:rPr>
              <a:t>ký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n-US" altLang="en-US" sz="2800" err="1">
                <a:cs typeface="Arial" panose="020B0604020202020204" pitchFamily="34" charset="0"/>
              </a:rPr>
              <a:t>kiệu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l-GR" altLang="en-US" sz="2800">
                <a:solidFill>
                  <a:srgbClr val="F85124"/>
                </a:solidFill>
                <a:cs typeface="Arial" panose="020B0604020202020204" pitchFamily="34" charset="0"/>
              </a:rPr>
              <a:t>γ</a:t>
            </a:r>
            <a:r>
              <a:rPr lang="en-US" altLang="en-US" sz="2800">
                <a:solidFill>
                  <a:srgbClr val="F85124"/>
                </a:solidFill>
                <a:cs typeface="Arial" panose="020B0604020202020204" pitchFamily="34" charset="0"/>
              </a:rPr>
              <a:t> </a:t>
            </a:r>
            <a:r>
              <a:rPr lang="el-GR" altLang="en-US" sz="2800">
                <a:solidFill>
                  <a:srgbClr val="F8512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fr-FR" altLang="en-US" sz="2800" baseline="-25000">
                <a:solidFill>
                  <a:srgbClr val="F8512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800">
                <a:solidFill>
                  <a:srgbClr val="F85124"/>
                </a:solidFill>
                <a:cs typeface="Arial" panose="020B0604020202020204" pitchFamily="34" charset="0"/>
              </a:rPr>
              <a:t> </a:t>
            </a:r>
            <a:r>
              <a:rPr lang="el-GR" altLang="en-US" sz="2800">
                <a:solidFill>
                  <a:srgbClr val="F85124"/>
                </a:solidFill>
                <a:cs typeface="Arial" panose="020B0604020202020204" pitchFamily="34" charset="0"/>
              </a:rPr>
              <a:t>δ</a:t>
            </a:r>
            <a:r>
              <a:rPr lang="en-US" altLang="en-US" sz="2800"/>
              <a:t> </a:t>
            </a:r>
            <a:r>
              <a:rPr lang="en-US" altLang="en-US" sz="2800" err="1">
                <a:cs typeface="Arial" panose="020B0604020202020204" pitchFamily="34" charset="0"/>
              </a:rPr>
              <a:t>nếu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n-US" altLang="en-US" sz="2800" err="1">
                <a:cs typeface="Arial" panose="020B0604020202020204" pitchFamily="34" charset="0"/>
              </a:rPr>
              <a:t>tồn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n-US" altLang="en-US" sz="2800" err="1">
                <a:cs typeface="Arial" panose="020B0604020202020204" pitchFamily="34" charset="0"/>
              </a:rPr>
              <a:t>tại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n-US" altLang="en-US" sz="2800" err="1">
                <a:cs typeface="Arial" panose="020B0604020202020204" pitchFamily="34" charset="0"/>
              </a:rPr>
              <a:t>các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n-US" altLang="en-US" sz="2800" err="1">
                <a:cs typeface="Arial" panose="020B0604020202020204" pitchFamily="34" charset="0"/>
              </a:rPr>
              <a:t>xâu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n-US" altLang="en-US" sz="2800">
                <a:solidFill>
                  <a:srgbClr val="E46B20"/>
                </a:solidFill>
                <a:cs typeface="Arial" panose="020B0604020202020204" pitchFamily="34" charset="0"/>
              </a:rPr>
              <a:t>y</a:t>
            </a:r>
            <a:r>
              <a:rPr lang="en-US" altLang="en-US" sz="2800">
                <a:cs typeface="Arial" panose="020B0604020202020204" pitchFamily="34" charset="0"/>
              </a:rPr>
              <a:t>,</a:t>
            </a:r>
            <a:r>
              <a:rPr lang="en-US" altLang="en-US" sz="2800">
                <a:solidFill>
                  <a:srgbClr val="E46B20"/>
                </a:solidFill>
                <a:cs typeface="Arial" panose="020B0604020202020204" pitchFamily="34" charset="0"/>
              </a:rPr>
              <a:t> </a:t>
            </a:r>
            <a:r>
              <a:rPr lang="el-GR" altLang="en-US" sz="2800">
                <a:solidFill>
                  <a:srgbClr val="E46B20"/>
                </a:solidFill>
                <a:cs typeface="Arial" panose="020B0604020202020204" pitchFamily="34" charset="0"/>
              </a:rPr>
              <a:t>α</a:t>
            </a:r>
            <a:r>
              <a:rPr lang="en-US" altLang="en-US" sz="2800">
                <a:cs typeface="Arial" panose="020B0604020202020204" pitchFamily="34" charset="0"/>
              </a:rPr>
              <a:t>,</a:t>
            </a:r>
            <a:r>
              <a:rPr lang="en-US" altLang="en-US" sz="2800">
                <a:solidFill>
                  <a:srgbClr val="E46B20"/>
                </a:solidFill>
                <a:cs typeface="Arial" panose="020B0604020202020204" pitchFamily="34" charset="0"/>
              </a:rPr>
              <a:t> </a:t>
            </a:r>
            <a:r>
              <a:rPr lang="el-GR" altLang="en-US" sz="2800">
                <a:solidFill>
                  <a:srgbClr val="E46B20"/>
                </a:solidFill>
                <a:cs typeface="Arial" panose="020B0604020202020204" pitchFamily="34" charset="0"/>
              </a:rPr>
              <a:t>β</a:t>
            </a:r>
            <a:r>
              <a:rPr lang="en-US" altLang="en-US" sz="2800">
                <a:solidFill>
                  <a:srgbClr val="F85124"/>
                </a:solidFill>
                <a:cs typeface="Arial" panose="020B0604020202020204" pitchFamily="34" charset="0"/>
              </a:rPr>
              <a:t> </a:t>
            </a:r>
            <a:r>
              <a:rPr lang="en-US" altLang="en-US" sz="2800" err="1">
                <a:cs typeface="Arial" panose="020B0604020202020204" pitchFamily="34" charset="0"/>
              </a:rPr>
              <a:t>thỏa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n-US" altLang="en-US" sz="2800" err="1">
                <a:cs typeface="Arial" panose="020B0604020202020204" pitchFamily="34" charset="0"/>
              </a:rPr>
              <a:t>mãn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n-US" altLang="en-US" sz="2800" err="1">
                <a:cs typeface="Arial" panose="020B0604020202020204" pitchFamily="34" charset="0"/>
              </a:rPr>
              <a:t>các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n-US" altLang="en-US" sz="2800" err="1">
                <a:cs typeface="Arial" panose="020B0604020202020204" pitchFamily="34" charset="0"/>
              </a:rPr>
              <a:t>điều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n-US" altLang="en-US" sz="2800" err="1">
                <a:cs typeface="Arial" panose="020B0604020202020204" pitchFamily="34" charset="0"/>
              </a:rPr>
              <a:t>kiện</a:t>
            </a:r>
            <a:endParaRPr lang="en-US" altLang="en-US" sz="2800">
              <a:cs typeface="Arial" panose="020B0604020202020204" pitchFamily="34" charset="0"/>
            </a:endParaRPr>
          </a:p>
          <a:p>
            <a:pPr marL="623888" lvl="1" indent="-277813" eaLnBrk="1" hangingPunct="1">
              <a:spcBef>
                <a:spcPct val="10000"/>
              </a:spcBef>
            </a:pPr>
            <a:r>
              <a:rPr lang="en-US" altLang="en-US" sz="2400"/>
              <a:t> </a:t>
            </a:r>
            <a:r>
              <a:rPr lang="el-GR" altLang="en-US">
                <a:solidFill>
                  <a:srgbClr val="4100C4"/>
                </a:solidFill>
                <a:cs typeface="Arial" panose="020B0604020202020204" pitchFamily="34" charset="0"/>
              </a:rPr>
              <a:t>γ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</a:rPr>
              <a:t> = </a:t>
            </a:r>
            <a:r>
              <a:rPr lang="el-GR" altLang="en-US">
                <a:solidFill>
                  <a:srgbClr val="4100C4"/>
                </a:solidFill>
                <a:cs typeface="Arial" panose="020B0604020202020204" pitchFamily="34" charset="0"/>
              </a:rPr>
              <a:t>α</a:t>
            </a:r>
            <a:r>
              <a:rPr lang="en-US" altLang="en-US" b="1">
                <a:solidFill>
                  <a:srgbClr val="4100C4"/>
                </a:solidFill>
                <a:cs typeface="Arial" panose="020B0604020202020204" pitchFamily="34" charset="0"/>
              </a:rPr>
              <a:t>A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</a:rPr>
              <a:t>y </a:t>
            </a:r>
            <a:r>
              <a:rPr lang="el-GR" altLang="en-US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</a:rPr>
              <a:t> </a:t>
            </a:r>
            <a:r>
              <a:rPr lang="el-GR" altLang="en-US">
                <a:solidFill>
                  <a:srgbClr val="4100C4"/>
                </a:solidFill>
                <a:cs typeface="Arial" panose="020B0604020202020204" pitchFamily="34" charset="0"/>
              </a:rPr>
              <a:t>α</a:t>
            </a:r>
            <a:r>
              <a:rPr lang="el-GR" altLang="en-US" b="1">
                <a:solidFill>
                  <a:srgbClr val="4100C4"/>
                </a:solidFill>
                <a:cs typeface="Arial" panose="020B0604020202020204" pitchFamily="34" charset="0"/>
              </a:rPr>
              <a:t>β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</a:rPr>
              <a:t>y = </a:t>
            </a:r>
            <a:r>
              <a:rPr lang="el-GR" altLang="en-US">
                <a:solidFill>
                  <a:srgbClr val="4100C4"/>
                </a:solidFill>
                <a:cs typeface="Arial" panose="020B0604020202020204" pitchFamily="34" charset="0"/>
              </a:rPr>
              <a:t>δ</a:t>
            </a:r>
            <a:r>
              <a:rPr lang="en-US" altLang="en-US"/>
              <a:t> </a:t>
            </a:r>
            <a:endParaRPr lang="en-US" altLang="en-US">
              <a:solidFill>
                <a:srgbClr val="F85124"/>
              </a:solidFill>
              <a:cs typeface="Arial" panose="020B0604020202020204" pitchFamily="34" charset="0"/>
            </a:endParaRPr>
          </a:p>
          <a:p>
            <a:pPr marL="623888" lvl="1" indent="-277813" eaLnBrk="1" hangingPunct="1">
              <a:spcBef>
                <a:spcPct val="10000"/>
              </a:spcBef>
            </a:pPr>
            <a:r>
              <a:rPr lang="en-US" altLang="en-US" b="1">
                <a:solidFill>
                  <a:srgbClr val="DF3507"/>
                </a:solidFill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</a:rPr>
              <a:t>A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l-GR" altLang="en-US">
                <a:solidFill>
                  <a:srgbClr val="4100C4"/>
                </a:solidFill>
                <a:cs typeface="Arial" panose="020B0604020202020204" pitchFamily="34" charset="0"/>
              </a:rPr>
              <a:t>β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P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và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 marL="623888" lvl="1" indent="-277813" eaLnBrk="1" hangingPunct="1">
              <a:spcBef>
                <a:spcPct val="10000"/>
              </a:spcBef>
            </a:pPr>
            <a:r>
              <a:rPr lang="el-GR" altLang="en-US">
                <a:solidFill>
                  <a:srgbClr val="4100C4"/>
                </a:solidFill>
                <a:cs typeface="Arial" panose="020B0604020202020204" pitchFamily="34" charset="0"/>
              </a:rPr>
              <a:t>α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</a:rPr>
              <a:t>, </a:t>
            </a:r>
            <a:r>
              <a:rPr lang="el-GR" altLang="en-US">
                <a:solidFill>
                  <a:srgbClr val="4100C4"/>
                </a:solidFill>
                <a:cs typeface="Arial" panose="020B0604020202020204" pitchFamily="34" charset="0"/>
              </a:rPr>
              <a:t>β 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V</a:t>
            </a:r>
            <a:r>
              <a:rPr lang="en-US" altLang="en-US" baseline="30000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</a:rPr>
              <a:t>, </a:t>
            </a:r>
            <a:r>
              <a:rPr lang="en-US" altLang="en-US" err="1">
                <a:solidFill>
                  <a:srgbClr val="4100C4"/>
                </a:solidFill>
                <a:cs typeface="Arial" panose="020B0604020202020204" pitchFamily="34" charset="0"/>
              </a:rPr>
              <a:t>y</a:t>
            </a:r>
            <a:r>
              <a:rPr lang="en-US" altLang="en-US" err="1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V</a:t>
            </a:r>
            <a:r>
              <a:rPr lang="en-US" altLang="en-US" baseline="-25000" err="1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en-US" baseline="30000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endParaRPr lang="en-US" altLang="en-US" baseline="30000">
              <a:solidFill>
                <a:srgbClr val="4100C4"/>
              </a:solidFill>
              <a:sym typeface="Symbol" panose="05050102010706020507" pitchFamily="18" charset="2"/>
            </a:endParaRPr>
          </a:p>
          <a:p>
            <a:pPr marL="231775" indent="-231775" eaLnBrk="1" hangingPunct="1">
              <a:lnSpc>
                <a:spcPct val="110000"/>
              </a:lnSpc>
            </a:pPr>
            <a:r>
              <a:rPr lang="en-US" altLang="en-US" sz="2800" err="1"/>
              <a:t>Gọi</a:t>
            </a:r>
            <a:r>
              <a:rPr lang="en-US" altLang="en-US" sz="2800"/>
              <a:t> </a:t>
            </a:r>
            <a:r>
              <a:rPr lang="el-GR" altLang="en-US" sz="2800" b="1">
                <a:solidFill>
                  <a:srgbClr val="DF3507"/>
                </a:solidFill>
                <a:cs typeface="Arial" panose="020B0604020202020204" pitchFamily="34" charset="0"/>
              </a:rPr>
              <a:t>δ</a:t>
            </a:r>
            <a:r>
              <a:rPr lang="en-US" altLang="en-US" sz="2800"/>
              <a:t> </a:t>
            </a:r>
            <a:r>
              <a:rPr lang="en-US" altLang="en-US" sz="2800" err="1"/>
              <a:t>được</a:t>
            </a:r>
            <a:r>
              <a:rPr lang="en-US" altLang="en-US" sz="2800"/>
              <a:t> </a:t>
            </a:r>
            <a:r>
              <a:rPr lang="en-US" altLang="en-US" sz="2800" err="1"/>
              <a:t>suy</a:t>
            </a:r>
            <a:r>
              <a:rPr lang="en-US" altLang="en-US" sz="2800"/>
              <a:t> </a:t>
            </a:r>
            <a:r>
              <a:rPr lang="en-US" altLang="en-US" sz="2800" err="1"/>
              <a:t>dẫn</a:t>
            </a:r>
            <a:r>
              <a:rPr lang="en-US" altLang="en-US" sz="2800"/>
              <a:t> ra </a:t>
            </a:r>
            <a:r>
              <a:rPr lang="en-US" altLang="en-US" sz="2800" err="1"/>
              <a:t>từ</a:t>
            </a:r>
            <a:r>
              <a:rPr lang="en-US" altLang="en-US" sz="2800"/>
              <a:t> </a:t>
            </a:r>
            <a:r>
              <a:rPr lang="en-US" altLang="en-US" sz="2800" err="1"/>
              <a:t>bên</a:t>
            </a:r>
            <a:r>
              <a:rPr lang="en-US" altLang="en-US" sz="2800"/>
              <a:t> </a:t>
            </a:r>
            <a:r>
              <a:rPr lang="en-US" altLang="en-US" sz="2800" err="1"/>
              <a:t>phải</a:t>
            </a:r>
            <a:r>
              <a:rPr lang="en-US" altLang="en-US" sz="2800"/>
              <a:t> </a:t>
            </a:r>
            <a:r>
              <a:rPr lang="en-US" altLang="en-US" sz="2800" err="1"/>
              <a:t>của</a:t>
            </a:r>
            <a:r>
              <a:rPr lang="en-US" altLang="en-US" sz="2800"/>
              <a:t>  </a:t>
            </a:r>
            <a:r>
              <a:rPr lang="el-GR" altLang="en-US" sz="2800" b="1">
                <a:solidFill>
                  <a:srgbClr val="DF3507"/>
                </a:solidFill>
                <a:cs typeface="Arial" panose="020B0604020202020204" pitchFamily="34" charset="0"/>
              </a:rPr>
              <a:t>γ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n-US" altLang="en-US" sz="2800" err="1">
                <a:cs typeface="Arial" panose="020B0604020202020204" pitchFamily="34" charset="0"/>
              </a:rPr>
              <a:t>nếu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n-US" altLang="en-US" sz="2800" err="1">
                <a:cs typeface="Arial" panose="020B0604020202020204" pitchFamily="34" charset="0"/>
              </a:rPr>
              <a:t>tồn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n-US" altLang="en-US" sz="2800" err="1">
                <a:cs typeface="Arial" panose="020B0604020202020204" pitchFamily="34" charset="0"/>
              </a:rPr>
              <a:t>tại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n-US" altLang="en-US" sz="2800" err="1">
                <a:cs typeface="Arial" panose="020B0604020202020204" pitchFamily="34" charset="0"/>
              </a:rPr>
              <a:t>dãy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n-US" altLang="en-US" sz="2800" err="1">
                <a:cs typeface="Arial" panose="020B0604020202020204" pitchFamily="34" charset="0"/>
              </a:rPr>
              <a:t>các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n-US" altLang="en-US" sz="2800" err="1">
                <a:cs typeface="Arial" panose="020B0604020202020204" pitchFamily="34" charset="0"/>
              </a:rPr>
              <a:t>xâu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l-GR" altLang="en-US" sz="2800">
                <a:solidFill>
                  <a:srgbClr val="DF3507"/>
                </a:solidFill>
                <a:cs typeface="Arial" panose="020B0604020202020204" pitchFamily="34" charset="0"/>
              </a:rPr>
              <a:t>α</a:t>
            </a:r>
            <a:r>
              <a:rPr lang="en-US" altLang="en-US" sz="2800" baseline="-25000">
                <a:solidFill>
                  <a:srgbClr val="DF3507"/>
                </a:solidFill>
                <a:cs typeface="Arial" panose="020B0604020202020204" pitchFamily="34" charset="0"/>
              </a:rPr>
              <a:t>0</a:t>
            </a:r>
            <a:r>
              <a:rPr lang="en-US" altLang="en-US" sz="2800">
                <a:cs typeface="Arial" panose="020B0604020202020204" pitchFamily="34" charset="0"/>
              </a:rPr>
              <a:t>, </a:t>
            </a:r>
            <a:r>
              <a:rPr lang="el-GR" altLang="en-US" sz="2800">
                <a:solidFill>
                  <a:srgbClr val="DF3507"/>
                </a:solidFill>
                <a:cs typeface="Arial" panose="020B0604020202020204" pitchFamily="34" charset="0"/>
              </a:rPr>
              <a:t>α</a:t>
            </a:r>
            <a:r>
              <a:rPr lang="en-US" altLang="en-US" sz="2800" baseline="-25000">
                <a:solidFill>
                  <a:srgbClr val="DF3507"/>
                </a:solidFill>
                <a:cs typeface="Arial" panose="020B0604020202020204" pitchFamily="34" charset="0"/>
              </a:rPr>
              <a:t>1</a:t>
            </a:r>
            <a:r>
              <a:rPr lang="en-US" altLang="en-US" sz="2800">
                <a:cs typeface="Arial" panose="020B0604020202020204" pitchFamily="34" charset="0"/>
              </a:rPr>
              <a:t>, </a:t>
            </a:r>
            <a:r>
              <a:rPr lang="el-GR" altLang="en-US" sz="2800">
                <a:solidFill>
                  <a:srgbClr val="DF3507"/>
                </a:solidFill>
                <a:cs typeface="Arial" panose="020B0604020202020204" pitchFamily="34" charset="0"/>
              </a:rPr>
              <a:t>α</a:t>
            </a:r>
            <a:r>
              <a:rPr lang="en-US" altLang="en-US" sz="2800" baseline="-25000">
                <a:solidFill>
                  <a:srgbClr val="DF3507"/>
                </a:solidFill>
                <a:cs typeface="Arial" panose="020B0604020202020204" pitchFamily="34" charset="0"/>
              </a:rPr>
              <a:t>2</a:t>
            </a:r>
            <a:r>
              <a:rPr lang="en-US" altLang="en-US" sz="2800">
                <a:cs typeface="Arial" panose="020B0604020202020204" pitchFamily="34" charset="0"/>
              </a:rPr>
              <a:t>,…, </a:t>
            </a:r>
            <a:r>
              <a:rPr lang="el-GR" altLang="en-US" sz="2800">
                <a:solidFill>
                  <a:srgbClr val="DF3507"/>
                </a:solidFill>
                <a:cs typeface="Arial" panose="020B0604020202020204" pitchFamily="34" charset="0"/>
              </a:rPr>
              <a:t>α</a:t>
            </a:r>
            <a:r>
              <a:rPr lang="en-US" altLang="en-US" sz="2800" baseline="-25000">
                <a:solidFill>
                  <a:srgbClr val="DF3507"/>
                </a:solidFill>
                <a:cs typeface="Arial" panose="020B0604020202020204" pitchFamily="34" charset="0"/>
              </a:rPr>
              <a:t>n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n-US" altLang="en-US" sz="2800" err="1">
                <a:cs typeface="Arial" panose="020B0604020202020204" pitchFamily="34" charset="0"/>
              </a:rPr>
              <a:t>thỏa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n-US" altLang="en-US" sz="2800" err="1">
                <a:cs typeface="Arial" panose="020B0604020202020204" pitchFamily="34" charset="0"/>
              </a:rPr>
              <a:t>mãn</a:t>
            </a:r>
            <a:r>
              <a:rPr lang="en-US" altLang="en-US" sz="2800">
                <a:cs typeface="Arial" panose="020B0604020202020204" pitchFamily="34" charset="0"/>
              </a:rPr>
              <a:t>: </a:t>
            </a:r>
          </a:p>
          <a:p>
            <a:pPr marL="231775" indent="-231775" eaLnBrk="1" hangingPunct="1">
              <a:lnSpc>
                <a:spcPct val="110000"/>
              </a:lnSpc>
              <a:buFontTx/>
              <a:buNone/>
            </a:pPr>
            <a:r>
              <a:rPr lang="en-US" altLang="en-US" sz="2800">
                <a:cs typeface="Arial" panose="020B0604020202020204" pitchFamily="34" charset="0"/>
              </a:rPr>
              <a:t>		</a:t>
            </a:r>
            <a:r>
              <a:rPr lang="el-GR" altLang="en-US" sz="2800">
                <a:cs typeface="Arial" panose="020B0604020202020204" pitchFamily="34" charset="0"/>
              </a:rPr>
              <a:t>γ 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= </a:t>
            </a:r>
            <a:r>
              <a:rPr lang="el-GR" altLang="en-US" sz="2800">
                <a:cs typeface="Arial" panose="020B0604020202020204" pitchFamily="34" charset="0"/>
              </a:rPr>
              <a:t>α</a:t>
            </a:r>
            <a:r>
              <a:rPr lang="en-US" altLang="en-US" sz="2800" baseline="-25000">
                <a:cs typeface="Arial" panose="020B0604020202020204" pitchFamily="34" charset="0"/>
              </a:rPr>
              <a:t>0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800" baseline="-25000"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sz="2800">
                <a:cs typeface="Arial" panose="020B0604020202020204" pitchFamily="34" charset="0"/>
              </a:rPr>
              <a:t>α</a:t>
            </a:r>
            <a:r>
              <a:rPr lang="en-US" altLang="en-US" sz="2800" baseline="-25000">
                <a:cs typeface="Arial" panose="020B0604020202020204" pitchFamily="34" charset="0"/>
              </a:rPr>
              <a:t>1</a:t>
            </a:r>
            <a:r>
              <a:rPr lang="el-GR" altLang="en-US" sz="2800">
                <a:cs typeface="Arial" panose="020B0604020202020204" pitchFamily="34" charset="0"/>
              </a:rPr>
              <a:t>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800" baseline="-25000"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sz="2800">
                <a:cs typeface="Arial" panose="020B0604020202020204" pitchFamily="34" charset="0"/>
              </a:rPr>
              <a:t>α</a:t>
            </a:r>
            <a:r>
              <a:rPr lang="en-US" altLang="en-US" sz="2800" baseline="-25000">
                <a:cs typeface="Arial" panose="020B0604020202020204" pitchFamily="34" charset="0"/>
              </a:rPr>
              <a:t>2</a:t>
            </a:r>
            <a:r>
              <a:rPr lang="el-GR" altLang="en-US" sz="2800">
                <a:cs typeface="Arial" panose="020B0604020202020204" pitchFamily="34" charset="0"/>
              </a:rPr>
              <a:t> 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800" baseline="-25000"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 ….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 </a:t>
            </a:r>
            <a:r>
              <a:rPr lang="en-US" altLang="en-US" sz="2800" baseline="-25000"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l-GR" altLang="en-US" sz="28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sz="2800">
                <a:cs typeface="Arial" panose="020B0604020202020204" pitchFamily="34" charset="0"/>
              </a:rPr>
              <a:t>α</a:t>
            </a:r>
            <a:r>
              <a:rPr lang="en-US" altLang="en-US" sz="2800" baseline="-25000">
                <a:cs typeface="Arial" panose="020B0604020202020204" pitchFamily="34" charset="0"/>
              </a:rPr>
              <a:t>n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= </a:t>
            </a:r>
            <a:r>
              <a:rPr lang="el-GR" altLang="en-US" sz="2800">
                <a:cs typeface="Arial" panose="020B0604020202020204" pitchFamily="34" charset="0"/>
              </a:rPr>
              <a:t>δ</a:t>
            </a:r>
            <a:r>
              <a:rPr lang="en-US" altLang="en-US" sz="2800">
                <a:cs typeface="Arial" panose="020B0604020202020204" pitchFamily="34" charset="0"/>
              </a:rPr>
              <a:t> </a:t>
            </a:r>
          </a:p>
          <a:p>
            <a:pPr marL="623888" lvl="1" indent="-277813" eaLnBrk="1" hangingPunct="1">
              <a:lnSpc>
                <a:spcPct val="110000"/>
              </a:lnSpc>
            </a:pPr>
            <a:r>
              <a:rPr lang="en-US" altLang="en-US" sz="2400" err="1">
                <a:cs typeface="Arial" panose="020B0604020202020204" pitchFamily="34" charset="0"/>
              </a:rPr>
              <a:t>Nếu</a:t>
            </a:r>
            <a:r>
              <a:rPr lang="en-US" altLang="en-US" sz="2400">
                <a:cs typeface="Arial" panose="020B0604020202020204" pitchFamily="34" charset="0"/>
              </a:rPr>
              <a:t> n 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</a:t>
            </a:r>
            <a:r>
              <a:rPr lang="en-US" altLang="en-US" sz="2400">
                <a:cs typeface="Arial" panose="020B0604020202020204" pitchFamily="34" charset="0"/>
              </a:rPr>
              <a:t> 1, </a:t>
            </a:r>
            <a:r>
              <a:rPr lang="en-US" altLang="en-US" sz="2400" err="1">
                <a:cs typeface="Arial" panose="020B0604020202020204" pitchFamily="34" charset="0"/>
              </a:rPr>
              <a:t>dùng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ít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nhất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một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suy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dẫn</a:t>
            </a:r>
            <a:r>
              <a:rPr lang="en-US" altLang="en-US" sz="2400">
                <a:cs typeface="Arial" panose="020B0604020202020204" pitchFamily="34" charset="0"/>
              </a:rPr>
              <a:t>,   </a:t>
            </a:r>
            <a:r>
              <a:rPr lang="en-US" altLang="en-US" sz="2400" err="1">
                <a:cs typeface="Arial" panose="020B0604020202020204" pitchFamily="34" charset="0"/>
              </a:rPr>
              <a:t>ký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hiệu</a:t>
            </a:r>
            <a:r>
              <a:rPr lang="en-US" altLang="en-US" sz="2400">
                <a:cs typeface="Arial" panose="020B0604020202020204" pitchFamily="34" charset="0"/>
              </a:rPr>
              <a:t>: </a:t>
            </a:r>
            <a:r>
              <a:rPr lang="el-GR" altLang="en-US" sz="2400" b="1">
                <a:solidFill>
                  <a:srgbClr val="DF3507"/>
                </a:solidFill>
                <a:cs typeface="Arial" panose="020B0604020202020204" pitchFamily="34" charset="0"/>
              </a:rPr>
              <a:t>γ</a:t>
            </a:r>
            <a:r>
              <a:rPr lang="en-US" altLang="en-US" sz="2400" b="1">
                <a:solidFill>
                  <a:srgbClr val="DF3507"/>
                </a:solidFill>
                <a:cs typeface="Arial" panose="020B0604020202020204" pitchFamily="34" charset="0"/>
              </a:rPr>
              <a:t> </a:t>
            </a:r>
            <a:r>
              <a:rPr lang="el-GR" altLang="en-US" sz="2400" b="1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400" b="1" baseline="-25000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400" b="1" baseline="30000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en-US" sz="2400" b="1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sz="2400" b="1">
                <a:solidFill>
                  <a:srgbClr val="DF3507"/>
                </a:solidFill>
                <a:cs typeface="Arial" panose="020B0604020202020204" pitchFamily="34" charset="0"/>
              </a:rPr>
              <a:t>δ</a:t>
            </a:r>
            <a:endParaRPr lang="en-US" altLang="en-US" sz="2400" b="1">
              <a:solidFill>
                <a:srgbClr val="DF3507"/>
              </a:solidFill>
              <a:cs typeface="Arial" panose="020B0604020202020204" pitchFamily="34" charset="0"/>
            </a:endParaRPr>
          </a:p>
          <a:p>
            <a:pPr marL="623888" lvl="1" indent="-277813" eaLnBrk="1" hangingPunct="1">
              <a:lnSpc>
                <a:spcPct val="110000"/>
              </a:lnSpc>
            </a:pPr>
            <a:r>
              <a:rPr lang="en-US" altLang="en-US" sz="2400" err="1">
                <a:cs typeface="Arial" panose="020B0604020202020204" pitchFamily="34" charset="0"/>
              </a:rPr>
              <a:t>Nếu</a:t>
            </a:r>
            <a:r>
              <a:rPr lang="en-US" altLang="en-US" sz="2400">
                <a:cs typeface="Arial" panose="020B0604020202020204" pitchFamily="34" charset="0"/>
              </a:rPr>
              <a:t> n 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 0, </a:t>
            </a:r>
            <a:r>
              <a:rPr lang="en-US" altLang="en-US" sz="2400" err="1">
                <a:cs typeface="Arial" panose="020B0604020202020204" pitchFamily="34" charset="0"/>
              </a:rPr>
              <a:t>có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thể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không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suy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dẫn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nào</a:t>
            </a:r>
            <a:r>
              <a:rPr lang="en-US" altLang="en-US" sz="2400">
                <a:cs typeface="Arial" panose="020B0604020202020204" pitchFamily="34" charset="0"/>
              </a:rPr>
              <a:t>, </a:t>
            </a:r>
            <a:r>
              <a:rPr lang="en-US" altLang="en-US" sz="2400" err="1">
                <a:cs typeface="Arial" panose="020B0604020202020204" pitchFamily="34" charset="0"/>
              </a:rPr>
              <a:t>ký</a:t>
            </a: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 err="1">
                <a:cs typeface="Arial" panose="020B0604020202020204" pitchFamily="34" charset="0"/>
              </a:rPr>
              <a:t>hiệu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l-GR" altLang="en-US" sz="2400" b="1">
                <a:solidFill>
                  <a:srgbClr val="DF3507"/>
                </a:solidFill>
                <a:cs typeface="Arial" panose="020B0604020202020204" pitchFamily="34" charset="0"/>
              </a:rPr>
              <a:t>γ</a:t>
            </a:r>
            <a:r>
              <a:rPr lang="en-US" altLang="en-US" sz="2400" b="1">
                <a:solidFill>
                  <a:srgbClr val="DF3507"/>
                </a:solidFill>
                <a:cs typeface="Arial" panose="020B0604020202020204" pitchFamily="34" charset="0"/>
              </a:rPr>
              <a:t> </a:t>
            </a:r>
            <a:r>
              <a:rPr lang="el-GR" altLang="en-US" sz="2400" b="1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400" b="1" baseline="-25000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en-US" sz="2400" b="1" baseline="30000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en-US" sz="2400" b="1">
                <a:solidFill>
                  <a:srgbClr val="DF350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sz="2400" b="1">
                <a:solidFill>
                  <a:srgbClr val="DF3507"/>
                </a:solidFill>
                <a:cs typeface="Arial" panose="020B0604020202020204" pitchFamily="34" charset="0"/>
              </a:rPr>
              <a:t>δ</a:t>
            </a:r>
            <a:endParaRPr lang="en-US" altLang="en-US" sz="2400" b="1">
              <a:solidFill>
                <a:srgbClr val="DF3507"/>
              </a:solidFill>
              <a:cs typeface="Arial" panose="020B0604020202020204" pitchFamily="34" charset="0"/>
            </a:endParaRPr>
          </a:p>
        </p:txBody>
      </p:sp>
      <p:grpSp>
        <p:nvGrpSpPr>
          <p:cNvPr id="1501189" name="Group 5"/>
          <p:cNvGrpSpPr>
            <a:grpSpLocks/>
          </p:cNvGrpSpPr>
          <p:nvPr/>
        </p:nvGrpSpPr>
        <p:grpSpPr bwMode="auto">
          <a:xfrm>
            <a:off x="3962400" y="2876550"/>
            <a:ext cx="5080000" cy="1371600"/>
            <a:chOff x="2496" y="1812"/>
            <a:chExt cx="3200" cy="864"/>
          </a:xfrm>
        </p:grpSpPr>
        <p:sp>
          <p:nvSpPr>
            <p:cNvPr id="94215" name="AutoShape 6"/>
            <p:cNvSpPr>
              <a:spLocks/>
            </p:cNvSpPr>
            <p:nvPr/>
          </p:nvSpPr>
          <p:spPr bwMode="auto">
            <a:xfrm>
              <a:off x="2496" y="1812"/>
              <a:ext cx="288" cy="864"/>
            </a:xfrm>
            <a:prstGeom prst="rightBrace">
              <a:avLst>
                <a:gd name="adj1" fmla="val 25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94216" name="Text Box 7"/>
            <p:cNvSpPr txBox="1">
              <a:spLocks noChangeArrowheads="1"/>
            </p:cNvSpPr>
            <p:nvPr/>
          </p:nvSpPr>
          <p:spPr bwMode="auto">
            <a:xfrm>
              <a:off x="2736" y="1872"/>
              <a:ext cx="2960" cy="7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25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Luôn thay ký hiệu không kết thúc </a:t>
              </a:r>
              <a:r>
                <a:rPr lang="en-US" altLang="en-US" sz="2800" b="0" i="1">
                  <a:solidFill>
                    <a:srgbClr val="E46B20"/>
                  </a:solidFill>
                </a:rPr>
                <a:t>bên phải nhất</a:t>
              </a:r>
              <a:r>
                <a:rPr lang="en-US" altLang="en-US" sz="2800" b="0"/>
                <a:t> của xâu</a:t>
              </a:r>
            </a:p>
          </p:txBody>
        </p:sp>
      </p:grpSp>
      <p:sp>
        <p:nvSpPr>
          <p:cNvPr id="94214" name="Text Box 8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5. Văn phạm phi ngữ cảnh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01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01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501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501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1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5011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1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5011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25A508D-E411-48F7-AD82-812906B2D263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94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952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Văn phạm đơn nghĩa</a:t>
            </a:r>
          </a:p>
        </p:txBody>
      </p:sp>
      <p:sp>
        <p:nvSpPr>
          <p:cNvPr id="9523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610600" cy="584517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F85124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cs typeface="Arial" panose="020B0604020202020204" pitchFamily="34" charset="0"/>
              </a:rPr>
              <a:t>Văn phạm PNC G=(V</a:t>
            </a:r>
            <a:r>
              <a:rPr lang="en-US" altLang="en-US" baseline="-25000">
                <a:cs typeface="Arial" panose="020B0604020202020204" pitchFamily="34" charset="0"/>
              </a:rPr>
              <a:t>T</a:t>
            </a:r>
            <a:r>
              <a:rPr lang="en-US" altLang="en-US">
                <a:cs typeface="Arial" panose="020B0604020202020204" pitchFamily="34" charset="0"/>
              </a:rPr>
              <a:t>,V</a:t>
            </a:r>
            <a:r>
              <a:rPr lang="en-US" altLang="en-US" baseline="-25000">
                <a:cs typeface="Arial" panose="020B0604020202020204" pitchFamily="34" charset="0"/>
              </a:rPr>
              <a:t>N</a:t>
            </a:r>
            <a:r>
              <a:rPr lang="en-US" altLang="en-US">
                <a:cs typeface="Arial" panose="020B0604020202020204" pitchFamily="34" charset="0"/>
              </a:rPr>
              <a:t>,P,S) đơn nghĩa nếu </a:t>
            </a:r>
          </a:p>
          <a:p>
            <a:pPr marL="566738" lvl="1" indent="-276225" eaLnBrk="1" hangingPunct="1">
              <a:lnSpc>
                <a:spcPct val="110000"/>
              </a:lnSpc>
            </a:pPr>
            <a:r>
              <a:rPr lang="en-US" altLang="en-US">
                <a:cs typeface="Arial" panose="020B0604020202020204" pitchFamily="34" charset="0"/>
              </a:rPr>
              <a:t>Với mỗi câu 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  L(G) chỉ có đúng một suy dẫn trái </a:t>
            </a:r>
            <a:r>
              <a:rPr lang="en-US" altLang="en-US" i="1">
                <a:cs typeface="Arial" panose="020B0604020202020204" pitchFamily="34" charset="0"/>
                <a:sym typeface="Symbol" panose="05050102010706020507" pitchFamily="18" charset="2"/>
              </a:rPr>
              <a:t>(hoặc một suy dẫn phải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)  </a:t>
            </a:r>
            <a:r>
              <a:rPr lang="en-US" altLang="en-US">
                <a:solidFill>
                  <a:srgbClr val="F90F0F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Chỉ có đúng một cây suy dẫn</a:t>
            </a:r>
          </a:p>
          <a:p>
            <a:pPr marL="0" indent="0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solidFill>
                  <a:srgbClr val="292929"/>
                </a:solidFill>
                <a:cs typeface="Arial" panose="020B0604020202020204" pitchFamily="34" charset="0"/>
                <a:sym typeface="Symbol" panose="05050102010706020507" pitchFamily="18" charset="2"/>
              </a:rPr>
              <a:t>Ngược lại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en-US" i="1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nếu có nhiều hơn một suy dẫn trái, hoặc một suy dẫn phải hoặc có nhiều cây suy dẫn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 Văn phạm nhập nhằng</a:t>
            </a:r>
          </a:p>
          <a:p>
            <a:pPr marL="566738" lvl="1" indent="-276225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Nếu   L(G)  có nhiều hơn 2 cây suy dẫn </a:t>
            </a:r>
          </a:p>
          <a:p>
            <a:pPr marL="566738" lvl="1" indent="-276225" eaLnBrk="1" hangingPunct="1">
              <a:lnSpc>
                <a:spcPct val="110000"/>
              </a:lnSpc>
              <a:buFont typeface="Symbol" panose="05050102010706020507" pitchFamily="18" charset="2"/>
              <a:buChar char="Þ"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Có thể phân tích cú pháp theo nhiều hơn 2 cách </a:t>
            </a:r>
          </a:p>
          <a:p>
            <a:pPr marL="566738" lvl="1" indent="-276225" eaLnBrk="1" hangingPunct="1">
              <a:lnSpc>
                <a:spcPct val="110000"/>
              </a:lnSpc>
              <a:buFont typeface="Symbol" panose="05050102010706020507" pitchFamily="18" charset="2"/>
              <a:buChar char="Þ"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Nhiều hơn 2 cách hiểu</a:t>
            </a:r>
          </a:p>
        </p:txBody>
      </p:sp>
      <p:sp>
        <p:nvSpPr>
          <p:cNvPr id="95237" name="Text Box 8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5. Văn phạm phi ngữ cảnh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D8450EE-27FB-4CEC-8E66-7CD14FDC729C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95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Văn phạm đơn nghĩa</a:t>
            </a:r>
            <a:r>
              <a:rPr lang="en-US" altLang="en-US" sz="2800">
                <a:sym typeface="Symbol" panose="05050102010706020507" pitchFamily="18" charset="2"/>
              </a:rPr>
              <a:t>Ví dụ 1</a:t>
            </a:r>
          </a:p>
        </p:txBody>
      </p:sp>
      <p:sp>
        <p:nvSpPr>
          <p:cNvPr id="9626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610600" cy="19050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F85124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spcBef>
                <a:spcPct val="5000"/>
              </a:spcBef>
              <a:buFontTx/>
              <a:buNone/>
            </a:pPr>
            <a:r>
              <a:rPr lang="en-US" altLang="en-US">
                <a:cs typeface="Arial" panose="020B0604020202020204" pitchFamily="34" charset="0"/>
              </a:rPr>
              <a:t>Văn phạm: </a:t>
            </a:r>
            <a:r>
              <a:rPr lang="en-US" altLang="en-US" sz="3600">
                <a:cs typeface="Arial" panose="020B0604020202020204" pitchFamily="34" charset="0"/>
              </a:rPr>
              <a:t>E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 E+E | E*E | (E) | a</a:t>
            </a:r>
          </a:p>
          <a:p>
            <a:pPr marL="0" indent="0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Xâu: </a:t>
            </a:r>
            <a:r>
              <a:rPr lang="en-US" altLang="en-US" b="1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</a:t>
            </a:r>
            <a:r>
              <a:rPr lang="en-US" altLang="en-US">
                <a:solidFill>
                  <a:srgbClr val="4100C4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=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 </a:t>
            </a:r>
            <a:r>
              <a:rPr lang="en-US" altLang="en-US">
                <a:solidFill>
                  <a:srgbClr val="00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a + a * a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là biên của 2 cây suy dẫn</a:t>
            </a:r>
          </a:p>
          <a:p>
            <a:pPr marL="0" indent="0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solidFill>
                  <a:srgbClr val="0000CC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Văn pham nhập nhằng</a:t>
            </a:r>
          </a:p>
        </p:txBody>
      </p:sp>
      <p:grpSp>
        <p:nvGrpSpPr>
          <p:cNvPr id="96261" name="Group 57"/>
          <p:cNvGrpSpPr>
            <a:grpSpLocks/>
          </p:cNvGrpSpPr>
          <p:nvPr/>
        </p:nvGrpSpPr>
        <p:grpSpPr bwMode="auto">
          <a:xfrm>
            <a:off x="762000" y="2743200"/>
            <a:ext cx="2681288" cy="2581275"/>
            <a:chOff x="336" y="2016"/>
            <a:chExt cx="1689" cy="1626"/>
          </a:xfrm>
        </p:grpSpPr>
        <p:sp>
          <p:nvSpPr>
            <p:cNvPr id="96292" name="Freeform 56"/>
            <p:cNvSpPr>
              <a:spLocks/>
            </p:cNvSpPr>
            <p:nvPr/>
          </p:nvSpPr>
          <p:spPr bwMode="auto">
            <a:xfrm>
              <a:off x="384" y="2448"/>
              <a:ext cx="1632" cy="1152"/>
            </a:xfrm>
            <a:custGeom>
              <a:avLst/>
              <a:gdLst>
                <a:gd name="T0" fmla="*/ 0 w 1632"/>
                <a:gd name="T1" fmla="*/ 912 h 1152"/>
                <a:gd name="T2" fmla="*/ 288 w 1632"/>
                <a:gd name="T3" fmla="*/ 912 h 1152"/>
                <a:gd name="T4" fmla="*/ 528 w 1632"/>
                <a:gd name="T5" fmla="*/ 432 h 1152"/>
                <a:gd name="T6" fmla="*/ 720 w 1632"/>
                <a:gd name="T7" fmla="*/ 432 h 1152"/>
                <a:gd name="T8" fmla="*/ 960 w 1632"/>
                <a:gd name="T9" fmla="*/ 912 h 1152"/>
                <a:gd name="T10" fmla="*/ 1200 w 1632"/>
                <a:gd name="T11" fmla="*/ 912 h 1152"/>
                <a:gd name="T12" fmla="*/ 1152 w 1632"/>
                <a:gd name="T13" fmla="*/ 288 h 1152"/>
                <a:gd name="T14" fmla="*/ 912 w 1632"/>
                <a:gd name="T15" fmla="*/ 96 h 1152"/>
                <a:gd name="T16" fmla="*/ 960 w 1632"/>
                <a:gd name="T17" fmla="*/ 0 h 1152"/>
                <a:gd name="T18" fmla="*/ 1104 w 1632"/>
                <a:gd name="T19" fmla="*/ 0 h 1152"/>
                <a:gd name="T20" fmla="*/ 1392 w 1632"/>
                <a:gd name="T21" fmla="*/ 432 h 1152"/>
                <a:gd name="T22" fmla="*/ 1632 w 1632"/>
                <a:gd name="T23" fmla="*/ 432 h 1152"/>
                <a:gd name="T24" fmla="*/ 1632 w 1632"/>
                <a:gd name="T25" fmla="*/ 672 h 1152"/>
                <a:gd name="T26" fmla="*/ 1392 w 1632"/>
                <a:gd name="T27" fmla="*/ 672 h 1152"/>
                <a:gd name="T28" fmla="*/ 1200 w 1632"/>
                <a:gd name="T29" fmla="*/ 1152 h 1152"/>
                <a:gd name="T30" fmla="*/ 912 w 1632"/>
                <a:gd name="T31" fmla="*/ 1152 h 1152"/>
                <a:gd name="T32" fmla="*/ 672 w 1632"/>
                <a:gd name="T33" fmla="*/ 720 h 1152"/>
                <a:gd name="T34" fmla="*/ 576 w 1632"/>
                <a:gd name="T35" fmla="*/ 720 h 1152"/>
                <a:gd name="T36" fmla="*/ 336 w 1632"/>
                <a:gd name="T37" fmla="*/ 1152 h 1152"/>
                <a:gd name="T38" fmla="*/ 0 w 1632"/>
                <a:gd name="T39" fmla="*/ 1152 h 1152"/>
                <a:gd name="T40" fmla="*/ 0 w 1632"/>
                <a:gd name="T41" fmla="*/ 912 h 115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632" h="1152">
                  <a:moveTo>
                    <a:pt x="0" y="912"/>
                  </a:moveTo>
                  <a:lnTo>
                    <a:pt x="288" y="912"/>
                  </a:lnTo>
                  <a:lnTo>
                    <a:pt x="528" y="432"/>
                  </a:lnTo>
                  <a:lnTo>
                    <a:pt x="720" y="432"/>
                  </a:lnTo>
                  <a:lnTo>
                    <a:pt x="960" y="912"/>
                  </a:lnTo>
                  <a:lnTo>
                    <a:pt x="1200" y="912"/>
                  </a:lnTo>
                  <a:lnTo>
                    <a:pt x="1152" y="288"/>
                  </a:lnTo>
                  <a:lnTo>
                    <a:pt x="912" y="96"/>
                  </a:lnTo>
                  <a:lnTo>
                    <a:pt x="960" y="0"/>
                  </a:lnTo>
                  <a:lnTo>
                    <a:pt x="1104" y="0"/>
                  </a:lnTo>
                  <a:lnTo>
                    <a:pt x="1392" y="432"/>
                  </a:lnTo>
                  <a:lnTo>
                    <a:pt x="1632" y="432"/>
                  </a:lnTo>
                  <a:lnTo>
                    <a:pt x="1632" y="672"/>
                  </a:lnTo>
                  <a:lnTo>
                    <a:pt x="1392" y="672"/>
                  </a:lnTo>
                  <a:lnTo>
                    <a:pt x="1200" y="1152"/>
                  </a:lnTo>
                  <a:lnTo>
                    <a:pt x="912" y="1152"/>
                  </a:lnTo>
                  <a:lnTo>
                    <a:pt x="672" y="720"/>
                  </a:lnTo>
                  <a:lnTo>
                    <a:pt x="576" y="720"/>
                  </a:lnTo>
                  <a:lnTo>
                    <a:pt x="336" y="1152"/>
                  </a:lnTo>
                  <a:lnTo>
                    <a:pt x="0" y="1152"/>
                  </a:lnTo>
                  <a:lnTo>
                    <a:pt x="0" y="912"/>
                  </a:lnTo>
                  <a:close/>
                </a:path>
              </a:pathLst>
            </a:custGeom>
            <a:solidFill>
              <a:srgbClr val="E1E1E1"/>
            </a:solidFill>
            <a:ln w="9525" cap="flat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6293" name="Group 6"/>
            <p:cNvGrpSpPr>
              <a:grpSpLocks/>
            </p:cNvGrpSpPr>
            <p:nvPr/>
          </p:nvGrpSpPr>
          <p:grpSpPr bwMode="auto">
            <a:xfrm>
              <a:off x="336" y="2901"/>
              <a:ext cx="396" cy="741"/>
              <a:chOff x="240" y="2448"/>
              <a:chExt cx="396" cy="741"/>
            </a:xfrm>
          </p:grpSpPr>
          <p:sp>
            <p:nvSpPr>
              <p:cNvPr id="96314" name="Text Box 7"/>
              <p:cNvSpPr txBox="1">
                <a:spLocks noChangeArrowheads="1"/>
              </p:cNvSpPr>
              <p:nvPr/>
            </p:nvSpPr>
            <p:spPr bwMode="auto">
              <a:xfrm>
                <a:off x="240" y="244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E</a:t>
                </a:r>
              </a:p>
            </p:txBody>
          </p:sp>
          <p:sp>
            <p:nvSpPr>
              <p:cNvPr id="96315" name="Text Box 8"/>
              <p:cNvSpPr txBox="1">
                <a:spLocks noChangeArrowheads="1"/>
              </p:cNvSpPr>
              <p:nvPr/>
            </p:nvSpPr>
            <p:spPr bwMode="auto">
              <a:xfrm>
                <a:off x="252" y="286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a</a:t>
                </a:r>
              </a:p>
            </p:txBody>
          </p:sp>
          <p:sp>
            <p:nvSpPr>
              <p:cNvPr id="96316" name="Line 9"/>
              <p:cNvSpPr>
                <a:spLocks noChangeShapeType="1"/>
              </p:cNvSpPr>
              <p:nvPr/>
            </p:nvSpPr>
            <p:spPr bwMode="auto">
              <a:xfrm flipV="1">
                <a:off x="432" y="270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294" name="Group 10"/>
            <p:cNvGrpSpPr>
              <a:grpSpLocks/>
            </p:cNvGrpSpPr>
            <p:nvPr/>
          </p:nvGrpSpPr>
          <p:grpSpPr bwMode="auto">
            <a:xfrm>
              <a:off x="768" y="2448"/>
              <a:ext cx="396" cy="741"/>
              <a:chOff x="240" y="2448"/>
              <a:chExt cx="396" cy="741"/>
            </a:xfrm>
          </p:grpSpPr>
          <p:sp>
            <p:nvSpPr>
              <p:cNvPr id="96311" name="Text Box 11"/>
              <p:cNvSpPr txBox="1">
                <a:spLocks noChangeArrowheads="1"/>
              </p:cNvSpPr>
              <p:nvPr/>
            </p:nvSpPr>
            <p:spPr bwMode="auto">
              <a:xfrm>
                <a:off x="240" y="244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E</a:t>
                </a:r>
              </a:p>
            </p:txBody>
          </p:sp>
          <p:sp>
            <p:nvSpPr>
              <p:cNvPr id="96312" name="Text Box 12"/>
              <p:cNvSpPr txBox="1">
                <a:spLocks noChangeArrowheads="1"/>
              </p:cNvSpPr>
              <p:nvPr/>
            </p:nvSpPr>
            <p:spPr bwMode="auto">
              <a:xfrm>
                <a:off x="252" y="286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+</a:t>
                </a:r>
              </a:p>
            </p:txBody>
          </p:sp>
          <p:sp>
            <p:nvSpPr>
              <p:cNvPr id="96313" name="Line 13"/>
              <p:cNvSpPr>
                <a:spLocks noChangeShapeType="1"/>
              </p:cNvSpPr>
              <p:nvPr/>
            </p:nvSpPr>
            <p:spPr bwMode="auto">
              <a:xfrm flipV="1">
                <a:off x="432" y="270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295" name="Group 14"/>
            <p:cNvGrpSpPr>
              <a:grpSpLocks/>
            </p:cNvGrpSpPr>
            <p:nvPr/>
          </p:nvGrpSpPr>
          <p:grpSpPr bwMode="auto">
            <a:xfrm>
              <a:off x="1218" y="2898"/>
              <a:ext cx="396" cy="741"/>
              <a:chOff x="240" y="2448"/>
              <a:chExt cx="396" cy="741"/>
            </a:xfrm>
          </p:grpSpPr>
          <p:sp>
            <p:nvSpPr>
              <p:cNvPr id="96308" name="Text Box 15"/>
              <p:cNvSpPr txBox="1">
                <a:spLocks noChangeArrowheads="1"/>
              </p:cNvSpPr>
              <p:nvPr/>
            </p:nvSpPr>
            <p:spPr bwMode="auto">
              <a:xfrm>
                <a:off x="240" y="244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E</a:t>
                </a:r>
              </a:p>
            </p:txBody>
          </p:sp>
          <p:sp>
            <p:nvSpPr>
              <p:cNvPr id="96309" name="Text Box 16"/>
              <p:cNvSpPr txBox="1">
                <a:spLocks noChangeArrowheads="1"/>
              </p:cNvSpPr>
              <p:nvPr/>
            </p:nvSpPr>
            <p:spPr bwMode="auto">
              <a:xfrm>
                <a:off x="252" y="286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a</a:t>
                </a:r>
              </a:p>
            </p:txBody>
          </p:sp>
          <p:sp>
            <p:nvSpPr>
              <p:cNvPr id="96310" name="Line 17"/>
              <p:cNvSpPr>
                <a:spLocks noChangeShapeType="1"/>
              </p:cNvSpPr>
              <p:nvPr/>
            </p:nvSpPr>
            <p:spPr bwMode="auto">
              <a:xfrm flipV="1">
                <a:off x="432" y="270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296" name="Group 18"/>
            <p:cNvGrpSpPr>
              <a:grpSpLocks/>
            </p:cNvGrpSpPr>
            <p:nvPr/>
          </p:nvGrpSpPr>
          <p:grpSpPr bwMode="auto">
            <a:xfrm>
              <a:off x="1200" y="2016"/>
              <a:ext cx="396" cy="741"/>
              <a:chOff x="240" y="2448"/>
              <a:chExt cx="396" cy="741"/>
            </a:xfrm>
          </p:grpSpPr>
          <p:sp>
            <p:nvSpPr>
              <p:cNvPr id="96305" name="Text Box 19"/>
              <p:cNvSpPr txBox="1">
                <a:spLocks noChangeArrowheads="1"/>
              </p:cNvSpPr>
              <p:nvPr/>
            </p:nvSpPr>
            <p:spPr bwMode="auto">
              <a:xfrm>
                <a:off x="240" y="244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E</a:t>
                </a:r>
              </a:p>
            </p:txBody>
          </p:sp>
          <p:sp>
            <p:nvSpPr>
              <p:cNvPr id="96306" name="Text Box 20"/>
              <p:cNvSpPr txBox="1">
                <a:spLocks noChangeArrowheads="1"/>
              </p:cNvSpPr>
              <p:nvPr/>
            </p:nvSpPr>
            <p:spPr bwMode="auto">
              <a:xfrm>
                <a:off x="252" y="286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*</a:t>
                </a:r>
              </a:p>
            </p:txBody>
          </p:sp>
          <p:sp>
            <p:nvSpPr>
              <p:cNvPr id="96307" name="Line 21"/>
              <p:cNvSpPr>
                <a:spLocks noChangeShapeType="1"/>
              </p:cNvSpPr>
              <p:nvPr/>
            </p:nvSpPr>
            <p:spPr bwMode="auto">
              <a:xfrm flipV="1">
                <a:off x="432" y="270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6297" name="Line 22"/>
            <p:cNvSpPr>
              <a:spLocks noChangeShapeType="1"/>
            </p:cNvSpPr>
            <p:nvPr/>
          </p:nvSpPr>
          <p:spPr bwMode="auto">
            <a:xfrm>
              <a:off x="1449" y="2268"/>
              <a:ext cx="288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98" name="Line 23"/>
            <p:cNvSpPr>
              <a:spLocks noChangeShapeType="1"/>
            </p:cNvSpPr>
            <p:nvPr/>
          </p:nvSpPr>
          <p:spPr bwMode="auto">
            <a:xfrm flipH="1">
              <a:off x="1056" y="2277"/>
              <a:ext cx="288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99" name="Line 24"/>
            <p:cNvSpPr>
              <a:spLocks noChangeShapeType="1"/>
            </p:cNvSpPr>
            <p:nvPr/>
          </p:nvSpPr>
          <p:spPr bwMode="auto">
            <a:xfrm flipH="1">
              <a:off x="576" y="2709"/>
              <a:ext cx="288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300" name="Line 25"/>
            <p:cNvSpPr>
              <a:spLocks noChangeShapeType="1"/>
            </p:cNvSpPr>
            <p:nvPr/>
          </p:nvSpPr>
          <p:spPr bwMode="auto">
            <a:xfrm>
              <a:off x="1077" y="2688"/>
              <a:ext cx="288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6301" name="Group 26"/>
            <p:cNvGrpSpPr>
              <a:grpSpLocks/>
            </p:cNvGrpSpPr>
            <p:nvPr/>
          </p:nvGrpSpPr>
          <p:grpSpPr bwMode="auto">
            <a:xfrm>
              <a:off x="1629" y="2439"/>
              <a:ext cx="396" cy="741"/>
              <a:chOff x="240" y="2448"/>
              <a:chExt cx="396" cy="741"/>
            </a:xfrm>
          </p:grpSpPr>
          <p:sp>
            <p:nvSpPr>
              <p:cNvPr id="96302" name="Text Box 27"/>
              <p:cNvSpPr txBox="1">
                <a:spLocks noChangeArrowheads="1"/>
              </p:cNvSpPr>
              <p:nvPr/>
            </p:nvSpPr>
            <p:spPr bwMode="auto">
              <a:xfrm>
                <a:off x="240" y="244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E</a:t>
                </a:r>
              </a:p>
            </p:txBody>
          </p:sp>
          <p:sp>
            <p:nvSpPr>
              <p:cNvPr id="96303" name="Text Box 28"/>
              <p:cNvSpPr txBox="1">
                <a:spLocks noChangeArrowheads="1"/>
              </p:cNvSpPr>
              <p:nvPr/>
            </p:nvSpPr>
            <p:spPr bwMode="auto">
              <a:xfrm>
                <a:off x="252" y="286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a</a:t>
                </a:r>
              </a:p>
            </p:txBody>
          </p:sp>
          <p:sp>
            <p:nvSpPr>
              <p:cNvPr id="96304" name="Line 29"/>
              <p:cNvSpPr>
                <a:spLocks noChangeShapeType="1"/>
              </p:cNvSpPr>
              <p:nvPr/>
            </p:nvSpPr>
            <p:spPr bwMode="auto">
              <a:xfrm flipV="1">
                <a:off x="432" y="270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96262" name="Group 58"/>
          <p:cNvGrpSpPr>
            <a:grpSpLocks/>
          </p:cNvGrpSpPr>
          <p:nvPr/>
        </p:nvGrpSpPr>
        <p:grpSpPr bwMode="auto">
          <a:xfrm>
            <a:off x="6096000" y="2709863"/>
            <a:ext cx="2552700" cy="2700337"/>
            <a:chOff x="3840" y="2043"/>
            <a:chExt cx="1608" cy="1701"/>
          </a:xfrm>
        </p:grpSpPr>
        <p:sp>
          <p:nvSpPr>
            <p:cNvPr id="96267" name="Freeform 55"/>
            <p:cNvSpPr>
              <a:spLocks/>
            </p:cNvSpPr>
            <p:nvPr/>
          </p:nvSpPr>
          <p:spPr bwMode="auto">
            <a:xfrm>
              <a:off x="3888" y="2496"/>
              <a:ext cx="1488" cy="1248"/>
            </a:xfrm>
            <a:custGeom>
              <a:avLst/>
              <a:gdLst>
                <a:gd name="T0" fmla="*/ 0 w 1488"/>
                <a:gd name="T1" fmla="*/ 528 h 1248"/>
                <a:gd name="T2" fmla="*/ 192 w 1488"/>
                <a:gd name="T3" fmla="*/ 528 h 1248"/>
                <a:gd name="T4" fmla="*/ 432 w 1488"/>
                <a:gd name="T5" fmla="*/ 0 h 1248"/>
                <a:gd name="T6" fmla="*/ 576 w 1488"/>
                <a:gd name="T7" fmla="*/ 0 h 1248"/>
                <a:gd name="T8" fmla="*/ 672 w 1488"/>
                <a:gd name="T9" fmla="*/ 144 h 1248"/>
                <a:gd name="T10" fmla="*/ 384 w 1488"/>
                <a:gd name="T11" fmla="*/ 624 h 1248"/>
                <a:gd name="T12" fmla="*/ 384 w 1488"/>
                <a:gd name="T13" fmla="*/ 960 h 1248"/>
                <a:gd name="T14" fmla="*/ 672 w 1488"/>
                <a:gd name="T15" fmla="*/ 960 h 1248"/>
                <a:gd name="T16" fmla="*/ 864 w 1488"/>
                <a:gd name="T17" fmla="*/ 480 h 1248"/>
                <a:gd name="T18" fmla="*/ 1056 w 1488"/>
                <a:gd name="T19" fmla="*/ 480 h 1248"/>
                <a:gd name="T20" fmla="*/ 1248 w 1488"/>
                <a:gd name="T21" fmla="*/ 1008 h 1248"/>
                <a:gd name="T22" fmla="*/ 1488 w 1488"/>
                <a:gd name="T23" fmla="*/ 1008 h 1248"/>
                <a:gd name="T24" fmla="*/ 1488 w 1488"/>
                <a:gd name="T25" fmla="*/ 1248 h 1248"/>
                <a:gd name="T26" fmla="*/ 1200 w 1488"/>
                <a:gd name="T27" fmla="*/ 1248 h 1248"/>
                <a:gd name="T28" fmla="*/ 960 w 1488"/>
                <a:gd name="T29" fmla="*/ 720 h 1248"/>
                <a:gd name="T30" fmla="*/ 720 w 1488"/>
                <a:gd name="T31" fmla="*/ 1248 h 1248"/>
                <a:gd name="T32" fmla="*/ 336 w 1488"/>
                <a:gd name="T33" fmla="*/ 1248 h 1248"/>
                <a:gd name="T34" fmla="*/ 288 w 1488"/>
                <a:gd name="T35" fmla="*/ 720 h 1248"/>
                <a:gd name="T36" fmla="*/ 0 w 1488"/>
                <a:gd name="T37" fmla="*/ 720 h 1248"/>
                <a:gd name="T38" fmla="*/ 0 w 1488"/>
                <a:gd name="T39" fmla="*/ 528 h 124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488" h="1248">
                  <a:moveTo>
                    <a:pt x="0" y="528"/>
                  </a:moveTo>
                  <a:lnTo>
                    <a:pt x="192" y="528"/>
                  </a:lnTo>
                  <a:lnTo>
                    <a:pt x="432" y="0"/>
                  </a:lnTo>
                  <a:lnTo>
                    <a:pt x="576" y="0"/>
                  </a:lnTo>
                  <a:lnTo>
                    <a:pt x="672" y="144"/>
                  </a:lnTo>
                  <a:lnTo>
                    <a:pt x="384" y="624"/>
                  </a:lnTo>
                  <a:lnTo>
                    <a:pt x="384" y="960"/>
                  </a:lnTo>
                  <a:lnTo>
                    <a:pt x="672" y="960"/>
                  </a:lnTo>
                  <a:lnTo>
                    <a:pt x="864" y="480"/>
                  </a:lnTo>
                  <a:lnTo>
                    <a:pt x="1056" y="480"/>
                  </a:lnTo>
                  <a:lnTo>
                    <a:pt x="1248" y="1008"/>
                  </a:lnTo>
                  <a:lnTo>
                    <a:pt x="1488" y="1008"/>
                  </a:lnTo>
                  <a:lnTo>
                    <a:pt x="1488" y="1248"/>
                  </a:lnTo>
                  <a:lnTo>
                    <a:pt x="1200" y="1248"/>
                  </a:lnTo>
                  <a:lnTo>
                    <a:pt x="960" y="720"/>
                  </a:lnTo>
                  <a:lnTo>
                    <a:pt x="720" y="1248"/>
                  </a:lnTo>
                  <a:lnTo>
                    <a:pt x="336" y="1248"/>
                  </a:lnTo>
                  <a:lnTo>
                    <a:pt x="288" y="720"/>
                  </a:lnTo>
                  <a:lnTo>
                    <a:pt x="0" y="720"/>
                  </a:lnTo>
                  <a:lnTo>
                    <a:pt x="0" y="528"/>
                  </a:lnTo>
                  <a:close/>
                </a:path>
              </a:pathLst>
            </a:custGeom>
            <a:solidFill>
              <a:srgbClr val="E1E1E1"/>
            </a:solidFill>
            <a:ln w="9525" cap="flat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6268" name="Group 31"/>
            <p:cNvGrpSpPr>
              <a:grpSpLocks/>
            </p:cNvGrpSpPr>
            <p:nvPr/>
          </p:nvGrpSpPr>
          <p:grpSpPr bwMode="auto">
            <a:xfrm>
              <a:off x="3840" y="2544"/>
              <a:ext cx="396" cy="741"/>
              <a:chOff x="240" y="2448"/>
              <a:chExt cx="396" cy="741"/>
            </a:xfrm>
          </p:grpSpPr>
          <p:sp>
            <p:nvSpPr>
              <p:cNvPr id="96289" name="Text Box 32"/>
              <p:cNvSpPr txBox="1">
                <a:spLocks noChangeArrowheads="1"/>
              </p:cNvSpPr>
              <p:nvPr/>
            </p:nvSpPr>
            <p:spPr bwMode="auto">
              <a:xfrm>
                <a:off x="240" y="244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E</a:t>
                </a:r>
              </a:p>
            </p:txBody>
          </p:sp>
          <p:sp>
            <p:nvSpPr>
              <p:cNvPr id="96290" name="Text Box 33"/>
              <p:cNvSpPr txBox="1">
                <a:spLocks noChangeArrowheads="1"/>
              </p:cNvSpPr>
              <p:nvPr/>
            </p:nvSpPr>
            <p:spPr bwMode="auto">
              <a:xfrm>
                <a:off x="252" y="286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a</a:t>
                </a:r>
              </a:p>
            </p:txBody>
          </p:sp>
          <p:sp>
            <p:nvSpPr>
              <p:cNvPr id="96291" name="Line 34"/>
              <p:cNvSpPr>
                <a:spLocks noChangeShapeType="1"/>
              </p:cNvSpPr>
              <p:nvPr/>
            </p:nvSpPr>
            <p:spPr bwMode="auto">
              <a:xfrm flipV="1">
                <a:off x="432" y="270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269" name="Group 35"/>
            <p:cNvGrpSpPr>
              <a:grpSpLocks/>
            </p:cNvGrpSpPr>
            <p:nvPr/>
          </p:nvGrpSpPr>
          <p:grpSpPr bwMode="auto">
            <a:xfrm>
              <a:off x="4236" y="2043"/>
              <a:ext cx="396" cy="741"/>
              <a:chOff x="240" y="2448"/>
              <a:chExt cx="396" cy="741"/>
            </a:xfrm>
          </p:grpSpPr>
          <p:sp>
            <p:nvSpPr>
              <p:cNvPr id="96286" name="Text Box 36"/>
              <p:cNvSpPr txBox="1">
                <a:spLocks noChangeArrowheads="1"/>
              </p:cNvSpPr>
              <p:nvPr/>
            </p:nvSpPr>
            <p:spPr bwMode="auto">
              <a:xfrm>
                <a:off x="240" y="244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E</a:t>
                </a:r>
              </a:p>
            </p:txBody>
          </p:sp>
          <p:sp>
            <p:nvSpPr>
              <p:cNvPr id="96287" name="Text Box 37"/>
              <p:cNvSpPr txBox="1">
                <a:spLocks noChangeArrowheads="1"/>
              </p:cNvSpPr>
              <p:nvPr/>
            </p:nvSpPr>
            <p:spPr bwMode="auto">
              <a:xfrm>
                <a:off x="252" y="286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+</a:t>
                </a:r>
              </a:p>
            </p:txBody>
          </p:sp>
          <p:sp>
            <p:nvSpPr>
              <p:cNvPr id="96288" name="Line 38"/>
              <p:cNvSpPr>
                <a:spLocks noChangeShapeType="1"/>
              </p:cNvSpPr>
              <p:nvPr/>
            </p:nvSpPr>
            <p:spPr bwMode="auto">
              <a:xfrm flipV="1">
                <a:off x="432" y="270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270" name="Group 39"/>
            <p:cNvGrpSpPr>
              <a:grpSpLocks/>
            </p:cNvGrpSpPr>
            <p:nvPr/>
          </p:nvGrpSpPr>
          <p:grpSpPr bwMode="auto">
            <a:xfrm>
              <a:off x="4272" y="3003"/>
              <a:ext cx="396" cy="741"/>
              <a:chOff x="240" y="2448"/>
              <a:chExt cx="396" cy="741"/>
            </a:xfrm>
          </p:grpSpPr>
          <p:sp>
            <p:nvSpPr>
              <p:cNvPr id="96283" name="Text Box 40"/>
              <p:cNvSpPr txBox="1">
                <a:spLocks noChangeArrowheads="1"/>
              </p:cNvSpPr>
              <p:nvPr/>
            </p:nvSpPr>
            <p:spPr bwMode="auto">
              <a:xfrm>
                <a:off x="240" y="244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E</a:t>
                </a:r>
              </a:p>
            </p:txBody>
          </p:sp>
          <p:sp>
            <p:nvSpPr>
              <p:cNvPr id="96284" name="Text Box 41"/>
              <p:cNvSpPr txBox="1">
                <a:spLocks noChangeArrowheads="1"/>
              </p:cNvSpPr>
              <p:nvPr/>
            </p:nvSpPr>
            <p:spPr bwMode="auto">
              <a:xfrm>
                <a:off x="252" y="286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a</a:t>
                </a:r>
              </a:p>
            </p:txBody>
          </p:sp>
          <p:sp>
            <p:nvSpPr>
              <p:cNvPr id="96285" name="Line 42"/>
              <p:cNvSpPr>
                <a:spLocks noChangeShapeType="1"/>
              </p:cNvSpPr>
              <p:nvPr/>
            </p:nvSpPr>
            <p:spPr bwMode="auto">
              <a:xfrm flipV="1">
                <a:off x="432" y="270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271" name="Group 43"/>
            <p:cNvGrpSpPr>
              <a:grpSpLocks/>
            </p:cNvGrpSpPr>
            <p:nvPr/>
          </p:nvGrpSpPr>
          <p:grpSpPr bwMode="auto">
            <a:xfrm>
              <a:off x="4656" y="2523"/>
              <a:ext cx="396" cy="741"/>
              <a:chOff x="240" y="2448"/>
              <a:chExt cx="396" cy="741"/>
            </a:xfrm>
          </p:grpSpPr>
          <p:sp>
            <p:nvSpPr>
              <p:cNvPr id="96280" name="Text Box 44"/>
              <p:cNvSpPr txBox="1">
                <a:spLocks noChangeArrowheads="1"/>
              </p:cNvSpPr>
              <p:nvPr/>
            </p:nvSpPr>
            <p:spPr bwMode="auto">
              <a:xfrm>
                <a:off x="240" y="244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E</a:t>
                </a:r>
              </a:p>
            </p:txBody>
          </p:sp>
          <p:sp>
            <p:nvSpPr>
              <p:cNvPr id="96281" name="Text Box 45"/>
              <p:cNvSpPr txBox="1">
                <a:spLocks noChangeArrowheads="1"/>
              </p:cNvSpPr>
              <p:nvPr/>
            </p:nvSpPr>
            <p:spPr bwMode="auto">
              <a:xfrm>
                <a:off x="252" y="286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*</a:t>
                </a:r>
              </a:p>
            </p:txBody>
          </p:sp>
          <p:sp>
            <p:nvSpPr>
              <p:cNvPr id="96282" name="Line 46"/>
              <p:cNvSpPr>
                <a:spLocks noChangeShapeType="1"/>
              </p:cNvSpPr>
              <p:nvPr/>
            </p:nvSpPr>
            <p:spPr bwMode="auto">
              <a:xfrm flipV="1">
                <a:off x="432" y="270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272" name="Group 47"/>
            <p:cNvGrpSpPr>
              <a:grpSpLocks/>
            </p:cNvGrpSpPr>
            <p:nvPr/>
          </p:nvGrpSpPr>
          <p:grpSpPr bwMode="auto">
            <a:xfrm>
              <a:off x="5052" y="3003"/>
              <a:ext cx="396" cy="741"/>
              <a:chOff x="240" y="2448"/>
              <a:chExt cx="396" cy="741"/>
            </a:xfrm>
          </p:grpSpPr>
          <p:sp>
            <p:nvSpPr>
              <p:cNvPr id="96277" name="Text Box 48"/>
              <p:cNvSpPr txBox="1">
                <a:spLocks noChangeArrowheads="1"/>
              </p:cNvSpPr>
              <p:nvPr/>
            </p:nvSpPr>
            <p:spPr bwMode="auto">
              <a:xfrm>
                <a:off x="240" y="244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E</a:t>
                </a:r>
              </a:p>
            </p:txBody>
          </p:sp>
          <p:sp>
            <p:nvSpPr>
              <p:cNvPr id="96278" name="Text Box 49"/>
              <p:cNvSpPr txBox="1">
                <a:spLocks noChangeArrowheads="1"/>
              </p:cNvSpPr>
              <p:nvPr/>
            </p:nvSpPr>
            <p:spPr bwMode="auto">
              <a:xfrm>
                <a:off x="252" y="2862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800" b="0"/>
                  <a:t>a</a:t>
                </a:r>
              </a:p>
            </p:txBody>
          </p:sp>
          <p:sp>
            <p:nvSpPr>
              <p:cNvPr id="96279" name="Line 50"/>
              <p:cNvSpPr>
                <a:spLocks noChangeShapeType="1"/>
              </p:cNvSpPr>
              <p:nvPr/>
            </p:nvSpPr>
            <p:spPr bwMode="auto">
              <a:xfrm flipV="1">
                <a:off x="432" y="2706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6273" name="Line 51"/>
            <p:cNvSpPr>
              <a:spLocks noChangeShapeType="1"/>
            </p:cNvSpPr>
            <p:nvPr/>
          </p:nvSpPr>
          <p:spPr bwMode="auto">
            <a:xfrm flipH="1">
              <a:off x="4524" y="2784"/>
              <a:ext cx="288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74" name="Line 52"/>
            <p:cNvSpPr>
              <a:spLocks noChangeShapeType="1"/>
            </p:cNvSpPr>
            <p:nvPr/>
          </p:nvSpPr>
          <p:spPr bwMode="auto">
            <a:xfrm flipH="1">
              <a:off x="4092" y="2331"/>
              <a:ext cx="288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75" name="Line 53"/>
            <p:cNvSpPr>
              <a:spLocks noChangeShapeType="1"/>
            </p:cNvSpPr>
            <p:nvPr/>
          </p:nvSpPr>
          <p:spPr bwMode="auto">
            <a:xfrm flipH="1" flipV="1">
              <a:off x="4908" y="2784"/>
              <a:ext cx="288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76" name="Line 54"/>
            <p:cNvSpPr>
              <a:spLocks noChangeShapeType="1"/>
            </p:cNvSpPr>
            <p:nvPr/>
          </p:nvSpPr>
          <p:spPr bwMode="auto">
            <a:xfrm flipH="1" flipV="1">
              <a:off x="4476" y="2331"/>
              <a:ext cx="288" cy="2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03291" name="Text Box 59"/>
          <p:cNvSpPr txBox="1">
            <a:spLocks noChangeArrowheads="1"/>
          </p:cNvSpPr>
          <p:nvPr/>
        </p:nvSpPr>
        <p:spPr bwMode="auto">
          <a:xfrm>
            <a:off x="3962400" y="3886200"/>
            <a:ext cx="1752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3600" b="0">
                <a:solidFill>
                  <a:srgbClr val="F90F0F"/>
                </a:solidFill>
              </a:rPr>
              <a:t> a = 2</a:t>
            </a:r>
          </a:p>
        </p:txBody>
      </p:sp>
      <p:sp>
        <p:nvSpPr>
          <p:cNvPr id="1503292" name="Text Box 60"/>
          <p:cNvSpPr txBox="1">
            <a:spLocks noChangeArrowheads="1"/>
          </p:cNvSpPr>
          <p:nvPr/>
        </p:nvSpPr>
        <p:spPr bwMode="auto">
          <a:xfrm>
            <a:off x="914400" y="5638800"/>
            <a:ext cx="1752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3600" b="0">
                <a:solidFill>
                  <a:srgbClr val="F90F0F"/>
                </a:solidFill>
              </a:rPr>
              <a:t> E = 8</a:t>
            </a:r>
          </a:p>
        </p:txBody>
      </p:sp>
      <p:sp>
        <p:nvSpPr>
          <p:cNvPr id="1503293" name="Text Box 61"/>
          <p:cNvSpPr txBox="1">
            <a:spLocks noChangeArrowheads="1"/>
          </p:cNvSpPr>
          <p:nvPr/>
        </p:nvSpPr>
        <p:spPr bwMode="auto">
          <a:xfrm>
            <a:off x="6629400" y="5638800"/>
            <a:ext cx="1752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3600" b="0">
                <a:solidFill>
                  <a:srgbClr val="F90F0F"/>
                </a:solidFill>
              </a:rPr>
              <a:t> E = 6</a:t>
            </a:r>
          </a:p>
        </p:txBody>
      </p:sp>
      <p:sp>
        <p:nvSpPr>
          <p:cNvPr id="96266" name="Text Box 6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5. Văn phạm phi ngữ cảnh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1503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03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03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3291" grpId="0"/>
      <p:bldP spid="1503292" grpId="0"/>
      <p:bldP spid="1503293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F4C1AD-1E32-4DCE-AFAF-84748E07116E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96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972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Văn phạm đơn nghĩa </a:t>
            </a:r>
            <a:r>
              <a:rPr lang="en-US" altLang="en-US" sz="2800">
                <a:sym typeface="Symbol" panose="05050102010706020507" pitchFamily="18" charset="2"/>
              </a:rPr>
              <a:t>Ví dụ 2</a:t>
            </a:r>
          </a:p>
        </p:txBody>
      </p:sp>
      <p:sp>
        <p:nvSpPr>
          <p:cNvPr id="150426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610600" cy="584517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F85124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algn="ctr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cs typeface="Arial" panose="020B0604020202020204" pitchFamily="34" charset="0"/>
              </a:rPr>
              <a:t>G=(V</a:t>
            </a:r>
            <a:r>
              <a:rPr lang="en-US" altLang="en-US" baseline="-25000">
                <a:cs typeface="Arial" panose="020B0604020202020204" pitchFamily="34" charset="0"/>
              </a:rPr>
              <a:t>T</a:t>
            </a:r>
            <a:r>
              <a:rPr lang="en-US" altLang="en-US">
                <a:cs typeface="Arial" panose="020B0604020202020204" pitchFamily="34" charset="0"/>
              </a:rPr>
              <a:t>,V</a:t>
            </a:r>
            <a:r>
              <a:rPr lang="en-US" altLang="en-US" baseline="-25000">
                <a:cs typeface="Arial" panose="020B0604020202020204" pitchFamily="34" charset="0"/>
              </a:rPr>
              <a:t>N</a:t>
            </a:r>
            <a:r>
              <a:rPr lang="en-US" altLang="en-US">
                <a:cs typeface="Arial" panose="020B0604020202020204" pitchFamily="34" charset="0"/>
              </a:rPr>
              <a:t>,P,S)</a:t>
            </a:r>
          </a:p>
          <a:p>
            <a:pPr marL="0" indent="0" eaLnBrk="1" hangingPunct="1">
              <a:lnSpc>
                <a:spcPct val="110000"/>
              </a:lnSpc>
              <a:buFontTx/>
              <a:buNone/>
            </a:pPr>
            <a:r>
              <a:rPr lang="en-US" altLang="en-US" sz="2800">
                <a:cs typeface="Arial" panose="020B0604020202020204" pitchFamily="34" charset="0"/>
              </a:rPr>
              <a:t>V</a:t>
            </a:r>
            <a:r>
              <a:rPr lang="en-US" altLang="en-US" sz="2800" baseline="-25000">
                <a:cs typeface="Arial" panose="020B0604020202020204" pitchFamily="34" charset="0"/>
              </a:rPr>
              <a:t>T</a:t>
            </a:r>
            <a:r>
              <a:rPr lang="en-US" altLang="en-US" sz="2800">
                <a:cs typeface="Arial" panose="020B0604020202020204" pitchFamily="34" charset="0"/>
              </a:rPr>
              <a:t> = {if, then, else}</a:t>
            </a:r>
          </a:p>
          <a:p>
            <a:pPr marL="0" indent="0" eaLnBrk="1" hangingPunct="1">
              <a:lnSpc>
                <a:spcPct val="110000"/>
              </a:lnSpc>
              <a:buFontTx/>
              <a:buNone/>
            </a:pPr>
            <a:r>
              <a:rPr lang="en-US" altLang="en-US" sz="2800">
                <a:cs typeface="Arial" panose="020B0604020202020204" pitchFamily="34" charset="0"/>
              </a:rPr>
              <a:t>V</a:t>
            </a:r>
            <a:r>
              <a:rPr lang="en-US" altLang="en-US" sz="2800" baseline="-25000">
                <a:cs typeface="Arial" panose="020B0604020202020204" pitchFamily="34" charset="0"/>
              </a:rPr>
              <a:t>N</a:t>
            </a:r>
            <a:r>
              <a:rPr lang="en-US" altLang="en-US" sz="2800">
                <a:cs typeface="Arial" panose="020B0604020202020204" pitchFamily="34" charset="0"/>
              </a:rPr>
              <a:t>={&lt;Cond&gt;, &lt;Stmt&gt;}</a:t>
            </a:r>
          </a:p>
          <a:p>
            <a:pPr marL="0" indent="0" eaLnBrk="1" hangingPunct="1">
              <a:lnSpc>
                <a:spcPct val="110000"/>
              </a:lnSpc>
              <a:buFontTx/>
              <a:buNone/>
            </a:pPr>
            <a:r>
              <a:rPr lang="en-US" altLang="en-US" sz="2800">
                <a:cs typeface="Arial" panose="020B0604020202020204" pitchFamily="34" charset="0"/>
              </a:rPr>
              <a:t>S: &lt;Stmt&gt;</a:t>
            </a:r>
          </a:p>
          <a:p>
            <a:pPr marL="0" indent="0" eaLnBrk="1" hangingPunct="1">
              <a:lnSpc>
                <a:spcPct val="110000"/>
              </a:lnSpc>
              <a:buFontTx/>
              <a:buNone/>
            </a:pPr>
            <a:r>
              <a:rPr lang="en-US" altLang="en-US" sz="2800">
                <a:cs typeface="Arial" panose="020B0604020202020204" pitchFamily="34" charset="0"/>
              </a:rPr>
              <a:t>P = {	&lt;Stmt&gt; </a:t>
            </a:r>
            <a:r>
              <a:rPr lang="en-US" altLang="en-US" sz="2800">
                <a:sym typeface="Symbol" panose="05050102010706020507" pitchFamily="18" charset="2"/>
              </a:rPr>
              <a:t>if &lt;Cond&gt; then &lt;Stmt&gt;</a:t>
            </a:r>
          </a:p>
          <a:p>
            <a:pPr marL="0" indent="0" eaLnBrk="1" hangingPunct="1">
              <a:lnSpc>
                <a:spcPct val="110000"/>
              </a:lnSpc>
              <a:buFontTx/>
              <a:buNone/>
            </a:pPr>
            <a:r>
              <a:rPr lang="en-US" altLang="en-US" sz="2800">
                <a:cs typeface="Arial" panose="020B0604020202020204" pitchFamily="34" charset="0"/>
              </a:rPr>
              <a:t>         &lt;Stmt&gt; </a:t>
            </a:r>
            <a:r>
              <a:rPr lang="en-US" altLang="en-US" sz="2800">
                <a:sym typeface="Symbol" panose="05050102010706020507" pitchFamily="18" charset="2"/>
              </a:rPr>
              <a:t>if &lt;Cond&gt; then &lt;Stmt&gt; else &lt;Stmt&gt;</a:t>
            </a:r>
            <a:r>
              <a:rPr lang="en-US" altLang="en-US" sz="2800">
                <a:cs typeface="Arial" panose="020B0604020202020204" pitchFamily="34" charset="0"/>
              </a:rPr>
              <a:t>}</a:t>
            </a:r>
          </a:p>
          <a:p>
            <a:pPr marL="0" indent="0" eaLnBrk="1" hangingPunct="1">
              <a:lnSpc>
                <a:spcPct val="110000"/>
              </a:lnSpc>
              <a:buFontTx/>
              <a:buNone/>
            </a:pPr>
            <a:r>
              <a:rPr lang="en-US" altLang="en-US" sz="2800">
                <a:cs typeface="Arial" panose="020B0604020202020204" pitchFamily="34" charset="0"/>
              </a:rPr>
              <a:t>Xét dạng câu</a:t>
            </a:r>
          </a:p>
          <a:p>
            <a:pPr marL="0" indent="0" eaLnBrk="1" hangingPunct="1">
              <a:lnSpc>
                <a:spcPct val="110000"/>
              </a:lnSpc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if &lt;Cond&gt; then if &lt;Cond&gt; then &lt;Stmt&gt; else &lt;Stmt&gt;</a:t>
            </a:r>
          </a:p>
        </p:txBody>
      </p:sp>
      <p:sp>
        <p:nvSpPr>
          <p:cNvPr id="97285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5. Văn phạm phi ngữ cảnh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2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042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042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500"/>
                                        <p:tgtEl>
                                          <p:spTgt spid="15042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2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042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042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500"/>
                                        <p:tgtEl>
                                          <p:spTgt spid="15042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1E5CE8-01BD-40D9-ADB7-DCD84B0D47BC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97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grpSp>
        <p:nvGrpSpPr>
          <p:cNvPr id="1505339" name="Group 59"/>
          <p:cNvGrpSpPr>
            <a:grpSpLocks/>
          </p:cNvGrpSpPr>
          <p:nvPr/>
        </p:nvGrpSpPr>
        <p:grpSpPr bwMode="auto">
          <a:xfrm>
            <a:off x="2833688" y="3490913"/>
            <a:ext cx="4757737" cy="1017587"/>
            <a:chOff x="1785" y="2199"/>
            <a:chExt cx="2997" cy="641"/>
          </a:xfrm>
        </p:grpSpPr>
        <p:sp>
          <p:nvSpPr>
            <p:cNvPr id="98359" name="Oval 55"/>
            <p:cNvSpPr>
              <a:spLocks noChangeArrowheads="1"/>
            </p:cNvSpPr>
            <p:nvPr/>
          </p:nvSpPr>
          <p:spPr bwMode="auto">
            <a:xfrm>
              <a:off x="4254" y="2208"/>
              <a:ext cx="528" cy="28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4100C4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98360" name="Freeform 52"/>
            <p:cNvSpPr>
              <a:spLocks/>
            </p:cNvSpPr>
            <p:nvPr/>
          </p:nvSpPr>
          <p:spPr bwMode="auto">
            <a:xfrm>
              <a:off x="1968" y="2448"/>
              <a:ext cx="2592" cy="392"/>
            </a:xfrm>
            <a:custGeom>
              <a:avLst/>
              <a:gdLst>
                <a:gd name="T0" fmla="*/ 2592 w 2592"/>
                <a:gd name="T1" fmla="*/ 0 h 392"/>
                <a:gd name="T2" fmla="*/ 1392 w 2592"/>
                <a:gd name="T3" fmla="*/ 384 h 392"/>
                <a:gd name="T4" fmla="*/ 0 w 2592"/>
                <a:gd name="T5" fmla="*/ 48 h 3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92" h="392">
                  <a:moveTo>
                    <a:pt x="2592" y="0"/>
                  </a:moveTo>
                  <a:cubicBezTo>
                    <a:pt x="2208" y="188"/>
                    <a:pt x="1824" y="376"/>
                    <a:pt x="1392" y="384"/>
                  </a:cubicBezTo>
                  <a:cubicBezTo>
                    <a:pt x="960" y="392"/>
                    <a:pt x="480" y="220"/>
                    <a:pt x="0" y="48"/>
                  </a:cubicBezTo>
                </a:path>
              </a:pathLst>
            </a:custGeom>
            <a:noFill/>
            <a:ln w="57150" cap="flat" cmpd="sng">
              <a:solidFill>
                <a:srgbClr val="F90F0F"/>
              </a:solidFill>
              <a:prstDash val="dash"/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61" name="Oval 56"/>
            <p:cNvSpPr>
              <a:spLocks noChangeArrowheads="1"/>
            </p:cNvSpPr>
            <p:nvPr/>
          </p:nvSpPr>
          <p:spPr bwMode="auto">
            <a:xfrm>
              <a:off x="1785" y="2199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4100C4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1505337" name="Group 57"/>
          <p:cNvGrpSpPr>
            <a:grpSpLocks/>
          </p:cNvGrpSpPr>
          <p:nvPr/>
        </p:nvGrpSpPr>
        <p:grpSpPr bwMode="auto">
          <a:xfrm>
            <a:off x="200025" y="2514600"/>
            <a:ext cx="7391400" cy="1447800"/>
            <a:chOff x="144" y="1584"/>
            <a:chExt cx="4656" cy="912"/>
          </a:xfrm>
        </p:grpSpPr>
        <p:sp>
          <p:nvSpPr>
            <p:cNvPr id="98356" name="Oval 54"/>
            <p:cNvSpPr>
              <a:spLocks noChangeArrowheads="1"/>
            </p:cNvSpPr>
            <p:nvPr/>
          </p:nvSpPr>
          <p:spPr bwMode="auto">
            <a:xfrm>
              <a:off x="144" y="2208"/>
              <a:ext cx="240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4100C4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98357" name="Oval 53"/>
            <p:cNvSpPr>
              <a:spLocks noChangeArrowheads="1"/>
            </p:cNvSpPr>
            <p:nvPr/>
          </p:nvSpPr>
          <p:spPr bwMode="auto">
            <a:xfrm>
              <a:off x="4272" y="2208"/>
              <a:ext cx="528" cy="28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rgbClr val="4100C4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98358" name="Freeform 51"/>
            <p:cNvSpPr>
              <a:spLocks/>
            </p:cNvSpPr>
            <p:nvPr/>
          </p:nvSpPr>
          <p:spPr bwMode="auto">
            <a:xfrm>
              <a:off x="336" y="1584"/>
              <a:ext cx="4176" cy="672"/>
            </a:xfrm>
            <a:custGeom>
              <a:avLst/>
              <a:gdLst>
                <a:gd name="T0" fmla="*/ 3990 w 4224"/>
                <a:gd name="T1" fmla="*/ 6304 h 384"/>
                <a:gd name="T2" fmla="*/ 2176 w 4224"/>
                <a:gd name="T3" fmla="*/ 0 h 384"/>
                <a:gd name="T4" fmla="*/ 0 w 4224"/>
                <a:gd name="T5" fmla="*/ 6304 h 3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24" h="384">
                  <a:moveTo>
                    <a:pt x="4224" y="384"/>
                  </a:moveTo>
                  <a:cubicBezTo>
                    <a:pt x="3616" y="192"/>
                    <a:pt x="3008" y="0"/>
                    <a:pt x="2304" y="0"/>
                  </a:cubicBezTo>
                  <a:cubicBezTo>
                    <a:pt x="1600" y="0"/>
                    <a:pt x="800" y="192"/>
                    <a:pt x="0" y="384"/>
                  </a:cubicBezTo>
                </a:path>
              </a:pathLst>
            </a:custGeom>
            <a:noFill/>
            <a:ln w="57150" cap="flat" cmpd="sng">
              <a:solidFill>
                <a:srgbClr val="F90F0F"/>
              </a:solidFill>
              <a:prstDash val="dash"/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8309" name="Text Box 50"/>
          <p:cNvSpPr txBox="1">
            <a:spLocks noChangeArrowheads="1"/>
          </p:cNvSpPr>
          <p:nvPr/>
        </p:nvSpPr>
        <p:spPr bwMode="auto">
          <a:xfrm>
            <a:off x="200025" y="3429000"/>
            <a:ext cx="868680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  <a:buFontTx/>
              <a:buNone/>
            </a:pPr>
            <a:r>
              <a:rPr lang="en-US" altLang="en-US" sz="2800">
                <a:solidFill>
                  <a:srgbClr val="4100C4"/>
                </a:solidFill>
                <a:sym typeface="Symbol" panose="05050102010706020507" pitchFamily="18" charset="2"/>
              </a:rPr>
              <a:t>if &lt;Cond&gt; then if &lt;Cond&gt; then &lt;Stmt&gt; else &lt;Stmt&gt;</a:t>
            </a:r>
            <a:endParaRPr lang="en-US" altLang="en-US" sz="2800">
              <a:solidFill>
                <a:srgbClr val="4100C4"/>
              </a:solidFill>
            </a:endParaRPr>
          </a:p>
        </p:txBody>
      </p:sp>
      <p:sp>
        <p:nvSpPr>
          <p:cNvPr id="983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Văn phạm đơn nghĩa </a:t>
            </a:r>
            <a:r>
              <a:rPr lang="en-US" altLang="en-US" sz="2800">
                <a:sym typeface="Symbol" panose="05050102010706020507" pitchFamily="18" charset="2"/>
              </a:rPr>
              <a:t>Ví dụ 2</a:t>
            </a:r>
          </a:p>
        </p:txBody>
      </p:sp>
      <p:grpSp>
        <p:nvGrpSpPr>
          <p:cNvPr id="1505329" name="Group 49"/>
          <p:cNvGrpSpPr>
            <a:grpSpLocks/>
          </p:cNvGrpSpPr>
          <p:nvPr/>
        </p:nvGrpSpPr>
        <p:grpSpPr bwMode="auto">
          <a:xfrm>
            <a:off x="1219200" y="4171950"/>
            <a:ext cx="7848600" cy="2333625"/>
            <a:chOff x="336" y="2361"/>
            <a:chExt cx="4944" cy="1470"/>
          </a:xfrm>
        </p:grpSpPr>
        <p:sp>
          <p:nvSpPr>
            <p:cNvPr id="98335" name="Text Box 16"/>
            <p:cNvSpPr txBox="1">
              <a:spLocks noChangeArrowheads="1"/>
            </p:cNvSpPr>
            <p:nvPr/>
          </p:nvSpPr>
          <p:spPr bwMode="auto">
            <a:xfrm>
              <a:off x="336" y="2928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if</a:t>
              </a:r>
            </a:p>
          </p:txBody>
        </p:sp>
        <p:sp>
          <p:nvSpPr>
            <p:cNvPr id="98336" name="Text Box 17"/>
            <p:cNvSpPr txBox="1">
              <a:spLocks noChangeArrowheads="1"/>
            </p:cNvSpPr>
            <p:nvPr/>
          </p:nvSpPr>
          <p:spPr bwMode="auto">
            <a:xfrm>
              <a:off x="720" y="2928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&lt;Cond&gt;</a:t>
              </a:r>
            </a:p>
          </p:txBody>
        </p:sp>
        <p:sp>
          <p:nvSpPr>
            <p:cNvPr id="98337" name="Text Box 18"/>
            <p:cNvSpPr txBox="1">
              <a:spLocks noChangeArrowheads="1"/>
            </p:cNvSpPr>
            <p:nvPr/>
          </p:nvSpPr>
          <p:spPr bwMode="auto">
            <a:xfrm>
              <a:off x="2304" y="2928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&lt;Stmt&gt;</a:t>
              </a:r>
            </a:p>
          </p:txBody>
        </p:sp>
        <p:sp>
          <p:nvSpPr>
            <p:cNvPr id="98338" name="Text Box 19"/>
            <p:cNvSpPr txBox="1">
              <a:spLocks noChangeArrowheads="1"/>
            </p:cNvSpPr>
            <p:nvPr/>
          </p:nvSpPr>
          <p:spPr bwMode="auto">
            <a:xfrm>
              <a:off x="3600" y="3504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else</a:t>
              </a:r>
            </a:p>
          </p:txBody>
        </p:sp>
        <p:sp>
          <p:nvSpPr>
            <p:cNvPr id="98339" name="Text Box 20"/>
            <p:cNvSpPr txBox="1">
              <a:spLocks noChangeArrowheads="1"/>
            </p:cNvSpPr>
            <p:nvPr/>
          </p:nvSpPr>
          <p:spPr bwMode="auto">
            <a:xfrm>
              <a:off x="1680" y="2928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then</a:t>
              </a:r>
            </a:p>
          </p:txBody>
        </p:sp>
        <p:sp>
          <p:nvSpPr>
            <p:cNvPr id="98340" name="Text Box 21"/>
            <p:cNvSpPr txBox="1">
              <a:spLocks noChangeArrowheads="1"/>
            </p:cNvSpPr>
            <p:nvPr/>
          </p:nvSpPr>
          <p:spPr bwMode="auto">
            <a:xfrm>
              <a:off x="4320" y="3504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&lt;Stmt&gt;</a:t>
              </a:r>
            </a:p>
          </p:txBody>
        </p:sp>
        <p:sp>
          <p:nvSpPr>
            <p:cNvPr id="98341" name="Text Box 22"/>
            <p:cNvSpPr txBox="1">
              <a:spLocks noChangeArrowheads="1"/>
            </p:cNvSpPr>
            <p:nvPr/>
          </p:nvSpPr>
          <p:spPr bwMode="auto">
            <a:xfrm>
              <a:off x="720" y="3504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if</a:t>
              </a:r>
            </a:p>
          </p:txBody>
        </p:sp>
        <p:sp>
          <p:nvSpPr>
            <p:cNvPr id="98342" name="Text Box 23"/>
            <p:cNvSpPr txBox="1">
              <a:spLocks noChangeArrowheads="1"/>
            </p:cNvSpPr>
            <p:nvPr/>
          </p:nvSpPr>
          <p:spPr bwMode="auto">
            <a:xfrm>
              <a:off x="1104" y="3504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&lt;Cond&gt;</a:t>
              </a:r>
            </a:p>
          </p:txBody>
        </p:sp>
        <p:sp>
          <p:nvSpPr>
            <p:cNvPr id="98343" name="Text Box 24"/>
            <p:cNvSpPr txBox="1">
              <a:spLocks noChangeArrowheads="1"/>
            </p:cNvSpPr>
            <p:nvPr/>
          </p:nvSpPr>
          <p:spPr bwMode="auto">
            <a:xfrm>
              <a:off x="2688" y="3504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&lt;Stmt&gt;</a:t>
              </a:r>
            </a:p>
          </p:txBody>
        </p:sp>
        <p:sp>
          <p:nvSpPr>
            <p:cNvPr id="98344" name="Text Box 25"/>
            <p:cNvSpPr txBox="1">
              <a:spLocks noChangeArrowheads="1"/>
            </p:cNvSpPr>
            <p:nvPr/>
          </p:nvSpPr>
          <p:spPr bwMode="auto">
            <a:xfrm>
              <a:off x="2064" y="3504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then</a:t>
              </a:r>
            </a:p>
          </p:txBody>
        </p:sp>
        <p:sp>
          <p:nvSpPr>
            <p:cNvPr id="98345" name="Text Box 26"/>
            <p:cNvSpPr txBox="1">
              <a:spLocks noChangeArrowheads="1"/>
            </p:cNvSpPr>
            <p:nvPr/>
          </p:nvSpPr>
          <p:spPr bwMode="auto">
            <a:xfrm>
              <a:off x="1056" y="2361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&lt;Stmt&gt;</a:t>
              </a:r>
            </a:p>
          </p:txBody>
        </p:sp>
        <p:sp>
          <p:nvSpPr>
            <p:cNvPr id="98346" name="Line 27"/>
            <p:cNvSpPr>
              <a:spLocks noChangeShapeType="1"/>
            </p:cNvSpPr>
            <p:nvPr/>
          </p:nvSpPr>
          <p:spPr bwMode="auto">
            <a:xfrm flipH="1">
              <a:off x="1200" y="2688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47" name="Line 28"/>
            <p:cNvSpPr>
              <a:spLocks noChangeShapeType="1"/>
            </p:cNvSpPr>
            <p:nvPr/>
          </p:nvSpPr>
          <p:spPr bwMode="auto">
            <a:xfrm flipV="1">
              <a:off x="528" y="2688"/>
              <a:ext cx="100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48" name="Line 29"/>
            <p:cNvSpPr>
              <a:spLocks noChangeShapeType="1"/>
            </p:cNvSpPr>
            <p:nvPr/>
          </p:nvSpPr>
          <p:spPr bwMode="auto">
            <a:xfrm>
              <a:off x="1536" y="2688"/>
              <a:ext cx="3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49" name="Line 30"/>
            <p:cNvSpPr>
              <a:spLocks noChangeShapeType="1"/>
            </p:cNvSpPr>
            <p:nvPr/>
          </p:nvSpPr>
          <p:spPr bwMode="auto">
            <a:xfrm>
              <a:off x="1584" y="2688"/>
              <a:ext cx="100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50" name="Line 32"/>
            <p:cNvSpPr>
              <a:spLocks noChangeShapeType="1"/>
            </p:cNvSpPr>
            <p:nvPr/>
          </p:nvSpPr>
          <p:spPr bwMode="auto">
            <a:xfrm flipV="1">
              <a:off x="864" y="3168"/>
              <a:ext cx="187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51" name="Line 33"/>
            <p:cNvSpPr>
              <a:spLocks noChangeShapeType="1"/>
            </p:cNvSpPr>
            <p:nvPr/>
          </p:nvSpPr>
          <p:spPr bwMode="auto">
            <a:xfrm flipV="1">
              <a:off x="1584" y="3168"/>
              <a:ext cx="115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52" name="Line 34"/>
            <p:cNvSpPr>
              <a:spLocks noChangeShapeType="1"/>
            </p:cNvSpPr>
            <p:nvPr/>
          </p:nvSpPr>
          <p:spPr bwMode="auto">
            <a:xfrm flipV="1">
              <a:off x="2496" y="3168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53" name="Line 35"/>
            <p:cNvSpPr>
              <a:spLocks noChangeShapeType="1"/>
            </p:cNvSpPr>
            <p:nvPr/>
          </p:nvSpPr>
          <p:spPr bwMode="auto">
            <a:xfrm flipH="1" flipV="1">
              <a:off x="2784" y="316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54" name="Line 36"/>
            <p:cNvSpPr>
              <a:spLocks noChangeShapeType="1"/>
            </p:cNvSpPr>
            <p:nvPr/>
          </p:nvSpPr>
          <p:spPr bwMode="auto">
            <a:xfrm flipH="1" flipV="1">
              <a:off x="2736" y="3168"/>
              <a:ext cx="120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55" name="Line 37"/>
            <p:cNvSpPr>
              <a:spLocks noChangeShapeType="1"/>
            </p:cNvSpPr>
            <p:nvPr/>
          </p:nvSpPr>
          <p:spPr bwMode="auto">
            <a:xfrm flipH="1" flipV="1">
              <a:off x="2832" y="3168"/>
              <a:ext cx="196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05328" name="Group 48"/>
          <p:cNvGrpSpPr>
            <a:grpSpLocks/>
          </p:cNvGrpSpPr>
          <p:nvPr/>
        </p:nvGrpSpPr>
        <p:grpSpPr bwMode="auto">
          <a:xfrm>
            <a:off x="304800" y="928688"/>
            <a:ext cx="7391400" cy="2424112"/>
            <a:chOff x="384" y="480"/>
            <a:chExt cx="4656" cy="1527"/>
          </a:xfrm>
        </p:grpSpPr>
        <p:sp>
          <p:nvSpPr>
            <p:cNvPr id="98314" name="Text Box 5"/>
            <p:cNvSpPr txBox="1">
              <a:spLocks noChangeArrowheads="1"/>
            </p:cNvSpPr>
            <p:nvPr/>
          </p:nvSpPr>
          <p:spPr bwMode="auto">
            <a:xfrm>
              <a:off x="384" y="1056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if</a:t>
              </a:r>
            </a:p>
          </p:txBody>
        </p:sp>
        <p:sp>
          <p:nvSpPr>
            <p:cNvPr id="98315" name="Text Box 6"/>
            <p:cNvSpPr txBox="1">
              <a:spLocks noChangeArrowheads="1"/>
            </p:cNvSpPr>
            <p:nvPr/>
          </p:nvSpPr>
          <p:spPr bwMode="auto">
            <a:xfrm>
              <a:off x="768" y="1056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&lt;Cond&gt;</a:t>
              </a:r>
            </a:p>
          </p:txBody>
        </p:sp>
        <p:sp>
          <p:nvSpPr>
            <p:cNvPr id="98316" name="Text Box 7"/>
            <p:cNvSpPr txBox="1">
              <a:spLocks noChangeArrowheads="1"/>
            </p:cNvSpPr>
            <p:nvPr/>
          </p:nvSpPr>
          <p:spPr bwMode="auto">
            <a:xfrm>
              <a:off x="2352" y="1056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&lt;Stmt&gt;</a:t>
              </a:r>
            </a:p>
          </p:txBody>
        </p:sp>
        <p:sp>
          <p:nvSpPr>
            <p:cNvPr id="98317" name="Text Box 8"/>
            <p:cNvSpPr txBox="1">
              <a:spLocks noChangeArrowheads="1"/>
            </p:cNvSpPr>
            <p:nvPr/>
          </p:nvSpPr>
          <p:spPr bwMode="auto">
            <a:xfrm>
              <a:off x="3360" y="1056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else</a:t>
              </a:r>
            </a:p>
          </p:txBody>
        </p:sp>
        <p:sp>
          <p:nvSpPr>
            <p:cNvPr id="98318" name="Text Box 9"/>
            <p:cNvSpPr txBox="1">
              <a:spLocks noChangeArrowheads="1"/>
            </p:cNvSpPr>
            <p:nvPr/>
          </p:nvSpPr>
          <p:spPr bwMode="auto">
            <a:xfrm>
              <a:off x="1728" y="1056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then</a:t>
              </a:r>
            </a:p>
          </p:txBody>
        </p:sp>
        <p:sp>
          <p:nvSpPr>
            <p:cNvPr id="98319" name="Text Box 10"/>
            <p:cNvSpPr txBox="1">
              <a:spLocks noChangeArrowheads="1"/>
            </p:cNvSpPr>
            <p:nvPr/>
          </p:nvSpPr>
          <p:spPr bwMode="auto">
            <a:xfrm>
              <a:off x="4080" y="1056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&lt;Stmt&gt;</a:t>
              </a:r>
            </a:p>
          </p:txBody>
        </p:sp>
        <p:sp>
          <p:nvSpPr>
            <p:cNvPr id="98320" name="Text Box 11"/>
            <p:cNvSpPr txBox="1">
              <a:spLocks noChangeArrowheads="1"/>
            </p:cNvSpPr>
            <p:nvPr/>
          </p:nvSpPr>
          <p:spPr bwMode="auto">
            <a:xfrm>
              <a:off x="1344" y="1680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if</a:t>
              </a:r>
            </a:p>
          </p:txBody>
        </p:sp>
        <p:sp>
          <p:nvSpPr>
            <p:cNvPr id="98321" name="Text Box 12"/>
            <p:cNvSpPr txBox="1">
              <a:spLocks noChangeArrowheads="1"/>
            </p:cNvSpPr>
            <p:nvPr/>
          </p:nvSpPr>
          <p:spPr bwMode="auto">
            <a:xfrm>
              <a:off x="1728" y="1680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&lt;Cond&gt;</a:t>
              </a:r>
            </a:p>
          </p:txBody>
        </p:sp>
        <p:sp>
          <p:nvSpPr>
            <p:cNvPr id="98322" name="Text Box 13"/>
            <p:cNvSpPr txBox="1">
              <a:spLocks noChangeArrowheads="1"/>
            </p:cNvSpPr>
            <p:nvPr/>
          </p:nvSpPr>
          <p:spPr bwMode="auto">
            <a:xfrm>
              <a:off x="3504" y="1680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&lt;Stmt&gt;</a:t>
              </a:r>
            </a:p>
          </p:txBody>
        </p:sp>
        <p:sp>
          <p:nvSpPr>
            <p:cNvPr id="98323" name="Text Box 14"/>
            <p:cNvSpPr txBox="1">
              <a:spLocks noChangeArrowheads="1"/>
            </p:cNvSpPr>
            <p:nvPr/>
          </p:nvSpPr>
          <p:spPr bwMode="auto">
            <a:xfrm>
              <a:off x="2880" y="1680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then</a:t>
              </a:r>
            </a:p>
          </p:txBody>
        </p:sp>
        <p:sp>
          <p:nvSpPr>
            <p:cNvPr id="98324" name="Text Box 15"/>
            <p:cNvSpPr txBox="1">
              <a:spLocks noChangeArrowheads="1"/>
            </p:cNvSpPr>
            <p:nvPr/>
          </p:nvSpPr>
          <p:spPr bwMode="auto">
            <a:xfrm>
              <a:off x="2112" y="480"/>
              <a:ext cx="9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&lt;Stmt&gt;</a:t>
              </a:r>
            </a:p>
          </p:txBody>
        </p:sp>
        <p:sp>
          <p:nvSpPr>
            <p:cNvPr id="98325" name="Line 38"/>
            <p:cNvSpPr>
              <a:spLocks noChangeShapeType="1"/>
            </p:cNvSpPr>
            <p:nvPr/>
          </p:nvSpPr>
          <p:spPr bwMode="auto">
            <a:xfrm flipV="1">
              <a:off x="1536" y="1344"/>
              <a:ext cx="124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26" name="Line 39"/>
            <p:cNvSpPr>
              <a:spLocks noChangeShapeType="1"/>
            </p:cNvSpPr>
            <p:nvPr/>
          </p:nvSpPr>
          <p:spPr bwMode="auto">
            <a:xfrm flipV="1">
              <a:off x="2256" y="1392"/>
              <a:ext cx="528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27" name="Line 40"/>
            <p:cNvSpPr>
              <a:spLocks noChangeShapeType="1"/>
            </p:cNvSpPr>
            <p:nvPr/>
          </p:nvSpPr>
          <p:spPr bwMode="auto">
            <a:xfrm flipH="1" flipV="1">
              <a:off x="2880" y="1344"/>
              <a:ext cx="43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28" name="Line 41"/>
            <p:cNvSpPr>
              <a:spLocks noChangeShapeType="1"/>
            </p:cNvSpPr>
            <p:nvPr/>
          </p:nvSpPr>
          <p:spPr bwMode="auto">
            <a:xfrm>
              <a:off x="2976" y="1344"/>
              <a:ext cx="105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29" name="Line 42"/>
            <p:cNvSpPr>
              <a:spLocks noChangeShapeType="1"/>
            </p:cNvSpPr>
            <p:nvPr/>
          </p:nvSpPr>
          <p:spPr bwMode="auto">
            <a:xfrm flipV="1">
              <a:off x="624" y="816"/>
              <a:ext cx="196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30" name="Line 43"/>
            <p:cNvSpPr>
              <a:spLocks noChangeShapeType="1"/>
            </p:cNvSpPr>
            <p:nvPr/>
          </p:nvSpPr>
          <p:spPr bwMode="auto">
            <a:xfrm flipV="1">
              <a:off x="1392" y="816"/>
              <a:ext cx="12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31" name="Line 44"/>
            <p:cNvSpPr>
              <a:spLocks noChangeShapeType="1"/>
            </p:cNvSpPr>
            <p:nvPr/>
          </p:nvSpPr>
          <p:spPr bwMode="auto">
            <a:xfrm flipV="1">
              <a:off x="2160" y="816"/>
              <a:ext cx="43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32" name="Line 45"/>
            <p:cNvSpPr>
              <a:spLocks noChangeShapeType="1"/>
            </p:cNvSpPr>
            <p:nvPr/>
          </p:nvSpPr>
          <p:spPr bwMode="auto">
            <a:xfrm flipH="1" flipV="1">
              <a:off x="2592" y="816"/>
              <a:ext cx="33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33" name="Line 46"/>
            <p:cNvSpPr>
              <a:spLocks noChangeShapeType="1"/>
            </p:cNvSpPr>
            <p:nvPr/>
          </p:nvSpPr>
          <p:spPr bwMode="auto">
            <a:xfrm flipH="1" flipV="1">
              <a:off x="2640" y="816"/>
              <a:ext cx="105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34" name="Line 47"/>
            <p:cNvSpPr>
              <a:spLocks noChangeShapeType="1"/>
            </p:cNvSpPr>
            <p:nvPr/>
          </p:nvSpPr>
          <p:spPr bwMode="auto">
            <a:xfrm flipH="1" flipV="1">
              <a:off x="2688" y="816"/>
              <a:ext cx="187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8313" name="Text Box 60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5. Văn phạm phi ngữ cảnh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05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05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05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5053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05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27774B-D26E-401B-9454-45F5050B79E3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98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993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Văn phạm đơn nghĩa</a:t>
            </a:r>
            <a:r>
              <a:rPr lang="en-US" altLang="en-US" sz="2800">
                <a:sym typeface="Symbol" panose="05050102010706020507" pitchFamily="18" charset="2"/>
              </a:rPr>
              <a:t>Khử nhập nhằng</a:t>
            </a:r>
          </a:p>
        </p:txBody>
      </p:sp>
      <p:sp>
        <p:nvSpPr>
          <p:cNvPr id="993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610600" cy="11430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F85124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lnSpc>
                <a:spcPct val="110000"/>
              </a:lnSpc>
              <a:spcBef>
                <a:spcPct val="5000"/>
              </a:spcBef>
              <a:buFontTx/>
              <a:buNone/>
            </a:pPr>
            <a:r>
              <a:rPr lang="en-US" altLang="en-US">
                <a:cs typeface="Arial" panose="020B0604020202020204" pitchFamily="34" charset="0"/>
              </a:rPr>
              <a:t>Đưa thêm các ký hiệu không kết thúc và các sản xuất để được các văn phạm tương đương</a:t>
            </a:r>
            <a:endParaRPr lang="en-US" altLang="en-US" sz="3600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506364" name="Rectangle 60"/>
          <p:cNvSpPr>
            <a:spLocks noChangeArrowheads="1"/>
          </p:cNvSpPr>
          <p:nvPr/>
        </p:nvSpPr>
        <p:spPr bwMode="auto">
          <a:xfrm>
            <a:off x="2133600" y="2209800"/>
            <a:ext cx="4724400" cy="762000"/>
          </a:xfrm>
          <a:prstGeom prst="rect">
            <a:avLst/>
          </a:prstGeom>
          <a:noFill/>
          <a:ln w="9525">
            <a:solidFill>
              <a:srgbClr val="4100C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96925" indent="-276225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827213" indent="-290513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32025" indent="-290513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76538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2337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909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1481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6053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"/>
              </a:spcBef>
              <a:buFontTx/>
              <a:buNone/>
            </a:pPr>
            <a:r>
              <a:rPr lang="en-US" altLang="en-US" sz="3600" b="0">
                <a:cs typeface="Arial" panose="020B0604020202020204" pitchFamily="34" charset="0"/>
              </a:rPr>
              <a:t>E</a:t>
            </a:r>
            <a:r>
              <a:rPr lang="en-US" altLang="en-US" sz="3600" b="0">
                <a:cs typeface="Arial" panose="020B0604020202020204" pitchFamily="34" charset="0"/>
                <a:sym typeface="Symbol" panose="05050102010706020507" pitchFamily="18" charset="2"/>
              </a:rPr>
              <a:t> E+E | E*E | (E) | a</a:t>
            </a:r>
          </a:p>
        </p:txBody>
      </p:sp>
      <p:sp>
        <p:nvSpPr>
          <p:cNvPr id="1506365" name="Rectangle 61"/>
          <p:cNvSpPr>
            <a:spLocks noChangeArrowheads="1"/>
          </p:cNvSpPr>
          <p:nvPr/>
        </p:nvSpPr>
        <p:spPr bwMode="auto">
          <a:xfrm>
            <a:off x="304800" y="3276600"/>
            <a:ext cx="3505200" cy="1295400"/>
          </a:xfrm>
          <a:prstGeom prst="rect">
            <a:avLst/>
          </a:prstGeom>
          <a:noFill/>
          <a:ln w="9525">
            <a:solidFill>
              <a:srgbClr val="4100C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96925" indent="-276225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827213" indent="-290513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32025" indent="-290513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76538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2337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909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1481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6053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"/>
              </a:spcBef>
              <a:buFontTx/>
              <a:buNone/>
            </a:pPr>
            <a:r>
              <a:rPr lang="en-US" altLang="en-US" b="0">
                <a:cs typeface="Arial" panose="020B0604020202020204" pitchFamily="34" charset="0"/>
              </a:rPr>
              <a:t>E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 E+T | E*T | T</a:t>
            </a: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Tx/>
              <a:buNone/>
            </a:pP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T (E) | a</a:t>
            </a:r>
          </a:p>
        </p:txBody>
      </p:sp>
      <p:sp>
        <p:nvSpPr>
          <p:cNvPr id="1506366" name="Rectangle 62"/>
          <p:cNvSpPr>
            <a:spLocks noChangeArrowheads="1"/>
          </p:cNvSpPr>
          <p:nvPr/>
        </p:nvSpPr>
        <p:spPr bwMode="auto">
          <a:xfrm>
            <a:off x="6019800" y="4724400"/>
            <a:ext cx="2667000" cy="1752600"/>
          </a:xfrm>
          <a:prstGeom prst="rect">
            <a:avLst/>
          </a:prstGeom>
          <a:noFill/>
          <a:ln w="9525">
            <a:solidFill>
              <a:srgbClr val="4100C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96925" indent="-276225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827213" indent="-290513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32025" indent="-290513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76538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2337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909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1481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6053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"/>
              </a:spcBef>
              <a:buFontTx/>
              <a:buNone/>
            </a:pPr>
            <a:r>
              <a:rPr lang="en-US" altLang="en-US" b="0">
                <a:cs typeface="Arial" panose="020B0604020202020204" pitchFamily="34" charset="0"/>
              </a:rPr>
              <a:t>E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 E+T | T</a:t>
            </a: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Tx/>
              <a:buNone/>
            </a:pPr>
            <a:r>
              <a:rPr lang="en-US" altLang="en-US" b="0">
                <a:cs typeface="Arial" panose="020B0604020202020204" pitchFamily="34" charset="0"/>
              </a:rPr>
              <a:t>T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 T*F | F</a:t>
            </a: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Tx/>
              <a:buNone/>
            </a:pP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F (E) | a</a:t>
            </a:r>
          </a:p>
        </p:txBody>
      </p:sp>
      <p:grpSp>
        <p:nvGrpSpPr>
          <p:cNvPr id="1506371" name="Group 67"/>
          <p:cNvGrpSpPr>
            <a:grpSpLocks/>
          </p:cNvGrpSpPr>
          <p:nvPr/>
        </p:nvGrpSpPr>
        <p:grpSpPr bwMode="auto">
          <a:xfrm>
            <a:off x="3962400" y="3124200"/>
            <a:ext cx="4800600" cy="1501775"/>
            <a:chOff x="2496" y="1872"/>
            <a:chExt cx="3024" cy="946"/>
          </a:xfrm>
        </p:grpSpPr>
        <p:sp>
          <p:nvSpPr>
            <p:cNvPr id="99341" name="Text Box 63"/>
            <p:cNvSpPr txBox="1">
              <a:spLocks noChangeArrowheads="1"/>
            </p:cNvSpPr>
            <p:nvPr/>
          </p:nvSpPr>
          <p:spPr bwMode="auto">
            <a:xfrm>
              <a:off x="2688" y="1872"/>
              <a:ext cx="2832" cy="9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Luôn thực hiện từ trái qua phải trừ khi gặp biểu thức trong ngoặc</a:t>
              </a:r>
            </a:p>
          </p:txBody>
        </p:sp>
        <p:sp>
          <p:nvSpPr>
            <p:cNvPr id="99342" name="AutoShape 65"/>
            <p:cNvSpPr>
              <a:spLocks/>
            </p:cNvSpPr>
            <p:nvPr/>
          </p:nvSpPr>
          <p:spPr bwMode="auto">
            <a:xfrm>
              <a:off x="2496" y="1920"/>
              <a:ext cx="192" cy="864"/>
            </a:xfrm>
            <a:prstGeom prst="rightBrace">
              <a:avLst>
                <a:gd name="adj1" fmla="val 375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1506375" name="Group 71"/>
          <p:cNvGrpSpPr>
            <a:grpSpLocks/>
          </p:cNvGrpSpPr>
          <p:nvPr/>
        </p:nvGrpSpPr>
        <p:grpSpPr bwMode="auto">
          <a:xfrm>
            <a:off x="685800" y="4648200"/>
            <a:ext cx="5334000" cy="1981200"/>
            <a:chOff x="96" y="2880"/>
            <a:chExt cx="3360" cy="1248"/>
          </a:xfrm>
        </p:grpSpPr>
        <p:sp>
          <p:nvSpPr>
            <p:cNvPr id="99339" name="Text Box 64"/>
            <p:cNvSpPr txBox="1">
              <a:spLocks noChangeArrowheads="1"/>
            </p:cNvSpPr>
            <p:nvPr/>
          </p:nvSpPr>
          <p:spPr bwMode="auto">
            <a:xfrm>
              <a:off x="96" y="3038"/>
              <a:ext cx="3072" cy="9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800" b="0"/>
                <a:t>Phép nhân có độ ưu tiên cao hơn phép cộng khi không gặp biểu thức trong ngoặc</a:t>
              </a:r>
            </a:p>
          </p:txBody>
        </p:sp>
        <p:sp>
          <p:nvSpPr>
            <p:cNvPr id="99340" name="AutoShape 70"/>
            <p:cNvSpPr>
              <a:spLocks/>
            </p:cNvSpPr>
            <p:nvPr/>
          </p:nvSpPr>
          <p:spPr bwMode="auto">
            <a:xfrm>
              <a:off x="3168" y="2880"/>
              <a:ext cx="288" cy="1248"/>
            </a:xfrm>
            <a:prstGeom prst="leftBrace">
              <a:avLst>
                <a:gd name="adj1" fmla="val 3611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</p:grpSp>
      <p:sp>
        <p:nvSpPr>
          <p:cNvPr id="99338" name="Text Box 72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5. Văn phạm phi ngữ cảnh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06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06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06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06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06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06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06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6364" grpId="0" animBg="1"/>
      <p:bldP spid="1506365" grpId="0" animBg="1"/>
      <p:bldP spid="1506366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E31F63-FF6B-4AC4-BC37-0D942282AC88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99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003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sym typeface="Symbol" panose="05050102010706020507" pitchFamily="18" charset="2"/>
              </a:rPr>
              <a:t>Sản xuất đệ quy</a:t>
            </a:r>
          </a:p>
        </p:txBody>
      </p:sp>
      <p:sp>
        <p:nvSpPr>
          <p:cNvPr id="1514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938" y="790575"/>
            <a:ext cx="8809037" cy="595471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F85124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06400" indent="-406400" eaLnBrk="1" hangingPunct="1">
              <a:lnSpc>
                <a:spcPct val="110000"/>
              </a:lnSpc>
              <a:spcBef>
                <a:spcPct val="5000"/>
              </a:spcBef>
              <a:tabLst>
                <a:tab pos="1800225" algn="l"/>
              </a:tabLst>
            </a:pPr>
            <a:r>
              <a:rPr lang="en-US" altLang="en-US">
                <a:cs typeface="Arial" panose="020B0604020202020204" pitchFamily="34" charset="0"/>
              </a:rPr>
              <a:t>Sản xuất là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đệ quy</a:t>
            </a:r>
            <a:r>
              <a:rPr lang="en-US" altLang="en-US">
                <a:cs typeface="Arial" panose="020B0604020202020204" pitchFamily="34" charset="0"/>
              </a:rPr>
              <a:t> có dạng: </a:t>
            </a:r>
          </a:p>
          <a:p>
            <a:pPr marL="1827213" lvl="2" indent="-290513" eaLnBrk="1" hangingPunct="1">
              <a:lnSpc>
                <a:spcPct val="110000"/>
              </a:lnSpc>
              <a:spcBef>
                <a:spcPct val="5000"/>
              </a:spcBef>
              <a:buFontTx/>
              <a:buNone/>
              <a:tabLst>
                <a:tab pos="1800225" algn="l"/>
              </a:tabLst>
            </a:pPr>
            <a:r>
              <a:rPr lang="en-US" altLang="en-US" sz="3600">
                <a:cs typeface="Arial" panose="020B0604020202020204" pitchFamily="34" charset="0"/>
              </a:rPr>
              <a:t>A 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el-GR" altLang="en-US" sz="3600">
                <a:cs typeface="Arial" panose="020B0604020202020204" pitchFamily="34" charset="0"/>
                <a:sym typeface="Symbol" panose="05050102010706020507" pitchFamily="18" charset="2"/>
              </a:rPr>
              <a:t>β</a:t>
            </a:r>
            <a:r>
              <a:rPr lang="en-US" altLang="en-US" sz="3600"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n-US" altLang="en-US" sz="3600" baseline="30000">
                <a:cs typeface="Arial" panose="020B0604020202020204" pitchFamily="34" charset="0"/>
                <a:sym typeface="Symbol" panose="05050102010706020507" pitchFamily="18" charset="2"/>
              </a:rPr>
              <a:t>* </a:t>
            </a:r>
          </a:p>
          <a:p>
            <a:pPr marL="406400" indent="-406400" eaLnBrk="1" hangingPunct="1">
              <a:lnSpc>
                <a:spcPct val="110000"/>
              </a:lnSpc>
              <a:spcBef>
                <a:spcPct val="5000"/>
              </a:spcBef>
              <a:tabLst>
                <a:tab pos="1800225" algn="l"/>
              </a:tabLst>
            </a:pPr>
            <a:r>
              <a:rPr lang="en-US" altLang="en-US"/>
              <a:t>Dùng để biểu diễn các quá trình lặp hay cấu trúc lồng nhau</a:t>
            </a:r>
          </a:p>
          <a:p>
            <a:pPr marL="406400" indent="-406400" eaLnBrk="1" hangingPunct="1">
              <a:lnSpc>
                <a:spcPct val="110000"/>
              </a:lnSpc>
              <a:spcBef>
                <a:spcPct val="5000"/>
              </a:spcBef>
              <a:tabLst>
                <a:tab pos="1800225" algn="l"/>
              </a:tabLst>
            </a:pPr>
            <a:r>
              <a:rPr lang="en-US" altLang="en-US"/>
              <a:t>Đệ quy trái:	 </a:t>
            </a:r>
            <a:r>
              <a:rPr lang="en-US" altLang="en-US">
                <a:cs typeface="Arial" panose="020B0604020202020204" pitchFamily="34" charset="0"/>
              </a:rPr>
              <a:t>A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 b|Aa</a:t>
            </a:r>
          </a:p>
          <a:p>
            <a:pPr marL="877888" lvl="1" indent="-166688" eaLnBrk="1" hangingPunct="1">
              <a:lnSpc>
                <a:spcPct val="110000"/>
              </a:lnSpc>
              <a:spcBef>
                <a:spcPct val="5000"/>
              </a:spcBef>
              <a:buFontTx/>
              <a:buNone/>
              <a:tabLst>
                <a:tab pos="1800225" algn="l"/>
              </a:tabLst>
            </a:pPr>
            <a:r>
              <a:rPr lang="en-US" altLang="en-US">
                <a:solidFill>
                  <a:srgbClr val="4100C4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 </a:t>
            </a:r>
            <a:r>
              <a:rPr lang="en-US" altLang="en-US">
                <a:solidFill>
                  <a:srgbClr val="4100C4"/>
                </a:solidFill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>
                <a:solidFill>
                  <a:srgbClr val="4100C4"/>
                </a:solidFill>
                <a:ea typeface="Times New Roman" panose="02020603050405020304" pitchFamily="18" charset="0"/>
                <a:cs typeface="MS Mincho" pitchFamily="49" charset="-128"/>
              </a:rPr>
              <a:t> </a:t>
            </a:r>
            <a:r>
              <a:rPr lang="en-US" altLang="en-US">
                <a:solidFill>
                  <a:srgbClr val="4100C4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Aa </a:t>
            </a:r>
            <a:r>
              <a:rPr lang="en-US" altLang="en-US">
                <a:solidFill>
                  <a:srgbClr val="4100C4"/>
                </a:solidFill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>
                <a:solidFill>
                  <a:srgbClr val="4100C4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Aaa </a:t>
            </a:r>
            <a:r>
              <a:rPr lang="en-US" altLang="en-US">
                <a:solidFill>
                  <a:srgbClr val="4100C4"/>
                </a:solidFill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>
                <a:solidFill>
                  <a:srgbClr val="4100C4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Aaaa </a:t>
            </a:r>
            <a:r>
              <a:rPr lang="en-US" altLang="en-US">
                <a:solidFill>
                  <a:srgbClr val="4100C4"/>
                </a:solidFill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 b</a:t>
            </a:r>
            <a:r>
              <a:rPr lang="en-US" altLang="en-US">
                <a:solidFill>
                  <a:srgbClr val="4100C4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aaaa ...</a:t>
            </a:r>
            <a:endParaRPr lang="en-US" altLang="en-US">
              <a:solidFill>
                <a:srgbClr val="4100C4"/>
              </a:solidFill>
            </a:endParaRPr>
          </a:p>
          <a:p>
            <a:pPr marL="406400" indent="-406400" eaLnBrk="1" hangingPunct="1">
              <a:lnSpc>
                <a:spcPct val="110000"/>
              </a:lnSpc>
              <a:spcBef>
                <a:spcPct val="5000"/>
              </a:spcBef>
              <a:tabLst>
                <a:tab pos="1800225" algn="l"/>
              </a:tabLst>
            </a:pPr>
            <a:r>
              <a:rPr lang="en-US" altLang="en-US"/>
              <a:t>Đệ quy phải:	 </a:t>
            </a:r>
            <a:r>
              <a:rPr lang="en-US" altLang="en-US">
                <a:cs typeface="Arial" panose="020B0604020202020204" pitchFamily="34" charset="0"/>
              </a:rPr>
              <a:t>A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 b|aA</a:t>
            </a:r>
          </a:p>
          <a:p>
            <a:pPr marL="877888" lvl="1" indent="-166688" eaLnBrk="1" hangingPunct="1">
              <a:lnSpc>
                <a:spcPct val="110000"/>
              </a:lnSpc>
              <a:spcBef>
                <a:spcPct val="5000"/>
              </a:spcBef>
              <a:buFontTx/>
              <a:buNone/>
              <a:tabLst>
                <a:tab pos="1800225" algn="l"/>
              </a:tabLst>
            </a:pPr>
            <a:r>
              <a:rPr lang="en-US" altLang="en-US">
                <a:solidFill>
                  <a:srgbClr val="4100C4"/>
                </a:solidFill>
                <a:cs typeface="Times New Roman" panose="02020603050405020304" pitchFamily="18" charset="0"/>
              </a:rPr>
              <a:t>A </a:t>
            </a:r>
            <a:r>
              <a:rPr lang="en-US" altLang="en-US">
                <a:solidFill>
                  <a:srgbClr val="4100C4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en-US">
                <a:solidFill>
                  <a:srgbClr val="4100C4"/>
                </a:solidFill>
                <a:cs typeface="Times New Roman" panose="02020603050405020304" pitchFamily="18" charset="0"/>
              </a:rPr>
              <a:t> aA </a:t>
            </a:r>
            <a:r>
              <a:rPr lang="en-US" altLang="en-US">
                <a:solidFill>
                  <a:srgbClr val="4100C4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en-US">
                <a:solidFill>
                  <a:srgbClr val="4100C4"/>
                </a:solidFill>
                <a:cs typeface="Times New Roman" panose="02020603050405020304" pitchFamily="18" charset="0"/>
              </a:rPr>
              <a:t> aaA </a:t>
            </a:r>
            <a:r>
              <a:rPr lang="en-US" altLang="en-US">
                <a:solidFill>
                  <a:srgbClr val="4100C4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en-US">
                <a:solidFill>
                  <a:srgbClr val="4100C4"/>
                </a:solidFill>
                <a:cs typeface="Times New Roman" panose="02020603050405020304" pitchFamily="18" charset="0"/>
              </a:rPr>
              <a:t> aaaA </a:t>
            </a:r>
            <a:r>
              <a:rPr lang="en-US" altLang="en-US">
                <a:solidFill>
                  <a:srgbClr val="4100C4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en-US">
                <a:solidFill>
                  <a:srgbClr val="4100C4"/>
                </a:solidFill>
                <a:cs typeface="Times New Roman" panose="02020603050405020304" pitchFamily="18" charset="0"/>
              </a:rPr>
              <a:t>aaaab ...</a:t>
            </a:r>
            <a:endParaRPr lang="en-US" altLang="en-US"/>
          </a:p>
          <a:p>
            <a:pPr marL="406400" indent="-406400" eaLnBrk="1" hangingPunct="1">
              <a:lnSpc>
                <a:spcPct val="110000"/>
              </a:lnSpc>
              <a:spcBef>
                <a:spcPct val="5000"/>
              </a:spcBef>
              <a:tabLst>
                <a:tab pos="1800225" algn="l"/>
              </a:tabLst>
            </a:pPr>
            <a:r>
              <a:rPr lang="en-US" altLang="en-US"/>
              <a:t>Đệ quy giữa	 </a:t>
            </a:r>
            <a:r>
              <a:rPr lang="en-US" altLang="en-US">
                <a:cs typeface="Arial" panose="020B0604020202020204" pitchFamily="34" charset="0"/>
              </a:rPr>
              <a:t>A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 b|aAb</a:t>
            </a:r>
          </a:p>
          <a:p>
            <a:pPr marL="877888" lvl="1" indent="-166688" eaLnBrk="1" hangingPunct="1">
              <a:lnSpc>
                <a:spcPct val="110000"/>
              </a:lnSpc>
              <a:spcBef>
                <a:spcPct val="5000"/>
              </a:spcBef>
              <a:buFontTx/>
              <a:buNone/>
              <a:tabLst>
                <a:tab pos="1800225" algn="l"/>
              </a:tabLst>
            </a:pPr>
            <a:r>
              <a:rPr lang="en-US" altLang="en-US" b="1">
                <a:solidFill>
                  <a:schemeClr val="accent2"/>
                </a:solidFill>
                <a:cs typeface="Arial" panose="020B0604020202020204" pitchFamily="34" charset="0"/>
              </a:rPr>
              <a:t>VD: A </a:t>
            </a:r>
            <a:r>
              <a:rPr lang="en-US" altLang="en-US" b="1">
                <a:solidFill>
                  <a:schemeClr val="accent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 b|{A} </a:t>
            </a:r>
          </a:p>
          <a:p>
            <a:pPr marL="1827213" lvl="2" indent="-290513" eaLnBrk="1" hangingPunct="1">
              <a:lnSpc>
                <a:spcPct val="110000"/>
              </a:lnSpc>
              <a:spcBef>
                <a:spcPct val="5000"/>
              </a:spcBef>
              <a:buFontTx/>
              <a:buNone/>
              <a:tabLst>
                <a:tab pos="1800225" algn="l"/>
              </a:tabLst>
            </a:pPr>
            <a:r>
              <a:rPr lang="en-US" altLang="en-US">
                <a:solidFill>
                  <a:srgbClr val="4100C4"/>
                </a:solidFill>
                <a:cs typeface="Times New Roman" panose="02020603050405020304" pitchFamily="18" charset="0"/>
              </a:rPr>
              <a:t>A </a:t>
            </a:r>
            <a:r>
              <a:rPr lang="en-US" altLang="en-US">
                <a:solidFill>
                  <a:srgbClr val="4100C4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en-US">
                <a:solidFill>
                  <a:srgbClr val="4100C4"/>
                </a:solidFill>
                <a:cs typeface="Times New Roman" panose="02020603050405020304" pitchFamily="18" charset="0"/>
              </a:rPr>
              <a:t> {A}</a:t>
            </a:r>
            <a:r>
              <a:rPr lang="en-US" altLang="en-US">
                <a:solidFill>
                  <a:srgbClr val="4100C4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en-US">
                <a:solidFill>
                  <a:srgbClr val="4100C4"/>
                </a:solidFill>
                <a:cs typeface="Times New Roman" panose="02020603050405020304" pitchFamily="18" charset="0"/>
              </a:rPr>
              <a:t> {{A}} </a:t>
            </a:r>
            <a:r>
              <a:rPr lang="en-US" altLang="en-US">
                <a:solidFill>
                  <a:srgbClr val="4100C4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en-US">
                <a:solidFill>
                  <a:srgbClr val="4100C4"/>
                </a:solidFill>
                <a:cs typeface="Times New Roman" panose="02020603050405020304" pitchFamily="18" charset="0"/>
              </a:rPr>
              <a:t> {{{A}}} </a:t>
            </a:r>
            <a:r>
              <a:rPr lang="en-US" altLang="en-US">
                <a:solidFill>
                  <a:srgbClr val="4100C4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en-US">
                <a:solidFill>
                  <a:srgbClr val="4100C4"/>
                </a:solidFill>
                <a:cs typeface="Times New Roman" panose="02020603050405020304" pitchFamily="18" charset="0"/>
              </a:rPr>
              <a:t>{{{b}}}</a:t>
            </a:r>
            <a:endParaRPr lang="el-GR" altLang="en-US">
              <a:solidFill>
                <a:srgbClr val="4100C4"/>
              </a:solidFill>
              <a:cs typeface="Times New Roman" panose="02020603050405020304" pitchFamily="18" charset="0"/>
            </a:endParaRPr>
          </a:p>
        </p:txBody>
      </p:sp>
      <p:sp>
        <p:nvSpPr>
          <p:cNvPr id="100357" name="Text Box 8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5. Văn phạm phi ngữ cảnh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1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1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14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14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14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144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144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F1B477-56A2-4451-AF33-98C3B86C8709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100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err="1">
                <a:sym typeface="Symbol" panose="05050102010706020507" pitchFamily="18" charset="2"/>
              </a:rPr>
              <a:t>Sản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ym typeface="Symbol" panose="05050102010706020507" pitchFamily="18" charset="2"/>
              </a:rPr>
              <a:t>xuất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ym typeface="Symbol" panose="05050102010706020507" pitchFamily="18" charset="2"/>
              </a:rPr>
              <a:t>đệ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ym typeface="Symbol" panose="05050102010706020507" pitchFamily="18" charset="2"/>
              </a:rPr>
              <a:t>quy</a:t>
            </a:r>
            <a:r>
              <a:rPr lang="en-US" altLang="en-US" sz="2800">
                <a:sym typeface="Symbol" panose="05050102010706020507" pitchFamily="18" charset="2"/>
              </a:rPr>
              <a:t> </a:t>
            </a:r>
            <a:r>
              <a:rPr lang="en-US" altLang="en-US" sz="2800" err="1">
                <a:sym typeface="Symbol" panose="05050102010706020507" pitchFamily="18" charset="2"/>
              </a:rPr>
              <a:t>Khử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ym typeface="Symbol" panose="05050102010706020507" pitchFamily="18" charset="2"/>
              </a:rPr>
              <a:t>đệ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ym typeface="Symbol" panose="05050102010706020507" pitchFamily="18" charset="2"/>
              </a:rPr>
              <a:t>quy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ym typeface="Symbol" panose="05050102010706020507" pitchFamily="18" charset="2"/>
              </a:rPr>
              <a:t>trái</a:t>
            </a:r>
            <a:endParaRPr lang="en-US" altLang="en-US" sz="2800">
              <a:sym typeface="Symbol" panose="05050102010706020507" pitchFamily="18" charset="2"/>
            </a:endParaRPr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80975" y="914400"/>
            <a:ext cx="8763000" cy="19050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F85124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/>
              <a:t>Khử đệ quy trái bằng cách thêm ký hiệu không kết thúc và sản xuất mới để được văn phạm tương đương</a:t>
            </a:r>
            <a:endParaRPr lang="el-GR" altLang="en-US"/>
          </a:p>
        </p:txBody>
      </p:sp>
      <p:sp>
        <p:nvSpPr>
          <p:cNvPr id="1513479" name="Rectangle 7"/>
          <p:cNvSpPr>
            <a:spLocks noChangeArrowheads="1"/>
          </p:cNvSpPr>
          <p:nvPr/>
        </p:nvSpPr>
        <p:spPr bwMode="auto">
          <a:xfrm>
            <a:off x="838200" y="3733800"/>
            <a:ext cx="2667000" cy="1752600"/>
          </a:xfrm>
          <a:prstGeom prst="rect">
            <a:avLst/>
          </a:prstGeom>
          <a:noFill/>
          <a:ln w="9525">
            <a:solidFill>
              <a:srgbClr val="4100C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96925" indent="-276225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827213" indent="-290513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32025" indent="-290513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76538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2337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909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1481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6053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"/>
              </a:spcBef>
              <a:buFontTx/>
              <a:buNone/>
            </a:pPr>
            <a:r>
              <a:rPr lang="en-US" altLang="en-US" b="0">
                <a:cs typeface="Arial" panose="020B0604020202020204" pitchFamily="34" charset="0"/>
              </a:rPr>
              <a:t>E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 E+T | T</a:t>
            </a: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Tx/>
              <a:buNone/>
            </a:pPr>
            <a:r>
              <a:rPr lang="en-US" altLang="en-US" b="0">
                <a:cs typeface="Arial" panose="020B0604020202020204" pitchFamily="34" charset="0"/>
              </a:rPr>
              <a:t>T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 T*F | F</a:t>
            </a: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Tx/>
              <a:buNone/>
            </a:pP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F (E) | a</a:t>
            </a:r>
          </a:p>
        </p:txBody>
      </p:sp>
      <p:sp>
        <p:nvSpPr>
          <p:cNvPr id="101382" name="Text Box 1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5. Văn phạm phi ngữ cảnh</a:t>
            </a:r>
          </a:p>
        </p:txBody>
      </p:sp>
      <p:sp>
        <p:nvSpPr>
          <p:cNvPr id="1513487" name="Rectangle 15"/>
          <p:cNvSpPr>
            <a:spLocks noChangeArrowheads="1"/>
          </p:cNvSpPr>
          <p:nvPr/>
        </p:nvSpPr>
        <p:spPr bwMode="auto">
          <a:xfrm>
            <a:off x="5257800" y="3033713"/>
            <a:ext cx="2667000" cy="3124200"/>
          </a:xfrm>
          <a:prstGeom prst="rect">
            <a:avLst/>
          </a:prstGeom>
          <a:noFill/>
          <a:ln w="9525">
            <a:solidFill>
              <a:srgbClr val="4100C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96925" indent="-276225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827213" indent="-290513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32025" indent="-290513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76538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2337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909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1481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6053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"/>
              </a:spcBef>
              <a:buFontTx/>
              <a:buNone/>
            </a:pPr>
            <a:r>
              <a:rPr lang="en-US" altLang="en-US" b="0">
                <a:cs typeface="Arial" panose="020B0604020202020204" pitchFamily="34" charset="0"/>
              </a:rPr>
              <a:t>E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 TE’</a:t>
            </a: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Tx/>
              <a:buNone/>
            </a:pP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E’ +TE’ | </a:t>
            </a:r>
            <a:r>
              <a:rPr lang="el-GR" altLang="en-US" b="0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Tx/>
              <a:buNone/>
            </a:pPr>
            <a:r>
              <a:rPr lang="en-US" altLang="en-US" b="0">
                <a:cs typeface="Arial" panose="020B0604020202020204" pitchFamily="34" charset="0"/>
              </a:rPr>
              <a:t>T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 FT’</a:t>
            </a: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Tx/>
              <a:buNone/>
            </a:pPr>
            <a:r>
              <a:rPr lang="en-US" altLang="en-US" b="0">
                <a:cs typeface="Arial" panose="020B0604020202020204" pitchFamily="34" charset="0"/>
              </a:rPr>
              <a:t>T’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 *FT’ | </a:t>
            </a:r>
            <a:r>
              <a:rPr lang="el-GR" altLang="en-US" b="0">
                <a:cs typeface="Arial" panose="020B0604020202020204" pitchFamily="34" charset="0"/>
                <a:sym typeface="Symbol" panose="05050102010706020507" pitchFamily="18" charset="2"/>
              </a:rPr>
              <a:t>ε</a:t>
            </a:r>
            <a:endParaRPr lang="en-US" altLang="en-US" b="0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Tx/>
              <a:buNone/>
            </a:pP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F (E) | a</a:t>
            </a:r>
          </a:p>
        </p:txBody>
      </p:sp>
      <p:sp>
        <p:nvSpPr>
          <p:cNvPr id="1513489" name="AutoShape 17"/>
          <p:cNvSpPr>
            <a:spLocks noChangeArrowheads="1"/>
          </p:cNvSpPr>
          <p:nvPr/>
        </p:nvSpPr>
        <p:spPr bwMode="auto">
          <a:xfrm>
            <a:off x="3505200" y="4333875"/>
            <a:ext cx="1752600" cy="533400"/>
          </a:xfrm>
          <a:prstGeom prst="rightArrow">
            <a:avLst>
              <a:gd name="adj1" fmla="val 50000"/>
              <a:gd name="adj2" fmla="val 8214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1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13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13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500"/>
                                        <p:tgtEl>
                                          <p:spTgt spid="1513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13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3479" grpId="0" animBg="1"/>
      <p:bldP spid="1513487" grpId="0" animBg="1"/>
      <p:bldP spid="1513489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F1B477-56A2-4451-AF33-98C3B86C8709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101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err="1">
                <a:sym typeface="Symbol" panose="05050102010706020507" pitchFamily="18" charset="2"/>
              </a:rPr>
              <a:t>Ký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ym typeface="Symbol" panose="05050102010706020507" pitchFamily="18" charset="2"/>
              </a:rPr>
              <a:t>hiệu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ym typeface="Symbol" panose="05050102010706020507" pitchFamily="18" charset="2"/>
              </a:rPr>
              <a:t>vô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ym typeface="Symbol" panose="05050102010706020507" pitchFamily="18" charset="2"/>
              </a:rPr>
              <a:t>ích</a:t>
            </a:r>
            <a:endParaRPr lang="en-US" altLang="en-US" sz="2800">
              <a:sym typeface="Symbol" panose="05050102010706020507" pitchFamily="18" charset="2"/>
            </a:endParaRPr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80975" y="914399"/>
            <a:ext cx="8763000" cy="5653087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F85124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1775" indent="-231775" eaLnBrk="1" hangingPunct="1">
              <a:lnSpc>
                <a:spcPct val="150000"/>
              </a:lnSpc>
              <a:buFontTx/>
              <a:buNone/>
            </a:pPr>
            <a:r>
              <a:rPr lang="en-US" altLang="en-US" sz="3200"/>
              <a:t>Cho </a:t>
            </a:r>
            <a:r>
              <a:rPr lang="en-US" altLang="en-US" sz="3200" err="1"/>
              <a:t>văn</a:t>
            </a:r>
            <a:r>
              <a:rPr lang="en-US" altLang="en-US" sz="3200"/>
              <a:t> </a:t>
            </a:r>
            <a:r>
              <a:rPr lang="en-US" altLang="en-US" sz="3200" err="1"/>
              <a:t>phạm</a:t>
            </a:r>
            <a:r>
              <a:rPr lang="en-US" altLang="en-US"/>
              <a:t> PNC</a:t>
            </a:r>
            <a:r>
              <a:rPr lang="en-US" altLang="en-US" sz="3200"/>
              <a:t>  </a:t>
            </a:r>
            <a:r>
              <a:rPr lang="en-US" altLang="en-US" sz="3200" b="1">
                <a:solidFill>
                  <a:srgbClr val="FA0617"/>
                </a:solidFill>
              </a:rPr>
              <a:t>G = (V</a:t>
            </a:r>
            <a:r>
              <a:rPr lang="en-US" altLang="en-US" sz="3200" b="1" baseline="-25000">
                <a:solidFill>
                  <a:srgbClr val="FA0617"/>
                </a:solidFill>
              </a:rPr>
              <a:t>T</a:t>
            </a:r>
            <a:r>
              <a:rPr lang="en-US" altLang="en-US" sz="3200" b="1">
                <a:solidFill>
                  <a:srgbClr val="FA0617"/>
                </a:solidFill>
              </a:rPr>
              <a:t>, V</a:t>
            </a:r>
            <a:r>
              <a:rPr lang="en-US" altLang="en-US" sz="3200" b="1" baseline="-25000">
                <a:solidFill>
                  <a:srgbClr val="FA0617"/>
                </a:solidFill>
              </a:rPr>
              <a:t>N</a:t>
            </a:r>
            <a:r>
              <a:rPr lang="en-US" altLang="en-US" sz="3200" b="1">
                <a:solidFill>
                  <a:srgbClr val="FA0617"/>
                </a:solidFill>
              </a:rPr>
              <a:t>,  P,  S)</a:t>
            </a:r>
          </a:p>
          <a:p>
            <a:pPr marL="231775" indent="-231775" eaLnBrk="1" hangingPunct="1">
              <a:lnSpc>
                <a:spcPct val="150000"/>
              </a:lnSpc>
              <a:buFontTx/>
              <a:buNone/>
            </a:pPr>
            <a:r>
              <a:rPr lang="en-US" altLang="en-US" err="1"/>
              <a:t>Ký</a:t>
            </a:r>
            <a:r>
              <a:rPr lang="en-US" altLang="en-US"/>
              <a:t> </a:t>
            </a:r>
            <a:r>
              <a:rPr lang="en-US" altLang="en-US" err="1"/>
              <a:t>hiêu</a:t>
            </a:r>
            <a:r>
              <a:rPr lang="en-US" altLang="en-US"/>
              <a:t> </a:t>
            </a:r>
            <a:r>
              <a:rPr lang="en-US" altLang="en-US" b="1">
                <a:solidFill>
                  <a:schemeClr val="accent6">
                    <a:lumMod val="60000"/>
                    <a:lumOff val="40000"/>
                  </a:schemeClr>
                </a:solidFill>
              </a:rPr>
              <a:t>X </a:t>
            </a:r>
            <a:r>
              <a:rPr lang="el-GR" altLang="en-US" b="1">
                <a:solidFill>
                  <a:schemeClr val="accent6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en-US" altLang="en-US" b="1">
                <a:solidFill>
                  <a:schemeClr val="accent6">
                    <a:lumMod val="60000"/>
                    <a:lumOff val="40000"/>
                  </a:schemeClr>
                </a:solidFill>
              </a:rPr>
              <a:t>V</a:t>
            </a:r>
            <a:r>
              <a:rPr lang="en-US" altLang="en-US"/>
              <a:t> </a:t>
            </a:r>
            <a:r>
              <a:rPr lang="en-US" altLang="en-US" err="1"/>
              <a:t>được</a:t>
            </a:r>
            <a:r>
              <a:rPr lang="en-US" altLang="en-US"/>
              <a:t> </a:t>
            </a:r>
            <a:r>
              <a:rPr lang="en-US" altLang="en-US" err="1"/>
              <a:t>gọi</a:t>
            </a:r>
            <a:r>
              <a:rPr lang="en-US" altLang="en-US"/>
              <a:t> </a:t>
            </a:r>
            <a:r>
              <a:rPr lang="en-US" altLang="en-US" err="1"/>
              <a:t>là</a:t>
            </a:r>
            <a:r>
              <a:rPr lang="en-US" altLang="en-US"/>
              <a:t> </a:t>
            </a:r>
            <a:r>
              <a:rPr lang="en-US" altLang="en-US" b="1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có</a:t>
            </a:r>
            <a:r>
              <a:rPr lang="en-US" altLang="en-US" b="1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b="1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ích</a:t>
            </a:r>
            <a:r>
              <a:rPr lang="en-US" altLang="en-US" b="1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err="1"/>
              <a:t>nếu</a:t>
            </a:r>
            <a:r>
              <a:rPr lang="en-US" altLang="en-US"/>
              <a:t> </a:t>
            </a:r>
            <a:r>
              <a:rPr lang="en-US" altLang="en-US" err="1"/>
              <a:t>tồn</a:t>
            </a:r>
            <a:r>
              <a:rPr lang="en-US" altLang="en-US"/>
              <a:t> </a:t>
            </a:r>
            <a:r>
              <a:rPr lang="en-US" altLang="en-US" err="1"/>
              <a:t>tại</a:t>
            </a:r>
            <a:endParaRPr lang="en-US" altLang="en-US"/>
          </a:p>
          <a:p>
            <a:pPr marL="231775" indent="-231775" eaLnBrk="1" hangingPunct="1">
              <a:lnSpc>
                <a:spcPct val="150000"/>
              </a:lnSpc>
              <a:buFontTx/>
              <a:buNone/>
            </a:pPr>
            <a:r>
              <a:rPr lang="en-US" altLang="en-US"/>
              <a:t>		S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 </a:t>
            </a:r>
            <a:r>
              <a:rPr lang="en-US" altLang="en-US" sz="3200" baseline="30000">
                <a:cs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 α</a:t>
            </a:r>
            <a:r>
              <a:rPr lang="en-US" altLang="en-US" sz="3200" b="1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n-US" altLang="en-US" sz="32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3200" baseline="30000">
                <a:cs typeface="Arial" panose="020B0604020202020204" pitchFamily="34" charset="0"/>
                <a:sym typeface="Symbol" panose="05050102010706020507" pitchFamily="18" charset="2"/>
              </a:rPr>
              <a:t>* 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</a:t>
            </a:r>
            <a:r>
              <a:rPr lang="en-US" altLang="en-US" sz="32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3200" err="1">
                <a:cs typeface="Arial" panose="020B0604020202020204" pitchFamily="34" charset="0"/>
                <a:sym typeface="Symbol" panose="05050102010706020507" pitchFamily="18" charset="2"/>
              </a:rPr>
              <a:t>với</a:t>
            </a:r>
            <a:r>
              <a:rPr lang="en-US" altLang="en-US" sz="320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 sz="3200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β</a:t>
            </a:r>
            <a:r>
              <a:rPr lang="el-GR" altLang="en-US">
                <a:sym typeface="Symbol" panose="05050102010706020507" pitchFamily="18" charset="2"/>
              </a:rPr>
              <a:t> </a:t>
            </a:r>
            <a:r>
              <a:rPr lang="en-US" altLang="en-US"/>
              <a:t>V* </a:t>
            </a:r>
            <a:r>
              <a:rPr lang="en-US" altLang="en-US" err="1"/>
              <a:t>và</a:t>
            </a:r>
            <a:r>
              <a:rPr lang="en-US" altLang="en-US"/>
              <a:t> </a:t>
            </a:r>
            <a:r>
              <a:rPr lang="el-GR" altLang="en-US" sz="3200">
                <a:cs typeface="Arial" panose="020B0604020202020204" pitchFamily="34" charset="0"/>
                <a:sym typeface="Symbol" panose="05050102010706020507" pitchFamily="18" charset="2"/>
              </a:rPr>
              <a:t> </a:t>
            </a:r>
            <a:r>
              <a:rPr lang="el-GR" altLang="en-US">
                <a:sym typeface="Symbol" panose="05050102010706020507" pitchFamily="18" charset="2"/>
              </a:rPr>
              <a:t></a:t>
            </a:r>
            <a:r>
              <a:rPr lang="en-US" altLang="en-US"/>
              <a:t>V</a:t>
            </a:r>
            <a:r>
              <a:rPr lang="en-US" altLang="en-US" baseline="-25000"/>
              <a:t>T</a:t>
            </a:r>
            <a:r>
              <a:rPr lang="en-US" altLang="en-US"/>
              <a:t>* </a:t>
            </a:r>
          </a:p>
          <a:p>
            <a:pPr marL="231775" indent="-231775" eaLnBrk="1" hangingPunct="1">
              <a:lnSpc>
                <a:spcPct val="150000"/>
              </a:lnSpc>
              <a:buFontTx/>
              <a:buNone/>
            </a:pPr>
            <a:r>
              <a:rPr lang="en-US" altLang="en-US" sz="3200" err="1"/>
              <a:t>Ng</a:t>
            </a:r>
            <a:r>
              <a:rPr lang="en-US" altLang="en-US" err="1"/>
              <a:t>ược</a:t>
            </a:r>
            <a:r>
              <a:rPr lang="en-US" altLang="en-US"/>
              <a:t> </a:t>
            </a:r>
            <a:r>
              <a:rPr lang="en-US" altLang="en-US" err="1"/>
              <a:t>lại</a:t>
            </a:r>
            <a:r>
              <a:rPr lang="en-US" altLang="en-US"/>
              <a:t>, </a:t>
            </a:r>
            <a:r>
              <a:rPr lang="en-US" altLang="en-US" err="1"/>
              <a:t>ký</a:t>
            </a:r>
            <a:r>
              <a:rPr lang="en-US" altLang="en-US"/>
              <a:t> </a:t>
            </a:r>
            <a:r>
              <a:rPr lang="en-US" altLang="en-US" err="1"/>
              <a:t>hiệu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FA0617"/>
                </a:solidFill>
              </a:rPr>
              <a:t>X</a:t>
            </a:r>
            <a:r>
              <a:rPr lang="en-US" altLang="en-US" b="1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b="1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là</a:t>
            </a:r>
            <a:r>
              <a:rPr lang="en-US" altLang="en-US" b="1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b="1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vô</a:t>
            </a:r>
            <a:r>
              <a:rPr lang="en-US" altLang="en-US" b="1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en-US" b="1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ích</a:t>
            </a:r>
            <a:r>
              <a:rPr lang="en-US" altLang="en-US"/>
              <a:t>.</a:t>
            </a:r>
          </a:p>
          <a:p>
            <a:pPr marL="231775" indent="-231775" eaLnBrk="1" hangingPunct="1">
              <a:lnSpc>
                <a:spcPct val="150000"/>
              </a:lnSpc>
              <a:buFontTx/>
              <a:buNone/>
            </a:pPr>
            <a:r>
              <a:rPr lang="en-US" altLang="en-US" sz="3200" err="1"/>
              <a:t>Nh</a:t>
            </a:r>
            <a:r>
              <a:rPr lang="en-US" altLang="en-US" err="1"/>
              <a:t>ư</a:t>
            </a:r>
            <a:r>
              <a:rPr lang="en-US" altLang="en-US"/>
              <a:t> </a:t>
            </a:r>
            <a:r>
              <a:rPr lang="en-US" altLang="en-US" err="1"/>
              <a:t>vậy</a:t>
            </a:r>
            <a:r>
              <a:rPr lang="en-US" altLang="en-US"/>
              <a:t> </a:t>
            </a:r>
            <a:r>
              <a:rPr lang="en-US" altLang="en-US" err="1"/>
              <a:t>để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FA0617"/>
                </a:solidFill>
              </a:rPr>
              <a:t>X</a:t>
            </a:r>
            <a:r>
              <a:rPr lang="en-US" altLang="en-US"/>
              <a:t> </a:t>
            </a:r>
            <a:r>
              <a:rPr lang="en-US" altLang="en-US" err="1"/>
              <a:t>là</a:t>
            </a:r>
            <a:r>
              <a:rPr lang="en-US" altLang="en-US"/>
              <a:t> </a:t>
            </a:r>
            <a:r>
              <a:rPr lang="en-US" altLang="en-US" err="1"/>
              <a:t>ký</a:t>
            </a:r>
            <a:r>
              <a:rPr lang="en-US" altLang="en-US"/>
              <a:t> </a:t>
            </a:r>
            <a:r>
              <a:rPr lang="en-US" altLang="en-US" err="1"/>
              <a:t>hiệu</a:t>
            </a:r>
            <a:r>
              <a:rPr lang="en-US" altLang="en-US"/>
              <a:t> </a:t>
            </a:r>
            <a:r>
              <a:rPr lang="en-US" altLang="en-US" err="1"/>
              <a:t>có</a:t>
            </a:r>
            <a:r>
              <a:rPr lang="en-US" altLang="en-US"/>
              <a:t> </a:t>
            </a:r>
            <a:r>
              <a:rPr lang="en-US" altLang="en-US" err="1"/>
              <a:t>ích</a:t>
            </a:r>
            <a:r>
              <a:rPr lang="en-US" altLang="en-US"/>
              <a:t> </a:t>
            </a:r>
            <a:r>
              <a:rPr lang="en-US" altLang="en-US" err="1"/>
              <a:t>cần</a:t>
            </a:r>
            <a:r>
              <a:rPr lang="en-US" altLang="en-US"/>
              <a:t> </a:t>
            </a:r>
            <a:r>
              <a:rPr lang="en-US" altLang="en-US" err="1"/>
              <a:t>phải</a:t>
            </a:r>
            <a:endParaRPr lang="en-US" altLang="en-US"/>
          </a:p>
          <a:p>
            <a:pPr eaLnBrk="1" hangingPunct="1">
              <a:lnSpc>
                <a:spcPct val="150000"/>
              </a:lnSpc>
            </a:pPr>
            <a:r>
              <a:rPr lang="en-US" altLang="en-US" sz="32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X</a:t>
            </a:r>
            <a:r>
              <a:rPr lang="en-US" altLang="en-US" sz="3200"/>
              <a:t> </a:t>
            </a:r>
            <a:r>
              <a:rPr lang="en-US" altLang="en-US" sz="3200" err="1"/>
              <a:t>l</a:t>
            </a:r>
            <a:r>
              <a:rPr lang="en-US" altLang="en-US" err="1"/>
              <a:t>à</a:t>
            </a:r>
            <a:r>
              <a:rPr lang="en-US" altLang="en-US"/>
              <a:t> </a:t>
            </a:r>
            <a:r>
              <a:rPr lang="en-US" altLang="en-US" err="1"/>
              <a:t>đến</a:t>
            </a:r>
            <a:r>
              <a:rPr lang="en-US" altLang="en-US"/>
              <a:t> </a:t>
            </a:r>
            <a:r>
              <a:rPr lang="en-US" altLang="en-US" err="1"/>
              <a:t>được</a:t>
            </a:r>
            <a:r>
              <a:rPr lang="en-US" altLang="en-US"/>
              <a:t> (</a:t>
            </a:r>
            <a:r>
              <a:rPr lang="en-US" altLang="en-US" i="1" err="1">
                <a:solidFill>
                  <a:srgbClr val="B205FF"/>
                </a:solidFill>
              </a:rPr>
              <a:t>từ</a:t>
            </a:r>
            <a:r>
              <a:rPr lang="en-US" altLang="en-US" i="1">
                <a:solidFill>
                  <a:srgbClr val="B205FF"/>
                </a:solidFill>
              </a:rPr>
              <a:t> </a:t>
            </a:r>
            <a:r>
              <a:rPr lang="en-US" altLang="en-US" i="1" err="1">
                <a:solidFill>
                  <a:srgbClr val="B205FF"/>
                </a:solidFill>
              </a:rPr>
              <a:t>ký</a:t>
            </a:r>
            <a:r>
              <a:rPr lang="en-US" altLang="en-US" i="1">
                <a:solidFill>
                  <a:srgbClr val="B205FF"/>
                </a:solidFill>
              </a:rPr>
              <a:t> </a:t>
            </a:r>
            <a:r>
              <a:rPr lang="en-US" altLang="en-US" i="1" err="1">
                <a:solidFill>
                  <a:srgbClr val="B205FF"/>
                </a:solidFill>
              </a:rPr>
              <a:t>hiệu</a:t>
            </a:r>
            <a:r>
              <a:rPr lang="en-US" altLang="en-US" i="1">
                <a:solidFill>
                  <a:srgbClr val="B205FF"/>
                </a:solidFill>
              </a:rPr>
              <a:t> </a:t>
            </a:r>
            <a:r>
              <a:rPr lang="en-US" altLang="en-US" i="1" err="1">
                <a:solidFill>
                  <a:srgbClr val="B205FF"/>
                </a:solidFill>
              </a:rPr>
              <a:t>khởi</a:t>
            </a:r>
            <a:r>
              <a:rPr lang="en-US" altLang="en-US" i="1">
                <a:solidFill>
                  <a:srgbClr val="B205FF"/>
                </a:solidFill>
              </a:rPr>
              <a:t> </a:t>
            </a:r>
            <a:r>
              <a:rPr lang="en-US" altLang="en-US" i="1" err="1">
                <a:solidFill>
                  <a:srgbClr val="B205FF"/>
                </a:solidFill>
              </a:rPr>
              <a:t>đầu</a:t>
            </a:r>
            <a:r>
              <a:rPr lang="en-US" altLang="en-US"/>
              <a:t>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32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X</a:t>
            </a:r>
            <a:r>
              <a:rPr lang="en-US" altLang="en-US" sz="3200"/>
              <a:t> </a:t>
            </a:r>
            <a:r>
              <a:rPr lang="en-US" altLang="en-US" sz="3200" err="1"/>
              <a:t>l</a:t>
            </a:r>
            <a:r>
              <a:rPr lang="en-US" altLang="en-US" err="1"/>
              <a:t>à</a:t>
            </a:r>
            <a:r>
              <a:rPr lang="en-US" altLang="en-US"/>
              <a:t> </a:t>
            </a:r>
            <a:r>
              <a:rPr lang="en-US" altLang="en-US" err="1"/>
              <a:t>hữu</a:t>
            </a:r>
            <a:r>
              <a:rPr lang="en-US" altLang="en-US"/>
              <a:t> </a:t>
            </a:r>
            <a:r>
              <a:rPr lang="en-US" altLang="en-US" err="1"/>
              <a:t>sinh</a:t>
            </a:r>
            <a:endParaRPr lang="en-US" altLang="en-US" sz="3200"/>
          </a:p>
        </p:txBody>
      </p:sp>
      <p:sp>
        <p:nvSpPr>
          <p:cNvPr id="101382" name="Text Box 1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5. Văn phạm phi ngữ cảnh</a:t>
            </a:r>
          </a:p>
        </p:txBody>
      </p:sp>
    </p:spTree>
    <p:extLst>
      <p:ext uri="{BB962C8B-B14F-4D97-AF65-F5344CB8AC3E}">
        <p14:creationId xmlns:p14="http://schemas.microsoft.com/office/powerpoint/2010/main" val="77889542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F1B477-56A2-4451-AF33-98C3B86C8709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102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013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err="1">
                <a:sym typeface="Symbol" panose="05050102010706020507" pitchFamily="18" charset="2"/>
              </a:rPr>
              <a:t>Ký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ym typeface="Symbol" panose="05050102010706020507" pitchFamily="18" charset="2"/>
              </a:rPr>
              <a:t>hiệu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ym typeface="Symbol" panose="05050102010706020507" pitchFamily="18" charset="2"/>
              </a:rPr>
              <a:t>vô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ym typeface="Symbol" panose="05050102010706020507" pitchFamily="18" charset="2"/>
              </a:rPr>
              <a:t>ích</a:t>
            </a:r>
            <a:r>
              <a:rPr lang="en-US" altLang="en-US" sz="2800">
                <a:sym typeface="Symbol" panose="05050102010706020507" pitchFamily="18" charset="2"/>
              </a:rPr>
              <a:t> </a:t>
            </a:r>
            <a:r>
              <a:rPr lang="en-US" altLang="en-US" sz="2800" err="1">
                <a:sym typeface="Symbol" panose="05050102010706020507" pitchFamily="18" charset="2"/>
              </a:rPr>
              <a:t>Ví</a:t>
            </a:r>
            <a:r>
              <a:rPr lang="en-US" altLang="en-US" sz="2800">
                <a:sym typeface="Symbol" panose="05050102010706020507" pitchFamily="18" charset="2"/>
              </a:rPr>
              <a:t> </a:t>
            </a:r>
            <a:r>
              <a:rPr lang="en-US" altLang="en-US" sz="2800" err="1">
                <a:sym typeface="Symbol" panose="05050102010706020507" pitchFamily="18" charset="2"/>
              </a:rPr>
              <a:t>dụ</a:t>
            </a:r>
            <a:endParaRPr lang="en-US" altLang="en-US" sz="2800">
              <a:sym typeface="Symbol" panose="05050102010706020507" pitchFamily="18" charset="2"/>
            </a:endParaRPr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80975" y="914399"/>
            <a:ext cx="8763000" cy="5653087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F85124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>
              <a:spcBef>
                <a:spcPct val="5000"/>
              </a:spcBef>
              <a:buNone/>
            </a:pPr>
            <a:r>
              <a:rPr lang="en-US" altLang="en-US" sz="3200" b="1">
                <a:solidFill>
                  <a:srgbClr val="FA0617"/>
                </a:solidFill>
              </a:rPr>
              <a:t>			G = (V</a:t>
            </a:r>
            <a:r>
              <a:rPr lang="en-US" altLang="en-US" sz="3200" b="1" baseline="-25000">
                <a:solidFill>
                  <a:srgbClr val="FA0617"/>
                </a:solidFill>
              </a:rPr>
              <a:t>T</a:t>
            </a:r>
            <a:r>
              <a:rPr lang="en-US" altLang="en-US" sz="3200" b="1">
                <a:solidFill>
                  <a:srgbClr val="FA0617"/>
                </a:solidFill>
              </a:rPr>
              <a:t>, V</a:t>
            </a:r>
            <a:r>
              <a:rPr lang="en-US" altLang="en-US" sz="3200" b="1" baseline="-25000">
                <a:solidFill>
                  <a:srgbClr val="FA0617"/>
                </a:solidFill>
              </a:rPr>
              <a:t>N</a:t>
            </a:r>
            <a:r>
              <a:rPr lang="en-US" altLang="en-US" sz="3200" b="1">
                <a:solidFill>
                  <a:srgbClr val="FA0617"/>
                </a:solidFill>
              </a:rPr>
              <a:t>,  P,  S)</a:t>
            </a:r>
          </a:p>
          <a:p>
            <a:pPr lvl="1" eaLnBrk="1" hangingPunct="1">
              <a:spcBef>
                <a:spcPct val="5000"/>
              </a:spcBef>
              <a:buNone/>
            </a:pPr>
            <a:r>
              <a:rPr lang="en-US" altLang="en-US" sz="3200" b="0">
                <a:cs typeface="Arial" panose="020B0604020202020204" pitchFamily="34" charset="0"/>
              </a:rPr>
              <a:t>V</a:t>
            </a:r>
            <a:r>
              <a:rPr lang="en-US" altLang="en-US" sz="3200" b="0" baseline="-25000">
                <a:cs typeface="Arial" panose="020B0604020202020204" pitchFamily="34" charset="0"/>
              </a:rPr>
              <a:t>T</a:t>
            </a:r>
            <a:r>
              <a:rPr lang="en-US" altLang="en-US" sz="3200" b="0">
                <a:cs typeface="Arial" panose="020B0604020202020204" pitchFamily="34" charset="0"/>
              </a:rPr>
              <a:t>  = {</a:t>
            </a:r>
            <a:r>
              <a:rPr lang="en-US" altLang="en-US" sz="3200" b="1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  <a:t>a, b, c, d</a:t>
            </a:r>
            <a:r>
              <a:rPr lang="en-US" altLang="en-US" sz="3200" b="0">
                <a:cs typeface="Arial" panose="020B0604020202020204" pitchFamily="34" charset="0"/>
              </a:rPr>
              <a:t>}</a:t>
            </a:r>
          </a:p>
          <a:p>
            <a:pPr lvl="1" eaLnBrk="1" hangingPunct="1">
              <a:spcBef>
                <a:spcPct val="5000"/>
              </a:spcBef>
              <a:buNone/>
            </a:pPr>
            <a:r>
              <a:rPr lang="en-US" altLang="en-US" sz="3200">
                <a:cs typeface="Arial" panose="020B0604020202020204" pitchFamily="34" charset="0"/>
              </a:rPr>
              <a:t>V</a:t>
            </a:r>
            <a:r>
              <a:rPr lang="en-US" altLang="en-US" sz="3200" baseline="-25000">
                <a:cs typeface="Arial" panose="020B0604020202020204" pitchFamily="34" charset="0"/>
              </a:rPr>
              <a:t>N  </a:t>
            </a:r>
            <a:r>
              <a:rPr lang="en-US" altLang="en-US" sz="3200">
                <a:cs typeface="Arial" panose="020B0604020202020204" pitchFamily="34" charset="0"/>
              </a:rPr>
              <a:t>=  {</a:t>
            </a:r>
            <a:r>
              <a:rPr lang="en-US" altLang="en-US" sz="3200" b="1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  <a:t>S, A, B, C, D</a:t>
            </a:r>
            <a:r>
              <a:rPr lang="en-US" altLang="en-US" sz="3200">
                <a:cs typeface="Arial" panose="020B0604020202020204" pitchFamily="34" charset="0"/>
              </a:rPr>
              <a:t>}</a:t>
            </a:r>
          </a:p>
          <a:p>
            <a:pPr lvl="1" eaLnBrk="1" hangingPunct="1">
              <a:spcBef>
                <a:spcPct val="5000"/>
              </a:spcBef>
              <a:buNone/>
            </a:pPr>
            <a:r>
              <a:rPr lang="en-US" altLang="en-US" sz="3200" b="0">
                <a:cs typeface="Arial" panose="020B0604020202020204" pitchFamily="34" charset="0"/>
              </a:rPr>
              <a:t>P   =  {  </a:t>
            </a:r>
            <a:r>
              <a:rPr lang="en-US" altLang="en-US" sz="3200" b="0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  <a:t>S</a:t>
            </a:r>
            <a:r>
              <a:rPr lang="en-US" altLang="en-US" sz="3200" b="0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n-US" altLang="en-US" sz="3200" b="0" err="1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aAb</a:t>
            </a:r>
            <a:r>
              <a:rPr lang="en-US" altLang="en-US" sz="3200" b="0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 | </a:t>
            </a:r>
          </a:p>
          <a:p>
            <a:pPr lvl="3" eaLnBrk="1" hangingPunct="1">
              <a:spcBef>
                <a:spcPct val="5000"/>
              </a:spcBef>
              <a:buNone/>
            </a:pPr>
            <a:r>
              <a:rPr lang="en-US" altLang="en-US" sz="3200" b="0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  <a:t>    	 A</a:t>
            </a:r>
            <a:r>
              <a:rPr lang="en-US" altLang="en-US" sz="3200" b="0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n-US" altLang="en-US" sz="3200" b="0" err="1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aS</a:t>
            </a:r>
            <a:r>
              <a:rPr lang="en-US" altLang="en-US" sz="3200" b="0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 | </a:t>
            </a:r>
            <a:r>
              <a:rPr lang="en-US" altLang="en-US" sz="3200" b="0" err="1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bA</a:t>
            </a:r>
            <a:r>
              <a:rPr lang="en-US" altLang="en-US" sz="3200" b="0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 | </a:t>
            </a:r>
            <a:r>
              <a:rPr lang="en-US" altLang="en-US" sz="3200" b="0" err="1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aB</a:t>
            </a:r>
            <a:endParaRPr lang="en-US" altLang="en-US" sz="3200" b="0">
              <a:solidFill>
                <a:schemeClr val="accent6">
                  <a:lumMod val="60000"/>
                  <a:lumOff val="40000"/>
                </a:schemeClr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3" eaLnBrk="1" hangingPunct="1">
              <a:spcBef>
                <a:spcPct val="5000"/>
              </a:spcBef>
              <a:buNone/>
            </a:pPr>
            <a:r>
              <a:rPr lang="en-US" altLang="en-US" sz="3200" b="0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	   B  </a:t>
            </a:r>
            <a:r>
              <a:rPr lang="en-US" altLang="en-US" sz="3200" b="0" err="1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cSB</a:t>
            </a:r>
            <a:r>
              <a:rPr lang="en-US" altLang="en-US" sz="3200" b="0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 | </a:t>
            </a:r>
            <a:r>
              <a:rPr lang="en-US" altLang="en-US" sz="3200" b="0" err="1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aBSC</a:t>
            </a:r>
            <a:endParaRPr lang="en-US" altLang="en-US" sz="3200" b="0">
              <a:solidFill>
                <a:schemeClr val="accent6">
                  <a:lumMod val="60000"/>
                  <a:lumOff val="40000"/>
                </a:schemeClr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3" eaLnBrk="1" hangingPunct="1">
              <a:spcBef>
                <a:spcPct val="5000"/>
              </a:spcBef>
              <a:buNone/>
            </a:pPr>
            <a:r>
              <a:rPr lang="en-US" altLang="en-US" sz="3200" b="0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	   C  a |</a:t>
            </a:r>
            <a:r>
              <a:rPr lang="en-US" altLang="en-US" sz="3200" b="0" err="1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aS</a:t>
            </a:r>
            <a:endParaRPr lang="en-US" altLang="en-US" sz="3200" b="0">
              <a:solidFill>
                <a:schemeClr val="accent6">
                  <a:lumMod val="60000"/>
                  <a:lumOff val="40000"/>
                </a:schemeClr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3" eaLnBrk="1" hangingPunct="1">
              <a:spcBef>
                <a:spcPct val="5000"/>
              </a:spcBef>
              <a:buNone/>
            </a:pPr>
            <a:r>
              <a:rPr lang="en-US" altLang="en-US" sz="3200" b="0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	   D  </a:t>
            </a:r>
            <a:r>
              <a:rPr lang="en-US" altLang="en-US" sz="3200" b="0" err="1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aS</a:t>
            </a:r>
            <a:r>
              <a:rPr lang="en-US" altLang="en-US" sz="3200" b="0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| </a:t>
            </a:r>
            <a:r>
              <a:rPr lang="en-US" altLang="en-US" sz="3200" b="0" err="1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bA</a:t>
            </a:r>
            <a:r>
              <a:rPr lang="en-US" altLang="en-US" sz="3200" b="0">
                <a:solidFill>
                  <a:schemeClr val="accent6">
                    <a:lumMod val="60000"/>
                    <a:lumOff val="40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| c </a:t>
            </a:r>
            <a:r>
              <a:rPr lang="en-US" altLang="en-US" sz="3200" b="0">
                <a:cs typeface="Arial" panose="020B0604020202020204" pitchFamily="34" charset="0"/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110000"/>
              </a:lnSpc>
              <a:spcBef>
                <a:spcPts val="1200"/>
              </a:spcBef>
              <a:buFontTx/>
              <a:buNone/>
            </a:pP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Ký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hiệu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không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đến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được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:  </a:t>
            </a:r>
            <a:r>
              <a:rPr lang="en-US" altLang="en-US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D, c</a:t>
            </a: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Tx/>
              <a:buNone/>
            </a:pPr>
            <a:r>
              <a:rPr lang="en-US" altLang="en-US" b="0" err="1"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ý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hiệu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vô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err="1">
                <a:cs typeface="Arial" panose="020B0604020202020204" pitchFamily="34" charset="0"/>
                <a:sym typeface="Symbol" panose="05050102010706020507" pitchFamily="18" charset="2"/>
              </a:rPr>
              <a:t>sinh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n-US" altLang="en-US">
                <a:solidFill>
                  <a:srgbClr val="FA0617"/>
                </a:solidFill>
                <a:cs typeface="Arial" panose="020B0604020202020204" pitchFamily="34" charset="0"/>
                <a:sym typeface="Symbol" panose="05050102010706020507" pitchFamily="18" charset="2"/>
              </a:rPr>
              <a:t>B, C</a:t>
            </a:r>
            <a:endParaRPr lang="en-US" altLang="en-US" b="0">
              <a:solidFill>
                <a:srgbClr val="FA0617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231775" indent="-231775" eaLnBrk="1" hangingPunct="1">
              <a:lnSpc>
                <a:spcPct val="150000"/>
              </a:lnSpc>
              <a:buFontTx/>
              <a:buNone/>
            </a:pPr>
            <a:endParaRPr lang="en-US" altLang="en-US" sz="3200"/>
          </a:p>
        </p:txBody>
      </p:sp>
      <p:sp>
        <p:nvSpPr>
          <p:cNvPr id="101382" name="Text Box 1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5. Văn phạm phi ngữ cảnh</a:t>
            </a: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5E0CB72E-96F2-4618-A86D-2D1B04883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7058" y="1790701"/>
            <a:ext cx="3405188" cy="3124200"/>
          </a:xfrm>
          <a:prstGeom prst="rect">
            <a:avLst/>
          </a:prstGeom>
          <a:noFill/>
          <a:ln w="9525">
            <a:solidFill>
              <a:srgbClr val="4100C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96925" indent="-276225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827213" indent="-290513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2232025" indent="-290513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76538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2337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909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1481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6053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"/>
              </a:spcBef>
              <a:buNone/>
            </a:pPr>
            <a:r>
              <a:rPr lang="en-US" altLang="en-US" sz="3600" b="0">
                <a:cs typeface="Arial" panose="020B0604020202020204" pitchFamily="34" charset="0"/>
              </a:rPr>
              <a:t>V</a:t>
            </a:r>
            <a:r>
              <a:rPr lang="en-US" altLang="en-US" sz="3600" b="0" baseline="-25000">
                <a:cs typeface="Arial" panose="020B0604020202020204" pitchFamily="34" charset="0"/>
              </a:rPr>
              <a:t>T</a:t>
            </a:r>
            <a:r>
              <a:rPr lang="en-US" altLang="en-US" sz="3600" b="0">
                <a:cs typeface="Arial" panose="020B0604020202020204" pitchFamily="34" charset="0"/>
              </a:rPr>
              <a:t> : {a, b}</a:t>
            </a:r>
          </a:p>
          <a:p>
            <a:pPr eaLnBrk="1" hangingPunct="1">
              <a:spcBef>
                <a:spcPct val="5000"/>
              </a:spcBef>
              <a:buNone/>
            </a:pPr>
            <a:r>
              <a:rPr lang="en-US" altLang="en-US" sz="3600" b="0">
                <a:cs typeface="Arial" panose="020B0604020202020204" pitchFamily="34" charset="0"/>
              </a:rPr>
              <a:t>V</a:t>
            </a:r>
            <a:r>
              <a:rPr lang="en-US" altLang="en-US" sz="3600" b="0" baseline="-25000">
                <a:cs typeface="Arial" panose="020B0604020202020204" pitchFamily="34" charset="0"/>
              </a:rPr>
              <a:t>N</a:t>
            </a:r>
            <a:r>
              <a:rPr lang="en-US" altLang="en-US" sz="3600" b="0">
                <a:cs typeface="Arial" panose="020B0604020202020204" pitchFamily="34" charset="0"/>
              </a:rPr>
              <a:t>: {S, A}</a:t>
            </a:r>
          </a:p>
          <a:p>
            <a:pPr eaLnBrk="1" hangingPunct="1">
              <a:spcBef>
                <a:spcPts val="2400"/>
              </a:spcBef>
              <a:buNone/>
            </a:pPr>
            <a:r>
              <a:rPr lang="en-US" altLang="en-US" sz="3600" b="0">
                <a:cs typeface="Arial" panose="020B0604020202020204" pitchFamily="34" charset="0"/>
              </a:rPr>
              <a:t>P: { S</a:t>
            </a:r>
            <a:r>
              <a:rPr lang="en-US" altLang="en-US" sz="3600" b="0"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n-US" altLang="en-US" sz="3600" b="0" err="1">
                <a:cs typeface="Arial" panose="020B0604020202020204" pitchFamily="34" charset="0"/>
                <a:sym typeface="Symbol" panose="05050102010706020507" pitchFamily="18" charset="2"/>
              </a:rPr>
              <a:t>aAb</a:t>
            </a:r>
            <a:r>
              <a:rPr lang="en-US" altLang="en-US" sz="3600" b="0">
                <a:cs typeface="Arial" panose="020B0604020202020204" pitchFamily="34" charset="0"/>
                <a:sym typeface="Symbol" panose="05050102010706020507" pitchFamily="18" charset="2"/>
              </a:rPr>
              <a:t> | </a:t>
            </a: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Tx/>
              <a:buNone/>
            </a:pPr>
            <a:r>
              <a:rPr lang="en-US" altLang="en-US" b="0">
                <a:cs typeface="Arial" panose="020B0604020202020204" pitchFamily="34" charset="0"/>
              </a:rPr>
              <a:t>        A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n-US" altLang="en-US" b="0" err="1">
                <a:cs typeface="Arial" panose="020B0604020202020204" pitchFamily="34" charset="0"/>
                <a:sym typeface="Symbol" panose="05050102010706020507" pitchFamily="18" charset="2"/>
              </a:rPr>
              <a:t>aS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 | </a:t>
            </a:r>
            <a:r>
              <a:rPr lang="en-US" altLang="en-US" b="0" err="1">
                <a:cs typeface="Arial" panose="020B0604020202020204" pitchFamily="34" charset="0"/>
                <a:sym typeface="Symbol" panose="05050102010706020507" pitchFamily="18" charset="2"/>
              </a:rPr>
              <a:t>bA</a:t>
            </a:r>
            <a:r>
              <a:rPr lang="en-US" altLang="en-US" b="0">
                <a:cs typeface="Arial" panose="020B0604020202020204" pitchFamily="34" charset="0"/>
                <a:sym typeface="Symbol" panose="05050102010706020507" pitchFamily="18" charset="2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8279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3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3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13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13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869ACA-BE0D-41E6-9FFA-CEC3400AC385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103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024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Vấn đề phân tích cú pháp (1/4)</a:t>
            </a:r>
          </a:p>
        </p:txBody>
      </p:sp>
      <p:sp>
        <p:nvSpPr>
          <p:cNvPr id="1515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38200"/>
            <a:ext cx="8610600" cy="5791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F85124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06400" indent="-406400" eaLnBrk="1" hangingPunct="1">
              <a:lnSpc>
                <a:spcPct val="115000"/>
              </a:lnSpc>
              <a:spcBef>
                <a:spcPct val="10000"/>
              </a:spcBef>
            </a:pPr>
            <a:r>
              <a:rPr lang="en-US" altLang="en-US"/>
              <a:t>Cho văn phạm  G = (V</a:t>
            </a:r>
            <a:r>
              <a:rPr lang="en-US" altLang="en-US" baseline="-25000"/>
              <a:t>T</a:t>
            </a:r>
            <a:r>
              <a:rPr lang="en-US" altLang="en-US"/>
              <a:t>, V</a:t>
            </a:r>
            <a:r>
              <a:rPr lang="en-US" altLang="en-US" baseline="-25000"/>
              <a:t>N</a:t>
            </a:r>
            <a:r>
              <a:rPr lang="en-US" altLang="en-US"/>
              <a:t>,  P,  S)</a:t>
            </a:r>
          </a:p>
          <a:p>
            <a:pPr marL="406400" indent="-406400">
              <a:lnSpc>
                <a:spcPct val="115000"/>
              </a:lnSpc>
              <a:spcBef>
                <a:spcPct val="10000"/>
              </a:spcBef>
              <a:buFontTx/>
              <a:buNone/>
            </a:pPr>
            <a:r>
              <a:rPr lang="en-US" altLang="en-US"/>
              <a:t>			L(G) = {</a:t>
            </a:r>
            <a:r>
              <a:rPr lang="en-US" altLang="en-US">
                <a:sym typeface="Symbol" panose="05050102010706020507" pitchFamily="18" charset="2"/>
              </a:rPr>
              <a:t>|  V</a:t>
            </a:r>
            <a:r>
              <a:rPr lang="en-US" altLang="en-US" baseline="30000">
                <a:sym typeface="Symbol" panose="05050102010706020507" pitchFamily="18" charset="2"/>
              </a:rPr>
              <a:t>*</a:t>
            </a:r>
            <a:r>
              <a:rPr lang="en-US" altLang="en-US" baseline="-25000">
                <a:sym typeface="Symbol" panose="05050102010706020507" pitchFamily="18" charset="2"/>
              </a:rPr>
              <a:t>T</a:t>
            </a:r>
            <a:r>
              <a:rPr lang="en-US" altLang="en-US">
                <a:sym typeface="Symbol" panose="05050102010706020507" pitchFamily="18" charset="2"/>
              </a:rPr>
              <a:t> và S </a:t>
            </a:r>
            <a:r>
              <a:rPr lang="en-US" altLang="en-US" baseline="30000">
                <a:sym typeface="Symbol" panose="05050102010706020507" pitchFamily="18" charset="2"/>
              </a:rPr>
              <a:t>*</a:t>
            </a:r>
            <a:r>
              <a:rPr lang="en-US" altLang="en-US">
                <a:sym typeface="Symbol" panose="05050102010706020507" pitchFamily="18" charset="2"/>
              </a:rPr>
              <a:t></a:t>
            </a:r>
            <a:r>
              <a:rPr lang="en-US" altLang="en-US"/>
              <a:t>}</a:t>
            </a:r>
          </a:p>
          <a:p>
            <a:pPr marL="406400" indent="-406400">
              <a:lnSpc>
                <a:spcPct val="115000"/>
              </a:lnSpc>
              <a:spcBef>
                <a:spcPct val="10000"/>
              </a:spcBef>
            </a:pPr>
            <a:r>
              <a:rPr lang="en-US" altLang="en-US"/>
              <a:t>Nhiệm vụ của phân tích cú pháp là xem xét một xâu có thuộc ngôn ngữ được sản sinh bởi văn phạm không</a:t>
            </a:r>
          </a:p>
          <a:p>
            <a:pPr marL="406400" indent="-406400">
              <a:lnSpc>
                <a:spcPct val="115000"/>
              </a:lnSpc>
              <a:spcBef>
                <a:spcPct val="10000"/>
              </a:spcBef>
              <a:buFontTx/>
              <a:buNone/>
            </a:pPr>
            <a:r>
              <a:rPr lang="en-US" altLang="en-US"/>
              <a:t>			Cho x </a:t>
            </a:r>
            <a:r>
              <a:rPr lang="en-US" altLang="en-US">
                <a:sym typeface="Symbol" panose="05050102010706020507" pitchFamily="18" charset="2"/>
              </a:rPr>
              <a:t> V</a:t>
            </a:r>
            <a:r>
              <a:rPr lang="en-US" altLang="en-US" baseline="30000">
                <a:sym typeface="Symbol" panose="05050102010706020507" pitchFamily="18" charset="2"/>
              </a:rPr>
              <a:t>*</a:t>
            </a:r>
            <a:r>
              <a:rPr lang="en-US" altLang="en-US" baseline="-25000">
                <a:sym typeface="Symbol" panose="05050102010706020507" pitchFamily="18" charset="2"/>
              </a:rPr>
              <a:t>T</a:t>
            </a:r>
            <a:r>
              <a:rPr lang="en-US" altLang="en-US">
                <a:sym typeface="Symbol" panose="05050102010706020507" pitchFamily="18" charset="2"/>
              </a:rPr>
              <a:t>;</a:t>
            </a:r>
            <a:r>
              <a:rPr lang="en-US" altLang="en-US">
                <a:solidFill>
                  <a:srgbClr val="F90F0F"/>
                </a:solidFill>
                <a:sym typeface="Symbol" panose="05050102010706020507" pitchFamily="18" charset="2"/>
              </a:rPr>
              <a:t>  S </a:t>
            </a:r>
            <a:r>
              <a:rPr lang="en-US" altLang="en-US" baseline="30000">
                <a:solidFill>
                  <a:srgbClr val="F90F0F"/>
                </a:solidFill>
                <a:sym typeface="Symbol" panose="05050102010706020507" pitchFamily="18" charset="2"/>
              </a:rPr>
              <a:t>*</a:t>
            </a:r>
            <a:r>
              <a:rPr lang="en-US" altLang="en-US">
                <a:solidFill>
                  <a:srgbClr val="F90F0F"/>
                </a:solidFill>
                <a:sym typeface="Symbol" panose="05050102010706020507" pitchFamily="18" charset="2"/>
              </a:rPr>
              <a:t>x ?</a:t>
            </a:r>
          </a:p>
          <a:p>
            <a:pPr marL="406400" indent="-406400">
              <a:lnSpc>
                <a:spcPct val="115000"/>
              </a:lnSpc>
              <a:spcBef>
                <a:spcPct val="10000"/>
              </a:spcBef>
            </a:pPr>
            <a:r>
              <a:rPr lang="en-US" altLang="en-US"/>
              <a:t>Nếu xâu x được đoán nhận, cần chỉ ra các sản xuất đã sử dụng để sinh ra</a:t>
            </a:r>
          </a:p>
          <a:p>
            <a:pPr marL="1204913" lvl="1" indent="-406400">
              <a:lnSpc>
                <a:spcPct val="115000"/>
              </a:lnSpc>
              <a:spcBef>
                <a:spcPct val="10000"/>
              </a:spcBef>
            </a:pPr>
            <a:r>
              <a:rPr lang="en-US" altLang="en-US"/>
              <a:t>Cấu trúc lên cây suy dẫn</a:t>
            </a:r>
          </a:p>
          <a:p>
            <a:pPr marL="406400" indent="-406400">
              <a:lnSpc>
                <a:spcPct val="115000"/>
              </a:lnSpc>
              <a:spcBef>
                <a:spcPct val="10000"/>
              </a:spcBef>
            </a:pPr>
            <a:r>
              <a:rPr lang="en-US" altLang="en-US"/>
              <a:t>Tồn tại 2 phương pháp </a:t>
            </a:r>
            <a:r>
              <a:rPr lang="en-US" altLang="en-US">
                <a:solidFill>
                  <a:srgbClr val="F90F0F"/>
                </a:solidFill>
              </a:rPr>
              <a:t>trên xuống/dưới lên</a:t>
            </a:r>
            <a:endParaRPr lang="el-GR" altLang="en-US">
              <a:solidFill>
                <a:srgbClr val="F90F0F"/>
              </a:solidFill>
            </a:endParaRPr>
          </a:p>
        </p:txBody>
      </p:sp>
      <p:sp>
        <p:nvSpPr>
          <p:cNvPr id="102405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5. Văn phạm phi ngữ cảnh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15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515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100" decel="5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515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515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515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D96B2B-DDCD-4FBD-802A-FF07B712957B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104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034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Vấn đề phân tích cú pháp (2/4)</a:t>
            </a:r>
          </a:p>
        </p:txBody>
      </p:sp>
      <p:sp>
        <p:nvSpPr>
          <p:cNvPr id="1516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38200"/>
            <a:ext cx="8610600" cy="5791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F85124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347663" eaLnBrk="1" hangingPunct="1">
              <a:lnSpc>
                <a:spcPct val="125000"/>
              </a:lnSpc>
            </a:pPr>
            <a:r>
              <a:rPr lang="en-US" altLang="en-US"/>
              <a:t>Trên xuống (Top-down)</a:t>
            </a:r>
          </a:p>
          <a:p>
            <a:pPr marL="914400" lvl="1" indent="-406400" eaLnBrk="1" hangingPunct="1">
              <a:lnSpc>
                <a:spcPct val="125000"/>
              </a:lnSpc>
            </a:pPr>
            <a:r>
              <a:rPr lang="en-US" altLang="en-US"/>
              <a:t>Xuất phát từ ký hiệu khởi đầu S đi dần tới nút lá (xâu cần phân tích), bằng cách áp dụng liên tục các sản xuất</a:t>
            </a:r>
          </a:p>
          <a:p>
            <a:pPr marL="347663" indent="-347663" eaLnBrk="1" hangingPunct="1">
              <a:lnSpc>
                <a:spcPct val="125000"/>
              </a:lnSpc>
            </a:pPr>
            <a:r>
              <a:rPr lang="en-US" altLang="en-US">
                <a:solidFill>
                  <a:srgbClr val="4100C4"/>
                </a:solidFill>
              </a:rPr>
              <a:t>Dưới lên (Bottom-up)</a:t>
            </a:r>
          </a:p>
          <a:p>
            <a:pPr marL="914400" lvl="1" indent="-406400" eaLnBrk="1" hangingPunct="1">
              <a:lnSpc>
                <a:spcPct val="125000"/>
              </a:lnSpc>
            </a:pPr>
            <a:r>
              <a:rPr lang="en-US" altLang="en-US">
                <a:solidFill>
                  <a:srgbClr val="4100C4"/>
                </a:solidFill>
              </a:rPr>
              <a:t>Xâu cần phân tích được xem xét từ trái qua phải và tìm cách thu gọn về ký hiệu khưởi đầu S bằng cách áp dụng các sản xuất</a:t>
            </a:r>
            <a:endParaRPr lang="el-GR" altLang="en-US">
              <a:solidFill>
                <a:srgbClr val="4100C4"/>
              </a:solidFill>
            </a:endParaRPr>
          </a:p>
        </p:txBody>
      </p:sp>
      <p:sp>
        <p:nvSpPr>
          <p:cNvPr id="103429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5. Văn phạm phi ngữ cảnh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16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16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5152073-CEA9-44CD-A985-68E3A7BC07FD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105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Vấn đề phân tích cú pháp (3/4)</a:t>
            </a:r>
          </a:p>
        </p:txBody>
      </p:sp>
      <p:sp>
        <p:nvSpPr>
          <p:cNvPr id="1518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610600" cy="57912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F85124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7663" indent="-347663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cs typeface="Arial" panose="020B0604020202020204" pitchFamily="34" charset="0"/>
              </a:rPr>
              <a:t>Xét văn phạm:		E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 E+T | T</a:t>
            </a:r>
          </a:p>
          <a:p>
            <a:pPr marL="347663" indent="-347663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cs typeface="Arial" panose="020B0604020202020204" pitchFamily="34" charset="0"/>
              </a:rPr>
              <a:t>					T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 T*F | F</a:t>
            </a:r>
          </a:p>
          <a:p>
            <a:pPr marL="347663" indent="-347663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					F (E) | a</a:t>
            </a:r>
          </a:p>
          <a:p>
            <a:pPr marL="347663" indent="-347663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Xâu cần phân tích   :  a+a*a</a:t>
            </a:r>
          </a:p>
          <a:p>
            <a:pPr marL="347663" indent="-347663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cs typeface="Arial" panose="020B0604020202020204" pitchFamily="34" charset="0"/>
                <a:sym typeface="Symbol" panose="05050102010706020507" pitchFamily="18" charset="2"/>
              </a:rPr>
              <a:t>Top-Down</a:t>
            </a:r>
          </a:p>
          <a:p>
            <a:pPr marL="914400" lvl="1" indent="-406400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E  E+T  T+T  F+T  a+T  a+T*F  a+F*F  a+a*F  a+a*a</a:t>
            </a:r>
          </a:p>
          <a:p>
            <a:pPr marL="347663" indent="-347663" eaLnBrk="1" hangingPunct="1">
              <a:lnSpc>
                <a:spcPct val="110000"/>
              </a:lnSpc>
              <a:buFontTx/>
              <a:buNone/>
            </a:pPr>
            <a:r>
              <a:rPr lang="en-US" altLang="en-US" b="1">
                <a:cs typeface="Arial" panose="020B0604020202020204" pitchFamily="34" charset="0"/>
                <a:sym typeface="Symbol" panose="05050102010706020507" pitchFamily="18" charset="2"/>
              </a:rPr>
              <a:t>Bottop-Up</a:t>
            </a:r>
          </a:p>
          <a:p>
            <a:pPr marL="914400" lvl="1" indent="-406400" eaLnBrk="1" hangingPunct="1">
              <a:lnSpc>
                <a:spcPct val="110000"/>
              </a:lnSpc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a+a*a  F+a*a  T+a*a  E+a*a  E+F*a  E+T*a  E+T*F  E+T  E</a:t>
            </a:r>
            <a:endParaRPr lang="el-GR" altLang="en-US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04453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5. Văn phạm phi ngữ cảnh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18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18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518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518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1828F5-9645-44E8-85E8-1254A3302B2A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106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054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Vấn đề phân tích cú pháp (4/4)</a:t>
            </a:r>
          </a:p>
        </p:txBody>
      </p:sp>
      <p:sp>
        <p:nvSpPr>
          <p:cNvPr id="1517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14400"/>
            <a:ext cx="8839200" cy="5638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F85124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90513" indent="-290513" eaLnBrk="1" hangingPunct="1">
              <a:lnSpc>
                <a:spcPct val="110000"/>
              </a:lnSpc>
              <a:tabLst>
                <a:tab pos="623888" algn="l"/>
              </a:tabLst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Phân tích quay lui</a:t>
            </a:r>
          </a:p>
          <a:p>
            <a:pPr marL="682625" lvl="1" indent="-277813" eaLnBrk="1" hangingPunct="1">
              <a:lnSpc>
                <a:spcPct val="110000"/>
              </a:lnSpc>
              <a:tabLst>
                <a:tab pos="623888" algn="l"/>
              </a:tabLst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Tại mỗi bước có nhiều sản xuất để lựa chọn</a:t>
            </a:r>
          </a:p>
          <a:p>
            <a:pPr marL="682625" lvl="1" indent="-277813" eaLnBrk="1" hangingPunct="1">
              <a:lnSpc>
                <a:spcPct val="110000"/>
              </a:lnSpc>
              <a:tabLst>
                <a:tab pos="623888" algn="l"/>
              </a:tabLst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Nếu lựa chọn nhầm thực hiện quay lui</a:t>
            </a:r>
          </a:p>
          <a:p>
            <a:pPr marL="682625" lvl="1" indent="-277813" eaLnBrk="1" hangingPunct="1">
              <a:lnSpc>
                <a:spcPct val="110000"/>
              </a:lnSpc>
              <a:buFontTx/>
              <a:buNone/>
              <a:tabLst>
                <a:tab pos="623888" algn="l"/>
              </a:tabLst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Phân tích quay lui tăng thời gian thực hiện</a:t>
            </a:r>
          </a:p>
          <a:p>
            <a:pPr marL="290513" indent="-290513" eaLnBrk="1" hangingPunct="1">
              <a:lnSpc>
                <a:spcPct val="110000"/>
              </a:lnSpc>
              <a:tabLst>
                <a:tab pos="623888" algn="l"/>
              </a:tabLst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Phân tích tất định</a:t>
            </a:r>
          </a:p>
          <a:p>
            <a:pPr marL="682625" lvl="1" indent="-277813" eaLnBrk="1" hangingPunct="1">
              <a:lnSpc>
                <a:spcPct val="110000"/>
              </a:lnSpc>
              <a:tabLst>
                <a:tab pos="623888" algn="l"/>
              </a:tabLst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Tại mỗi bước xác định duy nhất một  sản xuất</a:t>
            </a:r>
          </a:p>
          <a:p>
            <a:pPr marL="682625" lvl="1" indent="-277813" eaLnBrk="1" hangingPunct="1">
              <a:lnSpc>
                <a:spcPct val="110000"/>
              </a:lnSpc>
              <a:tabLst>
                <a:tab pos="623888" algn="l"/>
              </a:tabLst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Yêu cầu văn phạm cần có tính chất nhất định</a:t>
            </a:r>
          </a:p>
          <a:p>
            <a:pPr marL="682625" lvl="1" indent="-277813" eaLnBrk="1" hangingPunct="1">
              <a:lnSpc>
                <a:spcPct val="110000"/>
              </a:lnSpc>
              <a:tabLst>
                <a:tab pos="623888" algn="l"/>
              </a:tabLst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Các kỹ thuật</a:t>
            </a:r>
          </a:p>
          <a:p>
            <a:pPr marL="1204913" lvl="2" indent="-290513" eaLnBrk="1" hangingPunct="1">
              <a:lnSpc>
                <a:spcPct val="110000"/>
              </a:lnSpc>
              <a:tabLst>
                <a:tab pos="623888" algn="l"/>
              </a:tabLst>
            </a:pPr>
            <a:r>
              <a:rPr lang="en-US" altLang="en-US" sz="2600">
                <a:cs typeface="Arial" panose="020B0604020202020204" pitchFamily="34" charset="0"/>
                <a:sym typeface="Symbol" panose="05050102010706020507" pitchFamily="18" charset="2"/>
              </a:rPr>
              <a:t>Trên xuống: Phân tích LL(k), Đệ quy trên xuống,..</a:t>
            </a:r>
          </a:p>
          <a:p>
            <a:pPr marL="1204913" lvl="2" indent="-290513" eaLnBrk="1" hangingPunct="1">
              <a:lnSpc>
                <a:spcPct val="110000"/>
              </a:lnSpc>
              <a:tabLst>
                <a:tab pos="623888" algn="l"/>
              </a:tabLst>
            </a:pPr>
            <a:r>
              <a:rPr lang="en-US" altLang="en-US" sz="2600">
                <a:cs typeface="Arial" panose="020B0604020202020204" pitchFamily="34" charset="0"/>
                <a:sym typeface="Symbol" panose="05050102010706020507" pitchFamily="18" charset="2"/>
              </a:rPr>
              <a:t>Dưới lên: Thao tác trước, Phân tích LR(k),..</a:t>
            </a:r>
            <a:endParaRPr lang="el-GR" altLang="en-US" sz="2600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05477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5. Văn phạm phi ngữ cảnh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17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17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17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17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17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17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BFEBB4-89F6-40BB-A53B-2788513E7E41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107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453058" name="Rectangle 2"/>
          <p:cNvSpPr>
            <a:spLocks noChangeArrowheads="1"/>
          </p:cNvSpPr>
          <p:nvPr/>
        </p:nvSpPr>
        <p:spPr bwMode="auto">
          <a:xfrm>
            <a:off x="0" y="4495800"/>
            <a:ext cx="9144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453059" name="Rectangle 3"/>
          <p:cNvSpPr>
            <a:spLocks noChangeArrowheads="1"/>
          </p:cNvSpPr>
          <p:nvPr/>
        </p:nvSpPr>
        <p:spPr bwMode="auto">
          <a:xfrm>
            <a:off x="0" y="5181600"/>
            <a:ext cx="9144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06501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00100"/>
          </a:xfrm>
        </p:spPr>
        <p:txBody>
          <a:bodyPr/>
          <a:lstStyle/>
          <a:p>
            <a:pPr eaLnBrk="1" hangingPunct="1"/>
            <a:r>
              <a:rPr lang="en-US" altLang="en-US" sz="4000"/>
              <a:t>Chương 1: Những khái niệm cơ bản</a:t>
            </a:r>
          </a:p>
        </p:txBody>
      </p:sp>
      <p:sp>
        <p:nvSpPr>
          <p:cNvPr id="10650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66700" y="1608138"/>
            <a:ext cx="8724900" cy="4792662"/>
          </a:xfrm>
        </p:spPr>
        <p:txBody>
          <a:bodyPr/>
          <a:lstStyle/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Ngôn ngữ lập trình cấp cao và trình dịch</a:t>
            </a: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Đặc trưng của ngôn ngữ lập trình cấp cao</a:t>
            </a: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/>
              <a:t>Các giai đoạn chính của chương trình dịch</a:t>
            </a:r>
            <a:endParaRPr lang="en-US" altLang="en-US">
              <a:solidFill>
                <a:srgbClr val="1E0068"/>
              </a:solidFill>
            </a:endParaRP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Khái niệm ngôn ngữ</a:t>
            </a: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Văn phạm phi ngữ cảnh</a:t>
            </a:r>
          </a:p>
          <a:p>
            <a:pPr marL="609600" indent="-6096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en-US">
                <a:solidFill>
                  <a:srgbClr val="1E0068"/>
                </a:solidFill>
              </a:rPr>
              <a:t>Giới thiệu ngôn ngữ PL/0 mở rộng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4530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5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3058" grpId="0" animBg="1"/>
      <p:bldP spid="1453059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A5CCA4-9269-44B8-9E4A-B26D597D049D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108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085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sym typeface="Symbol" panose="05050102010706020507" pitchFamily="18" charset="2"/>
              </a:rPr>
              <a:t>Dạng chuẩn BNF</a:t>
            </a:r>
          </a:p>
        </p:txBody>
      </p:sp>
      <p:sp>
        <p:nvSpPr>
          <p:cNvPr id="15196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763000" cy="5762625"/>
          </a:xfrm>
          <a:noFill/>
        </p:spPr>
        <p:txBody>
          <a:bodyPr tIns="0" bIns="0"/>
          <a:lstStyle/>
          <a:p>
            <a:pPr marL="290513" indent="-290513" eaLnBrk="1" hangingPunct="1"/>
            <a:r>
              <a:rPr lang="en-US" altLang="en-US" err="1"/>
              <a:t>Siêu</a:t>
            </a:r>
            <a:r>
              <a:rPr lang="en-US" altLang="en-US"/>
              <a:t> </a:t>
            </a:r>
            <a:r>
              <a:rPr lang="en-US" altLang="en-US" err="1"/>
              <a:t>ngữ</a:t>
            </a:r>
            <a:r>
              <a:rPr lang="en-US" altLang="en-US"/>
              <a:t> (metalanguage)</a:t>
            </a:r>
          </a:p>
          <a:p>
            <a:pPr marL="914400" lvl="1" indent="-347663" eaLnBrk="1" hangingPunct="1"/>
            <a:r>
              <a:rPr lang="en-US" altLang="en-US" err="1"/>
              <a:t>Ngôn</a:t>
            </a:r>
            <a:r>
              <a:rPr lang="en-US" altLang="en-US"/>
              <a:t> </a:t>
            </a:r>
            <a:r>
              <a:rPr lang="en-US" altLang="en-US" err="1"/>
              <a:t>ngữ</a:t>
            </a:r>
            <a:r>
              <a:rPr lang="en-US" altLang="en-US"/>
              <a:t> </a:t>
            </a:r>
            <a:r>
              <a:rPr lang="en-US" altLang="en-US" err="1"/>
              <a:t>sử</a:t>
            </a:r>
            <a:r>
              <a:rPr lang="en-US" altLang="en-US"/>
              <a:t> </a:t>
            </a:r>
            <a:r>
              <a:rPr lang="en-US" altLang="en-US" err="1"/>
              <a:t>dụng</a:t>
            </a:r>
            <a:r>
              <a:rPr lang="en-US" altLang="en-US"/>
              <a:t> </a:t>
            </a:r>
            <a:r>
              <a:rPr lang="en-US" altLang="en-US" err="1"/>
              <a:t>các</a:t>
            </a:r>
            <a:r>
              <a:rPr lang="en-US" altLang="en-US"/>
              <a:t> </a:t>
            </a:r>
            <a:r>
              <a:rPr lang="en-US" altLang="en-US" err="1"/>
              <a:t>lệnh</a:t>
            </a:r>
            <a:r>
              <a:rPr lang="en-US" altLang="en-US"/>
              <a:t> </a:t>
            </a:r>
            <a:r>
              <a:rPr lang="en-US" altLang="en-US" err="1"/>
              <a:t>để</a:t>
            </a:r>
            <a:r>
              <a:rPr lang="en-US" altLang="en-US"/>
              <a:t> </a:t>
            </a:r>
            <a:r>
              <a:rPr lang="en-US" altLang="en-US" err="1"/>
              <a:t>mô</a:t>
            </a:r>
            <a:r>
              <a:rPr lang="en-US" altLang="en-US"/>
              <a:t> </a:t>
            </a:r>
            <a:r>
              <a:rPr lang="en-US" altLang="en-US" err="1"/>
              <a:t>tả</a:t>
            </a:r>
            <a:r>
              <a:rPr lang="en-US" altLang="en-US"/>
              <a:t> </a:t>
            </a:r>
            <a:r>
              <a:rPr lang="en-US" altLang="en-US" err="1"/>
              <a:t>ngôn</a:t>
            </a:r>
            <a:r>
              <a:rPr lang="en-US" altLang="en-US"/>
              <a:t> </a:t>
            </a:r>
            <a:r>
              <a:rPr lang="en-US" altLang="en-US" err="1"/>
              <a:t>ngữ</a:t>
            </a:r>
            <a:r>
              <a:rPr lang="en-US" altLang="en-US"/>
              <a:t> </a:t>
            </a:r>
            <a:r>
              <a:rPr lang="en-US" altLang="en-US" err="1"/>
              <a:t>khác</a:t>
            </a:r>
            <a:endParaRPr lang="en-US" altLang="en-US"/>
          </a:p>
          <a:p>
            <a:pPr marL="290513" indent="-290513" eaLnBrk="1" hangingPunct="1">
              <a:lnSpc>
                <a:spcPct val="110000"/>
              </a:lnSpc>
              <a:spcBef>
                <a:spcPct val="15000"/>
              </a:spcBef>
            </a:pPr>
            <a:r>
              <a:rPr lang="en-US" altLang="en-US" i="1" err="1"/>
              <a:t>Dạng</a:t>
            </a:r>
            <a:r>
              <a:rPr lang="en-US" altLang="en-US" i="1"/>
              <a:t> </a:t>
            </a:r>
            <a:r>
              <a:rPr lang="en-US" altLang="en-US" i="1" err="1"/>
              <a:t>chuẩn</a:t>
            </a:r>
            <a:r>
              <a:rPr lang="en-US" altLang="en-US" i="1"/>
              <a:t> BNF</a:t>
            </a:r>
          </a:p>
          <a:p>
            <a:pPr marL="914400" lvl="1" indent="-347663" eaLnBrk="1" hangingPunct="1">
              <a:lnSpc>
                <a:spcPct val="110000"/>
              </a:lnSpc>
              <a:spcBef>
                <a:spcPct val="15000"/>
              </a:spcBef>
            </a:pPr>
            <a:r>
              <a:rPr lang="en-US" altLang="en-US" i="1"/>
              <a:t>Backus-Normal-Form/Backus-Naur-Form</a:t>
            </a:r>
          </a:p>
          <a:p>
            <a:pPr marL="914400" lvl="1" indent="-347663" eaLnBrk="1" hangingPunct="1">
              <a:lnSpc>
                <a:spcPct val="110000"/>
              </a:lnSpc>
              <a:spcBef>
                <a:spcPct val="15000"/>
              </a:spcBef>
            </a:pPr>
            <a:r>
              <a:rPr lang="en-US" altLang="en-US" err="1"/>
              <a:t>Là</a:t>
            </a:r>
            <a:r>
              <a:rPr lang="en-US" altLang="en-US"/>
              <a:t> </a:t>
            </a:r>
            <a:r>
              <a:rPr lang="en-US" altLang="en-US" err="1"/>
              <a:t>dạng</a:t>
            </a:r>
            <a:r>
              <a:rPr lang="en-US" altLang="en-US"/>
              <a:t> </a:t>
            </a:r>
            <a:r>
              <a:rPr lang="en-US" altLang="en-US" err="1"/>
              <a:t>siêu</a:t>
            </a:r>
            <a:r>
              <a:rPr lang="en-US" altLang="en-US"/>
              <a:t> </a:t>
            </a:r>
            <a:r>
              <a:rPr lang="en-US" altLang="en-US" err="1"/>
              <a:t>cú</a:t>
            </a:r>
            <a:r>
              <a:rPr lang="en-US" altLang="en-US"/>
              <a:t> </a:t>
            </a:r>
            <a:r>
              <a:rPr lang="en-US" altLang="en-US" err="1"/>
              <a:t>pháp</a:t>
            </a:r>
            <a:r>
              <a:rPr lang="en-US" altLang="en-US"/>
              <a:t> </a:t>
            </a:r>
            <a:r>
              <a:rPr lang="en-US" altLang="en-US" err="1"/>
              <a:t>để</a:t>
            </a:r>
            <a:r>
              <a:rPr lang="en-US" altLang="en-US"/>
              <a:t> </a:t>
            </a:r>
            <a:r>
              <a:rPr lang="en-US" altLang="en-US" err="1"/>
              <a:t>mô</a:t>
            </a:r>
            <a:r>
              <a:rPr lang="en-US" altLang="en-US"/>
              <a:t> </a:t>
            </a:r>
            <a:r>
              <a:rPr lang="en-US" altLang="en-US" err="1"/>
              <a:t>tả</a:t>
            </a:r>
            <a:r>
              <a:rPr lang="en-US" altLang="en-US"/>
              <a:t> </a:t>
            </a:r>
            <a:r>
              <a:rPr lang="en-US" altLang="en-US" err="1"/>
              <a:t>các</a:t>
            </a:r>
            <a:r>
              <a:rPr lang="en-US" altLang="en-US"/>
              <a:t> </a:t>
            </a:r>
            <a:r>
              <a:rPr lang="en-US" altLang="en-US" err="1"/>
              <a:t>ngôn</a:t>
            </a:r>
            <a:r>
              <a:rPr lang="en-US" altLang="en-US"/>
              <a:t> </a:t>
            </a:r>
            <a:r>
              <a:rPr lang="en-US" altLang="en-US" err="1"/>
              <a:t>ngữ</a:t>
            </a:r>
            <a:r>
              <a:rPr lang="en-US" altLang="en-US"/>
              <a:t> </a:t>
            </a:r>
            <a:r>
              <a:rPr lang="en-US" altLang="en-US" err="1"/>
              <a:t>lập</a:t>
            </a:r>
            <a:r>
              <a:rPr lang="en-US" altLang="en-US"/>
              <a:t> </a:t>
            </a:r>
            <a:r>
              <a:rPr lang="en-US" altLang="en-US" err="1"/>
              <a:t>trình</a:t>
            </a:r>
            <a:endParaRPr lang="en-US" altLang="en-US"/>
          </a:p>
          <a:p>
            <a:pPr marL="914400" lvl="1" indent="-347663" algn="just" eaLnBrk="1" hangingPunct="1"/>
            <a:r>
              <a:rPr lang="en-US" altLang="en-US"/>
              <a:t>BNF </a:t>
            </a:r>
            <a:r>
              <a:rPr lang="en-US" altLang="en-US" err="1"/>
              <a:t>được</a:t>
            </a:r>
            <a:r>
              <a:rPr lang="en-US" altLang="en-US"/>
              <a:t> </a:t>
            </a:r>
            <a:r>
              <a:rPr lang="en-US" altLang="en-US" err="1"/>
              <a:t>sử</a:t>
            </a:r>
            <a:r>
              <a:rPr lang="en-US" altLang="en-US"/>
              <a:t> </a:t>
            </a:r>
            <a:r>
              <a:rPr lang="en-US" altLang="en-US" err="1"/>
              <a:t>dụng</a:t>
            </a:r>
            <a:r>
              <a:rPr lang="en-US" altLang="en-US"/>
              <a:t> </a:t>
            </a:r>
            <a:r>
              <a:rPr lang="en-US" altLang="en-US" err="1"/>
              <a:t>rộng</a:t>
            </a:r>
            <a:r>
              <a:rPr lang="en-US" altLang="en-US"/>
              <a:t> </a:t>
            </a:r>
            <a:r>
              <a:rPr lang="en-US" altLang="en-US" err="1"/>
              <a:t>rãi</a:t>
            </a:r>
            <a:r>
              <a:rPr lang="en-US" altLang="en-US"/>
              <a:t> </a:t>
            </a:r>
            <a:r>
              <a:rPr lang="en-US" altLang="en-US" err="1"/>
              <a:t>để</a:t>
            </a:r>
            <a:r>
              <a:rPr lang="en-US" altLang="en-US"/>
              <a:t> </a:t>
            </a:r>
            <a:r>
              <a:rPr lang="en-US" altLang="en-US" err="1"/>
              <a:t>mô</a:t>
            </a:r>
            <a:r>
              <a:rPr lang="en-US" altLang="en-US"/>
              <a:t> </a:t>
            </a:r>
            <a:r>
              <a:rPr lang="en-US" altLang="en-US" err="1"/>
              <a:t>tả</a:t>
            </a:r>
            <a:r>
              <a:rPr lang="en-US" altLang="en-US"/>
              <a:t> </a:t>
            </a:r>
            <a:r>
              <a:rPr lang="en-US" altLang="en-US" err="1"/>
              <a:t>văn</a:t>
            </a:r>
            <a:r>
              <a:rPr lang="en-US" altLang="en-US"/>
              <a:t> </a:t>
            </a:r>
            <a:r>
              <a:rPr lang="en-US" altLang="en-US" err="1"/>
              <a:t>phạm</a:t>
            </a:r>
            <a:r>
              <a:rPr lang="en-US" altLang="en-US"/>
              <a:t> </a:t>
            </a:r>
            <a:r>
              <a:rPr lang="en-US" altLang="en-US" err="1"/>
              <a:t>của</a:t>
            </a:r>
            <a:r>
              <a:rPr lang="en-US" altLang="en-US"/>
              <a:t> </a:t>
            </a:r>
            <a:r>
              <a:rPr lang="en-US" altLang="en-US" err="1"/>
              <a:t>các</a:t>
            </a:r>
            <a:r>
              <a:rPr lang="en-US" altLang="en-US"/>
              <a:t> </a:t>
            </a:r>
            <a:r>
              <a:rPr lang="en-US" altLang="en-US" err="1"/>
              <a:t>ngôn</a:t>
            </a:r>
            <a:r>
              <a:rPr lang="en-US" altLang="en-US"/>
              <a:t> </a:t>
            </a:r>
            <a:r>
              <a:rPr lang="en-US" altLang="en-US" err="1"/>
              <a:t>ngữ</a:t>
            </a:r>
            <a:r>
              <a:rPr lang="en-US" altLang="en-US"/>
              <a:t> </a:t>
            </a:r>
            <a:r>
              <a:rPr lang="en-US" altLang="en-US" err="1"/>
              <a:t>lập</a:t>
            </a:r>
            <a:r>
              <a:rPr lang="en-US" altLang="en-US"/>
              <a:t> </a:t>
            </a:r>
            <a:r>
              <a:rPr lang="en-US" altLang="en-US" err="1"/>
              <a:t>trình</a:t>
            </a:r>
            <a:r>
              <a:rPr lang="en-US" altLang="en-US"/>
              <a:t>, </a:t>
            </a:r>
            <a:r>
              <a:rPr lang="en-US" altLang="en-US" err="1"/>
              <a:t>tập</a:t>
            </a:r>
            <a:r>
              <a:rPr lang="en-US" altLang="en-US"/>
              <a:t> </a:t>
            </a:r>
            <a:r>
              <a:rPr lang="en-US" altLang="en-US" err="1"/>
              <a:t>lệnh</a:t>
            </a:r>
            <a:r>
              <a:rPr lang="en-US" altLang="en-US"/>
              <a:t> </a:t>
            </a:r>
            <a:r>
              <a:rPr lang="en-US" altLang="en-US" err="1"/>
              <a:t>và</a:t>
            </a:r>
            <a:r>
              <a:rPr lang="en-US" altLang="en-US"/>
              <a:t> </a:t>
            </a:r>
            <a:r>
              <a:rPr lang="en-US" altLang="en-US" err="1"/>
              <a:t>các</a:t>
            </a:r>
            <a:r>
              <a:rPr lang="en-US" altLang="en-US"/>
              <a:t> </a:t>
            </a:r>
            <a:r>
              <a:rPr lang="en-US" altLang="en-US" err="1"/>
              <a:t>giao</a:t>
            </a:r>
            <a:r>
              <a:rPr lang="en-US" altLang="en-US"/>
              <a:t> </a:t>
            </a:r>
            <a:r>
              <a:rPr lang="en-US" altLang="en-US" err="1"/>
              <a:t>thức</a:t>
            </a:r>
            <a:r>
              <a:rPr lang="en-US" altLang="en-US"/>
              <a:t> </a:t>
            </a:r>
            <a:r>
              <a:rPr lang="en-US" altLang="en-US" err="1"/>
              <a:t>truyền</a:t>
            </a:r>
            <a:r>
              <a:rPr lang="en-US" altLang="en-US"/>
              <a:t> </a:t>
            </a:r>
            <a:r>
              <a:rPr lang="en-US" altLang="en-US" err="1"/>
              <a:t>thông</a:t>
            </a:r>
            <a:r>
              <a:rPr lang="en-US" altLang="en-US"/>
              <a:t>.</a:t>
            </a:r>
          </a:p>
          <a:p>
            <a:pPr marL="290513" indent="-290513" algn="just" eaLnBrk="1" hangingPunct="1"/>
            <a:endParaRPr lang="en-US" altLang="en-US" i="1"/>
          </a:p>
        </p:txBody>
      </p:sp>
      <p:sp>
        <p:nvSpPr>
          <p:cNvPr id="108549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6. Giới thiệu ngôn ngữ PL/0 </a:t>
            </a:r>
            <a:r>
              <a:rPr lang="en-US" altLang="en-US">
                <a:solidFill>
                  <a:schemeClr val="bg1"/>
                </a:solidFill>
              </a:rPr>
              <a:t>mở rộng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6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196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6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196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6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196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6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196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851392E-89CC-413C-B3E5-9052A7D9EE70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109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095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Ký pháp BNF</a:t>
            </a:r>
          </a:p>
        </p:txBody>
      </p:sp>
      <p:sp>
        <p:nvSpPr>
          <p:cNvPr id="109572" name="Text Box 3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6. Giới thiệu ngôn ngữ PL/0 </a:t>
            </a:r>
            <a:r>
              <a:rPr lang="en-US" altLang="en-US">
                <a:solidFill>
                  <a:schemeClr val="bg1"/>
                </a:solidFill>
              </a:rPr>
              <a:t>mở rộng</a:t>
            </a:r>
          </a:p>
        </p:txBody>
      </p:sp>
      <p:sp>
        <p:nvSpPr>
          <p:cNvPr id="10957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8763000" cy="5943600"/>
          </a:xfrm>
          <a:noFill/>
        </p:spPr>
        <p:txBody>
          <a:bodyPr/>
          <a:lstStyle/>
          <a:p>
            <a:pPr marL="231775" indent="-231775" algn="just" eaLnBrk="1" hangingPunct="1">
              <a:spcBef>
                <a:spcPct val="10000"/>
              </a:spcBef>
              <a:buFontTx/>
              <a:buNone/>
            </a:pPr>
            <a:r>
              <a:rPr lang="en-US" altLang="en-US"/>
              <a:t>Là một tập các luật thỏa mãn:</a:t>
            </a:r>
          </a:p>
          <a:p>
            <a:pPr marL="623888" lvl="1" indent="-277813" algn="just" eaLnBrk="1" hangingPunct="1">
              <a:spcBef>
                <a:spcPct val="10000"/>
              </a:spcBef>
            </a:pPr>
            <a:r>
              <a:rPr lang="en-US" altLang="en-US"/>
              <a:t>Vế trái của mỗi luật là một cấu trúc cú pháp.</a:t>
            </a:r>
          </a:p>
          <a:p>
            <a:pPr marL="623888" lvl="1" indent="-277813" algn="just" eaLnBrk="1" hangingPunct="1">
              <a:spcBef>
                <a:spcPct val="10000"/>
              </a:spcBef>
            </a:pPr>
            <a:r>
              <a:rPr lang="en-US" altLang="en-US"/>
              <a:t>Tên cấu trúc cú pháp là ký hiệu không kết thúc. </a:t>
            </a:r>
          </a:p>
          <a:p>
            <a:pPr marL="623888" lvl="1" indent="-277813" algn="just" eaLnBrk="1" hangingPunct="1">
              <a:spcBef>
                <a:spcPct val="10000"/>
              </a:spcBef>
            </a:pPr>
            <a:r>
              <a:rPr lang="en-US" altLang="en-US"/>
              <a:t>Ký hiệu không kết thúc được bao trong cặp </a:t>
            </a:r>
            <a:r>
              <a:rPr lang="en-US" altLang="en-US" b="1">
                <a:solidFill>
                  <a:srgbClr val="F90F0F"/>
                </a:solidFill>
              </a:rPr>
              <a:t>&lt;&gt;</a:t>
            </a:r>
            <a:endParaRPr lang="en-US" altLang="en-US" b="1"/>
          </a:p>
          <a:p>
            <a:pPr marL="623888" lvl="1" indent="-277813" algn="just" eaLnBrk="1" hangingPunct="1">
              <a:spcBef>
                <a:spcPct val="10000"/>
              </a:spcBef>
            </a:pPr>
            <a:r>
              <a:rPr lang="en-US" altLang="en-US"/>
              <a:t>Ký hiệu kết thúc được phân cách bằng cặp nháy đơn hoặc nháy kép</a:t>
            </a:r>
          </a:p>
          <a:p>
            <a:pPr marL="623888" lvl="1" indent="-277813" algn="just" eaLnBrk="1" hangingPunct="1">
              <a:spcBef>
                <a:spcPct val="10000"/>
              </a:spcBef>
            </a:pPr>
            <a:r>
              <a:rPr lang="en-US" altLang="en-US"/>
              <a:t>Mỗi ký hiệu không kết thúc được định nghĩa bằng một hay nhiều luật. </a:t>
            </a:r>
          </a:p>
          <a:p>
            <a:pPr marL="623888" lvl="1" indent="-277813" algn="just" eaLnBrk="1" hangingPunct="1">
              <a:spcBef>
                <a:spcPct val="10000"/>
              </a:spcBef>
            </a:pPr>
            <a:r>
              <a:rPr lang="en-US" altLang="en-US"/>
              <a:t>Các luật có dạng </a:t>
            </a:r>
            <a:r>
              <a:rPr lang="en-US" altLang="en-US" b="1">
                <a:solidFill>
                  <a:srgbClr val="F90F0F"/>
                </a:solidFill>
              </a:rPr>
              <a:t>N ::= s</a:t>
            </a:r>
          </a:p>
          <a:p>
            <a:pPr marL="1089025" lvl="2" indent="-233363" algn="just" eaLnBrk="1" hangingPunct="1">
              <a:spcBef>
                <a:spcPct val="10000"/>
              </a:spcBef>
            </a:pPr>
            <a:r>
              <a:rPr lang="en-US" altLang="en-US" i="1"/>
              <a:t>N là ký hiệu không kết thúc, </a:t>
            </a:r>
          </a:p>
          <a:p>
            <a:pPr marL="1089025" lvl="2" indent="-233363" algn="just" eaLnBrk="1" hangingPunct="1">
              <a:spcBef>
                <a:spcPct val="10000"/>
              </a:spcBef>
            </a:pPr>
            <a:r>
              <a:rPr lang="en-US" altLang="en-US" i="1"/>
              <a:t>s là một xâu gồm 0 hay nhiều ký hiệu kết thúc và không kết thúc. </a:t>
            </a:r>
          </a:p>
          <a:p>
            <a:pPr marL="623888" lvl="1" indent="-277813" algn="just" eaLnBrk="1" hangingPunct="1">
              <a:spcBef>
                <a:spcPct val="10000"/>
              </a:spcBef>
            </a:pPr>
            <a:r>
              <a:rPr lang="en-US" altLang="en-US" i="1"/>
              <a:t>Các luật có chung vế trái được phân cách bằng </a:t>
            </a:r>
            <a:r>
              <a:rPr lang="en-US" altLang="en-US" b="1" i="1">
                <a:solidFill>
                  <a:srgbClr val="F90F0F"/>
                </a:solidFill>
              </a:rPr>
              <a:t>|</a:t>
            </a:r>
            <a:endParaRPr lang="en-US" altLang="en-US" b="1">
              <a:solidFill>
                <a:srgbClr val="F90F0F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09154E-0C09-4D36-8384-B5D09172EE9B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110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105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Ký pháp BNF</a:t>
            </a:r>
            <a:r>
              <a:rPr lang="en-US" altLang="en-US" sz="2800">
                <a:sym typeface="Symbol" panose="05050102010706020507" pitchFamily="18" charset="2"/>
              </a:rPr>
              <a:t>Ví dụ</a:t>
            </a:r>
          </a:p>
        </p:txBody>
      </p:sp>
      <p:sp>
        <p:nvSpPr>
          <p:cNvPr id="1105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8534400" cy="5791200"/>
          </a:xfrm>
          <a:noFill/>
        </p:spPr>
        <p:txBody>
          <a:bodyPr/>
          <a:lstStyle/>
          <a:p>
            <a:pPr marL="231775" indent="-231775" eaLnBrk="1" hangingPunct="1">
              <a:lnSpc>
                <a:spcPct val="120000"/>
              </a:lnSpc>
            </a:pPr>
            <a:r>
              <a:rPr lang="en-US" altLang="en-US"/>
              <a:t>Mô tả cách viết một số nguyên, thực dấu phẩy tĩnh</a:t>
            </a:r>
          </a:p>
          <a:p>
            <a:pPr marL="739775" lvl="1" indent="-274638" eaLnBrk="1" hangingPunct="1">
              <a:lnSpc>
                <a:spcPct val="120000"/>
              </a:lnSpc>
              <a:buFontTx/>
              <a:buNone/>
            </a:pPr>
            <a:r>
              <a:rPr lang="en-US" altLang="en-US" sz="3200"/>
              <a:t>&lt;Số&gt;::=’-’&lt;Số thập phân&gt;|&lt;số thập phân&gt;</a:t>
            </a:r>
          </a:p>
          <a:p>
            <a:pPr marL="739775" lvl="1" indent="-274638" eaLnBrk="1" hangingPunct="1">
              <a:lnSpc>
                <a:spcPct val="120000"/>
              </a:lnSpc>
              <a:buFontTx/>
              <a:buNone/>
            </a:pPr>
            <a:r>
              <a:rPr lang="en-US" altLang="en-US" sz="3200"/>
              <a:t>&lt;Số thập phân&gt;::=&lt;Dãy chữ số&gt;|&lt;Dãy chữ số&gt;’.’&lt;Dãy chữ số&gt;</a:t>
            </a:r>
          </a:p>
          <a:p>
            <a:pPr marL="739775" lvl="1" indent="-274638" eaLnBrk="1" hangingPunct="1">
              <a:lnSpc>
                <a:spcPct val="120000"/>
              </a:lnSpc>
              <a:buFontTx/>
              <a:buNone/>
            </a:pPr>
            <a:r>
              <a:rPr lang="en-US" altLang="en-US" sz="3200"/>
              <a:t>&lt;Dãy chữ số&gt;::=&lt;Chữ số&gt;|&lt;Chữ số&gt;&lt;Dãy chữ số&gt;</a:t>
            </a:r>
          </a:p>
          <a:p>
            <a:pPr marL="739775" lvl="1" indent="-274638" eaLnBrk="1" hangingPunct="1">
              <a:lnSpc>
                <a:spcPct val="120000"/>
              </a:lnSpc>
              <a:buFontTx/>
              <a:buNone/>
            </a:pPr>
            <a:r>
              <a:rPr lang="en-US" altLang="en-US" sz="3200"/>
              <a:t>&lt;Chữ số&gt;::=’0’|’1’|’2’|’3’|’4’|’5’|’6’|’7’|’8’|’9’</a:t>
            </a:r>
          </a:p>
        </p:txBody>
      </p:sp>
      <p:sp>
        <p:nvSpPr>
          <p:cNvPr id="110597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6. Giới thiệu ngôn ngữ PL/0 </a:t>
            </a:r>
            <a:r>
              <a:rPr lang="en-US" altLang="en-US">
                <a:solidFill>
                  <a:schemeClr val="bg1"/>
                </a:solidFill>
              </a:rPr>
              <a:t>mở rộng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3DF4E7-2B23-4963-BF49-19CC2FE4025D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111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116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Ký pháp EBNF (Extended BNF ) </a:t>
            </a:r>
          </a:p>
        </p:txBody>
      </p:sp>
      <p:sp>
        <p:nvSpPr>
          <p:cNvPr id="1116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8763000" cy="5943600"/>
          </a:xfrm>
          <a:noFill/>
        </p:spPr>
        <p:txBody>
          <a:bodyPr/>
          <a:lstStyle/>
          <a:p>
            <a:pPr marL="0" indent="0" eaLnBrk="1" hangingPunct="1">
              <a:lnSpc>
                <a:spcPct val="105000"/>
              </a:lnSpc>
              <a:buFontTx/>
              <a:buNone/>
            </a:pPr>
            <a:r>
              <a:rPr lang="en-US" altLang="en-US"/>
              <a:t>Được phát triển từ BNF, có ký pháp tương tự  nhưng được đơn giản hoá bằng cách dùng một số ký hiệu đặc biệt :</a:t>
            </a:r>
          </a:p>
          <a:p>
            <a:pPr marL="566738" lvl="1" indent="-334963" eaLnBrk="1" hangingPunct="1">
              <a:lnSpc>
                <a:spcPct val="105000"/>
              </a:lnSpc>
            </a:pPr>
            <a:r>
              <a:rPr lang="en-US" altLang="en-US"/>
              <a:t>Không cần dùng</a:t>
            </a:r>
            <a:r>
              <a:rPr lang="en-US" altLang="en-US" b="1">
                <a:solidFill>
                  <a:srgbClr val="F90F0F"/>
                </a:solidFill>
              </a:rPr>
              <a:t> ‘ ’</a:t>
            </a:r>
            <a:r>
              <a:rPr lang="en-US" altLang="en-US"/>
              <a:t> cho ký hiệu kết thúc</a:t>
            </a:r>
          </a:p>
          <a:p>
            <a:pPr marL="566738" lvl="1" indent="-334963" eaLnBrk="1" hangingPunct="1">
              <a:lnSpc>
                <a:spcPct val="105000"/>
              </a:lnSpc>
            </a:pPr>
            <a:r>
              <a:rPr lang="en-US" altLang="en-US"/>
              <a:t>Dùng </a:t>
            </a:r>
            <a:r>
              <a:rPr lang="en-US" altLang="en-US" b="1">
                <a:solidFill>
                  <a:srgbClr val="F90F0F"/>
                </a:solidFill>
              </a:rPr>
              <a:t>[ ]</a:t>
            </a:r>
            <a:r>
              <a:rPr lang="en-US" altLang="en-US"/>
              <a:t> để chỉ phần bên trong là tuỳ chọn (</a:t>
            </a:r>
            <a:r>
              <a:rPr lang="en-US" altLang="en-US" i="1"/>
              <a:t>có hoặc không</a:t>
            </a:r>
            <a:r>
              <a:rPr lang="en-US" altLang="en-US"/>
              <a:t>)</a:t>
            </a:r>
          </a:p>
          <a:p>
            <a:pPr marL="566738" lvl="1" indent="-334963" eaLnBrk="1" hangingPunct="1">
              <a:lnSpc>
                <a:spcPct val="105000"/>
              </a:lnSpc>
            </a:pPr>
            <a:r>
              <a:rPr lang="en-US" altLang="en-US"/>
              <a:t>Dùng </a:t>
            </a:r>
            <a:r>
              <a:rPr lang="en-US" altLang="en-US" b="1">
                <a:solidFill>
                  <a:srgbClr val="F90F0F"/>
                </a:solidFill>
              </a:rPr>
              <a:t>{ }</a:t>
            </a:r>
            <a:r>
              <a:rPr lang="en-US" altLang="en-US"/>
              <a:t> phần bên trong có thể lặp lại một số lần tuỳ ý hoặc không xuất hiện lần nào </a:t>
            </a:r>
          </a:p>
          <a:p>
            <a:pPr marL="1146175" lvl="2" indent="-347663" eaLnBrk="1" hangingPunct="1">
              <a:lnSpc>
                <a:spcPct val="105000"/>
              </a:lnSpc>
            </a:pPr>
            <a:r>
              <a:rPr lang="en-US" altLang="en-US"/>
              <a:t>Nếu lặp lại </a:t>
            </a:r>
            <a:r>
              <a:rPr lang="en-US" altLang="en-US">
                <a:solidFill>
                  <a:srgbClr val="0000CC"/>
                </a:solidFill>
              </a:rPr>
              <a:t>m</a:t>
            </a:r>
            <a:r>
              <a:rPr lang="en-US" altLang="en-US"/>
              <a:t> hay </a:t>
            </a:r>
            <a:r>
              <a:rPr lang="en-US" altLang="en-US">
                <a:solidFill>
                  <a:srgbClr val="0000CC"/>
                </a:solidFill>
              </a:rPr>
              <a:t>n</a:t>
            </a:r>
            <a:r>
              <a:rPr lang="en-US" altLang="en-US"/>
              <a:t> lần , dùng </a:t>
            </a:r>
            <a:r>
              <a:rPr lang="en-US" altLang="en-US">
                <a:solidFill>
                  <a:srgbClr val="0000CC"/>
                </a:solidFill>
              </a:rPr>
              <a:t>m</a:t>
            </a:r>
            <a:r>
              <a:rPr lang="en-US" altLang="en-US"/>
              <a:t> hay </a:t>
            </a:r>
            <a:r>
              <a:rPr lang="en-US" altLang="en-US">
                <a:solidFill>
                  <a:srgbClr val="0000CC"/>
                </a:solidFill>
              </a:rPr>
              <a:t>n</a:t>
            </a:r>
            <a:r>
              <a:rPr lang="en-US" altLang="en-US"/>
              <a:t> là chỉ số trên hoặc dưới</a:t>
            </a:r>
          </a:p>
          <a:p>
            <a:pPr marL="566738" lvl="1" indent="-334963" eaLnBrk="1" hangingPunct="1">
              <a:lnSpc>
                <a:spcPct val="105000"/>
              </a:lnSpc>
            </a:pPr>
            <a:r>
              <a:rPr lang="en-US" altLang="en-US"/>
              <a:t>Dùng </a:t>
            </a:r>
            <a:r>
              <a:rPr lang="en-US" altLang="en-US" b="1">
                <a:solidFill>
                  <a:srgbClr val="F90F0F"/>
                </a:solidFill>
              </a:rPr>
              <a:t>( | )</a:t>
            </a:r>
            <a:r>
              <a:rPr lang="en-US" altLang="en-US"/>
              <a:t> cho biết có thể lựa chọn  1 trong các ký hiệu nằm bên trong</a:t>
            </a:r>
          </a:p>
        </p:txBody>
      </p:sp>
      <p:sp>
        <p:nvSpPr>
          <p:cNvPr id="111621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6. Giới thiệu ngôn ngữ PL/0 </a:t>
            </a:r>
            <a:r>
              <a:rPr lang="en-US" altLang="en-US">
                <a:solidFill>
                  <a:schemeClr val="bg1"/>
                </a:solidFill>
              </a:rPr>
              <a:t>mở rộng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2C3269-30C8-4EAB-8207-5998EE255C05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112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126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Ký pháp EBNF </a:t>
            </a:r>
            <a:r>
              <a:rPr lang="en-US" altLang="en-US">
                <a:sym typeface="Symbol" panose="05050102010706020507" pitchFamily="18" charset="2"/>
              </a:rPr>
              <a:t> Ví dụ</a:t>
            </a:r>
            <a:r>
              <a:rPr lang="en-US" altLang="en-US"/>
              <a:t> </a:t>
            </a:r>
          </a:p>
        </p:txBody>
      </p:sp>
      <p:sp>
        <p:nvSpPr>
          <p:cNvPr id="15216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914400"/>
            <a:ext cx="8763000" cy="1981200"/>
          </a:xfrm>
          <a:noFill/>
          <a:ln>
            <a:solidFill>
              <a:srgbClr val="4100C4"/>
            </a:solidFill>
            <a:miter lim="800000"/>
            <a:headEnd/>
            <a:tailEnd/>
          </a:ln>
        </p:spPr>
        <p:txBody>
          <a:bodyPr/>
          <a:lstStyle/>
          <a:p>
            <a:pPr marL="406400" indent="-406400" eaLnBrk="1" hangingPunct="1">
              <a:lnSpc>
                <a:spcPct val="105000"/>
              </a:lnSpc>
            </a:pPr>
            <a:r>
              <a:rPr lang="en-US" altLang="en-US"/>
              <a:t>S</a:t>
            </a:r>
            <a:r>
              <a:rPr lang="en-US" altLang="en-US">
                <a:sym typeface="Symbol" panose="05050102010706020507" pitchFamily="18" charset="2"/>
              </a:rPr>
              <a:t>a {b} 			</a:t>
            </a:r>
            <a:r>
              <a:rPr lang="en-US" altLang="en-US"/>
              <a:t>S</a:t>
            </a:r>
            <a:r>
              <a:rPr lang="en-US" altLang="en-US">
                <a:sym typeface="Symbol" panose="05050102010706020507" pitchFamily="18" charset="2"/>
              </a:rPr>
              <a:t>a |ab|abb|….</a:t>
            </a:r>
          </a:p>
          <a:p>
            <a:pPr marL="406400" indent="-406400" eaLnBrk="1" hangingPunct="1">
              <a:lnSpc>
                <a:spcPct val="105000"/>
              </a:lnSpc>
            </a:pPr>
            <a:r>
              <a:rPr lang="en-US" altLang="en-US"/>
              <a:t>S</a:t>
            </a:r>
            <a:r>
              <a:rPr lang="en-US" altLang="en-US">
                <a:sym typeface="Symbol" panose="05050102010706020507" pitchFamily="18" charset="2"/>
              </a:rPr>
              <a:t> [a]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/>
              <a:t>		</a:t>
            </a:r>
            <a:r>
              <a:rPr lang="en-US" altLang="en-US">
                <a:sym typeface="Symbol" panose="05050102010706020507" pitchFamily="18" charset="2"/>
              </a:rPr>
              <a:t></a:t>
            </a:r>
            <a:r>
              <a:rPr lang="en-US" altLang="en-US"/>
              <a:t> 	S</a:t>
            </a:r>
            <a:r>
              <a:rPr lang="en-US" altLang="en-US">
                <a:sym typeface="Symbol" panose="05050102010706020507" pitchFamily="18" charset="2"/>
              </a:rPr>
              <a:t>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sym typeface="Symbol" panose="05050102010706020507" pitchFamily="18" charset="2"/>
              </a:rPr>
              <a:t> |a 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endParaRPr lang="en-US" altLang="en-US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406400" indent="-406400" eaLnBrk="1" hangingPunct="1">
              <a:lnSpc>
                <a:spcPct val="105000"/>
              </a:lnSpc>
            </a:pPr>
            <a:r>
              <a:rPr lang="en-US" altLang="en-US"/>
              <a:t>S</a:t>
            </a:r>
            <a:r>
              <a:rPr lang="en-US" altLang="en-US">
                <a:sym typeface="Symbol" panose="05050102010706020507" pitchFamily="18" charset="2"/>
              </a:rPr>
              <a:t> (a|b|c)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/>
              <a:t>		</a:t>
            </a:r>
            <a:r>
              <a:rPr lang="en-US" altLang="en-US">
                <a:sym typeface="Symbol" panose="05050102010706020507" pitchFamily="18" charset="2"/>
              </a:rPr>
              <a:t></a:t>
            </a:r>
            <a:r>
              <a:rPr lang="en-US" altLang="en-US"/>
              <a:t> 	S</a:t>
            </a:r>
            <a:r>
              <a:rPr lang="en-US" altLang="en-US">
                <a:sym typeface="Symbol" panose="05050102010706020507" pitchFamily="18" charset="2"/>
              </a:rPr>
              <a:t> a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sym typeface="Symbol" panose="05050102010706020507" pitchFamily="18" charset="2"/>
              </a:rPr>
              <a:t> | b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r>
              <a:rPr lang="en-US" altLang="en-US">
                <a:sym typeface="Symbol" panose="05050102010706020507" pitchFamily="18" charset="2"/>
              </a:rPr>
              <a:t> | c</a:t>
            </a:r>
            <a:r>
              <a:rPr lang="el-GR" altLang="en-US">
                <a:cs typeface="Arial" panose="020B0604020202020204" pitchFamily="34" charset="0"/>
                <a:sym typeface="Symbol" panose="05050102010706020507" pitchFamily="18" charset="2"/>
              </a:rPr>
              <a:t>α</a:t>
            </a:r>
            <a:endParaRPr lang="en-US" altLang="en-US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1521672" name="Group 8"/>
          <p:cNvGrpSpPr>
            <a:grpSpLocks/>
          </p:cNvGrpSpPr>
          <p:nvPr/>
        </p:nvGrpSpPr>
        <p:grpSpPr bwMode="auto">
          <a:xfrm>
            <a:off x="152400" y="3124200"/>
            <a:ext cx="8763000" cy="3581400"/>
            <a:chOff x="96" y="1968"/>
            <a:chExt cx="5520" cy="2256"/>
          </a:xfrm>
        </p:grpSpPr>
        <p:sp>
          <p:nvSpPr>
            <p:cNvPr id="112647" name="Rectangle 5"/>
            <p:cNvSpPr>
              <a:spLocks noChangeArrowheads="1"/>
            </p:cNvSpPr>
            <p:nvPr/>
          </p:nvSpPr>
          <p:spPr bwMode="auto">
            <a:xfrm>
              <a:off x="96" y="1968"/>
              <a:ext cx="5520" cy="2256"/>
            </a:xfrm>
            <a:prstGeom prst="rect">
              <a:avLst/>
            </a:prstGeom>
            <a:noFill/>
            <a:ln w="9525">
              <a:solidFill>
                <a:srgbClr val="4100C4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406400" indent="-406400"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855663" indent="-334963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317625" indent="-347663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944688" indent="-290513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776538" indent="-3810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3233738" indent="-381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3690938" indent="-381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4148138" indent="-381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4605338" indent="-381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/>
                <a:t>Trong BNF</a:t>
              </a:r>
              <a:endParaRPr lang="en-US" altLang="en-US" i="1"/>
            </a:p>
            <a:p>
              <a:pPr algn="just" eaLnBrk="1" hangingPunct="1">
                <a:spcBef>
                  <a:spcPct val="10000"/>
                </a:spcBef>
                <a:buFontTx/>
                <a:buNone/>
              </a:pPr>
              <a:r>
                <a:rPr lang="en-US" altLang="en-US" sz="2800" b="0" i="1"/>
                <a:t>	&lt;Lệnh if&gt; ::= ‘IF’ &lt;Biểu thức&gt; ‘THEN’ &lt;Lệnh&gt;| ‘IF’ &lt;Biểu thức&gt; THEN &lt;Lệnh&gt; ‘ELSE’ &lt;Lệnh&gt;</a:t>
              </a:r>
            </a:p>
            <a:p>
              <a:pPr algn="just" eaLnBrk="1" hangingPunct="1">
                <a:lnSpc>
                  <a:spcPct val="110000"/>
                </a:lnSpc>
                <a:buFontTx/>
                <a:buNone/>
              </a:pPr>
              <a:r>
                <a:rPr lang="en-US" altLang="en-US"/>
                <a:t>Trong EBNF</a:t>
              </a:r>
              <a:endParaRPr lang="en-US" altLang="en-US" i="1"/>
            </a:p>
            <a:p>
              <a:pPr algn="just" eaLnBrk="1" hangingPunct="1">
                <a:lnSpc>
                  <a:spcPct val="110000"/>
                </a:lnSpc>
                <a:buFontTx/>
                <a:buNone/>
              </a:pPr>
              <a:r>
                <a:rPr lang="en-US" altLang="en-US" b="0" i="1"/>
                <a:t>	</a:t>
              </a:r>
              <a:r>
                <a:rPr lang="en-US" altLang="en-US" sz="2800" b="0" i="1"/>
                <a:t>&lt;Lệnh if&gt; ::= IF &lt;Biểu thức&gt; THEN &lt;Lệnh&gt; [ELSE &lt;Lệnh&gt;]</a:t>
              </a:r>
              <a:endParaRPr lang="en-US" altLang="en-US" sz="2800" b="0"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12648" name="Text Box 6"/>
            <p:cNvSpPr txBox="1">
              <a:spLocks noChangeArrowheads="1"/>
            </p:cNvSpPr>
            <p:nvPr/>
          </p:nvSpPr>
          <p:spPr bwMode="auto">
            <a:xfrm>
              <a:off x="3696" y="2019"/>
              <a:ext cx="1872" cy="3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4100C4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0">
                  <a:solidFill>
                    <a:srgbClr val="F90F0F"/>
                  </a:solidFill>
                </a:rPr>
                <a:t>BNF &gt;&lt; EBNF</a:t>
              </a:r>
            </a:p>
          </p:txBody>
        </p:sp>
      </p:grpSp>
      <p:sp>
        <p:nvSpPr>
          <p:cNvPr id="112646" name="Text Box 10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6. Giới thiệu ngôn ngữ PL/0 </a:t>
            </a:r>
            <a:r>
              <a:rPr lang="en-US" altLang="en-US">
                <a:solidFill>
                  <a:schemeClr val="bg1"/>
                </a:solidFill>
              </a:rPr>
              <a:t>mở rộng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66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2166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21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6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216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6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216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521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1668" grpId="0" build="p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20586D-461D-4F4D-AAC7-C75C79184981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113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136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Sơ đồ cú pháp</a:t>
            </a:r>
          </a:p>
        </p:txBody>
      </p:sp>
      <p:sp>
        <p:nvSpPr>
          <p:cNvPr id="1136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8763000" cy="2514600"/>
          </a:xfrm>
          <a:noFill/>
        </p:spPr>
        <p:txBody>
          <a:bodyPr/>
          <a:lstStyle/>
          <a:p>
            <a:pPr marL="347663" indent="-347663" algn="just" eaLnBrk="1" hangingPunct="1"/>
            <a:r>
              <a:rPr lang="en-US" altLang="en-US" sz="2800"/>
              <a:t>Là công cụ để mô tả cú pháp của ngôn ngữ lập trình dưới dạng đồ thị</a:t>
            </a:r>
          </a:p>
          <a:p>
            <a:pPr marL="347663" indent="-347663" algn="just" eaLnBrk="1" hangingPunct="1"/>
            <a:r>
              <a:rPr lang="en-US" altLang="en-US" sz="2800"/>
              <a:t>Mỗi sơ đồ cú pháp là một đồ thị định hướng với lối vào và lối ra xác định. </a:t>
            </a:r>
          </a:p>
          <a:p>
            <a:pPr marL="347663" indent="-347663" algn="just" eaLnBrk="1" hangingPunct="1"/>
            <a:r>
              <a:rPr lang="en-US" altLang="en-US" sz="2800"/>
              <a:t>Mỗi sơ đồ cú pháp có một tên duy nhất</a:t>
            </a:r>
          </a:p>
        </p:txBody>
      </p:sp>
      <p:pic>
        <p:nvPicPr>
          <p:cNvPr id="1507333" name="Picture 5" descr="wp2_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357563"/>
            <a:ext cx="6934200" cy="339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670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6. Giới thiệu ngôn ngữ PL/0 </a:t>
            </a:r>
            <a:r>
              <a:rPr lang="en-US" altLang="en-US">
                <a:solidFill>
                  <a:schemeClr val="bg1"/>
                </a:solidFill>
              </a:rPr>
              <a:t>mở rộng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0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E71549-B6ED-4C04-9DFF-25A4FA9B64AA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114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146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Ngôn ngữ PL/0</a:t>
            </a:r>
          </a:p>
        </p:txBody>
      </p:sp>
      <p:sp>
        <p:nvSpPr>
          <p:cNvPr id="150835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823913"/>
            <a:ext cx="8763000" cy="5943600"/>
          </a:xfrm>
          <a:noFill/>
        </p:spPr>
        <p:txBody>
          <a:bodyPr tIns="0" bIns="0"/>
          <a:lstStyle/>
          <a:p>
            <a:pPr marL="347663" indent="-347663" eaLnBrk="1" hangingPunct="1"/>
            <a:r>
              <a:rPr lang="en-US" altLang="en-US" sz="2800" err="1"/>
              <a:t>Được</a:t>
            </a:r>
            <a:r>
              <a:rPr lang="en-US" altLang="en-US" sz="2800"/>
              <a:t> </a:t>
            </a:r>
            <a:r>
              <a:rPr lang="en-US" altLang="en-US" sz="2800" err="1"/>
              <a:t>giới</a:t>
            </a:r>
            <a:r>
              <a:rPr lang="en-US" altLang="en-US" sz="2800"/>
              <a:t> </a:t>
            </a:r>
            <a:r>
              <a:rPr lang="en-US" altLang="en-US" sz="2800" err="1"/>
              <a:t>thiệu</a:t>
            </a:r>
            <a:r>
              <a:rPr lang="en-US" altLang="en-US" sz="2800"/>
              <a:t> </a:t>
            </a:r>
            <a:r>
              <a:rPr lang="en-US" altLang="en-US" sz="2800" err="1"/>
              <a:t>bởi</a:t>
            </a:r>
            <a:r>
              <a:rPr lang="en-US" altLang="en-US" sz="2800"/>
              <a:t> </a:t>
            </a:r>
            <a:r>
              <a:rPr lang="en-US" altLang="en-US" sz="2800" i="1">
                <a:solidFill>
                  <a:schemeClr val="accent2"/>
                </a:solidFill>
              </a:rPr>
              <a:t>Niklaus Wirth</a:t>
            </a:r>
            <a:r>
              <a:rPr lang="en-US" altLang="en-US" sz="2800"/>
              <a:t> </a:t>
            </a:r>
            <a:r>
              <a:rPr lang="fr-FR" altLang="en-US" sz="2800" err="1"/>
              <a:t>năm</a:t>
            </a:r>
            <a:r>
              <a:rPr lang="fr-FR" altLang="en-US" sz="2800"/>
              <a:t> 1975 </a:t>
            </a:r>
          </a:p>
          <a:p>
            <a:pPr marL="739775" lvl="1" indent="-274638" eaLnBrk="1" hangingPunct="1"/>
            <a:r>
              <a:rPr lang="fr-FR" altLang="en-US" sz="2400" i="1" err="1"/>
              <a:t>Trong</a:t>
            </a:r>
            <a:r>
              <a:rPr lang="fr-FR" altLang="en-US" sz="2400" i="1"/>
              <a:t> </a:t>
            </a:r>
            <a:r>
              <a:rPr lang="fr-FR" altLang="en-US" sz="2400" i="1" err="1"/>
              <a:t>quyển</a:t>
            </a:r>
            <a:r>
              <a:rPr lang="fr-FR" altLang="en-US" sz="2400" i="1"/>
              <a:t> </a:t>
            </a:r>
            <a:r>
              <a:rPr lang="fr-FR" altLang="en-US" sz="2400" i="1">
                <a:hlinkClick r:id="rId2" tooltip="Algorithms + Data Structures = Programs"/>
              </a:rPr>
              <a:t>Algorithms + Data Structures = Programs</a:t>
            </a:r>
            <a:r>
              <a:rPr lang="fr-FR" altLang="en-US" sz="2400"/>
              <a:t> </a:t>
            </a:r>
          </a:p>
          <a:p>
            <a:pPr marL="347663" indent="-347663" eaLnBrk="1" hangingPunct="1"/>
            <a:r>
              <a:rPr lang="en-US" altLang="en-US" sz="2800" err="1"/>
              <a:t>Là</a:t>
            </a:r>
            <a:r>
              <a:rPr lang="en-US" altLang="en-US" sz="2800"/>
              <a:t> </a:t>
            </a:r>
            <a:r>
              <a:rPr lang="en-US" altLang="en-US" sz="2800" err="1"/>
              <a:t>ngôn</a:t>
            </a:r>
            <a:r>
              <a:rPr lang="en-US" altLang="en-US" sz="2800"/>
              <a:t> </a:t>
            </a:r>
            <a:r>
              <a:rPr lang="en-US" altLang="en-US" sz="2800" err="1"/>
              <a:t>ngữ</a:t>
            </a:r>
            <a:r>
              <a:rPr lang="en-US" altLang="en-US" sz="2800"/>
              <a:t> </a:t>
            </a:r>
            <a:r>
              <a:rPr lang="en-US" altLang="en-US" sz="2800" err="1"/>
              <a:t>lập</a:t>
            </a:r>
            <a:r>
              <a:rPr lang="en-US" altLang="en-US" sz="2800"/>
              <a:t> </a:t>
            </a:r>
            <a:r>
              <a:rPr lang="en-US" altLang="en-US" sz="2800" err="1"/>
              <a:t>trình</a:t>
            </a:r>
            <a:r>
              <a:rPr lang="en-US" altLang="en-US" sz="2800"/>
              <a:t> </a:t>
            </a:r>
            <a:r>
              <a:rPr lang="en-US" altLang="en-US" sz="2800" err="1"/>
              <a:t>phục</a:t>
            </a:r>
            <a:r>
              <a:rPr lang="en-US" altLang="en-US" sz="2800"/>
              <a:t> </a:t>
            </a:r>
            <a:r>
              <a:rPr lang="en-US" altLang="en-US" sz="2800" err="1"/>
              <a:t>vụ</a:t>
            </a:r>
            <a:r>
              <a:rPr lang="en-US" altLang="en-US" sz="2800"/>
              <a:t> </a:t>
            </a:r>
            <a:r>
              <a:rPr lang="en-US" altLang="en-US" sz="2800" err="1"/>
              <a:t>giáo</a:t>
            </a:r>
            <a:r>
              <a:rPr lang="en-US" altLang="en-US" sz="2800"/>
              <a:t> </a:t>
            </a:r>
            <a:r>
              <a:rPr lang="en-US" altLang="en-US" sz="2800" err="1"/>
              <a:t>dục</a:t>
            </a:r>
            <a:endParaRPr lang="en-US" altLang="en-US" sz="2800"/>
          </a:p>
          <a:p>
            <a:pPr marL="739775" lvl="1" indent="-274638" eaLnBrk="1" hangingPunct="1"/>
            <a:r>
              <a:rPr lang="en-US" altLang="en-US" sz="2400" err="1"/>
              <a:t>Tựa</a:t>
            </a:r>
            <a:r>
              <a:rPr lang="en-US" altLang="en-US" sz="2400"/>
              <a:t> Pascal, </a:t>
            </a:r>
            <a:r>
              <a:rPr lang="en-US" altLang="en-US" sz="2400" err="1"/>
              <a:t>chứa</a:t>
            </a:r>
            <a:r>
              <a:rPr lang="en-US" altLang="en-US" sz="2400"/>
              <a:t> </a:t>
            </a:r>
            <a:r>
              <a:rPr lang="en-US" altLang="en-US" sz="2400" err="1"/>
              <a:t>đặc</a:t>
            </a:r>
            <a:r>
              <a:rPr lang="en-US" altLang="en-US" sz="2400"/>
              <a:t> </a:t>
            </a:r>
            <a:r>
              <a:rPr lang="en-US" altLang="en-US" sz="2400" err="1"/>
              <a:t>trưng</a:t>
            </a:r>
            <a:r>
              <a:rPr lang="en-US" altLang="en-US" sz="2400"/>
              <a:t> </a:t>
            </a:r>
            <a:r>
              <a:rPr lang="en-US" altLang="en-US" sz="2400" err="1"/>
              <a:t>của</a:t>
            </a:r>
            <a:r>
              <a:rPr lang="en-US" altLang="en-US" sz="2400"/>
              <a:t> </a:t>
            </a:r>
            <a:r>
              <a:rPr lang="en-US" altLang="en-US" sz="2400" err="1"/>
              <a:t>một</a:t>
            </a:r>
            <a:r>
              <a:rPr lang="en-US" altLang="en-US" sz="2400"/>
              <a:t> NNLT </a:t>
            </a:r>
            <a:r>
              <a:rPr lang="en-US" altLang="en-US" sz="2400" err="1"/>
              <a:t>cấp</a:t>
            </a:r>
            <a:r>
              <a:rPr lang="en-US" altLang="en-US" sz="2400"/>
              <a:t> </a:t>
            </a:r>
            <a:r>
              <a:rPr lang="en-US" altLang="en-US" sz="2400" err="1"/>
              <a:t>cao</a:t>
            </a:r>
            <a:endParaRPr lang="en-US" altLang="en-US" sz="2400"/>
          </a:p>
          <a:p>
            <a:pPr marL="347663" indent="-347663" eaLnBrk="1" hangingPunct="1">
              <a:buFontTx/>
              <a:buNone/>
            </a:pPr>
            <a:r>
              <a:rPr lang="en-US" altLang="en-US" b="1" err="1"/>
              <a:t>Đặc</a:t>
            </a:r>
            <a:r>
              <a:rPr lang="en-US" altLang="en-US" b="1"/>
              <a:t> </a:t>
            </a:r>
            <a:r>
              <a:rPr lang="en-US" altLang="en-US" b="1" err="1"/>
              <a:t>trưng</a:t>
            </a:r>
            <a:r>
              <a:rPr lang="en-US" altLang="en-US" b="1"/>
              <a:t> </a:t>
            </a:r>
            <a:r>
              <a:rPr lang="en-US" altLang="en-US" b="1" err="1"/>
              <a:t>cơ</a:t>
            </a:r>
            <a:r>
              <a:rPr lang="en-US" altLang="en-US" b="1"/>
              <a:t> </a:t>
            </a:r>
            <a:r>
              <a:rPr lang="en-US" altLang="en-US" b="1" err="1"/>
              <a:t>bản</a:t>
            </a:r>
            <a:endParaRPr lang="en-US" altLang="en-US" b="1"/>
          </a:p>
          <a:p>
            <a:pPr marL="347663" indent="-347663" eaLnBrk="1" hangingPunct="1"/>
            <a:r>
              <a:rPr lang="en-US" altLang="en-US" sz="2800" err="1"/>
              <a:t>Từ</a:t>
            </a:r>
            <a:r>
              <a:rPr lang="en-US" altLang="en-US" sz="2800"/>
              <a:t> </a:t>
            </a:r>
            <a:r>
              <a:rPr lang="en-US" altLang="en-US" sz="2800" err="1"/>
              <a:t>vựng</a:t>
            </a:r>
            <a:r>
              <a:rPr lang="en-US" altLang="en-US" sz="2800"/>
              <a:t>:</a:t>
            </a:r>
          </a:p>
          <a:p>
            <a:pPr marL="739775" lvl="1" indent="-274638" eaLnBrk="1" hangingPunct="1"/>
            <a:r>
              <a:rPr lang="en-US" altLang="en-US" sz="2400" b="1" err="1"/>
              <a:t>Chữ</a:t>
            </a:r>
            <a:r>
              <a:rPr lang="en-US" altLang="en-US" sz="2400" b="1"/>
              <a:t> </a:t>
            </a:r>
            <a:r>
              <a:rPr lang="en-US" altLang="en-US" sz="2400" b="1" err="1"/>
              <a:t>cái</a:t>
            </a:r>
            <a:r>
              <a:rPr lang="en-US" altLang="en-US" sz="2400"/>
              <a:t>: </a:t>
            </a:r>
            <a:r>
              <a:rPr lang="en-US" altLang="en-US" sz="2400" err="1"/>
              <a:t>a..z</a:t>
            </a:r>
            <a:r>
              <a:rPr lang="en-US" altLang="en-US" sz="2400"/>
              <a:t>, A..Z ; 		</a:t>
            </a:r>
            <a:r>
              <a:rPr lang="en-US" altLang="en-US" sz="2400" b="1" err="1"/>
              <a:t>Chữ</a:t>
            </a:r>
            <a:r>
              <a:rPr lang="en-US" altLang="en-US" sz="2400" b="1"/>
              <a:t> </a:t>
            </a:r>
            <a:r>
              <a:rPr lang="en-US" altLang="en-US" sz="2400" b="1" err="1"/>
              <a:t>số</a:t>
            </a:r>
            <a:r>
              <a:rPr lang="en-US" altLang="en-US" sz="2400"/>
              <a:t>: 0..9</a:t>
            </a:r>
          </a:p>
          <a:p>
            <a:pPr marL="739775" lvl="1" indent="-274638" eaLnBrk="1" hangingPunct="1"/>
            <a:r>
              <a:rPr lang="en-US" altLang="en-US" sz="2400" err="1"/>
              <a:t>Dấu</a:t>
            </a:r>
            <a:r>
              <a:rPr lang="en-US" altLang="en-US" sz="2400"/>
              <a:t> </a:t>
            </a:r>
            <a:r>
              <a:rPr lang="en-US" altLang="en-US" sz="2400" err="1"/>
              <a:t>đơn</a:t>
            </a:r>
            <a:r>
              <a:rPr lang="en-US" altLang="en-US" sz="2400"/>
              <a:t>: +  - *  /  </a:t>
            </a:r>
            <a:r>
              <a:rPr lang="en-US" altLang="en-US" sz="2400" b="1">
                <a:solidFill>
                  <a:srgbClr val="4717CF"/>
                </a:solidFill>
              </a:rPr>
              <a:t>%</a:t>
            </a:r>
            <a:r>
              <a:rPr lang="en-US" altLang="en-US" sz="2400"/>
              <a:t> ( ) </a:t>
            </a:r>
            <a:r>
              <a:rPr lang="en-US" altLang="en-US" sz="2400" b="1">
                <a:solidFill>
                  <a:srgbClr val="4717CF"/>
                </a:solidFill>
              </a:rPr>
              <a:t>[</a:t>
            </a:r>
            <a:r>
              <a:rPr lang="en-US" altLang="en-US" sz="2400"/>
              <a:t> </a:t>
            </a:r>
            <a:r>
              <a:rPr lang="en-US" altLang="en-US" sz="2400" b="1">
                <a:solidFill>
                  <a:srgbClr val="4717CF"/>
                </a:solidFill>
              </a:rPr>
              <a:t>]</a:t>
            </a:r>
            <a:r>
              <a:rPr lang="en-US" altLang="en-US" sz="2400"/>
              <a:t> &gt; &lt; = , ; .</a:t>
            </a:r>
          </a:p>
          <a:p>
            <a:pPr marL="739775" lvl="1" indent="-274638" eaLnBrk="1" hangingPunct="1"/>
            <a:r>
              <a:rPr lang="en-US" altLang="en-US" sz="2400" err="1"/>
              <a:t>Dấu</a:t>
            </a:r>
            <a:r>
              <a:rPr lang="en-US" altLang="en-US" sz="2400"/>
              <a:t> </a:t>
            </a:r>
            <a:r>
              <a:rPr lang="en-US" altLang="en-US" sz="2400" err="1"/>
              <a:t>kép</a:t>
            </a:r>
            <a:r>
              <a:rPr lang="en-US" altLang="en-US" sz="2400"/>
              <a:t>:  :=  &gt;= &lt;=   &lt;&gt;</a:t>
            </a:r>
          </a:p>
          <a:p>
            <a:pPr marL="739775" lvl="1" indent="-274638" eaLnBrk="1" hangingPunct="1"/>
            <a:r>
              <a:rPr lang="en-US" altLang="en-US" sz="2400" err="1"/>
              <a:t>Từ</a:t>
            </a:r>
            <a:r>
              <a:rPr lang="en-US" altLang="en-US" sz="2400"/>
              <a:t> </a:t>
            </a:r>
            <a:r>
              <a:rPr lang="en-US" altLang="en-US" sz="2400" err="1"/>
              <a:t>khóa</a:t>
            </a:r>
            <a:r>
              <a:rPr lang="en-US" altLang="en-US" sz="2400"/>
              <a:t>:  </a:t>
            </a:r>
            <a:r>
              <a:rPr lang="en-US" altLang="en-US" sz="2400" i="1"/>
              <a:t>15 </a:t>
            </a:r>
            <a:r>
              <a:rPr lang="en-US" altLang="en-US" sz="2400" i="1" err="1"/>
              <a:t>từ</a:t>
            </a:r>
            <a:r>
              <a:rPr lang="en-US" altLang="en-US" sz="2400" i="1"/>
              <a:t> </a:t>
            </a:r>
            <a:r>
              <a:rPr lang="en-US" altLang="en-US" sz="2400" i="1" err="1"/>
              <a:t>khóa</a:t>
            </a:r>
            <a:r>
              <a:rPr lang="en-US" altLang="en-US" sz="2400"/>
              <a:t> : </a:t>
            </a:r>
            <a:r>
              <a:rPr lang="en-US" altLang="en-US" sz="2400">
                <a:solidFill>
                  <a:srgbClr val="4717CF"/>
                </a:solidFill>
              </a:rPr>
              <a:t>Begin, Call, Const, Do, End, Else, For, If, Odd, Procedure, Program, Then, To, Var, While</a:t>
            </a:r>
          </a:p>
          <a:p>
            <a:pPr marL="739775" lvl="1" indent="-274638" eaLnBrk="1" hangingPunct="1"/>
            <a:r>
              <a:rPr lang="en-US" altLang="en-US" sz="2400" err="1"/>
              <a:t>Tên</a:t>
            </a:r>
            <a:r>
              <a:rPr lang="en-US" altLang="en-US" sz="2400"/>
              <a:t>: </a:t>
            </a:r>
            <a:r>
              <a:rPr lang="en-US" altLang="en-US" sz="2400" err="1"/>
              <a:t>Bắt</a:t>
            </a:r>
            <a:r>
              <a:rPr lang="en-US" altLang="en-US" sz="2400"/>
              <a:t> </a:t>
            </a:r>
            <a:r>
              <a:rPr lang="en-US" altLang="en-US" sz="2400" err="1"/>
              <a:t>đầu</a:t>
            </a:r>
            <a:r>
              <a:rPr lang="en-US" altLang="en-US" sz="2400"/>
              <a:t> </a:t>
            </a:r>
            <a:r>
              <a:rPr lang="en-US" altLang="en-US" sz="2400" err="1"/>
              <a:t>bởi</a:t>
            </a:r>
            <a:r>
              <a:rPr lang="en-US" altLang="en-US" sz="2400"/>
              <a:t> </a:t>
            </a:r>
            <a:r>
              <a:rPr lang="en-US" altLang="en-US" sz="2400" err="1"/>
              <a:t>chữ</a:t>
            </a:r>
            <a:r>
              <a:rPr lang="en-US" altLang="en-US" sz="2400"/>
              <a:t> </a:t>
            </a:r>
            <a:r>
              <a:rPr lang="en-US" altLang="en-US" sz="2400" err="1"/>
              <a:t>cái</a:t>
            </a:r>
            <a:r>
              <a:rPr lang="en-US" altLang="en-US" sz="2400"/>
              <a:t>, </a:t>
            </a:r>
            <a:r>
              <a:rPr lang="en-US" altLang="en-US" sz="2400" err="1"/>
              <a:t>tiếp</a:t>
            </a:r>
            <a:r>
              <a:rPr lang="en-US" altLang="en-US" sz="2400"/>
              <a:t> </a:t>
            </a:r>
            <a:r>
              <a:rPr lang="en-US" altLang="en-US" sz="2400" err="1"/>
              <a:t>theo</a:t>
            </a:r>
            <a:r>
              <a:rPr lang="en-US" altLang="en-US" sz="2400"/>
              <a:t> </a:t>
            </a:r>
            <a:r>
              <a:rPr lang="en-US" altLang="en-US" sz="2400" err="1"/>
              <a:t>là</a:t>
            </a:r>
            <a:r>
              <a:rPr lang="en-US" altLang="en-US" sz="2400"/>
              <a:t> </a:t>
            </a:r>
            <a:r>
              <a:rPr lang="en-US" altLang="en-US" sz="2400" err="1"/>
              <a:t>tổ</a:t>
            </a:r>
            <a:r>
              <a:rPr lang="en-US" altLang="en-US" sz="2400"/>
              <a:t> </a:t>
            </a:r>
            <a:r>
              <a:rPr lang="en-US" altLang="en-US" sz="2400" err="1"/>
              <a:t>hợp</a:t>
            </a:r>
            <a:r>
              <a:rPr lang="en-US" altLang="en-US" sz="2400"/>
              <a:t> </a:t>
            </a:r>
            <a:r>
              <a:rPr lang="en-US" altLang="en-US" sz="2400" err="1"/>
              <a:t>chữ</a:t>
            </a:r>
            <a:r>
              <a:rPr lang="en-US" altLang="en-US" sz="2400"/>
              <a:t> </a:t>
            </a:r>
            <a:r>
              <a:rPr lang="en-US" altLang="en-US" sz="2400" err="1"/>
              <a:t>cái</a:t>
            </a:r>
            <a:r>
              <a:rPr lang="en-US" altLang="en-US" sz="2400"/>
              <a:t> /</a:t>
            </a:r>
            <a:r>
              <a:rPr lang="en-US" altLang="en-US" sz="2400" err="1"/>
              <a:t>chữ</a:t>
            </a:r>
            <a:r>
              <a:rPr lang="en-US" altLang="en-US" sz="2400"/>
              <a:t> </a:t>
            </a:r>
            <a:r>
              <a:rPr lang="en-US" altLang="en-US" sz="2400" err="1"/>
              <a:t>số</a:t>
            </a:r>
            <a:r>
              <a:rPr lang="en-US" altLang="en-US" sz="2400"/>
              <a:t>. </a:t>
            </a:r>
            <a:r>
              <a:rPr lang="en-US" altLang="en-US" sz="2400" err="1"/>
              <a:t>Độ</a:t>
            </a:r>
            <a:r>
              <a:rPr lang="en-US" altLang="en-US" sz="2400"/>
              <a:t> </a:t>
            </a:r>
            <a:r>
              <a:rPr lang="en-US" altLang="en-US" sz="2400" err="1"/>
              <a:t>dài</a:t>
            </a:r>
            <a:r>
              <a:rPr lang="en-US" altLang="en-US" sz="2400"/>
              <a:t> </a:t>
            </a:r>
            <a:r>
              <a:rPr lang="en-US" altLang="en-US" sz="2400" err="1"/>
              <a:t>tối</a:t>
            </a:r>
            <a:r>
              <a:rPr lang="en-US" altLang="en-US" sz="2400"/>
              <a:t> </a:t>
            </a:r>
            <a:r>
              <a:rPr lang="en-US" altLang="en-US" sz="2400" err="1"/>
              <a:t>đa</a:t>
            </a:r>
            <a:r>
              <a:rPr lang="en-US" altLang="en-US" sz="2400"/>
              <a:t> 10. </a:t>
            </a:r>
            <a:r>
              <a:rPr lang="en-US" altLang="en-US" sz="2400" err="1"/>
              <a:t>Nếu</a:t>
            </a:r>
            <a:r>
              <a:rPr lang="en-US" altLang="en-US" sz="2400"/>
              <a:t> </a:t>
            </a:r>
            <a:r>
              <a:rPr lang="en-US" altLang="en-US" sz="2400" err="1"/>
              <a:t>vượt</a:t>
            </a:r>
            <a:r>
              <a:rPr lang="en-US" altLang="en-US" sz="2400"/>
              <a:t> </a:t>
            </a:r>
            <a:r>
              <a:rPr lang="en-US" altLang="en-US" sz="2400" err="1"/>
              <a:t>quá</a:t>
            </a:r>
            <a:r>
              <a:rPr lang="en-US" altLang="en-US" sz="2400"/>
              <a:t> </a:t>
            </a:r>
            <a:r>
              <a:rPr lang="en-US" altLang="en-US" sz="2400" err="1"/>
              <a:t>sẽ</a:t>
            </a:r>
            <a:r>
              <a:rPr lang="en-US" altLang="en-US" sz="2400"/>
              <a:t> </a:t>
            </a:r>
            <a:r>
              <a:rPr lang="en-US" altLang="en-US" sz="2400" err="1"/>
              <a:t>bị</a:t>
            </a:r>
            <a:r>
              <a:rPr lang="en-US" altLang="en-US" sz="2400"/>
              <a:t> </a:t>
            </a:r>
            <a:r>
              <a:rPr lang="en-US" altLang="en-US" sz="2400" err="1"/>
              <a:t>bỏ</a:t>
            </a:r>
            <a:r>
              <a:rPr lang="en-US" altLang="en-US" sz="2400"/>
              <a:t> qua</a:t>
            </a:r>
          </a:p>
        </p:txBody>
      </p:sp>
      <p:sp>
        <p:nvSpPr>
          <p:cNvPr id="114693" name="Text Box 5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6. Giới thiệu ngôn ngữ PL/0 </a:t>
            </a:r>
            <a:r>
              <a:rPr lang="en-US" altLang="en-US">
                <a:solidFill>
                  <a:schemeClr val="bg1"/>
                </a:solidFill>
              </a:rPr>
              <a:t>mở rộng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083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3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5083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3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5083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3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5083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3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5083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3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5083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3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5083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E5AF84-4D7C-411F-95BF-58299F53252A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115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157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Ngôn ngữ PL/0</a:t>
            </a:r>
          </a:p>
        </p:txBody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823913"/>
            <a:ext cx="8763000" cy="5943600"/>
          </a:xfrm>
          <a:noFill/>
        </p:spPr>
        <p:txBody>
          <a:bodyPr tIns="0" bIns="0"/>
          <a:lstStyle/>
          <a:p>
            <a:pPr marL="347663" indent="-347663" eaLnBrk="1" hangingPunct="1">
              <a:buFontTx/>
              <a:buNone/>
            </a:pPr>
            <a:r>
              <a:rPr lang="en-US" altLang="en-US"/>
              <a:t>Đặc trưng cơ bản (tiếp)</a:t>
            </a:r>
          </a:p>
          <a:p>
            <a:pPr marL="347663" indent="-347663" eaLnBrk="1" hangingPunct="1"/>
            <a:r>
              <a:rPr lang="en-US" altLang="en-US" sz="2800"/>
              <a:t>Hỗ trợ kiểu dữ liệu cơ bản </a:t>
            </a:r>
            <a:r>
              <a:rPr lang="en-US" altLang="en-US" sz="2800" i="1">
                <a:solidFill>
                  <a:srgbClr val="4717CF"/>
                </a:solidFill>
              </a:rPr>
              <a:t>kiểu nguyên</a:t>
            </a:r>
            <a:r>
              <a:rPr lang="en-US" altLang="en-US" sz="2800" i="1">
                <a:solidFill>
                  <a:schemeClr val="accent2"/>
                </a:solidFill>
              </a:rPr>
              <a:t> </a:t>
            </a:r>
          </a:p>
          <a:p>
            <a:pPr marL="739775" lvl="1" indent="-274638" eaLnBrk="1" hangingPunct="1"/>
            <a:r>
              <a:rPr lang="en-US" altLang="en-US" sz="2400"/>
              <a:t>Nếu hằng số nguyên có hơn 6 chữ </a:t>
            </a:r>
            <a:r>
              <a:rPr lang="en-US" altLang="en-US" sz="2400">
                <a:sym typeface="Symbol" panose="05050102010706020507" pitchFamily="18" charset="2"/>
              </a:rPr>
              <a:t> Báo lỗi </a:t>
            </a:r>
            <a:r>
              <a:rPr lang="en-US" altLang="en-US" sz="2400">
                <a:solidFill>
                  <a:srgbClr val="FA0617"/>
                </a:solidFill>
              </a:rPr>
              <a:t>số quá lớn</a:t>
            </a:r>
          </a:p>
          <a:p>
            <a:pPr marL="739775" lvl="1" indent="-274638" eaLnBrk="1" hangingPunct="1"/>
            <a:r>
              <a:rPr lang="en-US" altLang="en-US" sz="2400"/>
              <a:t>PL/0 mở rộng có cấu trúc </a:t>
            </a:r>
            <a:r>
              <a:rPr lang="en-US" altLang="en-US" sz="2400" i="1">
                <a:solidFill>
                  <a:srgbClr val="4717CF"/>
                </a:solidFill>
              </a:rPr>
              <a:t>mảng một chiều các số nguên</a:t>
            </a:r>
            <a:endParaRPr lang="en-US" altLang="en-US" sz="2400">
              <a:solidFill>
                <a:srgbClr val="4717CF"/>
              </a:solidFill>
            </a:endParaRPr>
          </a:p>
          <a:p>
            <a:pPr marL="347663" indent="-347663" eaLnBrk="1" hangingPunct="1"/>
            <a:r>
              <a:rPr lang="en-US" altLang="en-US" sz="2800"/>
              <a:t>Biểu thức số học, biểu thức so sánh </a:t>
            </a:r>
          </a:p>
          <a:p>
            <a:pPr marL="347663" indent="-347663" eaLnBrk="1" hangingPunct="1"/>
            <a:r>
              <a:rPr lang="en-US" altLang="en-US" sz="2800"/>
              <a:t>Cho phép định nghĩa hằng (</a:t>
            </a:r>
            <a:r>
              <a:rPr lang="en-US" altLang="en-US" sz="2800" b="1" i="1">
                <a:solidFill>
                  <a:srgbClr val="4717CF"/>
                </a:solidFill>
              </a:rPr>
              <a:t>const</a:t>
            </a:r>
            <a:r>
              <a:rPr lang="en-US" altLang="en-US" sz="2800"/>
              <a:t>), biến (</a:t>
            </a:r>
            <a:r>
              <a:rPr lang="en-US" altLang="en-US" sz="2800" b="1" i="1">
                <a:solidFill>
                  <a:srgbClr val="4717CF"/>
                </a:solidFill>
              </a:rPr>
              <a:t>var</a:t>
            </a:r>
            <a:r>
              <a:rPr lang="en-US" altLang="en-US" sz="2800"/>
              <a:t>)</a:t>
            </a:r>
          </a:p>
          <a:p>
            <a:pPr marL="347663" indent="-347663" eaLnBrk="1" hangingPunct="1"/>
            <a:r>
              <a:rPr lang="en-US" altLang="en-US" sz="2800"/>
              <a:t>Câu lệnh gán (</a:t>
            </a:r>
            <a:r>
              <a:rPr lang="en-US" altLang="en-US" sz="2800" b="1" i="1">
                <a:solidFill>
                  <a:srgbClr val="4717CF"/>
                </a:solidFill>
              </a:rPr>
              <a:t>:=</a:t>
            </a:r>
            <a:r>
              <a:rPr lang="en-US" altLang="en-US" sz="2800"/>
              <a:t>) , gộp (</a:t>
            </a:r>
            <a:r>
              <a:rPr lang="en-US" altLang="en-US" sz="2800" b="1" i="1">
                <a:solidFill>
                  <a:srgbClr val="4717CF"/>
                </a:solidFill>
              </a:rPr>
              <a:t>begin end</a:t>
            </a:r>
            <a:r>
              <a:rPr lang="en-US" altLang="en-US" sz="2800"/>
              <a:t>), gọi thủ tục (</a:t>
            </a:r>
            <a:r>
              <a:rPr lang="en-US" altLang="en-US" sz="2800" b="1" i="1">
                <a:solidFill>
                  <a:srgbClr val="4717CF"/>
                </a:solidFill>
              </a:rPr>
              <a:t>call</a:t>
            </a:r>
            <a:r>
              <a:rPr lang="en-US" altLang="en-US" sz="2800"/>
              <a:t>), rẽ nhánh (</a:t>
            </a:r>
            <a:r>
              <a:rPr lang="en-US" altLang="en-US" sz="2800" b="1" i="1">
                <a:solidFill>
                  <a:srgbClr val="4717CF"/>
                </a:solidFill>
              </a:rPr>
              <a:t>if..else</a:t>
            </a:r>
            <a:r>
              <a:rPr lang="en-US" altLang="en-US" sz="2800"/>
              <a:t>), lặp (</a:t>
            </a:r>
            <a:r>
              <a:rPr lang="en-US" altLang="en-US" sz="2800" b="1" i="1">
                <a:solidFill>
                  <a:srgbClr val="4717CF"/>
                </a:solidFill>
              </a:rPr>
              <a:t>while, for</a:t>
            </a:r>
            <a:r>
              <a:rPr lang="en-US" altLang="en-US" sz="2800"/>
              <a:t>)</a:t>
            </a:r>
          </a:p>
          <a:p>
            <a:pPr marL="347663" indent="-347663" eaLnBrk="1" hangingPunct="1"/>
            <a:r>
              <a:rPr lang="en-US" altLang="en-US" sz="2800"/>
              <a:t>Câu lệnh vào/ra (</a:t>
            </a:r>
            <a:r>
              <a:rPr lang="en-US" altLang="en-US" sz="2800" i="1">
                <a:solidFill>
                  <a:srgbClr val="4717CF"/>
                </a:solidFill>
              </a:rPr>
              <a:t>read/readln/write/writeln</a:t>
            </a:r>
            <a:r>
              <a:rPr lang="en-US" altLang="en-US" sz="2800"/>
              <a:t>)</a:t>
            </a:r>
          </a:p>
          <a:p>
            <a:pPr marL="347663" indent="-347663" eaLnBrk="1" hangingPunct="1"/>
            <a:r>
              <a:rPr lang="en-US" altLang="en-US" sz="2800"/>
              <a:t>Có cấu trúc khối – chương trình con dạng thủ tục</a:t>
            </a:r>
          </a:p>
          <a:p>
            <a:pPr marL="739775" lvl="1" indent="-274638" eaLnBrk="1" hangingPunct="1"/>
            <a:r>
              <a:rPr lang="en-US" altLang="en-US" sz="2400"/>
              <a:t>Các thủ tục có thể lồng nhau</a:t>
            </a:r>
          </a:p>
          <a:p>
            <a:pPr marL="739775" lvl="1" indent="-274638" eaLnBrk="1" hangingPunct="1"/>
            <a:r>
              <a:rPr lang="en-US" altLang="en-US" sz="2400"/>
              <a:t>PL/0 mở rộng cho phép truyền tham số theo trị, theo biến</a:t>
            </a:r>
          </a:p>
        </p:txBody>
      </p:sp>
      <p:sp>
        <p:nvSpPr>
          <p:cNvPr id="115717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6. Giới thiệu ngôn ngữ PL/0 </a:t>
            </a:r>
            <a:r>
              <a:rPr lang="en-US" altLang="en-US">
                <a:solidFill>
                  <a:schemeClr val="bg1"/>
                </a:solidFill>
              </a:rPr>
              <a:t>mở rộng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F9E582-D45A-4173-9F59-6BF6D55DC4F1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116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167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Sơ đồ cú pháp cho ngôn ngữ PL/0 mở rộng</a:t>
            </a:r>
          </a:p>
        </p:txBody>
      </p:sp>
      <p:sp>
        <p:nvSpPr>
          <p:cNvPr id="1522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2743200"/>
            <a:ext cx="8763000" cy="2590800"/>
          </a:xfrm>
          <a:noFill/>
        </p:spPr>
        <p:txBody>
          <a:bodyPr/>
          <a:lstStyle/>
          <a:p>
            <a:pPr marL="347663" indent="-347663" eaLnBrk="1" hangingPunct="1">
              <a:lnSpc>
                <a:spcPct val="110000"/>
              </a:lnSpc>
              <a:buFontTx/>
              <a:buNone/>
            </a:pPr>
            <a:r>
              <a:rPr lang="en-US" altLang="en-US" b="1" err="1"/>
              <a:t>Dạng</a:t>
            </a:r>
            <a:r>
              <a:rPr lang="en-US" altLang="en-US" b="1"/>
              <a:t> EBNF</a:t>
            </a:r>
          </a:p>
          <a:p>
            <a:pPr marL="739775" lvl="1" indent="-274638" eaLnBrk="1" hangingPunct="1">
              <a:lnSpc>
                <a:spcPct val="110000"/>
              </a:lnSpc>
              <a:buFontTx/>
              <a:buNone/>
            </a:pPr>
            <a:r>
              <a:rPr lang="en-US" altLang="en-US"/>
              <a:t>&lt;program&gt; ::= </a:t>
            </a:r>
            <a:r>
              <a:rPr lang="en-US" altLang="en-US" b="1">
                <a:solidFill>
                  <a:srgbClr val="4717CF"/>
                </a:solidFill>
              </a:rPr>
              <a:t>PROGRAM</a:t>
            </a:r>
            <a:r>
              <a:rPr lang="en-US" altLang="en-US"/>
              <a:t> </a:t>
            </a:r>
            <a:r>
              <a:rPr lang="en-US" altLang="en-US" i="1">
                <a:solidFill>
                  <a:srgbClr val="4717CF"/>
                </a:solidFill>
              </a:rPr>
              <a:t>&lt;Identifier&gt; </a:t>
            </a:r>
            <a:r>
              <a:rPr lang="en-US" altLang="en-US" b="1">
                <a:solidFill>
                  <a:srgbClr val="4717CF"/>
                </a:solidFill>
              </a:rPr>
              <a:t>;</a:t>
            </a:r>
            <a:r>
              <a:rPr lang="en-US" altLang="en-US"/>
              <a:t> &lt;Block&gt;</a:t>
            </a:r>
            <a:r>
              <a:rPr lang="en-US" altLang="en-US" b="1">
                <a:solidFill>
                  <a:srgbClr val="4717CF"/>
                </a:solidFill>
              </a:rPr>
              <a:t>.</a:t>
            </a:r>
          </a:p>
          <a:p>
            <a:pPr marL="347663" indent="-347663" eaLnBrk="1" hangingPunct="1">
              <a:lnSpc>
                <a:spcPct val="110000"/>
              </a:lnSpc>
              <a:spcBef>
                <a:spcPct val="120000"/>
              </a:spcBef>
              <a:buFontTx/>
              <a:buNone/>
            </a:pPr>
            <a:r>
              <a:rPr lang="en-US" altLang="en-US" b="1" err="1"/>
              <a:t>Dạng</a:t>
            </a:r>
            <a:r>
              <a:rPr lang="en-US" altLang="en-US" b="1"/>
              <a:t> </a:t>
            </a:r>
            <a:r>
              <a:rPr lang="en-US" altLang="en-US" b="1" err="1"/>
              <a:t>sơ</a:t>
            </a:r>
            <a:r>
              <a:rPr lang="en-US" altLang="en-US" b="1"/>
              <a:t> </a:t>
            </a:r>
            <a:r>
              <a:rPr lang="en-US" altLang="en-US" b="1" err="1"/>
              <a:t>đồ</a:t>
            </a:r>
            <a:endParaRPr lang="en-US" altLang="en-US" b="1"/>
          </a:p>
        </p:txBody>
      </p:sp>
      <p:sp>
        <p:nvSpPr>
          <p:cNvPr id="116741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6. Giới thiệu ngôn ngữ PL/0 mở rộng</a:t>
            </a:r>
          </a:p>
        </p:txBody>
      </p:sp>
      <p:grpSp>
        <p:nvGrpSpPr>
          <p:cNvPr id="1522743" name="Group 55"/>
          <p:cNvGrpSpPr>
            <a:grpSpLocks/>
          </p:cNvGrpSpPr>
          <p:nvPr/>
        </p:nvGrpSpPr>
        <p:grpSpPr bwMode="auto">
          <a:xfrm>
            <a:off x="685800" y="5334000"/>
            <a:ext cx="7162800" cy="781050"/>
            <a:chOff x="432" y="3360"/>
            <a:chExt cx="4512" cy="492"/>
          </a:xfrm>
        </p:grpSpPr>
        <p:sp>
          <p:nvSpPr>
            <p:cNvPr id="116755" name="Text Box 25"/>
            <p:cNvSpPr txBox="1">
              <a:spLocks noChangeArrowheads="1"/>
            </p:cNvSpPr>
            <p:nvPr/>
          </p:nvSpPr>
          <p:spPr bwMode="auto">
            <a:xfrm>
              <a:off x="3840" y="3552"/>
              <a:ext cx="624" cy="3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Block</a:t>
              </a:r>
              <a:endParaRPr lang="fr-FR" altLang="en-US" sz="2400">
                <a:solidFill>
                  <a:schemeClr val="tx1"/>
                </a:solidFill>
              </a:endParaRPr>
            </a:p>
          </p:txBody>
        </p:sp>
        <p:grpSp>
          <p:nvGrpSpPr>
            <p:cNvPr id="116756" name="Group 43"/>
            <p:cNvGrpSpPr>
              <a:grpSpLocks/>
            </p:cNvGrpSpPr>
            <p:nvPr/>
          </p:nvGrpSpPr>
          <p:grpSpPr bwMode="auto">
            <a:xfrm>
              <a:off x="3312" y="3570"/>
              <a:ext cx="288" cy="270"/>
              <a:chOff x="3168" y="2082"/>
              <a:chExt cx="288" cy="270"/>
            </a:xfrm>
          </p:grpSpPr>
          <p:sp>
            <p:nvSpPr>
              <p:cNvPr id="116772" name="Text Box 27"/>
              <p:cNvSpPr txBox="1">
                <a:spLocks noChangeArrowheads="1"/>
              </p:cNvSpPr>
              <p:nvPr/>
            </p:nvSpPr>
            <p:spPr bwMode="auto">
              <a:xfrm>
                <a:off x="3170" y="2082"/>
                <a:ext cx="286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solidFill>
                      <a:schemeClr val="tx1"/>
                    </a:solidFill>
                  </a:rPr>
                  <a:t>;</a:t>
                </a:r>
              </a:p>
            </p:txBody>
          </p:sp>
          <p:sp>
            <p:nvSpPr>
              <p:cNvPr id="116773" name="Oval 28"/>
              <p:cNvSpPr>
                <a:spLocks noChangeArrowheads="1"/>
              </p:cNvSpPr>
              <p:nvPr/>
            </p:nvSpPr>
            <p:spPr bwMode="auto">
              <a:xfrm>
                <a:off x="3168" y="2083"/>
                <a:ext cx="286" cy="269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6757" name="Group 29"/>
            <p:cNvGrpSpPr>
              <a:grpSpLocks/>
            </p:cNvGrpSpPr>
            <p:nvPr/>
          </p:nvGrpSpPr>
          <p:grpSpPr bwMode="auto">
            <a:xfrm>
              <a:off x="1327" y="3543"/>
              <a:ext cx="1025" cy="297"/>
              <a:chOff x="3126" y="2097"/>
              <a:chExt cx="1800" cy="472"/>
            </a:xfrm>
          </p:grpSpPr>
          <p:sp>
            <p:nvSpPr>
              <p:cNvPr id="116770" name="AutoShape 30"/>
              <p:cNvSpPr>
                <a:spLocks noChangeArrowheads="1"/>
              </p:cNvSpPr>
              <p:nvPr/>
            </p:nvSpPr>
            <p:spPr bwMode="auto">
              <a:xfrm>
                <a:off x="3126" y="2097"/>
                <a:ext cx="1800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6771" name="Text Box 31"/>
              <p:cNvSpPr txBox="1">
                <a:spLocks noChangeArrowheads="1"/>
              </p:cNvSpPr>
              <p:nvPr/>
            </p:nvSpPr>
            <p:spPr bwMode="auto">
              <a:xfrm>
                <a:off x="3226" y="2191"/>
                <a:ext cx="1521" cy="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PROGRAM</a:t>
                </a:r>
              </a:p>
            </p:txBody>
          </p:sp>
        </p:grpSp>
        <p:sp>
          <p:nvSpPr>
            <p:cNvPr id="116758" name="Line 32"/>
            <p:cNvSpPr>
              <a:spLocks noChangeShapeType="1"/>
            </p:cNvSpPr>
            <p:nvPr/>
          </p:nvSpPr>
          <p:spPr bwMode="auto">
            <a:xfrm>
              <a:off x="576" y="3696"/>
              <a:ext cx="74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6759" name="Group 33"/>
            <p:cNvGrpSpPr>
              <a:grpSpLocks/>
            </p:cNvGrpSpPr>
            <p:nvPr/>
          </p:nvGrpSpPr>
          <p:grpSpPr bwMode="auto">
            <a:xfrm>
              <a:off x="2592" y="3552"/>
              <a:ext cx="528" cy="288"/>
              <a:chOff x="5886" y="2164"/>
              <a:chExt cx="1080" cy="472"/>
            </a:xfrm>
          </p:grpSpPr>
          <p:sp>
            <p:nvSpPr>
              <p:cNvPr id="116768" name="AutoShape 34"/>
              <p:cNvSpPr>
                <a:spLocks noChangeArrowheads="1"/>
              </p:cNvSpPr>
              <p:nvPr/>
            </p:nvSpPr>
            <p:spPr bwMode="auto">
              <a:xfrm>
                <a:off x="5886" y="2164"/>
                <a:ext cx="1080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6769" name="Text Box 35"/>
              <p:cNvSpPr txBox="1">
                <a:spLocks noChangeArrowheads="1"/>
              </p:cNvSpPr>
              <p:nvPr/>
            </p:nvSpPr>
            <p:spPr bwMode="auto">
              <a:xfrm>
                <a:off x="5941" y="2248"/>
                <a:ext cx="980" cy="3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Ident</a:t>
                </a:r>
                <a:endParaRPr lang="fr-FR" altLang="en-US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6760" name="Group 36"/>
            <p:cNvGrpSpPr>
              <a:grpSpLocks/>
            </p:cNvGrpSpPr>
            <p:nvPr/>
          </p:nvGrpSpPr>
          <p:grpSpPr bwMode="auto">
            <a:xfrm>
              <a:off x="4704" y="3570"/>
              <a:ext cx="240" cy="240"/>
              <a:chOff x="9276" y="904"/>
              <a:chExt cx="435" cy="435"/>
            </a:xfrm>
          </p:grpSpPr>
          <p:sp>
            <p:nvSpPr>
              <p:cNvPr id="116766" name="Text Box 37"/>
              <p:cNvSpPr txBox="1">
                <a:spLocks noChangeArrowheads="1"/>
              </p:cNvSpPr>
              <p:nvPr/>
            </p:nvSpPr>
            <p:spPr bwMode="auto">
              <a:xfrm>
                <a:off x="9279" y="904"/>
                <a:ext cx="432" cy="4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 b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</a:t>
                </a:r>
                <a:endParaRPr lang="fr-FR" alt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16767" name="Oval 38"/>
              <p:cNvSpPr>
                <a:spLocks noChangeArrowheads="1"/>
              </p:cNvSpPr>
              <p:nvPr/>
            </p:nvSpPr>
            <p:spPr bwMode="auto">
              <a:xfrm>
                <a:off x="9276" y="907"/>
                <a:ext cx="432" cy="43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6761" name="Line 39"/>
            <p:cNvSpPr>
              <a:spLocks noChangeShapeType="1"/>
            </p:cNvSpPr>
            <p:nvPr/>
          </p:nvSpPr>
          <p:spPr bwMode="auto">
            <a:xfrm>
              <a:off x="2352" y="3696"/>
              <a:ext cx="21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62" name="Line 40"/>
            <p:cNvSpPr>
              <a:spLocks noChangeShapeType="1"/>
            </p:cNvSpPr>
            <p:nvPr/>
          </p:nvSpPr>
          <p:spPr bwMode="auto">
            <a:xfrm>
              <a:off x="3120" y="3696"/>
              <a:ext cx="21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63" name="Line 41"/>
            <p:cNvSpPr>
              <a:spLocks noChangeShapeType="1"/>
            </p:cNvSpPr>
            <p:nvPr/>
          </p:nvSpPr>
          <p:spPr bwMode="auto">
            <a:xfrm>
              <a:off x="3600" y="3696"/>
              <a:ext cx="21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64" name="Line 42"/>
            <p:cNvSpPr>
              <a:spLocks noChangeShapeType="1"/>
            </p:cNvSpPr>
            <p:nvPr/>
          </p:nvSpPr>
          <p:spPr bwMode="auto">
            <a:xfrm>
              <a:off x="4476" y="3696"/>
              <a:ext cx="21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65" name="Text Box 44"/>
            <p:cNvSpPr txBox="1">
              <a:spLocks noChangeArrowheads="1"/>
            </p:cNvSpPr>
            <p:nvPr/>
          </p:nvSpPr>
          <p:spPr bwMode="auto">
            <a:xfrm>
              <a:off x="432" y="3360"/>
              <a:ext cx="9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Program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116743" name="Group 61"/>
          <p:cNvGrpSpPr>
            <a:grpSpLocks/>
          </p:cNvGrpSpPr>
          <p:nvPr/>
        </p:nvGrpSpPr>
        <p:grpSpPr bwMode="auto">
          <a:xfrm>
            <a:off x="838200" y="990600"/>
            <a:ext cx="7848600" cy="1371600"/>
            <a:chOff x="576" y="576"/>
            <a:chExt cx="4944" cy="864"/>
          </a:xfrm>
        </p:grpSpPr>
        <p:grpSp>
          <p:nvGrpSpPr>
            <p:cNvPr id="116744" name="Group 48"/>
            <p:cNvGrpSpPr>
              <a:grpSpLocks/>
            </p:cNvGrpSpPr>
            <p:nvPr/>
          </p:nvGrpSpPr>
          <p:grpSpPr bwMode="auto">
            <a:xfrm>
              <a:off x="576" y="624"/>
              <a:ext cx="528" cy="288"/>
              <a:chOff x="5886" y="2164"/>
              <a:chExt cx="1080" cy="472"/>
            </a:xfrm>
          </p:grpSpPr>
          <p:sp>
            <p:nvSpPr>
              <p:cNvPr id="116753" name="AutoShape 49"/>
              <p:cNvSpPr>
                <a:spLocks noChangeArrowheads="1"/>
              </p:cNvSpPr>
              <p:nvPr/>
            </p:nvSpPr>
            <p:spPr bwMode="auto">
              <a:xfrm>
                <a:off x="5886" y="2164"/>
                <a:ext cx="1080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6754" name="Text Box 50"/>
              <p:cNvSpPr txBox="1">
                <a:spLocks noChangeArrowheads="1"/>
              </p:cNvSpPr>
              <p:nvPr/>
            </p:nvSpPr>
            <p:spPr bwMode="auto">
              <a:xfrm>
                <a:off x="5941" y="2248"/>
                <a:ext cx="980" cy="3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fr-FR" altLang="en-US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6745" name="Group 51"/>
            <p:cNvGrpSpPr>
              <a:grpSpLocks/>
            </p:cNvGrpSpPr>
            <p:nvPr/>
          </p:nvGrpSpPr>
          <p:grpSpPr bwMode="auto">
            <a:xfrm>
              <a:off x="666" y="1104"/>
              <a:ext cx="288" cy="270"/>
              <a:chOff x="3168" y="2082"/>
              <a:chExt cx="288" cy="270"/>
            </a:xfrm>
          </p:grpSpPr>
          <p:sp>
            <p:nvSpPr>
              <p:cNvPr id="116751" name="Text Box 52"/>
              <p:cNvSpPr txBox="1">
                <a:spLocks noChangeArrowheads="1"/>
              </p:cNvSpPr>
              <p:nvPr/>
            </p:nvSpPr>
            <p:spPr bwMode="auto">
              <a:xfrm>
                <a:off x="3170" y="2082"/>
                <a:ext cx="286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fr-FR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116752" name="Oval 53"/>
              <p:cNvSpPr>
                <a:spLocks noChangeArrowheads="1"/>
              </p:cNvSpPr>
              <p:nvPr/>
            </p:nvSpPr>
            <p:spPr bwMode="auto">
              <a:xfrm>
                <a:off x="3168" y="2083"/>
                <a:ext cx="286" cy="269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6746" name="Text Box 54"/>
            <p:cNvSpPr txBox="1">
              <a:spLocks noChangeArrowheads="1"/>
            </p:cNvSpPr>
            <p:nvPr/>
          </p:nvSpPr>
          <p:spPr bwMode="auto">
            <a:xfrm>
              <a:off x="3264" y="816"/>
              <a:ext cx="624" cy="30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fr-FR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16747" name="Text Box 56"/>
            <p:cNvSpPr txBox="1">
              <a:spLocks noChangeArrowheads="1"/>
            </p:cNvSpPr>
            <p:nvPr/>
          </p:nvSpPr>
          <p:spPr bwMode="auto">
            <a:xfrm>
              <a:off x="1440" y="816"/>
              <a:ext cx="139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Ký hiệu kết thúc</a:t>
              </a:r>
            </a:p>
          </p:txBody>
        </p:sp>
        <p:sp>
          <p:nvSpPr>
            <p:cNvPr id="116748" name="Text Box 57"/>
            <p:cNvSpPr txBox="1">
              <a:spLocks noChangeArrowheads="1"/>
            </p:cNvSpPr>
            <p:nvPr/>
          </p:nvSpPr>
          <p:spPr bwMode="auto">
            <a:xfrm>
              <a:off x="4032" y="720"/>
              <a:ext cx="1488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Ký hiệu không kết thúc</a:t>
              </a:r>
            </a:p>
          </p:txBody>
        </p:sp>
        <p:sp>
          <p:nvSpPr>
            <p:cNvPr id="116749" name="AutoShape 58"/>
            <p:cNvSpPr>
              <a:spLocks/>
            </p:cNvSpPr>
            <p:nvPr/>
          </p:nvSpPr>
          <p:spPr bwMode="auto">
            <a:xfrm>
              <a:off x="3888" y="624"/>
              <a:ext cx="192" cy="720"/>
            </a:xfrm>
            <a:prstGeom prst="rightBrace">
              <a:avLst>
                <a:gd name="adj1" fmla="val 3125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16750" name="AutoShape 59"/>
            <p:cNvSpPr>
              <a:spLocks/>
            </p:cNvSpPr>
            <p:nvPr/>
          </p:nvSpPr>
          <p:spPr bwMode="auto">
            <a:xfrm>
              <a:off x="1152" y="576"/>
              <a:ext cx="192" cy="864"/>
            </a:xfrm>
            <a:prstGeom prst="rightBrace">
              <a:avLst>
                <a:gd name="adj1" fmla="val 375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2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2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52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52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52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2691" grpId="0" build="p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92AA46-D1DD-4274-A57C-785007B0D7DF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117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grpSp>
        <p:nvGrpSpPr>
          <p:cNvPr id="117763" name="Group 202"/>
          <p:cNvGrpSpPr>
            <a:grpSpLocks/>
          </p:cNvGrpSpPr>
          <p:nvPr/>
        </p:nvGrpSpPr>
        <p:grpSpPr bwMode="auto">
          <a:xfrm>
            <a:off x="228600" y="457200"/>
            <a:ext cx="8553450" cy="5943600"/>
            <a:chOff x="144" y="336"/>
            <a:chExt cx="5388" cy="3744"/>
          </a:xfrm>
        </p:grpSpPr>
        <p:sp>
          <p:nvSpPr>
            <p:cNvPr id="117764" name="Line 12"/>
            <p:cNvSpPr>
              <a:spLocks noChangeShapeType="1"/>
            </p:cNvSpPr>
            <p:nvPr/>
          </p:nvSpPr>
          <p:spPr bwMode="auto">
            <a:xfrm>
              <a:off x="498" y="1536"/>
              <a:ext cx="23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65" name="Line 17"/>
            <p:cNvSpPr>
              <a:spLocks noChangeShapeType="1"/>
            </p:cNvSpPr>
            <p:nvPr/>
          </p:nvSpPr>
          <p:spPr bwMode="auto">
            <a:xfrm flipV="1">
              <a:off x="1620" y="624"/>
              <a:ext cx="0" cy="17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7766" name="Group 20"/>
            <p:cNvGrpSpPr>
              <a:grpSpLocks/>
            </p:cNvGrpSpPr>
            <p:nvPr/>
          </p:nvGrpSpPr>
          <p:grpSpPr bwMode="auto">
            <a:xfrm>
              <a:off x="708" y="528"/>
              <a:ext cx="692" cy="248"/>
              <a:chOff x="3141" y="3064"/>
              <a:chExt cx="1260" cy="525"/>
            </a:xfrm>
          </p:grpSpPr>
          <p:sp>
            <p:nvSpPr>
              <p:cNvPr id="117880" name="AutoShape 21"/>
              <p:cNvSpPr>
                <a:spLocks noChangeArrowheads="1"/>
              </p:cNvSpPr>
              <p:nvPr/>
            </p:nvSpPr>
            <p:spPr bwMode="auto">
              <a:xfrm>
                <a:off x="3141" y="3064"/>
                <a:ext cx="1260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7881" name="Text Box 22"/>
              <p:cNvSpPr txBox="1">
                <a:spLocks noChangeArrowheads="1"/>
              </p:cNvSpPr>
              <p:nvPr/>
            </p:nvSpPr>
            <p:spPr bwMode="auto">
              <a:xfrm>
                <a:off x="3195" y="3145"/>
                <a:ext cx="1161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CONST</a:t>
                </a:r>
              </a:p>
            </p:txBody>
          </p:sp>
        </p:grpSp>
        <p:grpSp>
          <p:nvGrpSpPr>
            <p:cNvPr id="117767" name="Group 32"/>
            <p:cNvGrpSpPr>
              <a:grpSpLocks/>
            </p:cNvGrpSpPr>
            <p:nvPr/>
          </p:nvGrpSpPr>
          <p:grpSpPr bwMode="auto">
            <a:xfrm>
              <a:off x="738" y="1413"/>
              <a:ext cx="585" cy="240"/>
              <a:chOff x="2907" y="3883"/>
              <a:chExt cx="954" cy="525"/>
            </a:xfrm>
          </p:grpSpPr>
          <p:sp>
            <p:nvSpPr>
              <p:cNvPr id="117878" name="AutoShape 33"/>
              <p:cNvSpPr>
                <a:spLocks noChangeArrowheads="1"/>
              </p:cNvSpPr>
              <p:nvPr/>
            </p:nvSpPr>
            <p:spPr bwMode="auto">
              <a:xfrm>
                <a:off x="2907" y="3883"/>
                <a:ext cx="954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7879" name="Text Box 34"/>
              <p:cNvSpPr txBox="1">
                <a:spLocks noChangeArrowheads="1"/>
              </p:cNvSpPr>
              <p:nvPr/>
            </p:nvSpPr>
            <p:spPr bwMode="auto">
              <a:xfrm>
                <a:off x="2961" y="3964"/>
                <a:ext cx="900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VAR</a:t>
                </a:r>
              </a:p>
            </p:txBody>
          </p:sp>
        </p:grpSp>
        <p:grpSp>
          <p:nvGrpSpPr>
            <p:cNvPr id="117768" name="Group 63"/>
            <p:cNvGrpSpPr>
              <a:grpSpLocks/>
            </p:cNvGrpSpPr>
            <p:nvPr/>
          </p:nvGrpSpPr>
          <p:grpSpPr bwMode="auto">
            <a:xfrm>
              <a:off x="2148" y="2976"/>
              <a:ext cx="528" cy="219"/>
              <a:chOff x="2256" y="2064"/>
              <a:chExt cx="528" cy="219"/>
            </a:xfrm>
          </p:grpSpPr>
          <p:sp>
            <p:nvSpPr>
              <p:cNvPr id="117876" name="AutoShape 57"/>
              <p:cNvSpPr>
                <a:spLocks noChangeArrowheads="1"/>
              </p:cNvSpPr>
              <p:nvPr/>
            </p:nvSpPr>
            <p:spPr bwMode="auto">
              <a:xfrm>
                <a:off x="2256" y="2064"/>
                <a:ext cx="528" cy="219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7877" name="Text Box 58"/>
              <p:cNvSpPr txBox="1">
                <a:spLocks noChangeArrowheads="1"/>
              </p:cNvSpPr>
              <p:nvPr/>
            </p:nvSpPr>
            <p:spPr bwMode="auto">
              <a:xfrm>
                <a:off x="2283" y="2085"/>
                <a:ext cx="47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Ident</a:t>
                </a:r>
                <a:endParaRPr lang="fr-FR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7769" name="Line 68"/>
            <p:cNvSpPr>
              <a:spLocks noChangeShapeType="1"/>
            </p:cNvSpPr>
            <p:nvPr/>
          </p:nvSpPr>
          <p:spPr bwMode="auto">
            <a:xfrm>
              <a:off x="2676" y="3072"/>
              <a:ext cx="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7770" name="Group 73"/>
            <p:cNvGrpSpPr>
              <a:grpSpLocks/>
            </p:cNvGrpSpPr>
            <p:nvPr/>
          </p:nvGrpSpPr>
          <p:grpSpPr bwMode="auto">
            <a:xfrm>
              <a:off x="1506" y="768"/>
              <a:ext cx="232" cy="240"/>
              <a:chOff x="2016" y="2334"/>
              <a:chExt cx="232" cy="240"/>
            </a:xfrm>
          </p:grpSpPr>
          <p:sp>
            <p:nvSpPr>
              <p:cNvPr id="117874" name="Text Box 71"/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solidFill>
                      <a:schemeClr val="tx1"/>
                    </a:solidFill>
                  </a:rPr>
                  <a:t>,</a:t>
                </a:r>
              </a:p>
            </p:txBody>
          </p:sp>
          <p:sp>
            <p:nvSpPr>
              <p:cNvPr id="117875" name="Oval 72"/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7771" name="Group 74"/>
            <p:cNvGrpSpPr>
              <a:grpSpLocks/>
            </p:cNvGrpSpPr>
            <p:nvPr/>
          </p:nvGrpSpPr>
          <p:grpSpPr bwMode="auto">
            <a:xfrm>
              <a:off x="900" y="1074"/>
              <a:ext cx="232" cy="240"/>
              <a:chOff x="2016" y="2334"/>
              <a:chExt cx="232" cy="240"/>
            </a:xfrm>
          </p:grpSpPr>
          <p:sp>
            <p:nvSpPr>
              <p:cNvPr id="117872" name="Text Box 75"/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solidFill>
                      <a:schemeClr val="tx1"/>
                    </a:solidFill>
                  </a:rPr>
                  <a:t>;</a:t>
                </a:r>
              </a:p>
            </p:txBody>
          </p:sp>
          <p:sp>
            <p:nvSpPr>
              <p:cNvPr id="117873" name="Oval 76"/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7772" name="Group 80"/>
            <p:cNvGrpSpPr>
              <a:grpSpLocks/>
            </p:cNvGrpSpPr>
            <p:nvPr/>
          </p:nvGrpSpPr>
          <p:grpSpPr bwMode="auto">
            <a:xfrm>
              <a:off x="708" y="2976"/>
              <a:ext cx="1152" cy="240"/>
              <a:chOff x="5967" y="2983"/>
              <a:chExt cx="1260" cy="525"/>
            </a:xfrm>
          </p:grpSpPr>
          <p:sp>
            <p:nvSpPr>
              <p:cNvPr id="117870" name="AutoShape 81"/>
              <p:cNvSpPr>
                <a:spLocks noChangeArrowheads="1"/>
              </p:cNvSpPr>
              <p:nvPr/>
            </p:nvSpPr>
            <p:spPr bwMode="auto">
              <a:xfrm>
                <a:off x="5967" y="2983"/>
                <a:ext cx="1260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7871" name="Text Box 82"/>
              <p:cNvSpPr txBox="1">
                <a:spLocks noChangeArrowheads="1"/>
              </p:cNvSpPr>
              <p:nvPr/>
            </p:nvSpPr>
            <p:spPr bwMode="auto">
              <a:xfrm>
                <a:off x="6021" y="3064"/>
                <a:ext cx="1161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PROCEDURE</a:t>
                </a:r>
              </a:p>
            </p:txBody>
          </p:sp>
        </p:grpSp>
        <p:sp>
          <p:nvSpPr>
            <p:cNvPr id="117773" name="Text Box 83"/>
            <p:cNvSpPr txBox="1">
              <a:spLocks noChangeArrowheads="1"/>
            </p:cNvSpPr>
            <p:nvPr/>
          </p:nvSpPr>
          <p:spPr bwMode="auto">
            <a:xfrm>
              <a:off x="2043" y="2268"/>
              <a:ext cx="757" cy="24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Block</a:t>
              </a:r>
              <a:endParaRPr lang="fr-FR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17774" name="Text Box 84"/>
            <p:cNvSpPr txBox="1">
              <a:spLocks noChangeArrowheads="1"/>
            </p:cNvSpPr>
            <p:nvPr/>
          </p:nvSpPr>
          <p:spPr bwMode="auto">
            <a:xfrm>
              <a:off x="1719" y="3514"/>
              <a:ext cx="1008" cy="24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Statement</a:t>
              </a:r>
              <a:endParaRPr lang="fr-FR" altLang="en-US" sz="2400">
                <a:solidFill>
                  <a:schemeClr val="tx1"/>
                </a:solidFill>
              </a:endParaRPr>
            </a:p>
          </p:txBody>
        </p:sp>
        <p:grpSp>
          <p:nvGrpSpPr>
            <p:cNvPr id="117775" name="Group 85"/>
            <p:cNvGrpSpPr>
              <a:grpSpLocks/>
            </p:cNvGrpSpPr>
            <p:nvPr/>
          </p:nvGrpSpPr>
          <p:grpSpPr bwMode="auto">
            <a:xfrm>
              <a:off x="4656" y="3552"/>
              <a:ext cx="585" cy="240"/>
              <a:chOff x="3087" y="4963"/>
              <a:chExt cx="954" cy="525"/>
            </a:xfrm>
          </p:grpSpPr>
          <p:sp>
            <p:nvSpPr>
              <p:cNvPr id="117868" name="AutoShape 86"/>
              <p:cNvSpPr>
                <a:spLocks noChangeArrowheads="1"/>
              </p:cNvSpPr>
              <p:nvPr/>
            </p:nvSpPr>
            <p:spPr bwMode="auto">
              <a:xfrm>
                <a:off x="3087" y="4963"/>
                <a:ext cx="954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7869" name="Text Box 87"/>
              <p:cNvSpPr txBox="1">
                <a:spLocks noChangeArrowheads="1"/>
              </p:cNvSpPr>
              <p:nvPr/>
            </p:nvSpPr>
            <p:spPr bwMode="auto">
              <a:xfrm>
                <a:off x="3141" y="5044"/>
                <a:ext cx="900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END</a:t>
                </a:r>
              </a:p>
            </p:txBody>
          </p:sp>
        </p:grpSp>
        <p:grpSp>
          <p:nvGrpSpPr>
            <p:cNvPr id="117776" name="Group 88"/>
            <p:cNvGrpSpPr>
              <a:grpSpLocks/>
            </p:cNvGrpSpPr>
            <p:nvPr/>
          </p:nvGrpSpPr>
          <p:grpSpPr bwMode="auto">
            <a:xfrm>
              <a:off x="708" y="3525"/>
              <a:ext cx="774" cy="240"/>
              <a:chOff x="5967" y="2983"/>
              <a:chExt cx="1260" cy="525"/>
            </a:xfrm>
          </p:grpSpPr>
          <p:sp>
            <p:nvSpPr>
              <p:cNvPr id="117866" name="AutoShape 89"/>
              <p:cNvSpPr>
                <a:spLocks noChangeArrowheads="1"/>
              </p:cNvSpPr>
              <p:nvPr/>
            </p:nvSpPr>
            <p:spPr bwMode="auto">
              <a:xfrm>
                <a:off x="5967" y="2983"/>
                <a:ext cx="1260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7867" name="Text Box 90"/>
              <p:cNvSpPr txBox="1">
                <a:spLocks noChangeArrowheads="1"/>
              </p:cNvSpPr>
              <p:nvPr/>
            </p:nvSpPr>
            <p:spPr bwMode="auto">
              <a:xfrm>
                <a:off x="6021" y="3064"/>
                <a:ext cx="1161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BEGIN</a:t>
                </a:r>
              </a:p>
            </p:txBody>
          </p:sp>
        </p:grpSp>
        <p:sp>
          <p:nvSpPr>
            <p:cNvPr id="117777" name="Line 91"/>
            <p:cNvSpPr>
              <a:spLocks noChangeShapeType="1"/>
            </p:cNvSpPr>
            <p:nvPr/>
          </p:nvSpPr>
          <p:spPr bwMode="auto">
            <a:xfrm>
              <a:off x="1419" y="624"/>
              <a:ext cx="48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78" name="Line 92"/>
            <p:cNvSpPr>
              <a:spLocks noChangeShapeType="1"/>
            </p:cNvSpPr>
            <p:nvPr/>
          </p:nvSpPr>
          <p:spPr bwMode="auto">
            <a:xfrm>
              <a:off x="228" y="624"/>
              <a:ext cx="48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7779" name="Group 93"/>
            <p:cNvGrpSpPr>
              <a:grpSpLocks/>
            </p:cNvGrpSpPr>
            <p:nvPr/>
          </p:nvGrpSpPr>
          <p:grpSpPr bwMode="auto">
            <a:xfrm>
              <a:off x="1908" y="513"/>
              <a:ext cx="528" cy="219"/>
              <a:chOff x="2256" y="2064"/>
              <a:chExt cx="528" cy="219"/>
            </a:xfrm>
          </p:grpSpPr>
          <p:sp>
            <p:nvSpPr>
              <p:cNvPr id="117864" name="AutoShape 94"/>
              <p:cNvSpPr>
                <a:spLocks noChangeArrowheads="1"/>
              </p:cNvSpPr>
              <p:nvPr/>
            </p:nvSpPr>
            <p:spPr bwMode="auto">
              <a:xfrm>
                <a:off x="2256" y="2064"/>
                <a:ext cx="528" cy="219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7865" name="Text Box 95"/>
              <p:cNvSpPr txBox="1">
                <a:spLocks noChangeArrowheads="1"/>
              </p:cNvSpPr>
              <p:nvPr/>
            </p:nvSpPr>
            <p:spPr bwMode="auto">
              <a:xfrm>
                <a:off x="2283" y="2085"/>
                <a:ext cx="47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Ident</a:t>
                </a:r>
                <a:endParaRPr lang="fr-FR" altLang="en-US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7780" name="Group 96"/>
            <p:cNvGrpSpPr>
              <a:grpSpLocks/>
            </p:cNvGrpSpPr>
            <p:nvPr/>
          </p:nvGrpSpPr>
          <p:grpSpPr bwMode="auto">
            <a:xfrm>
              <a:off x="3252" y="492"/>
              <a:ext cx="672" cy="240"/>
              <a:chOff x="3216" y="2064"/>
              <a:chExt cx="672" cy="240"/>
            </a:xfrm>
          </p:grpSpPr>
          <p:sp>
            <p:nvSpPr>
              <p:cNvPr id="117862" name="AutoShape 97"/>
              <p:cNvSpPr>
                <a:spLocks noChangeArrowheads="1"/>
              </p:cNvSpPr>
              <p:nvPr/>
            </p:nvSpPr>
            <p:spPr bwMode="auto">
              <a:xfrm>
                <a:off x="3216" y="2064"/>
                <a:ext cx="672" cy="240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7863" name="Text Box 98"/>
              <p:cNvSpPr txBox="1">
                <a:spLocks noChangeArrowheads="1"/>
              </p:cNvSpPr>
              <p:nvPr/>
            </p:nvSpPr>
            <p:spPr bwMode="auto">
              <a:xfrm>
                <a:off x="3237" y="2098"/>
                <a:ext cx="643" cy="1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Number</a:t>
                </a:r>
                <a:endParaRPr lang="fr-FR" altLang="en-US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7781" name="Group 99"/>
            <p:cNvGrpSpPr>
              <a:grpSpLocks/>
            </p:cNvGrpSpPr>
            <p:nvPr/>
          </p:nvGrpSpPr>
          <p:grpSpPr bwMode="auto">
            <a:xfrm>
              <a:off x="2720" y="495"/>
              <a:ext cx="232" cy="222"/>
              <a:chOff x="998" y="1392"/>
              <a:chExt cx="232" cy="222"/>
            </a:xfrm>
          </p:grpSpPr>
          <p:sp>
            <p:nvSpPr>
              <p:cNvPr id="117860" name="Text Box 100"/>
              <p:cNvSpPr txBox="1">
                <a:spLocks noChangeArrowheads="1"/>
              </p:cNvSpPr>
              <p:nvPr/>
            </p:nvSpPr>
            <p:spPr bwMode="auto">
              <a:xfrm>
                <a:off x="1008" y="1392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solidFill>
                      <a:schemeClr val="tx1"/>
                    </a:solidFill>
                  </a:rPr>
                  <a:t>=</a:t>
                </a:r>
              </a:p>
            </p:txBody>
          </p:sp>
          <p:sp>
            <p:nvSpPr>
              <p:cNvPr id="117861" name="Oval 101"/>
              <p:cNvSpPr>
                <a:spLocks noChangeArrowheads="1"/>
              </p:cNvSpPr>
              <p:nvPr/>
            </p:nvSpPr>
            <p:spPr bwMode="auto">
              <a:xfrm>
                <a:off x="998" y="139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7782" name="Line 102"/>
            <p:cNvSpPr>
              <a:spLocks noChangeShapeType="1"/>
            </p:cNvSpPr>
            <p:nvPr/>
          </p:nvSpPr>
          <p:spPr bwMode="auto">
            <a:xfrm>
              <a:off x="2436" y="609"/>
              <a:ext cx="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83" name="Line 103"/>
            <p:cNvSpPr>
              <a:spLocks noChangeShapeType="1"/>
            </p:cNvSpPr>
            <p:nvPr/>
          </p:nvSpPr>
          <p:spPr bwMode="auto">
            <a:xfrm>
              <a:off x="2964" y="609"/>
              <a:ext cx="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84" name="Line 104"/>
            <p:cNvSpPr>
              <a:spLocks noChangeShapeType="1"/>
            </p:cNvSpPr>
            <p:nvPr/>
          </p:nvSpPr>
          <p:spPr bwMode="auto">
            <a:xfrm flipV="1">
              <a:off x="1620" y="1008"/>
              <a:ext cx="0" cy="1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85" name="Line 105"/>
            <p:cNvSpPr>
              <a:spLocks noChangeShapeType="1"/>
            </p:cNvSpPr>
            <p:nvPr/>
          </p:nvSpPr>
          <p:spPr bwMode="auto">
            <a:xfrm>
              <a:off x="1332" y="1536"/>
              <a:ext cx="48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7786" name="Group 106"/>
            <p:cNvGrpSpPr>
              <a:grpSpLocks/>
            </p:cNvGrpSpPr>
            <p:nvPr/>
          </p:nvGrpSpPr>
          <p:grpSpPr bwMode="auto">
            <a:xfrm>
              <a:off x="1812" y="1422"/>
              <a:ext cx="528" cy="219"/>
              <a:chOff x="2256" y="2064"/>
              <a:chExt cx="528" cy="219"/>
            </a:xfrm>
          </p:grpSpPr>
          <p:sp>
            <p:nvSpPr>
              <p:cNvPr id="117858" name="AutoShape 107"/>
              <p:cNvSpPr>
                <a:spLocks noChangeArrowheads="1"/>
              </p:cNvSpPr>
              <p:nvPr/>
            </p:nvSpPr>
            <p:spPr bwMode="auto">
              <a:xfrm>
                <a:off x="2256" y="2064"/>
                <a:ext cx="528" cy="219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7859" name="Text Box 108"/>
              <p:cNvSpPr txBox="1">
                <a:spLocks noChangeArrowheads="1"/>
              </p:cNvSpPr>
              <p:nvPr/>
            </p:nvSpPr>
            <p:spPr bwMode="auto">
              <a:xfrm>
                <a:off x="2283" y="2085"/>
                <a:ext cx="47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Ident</a:t>
                </a:r>
                <a:endParaRPr lang="fr-FR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7787" name="Line 109"/>
            <p:cNvSpPr>
              <a:spLocks noChangeShapeType="1"/>
            </p:cNvSpPr>
            <p:nvPr/>
          </p:nvSpPr>
          <p:spPr bwMode="auto">
            <a:xfrm>
              <a:off x="468" y="3072"/>
              <a:ext cx="23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88" name="Freeform 112"/>
            <p:cNvSpPr>
              <a:spLocks/>
            </p:cNvSpPr>
            <p:nvPr/>
          </p:nvSpPr>
          <p:spPr bwMode="auto">
            <a:xfrm>
              <a:off x="480" y="624"/>
              <a:ext cx="240" cy="3024"/>
            </a:xfrm>
            <a:custGeom>
              <a:avLst/>
              <a:gdLst>
                <a:gd name="T0" fmla="*/ 0 w 240"/>
                <a:gd name="T1" fmla="*/ 0 h 3024"/>
                <a:gd name="T2" fmla="*/ 0 w 240"/>
                <a:gd name="T3" fmla="*/ 3024 h 3024"/>
                <a:gd name="T4" fmla="*/ 240 w 240"/>
                <a:gd name="T5" fmla="*/ 3024 h 30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0" h="3024">
                  <a:moveTo>
                    <a:pt x="0" y="0"/>
                  </a:moveTo>
                  <a:lnTo>
                    <a:pt x="0" y="3024"/>
                  </a:lnTo>
                  <a:lnTo>
                    <a:pt x="240" y="302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7789" name="Group 119"/>
            <p:cNvGrpSpPr>
              <a:grpSpLocks/>
            </p:cNvGrpSpPr>
            <p:nvPr/>
          </p:nvGrpSpPr>
          <p:grpSpPr bwMode="auto">
            <a:xfrm>
              <a:off x="4185" y="3840"/>
              <a:ext cx="232" cy="240"/>
              <a:chOff x="2016" y="2334"/>
              <a:chExt cx="232" cy="240"/>
            </a:xfrm>
          </p:grpSpPr>
          <p:sp>
            <p:nvSpPr>
              <p:cNvPr id="117856" name="Text Box 120"/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solidFill>
                      <a:schemeClr val="tx1"/>
                    </a:solidFill>
                  </a:rPr>
                  <a:t>;</a:t>
                </a:r>
              </a:p>
            </p:txBody>
          </p:sp>
          <p:sp>
            <p:nvSpPr>
              <p:cNvPr id="117857" name="Oval 121"/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7790" name="Line 124"/>
            <p:cNvSpPr>
              <a:spLocks noChangeShapeType="1"/>
            </p:cNvSpPr>
            <p:nvPr/>
          </p:nvSpPr>
          <p:spPr bwMode="auto">
            <a:xfrm>
              <a:off x="1860" y="3081"/>
              <a:ext cx="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7791" name="Group 125"/>
            <p:cNvGrpSpPr>
              <a:grpSpLocks/>
            </p:cNvGrpSpPr>
            <p:nvPr/>
          </p:nvGrpSpPr>
          <p:grpSpPr bwMode="auto">
            <a:xfrm>
              <a:off x="2964" y="2949"/>
              <a:ext cx="232" cy="240"/>
              <a:chOff x="2016" y="2334"/>
              <a:chExt cx="232" cy="240"/>
            </a:xfrm>
          </p:grpSpPr>
          <p:sp>
            <p:nvSpPr>
              <p:cNvPr id="117854" name="Text Box 126"/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(</a:t>
                </a:r>
              </a:p>
            </p:txBody>
          </p:sp>
          <p:sp>
            <p:nvSpPr>
              <p:cNvPr id="117855" name="Oval 127"/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7792" name="Group 128"/>
            <p:cNvGrpSpPr>
              <a:grpSpLocks/>
            </p:cNvGrpSpPr>
            <p:nvPr/>
          </p:nvGrpSpPr>
          <p:grpSpPr bwMode="auto">
            <a:xfrm>
              <a:off x="5036" y="2946"/>
              <a:ext cx="232" cy="240"/>
              <a:chOff x="2016" y="2334"/>
              <a:chExt cx="232" cy="240"/>
            </a:xfrm>
          </p:grpSpPr>
          <p:sp>
            <p:nvSpPr>
              <p:cNvPr id="117852" name="Text Box 129"/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)</a:t>
                </a:r>
              </a:p>
            </p:txBody>
          </p:sp>
          <p:sp>
            <p:nvSpPr>
              <p:cNvPr id="117853" name="Oval 130"/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7793" name="Group 131"/>
            <p:cNvGrpSpPr>
              <a:grpSpLocks/>
            </p:cNvGrpSpPr>
            <p:nvPr/>
          </p:nvGrpSpPr>
          <p:grpSpPr bwMode="auto">
            <a:xfrm>
              <a:off x="3474" y="2958"/>
              <a:ext cx="585" cy="240"/>
              <a:chOff x="2907" y="3883"/>
              <a:chExt cx="954" cy="525"/>
            </a:xfrm>
          </p:grpSpPr>
          <p:sp>
            <p:nvSpPr>
              <p:cNvPr id="117850" name="AutoShape 132"/>
              <p:cNvSpPr>
                <a:spLocks noChangeArrowheads="1"/>
              </p:cNvSpPr>
              <p:nvPr/>
            </p:nvSpPr>
            <p:spPr bwMode="auto">
              <a:xfrm>
                <a:off x="2907" y="3883"/>
                <a:ext cx="954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7851" name="Text Box 133"/>
              <p:cNvSpPr txBox="1">
                <a:spLocks noChangeArrowheads="1"/>
              </p:cNvSpPr>
              <p:nvPr/>
            </p:nvSpPr>
            <p:spPr bwMode="auto">
              <a:xfrm>
                <a:off x="2961" y="3964"/>
                <a:ext cx="900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VAR</a:t>
                </a:r>
              </a:p>
            </p:txBody>
          </p:sp>
        </p:grpSp>
        <p:grpSp>
          <p:nvGrpSpPr>
            <p:cNvPr id="117794" name="Group 134"/>
            <p:cNvGrpSpPr>
              <a:grpSpLocks/>
            </p:cNvGrpSpPr>
            <p:nvPr/>
          </p:nvGrpSpPr>
          <p:grpSpPr bwMode="auto">
            <a:xfrm>
              <a:off x="4268" y="2967"/>
              <a:ext cx="528" cy="219"/>
              <a:chOff x="2256" y="2064"/>
              <a:chExt cx="528" cy="219"/>
            </a:xfrm>
          </p:grpSpPr>
          <p:sp>
            <p:nvSpPr>
              <p:cNvPr id="117848" name="AutoShape 135"/>
              <p:cNvSpPr>
                <a:spLocks noChangeArrowheads="1"/>
              </p:cNvSpPr>
              <p:nvPr/>
            </p:nvSpPr>
            <p:spPr bwMode="auto">
              <a:xfrm>
                <a:off x="2256" y="2064"/>
                <a:ext cx="528" cy="219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7849" name="Text Box 136"/>
              <p:cNvSpPr txBox="1">
                <a:spLocks noChangeArrowheads="1"/>
              </p:cNvSpPr>
              <p:nvPr/>
            </p:nvSpPr>
            <p:spPr bwMode="auto">
              <a:xfrm>
                <a:off x="2283" y="2085"/>
                <a:ext cx="47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Ident</a:t>
                </a:r>
                <a:endParaRPr lang="fr-FR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7795" name="Line 139"/>
            <p:cNvSpPr>
              <a:spLocks noChangeShapeType="1"/>
            </p:cNvSpPr>
            <p:nvPr/>
          </p:nvSpPr>
          <p:spPr bwMode="auto">
            <a:xfrm>
              <a:off x="4073" y="3072"/>
              <a:ext cx="19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96" name="Freeform 140"/>
            <p:cNvSpPr>
              <a:spLocks/>
            </p:cNvSpPr>
            <p:nvPr/>
          </p:nvSpPr>
          <p:spPr bwMode="auto">
            <a:xfrm>
              <a:off x="3366" y="2820"/>
              <a:ext cx="768" cy="240"/>
            </a:xfrm>
            <a:custGeom>
              <a:avLst/>
              <a:gdLst>
                <a:gd name="T0" fmla="*/ 0 w 768"/>
                <a:gd name="T1" fmla="*/ 240 h 240"/>
                <a:gd name="T2" fmla="*/ 0 w 768"/>
                <a:gd name="T3" fmla="*/ 0 h 240"/>
                <a:gd name="T4" fmla="*/ 768 w 768"/>
                <a:gd name="T5" fmla="*/ 0 h 240"/>
                <a:gd name="T6" fmla="*/ 768 w 768"/>
                <a:gd name="T7" fmla="*/ 240 h 2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68" h="240">
                  <a:moveTo>
                    <a:pt x="0" y="240"/>
                  </a:moveTo>
                  <a:lnTo>
                    <a:pt x="0" y="0"/>
                  </a:lnTo>
                  <a:lnTo>
                    <a:pt x="768" y="0"/>
                  </a:lnTo>
                  <a:lnTo>
                    <a:pt x="768" y="24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7797" name="Group 142"/>
            <p:cNvGrpSpPr>
              <a:grpSpLocks/>
            </p:cNvGrpSpPr>
            <p:nvPr/>
          </p:nvGrpSpPr>
          <p:grpSpPr bwMode="auto">
            <a:xfrm>
              <a:off x="1196" y="2274"/>
              <a:ext cx="232" cy="240"/>
              <a:chOff x="2016" y="2334"/>
              <a:chExt cx="232" cy="240"/>
            </a:xfrm>
          </p:grpSpPr>
          <p:sp>
            <p:nvSpPr>
              <p:cNvPr id="117846" name="Text Box 143"/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solidFill>
                      <a:schemeClr val="tx1"/>
                    </a:solidFill>
                  </a:rPr>
                  <a:t>;</a:t>
                </a:r>
              </a:p>
            </p:txBody>
          </p:sp>
          <p:sp>
            <p:nvSpPr>
              <p:cNvPr id="117847" name="Oval 144"/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7798" name="Group 145"/>
            <p:cNvGrpSpPr>
              <a:grpSpLocks/>
            </p:cNvGrpSpPr>
            <p:nvPr/>
          </p:nvGrpSpPr>
          <p:grpSpPr bwMode="auto">
            <a:xfrm>
              <a:off x="3531" y="2274"/>
              <a:ext cx="232" cy="240"/>
              <a:chOff x="2016" y="2334"/>
              <a:chExt cx="232" cy="240"/>
            </a:xfrm>
          </p:grpSpPr>
          <p:sp>
            <p:nvSpPr>
              <p:cNvPr id="117844" name="Text Box 146"/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solidFill>
                      <a:schemeClr val="tx1"/>
                    </a:solidFill>
                  </a:rPr>
                  <a:t>;</a:t>
                </a:r>
              </a:p>
            </p:txBody>
          </p:sp>
          <p:sp>
            <p:nvSpPr>
              <p:cNvPr id="117845" name="Oval 147"/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7799" name="Line 148"/>
            <p:cNvSpPr>
              <a:spLocks noChangeShapeType="1"/>
            </p:cNvSpPr>
            <p:nvPr/>
          </p:nvSpPr>
          <p:spPr bwMode="auto">
            <a:xfrm>
              <a:off x="3204" y="3072"/>
              <a:ext cx="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00" name="Freeform 149"/>
            <p:cNvSpPr>
              <a:spLocks/>
            </p:cNvSpPr>
            <p:nvPr/>
          </p:nvSpPr>
          <p:spPr bwMode="auto">
            <a:xfrm>
              <a:off x="3759" y="2409"/>
              <a:ext cx="1728" cy="672"/>
            </a:xfrm>
            <a:custGeom>
              <a:avLst/>
              <a:gdLst>
                <a:gd name="T0" fmla="*/ 1714 w 1680"/>
                <a:gd name="T1" fmla="*/ 672 h 672"/>
                <a:gd name="T2" fmla="*/ 1934 w 1680"/>
                <a:gd name="T3" fmla="*/ 672 h 672"/>
                <a:gd name="T4" fmla="*/ 1934 w 1680"/>
                <a:gd name="T5" fmla="*/ 0 h 672"/>
                <a:gd name="T6" fmla="*/ 0 w 1680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80" h="672">
                  <a:moveTo>
                    <a:pt x="1488" y="672"/>
                  </a:moveTo>
                  <a:lnTo>
                    <a:pt x="1680" y="672"/>
                  </a:lnTo>
                  <a:lnTo>
                    <a:pt x="1680" y="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01" name="Line 153"/>
            <p:cNvSpPr>
              <a:spLocks noChangeShapeType="1"/>
            </p:cNvSpPr>
            <p:nvPr/>
          </p:nvSpPr>
          <p:spPr bwMode="auto">
            <a:xfrm flipH="1">
              <a:off x="2820" y="2400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02" name="Line 154"/>
            <p:cNvSpPr>
              <a:spLocks noChangeShapeType="1"/>
            </p:cNvSpPr>
            <p:nvPr/>
          </p:nvSpPr>
          <p:spPr bwMode="auto">
            <a:xfrm flipH="1">
              <a:off x="1428" y="2400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03" name="Line 155"/>
            <p:cNvSpPr>
              <a:spLocks noChangeShapeType="1"/>
            </p:cNvSpPr>
            <p:nvPr/>
          </p:nvSpPr>
          <p:spPr bwMode="auto">
            <a:xfrm flipH="1">
              <a:off x="468" y="2400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04" name="Freeform 156"/>
            <p:cNvSpPr>
              <a:spLocks/>
            </p:cNvSpPr>
            <p:nvPr/>
          </p:nvSpPr>
          <p:spPr bwMode="auto">
            <a:xfrm>
              <a:off x="1140" y="624"/>
              <a:ext cx="4320" cy="576"/>
            </a:xfrm>
            <a:custGeom>
              <a:avLst/>
              <a:gdLst>
                <a:gd name="T0" fmla="*/ 2784 w 4320"/>
                <a:gd name="T1" fmla="*/ 0 h 576"/>
                <a:gd name="T2" fmla="*/ 4320 w 4320"/>
                <a:gd name="T3" fmla="*/ 0 h 576"/>
                <a:gd name="T4" fmla="*/ 4320 w 4320"/>
                <a:gd name="T5" fmla="*/ 576 h 576"/>
                <a:gd name="T6" fmla="*/ 0 w 4320"/>
                <a:gd name="T7" fmla="*/ 576 h 57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20" h="576">
                  <a:moveTo>
                    <a:pt x="2784" y="0"/>
                  </a:moveTo>
                  <a:lnTo>
                    <a:pt x="4320" y="0"/>
                  </a:lnTo>
                  <a:lnTo>
                    <a:pt x="4320" y="576"/>
                  </a:lnTo>
                  <a:lnTo>
                    <a:pt x="0" y="57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05" name="Line 157"/>
            <p:cNvSpPr>
              <a:spLocks noChangeShapeType="1"/>
            </p:cNvSpPr>
            <p:nvPr/>
          </p:nvSpPr>
          <p:spPr bwMode="auto">
            <a:xfrm flipH="1">
              <a:off x="468" y="1200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7806" name="Group 158"/>
            <p:cNvGrpSpPr>
              <a:grpSpLocks/>
            </p:cNvGrpSpPr>
            <p:nvPr/>
          </p:nvGrpSpPr>
          <p:grpSpPr bwMode="auto">
            <a:xfrm>
              <a:off x="2807" y="1410"/>
              <a:ext cx="232" cy="240"/>
              <a:chOff x="2016" y="2334"/>
              <a:chExt cx="232" cy="240"/>
            </a:xfrm>
          </p:grpSpPr>
          <p:sp>
            <p:nvSpPr>
              <p:cNvPr id="117842" name="Text Box 159"/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[</a:t>
                </a:r>
              </a:p>
            </p:txBody>
          </p:sp>
          <p:sp>
            <p:nvSpPr>
              <p:cNvPr id="117843" name="Oval 160"/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7807" name="Group 161"/>
            <p:cNvGrpSpPr>
              <a:grpSpLocks/>
            </p:cNvGrpSpPr>
            <p:nvPr/>
          </p:nvGrpSpPr>
          <p:grpSpPr bwMode="auto">
            <a:xfrm>
              <a:off x="4295" y="1410"/>
              <a:ext cx="232" cy="240"/>
              <a:chOff x="2016" y="2334"/>
              <a:chExt cx="232" cy="240"/>
            </a:xfrm>
          </p:grpSpPr>
          <p:sp>
            <p:nvSpPr>
              <p:cNvPr id="117840" name="Text Box 162"/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]</a:t>
                </a:r>
              </a:p>
            </p:txBody>
          </p:sp>
          <p:sp>
            <p:nvSpPr>
              <p:cNvPr id="117841" name="Oval 163"/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7808" name="Group 164"/>
            <p:cNvGrpSpPr>
              <a:grpSpLocks/>
            </p:cNvGrpSpPr>
            <p:nvPr/>
          </p:nvGrpSpPr>
          <p:grpSpPr bwMode="auto">
            <a:xfrm>
              <a:off x="3332" y="1428"/>
              <a:ext cx="672" cy="240"/>
              <a:chOff x="3216" y="2064"/>
              <a:chExt cx="672" cy="240"/>
            </a:xfrm>
          </p:grpSpPr>
          <p:sp>
            <p:nvSpPr>
              <p:cNvPr id="117838" name="AutoShape 165"/>
              <p:cNvSpPr>
                <a:spLocks noChangeArrowheads="1"/>
              </p:cNvSpPr>
              <p:nvPr/>
            </p:nvSpPr>
            <p:spPr bwMode="auto">
              <a:xfrm>
                <a:off x="3216" y="2064"/>
                <a:ext cx="672" cy="240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7839" name="Text Box 166"/>
              <p:cNvSpPr txBox="1">
                <a:spLocks noChangeArrowheads="1"/>
              </p:cNvSpPr>
              <p:nvPr/>
            </p:nvSpPr>
            <p:spPr bwMode="auto">
              <a:xfrm>
                <a:off x="3237" y="2098"/>
                <a:ext cx="643" cy="1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Number</a:t>
                </a:r>
                <a:endParaRPr lang="fr-FR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7809" name="Line 167"/>
            <p:cNvSpPr>
              <a:spLocks noChangeShapeType="1"/>
            </p:cNvSpPr>
            <p:nvPr/>
          </p:nvSpPr>
          <p:spPr bwMode="auto">
            <a:xfrm>
              <a:off x="3047" y="1554"/>
              <a:ext cx="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10" name="Line 168"/>
            <p:cNvSpPr>
              <a:spLocks noChangeShapeType="1"/>
            </p:cNvSpPr>
            <p:nvPr/>
          </p:nvSpPr>
          <p:spPr bwMode="auto">
            <a:xfrm>
              <a:off x="4007" y="1554"/>
              <a:ext cx="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11" name="Line 169"/>
            <p:cNvSpPr>
              <a:spLocks noChangeShapeType="1"/>
            </p:cNvSpPr>
            <p:nvPr/>
          </p:nvSpPr>
          <p:spPr bwMode="auto">
            <a:xfrm>
              <a:off x="2340" y="1536"/>
              <a:ext cx="48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7812" name="Group 170"/>
            <p:cNvGrpSpPr>
              <a:grpSpLocks/>
            </p:cNvGrpSpPr>
            <p:nvPr/>
          </p:nvGrpSpPr>
          <p:grpSpPr bwMode="auto">
            <a:xfrm>
              <a:off x="900" y="1968"/>
              <a:ext cx="232" cy="240"/>
              <a:chOff x="2016" y="2334"/>
              <a:chExt cx="232" cy="240"/>
            </a:xfrm>
          </p:grpSpPr>
          <p:sp>
            <p:nvSpPr>
              <p:cNvPr id="117836" name="Text Box 171"/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solidFill>
                      <a:schemeClr val="tx1"/>
                    </a:solidFill>
                  </a:rPr>
                  <a:t>;</a:t>
                </a:r>
              </a:p>
            </p:txBody>
          </p:sp>
          <p:sp>
            <p:nvSpPr>
              <p:cNvPr id="117837" name="Oval 172"/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7813" name="Line 173"/>
            <p:cNvSpPr>
              <a:spLocks noChangeShapeType="1"/>
            </p:cNvSpPr>
            <p:nvPr/>
          </p:nvSpPr>
          <p:spPr bwMode="auto">
            <a:xfrm flipH="1">
              <a:off x="468" y="2094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14" name="Line 174"/>
            <p:cNvSpPr>
              <a:spLocks noChangeShapeType="1"/>
            </p:cNvSpPr>
            <p:nvPr/>
          </p:nvSpPr>
          <p:spPr bwMode="auto">
            <a:xfrm flipV="1">
              <a:off x="1638" y="1536"/>
              <a:ext cx="0" cy="17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7815" name="Group 175"/>
            <p:cNvGrpSpPr>
              <a:grpSpLocks/>
            </p:cNvGrpSpPr>
            <p:nvPr/>
          </p:nvGrpSpPr>
          <p:grpSpPr bwMode="auto">
            <a:xfrm>
              <a:off x="1524" y="1680"/>
              <a:ext cx="232" cy="240"/>
              <a:chOff x="2016" y="2334"/>
              <a:chExt cx="232" cy="240"/>
            </a:xfrm>
          </p:grpSpPr>
          <p:sp>
            <p:nvSpPr>
              <p:cNvPr id="117834" name="Text Box 176"/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solidFill>
                      <a:schemeClr val="tx1"/>
                    </a:solidFill>
                  </a:rPr>
                  <a:t>,</a:t>
                </a:r>
              </a:p>
            </p:txBody>
          </p:sp>
          <p:sp>
            <p:nvSpPr>
              <p:cNvPr id="117835" name="Oval 177"/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7816" name="Line 178"/>
            <p:cNvSpPr>
              <a:spLocks noChangeShapeType="1"/>
            </p:cNvSpPr>
            <p:nvPr/>
          </p:nvSpPr>
          <p:spPr bwMode="auto">
            <a:xfrm flipV="1">
              <a:off x="1638" y="1920"/>
              <a:ext cx="0" cy="1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17" name="Freeform 180"/>
            <p:cNvSpPr>
              <a:spLocks/>
            </p:cNvSpPr>
            <p:nvPr/>
          </p:nvSpPr>
          <p:spPr bwMode="auto">
            <a:xfrm>
              <a:off x="1140" y="1536"/>
              <a:ext cx="4320" cy="576"/>
            </a:xfrm>
            <a:custGeom>
              <a:avLst/>
              <a:gdLst>
                <a:gd name="T0" fmla="*/ 3408 w 4320"/>
                <a:gd name="T1" fmla="*/ 0 h 576"/>
                <a:gd name="T2" fmla="*/ 4320 w 4320"/>
                <a:gd name="T3" fmla="*/ 0 h 576"/>
                <a:gd name="T4" fmla="*/ 4320 w 4320"/>
                <a:gd name="T5" fmla="*/ 576 h 576"/>
                <a:gd name="T6" fmla="*/ 0 w 4320"/>
                <a:gd name="T7" fmla="*/ 576 h 57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20" h="576">
                  <a:moveTo>
                    <a:pt x="3408" y="0"/>
                  </a:moveTo>
                  <a:lnTo>
                    <a:pt x="4320" y="0"/>
                  </a:lnTo>
                  <a:lnTo>
                    <a:pt x="4320" y="576"/>
                  </a:lnTo>
                  <a:lnTo>
                    <a:pt x="0" y="57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18" name="Freeform 181"/>
            <p:cNvSpPr>
              <a:spLocks/>
            </p:cNvSpPr>
            <p:nvPr/>
          </p:nvSpPr>
          <p:spPr bwMode="auto">
            <a:xfrm>
              <a:off x="2580" y="1536"/>
              <a:ext cx="2256" cy="336"/>
            </a:xfrm>
            <a:custGeom>
              <a:avLst/>
              <a:gdLst>
                <a:gd name="T0" fmla="*/ 0 w 2256"/>
                <a:gd name="T1" fmla="*/ 0 h 336"/>
                <a:gd name="T2" fmla="*/ 0 w 2256"/>
                <a:gd name="T3" fmla="*/ 336 h 336"/>
                <a:gd name="T4" fmla="*/ 2256 w 2256"/>
                <a:gd name="T5" fmla="*/ 336 h 336"/>
                <a:gd name="T6" fmla="*/ 2256 w 2256"/>
                <a:gd name="T7" fmla="*/ 0 h 3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56" h="336">
                  <a:moveTo>
                    <a:pt x="0" y="0"/>
                  </a:moveTo>
                  <a:lnTo>
                    <a:pt x="0" y="336"/>
                  </a:lnTo>
                  <a:lnTo>
                    <a:pt x="2256" y="336"/>
                  </a:lnTo>
                  <a:lnTo>
                    <a:pt x="225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19" name="Line 182"/>
            <p:cNvSpPr>
              <a:spLocks noChangeShapeType="1"/>
            </p:cNvSpPr>
            <p:nvPr/>
          </p:nvSpPr>
          <p:spPr bwMode="auto">
            <a:xfrm>
              <a:off x="4788" y="3072"/>
              <a:ext cx="24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20" name="Freeform 183"/>
            <p:cNvSpPr>
              <a:spLocks/>
            </p:cNvSpPr>
            <p:nvPr/>
          </p:nvSpPr>
          <p:spPr bwMode="auto">
            <a:xfrm>
              <a:off x="2820" y="2688"/>
              <a:ext cx="2544" cy="384"/>
            </a:xfrm>
            <a:custGeom>
              <a:avLst/>
              <a:gdLst>
                <a:gd name="T0" fmla="*/ 0 w 2544"/>
                <a:gd name="T1" fmla="*/ 384 h 384"/>
                <a:gd name="T2" fmla="*/ 0 w 2544"/>
                <a:gd name="T3" fmla="*/ 0 h 384"/>
                <a:gd name="T4" fmla="*/ 2544 w 2544"/>
                <a:gd name="T5" fmla="*/ 0 h 384"/>
                <a:gd name="T6" fmla="*/ 2544 w 2544"/>
                <a:gd name="T7" fmla="*/ 384 h 3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44" h="384">
                  <a:moveTo>
                    <a:pt x="0" y="384"/>
                  </a:moveTo>
                  <a:lnTo>
                    <a:pt x="0" y="0"/>
                  </a:lnTo>
                  <a:lnTo>
                    <a:pt x="2544" y="0"/>
                  </a:lnTo>
                  <a:lnTo>
                    <a:pt x="2544" y="38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7821" name="Group 184"/>
            <p:cNvGrpSpPr>
              <a:grpSpLocks/>
            </p:cNvGrpSpPr>
            <p:nvPr/>
          </p:nvGrpSpPr>
          <p:grpSpPr bwMode="auto">
            <a:xfrm>
              <a:off x="4020" y="3216"/>
              <a:ext cx="232" cy="240"/>
              <a:chOff x="2016" y="2334"/>
              <a:chExt cx="232" cy="240"/>
            </a:xfrm>
          </p:grpSpPr>
          <p:sp>
            <p:nvSpPr>
              <p:cNvPr id="117832" name="Text Box 185"/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solidFill>
                      <a:schemeClr val="tx1"/>
                    </a:solidFill>
                  </a:rPr>
                  <a:t>;</a:t>
                </a:r>
              </a:p>
            </p:txBody>
          </p:sp>
          <p:sp>
            <p:nvSpPr>
              <p:cNvPr id="117833" name="Oval 186"/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7822" name="Freeform 187"/>
            <p:cNvSpPr>
              <a:spLocks/>
            </p:cNvSpPr>
            <p:nvPr/>
          </p:nvSpPr>
          <p:spPr bwMode="auto">
            <a:xfrm>
              <a:off x="4260" y="3072"/>
              <a:ext cx="624" cy="288"/>
            </a:xfrm>
            <a:custGeom>
              <a:avLst/>
              <a:gdLst>
                <a:gd name="T0" fmla="*/ 624 w 624"/>
                <a:gd name="T1" fmla="*/ 0 h 288"/>
                <a:gd name="T2" fmla="*/ 624 w 624"/>
                <a:gd name="T3" fmla="*/ 288 h 288"/>
                <a:gd name="T4" fmla="*/ 0 w 624"/>
                <a:gd name="T5" fmla="*/ 288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4" h="288">
                  <a:moveTo>
                    <a:pt x="624" y="0"/>
                  </a:moveTo>
                  <a:lnTo>
                    <a:pt x="624" y="288"/>
                  </a:lnTo>
                  <a:lnTo>
                    <a:pt x="0" y="28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23" name="Freeform 188"/>
            <p:cNvSpPr>
              <a:spLocks/>
            </p:cNvSpPr>
            <p:nvPr/>
          </p:nvSpPr>
          <p:spPr bwMode="auto">
            <a:xfrm>
              <a:off x="3252" y="3072"/>
              <a:ext cx="768" cy="288"/>
            </a:xfrm>
            <a:custGeom>
              <a:avLst/>
              <a:gdLst>
                <a:gd name="T0" fmla="*/ 768 w 768"/>
                <a:gd name="T1" fmla="*/ 288 h 288"/>
                <a:gd name="T2" fmla="*/ 0 w 768"/>
                <a:gd name="T3" fmla="*/ 288 h 288"/>
                <a:gd name="T4" fmla="*/ 0 w 768"/>
                <a:gd name="T5" fmla="*/ 0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8" h="288">
                  <a:moveTo>
                    <a:pt x="768" y="288"/>
                  </a:moveTo>
                  <a:lnTo>
                    <a:pt x="0" y="288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24" name="Text Box 190"/>
            <p:cNvSpPr txBox="1">
              <a:spLocks noChangeArrowheads="1"/>
            </p:cNvSpPr>
            <p:nvPr/>
          </p:nvSpPr>
          <p:spPr bwMode="auto">
            <a:xfrm>
              <a:off x="144" y="336"/>
              <a:ext cx="63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  <a:latin typeface="VNtimes new roman" charset="0"/>
                </a:rPr>
                <a:t>Block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117825" name="Text Box 192"/>
            <p:cNvSpPr txBox="1">
              <a:spLocks noChangeArrowheads="1"/>
            </p:cNvSpPr>
            <p:nvPr/>
          </p:nvSpPr>
          <p:spPr bwMode="auto">
            <a:xfrm>
              <a:off x="3024" y="3838"/>
              <a:ext cx="1008" cy="24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Statement</a:t>
              </a:r>
              <a:endParaRPr lang="fr-FR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17826" name="Line 193"/>
            <p:cNvSpPr>
              <a:spLocks noChangeShapeType="1"/>
            </p:cNvSpPr>
            <p:nvPr/>
          </p:nvSpPr>
          <p:spPr bwMode="auto">
            <a:xfrm flipH="1">
              <a:off x="4032" y="398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27" name="Freeform 194"/>
            <p:cNvSpPr>
              <a:spLocks/>
            </p:cNvSpPr>
            <p:nvPr/>
          </p:nvSpPr>
          <p:spPr bwMode="auto">
            <a:xfrm>
              <a:off x="2880" y="3648"/>
              <a:ext cx="144" cy="336"/>
            </a:xfrm>
            <a:custGeom>
              <a:avLst/>
              <a:gdLst>
                <a:gd name="T0" fmla="*/ 19 w 240"/>
                <a:gd name="T1" fmla="*/ 336 h 336"/>
                <a:gd name="T2" fmla="*/ 0 w 240"/>
                <a:gd name="T3" fmla="*/ 336 h 336"/>
                <a:gd name="T4" fmla="*/ 0 w 240"/>
                <a:gd name="T5" fmla="*/ 0 h 3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0" h="336">
                  <a:moveTo>
                    <a:pt x="240" y="336"/>
                  </a:moveTo>
                  <a:lnTo>
                    <a:pt x="0" y="336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28" name="Line 195"/>
            <p:cNvSpPr>
              <a:spLocks noChangeShapeType="1"/>
            </p:cNvSpPr>
            <p:nvPr/>
          </p:nvSpPr>
          <p:spPr bwMode="auto">
            <a:xfrm>
              <a:off x="5232" y="3648"/>
              <a:ext cx="3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29" name="Line 196"/>
            <p:cNvSpPr>
              <a:spLocks noChangeShapeType="1"/>
            </p:cNvSpPr>
            <p:nvPr/>
          </p:nvSpPr>
          <p:spPr bwMode="auto">
            <a:xfrm flipH="1">
              <a:off x="2736" y="3648"/>
              <a:ext cx="19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30" name="Freeform 197"/>
            <p:cNvSpPr>
              <a:spLocks/>
            </p:cNvSpPr>
            <p:nvPr/>
          </p:nvSpPr>
          <p:spPr bwMode="auto">
            <a:xfrm>
              <a:off x="4389" y="3648"/>
              <a:ext cx="144" cy="336"/>
            </a:xfrm>
            <a:custGeom>
              <a:avLst/>
              <a:gdLst>
                <a:gd name="T0" fmla="*/ 144 w 144"/>
                <a:gd name="T1" fmla="*/ 0 h 336"/>
                <a:gd name="T2" fmla="*/ 144 w 144"/>
                <a:gd name="T3" fmla="*/ 336 h 336"/>
                <a:gd name="T4" fmla="*/ 0 w 144"/>
                <a:gd name="T5" fmla="*/ 336 h 3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" h="336">
                  <a:moveTo>
                    <a:pt x="144" y="0"/>
                  </a:moveTo>
                  <a:lnTo>
                    <a:pt x="144" y="336"/>
                  </a:lnTo>
                  <a:lnTo>
                    <a:pt x="0" y="33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31" name="Line 198"/>
            <p:cNvSpPr>
              <a:spLocks noChangeShapeType="1"/>
            </p:cNvSpPr>
            <p:nvPr/>
          </p:nvSpPr>
          <p:spPr bwMode="auto">
            <a:xfrm>
              <a:off x="1488" y="364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B2F14C-56E0-49A5-B04A-1FD91E6F5350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118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grpSp>
        <p:nvGrpSpPr>
          <p:cNvPr id="118787" name="Group 169"/>
          <p:cNvGrpSpPr>
            <a:grpSpLocks/>
          </p:cNvGrpSpPr>
          <p:nvPr/>
        </p:nvGrpSpPr>
        <p:grpSpPr bwMode="auto">
          <a:xfrm>
            <a:off x="76200" y="76200"/>
            <a:ext cx="8867775" cy="6596063"/>
            <a:chOff x="48" y="48"/>
            <a:chExt cx="5586" cy="4155"/>
          </a:xfrm>
        </p:grpSpPr>
        <p:sp>
          <p:nvSpPr>
            <p:cNvPr id="118788" name="Text Box 4"/>
            <p:cNvSpPr txBox="1">
              <a:spLocks noChangeArrowheads="1"/>
            </p:cNvSpPr>
            <p:nvPr/>
          </p:nvSpPr>
          <p:spPr bwMode="auto">
            <a:xfrm>
              <a:off x="48" y="48"/>
              <a:ext cx="10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Statement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grpSp>
          <p:nvGrpSpPr>
            <p:cNvPr id="118789" name="Group 13"/>
            <p:cNvGrpSpPr>
              <a:grpSpLocks/>
            </p:cNvGrpSpPr>
            <p:nvPr/>
          </p:nvGrpSpPr>
          <p:grpSpPr bwMode="auto">
            <a:xfrm>
              <a:off x="594" y="1116"/>
              <a:ext cx="585" cy="240"/>
              <a:chOff x="5967" y="3883"/>
              <a:chExt cx="954" cy="525"/>
            </a:xfrm>
          </p:grpSpPr>
          <p:sp>
            <p:nvSpPr>
              <p:cNvPr id="118913" name="AutoShape 14"/>
              <p:cNvSpPr>
                <a:spLocks noChangeArrowheads="1"/>
              </p:cNvSpPr>
              <p:nvPr/>
            </p:nvSpPr>
            <p:spPr bwMode="auto">
              <a:xfrm>
                <a:off x="5967" y="3883"/>
                <a:ext cx="954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8914" name="Text Box 15"/>
              <p:cNvSpPr txBox="1">
                <a:spLocks noChangeArrowheads="1"/>
              </p:cNvSpPr>
              <p:nvPr/>
            </p:nvSpPr>
            <p:spPr bwMode="auto">
              <a:xfrm>
                <a:off x="6021" y="3964"/>
                <a:ext cx="900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CALL</a:t>
                </a:r>
              </a:p>
            </p:txBody>
          </p:sp>
        </p:grpSp>
        <p:grpSp>
          <p:nvGrpSpPr>
            <p:cNvPr id="118790" name="Group 16"/>
            <p:cNvGrpSpPr>
              <a:grpSpLocks/>
            </p:cNvGrpSpPr>
            <p:nvPr/>
          </p:nvGrpSpPr>
          <p:grpSpPr bwMode="auto">
            <a:xfrm>
              <a:off x="642" y="2928"/>
              <a:ext cx="774" cy="240"/>
              <a:chOff x="8667" y="3883"/>
              <a:chExt cx="1260" cy="525"/>
            </a:xfrm>
          </p:grpSpPr>
          <p:sp>
            <p:nvSpPr>
              <p:cNvPr id="118911" name="AutoShape 17"/>
              <p:cNvSpPr>
                <a:spLocks noChangeArrowheads="1"/>
              </p:cNvSpPr>
              <p:nvPr/>
            </p:nvSpPr>
            <p:spPr bwMode="auto">
              <a:xfrm>
                <a:off x="8667" y="3883"/>
                <a:ext cx="1260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8912" name="Text Box 18"/>
              <p:cNvSpPr txBox="1">
                <a:spLocks noChangeArrowheads="1"/>
              </p:cNvSpPr>
              <p:nvPr/>
            </p:nvSpPr>
            <p:spPr bwMode="auto">
              <a:xfrm>
                <a:off x="8721" y="3964"/>
                <a:ext cx="1161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WHILE</a:t>
                </a:r>
              </a:p>
            </p:txBody>
          </p:sp>
        </p:grpSp>
        <p:grpSp>
          <p:nvGrpSpPr>
            <p:cNvPr id="118791" name="Group 19"/>
            <p:cNvGrpSpPr>
              <a:grpSpLocks/>
            </p:cNvGrpSpPr>
            <p:nvPr/>
          </p:nvGrpSpPr>
          <p:grpSpPr bwMode="auto">
            <a:xfrm>
              <a:off x="2850" y="2562"/>
              <a:ext cx="585" cy="240"/>
              <a:chOff x="8487" y="2983"/>
              <a:chExt cx="954" cy="525"/>
            </a:xfrm>
          </p:grpSpPr>
          <p:sp>
            <p:nvSpPr>
              <p:cNvPr id="118909" name="AutoShape 20"/>
              <p:cNvSpPr>
                <a:spLocks noChangeArrowheads="1"/>
              </p:cNvSpPr>
              <p:nvPr/>
            </p:nvSpPr>
            <p:spPr bwMode="auto">
              <a:xfrm>
                <a:off x="8487" y="2983"/>
                <a:ext cx="954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8910" name="Text Box 21"/>
              <p:cNvSpPr txBox="1">
                <a:spLocks noChangeArrowheads="1"/>
              </p:cNvSpPr>
              <p:nvPr/>
            </p:nvSpPr>
            <p:spPr bwMode="auto">
              <a:xfrm>
                <a:off x="8541" y="3064"/>
                <a:ext cx="900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THEN</a:t>
                </a:r>
              </a:p>
            </p:txBody>
          </p:sp>
        </p:grpSp>
        <p:grpSp>
          <p:nvGrpSpPr>
            <p:cNvPr id="118792" name="Group 22"/>
            <p:cNvGrpSpPr>
              <a:grpSpLocks/>
            </p:cNvGrpSpPr>
            <p:nvPr/>
          </p:nvGrpSpPr>
          <p:grpSpPr bwMode="auto">
            <a:xfrm>
              <a:off x="633" y="3426"/>
              <a:ext cx="585" cy="240"/>
              <a:chOff x="4887" y="4963"/>
              <a:chExt cx="954" cy="525"/>
            </a:xfrm>
          </p:grpSpPr>
          <p:sp>
            <p:nvSpPr>
              <p:cNvPr id="118907" name="AutoShape 23"/>
              <p:cNvSpPr>
                <a:spLocks noChangeArrowheads="1"/>
              </p:cNvSpPr>
              <p:nvPr/>
            </p:nvSpPr>
            <p:spPr bwMode="auto">
              <a:xfrm>
                <a:off x="4887" y="4963"/>
                <a:ext cx="954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8908" name="Text Box 24"/>
              <p:cNvSpPr txBox="1">
                <a:spLocks noChangeArrowheads="1"/>
              </p:cNvSpPr>
              <p:nvPr/>
            </p:nvSpPr>
            <p:spPr bwMode="auto">
              <a:xfrm>
                <a:off x="4941" y="5044"/>
                <a:ext cx="900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FOR</a:t>
                </a:r>
              </a:p>
            </p:txBody>
          </p:sp>
        </p:grpSp>
        <p:grpSp>
          <p:nvGrpSpPr>
            <p:cNvPr id="118793" name="Group 28"/>
            <p:cNvGrpSpPr>
              <a:grpSpLocks/>
            </p:cNvGrpSpPr>
            <p:nvPr/>
          </p:nvGrpSpPr>
          <p:grpSpPr bwMode="auto">
            <a:xfrm>
              <a:off x="3303" y="3857"/>
              <a:ext cx="474" cy="240"/>
              <a:chOff x="7977" y="4963"/>
              <a:chExt cx="774" cy="525"/>
            </a:xfrm>
          </p:grpSpPr>
          <p:sp>
            <p:nvSpPr>
              <p:cNvPr id="118905" name="AutoShape 29"/>
              <p:cNvSpPr>
                <a:spLocks noChangeArrowheads="1"/>
              </p:cNvSpPr>
              <p:nvPr/>
            </p:nvSpPr>
            <p:spPr bwMode="auto">
              <a:xfrm>
                <a:off x="7977" y="4963"/>
                <a:ext cx="774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8906" name="Text Box 30"/>
              <p:cNvSpPr txBox="1">
                <a:spLocks noChangeArrowheads="1"/>
              </p:cNvSpPr>
              <p:nvPr/>
            </p:nvSpPr>
            <p:spPr bwMode="auto">
              <a:xfrm>
                <a:off x="8001" y="5044"/>
                <a:ext cx="720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DO</a:t>
                </a:r>
              </a:p>
            </p:txBody>
          </p:sp>
        </p:grpSp>
        <p:grpSp>
          <p:nvGrpSpPr>
            <p:cNvPr id="118794" name="Group 31"/>
            <p:cNvGrpSpPr>
              <a:grpSpLocks/>
            </p:cNvGrpSpPr>
            <p:nvPr/>
          </p:nvGrpSpPr>
          <p:grpSpPr bwMode="auto">
            <a:xfrm>
              <a:off x="594" y="2571"/>
              <a:ext cx="474" cy="240"/>
              <a:chOff x="9237" y="4963"/>
              <a:chExt cx="774" cy="525"/>
            </a:xfrm>
          </p:grpSpPr>
          <p:sp>
            <p:nvSpPr>
              <p:cNvPr id="118903" name="AutoShape 32"/>
              <p:cNvSpPr>
                <a:spLocks noChangeArrowheads="1"/>
              </p:cNvSpPr>
              <p:nvPr/>
            </p:nvSpPr>
            <p:spPr bwMode="auto">
              <a:xfrm>
                <a:off x="9237" y="4963"/>
                <a:ext cx="774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8904" name="Text Box 33"/>
              <p:cNvSpPr txBox="1">
                <a:spLocks noChangeArrowheads="1"/>
              </p:cNvSpPr>
              <p:nvPr/>
            </p:nvSpPr>
            <p:spPr bwMode="auto">
              <a:xfrm>
                <a:off x="9261" y="5044"/>
                <a:ext cx="720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IF</a:t>
                </a:r>
              </a:p>
            </p:txBody>
          </p:sp>
        </p:grpSp>
        <p:grpSp>
          <p:nvGrpSpPr>
            <p:cNvPr id="118795" name="Group 37"/>
            <p:cNvGrpSpPr>
              <a:grpSpLocks/>
            </p:cNvGrpSpPr>
            <p:nvPr/>
          </p:nvGrpSpPr>
          <p:grpSpPr bwMode="auto">
            <a:xfrm>
              <a:off x="546" y="362"/>
              <a:ext cx="528" cy="219"/>
              <a:chOff x="2256" y="2064"/>
              <a:chExt cx="528" cy="219"/>
            </a:xfrm>
          </p:grpSpPr>
          <p:sp>
            <p:nvSpPr>
              <p:cNvPr id="118901" name="AutoShape 38"/>
              <p:cNvSpPr>
                <a:spLocks noChangeArrowheads="1"/>
              </p:cNvSpPr>
              <p:nvPr/>
            </p:nvSpPr>
            <p:spPr bwMode="auto">
              <a:xfrm>
                <a:off x="2256" y="2064"/>
                <a:ext cx="528" cy="219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8902" name="Text Box 39"/>
              <p:cNvSpPr txBox="1">
                <a:spLocks noChangeArrowheads="1"/>
              </p:cNvSpPr>
              <p:nvPr/>
            </p:nvSpPr>
            <p:spPr bwMode="auto">
              <a:xfrm>
                <a:off x="2283" y="2085"/>
                <a:ext cx="47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Ident</a:t>
                </a:r>
                <a:endParaRPr lang="fr-FR" altLang="en-US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8796" name="Group 43"/>
            <p:cNvGrpSpPr>
              <a:grpSpLocks/>
            </p:cNvGrpSpPr>
            <p:nvPr/>
          </p:nvGrpSpPr>
          <p:grpSpPr bwMode="auto">
            <a:xfrm>
              <a:off x="3858" y="3435"/>
              <a:ext cx="474" cy="240"/>
              <a:chOff x="6687" y="4963"/>
              <a:chExt cx="774" cy="525"/>
            </a:xfrm>
          </p:grpSpPr>
          <p:sp>
            <p:nvSpPr>
              <p:cNvPr id="118899" name="AutoShape 44"/>
              <p:cNvSpPr>
                <a:spLocks noChangeArrowheads="1"/>
              </p:cNvSpPr>
              <p:nvPr/>
            </p:nvSpPr>
            <p:spPr bwMode="auto">
              <a:xfrm>
                <a:off x="6687" y="4963"/>
                <a:ext cx="774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8900" name="Text Box 45"/>
              <p:cNvSpPr txBox="1">
                <a:spLocks noChangeArrowheads="1"/>
              </p:cNvSpPr>
              <p:nvPr/>
            </p:nvSpPr>
            <p:spPr bwMode="auto">
              <a:xfrm>
                <a:off x="6711" y="5044"/>
                <a:ext cx="720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TO</a:t>
                </a:r>
              </a:p>
            </p:txBody>
          </p:sp>
        </p:grpSp>
        <p:sp>
          <p:nvSpPr>
            <p:cNvPr id="118797" name="Text Box 50"/>
            <p:cNvSpPr txBox="1">
              <a:spLocks noChangeArrowheads="1"/>
            </p:cNvSpPr>
            <p:nvPr/>
          </p:nvSpPr>
          <p:spPr bwMode="auto">
            <a:xfrm>
              <a:off x="1890" y="2928"/>
              <a:ext cx="1008" cy="2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Condition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118798" name="Text Box 51"/>
            <p:cNvSpPr txBox="1">
              <a:spLocks noChangeArrowheads="1"/>
            </p:cNvSpPr>
            <p:nvPr/>
          </p:nvSpPr>
          <p:spPr bwMode="auto">
            <a:xfrm>
              <a:off x="3954" y="2907"/>
              <a:ext cx="1008" cy="2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Statement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118799" name="Text Box 52"/>
            <p:cNvSpPr txBox="1">
              <a:spLocks noChangeArrowheads="1"/>
            </p:cNvSpPr>
            <p:nvPr/>
          </p:nvSpPr>
          <p:spPr bwMode="auto">
            <a:xfrm>
              <a:off x="1839" y="654"/>
              <a:ext cx="1008" cy="2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  <a:latin typeface="VNtimes new roman" charset="0"/>
                </a:rPr>
                <a:t>Expression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grpSp>
          <p:nvGrpSpPr>
            <p:cNvPr id="118800" name="Group 53"/>
            <p:cNvGrpSpPr>
              <a:grpSpLocks/>
            </p:cNvGrpSpPr>
            <p:nvPr/>
          </p:nvGrpSpPr>
          <p:grpSpPr bwMode="auto">
            <a:xfrm>
              <a:off x="1410" y="3417"/>
              <a:ext cx="528" cy="219"/>
              <a:chOff x="2256" y="2064"/>
              <a:chExt cx="528" cy="219"/>
            </a:xfrm>
          </p:grpSpPr>
          <p:sp>
            <p:nvSpPr>
              <p:cNvPr id="118897" name="AutoShape 54"/>
              <p:cNvSpPr>
                <a:spLocks noChangeArrowheads="1"/>
              </p:cNvSpPr>
              <p:nvPr/>
            </p:nvSpPr>
            <p:spPr bwMode="auto">
              <a:xfrm>
                <a:off x="2256" y="2064"/>
                <a:ext cx="528" cy="219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8898" name="Text Box 55"/>
              <p:cNvSpPr txBox="1">
                <a:spLocks noChangeArrowheads="1"/>
              </p:cNvSpPr>
              <p:nvPr/>
            </p:nvSpPr>
            <p:spPr bwMode="auto">
              <a:xfrm>
                <a:off x="2283" y="2085"/>
                <a:ext cx="47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Ident</a:t>
                </a:r>
                <a:endParaRPr lang="fr-FR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8801" name="Line 56"/>
            <p:cNvSpPr>
              <a:spLocks noChangeShapeType="1"/>
            </p:cNvSpPr>
            <p:nvPr/>
          </p:nvSpPr>
          <p:spPr bwMode="auto">
            <a:xfrm>
              <a:off x="1218" y="3531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8802" name="Group 60"/>
            <p:cNvGrpSpPr>
              <a:grpSpLocks/>
            </p:cNvGrpSpPr>
            <p:nvPr/>
          </p:nvGrpSpPr>
          <p:grpSpPr bwMode="auto">
            <a:xfrm>
              <a:off x="2122" y="3414"/>
              <a:ext cx="296" cy="240"/>
              <a:chOff x="2248" y="1680"/>
              <a:chExt cx="296" cy="240"/>
            </a:xfrm>
          </p:grpSpPr>
          <p:sp>
            <p:nvSpPr>
              <p:cNvPr id="118895" name="Text Box 58"/>
              <p:cNvSpPr txBox="1">
                <a:spLocks noChangeArrowheads="1"/>
              </p:cNvSpPr>
              <p:nvPr/>
            </p:nvSpPr>
            <p:spPr bwMode="auto">
              <a:xfrm>
                <a:off x="2248" y="1680"/>
                <a:ext cx="2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solidFill>
                      <a:schemeClr val="tx1"/>
                    </a:solidFill>
                  </a:rPr>
                  <a:t>:=</a:t>
                </a:r>
              </a:p>
            </p:txBody>
          </p:sp>
          <p:sp>
            <p:nvSpPr>
              <p:cNvPr id="118896" name="Oval 59"/>
              <p:cNvSpPr>
                <a:spLocks noChangeArrowheads="1"/>
              </p:cNvSpPr>
              <p:nvPr/>
            </p:nvSpPr>
            <p:spPr bwMode="auto">
              <a:xfrm>
                <a:off x="2256" y="1686"/>
                <a:ext cx="288" cy="234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8803" name="Text Box 61"/>
            <p:cNvSpPr txBox="1">
              <a:spLocks noChangeArrowheads="1"/>
            </p:cNvSpPr>
            <p:nvPr/>
          </p:nvSpPr>
          <p:spPr bwMode="auto">
            <a:xfrm>
              <a:off x="2640" y="3418"/>
              <a:ext cx="1008" cy="2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Expression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118804" name="Text Box 62"/>
            <p:cNvSpPr txBox="1">
              <a:spLocks noChangeArrowheads="1"/>
            </p:cNvSpPr>
            <p:nvPr/>
          </p:nvSpPr>
          <p:spPr bwMode="auto">
            <a:xfrm>
              <a:off x="2082" y="3862"/>
              <a:ext cx="1008" cy="2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Expression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118805" name="Text Box 63"/>
            <p:cNvSpPr txBox="1">
              <a:spLocks noChangeArrowheads="1"/>
            </p:cNvSpPr>
            <p:nvPr/>
          </p:nvSpPr>
          <p:spPr bwMode="auto">
            <a:xfrm>
              <a:off x="4005" y="3844"/>
              <a:ext cx="1008" cy="2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Statement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118806" name="Line 64"/>
            <p:cNvSpPr>
              <a:spLocks noChangeShapeType="1"/>
            </p:cNvSpPr>
            <p:nvPr/>
          </p:nvSpPr>
          <p:spPr bwMode="auto">
            <a:xfrm>
              <a:off x="1938" y="3531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07" name="Line 65"/>
            <p:cNvSpPr>
              <a:spLocks noChangeShapeType="1"/>
            </p:cNvSpPr>
            <p:nvPr/>
          </p:nvSpPr>
          <p:spPr bwMode="auto">
            <a:xfrm>
              <a:off x="2427" y="354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08" name="Line 66"/>
            <p:cNvSpPr>
              <a:spLocks noChangeShapeType="1"/>
            </p:cNvSpPr>
            <p:nvPr/>
          </p:nvSpPr>
          <p:spPr bwMode="auto">
            <a:xfrm>
              <a:off x="3657" y="3543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09" name="Line 67"/>
            <p:cNvSpPr>
              <a:spLocks noChangeShapeType="1"/>
            </p:cNvSpPr>
            <p:nvPr/>
          </p:nvSpPr>
          <p:spPr bwMode="auto">
            <a:xfrm>
              <a:off x="3783" y="3967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10" name="Line 68"/>
            <p:cNvSpPr>
              <a:spLocks noChangeShapeType="1"/>
            </p:cNvSpPr>
            <p:nvPr/>
          </p:nvSpPr>
          <p:spPr bwMode="auto">
            <a:xfrm>
              <a:off x="3108" y="397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11" name="Freeform 70"/>
            <p:cNvSpPr>
              <a:spLocks/>
            </p:cNvSpPr>
            <p:nvPr/>
          </p:nvSpPr>
          <p:spPr bwMode="auto">
            <a:xfrm>
              <a:off x="1890" y="3531"/>
              <a:ext cx="2736" cy="432"/>
            </a:xfrm>
            <a:custGeom>
              <a:avLst/>
              <a:gdLst>
                <a:gd name="T0" fmla="*/ 2448 w 2736"/>
                <a:gd name="T1" fmla="*/ 0 h 432"/>
                <a:gd name="T2" fmla="*/ 2736 w 2736"/>
                <a:gd name="T3" fmla="*/ 0 h 432"/>
                <a:gd name="T4" fmla="*/ 2736 w 2736"/>
                <a:gd name="T5" fmla="*/ 240 h 432"/>
                <a:gd name="T6" fmla="*/ 0 w 2736"/>
                <a:gd name="T7" fmla="*/ 240 h 432"/>
                <a:gd name="T8" fmla="*/ 0 w 2736"/>
                <a:gd name="T9" fmla="*/ 432 h 432"/>
                <a:gd name="T10" fmla="*/ 192 w 2736"/>
                <a:gd name="T11" fmla="*/ 432 h 4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36" h="432">
                  <a:moveTo>
                    <a:pt x="2448" y="0"/>
                  </a:moveTo>
                  <a:lnTo>
                    <a:pt x="2736" y="0"/>
                  </a:lnTo>
                  <a:lnTo>
                    <a:pt x="2736" y="240"/>
                  </a:lnTo>
                  <a:lnTo>
                    <a:pt x="0" y="240"/>
                  </a:lnTo>
                  <a:lnTo>
                    <a:pt x="0" y="432"/>
                  </a:lnTo>
                  <a:lnTo>
                    <a:pt x="192" y="43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8812" name="Group 71"/>
            <p:cNvGrpSpPr>
              <a:grpSpLocks/>
            </p:cNvGrpSpPr>
            <p:nvPr/>
          </p:nvGrpSpPr>
          <p:grpSpPr bwMode="auto">
            <a:xfrm>
              <a:off x="3186" y="2928"/>
              <a:ext cx="474" cy="240"/>
              <a:chOff x="7977" y="4963"/>
              <a:chExt cx="774" cy="525"/>
            </a:xfrm>
          </p:grpSpPr>
          <p:sp>
            <p:nvSpPr>
              <p:cNvPr id="118893" name="AutoShape 72"/>
              <p:cNvSpPr>
                <a:spLocks noChangeArrowheads="1"/>
              </p:cNvSpPr>
              <p:nvPr/>
            </p:nvSpPr>
            <p:spPr bwMode="auto">
              <a:xfrm>
                <a:off x="7977" y="4963"/>
                <a:ext cx="774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8894" name="Text Box 73"/>
              <p:cNvSpPr txBox="1">
                <a:spLocks noChangeArrowheads="1"/>
              </p:cNvSpPr>
              <p:nvPr/>
            </p:nvSpPr>
            <p:spPr bwMode="auto">
              <a:xfrm>
                <a:off x="8001" y="5044"/>
                <a:ext cx="720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DO</a:t>
                </a:r>
              </a:p>
            </p:txBody>
          </p:sp>
        </p:grpSp>
        <p:sp>
          <p:nvSpPr>
            <p:cNvPr id="118813" name="Line 74"/>
            <p:cNvSpPr>
              <a:spLocks noChangeShapeType="1"/>
            </p:cNvSpPr>
            <p:nvPr/>
          </p:nvSpPr>
          <p:spPr bwMode="auto">
            <a:xfrm>
              <a:off x="1410" y="3033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14" name="Line 75"/>
            <p:cNvSpPr>
              <a:spLocks noChangeShapeType="1"/>
            </p:cNvSpPr>
            <p:nvPr/>
          </p:nvSpPr>
          <p:spPr bwMode="auto">
            <a:xfrm>
              <a:off x="2898" y="3051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15" name="Line 76"/>
            <p:cNvSpPr>
              <a:spLocks noChangeShapeType="1"/>
            </p:cNvSpPr>
            <p:nvPr/>
          </p:nvSpPr>
          <p:spPr bwMode="auto">
            <a:xfrm>
              <a:off x="3666" y="302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16" name="Text Box 77"/>
            <p:cNvSpPr txBox="1">
              <a:spLocks noChangeArrowheads="1"/>
            </p:cNvSpPr>
            <p:nvPr/>
          </p:nvSpPr>
          <p:spPr bwMode="auto">
            <a:xfrm>
              <a:off x="1554" y="2571"/>
              <a:ext cx="1008" cy="2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Condition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118817" name="Line 78"/>
            <p:cNvSpPr>
              <a:spLocks noChangeShapeType="1"/>
            </p:cNvSpPr>
            <p:nvPr/>
          </p:nvSpPr>
          <p:spPr bwMode="auto">
            <a:xfrm>
              <a:off x="1074" y="2676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18" name="Line 79"/>
            <p:cNvSpPr>
              <a:spLocks noChangeShapeType="1"/>
            </p:cNvSpPr>
            <p:nvPr/>
          </p:nvSpPr>
          <p:spPr bwMode="auto">
            <a:xfrm>
              <a:off x="2562" y="2667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19" name="Text Box 80"/>
            <p:cNvSpPr txBox="1">
              <a:spLocks noChangeArrowheads="1"/>
            </p:cNvSpPr>
            <p:nvPr/>
          </p:nvSpPr>
          <p:spPr bwMode="auto">
            <a:xfrm>
              <a:off x="3723" y="2571"/>
              <a:ext cx="1008" cy="2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Statement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118820" name="Line 81"/>
            <p:cNvSpPr>
              <a:spLocks noChangeShapeType="1"/>
            </p:cNvSpPr>
            <p:nvPr/>
          </p:nvSpPr>
          <p:spPr bwMode="auto">
            <a:xfrm>
              <a:off x="3435" y="2688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21" name="Text Box 82"/>
            <p:cNvSpPr txBox="1">
              <a:spLocks noChangeArrowheads="1"/>
            </p:cNvSpPr>
            <p:nvPr/>
          </p:nvSpPr>
          <p:spPr bwMode="auto">
            <a:xfrm>
              <a:off x="1611" y="1593"/>
              <a:ext cx="1008" cy="24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Statement</a:t>
              </a:r>
              <a:endParaRPr lang="fr-FR" altLang="en-US" sz="2400">
                <a:solidFill>
                  <a:schemeClr val="tx1"/>
                </a:solidFill>
              </a:endParaRPr>
            </a:p>
          </p:txBody>
        </p:sp>
        <p:grpSp>
          <p:nvGrpSpPr>
            <p:cNvPr id="118822" name="Group 83"/>
            <p:cNvGrpSpPr>
              <a:grpSpLocks/>
            </p:cNvGrpSpPr>
            <p:nvPr/>
          </p:nvGrpSpPr>
          <p:grpSpPr bwMode="auto">
            <a:xfrm>
              <a:off x="4548" y="1631"/>
              <a:ext cx="558" cy="240"/>
              <a:chOff x="3087" y="4963"/>
              <a:chExt cx="954" cy="525"/>
            </a:xfrm>
          </p:grpSpPr>
          <p:sp>
            <p:nvSpPr>
              <p:cNvPr id="118891" name="AutoShape 84"/>
              <p:cNvSpPr>
                <a:spLocks noChangeArrowheads="1"/>
              </p:cNvSpPr>
              <p:nvPr/>
            </p:nvSpPr>
            <p:spPr bwMode="auto">
              <a:xfrm>
                <a:off x="3087" y="4963"/>
                <a:ext cx="954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8892" name="Text Box 85"/>
              <p:cNvSpPr txBox="1">
                <a:spLocks noChangeArrowheads="1"/>
              </p:cNvSpPr>
              <p:nvPr/>
            </p:nvSpPr>
            <p:spPr bwMode="auto">
              <a:xfrm>
                <a:off x="3141" y="5044"/>
                <a:ext cx="900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END</a:t>
                </a:r>
              </a:p>
            </p:txBody>
          </p:sp>
        </p:grpSp>
        <p:grpSp>
          <p:nvGrpSpPr>
            <p:cNvPr id="118823" name="Group 86"/>
            <p:cNvGrpSpPr>
              <a:grpSpLocks/>
            </p:cNvGrpSpPr>
            <p:nvPr/>
          </p:nvGrpSpPr>
          <p:grpSpPr bwMode="auto">
            <a:xfrm>
              <a:off x="600" y="1604"/>
              <a:ext cx="774" cy="240"/>
              <a:chOff x="5967" y="2983"/>
              <a:chExt cx="1260" cy="525"/>
            </a:xfrm>
          </p:grpSpPr>
          <p:sp>
            <p:nvSpPr>
              <p:cNvPr id="118889" name="AutoShape 87"/>
              <p:cNvSpPr>
                <a:spLocks noChangeArrowheads="1"/>
              </p:cNvSpPr>
              <p:nvPr/>
            </p:nvSpPr>
            <p:spPr bwMode="auto">
              <a:xfrm>
                <a:off x="5967" y="2983"/>
                <a:ext cx="1260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8890" name="Text Box 88"/>
              <p:cNvSpPr txBox="1">
                <a:spLocks noChangeArrowheads="1"/>
              </p:cNvSpPr>
              <p:nvPr/>
            </p:nvSpPr>
            <p:spPr bwMode="auto">
              <a:xfrm>
                <a:off x="6021" y="3064"/>
                <a:ext cx="1161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BEGIN</a:t>
                </a:r>
              </a:p>
            </p:txBody>
          </p:sp>
        </p:grpSp>
        <p:grpSp>
          <p:nvGrpSpPr>
            <p:cNvPr id="118824" name="Group 89"/>
            <p:cNvGrpSpPr>
              <a:grpSpLocks/>
            </p:cNvGrpSpPr>
            <p:nvPr/>
          </p:nvGrpSpPr>
          <p:grpSpPr bwMode="auto">
            <a:xfrm>
              <a:off x="4077" y="1919"/>
              <a:ext cx="232" cy="240"/>
              <a:chOff x="2016" y="2334"/>
              <a:chExt cx="232" cy="240"/>
            </a:xfrm>
          </p:grpSpPr>
          <p:sp>
            <p:nvSpPr>
              <p:cNvPr id="118887" name="Text Box 90"/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solidFill>
                      <a:schemeClr val="tx1"/>
                    </a:solidFill>
                  </a:rPr>
                  <a:t>;</a:t>
                </a:r>
              </a:p>
            </p:txBody>
          </p:sp>
          <p:sp>
            <p:nvSpPr>
              <p:cNvPr id="118888" name="Oval 91"/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8825" name="Text Box 92"/>
            <p:cNvSpPr txBox="1">
              <a:spLocks noChangeArrowheads="1"/>
            </p:cNvSpPr>
            <p:nvPr/>
          </p:nvSpPr>
          <p:spPr bwMode="auto">
            <a:xfrm>
              <a:off x="2916" y="1917"/>
              <a:ext cx="1008" cy="24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Statement</a:t>
              </a:r>
              <a:endParaRPr lang="fr-FR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18826" name="Line 93"/>
            <p:cNvSpPr>
              <a:spLocks noChangeShapeType="1"/>
            </p:cNvSpPr>
            <p:nvPr/>
          </p:nvSpPr>
          <p:spPr bwMode="auto">
            <a:xfrm flipH="1">
              <a:off x="3924" y="2063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27" name="Freeform 94"/>
            <p:cNvSpPr>
              <a:spLocks/>
            </p:cNvSpPr>
            <p:nvPr/>
          </p:nvSpPr>
          <p:spPr bwMode="auto">
            <a:xfrm>
              <a:off x="2772" y="1727"/>
              <a:ext cx="144" cy="336"/>
            </a:xfrm>
            <a:custGeom>
              <a:avLst/>
              <a:gdLst>
                <a:gd name="T0" fmla="*/ 19 w 240"/>
                <a:gd name="T1" fmla="*/ 336 h 336"/>
                <a:gd name="T2" fmla="*/ 0 w 240"/>
                <a:gd name="T3" fmla="*/ 336 h 336"/>
                <a:gd name="T4" fmla="*/ 0 w 240"/>
                <a:gd name="T5" fmla="*/ 0 h 3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0" h="336">
                  <a:moveTo>
                    <a:pt x="240" y="336"/>
                  </a:moveTo>
                  <a:lnTo>
                    <a:pt x="0" y="336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28" name="Line 96"/>
            <p:cNvSpPr>
              <a:spLocks noChangeShapeType="1"/>
            </p:cNvSpPr>
            <p:nvPr/>
          </p:nvSpPr>
          <p:spPr bwMode="auto">
            <a:xfrm flipH="1">
              <a:off x="2628" y="1727"/>
              <a:ext cx="19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29" name="Freeform 97"/>
            <p:cNvSpPr>
              <a:spLocks/>
            </p:cNvSpPr>
            <p:nvPr/>
          </p:nvSpPr>
          <p:spPr bwMode="auto">
            <a:xfrm>
              <a:off x="4281" y="1727"/>
              <a:ext cx="144" cy="336"/>
            </a:xfrm>
            <a:custGeom>
              <a:avLst/>
              <a:gdLst>
                <a:gd name="T0" fmla="*/ 144 w 144"/>
                <a:gd name="T1" fmla="*/ 0 h 336"/>
                <a:gd name="T2" fmla="*/ 144 w 144"/>
                <a:gd name="T3" fmla="*/ 336 h 336"/>
                <a:gd name="T4" fmla="*/ 0 w 144"/>
                <a:gd name="T5" fmla="*/ 336 h 3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" h="336">
                  <a:moveTo>
                    <a:pt x="144" y="0"/>
                  </a:moveTo>
                  <a:lnTo>
                    <a:pt x="144" y="336"/>
                  </a:lnTo>
                  <a:lnTo>
                    <a:pt x="0" y="33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30" name="Line 98"/>
            <p:cNvSpPr>
              <a:spLocks noChangeShapeType="1"/>
            </p:cNvSpPr>
            <p:nvPr/>
          </p:nvSpPr>
          <p:spPr bwMode="auto">
            <a:xfrm>
              <a:off x="1380" y="1727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8831" name="Group 101"/>
            <p:cNvGrpSpPr>
              <a:grpSpLocks/>
            </p:cNvGrpSpPr>
            <p:nvPr/>
          </p:nvGrpSpPr>
          <p:grpSpPr bwMode="auto">
            <a:xfrm>
              <a:off x="1650" y="1131"/>
              <a:ext cx="528" cy="219"/>
              <a:chOff x="2256" y="2064"/>
              <a:chExt cx="528" cy="219"/>
            </a:xfrm>
          </p:grpSpPr>
          <p:sp>
            <p:nvSpPr>
              <p:cNvPr id="118885" name="AutoShape 102"/>
              <p:cNvSpPr>
                <a:spLocks noChangeArrowheads="1"/>
              </p:cNvSpPr>
              <p:nvPr/>
            </p:nvSpPr>
            <p:spPr bwMode="auto">
              <a:xfrm>
                <a:off x="2256" y="2064"/>
                <a:ext cx="528" cy="219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8886" name="Text Box 103"/>
              <p:cNvSpPr txBox="1">
                <a:spLocks noChangeArrowheads="1"/>
              </p:cNvSpPr>
              <p:nvPr/>
            </p:nvSpPr>
            <p:spPr bwMode="auto">
              <a:xfrm>
                <a:off x="2283" y="2085"/>
                <a:ext cx="47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Ident</a:t>
                </a:r>
                <a:endParaRPr lang="fr-FR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8832" name="Text Box 104"/>
            <p:cNvSpPr txBox="1">
              <a:spLocks noChangeArrowheads="1"/>
            </p:cNvSpPr>
            <p:nvPr/>
          </p:nvSpPr>
          <p:spPr bwMode="auto">
            <a:xfrm>
              <a:off x="2991" y="1122"/>
              <a:ext cx="1008" cy="2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Expression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grpSp>
          <p:nvGrpSpPr>
            <p:cNvPr id="118833" name="Group 105"/>
            <p:cNvGrpSpPr>
              <a:grpSpLocks/>
            </p:cNvGrpSpPr>
            <p:nvPr/>
          </p:nvGrpSpPr>
          <p:grpSpPr bwMode="auto">
            <a:xfrm>
              <a:off x="2454" y="1095"/>
              <a:ext cx="232" cy="240"/>
              <a:chOff x="2016" y="2334"/>
              <a:chExt cx="232" cy="240"/>
            </a:xfrm>
          </p:grpSpPr>
          <p:sp>
            <p:nvSpPr>
              <p:cNvPr id="118883" name="Text Box 106"/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(</a:t>
                </a:r>
              </a:p>
            </p:txBody>
          </p:sp>
          <p:sp>
            <p:nvSpPr>
              <p:cNvPr id="118884" name="Oval 107"/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8834" name="Group 108"/>
            <p:cNvGrpSpPr>
              <a:grpSpLocks/>
            </p:cNvGrpSpPr>
            <p:nvPr/>
          </p:nvGrpSpPr>
          <p:grpSpPr bwMode="auto">
            <a:xfrm>
              <a:off x="4278" y="1092"/>
              <a:ext cx="232" cy="240"/>
              <a:chOff x="2016" y="2334"/>
              <a:chExt cx="232" cy="240"/>
            </a:xfrm>
          </p:grpSpPr>
          <p:sp>
            <p:nvSpPr>
              <p:cNvPr id="118881" name="Text Box 109"/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)</a:t>
                </a:r>
              </a:p>
            </p:txBody>
          </p:sp>
          <p:sp>
            <p:nvSpPr>
              <p:cNvPr id="118882" name="Oval 110"/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8835" name="Group 111"/>
            <p:cNvGrpSpPr>
              <a:grpSpLocks/>
            </p:cNvGrpSpPr>
            <p:nvPr/>
          </p:nvGrpSpPr>
          <p:grpSpPr bwMode="auto">
            <a:xfrm>
              <a:off x="3444" y="1374"/>
              <a:ext cx="232" cy="240"/>
              <a:chOff x="2016" y="2334"/>
              <a:chExt cx="232" cy="240"/>
            </a:xfrm>
          </p:grpSpPr>
          <p:sp>
            <p:nvSpPr>
              <p:cNvPr id="118879" name="Text Box 112"/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solidFill>
                      <a:schemeClr val="tx1"/>
                    </a:solidFill>
                  </a:rPr>
                  <a:t>,</a:t>
                </a:r>
              </a:p>
            </p:txBody>
          </p:sp>
          <p:sp>
            <p:nvSpPr>
              <p:cNvPr id="118880" name="Oval 113"/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8836" name="Freeform 114"/>
            <p:cNvSpPr>
              <a:spLocks/>
            </p:cNvSpPr>
            <p:nvPr/>
          </p:nvSpPr>
          <p:spPr bwMode="auto">
            <a:xfrm>
              <a:off x="3675" y="1218"/>
              <a:ext cx="432" cy="288"/>
            </a:xfrm>
            <a:custGeom>
              <a:avLst/>
              <a:gdLst>
                <a:gd name="T0" fmla="*/ 99 w 624"/>
                <a:gd name="T1" fmla="*/ 0 h 288"/>
                <a:gd name="T2" fmla="*/ 99 w 624"/>
                <a:gd name="T3" fmla="*/ 288 h 288"/>
                <a:gd name="T4" fmla="*/ 0 w 624"/>
                <a:gd name="T5" fmla="*/ 288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4" h="288">
                  <a:moveTo>
                    <a:pt x="624" y="0"/>
                  </a:moveTo>
                  <a:lnTo>
                    <a:pt x="624" y="288"/>
                  </a:lnTo>
                  <a:lnTo>
                    <a:pt x="0" y="28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37" name="Freeform 115"/>
            <p:cNvSpPr>
              <a:spLocks/>
            </p:cNvSpPr>
            <p:nvPr/>
          </p:nvSpPr>
          <p:spPr bwMode="auto">
            <a:xfrm>
              <a:off x="2811" y="1218"/>
              <a:ext cx="624" cy="288"/>
            </a:xfrm>
            <a:custGeom>
              <a:avLst/>
              <a:gdLst>
                <a:gd name="T0" fmla="*/ 272 w 768"/>
                <a:gd name="T1" fmla="*/ 288 h 288"/>
                <a:gd name="T2" fmla="*/ 0 w 768"/>
                <a:gd name="T3" fmla="*/ 288 h 288"/>
                <a:gd name="T4" fmla="*/ 0 w 768"/>
                <a:gd name="T5" fmla="*/ 0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8" h="288">
                  <a:moveTo>
                    <a:pt x="768" y="288"/>
                  </a:moveTo>
                  <a:lnTo>
                    <a:pt x="0" y="288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38" name="Line 117"/>
            <p:cNvSpPr>
              <a:spLocks noChangeShapeType="1"/>
            </p:cNvSpPr>
            <p:nvPr/>
          </p:nvSpPr>
          <p:spPr bwMode="auto">
            <a:xfrm>
              <a:off x="2694" y="1227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39" name="Line 118"/>
            <p:cNvSpPr>
              <a:spLocks noChangeShapeType="1"/>
            </p:cNvSpPr>
            <p:nvPr/>
          </p:nvSpPr>
          <p:spPr bwMode="auto">
            <a:xfrm>
              <a:off x="3999" y="121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40" name="Line 119"/>
            <p:cNvSpPr>
              <a:spLocks noChangeShapeType="1"/>
            </p:cNvSpPr>
            <p:nvPr/>
          </p:nvSpPr>
          <p:spPr bwMode="auto">
            <a:xfrm>
              <a:off x="2178" y="1227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41" name="Freeform 122"/>
            <p:cNvSpPr>
              <a:spLocks/>
            </p:cNvSpPr>
            <p:nvPr/>
          </p:nvSpPr>
          <p:spPr bwMode="auto">
            <a:xfrm>
              <a:off x="2274" y="987"/>
              <a:ext cx="2448" cy="240"/>
            </a:xfrm>
            <a:custGeom>
              <a:avLst/>
              <a:gdLst>
                <a:gd name="T0" fmla="*/ 0 w 2448"/>
                <a:gd name="T1" fmla="*/ 240 h 240"/>
                <a:gd name="T2" fmla="*/ 0 w 2448"/>
                <a:gd name="T3" fmla="*/ 0 h 240"/>
                <a:gd name="T4" fmla="*/ 2448 w 2448"/>
                <a:gd name="T5" fmla="*/ 0 h 240"/>
                <a:gd name="T6" fmla="*/ 2448 w 2448"/>
                <a:gd name="T7" fmla="*/ 240 h 2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48" h="240">
                  <a:moveTo>
                    <a:pt x="0" y="240"/>
                  </a:moveTo>
                  <a:lnTo>
                    <a:pt x="0" y="0"/>
                  </a:lnTo>
                  <a:lnTo>
                    <a:pt x="2448" y="0"/>
                  </a:lnTo>
                  <a:lnTo>
                    <a:pt x="2448" y="24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42" name="Line 123"/>
            <p:cNvSpPr>
              <a:spLocks noChangeShapeType="1"/>
            </p:cNvSpPr>
            <p:nvPr/>
          </p:nvSpPr>
          <p:spPr bwMode="auto">
            <a:xfrm>
              <a:off x="1197" y="123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8843" name="Group 124"/>
            <p:cNvGrpSpPr>
              <a:grpSpLocks/>
            </p:cNvGrpSpPr>
            <p:nvPr/>
          </p:nvGrpSpPr>
          <p:grpSpPr bwMode="auto">
            <a:xfrm>
              <a:off x="3660" y="362"/>
              <a:ext cx="296" cy="240"/>
              <a:chOff x="2248" y="1680"/>
              <a:chExt cx="296" cy="240"/>
            </a:xfrm>
          </p:grpSpPr>
          <p:sp>
            <p:nvSpPr>
              <p:cNvPr id="118877" name="Text Box 125"/>
              <p:cNvSpPr txBox="1">
                <a:spLocks noChangeArrowheads="1"/>
              </p:cNvSpPr>
              <p:nvPr/>
            </p:nvSpPr>
            <p:spPr bwMode="auto">
              <a:xfrm>
                <a:off x="2248" y="1680"/>
                <a:ext cx="27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solidFill>
                      <a:schemeClr val="tx1"/>
                    </a:solidFill>
                  </a:rPr>
                  <a:t>:=</a:t>
                </a:r>
              </a:p>
            </p:txBody>
          </p:sp>
          <p:sp>
            <p:nvSpPr>
              <p:cNvPr id="118878" name="Oval 126"/>
              <p:cNvSpPr>
                <a:spLocks noChangeArrowheads="1"/>
              </p:cNvSpPr>
              <p:nvPr/>
            </p:nvSpPr>
            <p:spPr bwMode="auto">
              <a:xfrm>
                <a:off x="2256" y="1686"/>
                <a:ext cx="288" cy="234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8844" name="Group 127"/>
            <p:cNvGrpSpPr>
              <a:grpSpLocks/>
            </p:cNvGrpSpPr>
            <p:nvPr/>
          </p:nvGrpSpPr>
          <p:grpSpPr bwMode="auto">
            <a:xfrm>
              <a:off x="1308" y="645"/>
              <a:ext cx="232" cy="240"/>
              <a:chOff x="2016" y="2334"/>
              <a:chExt cx="232" cy="240"/>
            </a:xfrm>
          </p:grpSpPr>
          <p:sp>
            <p:nvSpPr>
              <p:cNvPr id="118875" name="Text Box 128"/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[</a:t>
                </a:r>
              </a:p>
            </p:txBody>
          </p:sp>
          <p:sp>
            <p:nvSpPr>
              <p:cNvPr id="118876" name="Oval 129"/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8845" name="Group 130"/>
            <p:cNvGrpSpPr>
              <a:grpSpLocks/>
            </p:cNvGrpSpPr>
            <p:nvPr/>
          </p:nvGrpSpPr>
          <p:grpSpPr bwMode="auto">
            <a:xfrm>
              <a:off x="3134" y="651"/>
              <a:ext cx="232" cy="240"/>
              <a:chOff x="2016" y="2334"/>
              <a:chExt cx="232" cy="240"/>
            </a:xfrm>
          </p:grpSpPr>
          <p:sp>
            <p:nvSpPr>
              <p:cNvPr id="118873" name="Text Box 131"/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]</a:t>
                </a:r>
              </a:p>
            </p:txBody>
          </p:sp>
          <p:sp>
            <p:nvSpPr>
              <p:cNvPr id="118874" name="Oval 132"/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8846" name="Line 136"/>
            <p:cNvSpPr>
              <a:spLocks noChangeShapeType="1"/>
            </p:cNvSpPr>
            <p:nvPr/>
          </p:nvSpPr>
          <p:spPr bwMode="auto">
            <a:xfrm>
              <a:off x="1542" y="777"/>
              <a:ext cx="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47" name="Line 137"/>
            <p:cNvSpPr>
              <a:spLocks noChangeShapeType="1"/>
            </p:cNvSpPr>
            <p:nvPr/>
          </p:nvSpPr>
          <p:spPr bwMode="auto">
            <a:xfrm>
              <a:off x="2846" y="777"/>
              <a:ext cx="2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48" name="Text Box 139"/>
            <p:cNvSpPr txBox="1">
              <a:spLocks noChangeArrowheads="1"/>
            </p:cNvSpPr>
            <p:nvPr/>
          </p:nvSpPr>
          <p:spPr bwMode="auto">
            <a:xfrm>
              <a:off x="4155" y="345"/>
              <a:ext cx="1008" cy="2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Expression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118849" name="Freeform 141"/>
            <p:cNvSpPr>
              <a:spLocks/>
            </p:cNvSpPr>
            <p:nvPr/>
          </p:nvSpPr>
          <p:spPr bwMode="auto">
            <a:xfrm>
              <a:off x="1170" y="485"/>
              <a:ext cx="144" cy="288"/>
            </a:xfrm>
            <a:custGeom>
              <a:avLst/>
              <a:gdLst>
                <a:gd name="T0" fmla="*/ 0 w 144"/>
                <a:gd name="T1" fmla="*/ 0 h 288"/>
                <a:gd name="T2" fmla="*/ 0 w 144"/>
                <a:gd name="T3" fmla="*/ 288 h 288"/>
                <a:gd name="T4" fmla="*/ 144 w 144"/>
                <a:gd name="T5" fmla="*/ 288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" h="288">
                  <a:moveTo>
                    <a:pt x="0" y="0"/>
                  </a:moveTo>
                  <a:lnTo>
                    <a:pt x="0" y="288"/>
                  </a:lnTo>
                  <a:lnTo>
                    <a:pt x="144" y="28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50" name="Freeform 142"/>
            <p:cNvSpPr>
              <a:spLocks/>
            </p:cNvSpPr>
            <p:nvPr/>
          </p:nvSpPr>
          <p:spPr bwMode="auto">
            <a:xfrm>
              <a:off x="3369" y="494"/>
              <a:ext cx="144" cy="288"/>
            </a:xfrm>
            <a:custGeom>
              <a:avLst/>
              <a:gdLst>
                <a:gd name="T0" fmla="*/ 0 w 144"/>
                <a:gd name="T1" fmla="*/ 288 h 288"/>
                <a:gd name="T2" fmla="*/ 144 w 144"/>
                <a:gd name="T3" fmla="*/ 288 h 288"/>
                <a:gd name="T4" fmla="*/ 144 w 144"/>
                <a:gd name="T5" fmla="*/ 0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" h="288">
                  <a:moveTo>
                    <a:pt x="0" y="288"/>
                  </a:moveTo>
                  <a:lnTo>
                    <a:pt x="144" y="288"/>
                  </a:lnTo>
                  <a:lnTo>
                    <a:pt x="14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51" name="Line 144"/>
            <p:cNvSpPr>
              <a:spLocks noChangeShapeType="1"/>
            </p:cNvSpPr>
            <p:nvPr/>
          </p:nvSpPr>
          <p:spPr bwMode="auto">
            <a:xfrm>
              <a:off x="1074" y="485"/>
              <a:ext cx="25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52" name="Line 145"/>
            <p:cNvSpPr>
              <a:spLocks noChangeShapeType="1"/>
            </p:cNvSpPr>
            <p:nvPr/>
          </p:nvSpPr>
          <p:spPr bwMode="auto">
            <a:xfrm>
              <a:off x="3954" y="485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53" name="Freeform 147"/>
            <p:cNvSpPr>
              <a:spLocks/>
            </p:cNvSpPr>
            <p:nvPr/>
          </p:nvSpPr>
          <p:spPr bwMode="auto">
            <a:xfrm>
              <a:off x="354" y="267"/>
              <a:ext cx="5136" cy="3936"/>
            </a:xfrm>
            <a:custGeom>
              <a:avLst/>
              <a:gdLst>
                <a:gd name="T0" fmla="*/ 0 w 5136"/>
                <a:gd name="T1" fmla="*/ 0 h 3936"/>
                <a:gd name="T2" fmla="*/ 0 w 5136"/>
                <a:gd name="T3" fmla="*/ 3936 h 3936"/>
                <a:gd name="T4" fmla="*/ 5136 w 5136"/>
                <a:gd name="T5" fmla="*/ 3936 h 3936"/>
                <a:gd name="T6" fmla="*/ 5136 w 5136"/>
                <a:gd name="T7" fmla="*/ 192 h 39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136" h="3936">
                  <a:moveTo>
                    <a:pt x="0" y="0"/>
                  </a:moveTo>
                  <a:lnTo>
                    <a:pt x="0" y="3936"/>
                  </a:lnTo>
                  <a:lnTo>
                    <a:pt x="5136" y="3936"/>
                  </a:lnTo>
                  <a:lnTo>
                    <a:pt x="5136" y="1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54" name="Line 148"/>
            <p:cNvSpPr>
              <a:spLocks noChangeShapeType="1"/>
            </p:cNvSpPr>
            <p:nvPr/>
          </p:nvSpPr>
          <p:spPr bwMode="auto">
            <a:xfrm>
              <a:off x="5154" y="459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55" name="Line 149"/>
            <p:cNvSpPr>
              <a:spLocks noChangeShapeType="1"/>
            </p:cNvSpPr>
            <p:nvPr/>
          </p:nvSpPr>
          <p:spPr bwMode="auto">
            <a:xfrm>
              <a:off x="354" y="459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56" name="Line 150"/>
            <p:cNvSpPr>
              <a:spLocks noChangeShapeType="1"/>
            </p:cNvSpPr>
            <p:nvPr/>
          </p:nvSpPr>
          <p:spPr bwMode="auto">
            <a:xfrm>
              <a:off x="4530" y="1230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57" name="Line 151"/>
            <p:cNvSpPr>
              <a:spLocks noChangeShapeType="1"/>
            </p:cNvSpPr>
            <p:nvPr/>
          </p:nvSpPr>
          <p:spPr bwMode="auto">
            <a:xfrm>
              <a:off x="354" y="1227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58" name="Line 152"/>
            <p:cNvSpPr>
              <a:spLocks noChangeShapeType="1"/>
            </p:cNvSpPr>
            <p:nvPr/>
          </p:nvSpPr>
          <p:spPr bwMode="auto">
            <a:xfrm>
              <a:off x="354" y="1707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59" name="Line 153"/>
            <p:cNvSpPr>
              <a:spLocks noChangeShapeType="1"/>
            </p:cNvSpPr>
            <p:nvPr/>
          </p:nvSpPr>
          <p:spPr bwMode="auto">
            <a:xfrm>
              <a:off x="5115" y="173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60" name="Line 154"/>
            <p:cNvSpPr>
              <a:spLocks noChangeShapeType="1"/>
            </p:cNvSpPr>
            <p:nvPr/>
          </p:nvSpPr>
          <p:spPr bwMode="auto">
            <a:xfrm>
              <a:off x="354" y="2667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61" name="Line 155"/>
            <p:cNvSpPr>
              <a:spLocks noChangeShapeType="1"/>
            </p:cNvSpPr>
            <p:nvPr/>
          </p:nvSpPr>
          <p:spPr bwMode="auto">
            <a:xfrm>
              <a:off x="354" y="3051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62" name="Line 156"/>
            <p:cNvSpPr>
              <a:spLocks noChangeShapeType="1"/>
            </p:cNvSpPr>
            <p:nvPr/>
          </p:nvSpPr>
          <p:spPr bwMode="auto">
            <a:xfrm>
              <a:off x="354" y="3531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63" name="Line 157"/>
            <p:cNvSpPr>
              <a:spLocks noChangeShapeType="1"/>
            </p:cNvSpPr>
            <p:nvPr/>
          </p:nvSpPr>
          <p:spPr bwMode="auto">
            <a:xfrm>
              <a:off x="5010" y="3960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64" name="Line 158"/>
            <p:cNvSpPr>
              <a:spLocks noChangeShapeType="1"/>
            </p:cNvSpPr>
            <p:nvPr/>
          </p:nvSpPr>
          <p:spPr bwMode="auto">
            <a:xfrm>
              <a:off x="4962" y="3003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65" name="Line 159"/>
            <p:cNvSpPr>
              <a:spLocks noChangeShapeType="1"/>
            </p:cNvSpPr>
            <p:nvPr/>
          </p:nvSpPr>
          <p:spPr bwMode="auto">
            <a:xfrm>
              <a:off x="4722" y="2676"/>
              <a:ext cx="7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66" name="Text Box 160"/>
            <p:cNvSpPr txBox="1">
              <a:spLocks noChangeArrowheads="1"/>
            </p:cNvSpPr>
            <p:nvPr/>
          </p:nvSpPr>
          <p:spPr bwMode="auto">
            <a:xfrm>
              <a:off x="4002" y="2187"/>
              <a:ext cx="1008" cy="2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Statement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118867" name="Line 161"/>
            <p:cNvSpPr>
              <a:spLocks noChangeShapeType="1"/>
            </p:cNvSpPr>
            <p:nvPr/>
          </p:nvSpPr>
          <p:spPr bwMode="auto">
            <a:xfrm>
              <a:off x="5010" y="2310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68" name="Line 162"/>
            <p:cNvSpPr>
              <a:spLocks noChangeShapeType="1"/>
            </p:cNvSpPr>
            <p:nvPr/>
          </p:nvSpPr>
          <p:spPr bwMode="auto">
            <a:xfrm>
              <a:off x="3522" y="2310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8869" name="Group 163"/>
            <p:cNvGrpSpPr>
              <a:grpSpLocks/>
            </p:cNvGrpSpPr>
            <p:nvPr/>
          </p:nvGrpSpPr>
          <p:grpSpPr bwMode="auto">
            <a:xfrm>
              <a:off x="2898" y="2205"/>
              <a:ext cx="587" cy="240"/>
              <a:chOff x="5967" y="3883"/>
              <a:chExt cx="954" cy="525"/>
            </a:xfrm>
          </p:grpSpPr>
          <p:sp>
            <p:nvSpPr>
              <p:cNvPr id="118871" name="AutoShape 164"/>
              <p:cNvSpPr>
                <a:spLocks noChangeArrowheads="1"/>
              </p:cNvSpPr>
              <p:nvPr/>
            </p:nvSpPr>
            <p:spPr bwMode="auto">
              <a:xfrm>
                <a:off x="5967" y="3883"/>
                <a:ext cx="954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18872" name="Text Box 165"/>
              <p:cNvSpPr txBox="1">
                <a:spLocks noChangeArrowheads="1"/>
              </p:cNvSpPr>
              <p:nvPr/>
            </p:nvSpPr>
            <p:spPr bwMode="auto">
              <a:xfrm>
                <a:off x="6021" y="3964"/>
                <a:ext cx="900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ELSE</a:t>
                </a:r>
              </a:p>
            </p:txBody>
          </p:sp>
        </p:grpSp>
        <p:sp>
          <p:nvSpPr>
            <p:cNvPr id="118870" name="Freeform 166"/>
            <p:cNvSpPr>
              <a:spLocks/>
            </p:cNvSpPr>
            <p:nvPr/>
          </p:nvSpPr>
          <p:spPr bwMode="auto">
            <a:xfrm>
              <a:off x="2370" y="2283"/>
              <a:ext cx="2544" cy="384"/>
            </a:xfrm>
            <a:custGeom>
              <a:avLst/>
              <a:gdLst>
                <a:gd name="T0" fmla="*/ 2544 w 2544"/>
                <a:gd name="T1" fmla="*/ 656 h 336"/>
                <a:gd name="T2" fmla="*/ 2544 w 2544"/>
                <a:gd name="T3" fmla="*/ 374 h 336"/>
                <a:gd name="T4" fmla="*/ 0 w 2544"/>
                <a:gd name="T5" fmla="*/ 374 h 336"/>
                <a:gd name="T6" fmla="*/ 0 w 2544"/>
                <a:gd name="T7" fmla="*/ 0 h 336"/>
                <a:gd name="T8" fmla="*/ 528 w 2544"/>
                <a:gd name="T9" fmla="*/ 0 h 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44" h="336">
                  <a:moveTo>
                    <a:pt x="2544" y="336"/>
                  </a:moveTo>
                  <a:lnTo>
                    <a:pt x="2544" y="192"/>
                  </a:lnTo>
                  <a:lnTo>
                    <a:pt x="0" y="192"/>
                  </a:lnTo>
                  <a:lnTo>
                    <a:pt x="0" y="0"/>
                  </a:lnTo>
                  <a:lnTo>
                    <a:pt x="52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0D35A4-E22E-43D5-AAF8-9E6114BB0089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119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grpSp>
        <p:nvGrpSpPr>
          <p:cNvPr id="119811" name="Group 72"/>
          <p:cNvGrpSpPr>
            <a:grpSpLocks/>
          </p:cNvGrpSpPr>
          <p:nvPr/>
        </p:nvGrpSpPr>
        <p:grpSpPr bwMode="auto">
          <a:xfrm>
            <a:off x="304800" y="304800"/>
            <a:ext cx="8448675" cy="3067050"/>
            <a:chOff x="192" y="192"/>
            <a:chExt cx="5322" cy="1932"/>
          </a:xfrm>
        </p:grpSpPr>
        <p:sp>
          <p:nvSpPr>
            <p:cNvPr id="119838" name="Text Box 26"/>
            <p:cNvSpPr txBox="1">
              <a:spLocks noChangeArrowheads="1"/>
            </p:cNvSpPr>
            <p:nvPr/>
          </p:nvSpPr>
          <p:spPr bwMode="auto">
            <a:xfrm>
              <a:off x="2011" y="777"/>
              <a:ext cx="757" cy="24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Term</a:t>
              </a:r>
              <a:endParaRPr lang="fr-FR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19839" name="Line 27"/>
            <p:cNvSpPr>
              <a:spLocks noChangeShapeType="1"/>
            </p:cNvSpPr>
            <p:nvPr/>
          </p:nvSpPr>
          <p:spPr bwMode="auto">
            <a:xfrm>
              <a:off x="2770" y="891"/>
              <a:ext cx="274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0" name="Text Box 28"/>
            <p:cNvSpPr txBox="1">
              <a:spLocks noChangeArrowheads="1"/>
            </p:cNvSpPr>
            <p:nvPr/>
          </p:nvSpPr>
          <p:spPr bwMode="auto">
            <a:xfrm>
              <a:off x="192" y="192"/>
              <a:ext cx="105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  <a:latin typeface="VNtimes new roman" charset="0"/>
                </a:rPr>
                <a:t>Expression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119841" name="Text Box 29"/>
            <p:cNvSpPr txBox="1">
              <a:spLocks noChangeArrowheads="1"/>
            </p:cNvSpPr>
            <p:nvPr/>
          </p:nvSpPr>
          <p:spPr bwMode="auto">
            <a:xfrm>
              <a:off x="3060" y="1497"/>
              <a:ext cx="758" cy="24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Term</a:t>
              </a:r>
              <a:endParaRPr lang="fr-FR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19842" name="Line 34"/>
            <p:cNvSpPr>
              <a:spLocks noChangeShapeType="1"/>
            </p:cNvSpPr>
            <p:nvPr/>
          </p:nvSpPr>
          <p:spPr bwMode="auto">
            <a:xfrm flipH="1">
              <a:off x="4630" y="1974"/>
              <a:ext cx="27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3" name="Line 38"/>
            <p:cNvSpPr>
              <a:spLocks noChangeShapeType="1"/>
            </p:cNvSpPr>
            <p:nvPr/>
          </p:nvSpPr>
          <p:spPr bwMode="auto">
            <a:xfrm flipH="1">
              <a:off x="4630" y="1342"/>
              <a:ext cx="27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4" name="Line 39"/>
            <p:cNvSpPr>
              <a:spLocks noChangeShapeType="1"/>
            </p:cNvSpPr>
            <p:nvPr/>
          </p:nvSpPr>
          <p:spPr bwMode="auto">
            <a:xfrm>
              <a:off x="4901" y="1342"/>
              <a:ext cx="0" cy="6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5" name="Freeform 40"/>
            <p:cNvSpPr>
              <a:spLocks/>
            </p:cNvSpPr>
            <p:nvPr/>
          </p:nvSpPr>
          <p:spPr bwMode="auto">
            <a:xfrm>
              <a:off x="4901" y="891"/>
              <a:ext cx="270" cy="722"/>
            </a:xfrm>
            <a:custGeom>
              <a:avLst/>
              <a:gdLst>
                <a:gd name="T0" fmla="*/ 17 w 540"/>
                <a:gd name="T1" fmla="*/ 0 h 1440"/>
                <a:gd name="T2" fmla="*/ 17 w 540"/>
                <a:gd name="T3" fmla="*/ 46 h 1440"/>
                <a:gd name="T4" fmla="*/ 0 w 540"/>
                <a:gd name="T5" fmla="*/ 46 h 14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0" h="1440">
                  <a:moveTo>
                    <a:pt x="540" y="0"/>
                  </a:moveTo>
                  <a:lnTo>
                    <a:pt x="540" y="1440"/>
                  </a:lnTo>
                  <a:lnTo>
                    <a:pt x="0" y="144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6" name="Line 41"/>
            <p:cNvSpPr>
              <a:spLocks noChangeShapeType="1"/>
            </p:cNvSpPr>
            <p:nvPr/>
          </p:nvSpPr>
          <p:spPr bwMode="auto">
            <a:xfrm flipH="1">
              <a:off x="4088" y="1342"/>
              <a:ext cx="27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7" name="Line 42"/>
            <p:cNvSpPr>
              <a:spLocks noChangeShapeType="1"/>
            </p:cNvSpPr>
            <p:nvPr/>
          </p:nvSpPr>
          <p:spPr bwMode="auto">
            <a:xfrm flipH="1">
              <a:off x="4088" y="1974"/>
              <a:ext cx="27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8" name="Line 43"/>
            <p:cNvSpPr>
              <a:spLocks noChangeShapeType="1"/>
            </p:cNvSpPr>
            <p:nvPr/>
          </p:nvSpPr>
          <p:spPr bwMode="auto">
            <a:xfrm>
              <a:off x="4088" y="1342"/>
              <a:ext cx="1" cy="6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9" name="Line 44"/>
            <p:cNvSpPr>
              <a:spLocks noChangeShapeType="1"/>
            </p:cNvSpPr>
            <p:nvPr/>
          </p:nvSpPr>
          <p:spPr bwMode="auto">
            <a:xfrm flipH="1">
              <a:off x="3818" y="1613"/>
              <a:ext cx="27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50" name="Freeform 45"/>
            <p:cNvSpPr>
              <a:spLocks/>
            </p:cNvSpPr>
            <p:nvPr/>
          </p:nvSpPr>
          <p:spPr bwMode="auto">
            <a:xfrm>
              <a:off x="2870" y="891"/>
              <a:ext cx="181" cy="722"/>
            </a:xfrm>
            <a:custGeom>
              <a:avLst/>
              <a:gdLst>
                <a:gd name="T0" fmla="*/ 12 w 360"/>
                <a:gd name="T1" fmla="*/ 46 h 1440"/>
                <a:gd name="T2" fmla="*/ 0 w 360"/>
                <a:gd name="T3" fmla="*/ 46 h 1440"/>
                <a:gd name="T4" fmla="*/ 0 w 360"/>
                <a:gd name="T5" fmla="*/ 0 h 14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0" h="1440">
                  <a:moveTo>
                    <a:pt x="360" y="1440"/>
                  </a:moveTo>
                  <a:lnTo>
                    <a:pt x="0" y="144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9851" name="Group 46"/>
            <p:cNvGrpSpPr>
              <a:grpSpLocks/>
            </p:cNvGrpSpPr>
            <p:nvPr/>
          </p:nvGrpSpPr>
          <p:grpSpPr bwMode="auto">
            <a:xfrm>
              <a:off x="1152" y="468"/>
              <a:ext cx="298" cy="307"/>
              <a:chOff x="7920" y="4863"/>
              <a:chExt cx="596" cy="614"/>
            </a:xfrm>
          </p:grpSpPr>
          <p:sp>
            <p:nvSpPr>
              <p:cNvPr id="119868" name="Text Box 47"/>
              <p:cNvSpPr txBox="1">
                <a:spLocks noChangeArrowheads="1"/>
              </p:cNvSpPr>
              <p:nvPr/>
            </p:nvSpPr>
            <p:spPr bwMode="auto">
              <a:xfrm>
                <a:off x="7924" y="4920"/>
                <a:ext cx="592" cy="5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75895" tIns="37948" rIns="75895" bIns="37948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rgbClr val="000000"/>
                    </a:solidFill>
                  </a:rPr>
                  <a:t>+</a:t>
                </a:r>
                <a:endParaRPr lang="fr-FR" altLang="en-US" sz="2000" b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9869" name="Oval 48"/>
              <p:cNvSpPr>
                <a:spLocks noChangeArrowheads="1"/>
              </p:cNvSpPr>
              <p:nvPr/>
            </p:nvSpPr>
            <p:spPr bwMode="auto">
              <a:xfrm>
                <a:off x="7920" y="4863"/>
                <a:ext cx="593" cy="55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9852" name="Group 50"/>
            <p:cNvGrpSpPr>
              <a:grpSpLocks/>
            </p:cNvGrpSpPr>
            <p:nvPr/>
          </p:nvGrpSpPr>
          <p:grpSpPr bwMode="auto">
            <a:xfrm>
              <a:off x="1152" y="1092"/>
              <a:ext cx="299" cy="300"/>
              <a:chOff x="7920" y="6231"/>
              <a:chExt cx="596" cy="600"/>
            </a:xfrm>
          </p:grpSpPr>
          <p:sp>
            <p:nvSpPr>
              <p:cNvPr id="119866" name="Text Box 51"/>
              <p:cNvSpPr txBox="1">
                <a:spLocks noChangeArrowheads="1"/>
              </p:cNvSpPr>
              <p:nvPr/>
            </p:nvSpPr>
            <p:spPr bwMode="auto">
              <a:xfrm>
                <a:off x="7924" y="6274"/>
                <a:ext cx="592" cy="5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75895" tIns="37948" rIns="75895" bIns="37948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-</a:t>
                </a:r>
              </a:p>
            </p:txBody>
          </p:sp>
          <p:sp>
            <p:nvSpPr>
              <p:cNvPr id="119867" name="Oval 52"/>
              <p:cNvSpPr>
                <a:spLocks noChangeArrowheads="1"/>
              </p:cNvSpPr>
              <p:nvPr/>
            </p:nvSpPr>
            <p:spPr bwMode="auto">
              <a:xfrm>
                <a:off x="7920" y="6231"/>
                <a:ext cx="592" cy="557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9853" name="Line 58"/>
            <p:cNvSpPr>
              <a:spLocks noChangeShapeType="1"/>
            </p:cNvSpPr>
            <p:nvPr/>
          </p:nvSpPr>
          <p:spPr bwMode="auto">
            <a:xfrm>
              <a:off x="1440" y="61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54" name="Line 60"/>
            <p:cNvSpPr>
              <a:spLocks noChangeShapeType="1"/>
            </p:cNvSpPr>
            <p:nvPr/>
          </p:nvSpPr>
          <p:spPr bwMode="auto">
            <a:xfrm>
              <a:off x="1680" y="612"/>
              <a:ext cx="0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55" name="Line 61"/>
            <p:cNvSpPr>
              <a:spLocks noChangeShapeType="1"/>
            </p:cNvSpPr>
            <p:nvPr/>
          </p:nvSpPr>
          <p:spPr bwMode="auto">
            <a:xfrm flipH="1">
              <a:off x="912" y="123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56" name="Line 62"/>
            <p:cNvSpPr>
              <a:spLocks noChangeShapeType="1"/>
            </p:cNvSpPr>
            <p:nvPr/>
          </p:nvSpPr>
          <p:spPr bwMode="auto">
            <a:xfrm flipV="1">
              <a:off x="912" y="612"/>
              <a:ext cx="0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57" name="Line 63"/>
            <p:cNvSpPr>
              <a:spLocks noChangeShapeType="1"/>
            </p:cNvSpPr>
            <p:nvPr/>
          </p:nvSpPr>
          <p:spPr bwMode="auto">
            <a:xfrm>
              <a:off x="912" y="61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58" name="Line 64"/>
            <p:cNvSpPr>
              <a:spLocks noChangeShapeType="1"/>
            </p:cNvSpPr>
            <p:nvPr/>
          </p:nvSpPr>
          <p:spPr bwMode="auto">
            <a:xfrm>
              <a:off x="1440" y="123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59" name="Line 65"/>
            <p:cNvSpPr>
              <a:spLocks noChangeShapeType="1"/>
            </p:cNvSpPr>
            <p:nvPr/>
          </p:nvSpPr>
          <p:spPr bwMode="auto">
            <a:xfrm>
              <a:off x="480" y="900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9860" name="Group 66"/>
            <p:cNvGrpSpPr>
              <a:grpSpLocks/>
            </p:cNvGrpSpPr>
            <p:nvPr/>
          </p:nvGrpSpPr>
          <p:grpSpPr bwMode="auto">
            <a:xfrm>
              <a:off x="4368" y="1200"/>
              <a:ext cx="298" cy="307"/>
              <a:chOff x="7920" y="4863"/>
              <a:chExt cx="596" cy="614"/>
            </a:xfrm>
          </p:grpSpPr>
          <p:sp>
            <p:nvSpPr>
              <p:cNvPr id="119864" name="Text Box 67"/>
              <p:cNvSpPr txBox="1">
                <a:spLocks noChangeArrowheads="1"/>
              </p:cNvSpPr>
              <p:nvPr/>
            </p:nvSpPr>
            <p:spPr bwMode="auto">
              <a:xfrm>
                <a:off x="7924" y="4920"/>
                <a:ext cx="592" cy="5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75895" tIns="37948" rIns="75895" bIns="37948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rgbClr val="000000"/>
                    </a:solidFill>
                  </a:rPr>
                  <a:t>+</a:t>
                </a:r>
                <a:endParaRPr lang="fr-FR" altLang="en-US" sz="2000" b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9865" name="Oval 68"/>
              <p:cNvSpPr>
                <a:spLocks noChangeArrowheads="1"/>
              </p:cNvSpPr>
              <p:nvPr/>
            </p:nvSpPr>
            <p:spPr bwMode="auto">
              <a:xfrm>
                <a:off x="7920" y="4863"/>
                <a:ext cx="593" cy="55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9861" name="Group 69"/>
            <p:cNvGrpSpPr>
              <a:grpSpLocks/>
            </p:cNvGrpSpPr>
            <p:nvPr/>
          </p:nvGrpSpPr>
          <p:grpSpPr bwMode="auto">
            <a:xfrm>
              <a:off x="4368" y="1824"/>
              <a:ext cx="299" cy="300"/>
              <a:chOff x="7920" y="6231"/>
              <a:chExt cx="596" cy="600"/>
            </a:xfrm>
          </p:grpSpPr>
          <p:sp>
            <p:nvSpPr>
              <p:cNvPr id="119862" name="Text Box 70"/>
              <p:cNvSpPr txBox="1">
                <a:spLocks noChangeArrowheads="1"/>
              </p:cNvSpPr>
              <p:nvPr/>
            </p:nvSpPr>
            <p:spPr bwMode="auto">
              <a:xfrm>
                <a:off x="7924" y="6274"/>
                <a:ext cx="592" cy="5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75895" tIns="37948" rIns="75895" bIns="37948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-</a:t>
                </a:r>
              </a:p>
            </p:txBody>
          </p:sp>
          <p:sp>
            <p:nvSpPr>
              <p:cNvPr id="119863" name="Oval 71"/>
              <p:cNvSpPr>
                <a:spLocks noChangeArrowheads="1"/>
              </p:cNvSpPr>
              <p:nvPr/>
            </p:nvSpPr>
            <p:spPr bwMode="auto">
              <a:xfrm>
                <a:off x="7920" y="6231"/>
                <a:ext cx="592" cy="557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19812" name="Group 78"/>
          <p:cNvGrpSpPr>
            <a:grpSpLocks/>
          </p:cNvGrpSpPr>
          <p:nvPr/>
        </p:nvGrpSpPr>
        <p:grpSpPr bwMode="auto">
          <a:xfrm>
            <a:off x="1066800" y="3544888"/>
            <a:ext cx="6453188" cy="2417762"/>
            <a:chOff x="672" y="2233"/>
            <a:chExt cx="4065" cy="1523"/>
          </a:xfrm>
        </p:grpSpPr>
        <p:sp>
          <p:nvSpPr>
            <p:cNvPr id="119813" name="Text Box 5"/>
            <p:cNvSpPr txBox="1">
              <a:spLocks noChangeArrowheads="1"/>
            </p:cNvSpPr>
            <p:nvPr/>
          </p:nvSpPr>
          <p:spPr bwMode="auto">
            <a:xfrm>
              <a:off x="1234" y="2438"/>
              <a:ext cx="757" cy="24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Factor</a:t>
              </a:r>
              <a:endParaRPr lang="fr-FR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19814" name="Line 6"/>
            <p:cNvSpPr>
              <a:spLocks noChangeShapeType="1"/>
            </p:cNvSpPr>
            <p:nvPr/>
          </p:nvSpPr>
          <p:spPr bwMode="auto">
            <a:xfrm>
              <a:off x="1993" y="2552"/>
              <a:ext cx="274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15" name="Text Box 7"/>
            <p:cNvSpPr txBox="1">
              <a:spLocks noChangeArrowheads="1"/>
            </p:cNvSpPr>
            <p:nvPr/>
          </p:nvSpPr>
          <p:spPr bwMode="auto">
            <a:xfrm>
              <a:off x="672" y="2233"/>
              <a:ext cx="63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  <a:latin typeface="VNtimes new roman" charset="0"/>
                </a:rPr>
                <a:t>Term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119816" name="Text Box 8"/>
            <p:cNvSpPr txBox="1">
              <a:spLocks noChangeArrowheads="1"/>
            </p:cNvSpPr>
            <p:nvPr/>
          </p:nvSpPr>
          <p:spPr bwMode="auto">
            <a:xfrm>
              <a:off x="2283" y="3158"/>
              <a:ext cx="758" cy="24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fr-FR" altLang="en-US" sz="2400" b="0">
                  <a:solidFill>
                    <a:schemeClr val="tx1"/>
                  </a:solidFill>
                </a:rPr>
                <a:t>Factor</a:t>
              </a:r>
              <a:endParaRPr lang="fr-FR" altLang="en-US" sz="2400">
                <a:solidFill>
                  <a:schemeClr val="tx1"/>
                </a:solidFill>
              </a:endParaRPr>
            </a:p>
          </p:txBody>
        </p:sp>
        <p:grpSp>
          <p:nvGrpSpPr>
            <p:cNvPr id="119817" name="Group 9"/>
            <p:cNvGrpSpPr>
              <a:grpSpLocks/>
            </p:cNvGrpSpPr>
            <p:nvPr/>
          </p:nvGrpSpPr>
          <p:grpSpPr bwMode="auto">
            <a:xfrm>
              <a:off x="3575" y="2832"/>
              <a:ext cx="298" cy="307"/>
              <a:chOff x="7920" y="4863"/>
              <a:chExt cx="596" cy="614"/>
            </a:xfrm>
          </p:grpSpPr>
          <p:sp>
            <p:nvSpPr>
              <p:cNvPr id="119836" name="Text Box 10"/>
              <p:cNvSpPr txBox="1">
                <a:spLocks noChangeArrowheads="1"/>
              </p:cNvSpPr>
              <p:nvPr/>
            </p:nvSpPr>
            <p:spPr bwMode="auto">
              <a:xfrm>
                <a:off x="7924" y="4920"/>
                <a:ext cx="592" cy="5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75895" tIns="37948" rIns="75895" bIns="37948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400">
                    <a:solidFill>
                      <a:srgbClr val="000000"/>
                    </a:solidFill>
                  </a:rPr>
                  <a:t>*</a:t>
                </a:r>
                <a:endParaRPr lang="fr-FR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119837" name="Oval 11"/>
              <p:cNvSpPr>
                <a:spLocks noChangeArrowheads="1"/>
              </p:cNvSpPr>
              <p:nvPr/>
            </p:nvSpPr>
            <p:spPr bwMode="auto">
              <a:xfrm>
                <a:off x="7920" y="4863"/>
                <a:ext cx="593" cy="55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9818" name="Line 12"/>
            <p:cNvSpPr>
              <a:spLocks noChangeShapeType="1"/>
            </p:cNvSpPr>
            <p:nvPr/>
          </p:nvSpPr>
          <p:spPr bwMode="auto">
            <a:xfrm>
              <a:off x="785" y="2552"/>
              <a:ext cx="45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19" name="Line 13"/>
            <p:cNvSpPr>
              <a:spLocks noChangeShapeType="1"/>
            </p:cNvSpPr>
            <p:nvPr/>
          </p:nvSpPr>
          <p:spPr bwMode="auto">
            <a:xfrm flipH="1">
              <a:off x="3853" y="3600"/>
              <a:ext cx="27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9820" name="Group 14"/>
            <p:cNvGrpSpPr>
              <a:grpSpLocks/>
            </p:cNvGrpSpPr>
            <p:nvPr/>
          </p:nvGrpSpPr>
          <p:grpSpPr bwMode="auto">
            <a:xfrm>
              <a:off x="3582" y="3456"/>
              <a:ext cx="299" cy="300"/>
              <a:chOff x="7920" y="6231"/>
              <a:chExt cx="596" cy="600"/>
            </a:xfrm>
          </p:grpSpPr>
          <p:sp>
            <p:nvSpPr>
              <p:cNvPr id="119834" name="Text Box 15"/>
              <p:cNvSpPr txBox="1">
                <a:spLocks noChangeArrowheads="1"/>
              </p:cNvSpPr>
              <p:nvPr/>
            </p:nvSpPr>
            <p:spPr bwMode="auto">
              <a:xfrm>
                <a:off x="7924" y="6274"/>
                <a:ext cx="592" cy="5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75895" tIns="37948" rIns="75895" bIns="37948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400">
                    <a:solidFill>
                      <a:srgbClr val="000000"/>
                    </a:solidFill>
                  </a:rPr>
                  <a:t>/</a:t>
                </a:r>
                <a:endParaRPr lang="fr-FR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119835" name="Oval 16"/>
              <p:cNvSpPr>
                <a:spLocks noChangeArrowheads="1"/>
              </p:cNvSpPr>
              <p:nvPr/>
            </p:nvSpPr>
            <p:spPr bwMode="auto">
              <a:xfrm>
                <a:off x="7920" y="6231"/>
                <a:ext cx="592" cy="557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9821" name="Line 17"/>
            <p:cNvSpPr>
              <a:spLocks noChangeShapeType="1"/>
            </p:cNvSpPr>
            <p:nvPr/>
          </p:nvSpPr>
          <p:spPr bwMode="auto">
            <a:xfrm flipH="1">
              <a:off x="3853" y="2975"/>
              <a:ext cx="27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22" name="Line 18"/>
            <p:cNvSpPr>
              <a:spLocks noChangeShapeType="1"/>
            </p:cNvSpPr>
            <p:nvPr/>
          </p:nvSpPr>
          <p:spPr bwMode="auto">
            <a:xfrm>
              <a:off x="4124" y="2976"/>
              <a:ext cx="0" cy="6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23" name="Freeform 19"/>
            <p:cNvSpPr>
              <a:spLocks/>
            </p:cNvSpPr>
            <p:nvPr/>
          </p:nvSpPr>
          <p:spPr bwMode="auto">
            <a:xfrm>
              <a:off x="4124" y="2552"/>
              <a:ext cx="270" cy="722"/>
            </a:xfrm>
            <a:custGeom>
              <a:avLst/>
              <a:gdLst>
                <a:gd name="T0" fmla="*/ 17 w 540"/>
                <a:gd name="T1" fmla="*/ 0 h 1440"/>
                <a:gd name="T2" fmla="*/ 17 w 540"/>
                <a:gd name="T3" fmla="*/ 46 h 1440"/>
                <a:gd name="T4" fmla="*/ 0 w 540"/>
                <a:gd name="T5" fmla="*/ 46 h 14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0" h="1440">
                  <a:moveTo>
                    <a:pt x="540" y="0"/>
                  </a:moveTo>
                  <a:lnTo>
                    <a:pt x="540" y="1440"/>
                  </a:lnTo>
                  <a:lnTo>
                    <a:pt x="0" y="144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24" name="Line 20"/>
            <p:cNvSpPr>
              <a:spLocks noChangeShapeType="1"/>
            </p:cNvSpPr>
            <p:nvPr/>
          </p:nvSpPr>
          <p:spPr bwMode="auto">
            <a:xfrm flipH="1">
              <a:off x="3311" y="2975"/>
              <a:ext cx="27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25" name="Line 21"/>
            <p:cNvSpPr>
              <a:spLocks noChangeShapeType="1"/>
            </p:cNvSpPr>
            <p:nvPr/>
          </p:nvSpPr>
          <p:spPr bwMode="auto">
            <a:xfrm flipH="1">
              <a:off x="3311" y="3600"/>
              <a:ext cx="27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26" name="Line 22"/>
            <p:cNvSpPr>
              <a:spLocks noChangeShapeType="1"/>
            </p:cNvSpPr>
            <p:nvPr/>
          </p:nvSpPr>
          <p:spPr bwMode="auto">
            <a:xfrm>
              <a:off x="3311" y="2976"/>
              <a:ext cx="1" cy="6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27" name="Line 23"/>
            <p:cNvSpPr>
              <a:spLocks noChangeShapeType="1"/>
            </p:cNvSpPr>
            <p:nvPr/>
          </p:nvSpPr>
          <p:spPr bwMode="auto">
            <a:xfrm flipH="1">
              <a:off x="3041" y="3274"/>
              <a:ext cx="27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28" name="Freeform 24"/>
            <p:cNvSpPr>
              <a:spLocks/>
            </p:cNvSpPr>
            <p:nvPr/>
          </p:nvSpPr>
          <p:spPr bwMode="auto">
            <a:xfrm>
              <a:off x="2093" y="2552"/>
              <a:ext cx="181" cy="722"/>
            </a:xfrm>
            <a:custGeom>
              <a:avLst/>
              <a:gdLst>
                <a:gd name="T0" fmla="*/ 12 w 360"/>
                <a:gd name="T1" fmla="*/ 46 h 1440"/>
                <a:gd name="T2" fmla="*/ 0 w 360"/>
                <a:gd name="T3" fmla="*/ 46 h 1440"/>
                <a:gd name="T4" fmla="*/ 0 w 360"/>
                <a:gd name="T5" fmla="*/ 0 h 14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0" h="1440">
                  <a:moveTo>
                    <a:pt x="360" y="1440"/>
                  </a:moveTo>
                  <a:lnTo>
                    <a:pt x="0" y="1440"/>
                  </a:ln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29" name="Line 73"/>
            <p:cNvSpPr>
              <a:spLocks noChangeShapeType="1"/>
            </p:cNvSpPr>
            <p:nvPr/>
          </p:nvSpPr>
          <p:spPr bwMode="auto">
            <a:xfrm flipH="1">
              <a:off x="3871" y="3281"/>
              <a:ext cx="27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9830" name="Group 74"/>
            <p:cNvGrpSpPr>
              <a:grpSpLocks/>
            </p:cNvGrpSpPr>
            <p:nvPr/>
          </p:nvGrpSpPr>
          <p:grpSpPr bwMode="auto">
            <a:xfrm>
              <a:off x="3600" y="3138"/>
              <a:ext cx="299" cy="300"/>
              <a:chOff x="7920" y="6231"/>
              <a:chExt cx="596" cy="600"/>
            </a:xfrm>
          </p:grpSpPr>
          <p:sp>
            <p:nvSpPr>
              <p:cNvPr id="119832" name="Text Box 75"/>
              <p:cNvSpPr txBox="1">
                <a:spLocks noChangeArrowheads="1"/>
              </p:cNvSpPr>
              <p:nvPr/>
            </p:nvSpPr>
            <p:spPr bwMode="auto">
              <a:xfrm>
                <a:off x="7924" y="6274"/>
                <a:ext cx="592" cy="5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75895" tIns="37948" rIns="75895" bIns="37948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400">
                    <a:solidFill>
                      <a:srgbClr val="000000"/>
                    </a:solidFill>
                  </a:rPr>
                  <a:t>%</a:t>
                </a:r>
                <a:endParaRPr lang="fr-FR" altLang="en-US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119833" name="Oval 76"/>
              <p:cNvSpPr>
                <a:spLocks noChangeArrowheads="1"/>
              </p:cNvSpPr>
              <p:nvPr/>
            </p:nvSpPr>
            <p:spPr bwMode="auto">
              <a:xfrm>
                <a:off x="7920" y="6231"/>
                <a:ext cx="592" cy="557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9831" name="Line 77"/>
            <p:cNvSpPr>
              <a:spLocks noChangeShapeType="1"/>
            </p:cNvSpPr>
            <p:nvPr/>
          </p:nvSpPr>
          <p:spPr bwMode="auto">
            <a:xfrm flipH="1">
              <a:off x="3329" y="3281"/>
              <a:ext cx="27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D01052-D01A-4A36-8273-0BC103105D03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120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grpSp>
        <p:nvGrpSpPr>
          <p:cNvPr id="120835" name="Group 105"/>
          <p:cNvGrpSpPr>
            <a:grpSpLocks/>
          </p:cNvGrpSpPr>
          <p:nvPr/>
        </p:nvGrpSpPr>
        <p:grpSpPr bwMode="auto">
          <a:xfrm>
            <a:off x="533400" y="2590800"/>
            <a:ext cx="8229600" cy="3962400"/>
            <a:chOff x="240" y="1728"/>
            <a:chExt cx="5184" cy="2496"/>
          </a:xfrm>
        </p:grpSpPr>
        <p:sp>
          <p:nvSpPr>
            <p:cNvPr id="120870" name="Text Box 53"/>
            <p:cNvSpPr txBox="1">
              <a:spLocks noChangeArrowheads="1"/>
            </p:cNvSpPr>
            <p:nvPr/>
          </p:nvSpPr>
          <p:spPr bwMode="auto">
            <a:xfrm>
              <a:off x="240" y="1728"/>
              <a:ext cx="9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  <a:latin typeface="VNtimes new roman" charset="0"/>
                </a:rPr>
                <a:t>Condition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grpSp>
          <p:nvGrpSpPr>
            <p:cNvPr id="120871" name="Group 76"/>
            <p:cNvGrpSpPr>
              <a:grpSpLocks/>
            </p:cNvGrpSpPr>
            <p:nvPr/>
          </p:nvGrpSpPr>
          <p:grpSpPr bwMode="auto">
            <a:xfrm>
              <a:off x="2760" y="3333"/>
              <a:ext cx="232" cy="216"/>
              <a:chOff x="2688" y="3144"/>
              <a:chExt cx="232" cy="216"/>
            </a:xfrm>
          </p:grpSpPr>
          <p:sp>
            <p:nvSpPr>
              <p:cNvPr id="120912" name="Text Box 58"/>
              <p:cNvSpPr txBox="1">
                <a:spLocks noChangeArrowheads="1"/>
              </p:cNvSpPr>
              <p:nvPr/>
            </p:nvSpPr>
            <p:spPr bwMode="auto">
              <a:xfrm>
                <a:off x="2698" y="3147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solidFill>
                      <a:schemeClr val="tx1"/>
                    </a:solidFill>
                  </a:rPr>
                  <a:t>&lt;</a:t>
                </a:r>
              </a:p>
            </p:txBody>
          </p:sp>
          <p:sp>
            <p:nvSpPr>
              <p:cNvPr id="120913" name="Oval 59"/>
              <p:cNvSpPr>
                <a:spLocks noChangeArrowheads="1"/>
              </p:cNvSpPr>
              <p:nvPr/>
            </p:nvSpPr>
            <p:spPr bwMode="auto">
              <a:xfrm>
                <a:off x="2688" y="3144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0872" name="Group 77"/>
            <p:cNvGrpSpPr>
              <a:grpSpLocks/>
            </p:cNvGrpSpPr>
            <p:nvPr/>
          </p:nvGrpSpPr>
          <p:grpSpPr bwMode="auto">
            <a:xfrm>
              <a:off x="2760" y="2391"/>
              <a:ext cx="232" cy="216"/>
              <a:chOff x="2688" y="2712"/>
              <a:chExt cx="232" cy="216"/>
            </a:xfrm>
          </p:grpSpPr>
          <p:sp>
            <p:nvSpPr>
              <p:cNvPr id="120910" name="Text Box 61"/>
              <p:cNvSpPr txBox="1">
                <a:spLocks noChangeArrowheads="1"/>
              </p:cNvSpPr>
              <p:nvPr/>
            </p:nvSpPr>
            <p:spPr bwMode="auto">
              <a:xfrm>
                <a:off x="2707" y="2715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solidFill>
                      <a:schemeClr val="tx1"/>
                    </a:solidFill>
                  </a:rPr>
                  <a:t>=</a:t>
                </a:r>
              </a:p>
            </p:txBody>
          </p:sp>
          <p:sp>
            <p:nvSpPr>
              <p:cNvPr id="120911" name="Oval 62"/>
              <p:cNvSpPr>
                <a:spLocks noChangeArrowheads="1"/>
              </p:cNvSpPr>
              <p:nvPr/>
            </p:nvSpPr>
            <p:spPr bwMode="auto">
              <a:xfrm>
                <a:off x="2688" y="2712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0873" name="Group 78"/>
            <p:cNvGrpSpPr>
              <a:grpSpLocks/>
            </p:cNvGrpSpPr>
            <p:nvPr/>
          </p:nvGrpSpPr>
          <p:grpSpPr bwMode="auto">
            <a:xfrm>
              <a:off x="2760" y="2727"/>
              <a:ext cx="232" cy="216"/>
              <a:chOff x="2640" y="2328"/>
              <a:chExt cx="232" cy="216"/>
            </a:xfrm>
          </p:grpSpPr>
          <p:sp>
            <p:nvSpPr>
              <p:cNvPr id="120908" name="Text Box 64"/>
              <p:cNvSpPr txBox="1">
                <a:spLocks noChangeArrowheads="1"/>
              </p:cNvSpPr>
              <p:nvPr/>
            </p:nvSpPr>
            <p:spPr bwMode="auto">
              <a:xfrm>
                <a:off x="2668" y="2331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solidFill>
                      <a:schemeClr val="tx1"/>
                    </a:solidFill>
                  </a:rPr>
                  <a:t>&gt;</a:t>
                </a:r>
              </a:p>
            </p:txBody>
          </p:sp>
          <p:sp>
            <p:nvSpPr>
              <p:cNvPr id="120909" name="Oval 65"/>
              <p:cNvSpPr>
                <a:spLocks noChangeArrowheads="1"/>
              </p:cNvSpPr>
              <p:nvPr/>
            </p:nvSpPr>
            <p:spPr bwMode="auto">
              <a:xfrm>
                <a:off x="2640" y="232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0874" name="Group 69"/>
            <p:cNvGrpSpPr>
              <a:grpSpLocks/>
            </p:cNvGrpSpPr>
            <p:nvPr/>
          </p:nvGrpSpPr>
          <p:grpSpPr bwMode="auto">
            <a:xfrm>
              <a:off x="2760" y="3015"/>
              <a:ext cx="316" cy="241"/>
              <a:chOff x="3618" y="2674"/>
              <a:chExt cx="316" cy="241"/>
            </a:xfrm>
          </p:grpSpPr>
          <p:sp>
            <p:nvSpPr>
              <p:cNvPr id="120906" name="Text Box 67"/>
              <p:cNvSpPr txBox="1">
                <a:spLocks noChangeArrowheads="1"/>
              </p:cNvSpPr>
              <p:nvPr/>
            </p:nvSpPr>
            <p:spPr bwMode="auto">
              <a:xfrm>
                <a:off x="3618" y="2685"/>
                <a:ext cx="31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solidFill>
                      <a:schemeClr val="tx1"/>
                    </a:solidFill>
                  </a:rPr>
                  <a:t>&gt;=</a:t>
                </a:r>
              </a:p>
            </p:txBody>
          </p:sp>
          <p:sp>
            <p:nvSpPr>
              <p:cNvPr id="120907" name="Oval 68"/>
              <p:cNvSpPr>
                <a:spLocks noChangeArrowheads="1"/>
              </p:cNvSpPr>
              <p:nvPr/>
            </p:nvSpPr>
            <p:spPr bwMode="auto">
              <a:xfrm>
                <a:off x="3627" y="2674"/>
                <a:ext cx="279" cy="233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0875" name="Group 70"/>
            <p:cNvGrpSpPr>
              <a:grpSpLocks/>
            </p:cNvGrpSpPr>
            <p:nvPr/>
          </p:nvGrpSpPr>
          <p:grpSpPr bwMode="auto">
            <a:xfrm>
              <a:off x="2760" y="3639"/>
              <a:ext cx="316" cy="241"/>
              <a:chOff x="3618" y="2674"/>
              <a:chExt cx="316" cy="241"/>
            </a:xfrm>
          </p:grpSpPr>
          <p:sp>
            <p:nvSpPr>
              <p:cNvPr id="120904" name="Text Box 71"/>
              <p:cNvSpPr txBox="1">
                <a:spLocks noChangeArrowheads="1"/>
              </p:cNvSpPr>
              <p:nvPr/>
            </p:nvSpPr>
            <p:spPr bwMode="auto">
              <a:xfrm>
                <a:off x="3618" y="2685"/>
                <a:ext cx="31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solidFill>
                      <a:schemeClr val="tx1"/>
                    </a:solidFill>
                  </a:rPr>
                  <a:t>&lt;=</a:t>
                </a:r>
              </a:p>
            </p:txBody>
          </p:sp>
          <p:sp>
            <p:nvSpPr>
              <p:cNvPr id="120905" name="Oval 72"/>
              <p:cNvSpPr>
                <a:spLocks noChangeArrowheads="1"/>
              </p:cNvSpPr>
              <p:nvPr/>
            </p:nvSpPr>
            <p:spPr bwMode="auto">
              <a:xfrm>
                <a:off x="3627" y="2674"/>
                <a:ext cx="279" cy="233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0876" name="Group 73"/>
            <p:cNvGrpSpPr>
              <a:grpSpLocks/>
            </p:cNvGrpSpPr>
            <p:nvPr/>
          </p:nvGrpSpPr>
          <p:grpSpPr bwMode="auto">
            <a:xfrm>
              <a:off x="2781" y="3983"/>
              <a:ext cx="316" cy="241"/>
              <a:chOff x="3618" y="2674"/>
              <a:chExt cx="316" cy="241"/>
            </a:xfrm>
          </p:grpSpPr>
          <p:sp>
            <p:nvSpPr>
              <p:cNvPr id="120902" name="Text Box 74"/>
              <p:cNvSpPr txBox="1">
                <a:spLocks noChangeArrowheads="1"/>
              </p:cNvSpPr>
              <p:nvPr/>
            </p:nvSpPr>
            <p:spPr bwMode="auto">
              <a:xfrm>
                <a:off x="3618" y="2685"/>
                <a:ext cx="31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>
                    <a:solidFill>
                      <a:schemeClr val="tx1"/>
                    </a:solidFill>
                  </a:rPr>
                  <a:t>&lt;&gt;</a:t>
                </a:r>
              </a:p>
            </p:txBody>
          </p:sp>
          <p:sp>
            <p:nvSpPr>
              <p:cNvPr id="120903" name="Oval 75"/>
              <p:cNvSpPr>
                <a:spLocks noChangeArrowheads="1"/>
              </p:cNvSpPr>
              <p:nvPr/>
            </p:nvSpPr>
            <p:spPr bwMode="auto">
              <a:xfrm>
                <a:off x="3627" y="2674"/>
                <a:ext cx="279" cy="233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0877" name="Text Box 79"/>
            <p:cNvSpPr txBox="1">
              <a:spLocks noChangeArrowheads="1"/>
            </p:cNvSpPr>
            <p:nvPr/>
          </p:nvSpPr>
          <p:spPr bwMode="auto">
            <a:xfrm>
              <a:off x="3624" y="3156"/>
              <a:ext cx="1008" cy="2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Expression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120878" name="Text Box 80"/>
            <p:cNvSpPr txBox="1">
              <a:spLocks noChangeArrowheads="1"/>
            </p:cNvSpPr>
            <p:nvPr/>
          </p:nvSpPr>
          <p:spPr bwMode="auto">
            <a:xfrm>
              <a:off x="1152" y="3177"/>
              <a:ext cx="1008" cy="2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Expression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sp>
          <p:nvSpPr>
            <p:cNvPr id="120879" name="Freeform 81"/>
            <p:cNvSpPr>
              <a:spLocks/>
            </p:cNvSpPr>
            <p:nvPr/>
          </p:nvSpPr>
          <p:spPr bwMode="auto">
            <a:xfrm>
              <a:off x="2472" y="2487"/>
              <a:ext cx="336" cy="1632"/>
            </a:xfrm>
            <a:custGeom>
              <a:avLst/>
              <a:gdLst>
                <a:gd name="T0" fmla="*/ 288 w 336"/>
                <a:gd name="T1" fmla="*/ 0 h 1632"/>
                <a:gd name="T2" fmla="*/ 0 w 336"/>
                <a:gd name="T3" fmla="*/ 0 h 1632"/>
                <a:gd name="T4" fmla="*/ 0 w 336"/>
                <a:gd name="T5" fmla="*/ 1632 h 1632"/>
                <a:gd name="T6" fmla="*/ 336 w 336"/>
                <a:gd name="T7" fmla="*/ 1632 h 16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6" h="1632">
                  <a:moveTo>
                    <a:pt x="288" y="0"/>
                  </a:moveTo>
                  <a:lnTo>
                    <a:pt x="0" y="0"/>
                  </a:lnTo>
                  <a:lnTo>
                    <a:pt x="0" y="1632"/>
                  </a:lnTo>
                  <a:lnTo>
                    <a:pt x="336" y="163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80" name="Line 82"/>
            <p:cNvSpPr>
              <a:spLocks noChangeShapeType="1"/>
            </p:cNvSpPr>
            <p:nvPr/>
          </p:nvSpPr>
          <p:spPr bwMode="auto">
            <a:xfrm>
              <a:off x="2472" y="2823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81" name="Line 83"/>
            <p:cNvSpPr>
              <a:spLocks noChangeShapeType="1"/>
            </p:cNvSpPr>
            <p:nvPr/>
          </p:nvSpPr>
          <p:spPr bwMode="auto">
            <a:xfrm>
              <a:off x="2472" y="3129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82" name="Line 84"/>
            <p:cNvSpPr>
              <a:spLocks noChangeShapeType="1"/>
            </p:cNvSpPr>
            <p:nvPr/>
          </p:nvSpPr>
          <p:spPr bwMode="auto">
            <a:xfrm>
              <a:off x="2472" y="3447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83" name="Line 85"/>
            <p:cNvSpPr>
              <a:spLocks noChangeShapeType="1"/>
            </p:cNvSpPr>
            <p:nvPr/>
          </p:nvSpPr>
          <p:spPr bwMode="auto">
            <a:xfrm>
              <a:off x="2472" y="377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84" name="Line 86"/>
            <p:cNvSpPr>
              <a:spLocks noChangeShapeType="1"/>
            </p:cNvSpPr>
            <p:nvPr/>
          </p:nvSpPr>
          <p:spPr bwMode="auto">
            <a:xfrm>
              <a:off x="3000" y="2487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85" name="Line 87"/>
            <p:cNvSpPr>
              <a:spLocks noChangeShapeType="1"/>
            </p:cNvSpPr>
            <p:nvPr/>
          </p:nvSpPr>
          <p:spPr bwMode="auto">
            <a:xfrm>
              <a:off x="3060" y="4107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86" name="Line 88"/>
            <p:cNvSpPr>
              <a:spLocks noChangeShapeType="1"/>
            </p:cNvSpPr>
            <p:nvPr/>
          </p:nvSpPr>
          <p:spPr bwMode="auto">
            <a:xfrm>
              <a:off x="3336" y="2478"/>
              <a:ext cx="0" cy="16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87" name="Line 89"/>
            <p:cNvSpPr>
              <a:spLocks noChangeShapeType="1"/>
            </p:cNvSpPr>
            <p:nvPr/>
          </p:nvSpPr>
          <p:spPr bwMode="auto">
            <a:xfrm>
              <a:off x="3057" y="377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88" name="Line 90"/>
            <p:cNvSpPr>
              <a:spLocks noChangeShapeType="1"/>
            </p:cNvSpPr>
            <p:nvPr/>
          </p:nvSpPr>
          <p:spPr bwMode="auto">
            <a:xfrm>
              <a:off x="3057" y="3129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89" name="Line 91"/>
            <p:cNvSpPr>
              <a:spLocks noChangeShapeType="1"/>
            </p:cNvSpPr>
            <p:nvPr/>
          </p:nvSpPr>
          <p:spPr bwMode="auto">
            <a:xfrm>
              <a:off x="3000" y="3447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90" name="Line 92"/>
            <p:cNvSpPr>
              <a:spLocks noChangeShapeType="1"/>
            </p:cNvSpPr>
            <p:nvPr/>
          </p:nvSpPr>
          <p:spPr bwMode="auto">
            <a:xfrm>
              <a:off x="3000" y="2823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91" name="Line 93"/>
            <p:cNvSpPr>
              <a:spLocks noChangeShapeType="1"/>
            </p:cNvSpPr>
            <p:nvPr/>
          </p:nvSpPr>
          <p:spPr bwMode="auto">
            <a:xfrm>
              <a:off x="3336" y="3282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92" name="Line 94"/>
            <p:cNvSpPr>
              <a:spLocks noChangeShapeType="1"/>
            </p:cNvSpPr>
            <p:nvPr/>
          </p:nvSpPr>
          <p:spPr bwMode="auto">
            <a:xfrm>
              <a:off x="2184" y="3294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93" name="Text Box 95"/>
            <p:cNvSpPr txBox="1">
              <a:spLocks noChangeArrowheads="1"/>
            </p:cNvSpPr>
            <p:nvPr/>
          </p:nvSpPr>
          <p:spPr bwMode="auto">
            <a:xfrm>
              <a:off x="3411" y="1929"/>
              <a:ext cx="1008" cy="2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Expression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grpSp>
          <p:nvGrpSpPr>
            <p:cNvPr id="120894" name="Group 96"/>
            <p:cNvGrpSpPr>
              <a:grpSpLocks/>
            </p:cNvGrpSpPr>
            <p:nvPr/>
          </p:nvGrpSpPr>
          <p:grpSpPr bwMode="auto">
            <a:xfrm>
              <a:off x="1776" y="1920"/>
              <a:ext cx="493" cy="288"/>
              <a:chOff x="3087" y="4963"/>
              <a:chExt cx="954" cy="525"/>
            </a:xfrm>
          </p:grpSpPr>
          <p:sp>
            <p:nvSpPr>
              <p:cNvPr id="120900" name="AutoShape 97"/>
              <p:cNvSpPr>
                <a:spLocks noChangeArrowheads="1"/>
              </p:cNvSpPr>
              <p:nvPr/>
            </p:nvSpPr>
            <p:spPr bwMode="auto">
              <a:xfrm>
                <a:off x="3087" y="4963"/>
                <a:ext cx="954" cy="472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20901" name="Text Box 98"/>
              <p:cNvSpPr txBox="1">
                <a:spLocks noChangeArrowheads="1"/>
              </p:cNvSpPr>
              <p:nvPr/>
            </p:nvSpPr>
            <p:spPr bwMode="auto">
              <a:xfrm>
                <a:off x="3141" y="5044"/>
                <a:ext cx="900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1800">
                    <a:solidFill>
                      <a:schemeClr val="tx1"/>
                    </a:solidFill>
                  </a:rPr>
                  <a:t>ODD</a:t>
                </a:r>
              </a:p>
            </p:txBody>
          </p:sp>
        </p:grpSp>
        <p:sp>
          <p:nvSpPr>
            <p:cNvPr id="120895" name="Line 100"/>
            <p:cNvSpPr>
              <a:spLocks noChangeShapeType="1"/>
            </p:cNvSpPr>
            <p:nvPr/>
          </p:nvSpPr>
          <p:spPr bwMode="auto">
            <a:xfrm>
              <a:off x="2286" y="2055"/>
              <a:ext cx="11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96" name="Line 101"/>
            <p:cNvSpPr>
              <a:spLocks noChangeShapeType="1"/>
            </p:cNvSpPr>
            <p:nvPr/>
          </p:nvSpPr>
          <p:spPr bwMode="auto">
            <a:xfrm>
              <a:off x="288" y="2046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97" name="Freeform 102"/>
            <p:cNvSpPr>
              <a:spLocks/>
            </p:cNvSpPr>
            <p:nvPr/>
          </p:nvSpPr>
          <p:spPr bwMode="auto">
            <a:xfrm>
              <a:off x="663" y="2043"/>
              <a:ext cx="480" cy="1266"/>
            </a:xfrm>
            <a:custGeom>
              <a:avLst/>
              <a:gdLst>
                <a:gd name="T0" fmla="*/ 0 w 480"/>
                <a:gd name="T1" fmla="*/ 0 h 1296"/>
                <a:gd name="T2" fmla="*/ 0 w 480"/>
                <a:gd name="T3" fmla="*/ 1153 h 1296"/>
                <a:gd name="T4" fmla="*/ 480 w 480"/>
                <a:gd name="T5" fmla="*/ 1153 h 12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0" h="1296">
                  <a:moveTo>
                    <a:pt x="0" y="0"/>
                  </a:moveTo>
                  <a:lnTo>
                    <a:pt x="0" y="1296"/>
                  </a:lnTo>
                  <a:lnTo>
                    <a:pt x="480" y="129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98" name="Freeform 103"/>
            <p:cNvSpPr>
              <a:spLocks/>
            </p:cNvSpPr>
            <p:nvPr/>
          </p:nvSpPr>
          <p:spPr bwMode="auto">
            <a:xfrm>
              <a:off x="4656" y="2034"/>
              <a:ext cx="240" cy="1220"/>
            </a:xfrm>
            <a:custGeom>
              <a:avLst/>
              <a:gdLst>
                <a:gd name="T0" fmla="*/ 0 w 240"/>
                <a:gd name="T1" fmla="*/ 1114 h 1248"/>
                <a:gd name="T2" fmla="*/ 240 w 240"/>
                <a:gd name="T3" fmla="*/ 1114 h 1248"/>
                <a:gd name="T4" fmla="*/ 240 w 240"/>
                <a:gd name="T5" fmla="*/ 0 h 12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0" h="1248">
                  <a:moveTo>
                    <a:pt x="0" y="1248"/>
                  </a:moveTo>
                  <a:lnTo>
                    <a:pt x="240" y="1248"/>
                  </a:lnTo>
                  <a:lnTo>
                    <a:pt x="24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99" name="Line 104"/>
            <p:cNvSpPr>
              <a:spLocks noChangeShapeType="1"/>
            </p:cNvSpPr>
            <p:nvPr/>
          </p:nvSpPr>
          <p:spPr bwMode="auto">
            <a:xfrm>
              <a:off x="4416" y="2034"/>
              <a:ext cx="1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0836" name="Group 122"/>
          <p:cNvGrpSpPr>
            <a:grpSpLocks/>
          </p:cNvGrpSpPr>
          <p:nvPr/>
        </p:nvGrpSpPr>
        <p:grpSpPr bwMode="auto">
          <a:xfrm>
            <a:off x="990600" y="152400"/>
            <a:ext cx="7010400" cy="2232025"/>
            <a:chOff x="624" y="96"/>
            <a:chExt cx="4416" cy="1406"/>
          </a:xfrm>
        </p:grpSpPr>
        <p:sp>
          <p:nvSpPr>
            <p:cNvPr id="120837" name="Text Box 8"/>
            <p:cNvSpPr txBox="1">
              <a:spLocks noChangeArrowheads="1"/>
            </p:cNvSpPr>
            <p:nvPr/>
          </p:nvSpPr>
          <p:spPr bwMode="auto">
            <a:xfrm>
              <a:off x="624" y="96"/>
              <a:ext cx="63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  <a:latin typeface="VNtimes new roman" charset="0"/>
                </a:rPr>
                <a:t>Factor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grpSp>
          <p:nvGrpSpPr>
            <p:cNvPr id="120838" name="Group 28"/>
            <p:cNvGrpSpPr>
              <a:grpSpLocks/>
            </p:cNvGrpSpPr>
            <p:nvPr/>
          </p:nvGrpSpPr>
          <p:grpSpPr bwMode="auto">
            <a:xfrm>
              <a:off x="1824" y="231"/>
              <a:ext cx="528" cy="219"/>
              <a:chOff x="2256" y="2064"/>
              <a:chExt cx="528" cy="219"/>
            </a:xfrm>
          </p:grpSpPr>
          <p:sp>
            <p:nvSpPr>
              <p:cNvPr id="120868" name="AutoShape 29"/>
              <p:cNvSpPr>
                <a:spLocks noChangeArrowheads="1"/>
              </p:cNvSpPr>
              <p:nvPr/>
            </p:nvSpPr>
            <p:spPr bwMode="auto">
              <a:xfrm>
                <a:off x="2256" y="2064"/>
                <a:ext cx="528" cy="219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20869" name="Text Box 30"/>
              <p:cNvSpPr txBox="1">
                <a:spLocks noChangeArrowheads="1"/>
              </p:cNvSpPr>
              <p:nvPr/>
            </p:nvSpPr>
            <p:spPr bwMode="auto">
              <a:xfrm>
                <a:off x="2283" y="2085"/>
                <a:ext cx="47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Ident</a:t>
                </a:r>
                <a:endParaRPr lang="fr-FR" altLang="en-US" sz="20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0839" name="Group 31"/>
            <p:cNvGrpSpPr>
              <a:grpSpLocks/>
            </p:cNvGrpSpPr>
            <p:nvPr/>
          </p:nvGrpSpPr>
          <p:grpSpPr bwMode="auto">
            <a:xfrm>
              <a:off x="2736" y="864"/>
              <a:ext cx="672" cy="240"/>
              <a:chOff x="3216" y="2064"/>
              <a:chExt cx="672" cy="240"/>
            </a:xfrm>
          </p:grpSpPr>
          <p:sp>
            <p:nvSpPr>
              <p:cNvPr id="120866" name="AutoShape 32"/>
              <p:cNvSpPr>
                <a:spLocks noChangeArrowheads="1"/>
              </p:cNvSpPr>
              <p:nvPr/>
            </p:nvSpPr>
            <p:spPr bwMode="auto">
              <a:xfrm>
                <a:off x="3216" y="2064"/>
                <a:ext cx="672" cy="240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120867" name="Text Box 33"/>
              <p:cNvSpPr txBox="1">
                <a:spLocks noChangeArrowheads="1"/>
              </p:cNvSpPr>
              <p:nvPr/>
            </p:nvSpPr>
            <p:spPr bwMode="auto">
              <a:xfrm>
                <a:off x="3237" y="2098"/>
                <a:ext cx="643" cy="1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8000" tIns="0" rIns="1800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Number</a:t>
                </a:r>
                <a:endParaRPr lang="fr-FR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0840" name="Text Box 34"/>
            <p:cNvSpPr txBox="1">
              <a:spLocks noChangeArrowheads="1"/>
            </p:cNvSpPr>
            <p:nvPr/>
          </p:nvSpPr>
          <p:spPr bwMode="auto">
            <a:xfrm>
              <a:off x="2592" y="1266"/>
              <a:ext cx="1008" cy="2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Expression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grpSp>
          <p:nvGrpSpPr>
            <p:cNvPr id="120841" name="Group 38"/>
            <p:cNvGrpSpPr>
              <a:grpSpLocks/>
            </p:cNvGrpSpPr>
            <p:nvPr/>
          </p:nvGrpSpPr>
          <p:grpSpPr bwMode="auto">
            <a:xfrm>
              <a:off x="3888" y="1257"/>
              <a:ext cx="232" cy="240"/>
              <a:chOff x="2016" y="2334"/>
              <a:chExt cx="232" cy="240"/>
            </a:xfrm>
          </p:grpSpPr>
          <p:sp>
            <p:nvSpPr>
              <p:cNvPr id="120864" name="Text Box 39"/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)</a:t>
                </a:r>
              </a:p>
            </p:txBody>
          </p:sp>
          <p:sp>
            <p:nvSpPr>
              <p:cNvPr id="120865" name="Oval 40"/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0842" name="Group 41"/>
            <p:cNvGrpSpPr>
              <a:grpSpLocks/>
            </p:cNvGrpSpPr>
            <p:nvPr/>
          </p:nvGrpSpPr>
          <p:grpSpPr bwMode="auto">
            <a:xfrm>
              <a:off x="2120" y="1257"/>
              <a:ext cx="232" cy="240"/>
              <a:chOff x="2016" y="2334"/>
              <a:chExt cx="232" cy="240"/>
            </a:xfrm>
          </p:grpSpPr>
          <p:sp>
            <p:nvSpPr>
              <p:cNvPr id="120862" name="Text Box 42"/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(</a:t>
                </a:r>
              </a:p>
            </p:txBody>
          </p:sp>
          <p:sp>
            <p:nvSpPr>
              <p:cNvPr id="120863" name="Oval 43"/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0843" name="Line 44"/>
            <p:cNvSpPr>
              <a:spLocks noChangeShapeType="1"/>
            </p:cNvSpPr>
            <p:nvPr/>
          </p:nvSpPr>
          <p:spPr bwMode="auto">
            <a:xfrm>
              <a:off x="624" y="336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44" name="Line 45"/>
            <p:cNvSpPr>
              <a:spLocks noChangeShapeType="1"/>
            </p:cNvSpPr>
            <p:nvPr/>
          </p:nvSpPr>
          <p:spPr bwMode="auto">
            <a:xfrm>
              <a:off x="2352" y="336"/>
              <a:ext cx="26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45" name="Freeform 46"/>
            <p:cNvSpPr>
              <a:spLocks/>
            </p:cNvSpPr>
            <p:nvPr/>
          </p:nvSpPr>
          <p:spPr bwMode="auto">
            <a:xfrm>
              <a:off x="1488" y="336"/>
              <a:ext cx="624" cy="1056"/>
            </a:xfrm>
            <a:custGeom>
              <a:avLst/>
              <a:gdLst>
                <a:gd name="T0" fmla="*/ 0 w 624"/>
                <a:gd name="T1" fmla="*/ 0 h 1104"/>
                <a:gd name="T2" fmla="*/ 0 w 624"/>
                <a:gd name="T3" fmla="*/ 884 h 1104"/>
                <a:gd name="T4" fmla="*/ 624 w 624"/>
                <a:gd name="T5" fmla="*/ 884 h 11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4" h="1104">
                  <a:moveTo>
                    <a:pt x="0" y="0"/>
                  </a:moveTo>
                  <a:lnTo>
                    <a:pt x="0" y="1104"/>
                  </a:lnTo>
                  <a:lnTo>
                    <a:pt x="624" y="110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46" name="Freeform 47"/>
            <p:cNvSpPr>
              <a:spLocks/>
            </p:cNvSpPr>
            <p:nvPr/>
          </p:nvSpPr>
          <p:spPr bwMode="auto">
            <a:xfrm>
              <a:off x="4128" y="336"/>
              <a:ext cx="528" cy="1056"/>
            </a:xfrm>
            <a:custGeom>
              <a:avLst/>
              <a:gdLst>
                <a:gd name="T0" fmla="*/ 0 w 528"/>
                <a:gd name="T1" fmla="*/ 884 h 1104"/>
                <a:gd name="T2" fmla="*/ 528 w 528"/>
                <a:gd name="T3" fmla="*/ 884 h 1104"/>
                <a:gd name="T4" fmla="*/ 528 w 528"/>
                <a:gd name="T5" fmla="*/ 0 h 11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8" h="1104">
                  <a:moveTo>
                    <a:pt x="0" y="1104"/>
                  </a:moveTo>
                  <a:lnTo>
                    <a:pt x="528" y="1104"/>
                  </a:lnTo>
                  <a:lnTo>
                    <a:pt x="528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47" name="Line 48"/>
            <p:cNvSpPr>
              <a:spLocks noChangeShapeType="1"/>
            </p:cNvSpPr>
            <p:nvPr/>
          </p:nvSpPr>
          <p:spPr bwMode="auto">
            <a:xfrm>
              <a:off x="2352" y="139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48" name="Line 49"/>
            <p:cNvSpPr>
              <a:spLocks noChangeShapeType="1"/>
            </p:cNvSpPr>
            <p:nvPr/>
          </p:nvSpPr>
          <p:spPr bwMode="auto">
            <a:xfrm>
              <a:off x="3600" y="139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49" name="Line 50"/>
            <p:cNvSpPr>
              <a:spLocks noChangeShapeType="1"/>
            </p:cNvSpPr>
            <p:nvPr/>
          </p:nvSpPr>
          <p:spPr bwMode="auto">
            <a:xfrm>
              <a:off x="3408" y="987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50" name="Line 51"/>
            <p:cNvSpPr>
              <a:spLocks noChangeShapeType="1"/>
            </p:cNvSpPr>
            <p:nvPr/>
          </p:nvSpPr>
          <p:spPr bwMode="auto">
            <a:xfrm>
              <a:off x="1488" y="987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51" name="Text Box 107"/>
            <p:cNvSpPr txBox="1">
              <a:spLocks noChangeArrowheads="1"/>
            </p:cNvSpPr>
            <p:nvPr/>
          </p:nvSpPr>
          <p:spPr bwMode="auto">
            <a:xfrm>
              <a:off x="2976" y="480"/>
              <a:ext cx="1008" cy="2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270076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270076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270076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270076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chemeClr val="tx1"/>
                  </a:solidFill>
                </a:rPr>
                <a:t>Expression</a:t>
              </a:r>
              <a:endParaRPr lang="fr-FR" altLang="en-US" sz="2400" b="0">
                <a:solidFill>
                  <a:schemeClr val="tx1"/>
                </a:solidFill>
              </a:endParaRPr>
            </a:p>
          </p:txBody>
        </p:sp>
        <p:grpSp>
          <p:nvGrpSpPr>
            <p:cNvPr id="120852" name="Group 108"/>
            <p:cNvGrpSpPr>
              <a:grpSpLocks/>
            </p:cNvGrpSpPr>
            <p:nvPr/>
          </p:nvGrpSpPr>
          <p:grpSpPr bwMode="auto">
            <a:xfrm>
              <a:off x="4128" y="480"/>
              <a:ext cx="232" cy="240"/>
              <a:chOff x="2016" y="2334"/>
              <a:chExt cx="232" cy="240"/>
            </a:xfrm>
          </p:grpSpPr>
          <p:sp>
            <p:nvSpPr>
              <p:cNvPr id="120860" name="Text Box 109"/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]</a:t>
                </a:r>
              </a:p>
            </p:txBody>
          </p:sp>
          <p:sp>
            <p:nvSpPr>
              <p:cNvPr id="120861" name="Oval 110"/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0853" name="Group 111"/>
            <p:cNvGrpSpPr>
              <a:grpSpLocks/>
            </p:cNvGrpSpPr>
            <p:nvPr/>
          </p:nvGrpSpPr>
          <p:grpSpPr bwMode="auto">
            <a:xfrm>
              <a:off x="2600" y="462"/>
              <a:ext cx="232" cy="240"/>
              <a:chOff x="2016" y="2334"/>
              <a:chExt cx="232" cy="240"/>
            </a:xfrm>
          </p:grpSpPr>
          <p:sp>
            <p:nvSpPr>
              <p:cNvPr id="120858" name="Text Box 112"/>
              <p:cNvSpPr txBox="1">
                <a:spLocks noChangeArrowheads="1"/>
              </p:cNvSpPr>
              <p:nvPr/>
            </p:nvSpPr>
            <p:spPr bwMode="auto">
              <a:xfrm>
                <a:off x="2044" y="2334"/>
                <a:ext cx="173" cy="1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fr-FR" altLang="en-US" sz="2000" b="0">
                    <a:solidFill>
                      <a:schemeClr val="tx1"/>
                    </a:solidFill>
                  </a:rPr>
                  <a:t>[</a:t>
                </a:r>
              </a:p>
            </p:txBody>
          </p:sp>
          <p:sp>
            <p:nvSpPr>
              <p:cNvPr id="120859" name="Oval 113"/>
              <p:cNvSpPr>
                <a:spLocks noChangeArrowheads="1"/>
              </p:cNvSpPr>
              <p:nvPr/>
            </p:nvSpPr>
            <p:spPr bwMode="auto">
              <a:xfrm>
                <a:off x="2016" y="2358"/>
                <a:ext cx="232" cy="216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1080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270076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2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0854" name="Line 118"/>
            <p:cNvSpPr>
              <a:spLocks noChangeShapeType="1"/>
            </p:cNvSpPr>
            <p:nvPr/>
          </p:nvSpPr>
          <p:spPr bwMode="auto">
            <a:xfrm>
              <a:off x="2832" y="59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55" name="Line 119"/>
            <p:cNvSpPr>
              <a:spLocks noChangeShapeType="1"/>
            </p:cNvSpPr>
            <p:nvPr/>
          </p:nvSpPr>
          <p:spPr bwMode="auto">
            <a:xfrm>
              <a:off x="3984" y="60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56" name="Freeform 120"/>
            <p:cNvSpPr>
              <a:spLocks/>
            </p:cNvSpPr>
            <p:nvPr/>
          </p:nvSpPr>
          <p:spPr bwMode="auto">
            <a:xfrm>
              <a:off x="2450" y="345"/>
              <a:ext cx="151" cy="240"/>
            </a:xfrm>
            <a:custGeom>
              <a:avLst/>
              <a:gdLst>
                <a:gd name="T0" fmla="*/ 0 w 96"/>
                <a:gd name="T1" fmla="*/ 0 h 240"/>
                <a:gd name="T2" fmla="*/ 0 w 96"/>
                <a:gd name="T3" fmla="*/ 240 h 240"/>
                <a:gd name="T4" fmla="*/ 925 w 96"/>
                <a:gd name="T5" fmla="*/ 24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240">
                  <a:moveTo>
                    <a:pt x="0" y="0"/>
                  </a:moveTo>
                  <a:lnTo>
                    <a:pt x="0" y="240"/>
                  </a:lnTo>
                  <a:lnTo>
                    <a:pt x="96" y="24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57" name="Freeform 121"/>
            <p:cNvSpPr>
              <a:spLocks/>
            </p:cNvSpPr>
            <p:nvPr/>
          </p:nvSpPr>
          <p:spPr bwMode="auto">
            <a:xfrm>
              <a:off x="4368" y="336"/>
              <a:ext cx="144" cy="288"/>
            </a:xfrm>
            <a:custGeom>
              <a:avLst/>
              <a:gdLst>
                <a:gd name="T0" fmla="*/ 0 w 144"/>
                <a:gd name="T1" fmla="*/ 288 h 288"/>
                <a:gd name="T2" fmla="*/ 144 w 144"/>
                <a:gd name="T3" fmla="*/ 288 h 288"/>
                <a:gd name="T4" fmla="*/ 144 w 144"/>
                <a:gd name="T5" fmla="*/ 0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4" h="288">
                  <a:moveTo>
                    <a:pt x="0" y="288"/>
                  </a:moveTo>
                  <a:lnTo>
                    <a:pt x="144" y="288"/>
                  </a:lnTo>
                  <a:lnTo>
                    <a:pt x="14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3A393B-39D9-46BF-A4DB-36E63E78D339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121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218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Ví dụ viết trên ngôn ngữ PL/0 mở rộng</a:t>
            </a:r>
          </a:p>
        </p:txBody>
      </p:sp>
      <p:sp>
        <p:nvSpPr>
          <p:cNvPr id="12186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914400"/>
            <a:ext cx="8534400" cy="5867400"/>
          </a:xfrm>
          <a:noFill/>
        </p:spPr>
        <p:txBody>
          <a:bodyPr/>
          <a:lstStyle/>
          <a:p>
            <a:pPr marL="231775" indent="-231775" eaLnBrk="1" hangingPunct="1">
              <a:spcBef>
                <a:spcPct val="15000"/>
              </a:spcBef>
              <a:buFontTx/>
              <a:buNone/>
            </a:pPr>
            <a:r>
              <a:rPr lang="en-US" altLang="en-US" sz="2400"/>
              <a:t>Program Example2; </a:t>
            </a:r>
          </a:p>
          <a:p>
            <a:pPr marL="231775" indent="-231775" eaLnBrk="1" hangingPunct="1">
              <a:spcBef>
                <a:spcPct val="15000"/>
              </a:spcBef>
              <a:buFontTx/>
              <a:buNone/>
            </a:pPr>
            <a:r>
              <a:rPr lang="en-US" altLang="en-US" sz="2400"/>
              <a:t>Var a,b,c;</a:t>
            </a:r>
          </a:p>
          <a:p>
            <a:pPr marL="231775" indent="-231775" eaLnBrk="1" hangingPunct="1">
              <a:spcBef>
                <a:spcPct val="15000"/>
              </a:spcBef>
              <a:buFontTx/>
              <a:buNone/>
            </a:pPr>
            <a:r>
              <a:rPr lang="en-US" altLang="en-US" sz="2400"/>
              <a:t>Procedure gcd(a; b; var d);  </a:t>
            </a:r>
          </a:p>
          <a:p>
            <a:pPr marL="231775" indent="-231775" eaLnBrk="1" hangingPunct="1">
              <a:spcBef>
                <a:spcPct val="15000"/>
              </a:spcBef>
              <a:buFontTx/>
              <a:buNone/>
            </a:pPr>
            <a:r>
              <a:rPr lang="en-US" altLang="en-US" sz="2400"/>
              <a:t>	Begin    </a:t>
            </a:r>
          </a:p>
          <a:p>
            <a:pPr marL="231775" indent="-231775" eaLnBrk="1" hangingPunct="1">
              <a:spcBef>
                <a:spcPct val="15000"/>
              </a:spcBef>
              <a:buFontTx/>
              <a:buNone/>
            </a:pPr>
            <a:r>
              <a:rPr lang="en-US" altLang="en-US" sz="2400"/>
              <a:t>	   While a &lt;&gt; b do</a:t>
            </a:r>
          </a:p>
          <a:p>
            <a:pPr marL="231775" indent="-231775" eaLnBrk="1" hangingPunct="1">
              <a:spcBef>
                <a:spcPct val="15000"/>
              </a:spcBef>
              <a:buFontTx/>
              <a:buNone/>
            </a:pPr>
            <a:r>
              <a:rPr lang="en-US" altLang="en-US" sz="2400"/>
              <a:t>		if a &gt; b then a := a – b</a:t>
            </a:r>
          </a:p>
          <a:p>
            <a:pPr marL="231775" indent="-231775" eaLnBrk="1" hangingPunct="1">
              <a:spcBef>
                <a:spcPct val="15000"/>
              </a:spcBef>
              <a:buFontTx/>
              <a:buNone/>
            </a:pPr>
            <a:r>
              <a:rPr lang="en-US" altLang="en-US" sz="2400"/>
              <a:t>		else b := b – a;	</a:t>
            </a:r>
          </a:p>
          <a:p>
            <a:pPr marL="231775" indent="-231775" eaLnBrk="1" hangingPunct="1">
              <a:spcBef>
                <a:spcPct val="15000"/>
              </a:spcBef>
              <a:buFontTx/>
              <a:buNone/>
            </a:pPr>
            <a:r>
              <a:rPr lang="en-US" altLang="en-US" sz="2400"/>
              <a:t>	  d := b;</a:t>
            </a:r>
          </a:p>
          <a:p>
            <a:pPr marL="231775" indent="-231775" eaLnBrk="1" hangingPunct="1">
              <a:spcBef>
                <a:spcPct val="15000"/>
              </a:spcBef>
              <a:buFontTx/>
              <a:buNone/>
            </a:pPr>
            <a:r>
              <a:rPr lang="en-US" altLang="en-US" sz="2400"/>
              <a:t>	End;</a:t>
            </a:r>
          </a:p>
          <a:p>
            <a:pPr marL="231775" indent="-231775" eaLnBrk="1" hangingPunct="1">
              <a:spcBef>
                <a:spcPct val="15000"/>
              </a:spcBef>
              <a:buFontTx/>
              <a:buNone/>
            </a:pPr>
            <a:r>
              <a:rPr lang="en-US" altLang="en-US" sz="2400"/>
              <a:t>Begin  </a:t>
            </a:r>
          </a:p>
          <a:p>
            <a:pPr marL="231775" indent="-231775" eaLnBrk="1" hangingPunct="1">
              <a:spcBef>
                <a:spcPct val="15000"/>
              </a:spcBef>
              <a:buFontTx/>
              <a:buNone/>
            </a:pPr>
            <a:r>
              <a:rPr lang="en-US" altLang="en-US" sz="2400"/>
              <a:t>   Call Readln(a);	Call Readln(b);</a:t>
            </a:r>
          </a:p>
          <a:p>
            <a:pPr marL="231775" indent="-231775" eaLnBrk="1" hangingPunct="1">
              <a:spcBef>
                <a:spcPct val="15000"/>
              </a:spcBef>
              <a:buFontTx/>
              <a:buNone/>
            </a:pPr>
            <a:r>
              <a:rPr lang="en-US" altLang="en-US" sz="2400"/>
              <a:t>	Call gcd(a,b,c);</a:t>
            </a:r>
          </a:p>
          <a:p>
            <a:pPr marL="231775" indent="-231775" eaLnBrk="1" hangingPunct="1">
              <a:spcBef>
                <a:spcPct val="15000"/>
              </a:spcBef>
              <a:buFontTx/>
              <a:buNone/>
            </a:pPr>
            <a:r>
              <a:rPr lang="en-US" altLang="en-US" sz="2400"/>
              <a:t>	Call Writeln(c);</a:t>
            </a:r>
          </a:p>
          <a:p>
            <a:pPr marL="231775" indent="-231775" eaLnBrk="1" hangingPunct="1">
              <a:spcBef>
                <a:spcPct val="15000"/>
              </a:spcBef>
              <a:buFontTx/>
              <a:buNone/>
            </a:pPr>
            <a:r>
              <a:rPr lang="en-US" altLang="en-US" sz="2400"/>
              <a:t>End. </a:t>
            </a:r>
          </a:p>
        </p:txBody>
      </p:sp>
      <p:sp>
        <p:nvSpPr>
          <p:cNvPr id="121861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6. Giới thiệu ngôn ngữ PL/0 mở rộng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4A1630-038D-452A-A0DA-2C1D2BADF409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122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228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Phân tích một chương trình PL/0 mở rộng</a:t>
            </a:r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743200" y="914400"/>
            <a:ext cx="3657600" cy="2286000"/>
          </a:xfrm>
          <a:noFill/>
          <a:ln>
            <a:solidFill>
              <a:srgbClr val="4100C4"/>
            </a:solidFill>
            <a:miter lim="800000"/>
            <a:headEnd/>
            <a:tailEnd/>
          </a:ln>
        </p:spPr>
        <p:txBody>
          <a:bodyPr/>
          <a:lstStyle/>
          <a:p>
            <a:pPr marL="231775" indent="-231775" eaLnBrk="1" hangingPunct="1">
              <a:lnSpc>
                <a:spcPct val="110000"/>
              </a:lnSpc>
              <a:buFontTx/>
              <a:buNone/>
            </a:pPr>
            <a:r>
              <a:rPr lang="en-US" altLang="en-US" sz="2800"/>
              <a:t>Program Vidu;</a:t>
            </a:r>
          </a:p>
          <a:p>
            <a:pPr marL="231775" indent="-231775" eaLnBrk="1" hangingPunct="1">
              <a:lnSpc>
                <a:spcPct val="110000"/>
              </a:lnSpc>
              <a:buFontTx/>
              <a:buNone/>
            </a:pPr>
            <a:r>
              <a:rPr lang="en-US" altLang="en-US" sz="2800"/>
              <a:t>Begin</a:t>
            </a:r>
          </a:p>
          <a:p>
            <a:pPr marL="231775" indent="-231775" eaLnBrk="1" hangingPunct="1">
              <a:lnSpc>
                <a:spcPct val="110000"/>
              </a:lnSpc>
              <a:buFontTx/>
              <a:buNone/>
            </a:pPr>
            <a:r>
              <a:rPr lang="en-US" altLang="en-US" sz="2800"/>
              <a:t>   X := 10</a:t>
            </a:r>
          </a:p>
          <a:p>
            <a:pPr marL="231775" indent="-231775" eaLnBrk="1" hangingPunct="1">
              <a:lnSpc>
                <a:spcPct val="110000"/>
              </a:lnSpc>
              <a:buFontTx/>
              <a:buNone/>
            </a:pPr>
            <a:r>
              <a:rPr lang="en-US" altLang="en-US" sz="2800"/>
              <a:t>End.</a:t>
            </a:r>
          </a:p>
          <a:p>
            <a:pPr marL="231775" indent="-231775" eaLnBrk="1" hangingPunct="1">
              <a:lnSpc>
                <a:spcPct val="110000"/>
              </a:lnSpc>
              <a:buFontTx/>
              <a:buNone/>
            </a:pPr>
            <a:endParaRPr lang="en-US" altLang="en-US" sz="2800"/>
          </a:p>
        </p:txBody>
      </p:sp>
      <p:sp>
        <p:nvSpPr>
          <p:cNvPr id="1511430" name="Rectangle 6"/>
          <p:cNvSpPr>
            <a:spLocks noChangeArrowheads="1"/>
          </p:cNvSpPr>
          <p:nvPr/>
        </p:nvSpPr>
        <p:spPr bwMode="auto">
          <a:xfrm>
            <a:off x="381000" y="3657600"/>
            <a:ext cx="83058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31775" indent="-231775"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39775" indent="-274638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422400" indent="-333375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944688" indent="-290513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776538" indent="-3810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32337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36909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41481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4605338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en-US" sz="2800" b="0">
                <a:sym typeface="Symbol" panose="05050102010706020507" pitchFamily="18" charset="2"/>
              </a:rPr>
              <a:t> = </a:t>
            </a:r>
            <a:r>
              <a:rPr lang="en-US" altLang="en-US" sz="2800" b="0"/>
              <a:t>Program  Vidu </a:t>
            </a:r>
            <a:r>
              <a:rPr lang="en-US" altLang="en-US" sz="2800"/>
              <a:t>;</a:t>
            </a:r>
            <a:r>
              <a:rPr lang="en-US" altLang="en-US" sz="2800" b="0"/>
              <a:t> Begin    X  </a:t>
            </a:r>
            <a:r>
              <a:rPr lang="en-US" altLang="en-US" sz="2800"/>
              <a:t>:= </a:t>
            </a:r>
            <a:r>
              <a:rPr lang="en-US" altLang="en-US" sz="2800" b="0"/>
              <a:t>10  End </a:t>
            </a:r>
            <a:r>
              <a:rPr lang="en-US" altLang="en-US" sz="2800"/>
              <a:t>.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en-US" sz="2800" b="0"/>
              <a:t>L(</a:t>
            </a:r>
            <a:r>
              <a:rPr lang="en-US" altLang="en-US" sz="2800" b="0">
                <a:sym typeface="Symbol" panose="05050102010706020507" pitchFamily="18" charset="2"/>
              </a:rPr>
              <a:t>) = 9</a:t>
            </a:r>
          </a:p>
          <a:p>
            <a:pPr algn="ctr" eaLnBrk="1" hangingPunct="1">
              <a:lnSpc>
                <a:spcPct val="110000"/>
              </a:lnSpc>
              <a:buFontTx/>
              <a:buNone/>
            </a:pPr>
            <a:r>
              <a:rPr lang="en-US" altLang="en-US" b="0">
                <a:solidFill>
                  <a:srgbClr val="FA0617"/>
                </a:solidFill>
                <a:sym typeface="Symbol" panose="05050102010706020507" pitchFamily="18" charset="2"/>
              </a:rPr>
              <a:t>&lt;program&gt; </a:t>
            </a:r>
            <a:r>
              <a:rPr lang="en-US" altLang="en-US" b="0" baseline="30000">
                <a:solidFill>
                  <a:srgbClr val="FA0617"/>
                </a:solidFill>
                <a:sym typeface="Symbol" panose="05050102010706020507" pitchFamily="18" charset="2"/>
              </a:rPr>
              <a:t>*</a:t>
            </a:r>
            <a:r>
              <a:rPr lang="en-US" altLang="en-US" b="0">
                <a:solidFill>
                  <a:srgbClr val="FA0617"/>
                </a:solidFill>
                <a:sym typeface="Symbol" panose="05050102010706020507" pitchFamily="18" charset="2"/>
              </a:rPr>
              <a:t> ?</a:t>
            </a:r>
          </a:p>
        </p:txBody>
      </p:sp>
      <p:sp>
        <p:nvSpPr>
          <p:cNvPr id="122886" name="Text Box 7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6. Giới thiệu ngôn ngữ PL/0 mở rộng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1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1430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D8E4B8-4F08-4917-A310-E7D050289ED9}" type="slidenum">
              <a:rPr lang="en-US" altLang="en-US" sz="1400" smtClean="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123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239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Phân tích một chương trình PL/0 mở rộng</a:t>
            </a:r>
          </a:p>
        </p:txBody>
      </p:sp>
      <p:sp>
        <p:nvSpPr>
          <p:cNvPr id="123908" name="Text Box 4"/>
          <p:cNvSpPr txBox="1">
            <a:spLocks noChangeArrowheads="1"/>
          </p:cNvSpPr>
          <p:nvPr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00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>
                <a:solidFill>
                  <a:schemeClr val="bg1"/>
                </a:solidFill>
              </a:rPr>
              <a:t>6. Giới thiệu ngôn ngữ PL/0 mở rộng</a:t>
            </a:r>
          </a:p>
        </p:txBody>
      </p:sp>
      <p:sp>
        <p:nvSpPr>
          <p:cNvPr id="1531910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66700" y="990600"/>
            <a:ext cx="8724900" cy="5562600"/>
          </a:xfrm>
          <a:noFill/>
        </p:spPr>
        <p:txBody>
          <a:bodyPr lIns="0" rIns="0"/>
          <a:lstStyle/>
          <a:p>
            <a:pPr eaLnBrk="1" hangingPunct="1">
              <a:lnSpc>
                <a:spcPct val="105000"/>
              </a:lnSpc>
              <a:buFontTx/>
              <a:buNone/>
            </a:pPr>
            <a:r>
              <a:rPr lang="en-US" altLang="en-US" b="1"/>
              <a:t>&lt;program&gt; </a:t>
            </a:r>
          </a:p>
          <a:p>
            <a:pPr eaLnBrk="1" hangingPunct="1">
              <a:lnSpc>
                <a:spcPct val="105000"/>
              </a:lnSpc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 </a:t>
            </a:r>
            <a:r>
              <a:rPr lang="en-US" altLang="en-US" sz="2800" b="1">
                <a:solidFill>
                  <a:srgbClr val="4717CF"/>
                </a:solidFill>
                <a:sym typeface="Symbol" panose="05050102010706020507" pitchFamily="18" charset="2"/>
              </a:rPr>
              <a:t>Program</a:t>
            </a:r>
            <a:r>
              <a:rPr lang="en-US" altLang="en-US" sz="2800">
                <a:sym typeface="Symbol" panose="05050102010706020507" pitchFamily="18" charset="2"/>
              </a:rPr>
              <a:t> Ident ; &lt;block&gt; .</a:t>
            </a:r>
          </a:p>
          <a:p>
            <a:pPr eaLnBrk="1" hangingPunct="1">
              <a:lnSpc>
                <a:spcPct val="105000"/>
              </a:lnSpc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 </a:t>
            </a:r>
            <a:r>
              <a:rPr lang="en-US" altLang="en-US" sz="2800" b="1">
                <a:solidFill>
                  <a:srgbClr val="4717CF"/>
                </a:solidFill>
                <a:sym typeface="Symbol" panose="05050102010706020507" pitchFamily="18" charset="2"/>
              </a:rPr>
              <a:t>Program </a:t>
            </a:r>
            <a:r>
              <a:rPr lang="en-US" altLang="en-US" sz="2800" b="1" err="1">
                <a:solidFill>
                  <a:srgbClr val="4717CF"/>
                </a:solidFill>
                <a:sym typeface="Symbol" panose="05050102010706020507" pitchFamily="18" charset="2"/>
              </a:rPr>
              <a:t>Vidu</a:t>
            </a:r>
            <a:r>
              <a:rPr lang="en-US" altLang="en-US" sz="2800" b="1">
                <a:solidFill>
                  <a:srgbClr val="4717CF"/>
                </a:solidFill>
                <a:sym typeface="Symbol" panose="05050102010706020507" pitchFamily="18" charset="2"/>
              </a:rPr>
              <a:t> ; </a:t>
            </a:r>
            <a:r>
              <a:rPr lang="en-US" altLang="en-US" sz="2800">
                <a:sym typeface="Symbol" panose="05050102010706020507" pitchFamily="18" charset="2"/>
              </a:rPr>
              <a:t>&lt;block&gt;.</a:t>
            </a:r>
          </a:p>
          <a:p>
            <a:pPr eaLnBrk="1" hangingPunct="1">
              <a:lnSpc>
                <a:spcPct val="105000"/>
              </a:lnSpc>
              <a:buFontTx/>
              <a:buNone/>
            </a:pPr>
            <a:r>
              <a:rPr lang="en-US" altLang="en-US" sz="2800">
                <a:sym typeface="Symbol" panose="05050102010706020507" pitchFamily="18" charset="2"/>
              </a:rPr>
              <a:t> </a:t>
            </a:r>
            <a:r>
              <a:rPr lang="en-US" altLang="en-US" sz="2800" b="1">
                <a:solidFill>
                  <a:srgbClr val="4717CF"/>
                </a:solidFill>
                <a:sym typeface="Symbol" panose="05050102010706020507" pitchFamily="18" charset="2"/>
              </a:rPr>
              <a:t>Program </a:t>
            </a:r>
            <a:r>
              <a:rPr lang="en-US" altLang="en-US" sz="2800" b="1" err="1">
                <a:solidFill>
                  <a:srgbClr val="4717CF"/>
                </a:solidFill>
                <a:sym typeface="Symbol" panose="05050102010706020507" pitchFamily="18" charset="2"/>
              </a:rPr>
              <a:t>Vidu</a:t>
            </a:r>
            <a:r>
              <a:rPr lang="en-US" altLang="en-US" sz="2800" b="1">
                <a:solidFill>
                  <a:srgbClr val="4717CF"/>
                </a:solidFill>
                <a:sym typeface="Symbol" panose="05050102010706020507" pitchFamily="18" charset="2"/>
              </a:rPr>
              <a:t>; </a:t>
            </a:r>
            <a:r>
              <a:rPr lang="en-US" altLang="en-US" sz="2800">
                <a:solidFill>
                  <a:srgbClr val="002060"/>
                </a:solidFill>
                <a:sym typeface="Symbol" panose="05050102010706020507" pitchFamily="18" charset="2"/>
              </a:rPr>
              <a:t>Begin </a:t>
            </a:r>
            <a:r>
              <a:rPr lang="en-US" altLang="en-US" sz="2800">
                <a:sym typeface="Symbol" panose="05050102010706020507" pitchFamily="18" charset="2"/>
              </a:rPr>
              <a:t>&lt;Statement&gt; End.</a:t>
            </a:r>
          </a:p>
          <a:p>
            <a:pPr eaLnBrk="1" hangingPunct="1">
              <a:lnSpc>
                <a:spcPct val="105000"/>
              </a:lnSpc>
              <a:buFont typeface="Symbol" panose="05050102010706020507" pitchFamily="18" charset="2"/>
              <a:buChar char="Þ"/>
            </a:pPr>
            <a:r>
              <a:rPr lang="en-US" altLang="en-US" sz="2800" b="1">
                <a:solidFill>
                  <a:srgbClr val="4717CF"/>
                </a:solidFill>
                <a:sym typeface="Symbol" panose="05050102010706020507" pitchFamily="18" charset="2"/>
              </a:rPr>
              <a:t>Program </a:t>
            </a:r>
            <a:r>
              <a:rPr lang="en-US" altLang="en-US" sz="2800" b="1" err="1">
                <a:solidFill>
                  <a:srgbClr val="4717CF"/>
                </a:solidFill>
                <a:sym typeface="Symbol" panose="05050102010706020507" pitchFamily="18" charset="2"/>
              </a:rPr>
              <a:t>Vidu</a:t>
            </a:r>
            <a:r>
              <a:rPr lang="en-US" altLang="en-US" sz="2800" b="1">
                <a:solidFill>
                  <a:srgbClr val="4717CF"/>
                </a:solidFill>
                <a:sym typeface="Symbol" panose="05050102010706020507" pitchFamily="18" charset="2"/>
              </a:rPr>
              <a:t>; Begin </a:t>
            </a:r>
            <a:r>
              <a:rPr lang="en-US" altLang="en-US" sz="2800">
                <a:sym typeface="Symbol" panose="05050102010706020507" pitchFamily="18" charset="2"/>
              </a:rPr>
              <a:t>Ident := &lt;Expression&gt; End.</a:t>
            </a:r>
          </a:p>
          <a:p>
            <a:pPr eaLnBrk="1" hangingPunct="1">
              <a:lnSpc>
                <a:spcPct val="105000"/>
              </a:lnSpc>
              <a:buFont typeface="Symbol" panose="05050102010706020507" pitchFamily="18" charset="2"/>
              <a:buChar char="Þ"/>
            </a:pPr>
            <a:r>
              <a:rPr lang="en-US" altLang="en-US" sz="2800" b="1">
                <a:solidFill>
                  <a:srgbClr val="4717CF"/>
                </a:solidFill>
                <a:sym typeface="Symbol" panose="05050102010706020507" pitchFamily="18" charset="2"/>
              </a:rPr>
              <a:t>Program </a:t>
            </a:r>
            <a:r>
              <a:rPr lang="en-US" altLang="en-US" sz="2800" b="1" err="1">
                <a:solidFill>
                  <a:srgbClr val="4717CF"/>
                </a:solidFill>
                <a:sym typeface="Symbol" panose="05050102010706020507" pitchFamily="18" charset="2"/>
              </a:rPr>
              <a:t>Vidu</a:t>
            </a:r>
            <a:r>
              <a:rPr lang="en-US" altLang="en-US" sz="2800" b="1">
                <a:solidFill>
                  <a:srgbClr val="4717CF"/>
                </a:solidFill>
                <a:sym typeface="Symbol" panose="05050102010706020507" pitchFamily="18" charset="2"/>
              </a:rPr>
              <a:t>; Begin X := </a:t>
            </a:r>
            <a:r>
              <a:rPr lang="en-US" altLang="en-US" sz="2800">
                <a:sym typeface="Symbol" panose="05050102010706020507" pitchFamily="18" charset="2"/>
              </a:rPr>
              <a:t>&lt;Expression&gt; End.</a:t>
            </a:r>
          </a:p>
          <a:p>
            <a:pPr eaLnBrk="1" hangingPunct="1">
              <a:lnSpc>
                <a:spcPct val="105000"/>
              </a:lnSpc>
              <a:buFont typeface="Symbol" panose="05050102010706020507" pitchFamily="18" charset="2"/>
              <a:buChar char="Þ"/>
            </a:pPr>
            <a:r>
              <a:rPr lang="en-US" altLang="en-US" sz="2800" b="1">
                <a:solidFill>
                  <a:srgbClr val="4717CF"/>
                </a:solidFill>
                <a:sym typeface="Symbol" panose="05050102010706020507" pitchFamily="18" charset="2"/>
              </a:rPr>
              <a:t>Program </a:t>
            </a:r>
            <a:r>
              <a:rPr lang="en-US" altLang="en-US" sz="2800" b="1" err="1">
                <a:solidFill>
                  <a:srgbClr val="4717CF"/>
                </a:solidFill>
                <a:sym typeface="Symbol" panose="05050102010706020507" pitchFamily="18" charset="2"/>
              </a:rPr>
              <a:t>Vidu</a:t>
            </a:r>
            <a:r>
              <a:rPr lang="en-US" altLang="en-US" sz="2800" b="1">
                <a:solidFill>
                  <a:srgbClr val="4717CF"/>
                </a:solidFill>
                <a:sym typeface="Symbol" panose="05050102010706020507" pitchFamily="18" charset="2"/>
              </a:rPr>
              <a:t>; Begin X := </a:t>
            </a:r>
            <a:r>
              <a:rPr lang="en-US" altLang="en-US" sz="2800">
                <a:sym typeface="Symbol" panose="05050102010706020507" pitchFamily="18" charset="2"/>
              </a:rPr>
              <a:t>&lt;Term&gt; End.</a:t>
            </a:r>
          </a:p>
          <a:p>
            <a:pPr eaLnBrk="1" hangingPunct="1">
              <a:lnSpc>
                <a:spcPct val="105000"/>
              </a:lnSpc>
              <a:buFont typeface="Symbol" panose="05050102010706020507" pitchFamily="18" charset="2"/>
              <a:buChar char="Þ"/>
            </a:pPr>
            <a:r>
              <a:rPr lang="en-US" altLang="en-US" sz="2800" b="1">
                <a:solidFill>
                  <a:srgbClr val="4717CF"/>
                </a:solidFill>
                <a:sym typeface="Symbol" panose="05050102010706020507" pitchFamily="18" charset="2"/>
              </a:rPr>
              <a:t>Program </a:t>
            </a:r>
            <a:r>
              <a:rPr lang="en-US" altLang="en-US" sz="2800" b="1" err="1">
                <a:solidFill>
                  <a:srgbClr val="4717CF"/>
                </a:solidFill>
                <a:sym typeface="Symbol" panose="05050102010706020507" pitchFamily="18" charset="2"/>
              </a:rPr>
              <a:t>Vidu</a:t>
            </a:r>
            <a:r>
              <a:rPr lang="en-US" altLang="en-US" sz="2800" b="1">
                <a:solidFill>
                  <a:srgbClr val="4717CF"/>
                </a:solidFill>
                <a:sym typeface="Symbol" panose="05050102010706020507" pitchFamily="18" charset="2"/>
              </a:rPr>
              <a:t>; Begin X := </a:t>
            </a:r>
            <a:r>
              <a:rPr lang="en-US" altLang="en-US" sz="2800">
                <a:sym typeface="Symbol" panose="05050102010706020507" pitchFamily="18" charset="2"/>
              </a:rPr>
              <a:t>&lt;Factor&gt; End.</a:t>
            </a:r>
          </a:p>
          <a:p>
            <a:pPr eaLnBrk="1" hangingPunct="1">
              <a:lnSpc>
                <a:spcPct val="105000"/>
              </a:lnSpc>
              <a:buFont typeface="Symbol" panose="05050102010706020507" pitchFamily="18" charset="2"/>
              <a:buChar char="Þ"/>
            </a:pPr>
            <a:r>
              <a:rPr lang="en-US" altLang="en-US" sz="2800" b="1">
                <a:solidFill>
                  <a:srgbClr val="4717CF"/>
                </a:solidFill>
                <a:sym typeface="Symbol" panose="05050102010706020507" pitchFamily="18" charset="2"/>
              </a:rPr>
              <a:t>Program </a:t>
            </a:r>
            <a:r>
              <a:rPr lang="en-US" altLang="en-US" sz="2800" b="1" err="1">
                <a:solidFill>
                  <a:srgbClr val="4717CF"/>
                </a:solidFill>
                <a:sym typeface="Symbol" panose="05050102010706020507" pitchFamily="18" charset="2"/>
              </a:rPr>
              <a:t>Vidu</a:t>
            </a:r>
            <a:r>
              <a:rPr lang="en-US" altLang="en-US" sz="2800" b="1">
                <a:solidFill>
                  <a:srgbClr val="4717CF"/>
                </a:solidFill>
                <a:sym typeface="Symbol" panose="05050102010706020507" pitchFamily="18" charset="2"/>
              </a:rPr>
              <a:t>; Begin X:= </a:t>
            </a:r>
            <a:r>
              <a:rPr lang="en-US" altLang="en-US" sz="2800">
                <a:sym typeface="Symbol" panose="05050102010706020507" pitchFamily="18" charset="2"/>
              </a:rPr>
              <a:t>Number End.</a:t>
            </a:r>
          </a:p>
          <a:p>
            <a:pPr eaLnBrk="1" hangingPunct="1">
              <a:lnSpc>
                <a:spcPct val="105000"/>
              </a:lnSpc>
              <a:buFont typeface="Symbol" panose="05050102010706020507" pitchFamily="18" charset="2"/>
              <a:buChar char="Þ"/>
            </a:pPr>
            <a:r>
              <a:rPr lang="en-US" altLang="en-US" sz="2800" b="1">
                <a:solidFill>
                  <a:srgbClr val="4717CF"/>
                </a:solidFill>
                <a:sym typeface="Symbol" panose="05050102010706020507" pitchFamily="18" charset="2"/>
              </a:rPr>
              <a:t> Program </a:t>
            </a:r>
            <a:r>
              <a:rPr lang="en-US" altLang="en-US" sz="2800" b="1" err="1">
                <a:solidFill>
                  <a:srgbClr val="4717CF"/>
                </a:solidFill>
                <a:sym typeface="Symbol" panose="05050102010706020507" pitchFamily="18" charset="2"/>
              </a:rPr>
              <a:t>Vidu</a:t>
            </a:r>
            <a:r>
              <a:rPr lang="en-US" altLang="en-US" sz="2800" b="1">
                <a:solidFill>
                  <a:srgbClr val="4717CF"/>
                </a:solidFill>
                <a:sym typeface="Symbol" panose="05050102010706020507" pitchFamily="18" charset="2"/>
              </a:rPr>
              <a:t>; Begin X:= </a:t>
            </a:r>
            <a:r>
              <a:rPr lang="en-US" altLang="en-US" sz="2800">
                <a:sym typeface="Symbol" panose="05050102010706020507" pitchFamily="18" charset="2"/>
              </a:rPr>
              <a:t>10 End</a:t>
            </a:r>
            <a:endParaRPr lang="en-US" altLang="en-US" sz="2800" b="1">
              <a:solidFill>
                <a:srgbClr val="4717CF"/>
              </a:solidFill>
              <a:sym typeface="Symbol" panose="05050102010706020507" pitchFamily="18" charset="2"/>
            </a:endParaRPr>
          </a:p>
        </p:txBody>
      </p:sp>
      <p:sp>
        <p:nvSpPr>
          <p:cNvPr id="1531911" name="Text Box 7"/>
          <p:cNvSpPr txBox="1">
            <a:spLocks noChangeArrowheads="1"/>
          </p:cNvSpPr>
          <p:nvPr/>
        </p:nvSpPr>
        <p:spPr bwMode="auto">
          <a:xfrm>
            <a:off x="4986338" y="804863"/>
            <a:ext cx="4114800" cy="1416050"/>
          </a:xfrm>
          <a:prstGeom prst="rect">
            <a:avLst/>
          </a:prstGeom>
          <a:noFill/>
          <a:ln w="9525">
            <a:solidFill>
              <a:srgbClr val="29292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270076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270076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70076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270076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lang="fr-FR" altLang="en-US" sz="2400" b="0"/>
              <a:t>Ident</a:t>
            </a:r>
            <a:r>
              <a:rPr lang="fr-FR" altLang="en-US" sz="2400" b="0">
                <a:solidFill>
                  <a:srgbClr val="B205FF"/>
                </a:solidFill>
              </a:rPr>
              <a:t>(Vidu), </a:t>
            </a:r>
            <a:r>
              <a:rPr lang="fr-FR" altLang="en-US" sz="2400" b="0"/>
              <a:t>Ident</a:t>
            </a:r>
            <a:r>
              <a:rPr lang="fr-FR" altLang="en-US" sz="2400" b="0">
                <a:solidFill>
                  <a:srgbClr val="B205FF"/>
                </a:solidFill>
              </a:rPr>
              <a:t> (X), </a:t>
            </a:r>
            <a:r>
              <a:rPr lang="fr-FR" altLang="en-US" sz="2400" b="0"/>
              <a:t>Number</a:t>
            </a:r>
            <a:r>
              <a:rPr lang="fr-FR" altLang="en-US" sz="2400" b="0">
                <a:solidFill>
                  <a:srgbClr val="B205FF"/>
                </a:solidFill>
              </a:rPr>
              <a:t>(10) được xác định bởi bộ phân tích từ vựng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1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9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319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9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319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9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319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9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319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9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319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9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319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9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319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9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5319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9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5319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531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1911" grpId="0" animBg="1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0FFAE7D4D9384F863C0EA8EC5E66A5" ma:contentTypeVersion="3" ma:contentTypeDescription="Create a new document." ma:contentTypeScope="" ma:versionID="2e0647a6082c202b25e2cd11cc8c0fc7">
  <xsd:schema xmlns:xsd="http://www.w3.org/2001/XMLSchema" xmlns:xs="http://www.w3.org/2001/XMLSchema" xmlns:p="http://schemas.microsoft.com/office/2006/metadata/properties" xmlns:ns2="f7664130-3e34-4c09-8170-b6a4a2db0e32" targetNamespace="http://schemas.microsoft.com/office/2006/metadata/properties" ma:root="true" ma:fieldsID="9e7f8bfd8c845b8e363ded0c76629374" ns2:_="">
    <xsd:import namespace="f7664130-3e34-4c09-8170-b6a4a2db0e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664130-3e34-4c09-8170-b6a4a2db0e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473831-214E-432D-8EEE-CDE42BBD21A8}">
  <ds:schemaRefs>
    <ds:schemaRef ds:uri="f7664130-3e34-4c09-8170-b6a4a2db0e3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37F84C0-EFB1-48C9-A883-8BEF991CD029}">
  <ds:schemaRefs>
    <ds:schemaRef ds:uri="http://purl.org/dc/elements/1.1/"/>
    <ds:schemaRef ds:uri="http://purl.org/dc/terms/"/>
    <ds:schemaRef ds:uri="http://www.w3.org/XML/1998/namespace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f7664130-3e34-4c09-8170-b6a4a2db0e32"/>
  </ds:schemaRefs>
</ds:datastoreItem>
</file>

<file path=customXml/itemProps3.xml><?xml version="1.0" encoding="utf-8"?>
<ds:datastoreItem xmlns:ds="http://schemas.openxmlformats.org/officeDocument/2006/customXml" ds:itemID="{4769F9C6-4D47-49AC-850B-88A4068BCB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29</TotalTime>
  <Words>12250</Words>
  <Application>Microsoft Office PowerPoint</Application>
  <PresentationFormat>On-screen Show (4:3)</PresentationFormat>
  <Paragraphs>1666</Paragraphs>
  <Slides>123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123</vt:i4>
      </vt:variant>
    </vt:vector>
  </HeadingPairs>
  <TitlesOfParts>
    <vt:vector size="131" baseType="lpstr">
      <vt:lpstr>Arial</vt:lpstr>
      <vt:lpstr>Script MT Bold</vt:lpstr>
      <vt:lpstr>Symbol</vt:lpstr>
      <vt:lpstr>Times New Roman</vt:lpstr>
      <vt:lpstr>VNtimes new roman</vt:lpstr>
      <vt:lpstr>Wingdings</vt:lpstr>
      <vt:lpstr>Default Design</vt:lpstr>
      <vt:lpstr>Bitmap Image</vt:lpstr>
      <vt:lpstr>PowerPoint Presentation</vt:lpstr>
      <vt:lpstr>Chương 1: Những khái niệm cơ bản</vt:lpstr>
      <vt:lpstr>Sự cần thiết của ngôn ngữ lập trình bậc cao</vt:lpstr>
      <vt:lpstr>Ngôn ngữ lập trình cấp cao (NNLTCC)</vt:lpstr>
      <vt:lpstr>Chương trình biên dịch (compiler)</vt:lpstr>
      <vt:lpstr>Các bước xử lý chương trình</vt:lpstr>
      <vt:lpstr>Thông dịch (interpreter)</vt:lpstr>
      <vt:lpstr>Dịch và thực hiện chương trình nguồn</vt:lpstr>
      <vt:lpstr>Compiler &gt;&lt; interpreter</vt:lpstr>
      <vt:lpstr>T-Diagram</vt:lpstr>
      <vt:lpstr>T-Diagram</vt:lpstr>
      <vt:lpstr>Xây dựng chương trình dịch</vt:lpstr>
      <vt:lpstr>Xây dựng chương trình dịch: Bootstrapping</vt:lpstr>
      <vt:lpstr>Xây dựng chương trình dịch: Cross Compiling</vt:lpstr>
      <vt:lpstr>Xây dựng chương trình dịch: Cross Compiling</vt:lpstr>
      <vt:lpstr>Xây dựng chương trình dịch: Cross Compiling</vt:lpstr>
      <vt:lpstr>Chương 1: Những khái niệm cơ bản</vt:lpstr>
      <vt:lpstr>Các thế hệ ngôn ngữ lập trình</vt:lpstr>
      <vt:lpstr>Các thế hệ ngôn ngữ lập trình</vt:lpstr>
      <vt:lpstr>Các thế hệ ngôn ngữ lập trình</vt:lpstr>
      <vt:lpstr>Các thành phần của NNLTCC</vt:lpstr>
      <vt:lpstr>Từ vựng và cú pháp</vt:lpstr>
      <vt:lpstr>Kiểu dữ liệu</vt:lpstr>
      <vt:lpstr>Các đại lượng</vt:lpstr>
      <vt:lpstr>Toán tử và biểu thức</vt:lpstr>
      <vt:lpstr>Các câu lệnh</vt:lpstr>
      <vt:lpstr>Chương trình con</vt:lpstr>
      <vt:lpstr>Nhận xét</vt:lpstr>
      <vt:lpstr>Bài tập thực hành số 1</vt:lpstr>
      <vt:lpstr>Chương 1: Những khái niệm cơ bản</vt:lpstr>
      <vt:lpstr>Các phase của chương trình dịch</vt:lpstr>
      <vt:lpstr>Cấu trúc chương trình dịch</vt:lpstr>
      <vt:lpstr>Bảng ký hiệu</vt:lpstr>
      <vt:lpstr>Bảng ký hiệuVí dụ</vt:lpstr>
      <vt:lpstr>Phân tích từ vựng (Lexical Analysis - Scanner)</vt:lpstr>
      <vt:lpstr>Phân tích từ vựng Ví dụ</vt:lpstr>
      <vt:lpstr>Phân tích từ vựng Ví dụ</vt:lpstr>
      <vt:lpstr>Phân tích cú pháp (Syntax Analysis)</vt:lpstr>
      <vt:lpstr>Phân tích cú pháp Ví dụ 1</vt:lpstr>
      <vt:lpstr>Phân tích cú pháp Ví dụ 2</vt:lpstr>
      <vt:lpstr>Phân tích cú pháp  Cây phân tích (parse tree)</vt:lpstr>
      <vt:lpstr>Phân tích cú pháp  Cây cú pháp (syntax tree)</vt:lpstr>
      <vt:lpstr>Phân tích ngữ nghĩa (Semantic Analysis)</vt:lpstr>
      <vt:lpstr>Sinh mã (Code Generation)</vt:lpstr>
      <vt:lpstr>Sinh mãSinh mã trung gian</vt:lpstr>
      <vt:lpstr>Sinh mãSinh mã trung gianMã 3 địa chỉ</vt:lpstr>
      <vt:lpstr>Sinh mãTối ưu mã trung gian</vt:lpstr>
      <vt:lpstr>Sinh mãSinh mã đích</vt:lpstr>
      <vt:lpstr>Xử lý lỗi</vt:lpstr>
      <vt:lpstr>Xử lý lỗi</vt:lpstr>
      <vt:lpstr>PowerPoint Presentation</vt:lpstr>
      <vt:lpstr>Ghi chú</vt:lpstr>
      <vt:lpstr>Bài tập thực hành số 2</vt:lpstr>
      <vt:lpstr>Chương 1: Những khái niệm cơ bản</vt:lpstr>
      <vt:lpstr>Giới thiệu</vt:lpstr>
      <vt:lpstr>Khái niệm văn phạm và ngôn ngữ</vt:lpstr>
      <vt:lpstr>Kiến thức toán học liên quanTập hợp</vt:lpstr>
      <vt:lpstr>Kiến thức toán học liên quanTập hợp</vt:lpstr>
      <vt:lpstr>Kiến thức toán học liên quanTập hợp</vt:lpstr>
      <vt:lpstr>Kiến thức toán học liên quanQuan hệ</vt:lpstr>
      <vt:lpstr>Kiến thức toán học liên quanHàm</vt:lpstr>
      <vt:lpstr>Kiến thức toán học liên quanĐồ thị</vt:lpstr>
      <vt:lpstr>Kiến thức toán học liên quanCây</vt:lpstr>
      <vt:lpstr>Kiến thức toán học liên quanCây</vt:lpstr>
      <vt:lpstr>Bộ chữ</vt:lpstr>
      <vt:lpstr>Xâu ký hiệu</vt:lpstr>
      <vt:lpstr>Xâu ký hiệu</vt:lpstr>
      <vt:lpstr>Xâu ký hiệu</vt:lpstr>
      <vt:lpstr>Xâu ký hiệu  Tính toán trên tập xâu</vt:lpstr>
      <vt:lpstr>Xâu ký hiệu  Tính toán trên tập xâu</vt:lpstr>
      <vt:lpstr>Xâu ký hiệu  Tính toán trên tập xâu</vt:lpstr>
      <vt:lpstr>Ngôn ngữ (Languages)</vt:lpstr>
      <vt:lpstr>Ngôn ngữ (Languages)  Các phép toán</vt:lpstr>
      <vt:lpstr>Văn phạm (Grammar)</vt:lpstr>
      <vt:lpstr>Văn phạm  Ví dụ</vt:lpstr>
      <vt:lpstr>Suy dẫn (Derivation)</vt:lpstr>
      <vt:lpstr>Suy dẫn</vt:lpstr>
      <vt:lpstr>Suy dẫn  Ví dụ</vt:lpstr>
      <vt:lpstr>Câu</vt:lpstr>
      <vt:lpstr>Câu  Ví dụ</vt:lpstr>
      <vt:lpstr>Ngôn ngữ sản sinh</vt:lpstr>
      <vt:lpstr>Quy ước</vt:lpstr>
      <vt:lpstr>Ngôn ngữVí dụ</vt:lpstr>
      <vt:lpstr>Đệ quy</vt:lpstr>
      <vt:lpstr>Văn phạm tương đương</vt:lpstr>
      <vt:lpstr>Phân loại văn phạm</vt:lpstr>
      <vt:lpstr>Phân loại văn phạm</vt:lpstr>
      <vt:lpstr>Chương 1: Những khái niệm cơ bản</vt:lpstr>
      <vt:lpstr>Văn phạm phi ngữ cảnh</vt:lpstr>
      <vt:lpstr>Cây suy dẫn</vt:lpstr>
      <vt:lpstr>Cây suy dẫnVí dụ</vt:lpstr>
      <vt:lpstr>Suy dẫn trái</vt:lpstr>
      <vt:lpstr>Suy dẫn phải</vt:lpstr>
      <vt:lpstr>Văn phạm đơn nghĩa</vt:lpstr>
      <vt:lpstr>Văn phạm đơn nghĩaVí dụ 1</vt:lpstr>
      <vt:lpstr>Văn phạm đơn nghĩa Ví dụ 2</vt:lpstr>
      <vt:lpstr>Văn phạm đơn nghĩa Ví dụ 2</vt:lpstr>
      <vt:lpstr>Văn phạm đơn nghĩaKhử nhập nhằng</vt:lpstr>
      <vt:lpstr>Sản xuất đệ quy</vt:lpstr>
      <vt:lpstr>Sản xuất đệ quy Khử đệ quy trái</vt:lpstr>
      <vt:lpstr>Ký hiệu vô ích</vt:lpstr>
      <vt:lpstr>Ký hiệu vô ích Ví dụ</vt:lpstr>
      <vt:lpstr>Vấn đề phân tích cú pháp (1/4)</vt:lpstr>
      <vt:lpstr>Vấn đề phân tích cú pháp (2/4)</vt:lpstr>
      <vt:lpstr>Vấn đề phân tích cú pháp (3/4)</vt:lpstr>
      <vt:lpstr>Vấn đề phân tích cú pháp (4/4)</vt:lpstr>
      <vt:lpstr>Chương 1: Những khái niệm cơ bản</vt:lpstr>
      <vt:lpstr>Dạng chuẩn BNF</vt:lpstr>
      <vt:lpstr>Ký pháp BNF</vt:lpstr>
      <vt:lpstr>Ký pháp BNFVí dụ</vt:lpstr>
      <vt:lpstr>Ký pháp EBNF (Extended BNF ) </vt:lpstr>
      <vt:lpstr>Ký pháp EBNF  Ví dụ </vt:lpstr>
      <vt:lpstr>Sơ đồ cú pháp</vt:lpstr>
      <vt:lpstr>Ngôn ngữ PL/0</vt:lpstr>
      <vt:lpstr>Ngôn ngữ PL/0</vt:lpstr>
      <vt:lpstr>Sơ đồ cú pháp cho ngôn ngữ PL/0 mở rộng</vt:lpstr>
      <vt:lpstr>PowerPoint Presentation</vt:lpstr>
      <vt:lpstr>PowerPoint Presentation</vt:lpstr>
      <vt:lpstr>PowerPoint Presentation</vt:lpstr>
      <vt:lpstr>PowerPoint Presentation</vt:lpstr>
      <vt:lpstr>Ví dụ viết trên ngôn ngữ PL/0 mở rộng</vt:lpstr>
      <vt:lpstr>Phân tích một chương trình PL/0 mở rộng</vt:lpstr>
      <vt:lpstr>Phân tích một chương trình PL/0 mở rộng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Pham Dang Hai</dc:creator>
  <cp:lastModifiedBy>Nguyen Le Tuan Duy 20226079</cp:lastModifiedBy>
  <cp:revision>2</cp:revision>
  <dcterms:created xsi:type="dcterms:W3CDTF">2011-09-29T02:04:50Z</dcterms:created>
  <dcterms:modified xsi:type="dcterms:W3CDTF">2026-05-17T04:59:11Z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0x010100130FFAE7D4D9384F863C0EA8EC5E66A5</vt:lpwstr>
  </property>
  <property fmtid="{D5CDD505-2E9C-101B-9397-08002B2CF9AE}" pid="3" name="Order">
    <vt:r8>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</Properties>
</file>