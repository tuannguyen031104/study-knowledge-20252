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1"/>
  </p:notesMasterIdLst>
  <p:handoutMasterIdLst>
    <p:handoutMasterId r:id="rId132"/>
  </p:handoutMasterIdLst>
  <p:sldIdLst>
    <p:sldId id="256" r:id="rId5"/>
    <p:sldId id="257" r:id="rId6"/>
    <p:sldId id="272" r:id="rId7"/>
    <p:sldId id="277" r:id="rId8"/>
    <p:sldId id="278" r:id="rId9"/>
    <p:sldId id="451" r:id="rId10"/>
    <p:sldId id="375" r:id="rId11"/>
    <p:sldId id="279" r:id="rId12"/>
    <p:sldId id="280" r:id="rId13"/>
    <p:sldId id="282" r:id="rId14"/>
    <p:sldId id="283" r:id="rId15"/>
    <p:sldId id="284" r:id="rId16"/>
    <p:sldId id="285" r:id="rId17"/>
    <p:sldId id="452" r:id="rId18"/>
    <p:sldId id="286" r:id="rId19"/>
    <p:sldId id="287" r:id="rId20"/>
    <p:sldId id="281" r:id="rId21"/>
    <p:sldId id="288" r:id="rId22"/>
    <p:sldId id="289" r:id="rId23"/>
    <p:sldId id="290" r:id="rId24"/>
    <p:sldId id="389" r:id="rId25"/>
    <p:sldId id="390" r:id="rId26"/>
    <p:sldId id="388" r:id="rId27"/>
    <p:sldId id="291" r:id="rId28"/>
    <p:sldId id="292" r:id="rId29"/>
    <p:sldId id="293" r:id="rId30"/>
    <p:sldId id="294" r:id="rId31"/>
    <p:sldId id="295" r:id="rId32"/>
    <p:sldId id="453" r:id="rId33"/>
    <p:sldId id="394" r:id="rId34"/>
    <p:sldId id="393" r:id="rId35"/>
    <p:sldId id="395" r:id="rId36"/>
    <p:sldId id="396" r:id="rId37"/>
    <p:sldId id="397" r:id="rId38"/>
    <p:sldId id="398" r:id="rId39"/>
    <p:sldId id="296" r:id="rId40"/>
    <p:sldId id="274" r:id="rId41"/>
    <p:sldId id="377" r:id="rId42"/>
    <p:sldId id="378" r:id="rId43"/>
    <p:sldId id="379" r:id="rId44"/>
    <p:sldId id="380" r:id="rId45"/>
    <p:sldId id="381" r:id="rId46"/>
    <p:sldId id="382" r:id="rId47"/>
    <p:sldId id="383" r:id="rId48"/>
    <p:sldId id="384" r:id="rId49"/>
    <p:sldId id="385" r:id="rId50"/>
    <p:sldId id="386" r:id="rId51"/>
    <p:sldId id="387" r:id="rId52"/>
    <p:sldId id="470" r:id="rId53"/>
    <p:sldId id="391" r:id="rId54"/>
    <p:sldId id="376" r:id="rId55"/>
    <p:sldId id="276" r:id="rId56"/>
    <p:sldId id="297" r:id="rId57"/>
    <p:sldId id="299" r:id="rId58"/>
    <p:sldId id="300" r:id="rId59"/>
    <p:sldId id="301" r:id="rId60"/>
    <p:sldId id="302" r:id="rId61"/>
    <p:sldId id="407" r:id="rId62"/>
    <p:sldId id="306" r:id="rId63"/>
    <p:sldId id="305" r:id="rId64"/>
    <p:sldId id="307" r:id="rId65"/>
    <p:sldId id="308" r:id="rId66"/>
    <p:sldId id="309" r:id="rId67"/>
    <p:sldId id="310" r:id="rId68"/>
    <p:sldId id="311" r:id="rId69"/>
    <p:sldId id="312" r:id="rId70"/>
    <p:sldId id="314" r:id="rId71"/>
    <p:sldId id="315" r:id="rId72"/>
    <p:sldId id="316" r:id="rId73"/>
    <p:sldId id="317" r:id="rId74"/>
    <p:sldId id="319" r:id="rId75"/>
    <p:sldId id="318" r:id="rId76"/>
    <p:sldId id="320" r:id="rId77"/>
    <p:sldId id="330" r:id="rId78"/>
    <p:sldId id="331" r:id="rId79"/>
    <p:sldId id="327" r:id="rId80"/>
    <p:sldId id="326" r:id="rId81"/>
    <p:sldId id="321" r:id="rId82"/>
    <p:sldId id="329" r:id="rId83"/>
    <p:sldId id="328" r:id="rId84"/>
    <p:sldId id="332" r:id="rId85"/>
    <p:sldId id="333" r:id="rId86"/>
    <p:sldId id="322" r:id="rId87"/>
    <p:sldId id="323" r:id="rId88"/>
    <p:sldId id="334" r:id="rId89"/>
    <p:sldId id="335" r:id="rId90"/>
    <p:sldId id="324" r:id="rId91"/>
    <p:sldId id="463" r:id="rId92"/>
    <p:sldId id="464" r:id="rId93"/>
    <p:sldId id="415" r:id="rId94"/>
    <p:sldId id="325" r:id="rId95"/>
    <p:sldId id="336" r:id="rId96"/>
    <p:sldId id="337" r:id="rId97"/>
    <p:sldId id="338" r:id="rId98"/>
    <p:sldId id="343" r:id="rId99"/>
    <p:sldId id="344" r:id="rId100"/>
    <p:sldId id="345" r:id="rId101"/>
    <p:sldId id="348" r:id="rId102"/>
    <p:sldId id="349" r:id="rId103"/>
    <p:sldId id="346" r:id="rId104"/>
    <p:sldId id="350" r:id="rId105"/>
    <p:sldId id="351" r:id="rId106"/>
    <p:sldId id="352" r:id="rId107"/>
    <p:sldId id="353" r:id="rId108"/>
    <p:sldId id="339" r:id="rId109"/>
    <p:sldId id="357" r:id="rId110"/>
    <p:sldId id="340" r:id="rId111"/>
    <p:sldId id="347" r:id="rId112"/>
    <p:sldId id="341" r:id="rId113"/>
    <p:sldId id="342" r:id="rId114"/>
    <p:sldId id="356" r:id="rId115"/>
    <p:sldId id="355" r:id="rId116"/>
    <p:sldId id="358" r:id="rId117"/>
    <p:sldId id="373" r:id="rId118"/>
    <p:sldId id="374" r:id="rId119"/>
    <p:sldId id="408" r:id="rId120"/>
    <p:sldId id="359" r:id="rId121"/>
    <p:sldId id="360" r:id="rId122"/>
    <p:sldId id="361" r:id="rId123"/>
    <p:sldId id="362" r:id="rId124"/>
    <p:sldId id="363" r:id="rId125"/>
    <p:sldId id="364" r:id="rId126"/>
    <p:sldId id="366" r:id="rId127"/>
    <p:sldId id="365" r:id="rId128"/>
    <p:sldId id="367" r:id="rId129"/>
    <p:sldId id="368" r:id="rId13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617"/>
    <a:srgbClr val="270076"/>
    <a:srgbClr val="FFFC5A"/>
    <a:srgbClr val="D0ACEE"/>
    <a:srgbClr val="6B7AEB"/>
    <a:srgbClr val="B205FF"/>
    <a:srgbClr val="A2B8FE"/>
    <a:srgbClr val="353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5" autoAdjust="0"/>
    <p:restoredTop sz="88649" autoAdjust="0"/>
  </p:normalViewPr>
  <p:slideViewPr>
    <p:cSldViewPr>
      <p:cViewPr varScale="1">
        <p:scale>
          <a:sx n="62" d="100"/>
          <a:sy n="62" d="100"/>
        </p:scale>
        <p:origin x="18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theme" Target="theme/theme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customXml" Target="../customXml/item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1F4AAF3-A67E-F86E-7C5F-FDB85271BF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AF5C2B-C069-D899-D356-615A2A460D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2E0CBAF3-A4DB-7487-2917-BB4E680693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1CF253E5-9BC8-E1E5-0527-EF0685AB42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EB10B931-9BEE-473C-98BD-EC2FF483F6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B23D1C30-0522-3027-5918-72C571E01F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18E4E2B0-4ED9-2241-20DC-42D2935FD2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CF55E32-8A72-39BD-83A9-029954DC9A2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>
            <a:extLst>
              <a:ext uri="{FF2B5EF4-FFF2-40B4-BE49-F238E27FC236}">
                <a16:creationId xmlns:a16="http://schemas.microsoft.com/office/drawing/2014/main" id="{2B0208CE-6608-709D-FE7E-21031297506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>
            <a:extLst>
              <a:ext uri="{FF2B5EF4-FFF2-40B4-BE49-F238E27FC236}">
                <a16:creationId xmlns:a16="http://schemas.microsoft.com/office/drawing/2014/main" id="{A0781D24-5AC9-A082-723D-6FAD3676CD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>
            <a:extLst>
              <a:ext uri="{FF2B5EF4-FFF2-40B4-BE49-F238E27FC236}">
                <a16:creationId xmlns:a16="http://schemas.microsoft.com/office/drawing/2014/main" id="{E0140712-0BBC-7628-6429-B690E4926D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BD314ADB-667B-4CBA-84AE-36938CC43C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606D121D-87D7-F085-EAC0-D8050ADBCD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D1F9FA-CC55-4C88-9B9E-6D3C35931B8B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85FCD18B-4CA1-DC18-64F6-A17E066624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2BBED4E-6773-BFDE-4F82-6DF724F63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 lIns="91440" tIns="45720" bIns="45720"/>
          <a:lstStyle>
            <a:lvl1pPr>
              <a:defRPr sz="5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endParaRPr lang="fr-FR" altLang="en-US" noProof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33EB9F8-0596-95F8-721C-6BD9FB05B1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304800" y="6248400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/>
            </a:lvl1pPr>
          </a:lstStyle>
          <a:p>
            <a:pPr>
              <a:defRPr/>
            </a:pPr>
            <a:fld id="{E695E0B0-70FE-413F-9976-31FBB66B5C15}" type="datetime1">
              <a:rPr lang="en-US" altLang="en-US"/>
              <a:pPr>
                <a:defRPr/>
              </a:pPr>
              <a:t>4/20/2026</a:t>
            </a:fld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00A4C30-B4C0-8D7A-BF22-4DBF08393C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35F595E-F311-C62A-5F4B-82D7CE0B9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615D3-0349-4ED8-A9F2-A8A45C118A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66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81FE9E-5A8E-D6DE-5B40-A692935281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39136F-1E41-488D-1C5A-D57BCE3160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80C5BA-7CBB-4A00-A9F2-C7572A2F51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570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658823-3F40-A8A7-8BF1-45A000E956A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A9FD38-5CB0-407B-41E1-070DEE1066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40C7C-9C05-48B8-BA53-E8829F310C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02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B247F9-4E4F-A8F2-56E4-387B4084D3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258DA0-59B9-FED3-E376-EA1872033F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D4E93-D64E-4D68-AF33-E592AC3267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43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EAC08ED-8218-6013-B143-564DC102616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9DE15CD-F803-7B60-22C1-C09FB9F7CDE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B81E9-EF00-4DA5-A838-8D73E3BE15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49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83387F2-D29D-2169-7F2C-9AA5FB79487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66B5819-0D38-9D4A-F68C-8EC16DE9F1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7E68E2-724B-4CEE-BFC5-B23A1FE81A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9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EDCEBFF-C837-305D-E388-2AF2C4CBD4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6DE8A29-2DBC-35BC-1625-93ABE0ACEA2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A78CCD-6289-4F35-ADF1-A2C812BE13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475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70C7C2-832C-3F12-0CDC-E09702FC2FD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38DB57-DDBA-FDBA-D054-BFBAF773BF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C4963-8547-43F0-BFF7-F2B1830F1B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364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2DA7BF-8347-61BD-3281-A310BA76D41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87EB09-46D9-9AE8-5A3F-93FAAFBA9E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3B197-2F7C-4511-93C1-3C973A7CC7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003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436C952-1738-7378-13B3-B7549BEC11A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3BC4C2-D7B0-F721-B068-08E26F5DA4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8FB92-08F4-4429-A971-EEC639E0C5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415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90513"/>
            <a:ext cx="2286000" cy="61102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90513"/>
            <a:ext cx="6705600" cy="61102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70BFBF3-26D2-8209-C4AE-52CB5E18BD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48E0558-B706-9217-54B5-B115741433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BF7E4-77F5-492C-B2D4-C06E0BE12F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05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0513"/>
            <a:ext cx="9144000" cy="471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670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913AB3-AED1-EC96-0319-1C14D186E0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84D97D-7B82-541D-849A-5455BEF96C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F092C-2C3B-4E45-9ABB-C05BD0ED53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367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0513"/>
            <a:ext cx="9144000" cy="471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66700" y="1066800"/>
            <a:ext cx="8724900" cy="5334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BFCC60-7A33-B296-CF3E-98316E2269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333962A-110E-0E8A-4CCE-E7364A93CA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A8180-9777-48A1-B011-16ACECAE5F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79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66322D-DACD-27B5-C51D-0ADCDCC7E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90513"/>
            <a:ext cx="9144000" cy="471487"/>
          </a:xfrm>
          <a:prstGeom prst="rect">
            <a:avLst/>
          </a:prstGeom>
          <a:solidFill>
            <a:srgbClr val="27007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0" tIns="0" rIns="91440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2E3F558-A58B-169A-49E6-5CD81E9D2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6700" y="1066800"/>
            <a:ext cx="87249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90E0106-7523-2D30-313B-B5DA1CB8E1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3B3449-E3D4-6DCE-2430-7BD441F15C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220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CA7F6801-B691-4089-9EBF-2705569256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607A42A7-25D6-A240-DF16-E97DB7EDA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553200"/>
            <a:ext cx="1752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1ACF280C-4835-457F-92DE-CC175DD5DCCA}" type="datetime1">
              <a:rPr lang="en-US" altLang="en-US" sz="1400" b="0" smtClean="0"/>
              <a:pPr eaLnBrk="1" hangingPunct="1">
                <a:defRPr/>
              </a:pPr>
              <a:t>4/20/2026</a:t>
            </a:fld>
            <a:endParaRPr lang="en-US" altLang="en-US" sz="14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rgbClr val="27007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rgbClr val="270076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rgbClr val="27007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rgbClr val="27007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rgbClr val="27007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C88CFCC-10FF-5351-9493-A96718E80D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8382000" cy="2590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algn="ctr" eaLnBrk="1" hangingPunct="1">
              <a:lnSpc>
                <a:spcPct val="120000"/>
              </a:lnSpc>
            </a:pPr>
            <a:r>
              <a:rPr lang="en-US" altLang="en-US" sz="6000" b="1">
                <a:solidFill>
                  <a:srgbClr val="220076"/>
                </a:solidFill>
              </a:rPr>
              <a:t>IT4079:</a:t>
            </a:r>
            <a:r>
              <a:rPr lang="en-US" altLang="en-US" sz="6000">
                <a:solidFill>
                  <a:srgbClr val="220076"/>
                </a:solidFill>
              </a:rPr>
              <a:t>NGÔN NGỮ và </a:t>
            </a:r>
            <a:br>
              <a:rPr lang="en-US" altLang="en-US" sz="6000">
                <a:solidFill>
                  <a:srgbClr val="220076"/>
                </a:solidFill>
              </a:rPr>
            </a:br>
            <a:r>
              <a:rPr lang="en-US" altLang="en-US" sz="6000">
                <a:solidFill>
                  <a:srgbClr val="220076"/>
                </a:solidFill>
              </a:rPr>
              <a:t>PHƯƠNG PHÁP DỊCH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78F95BF-12F9-B6F4-6D82-7F3DA9A377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1676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3399"/>
                </a:solidFill>
              </a:rPr>
              <a:t>Phạm Đăng Hải</a:t>
            </a:r>
          </a:p>
          <a:p>
            <a:pPr eaLnBrk="1" hangingPunct="1"/>
            <a:r>
              <a:rPr lang="en-US" altLang="en-US">
                <a:solidFill>
                  <a:srgbClr val="003399"/>
                </a:solidFill>
              </a:rPr>
              <a:t>haipd@soict.hust.edu.vn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1768D515-73B9-7263-BC2A-E29CF6680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CCDF8F-FE64-4579-AE56-F69DD07F03C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77298" name="Rectangle 18">
            <a:extLst>
              <a:ext uri="{FF2B5EF4-FFF2-40B4-BE49-F238E27FC236}">
                <a16:creationId xmlns:a16="http://schemas.microsoft.com/office/drawing/2014/main" id="{A30AA9BF-A2D7-9D0D-5748-25FDEB7A5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92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7172" name="Rectangle 16">
            <a:extLst>
              <a:ext uri="{FF2B5EF4-FFF2-40B4-BE49-F238E27FC236}">
                <a16:creationId xmlns:a16="http://schemas.microsoft.com/office/drawing/2014/main" id="{FEDF3A5E-AD0B-5E84-A7F7-4F2B6472C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3: Phân tích cú pháp</a:t>
            </a:r>
          </a:p>
        </p:txBody>
      </p:sp>
      <p:sp>
        <p:nvSpPr>
          <p:cNvPr id="7173" name="Rectangle 17">
            <a:extLst>
              <a:ext uri="{FF2B5EF4-FFF2-40B4-BE49-F238E27FC236}">
                <a16:creationId xmlns:a16="http://schemas.microsoft.com/office/drawing/2014/main" id="{15893CD7-A711-EF17-B47B-42F213315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219200"/>
            <a:ext cx="8724900" cy="4648200"/>
          </a:xfrm>
        </p:spPr>
        <p:txBody>
          <a:bodyPr/>
          <a:lstStyle/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Bài toán phân tích cú pháp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Phương pháp phân tích cú pháp quay lui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bảng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cú pháp tất định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Phân tích cú pháp cho PL/0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7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29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A4DF8ABF-9E37-D73F-B3A6-A52DCEA5FD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FBA4A1-CA77-4304-8DA0-98130840CB0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6114C02-7948-A313-05F2-37CAEDE9B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Bài toán đặt ra</a:t>
            </a:r>
          </a:p>
        </p:txBody>
      </p:sp>
      <p:sp>
        <p:nvSpPr>
          <p:cNvPr id="1427459" name="Rectangle 3">
            <a:extLst>
              <a:ext uri="{FF2B5EF4-FFF2-40B4-BE49-F238E27FC236}">
                <a16:creationId xmlns:a16="http://schemas.microsoft.com/office/drawing/2014/main" id="{94F72ED9-20AE-B87D-AE00-C16F05B2D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866775"/>
            <a:ext cx="8813800" cy="5762625"/>
          </a:xfrm>
        </p:spPr>
        <p:txBody>
          <a:bodyPr/>
          <a:lstStyle/>
          <a:p>
            <a:pPr marL="0" indent="0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3600"/>
              <a:t>Cho </a:t>
            </a:r>
          </a:p>
          <a:p>
            <a:pPr marL="682625" lvl="1" indent="-334963" algn="just" eaLnBrk="1" hangingPunct="1">
              <a:lnSpc>
                <a:spcPct val="105000"/>
              </a:lnSpc>
            </a:pPr>
            <a:r>
              <a:rPr lang="en-US" altLang="en-US" sz="3200"/>
              <a:t>Văn phạm phi ngữ cảnh G</a:t>
            </a:r>
          </a:p>
          <a:p>
            <a:pPr marL="1257300" lvl="2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3200"/>
              <a:t>		G = (V</a:t>
            </a:r>
            <a:r>
              <a:rPr lang="en-US" altLang="en-US" sz="3200" baseline="-25000"/>
              <a:t>T</a:t>
            </a:r>
            <a:r>
              <a:rPr lang="en-US" altLang="en-US" sz="3200"/>
              <a:t>, V</a:t>
            </a:r>
            <a:r>
              <a:rPr lang="en-US" altLang="en-US" sz="3200" baseline="-25000"/>
              <a:t>N</a:t>
            </a:r>
            <a:r>
              <a:rPr lang="en-US" altLang="en-US" sz="3200"/>
              <a:t>, P, S)</a:t>
            </a:r>
          </a:p>
          <a:p>
            <a:pPr marL="682625" lvl="1" indent="-334963" algn="just" eaLnBrk="1" hangingPunct="1">
              <a:lnSpc>
                <a:spcPct val="105000"/>
              </a:lnSpc>
            </a:pPr>
            <a:r>
              <a:rPr lang="en-US" altLang="en-US" sz="3200"/>
              <a:t>Xâu </a:t>
            </a:r>
            <a:r>
              <a:rPr lang="en-US" altLang="en-US" sz="3200">
                <a:sym typeface="Symbol" panose="05050102010706020507" pitchFamily="18" charset="2"/>
              </a:rPr>
              <a:t> V</a:t>
            </a:r>
            <a:r>
              <a:rPr lang="en-US" altLang="en-US" sz="3200" baseline="30000">
                <a:sym typeface="Symbol" panose="05050102010706020507" pitchFamily="18" charset="2"/>
              </a:rPr>
              <a:t>*</a:t>
            </a:r>
            <a:r>
              <a:rPr lang="en-US" altLang="en-US" sz="3200" baseline="-25000">
                <a:sym typeface="Symbol" panose="05050102010706020507" pitchFamily="18" charset="2"/>
              </a:rPr>
              <a:t>T</a:t>
            </a:r>
            <a:endParaRPr lang="en-US" altLang="en-US" sz="3200" baseline="30000">
              <a:sym typeface="Symbol" panose="05050102010706020507" pitchFamily="18" charset="2"/>
            </a:endParaRPr>
          </a:p>
          <a:p>
            <a:pPr marL="0" indent="0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3600">
                <a:sym typeface="Symbol" panose="05050102010706020507" pitchFamily="18" charset="2"/>
              </a:rPr>
              <a:t>Hỏi </a:t>
            </a:r>
          </a:p>
          <a:p>
            <a:pPr marL="682625" lvl="1" indent="-334963" algn="just" eaLnBrk="1" hangingPunct="1">
              <a:lnSpc>
                <a:spcPct val="105000"/>
              </a:lnSpc>
            </a:pPr>
            <a:r>
              <a:rPr lang="en-US" altLang="en-US" sz="3200">
                <a:sym typeface="Symbol" panose="05050102010706020507" pitchFamily="18" charset="2"/>
              </a:rPr>
              <a:t>  L(G)?</a:t>
            </a:r>
          </a:p>
          <a:p>
            <a:pPr marL="0" indent="0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3600">
                <a:sym typeface="Symbol" panose="05050102010706020507" pitchFamily="18" charset="2"/>
              </a:rPr>
              <a:t>Nếu   L(G)</a:t>
            </a:r>
          </a:p>
          <a:p>
            <a:pPr marL="682625" lvl="1" indent="-334963" algn="just" eaLnBrk="1" hangingPunct="1">
              <a:lnSpc>
                <a:spcPct val="105000"/>
              </a:lnSpc>
            </a:pPr>
            <a:r>
              <a:rPr lang="en-US" altLang="en-US" sz="3200">
                <a:sym typeface="Symbol" panose="05050102010706020507" pitchFamily="18" charset="2"/>
              </a:rPr>
              <a:t>Chỉ ra các sản xuất đã sử dụng để sinh ra </a:t>
            </a:r>
          </a:p>
          <a:p>
            <a:pPr marL="682625" lvl="1" indent="-334963" algn="just" eaLnBrk="1" hangingPunct="1">
              <a:lnSpc>
                <a:spcPct val="105000"/>
              </a:lnSpc>
            </a:pPr>
            <a:r>
              <a:rPr lang="en-US" altLang="en-US" sz="3200">
                <a:sym typeface="Symbol" panose="05050102010706020507" pitchFamily="18" charset="2"/>
              </a:rPr>
              <a:t>Cấu trúc nên cây suy dẫn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0713FA87-CA5A-C30A-5BA4-F59E02515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Bài toán phân tích cú pháp</a:t>
            </a:r>
          </a:p>
        </p:txBody>
      </p:sp>
      <p:sp>
        <p:nvSpPr>
          <p:cNvPr id="1427487" name="Text Box 31">
            <a:extLst>
              <a:ext uri="{FF2B5EF4-FFF2-40B4-BE49-F238E27FC236}">
                <a16:creationId xmlns:a16="http://schemas.microsoft.com/office/drawing/2014/main" id="{181B25E1-29DC-08B5-447B-0B2401BE5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133600"/>
            <a:ext cx="3733800" cy="1708150"/>
          </a:xfrm>
          <a:prstGeom prst="rect">
            <a:avLst/>
          </a:prstGeom>
          <a:noFill/>
          <a:ln w="9525">
            <a:solidFill>
              <a:srgbClr val="3539E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Trong chương trình dịch, xâu 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 là chuỗi các token thu được từ giai đoạn trước – </a:t>
            </a:r>
            <a:r>
              <a:rPr lang="en-US" altLang="en-US" sz="2400" b="0">
                <a:solidFill>
                  <a:schemeClr val="bg2"/>
                </a:solidFill>
                <a:sym typeface="Symbol" panose="05050102010706020507" pitchFamily="18" charset="2"/>
              </a:rPr>
              <a:t>phân tích từ vựng</a:t>
            </a:r>
            <a:endParaRPr lang="en-US" altLang="en-US" sz="2400" b="0">
              <a:solidFill>
                <a:schemeClr val="bg2"/>
              </a:solidFill>
            </a:endParaRPr>
          </a:p>
        </p:txBody>
      </p:sp>
      <p:sp>
        <p:nvSpPr>
          <p:cNvPr id="1427488" name="Rectangle 32">
            <a:extLst>
              <a:ext uri="{FF2B5EF4-FFF2-40B4-BE49-F238E27FC236}">
                <a16:creationId xmlns:a16="http://schemas.microsoft.com/office/drawing/2014/main" id="{3449D387-9D39-B2EF-2562-842C6DBE0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429000"/>
            <a:ext cx="2209800" cy="1905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49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400" b="0"/>
              <a:t>Program Vidu;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400" b="0"/>
              <a:t>Begin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400" b="0"/>
              <a:t>   X := 10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400" b="0"/>
              <a:t>End.</a:t>
            </a:r>
          </a:p>
        </p:txBody>
      </p:sp>
      <p:sp>
        <p:nvSpPr>
          <p:cNvPr id="1427489" name="Text Box 33">
            <a:extLst>
              <a:ext uri="{FF2B5EF4-FFF2-40B4-BE49-F238E27FC236}">
                <a16:creationId xmlns:a16="http://schemas.microsoft.com/office/drawing/2014/main" id="{67D90D18-512F-82E0-CBBC-DC35CE259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886200"/>
            <a:ext cx="3733800" cy="1441450"/>
          </a:xfrm>
          <a:prstGeom prst="rect">
            <a:avLst/>
          </a:prstGeom>
          <a:noFill/>
          <a:ln w="9525">
            <a:solidFill>
              <a:srgbClr val="3539E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bg2"/>
                </a:solidFill>
              </a:rPr>
              <a:t>PROGRAM IDENT SEMICOLON BEGIN IDENT ASSIGN NUMBER END PERIOD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1427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2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500"/>
                                        <p:tgtEl>
                                          <p:spTgt spid="142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2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2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2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7487" grpId="0" animBg="1"/>
      <p:bldP spid="1427488" grpId="0" animBg="1"/>
      <p:bldP spid="142748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868D5C7C-2A26-DFAB-B708-E2A8DA99AC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2A4698-701A-41D5-9F93-408EA202EE3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80EA3D9-1A74-C68C-08CF-AC47477DF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Phương pháp phân tích</a:t>
            </a:r>
          </a:p>
        </p:txBody>
      </p:sp>
      <p:sp>
        <p:nvSpPr>
          <p:cNvPr id="1562627" name="Rectangle 3">
            <a:extLst>
              <a:ext uri="{FF2B5EF4-FFF2-40B4-BE49-F238E27FC236}">
                <a16:creationId xmlns:a16="http://schemas.microsoft.com/office/drawing/2014/main" id="{BD30F554-AC8B-6820-AEE9-D82DADAEF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791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 algn="just" eaLnBrk="1" hangingPunct="1">
              <a:lnSpc>
                <a:spcPct val="105000"/>
              </a:lnSpc>
            </a:pPr>
            <a:r>
              <a:rPr lang="en-US" altLang="en-US"/>
              <a:t>Kiểm tra xâu phân tích từ trái qua phải</a:t>
            </a:r>
          </a:p>
          <a:p>
            <a:pPr marL="855663" lvl="1" indent="-288925" algn="just" eaLnBrk="1" hangingPunct="1">
              <a:lnSpc>
                <a:spcPct val="105000"/>
              </a:lnSpc>
            </a:pPr>
            <a:r>
              <a:rPr lang="en-US" altLang="en-US"/>
              <a:t>Kiểm tra ký hiệu trái nhất của xâu cần phân tích</a:t>
            </a:r>
          </a:p>
          <a:p>
            <a:pPr marL="855663" lvl="1" indent="-288925" algn="just" eaLnBrk="1" hangingPunct="1">
              <a:lnSpc>
                <a:spcPct val="105000"/>
              </a:lnSpc>
            </a:pPr>
            <a:r>
              <a:rPr lang="en-US" altLang="en-US"/>
              <a:t>Tới ký hiệu tiếp,.. Cho tới ký hiệu cuối cùng</a:t>
            </a:r>
          </a:p>
          <a:p>
            <a:pPr marL="347663" indent="-347663" algn="just" eaLnBrk="1" hangingPunct="1">
              <a:lnSpc>
                <a:spcPct val="105000"/>
              </a:lnSpc>
            </a:pPr>
            <a:r>
              <a:rPr lang="en-US" altLang="en-US"/>
              <a:t>Phương pháp xây dựng cây phân tích</a:t>
            </a:r>
          </a:p>
          <a:p>
            <a:pPr marL="855663" lvl="1" indent="-288925" algn="just" eaLnBrk="1" hangingPunct="1">
              <a:lnSpc>
                <a:spcPct val="105000"/>
              </a:lnSpc>
            </a:pPr>
            <a:r>
              <a:rPr lang="en-US" altLang="en-US"/>
              <a:t>Trên xuống (</a:t>
            </a:r>
            <a:r>
              <a:rPr lang="en-US" altLang="en-US" i="1">
                <a:solidFill>
                  <a:srgbClr val="3539EB"/>
                </a:solidFill>
              </a:rPr>
              <a:t>Top-down</a:t>
            </a:r>
            <a:r>
              <a:rPr lang="en-US" altLang="en-US"/>
              <a:t>): </a:t>
            </a:r>
            <a:r>
              <a:rPr lang="en-US" altLang="en-US" b="1">
                <a:solidFill>
                  <a:srgbClr val="FA0617"/>
                </a:solidFill>
              </a:rPr>
              <a:t>S  </a:t>
            </a:r>
            <a:r>
              <a:rPr lang="en-US" altLang="en-US" b="1">
                <a:solidFill>
                  <a:srgbClr val="FA0617"/>
                </a:solidFill>
                <a:sym typeface="Symbol" panose="05050102010706020507" pitchFamily="18" charset="2"/>
              </a:rPr>
              <a:t>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*</a:t>
            </a:r>
            <a:r>
              <a:rPr lang="en-US" altLang="en-US" b="1">
                <a:solidFill>
                  <a:srgbClr val="FA0617"/>
                </a:solidFill>
                <a:sym typeface="Symbol" panose="05050102010706020507" pitchFamily="18" charset="2"/>
              </a:rPr>
              <a:t> ?</a:t>
            </a:r>
          </a:p>
          <a:p>
            <a:pPr marL="855663" lvl="1" indent="-288925" algn="just" eaLnBrk="1" hangingPunct="1">
              <a:lnSpc>
                <a:spcPct val="105000"/>
              </a:lnSpc>
            </a:pPr>
            <a:r>
              <a:rPr lang="en-US" altLang="en-US"/>
              <a:t>Dưới lên (</a:t>
            </a:r>
            <a:r>
              <a:rPr lang="en-US" altLang="en-US" i="1">
                <a:solidFill>
                  <a:srgbClr val="3539EB"/>
                </a:solidFill>
              </a:rPr>
              <a:t>Bottom-up</a:t>
            </a:r>
            <a:r>
              <a:rPr lang="en-US" altLang="en-US"/>
              <a:t>): 	  </a:t>
            </a:r>
            <a:r>
              <a:rPr lang="en-US" altLang="en-US" b="1">
                <a:solidFill>
                  <a:srgbClr val="FA0617"/>
                </a:solidFill>
                <a:sym typeface="Symbol" panose="05050102010706020507" pitchFamily="18" charset="2"/>
              </a:rPr>
              <a:t></a:t>
            </a:r>
            <a:r>
              <a:rPr lang="en-US" altLang="en-US" b="1">
                <a:solidFill>
                  <a:srgbClr val="FA0617"/>
                </a:solidFill>
              </a:rPr>
              <a:t> </a:t>
            </a:r>
            <a:r>
              <a:rPr lang="en-US" altLang="en-US" b="1" baseline="30000">
                <a:solidFill>
                  <a:srgbClr val="FA0617"/>
                </a:solidFill>
              </a:rPr>
              <a:t>*</a:t>
            </a:r>
            <a:r>
              <a:rPr lang="en-US" altLang="en-US" b="1">
                <a:solidFill>
                  <a:srgbClr val="FA0617"/>
                </a:solidFill>
                <a:sym typeface="Symbol" panose="05050102010706020507" pitchFamily="18" charset="2"/>
              </a:rPr>
              <a:t> S?</a:t>
            </a:r>
            <a:endParaRPr lang="en-US" altLang="en-US" b="1">
              <a:solidFill>
                <a:srgbClr val="FA0617"/>
              </a:solidFill>
            </a:endParaRPr>
          </a:p>
          <a:p>
            <a:pPr marL="347663" indent="-347663" algn="just" eaLnBrk="1" hangingPunct="1">
              <a:lnSpc>
                <a:spcPct val="105000"/>
              </a:lnSpc>
            </a:pPr>
            <a:r>
              <a:rPr lang="en-US" altLang="en-US"/>
              <a:t>Phương pháp lựa chọn sản xuất (</a:t>
            </a:r>
            <a:r>
              <a:rPr lang="en-US" altLang="en-US">
                <a:solidFill>
                  <a:schemeClr val="bg2"/>
                </a:solidFill>
              </a:rPr>
              <a:t>A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</a:t>
            </a:r>
            <a:r>
              <a:rPr lang="el-GR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baseline="-25000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|…|</a:t>
            </a:r>
            <a:r>
              <a:rPr lang="el-GR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baseline="-25000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/>
              <a:t>)</a:t>
            </a:r>
          </a:p>
          <a:p>
            <a:pPr marL="855663" lvl="1" indent="-288925" algn="just" eaLnBrk="1" hangingPunct="1">
              <a:lnSpc>
                <a:spcPct val="105000"/>
              </a:lnSpc>
            </a:pPr>
            <a:r>
              <a:rPr lang="en-US" altLang="en-US"/>
              <a:t>Quay lui (</a:t>
            </a:r>
            <a:r>
              <a:rPr lang="en-US" altLang="en-US" i="1">
                <a:solidFill>
                  <a:srgbClr val="3539EB"/>
                </a:solidFill>
              </a:rPr>
              <a:t>backtracking</a:t>
            </a:r>
            <a:r>
              <a:rPr lang="en-US" altLang="en-US"/>
              <a:t>)</a:t>
            </a:r>
          </a:p>
          <a:p>
            <a:pPr marL="1257300" lvl="2" algn="just" eaLnBrk="1" hangingPunct="1">
              <a:lnSpc>
                <a:spcPct val="105000"/>
              </a:lnSpc>
            </a:pPr>
            <a:r>
              <a:rPr lang="en-US" altLang="en-US"/>
              <a:t>Thử lần lượt các sản xuất</a:t>
            </a:r>
          </a:p>
          <a:p>
            <a:pPr marL="855663" lvl="1" indent="-288925" algn="just" eaLnBrk="1" hangingPunct="1">
              <a:lnSpc>
                <a:spcPct val="105000"/>
              </a:lnSpc>
            </a:pPr>
            <a:r>
              <a:rPr lang="en-US" altLang="en-US"/>
              <a:t>Tất định (</a:t>
            </a:r>
            <a:r>
              <a:rPr lang="en-US" altLang="en-US" i="1">
                <a:solidFill>
                  <a:srgbClr val="3539EB"/>
                </a:solidFill>
              </a:rPr>
              <a:t>deterministic</a:t>
            </a:r>
            <a:r>
              <a:rPr lang="en-US" altLang="en-US"/>
              <a:t>)</a:t>
            </a:r>
          </a:p>
          <a:p>
            <a:pPr marL="1257300" lvl="2" algn="just" eaLnBrk="1" hangingPunct="1">
              <a:lnSpc>
                <a:spcPct val="105000"/>
              </a:lnSpc>
            </a:pPr>
            <a:r>
              <a:rPr lang="en-US" altLang="en-US"/>
              <a:t>Xác định được duy nhất một sản xuất thích hợp</a:t>
            </a:r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EB43B651-7B7A-3BB6-AE12-BB9208982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Bài toán phân tích cú pháp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62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6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6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6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6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6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62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4D8792E0-1FD2-AF70-8CA0-FC84F88ABA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B368C8-19D2-43A6-A6BE-094AE772F16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1A7B2136-47AA-88BD-DCFA-71333B46E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trái</a:t>
            </a:r>
          </a:p>
        </p:txBody>
      </p:sp>
      <p:sp>
        <p:nvSpPr>
          <p:cNvPr id="1563651" name="Rectangle 3">
            <a:extLst>
              <a:ext uri="{FF2B5EF4-FFF2-40B4-BE49-F238E27FC236}">
                <a16:creationId xmlns:a16="http://schemas.microsoft.com/office/drawing/2014/main" id="{55BF689F-E25E-FD45-D74C-CB0EE3EB4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9293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0513" indent="-290513" algn="just" eaLnBrk="1" hangingPunct="1">
              <a:tabLst>
                <a:tab pos="914400" algn="l"/>
              </a:tabLst>
            </a:pPr>
            <a:r>
              <a:rPr lang="en-US" altLang="en-US" b="1" i="1">
                <a:solidFill>
                  <a:srgbClr val="3539EB"/>
                </a:solidFill>
              </a:rPr>
              <a:t>Phân tích trái</a:t>
            </a:r>
            <a:r>
              <a:rPr lang="en-US" altLang="en-US"/>
              <a:t> của xâu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 là dãy các sản xuất được sử dụng trong </a:t>
            </a:r>
            <a:r>
              <a:rPr lang="en-US" altLang="en-US" i="1">
                <a:solidFill>
                  <a:srgbClr val="3539EB"/>
                </a:solidFill>
              </a:rPr>
              <a:t>suy dẫn trái</a:t>
            </a:r>
            <a:r>
              <a:rPr lang="en-US" altLang="en-US"/>
              <a:t> từ S ra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endParaRPr lang="en-US" altLang="en-US"/>
          </a:p>
          <a:p>
            <a:pPr marL="290513" indent="-290513" algn="just" eaLnBrk="1" hangingPunct="1">
              <a:tabLst>
                <a:tab pos="914400" algn="l"/>
              </a:tabLst>
            </a:pPr>
            <a:r>
              <a:rPr lang="en-US" altLang="en-US" i="1"/>
              <a:t>Các sản xuất được đánh số thứ tự 1,..p</a:t>
            </a:r>
          </a:p>
          <a:p>
            <a:pPr marL="855663" lvl="1" indent="-347663" algn="just" eaLnBrk="1" hangingPunct="1">
              <a:tabLst>
                <a:tab pos="914400" algn="l"/>
              </a:tabLst>
            </a:pPr>
            <a:r>
              <a:rPr lang="en-US" altLang="en-US" i="1"/>
              <a:t>Phân tích là danh sách các số  từ 1 đến p</a:t>
            </a:r>
          </a:p>
          <a:p>
            <a:pPr marL="290513" indent="-290513" algn="just" eaLnBrk="1" hangingPunct="1">
              <a:lnSpc>
                <a:spcPct val="105000"/>
              </a:lnSpc>
              <a:tabLst>
                <a:tab pos="914400" algn="l"/>
              </a:tabLst>
            </a:pPr>
            <a:r>
              <a:rPr lang="en-US" altLang="en-US"/>
              <a:t>Ví dụ cho văn phạm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E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T+E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E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T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T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F* T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T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F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F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(E)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F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a</a:t>
            </a:r>
          </a:p>
          <a:p>
            <a:pPr marL="1574800" lvl="2" indent="-48577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914400" algn="l"/>
              </a:tabLst>
            </a:pPr>
            <a:r>
              <a:rPr lang="en-US" altLang="en-US"/>
              <a:t>Phân tích trái của xâu </a:t>
            </a:r>
            <a:r>
              <a:rPr lang="en-US" altLang="en-US" b="1" i="1">
                <a:solidFill>
                  <a:srgbClr val="3539EB"/>
                </a:solidFill>
              </a:rPr>
              <a:t>a*(a+a)</a:t>
            </a:r>
            <a:r>
              <a:rPr lang="en-US" altLang="en-US"/>
              <a:t> là </a:t>
            </a:r>
            <a:r>
              <a:rPr lang="en-US" altLang="en-US" b="1" i="1">
                <a:solidFill>
                  <a:srgbClr val="FA0617"/>
                </a:solidFill>
              </a:rPr>
              <a:t>23645146246</a:t>
            </a: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16F523C6-43E3-9C43-FF9C-272181C0B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Bài toán phân tích cú pháp</a:t>
            </a:r>
          </a:p>
        </p:txBody>
      </p:sp>
      <p:sp>
        <p:nvSpPr>
          <p:cNvPr id="1563653" name="Text Box 5">
            <a:extLst>
              <a:ext uri="{FF2B5EF4-FFF2-40B4-BE49-F238E27FC236}">
                <a16:creationId xmlns:a16="http://schemas.microsoft.com/office/drawing/2014/main" id="{B9A3D093-46E5-4CCC-9C35-372B2AF67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429000"/>
            <a:ext cx="4419600" cy="28781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</a:rPr>
              <a:t>Xét xâu </a:t>
            </a:r>
            <a:r>
              <a:rPr lang="en-US" altLang="en-US" sz="2800" b="0"/>
              <a:t>a*(a+a)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</a:rPr>
              <a:t>E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2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T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3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F*T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6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a*T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4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a*F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5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a*(E)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1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a*(T+E)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4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a*(F+E)   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6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a*(a+E)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2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a*(a+T)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4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a*(a+F)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6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a*(a+a)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6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6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6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56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63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563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63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63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7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8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63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36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370BB9AA-CAE7-FE3B-E306-D48D20D33B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E6E437-7399-456F-8B59-35C627DBA75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76D7D48-320D-D7BD-B1CD-08D1303B5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phải</a:t>
            </a:r>
          </a:p>
        </p:txBody>
      </p:sp>
      <p:sp>
        <p:nvSpPr>
          <p:cNvPr id="1769475" name="Rectangle 3">
            <a:extLst>
              <a:ext uri="{FF2B5EF4-FFF2-40B4-BE49-F238E27FC236}">
                <a16:creationId xmlns:a16="http://schemas.microsoft.com/office/drawing/2014/main" id="{AE264E4B-8D6F-BD54-C189-574524CBE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9293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0513" indent="-290513" algn="just" eaLnBrk="1" hangingPunct="1">
              <a:tabLst>
                <a:tab pos="914400" algn="l"/>
              </a:tabLst>
            </a:pPr>
            <a:r>
              <a:rPr lang="en-US" altLang="en-US" b="1" i="1">
                <a:solidFill>
                  <a:srgbClr val="3539EB"/>
                </a:solidFill>
              </a:rPr>
              <a:t>Phân tích phải</a:t>
            </a:r>
            <a:r>
              <a:rPr lang="en-US" altLang="en-US"/>
              <a:t> của xâu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 là dãy các sản xuất được sử dụng trong </a:t>
            </a:r>
            <a:r>
              <a:rPr lang="en-US" altLang="en-US" i="1">
                <a:solidFill>
                  <a:srgbClr val="3539EB"/>
                </a:solidFill>
              </a:rPr>
              <a:t>suy dẫn phải</a:t>
            </a:r>
            <a:r>
              <a:rPr lang="en-US" altLang="en-US"/>
              <a:t> từ S ra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endParaRPr lang="en-US" altLang="en-US"/>
          </a:p>
          <a:p>
            <a:pPr marL="290513" indent="-290513" algn="just" eaLnBrk="1" hangingPunct="1">
              <a:tabLst>
                <a:tab pos="914400" algn="l"/>
              </a:tabLst>
            </a:pPr>
            <a:r>
              <a:rPr lang="en-US" altLang="en-US" i="1"/>
              <a:t>Các sản xuất được đánh số thứ tự 1,..p</a:t>
            </a:r>
          </a:p>
          <a:p>
            <a:pPr marL="855663" lvl="1" indent="-347663" algn="just" eaLnBrk="1" hangingPunct="1">
              <a:tabLst>
                <a:tab pos="914400" algn="l"/>
              </a:tabLst>
            </a:pPr>
            <a:r>
              <a:rPr lang="en-US" altLang="en-US" i="1"/>
              <a:t>Phân tích là danh sách các số  từ 1 đến p</a:t>
            </a:r>
          </a:p>
          <a:p>
            <a:pPr marL="290513" indent="-290513" algn="just" eaLnBrk="1" hangingPunct="1">
              <a:lnSpc>
                <a:spcPct val="105000"/>
              </a:lnSpc>
              <a:tabLst>
                <a:tab pos="914400" algn="l"/>
              </a:tabLst>
            </a:pPr>
            <a:r>
              <a:rPr lang="en-US" altLang="en-US"/>
              <a:t>Ví dụ cho văn phạm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E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T+E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E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T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T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F* T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T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F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F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(E)</a:t>
            </a:r>
          </a:p>
          <a:p>
            <a:pPr marL="2032000" lvl="3" indent="-342900" eaLnBrk="1" hangingPunct="1">
              <a:buFont typeface="Wingdings" panose="05000000000000000000" pitchFamily="2" charset="2"/>
              <a:buAutoNum type="arabicPeriod"/>
              <a:tabLst>
                <a:tab pos="914400" algn="l"/>
              </a:tabLst>
            </a:pPr>
            <a:r>
              <a:rPr lang="en-US" altLang="en-US" sz="2400"/>
              <a:t>F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a</a:t>
            </a:r>
          </a:p>
          <a:p>
            <a:pPr marL="1574800" lvl="2" indent="-48577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914400" algn="l"/>
              </a:tabLst>
            </a:pPr>
            <a:r>
              <a:rPr lang="en-US" altLang="en-US"/>
              <a:t>Phân tích phải của xâu </a:t>
            </a:r>
            <a:r>
              <a:rPr lang="en-US" altLang="en-US" b="1" i="1">
                <a:solidFill>
                  <a:srgbClr val="3539EB"/>
                </a:solidFill>
              </a:rPr>
              <a:t>a*(a+a)</a:t>
            </a:r>
            <a:r>
              <a:rPr lang="en-US" altLang="en-US"/>
              <a:t> là </a:t>
            </a:r>
            <a:r>
              <a:rPr lang="en-US" altLang="en-US" b="1" i="1">
                <a:solidFill>
                  <a:srgbClr val="FA0617"/>
                </a:solidFill>
              </a:rPr>
              <a:t>23451246466</a:t>
            </a:r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4BE97444-5208-F810-42FA-424EEE2B7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Bài toán phân tích cú pháp</a:t>
            </a:r>
          </a:p>
        </p:txBody>
      </p:sp>
      <p:sp>
        <p:nvSpPr>
          <p:cNvPr id="1769477" name="Text Box 5">
            <a:extLst>
              <a:ext uri="{FF2B5EF4-FFF2-40B4-BE49-F238E27FC236}">
                <a16:creationId xmlns:a16="http://schemas.microsoft.com/office/drawing/2014/main" id="{6B5BC856-D471-BAF9-D5D3-BC8AE61A2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429000"/>
            <a:ext cx="4419600" cy="28781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</a:rPr>
              <a:t>Xét xâu </a:t>
            </a:r>
            <a:r>
              <a:rPr lang="en-US" altLang="en-US" sz="2800" b="0"/>
              <a:t>a*(a+a)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</a:rPr>
              <a:t>E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2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T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3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F*T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4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F*F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5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F*(E)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1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F*(T+E)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F*(T+T)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4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F*(T+F)   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6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F*(T+a)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4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F*(F+a)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 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6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F*(a+a) </a:t>
            </a:r>
            <a:r>
              <a:rPr lang="en-US" altLang="en-US" sz="2800" b="0" baseline="30000">
                <a:solidFill>
                  <a:srgbClr val="3539EB"/>
                </a:solidFill>
                <a:sym typeface="Symbol" panose="05050102010706020507" pitchFamily="18" charset="2"/>
              </a:rPr>
              <a:t>6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 a*(a+a)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6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6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6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76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76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6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76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6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7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8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6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94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2B38C170-819A-58F4-3252-29D1F2D473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3B99A1-BA4C-430D-8A10-27E83C1C3C4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678338" name="Rectangle 2">
            <a:extLst>
              <a:ext uri="{FF2B5EF4-FFF2-40B4-BE49-F238E27FC236}">
                <a16:creationId xmlns:a16="http://schemas.microsoft.com/office/drawing/2014/main" id="{D37162F5-EDF4-4A99-A821-FB8111C95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36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7B6A08F-BD16-48DE-9974-C9D1E8334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3: Phân tích cú pháp</a:t>
            </a: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41B4EA83-310A-5B30-D2B2-4A40154C7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219200"/>
            <a:ext cx="8724900" cy="4648200"/>
          </a:xfrm>
        </p:spPr>
        <p:txBody>
          <a:bodyPr/>
          <a:lstStyle/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Bài toán phân tích cú pháp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Phương pháp phân tích cú pháp quay lui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bảng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cú pháp tất định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Phân tích cú pháp cho PL/0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83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7D31CFC1-C46E-6E0F-5FA8-6BB4D68270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7B1518-F3BB-4DCC-BD51-121C65CBAAC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9692540-47C0-0318-6D44-741E832E6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Giới thiệu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5BE243CF-D88A-2678-A139-99B37A46E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458200" cy="5410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 algn="just" eaLnBrk="1" hangingPunct="1">
              <a:lnSpc>
                <a:spcPct val="125000"/>
              </a:lnSpc>
            </a:pPr>
            <a:r>
              <a:rPr lang="en-US" altLang="en-US"/>
              <a:t>Tư tưởng chủ yếu của giải thuật </a:t>
            </a:r>
          </a:p>
          <a:p>
            <a:pPr marL="855663" lvl="1" indent="-288925" algn="just" eaLnBrk="1" hangingPunct="1">
              <a:lnSpc>
                <a:spcPct val="125000"/>
              </a:lnSpc>
            </a:pPr>
            <a:r>
              <a:rPr lang="en-US" altLang="en-US"/>
              <a:t>Xây dựng cây phân tích cú pháp (cây suy dẫn) cho xâu </a:t>
            </a:r>
            <a:r>
              <a:rPr lang="en-US" altLang="en-US">
                <a:sym typeface="Symbol" panose="05050102010706020507" pitchFamily="18" charset="2"/>
              </a:rPr>
              <a:t></a:t>
            </a:r>
          </a:p>
          <a:p>
            <a:pPr marL="347663" indent="-347663" algn="just" eaLnBrk="1" hangingPunct="1">
              <a:lnSpc>
                <a:spcPct val="125000"/>
              </a:lnSpc>
            </a:pPr>
            <a:r>
              <a:rPr lang="en-US" altLang="en-US" b="1"/>
              <a:t>Thuật toán </a:t>
            </a:r>
            <a:r>
              <a:rPr lang="en-US" altLang="en-US" b="1">
                <a:solidFill>
                  <a:srgbClr val="3539EB"/>
                </a:solidFill>
              </a:rPr>
              <a:t>Top-down</a:t>
            </a:r>
          </a:p>
          <a:p>
            <a:pPr marL="855663" lvl="1" indent="-288925" algn="just" eaLnBrk="1" hangingPunct="1">
              <a:lnSpc>
                <a:spcPct val="125000"/>
              </a:lnSpc>
            </a:pPr>
            <a:r>
              <a:rPr lang="en-US" altLang="en-US"/>
              <a:t>Đi từ nút gốc tới nút lá</a:t>
            </a:r>
          </a:p>
          <a:p>
            <a:pPr marL="347663" indent="-347663" algn="just" eaLnBrk="1" hangingPunct="1">
              <a:lnSpc>
                <a:spcPct val="125000"/>
              </a:lnSpc>
            </a:pPr>
            <a:r>
              <a:rPr lang="en-US" altLang="en-US" b="1"/>
              <a:t>Thuật toán </a:t>
            </a:r>
            <a:r>
              <a:rPr lang="en-US" altLang="en-US" b="1">
                <a:solidFill>
                  <a:srgbClr val="3539EB"/>
                </a:solidFill>
              </a:rPr>
              <a:t>Bottom –up</a:t>
            </a:r>
          </a:p>
          <a:p>
            <a:pPr marL="855663" lvl="1" indent="-288925" algn="just" eaLnBrk="1" hangingPunct="1">
              <a:lnSpc>
                <a:spcPct val="125000"/>
              </a:lnSpc>
            </a:pPr>
            <a:r>
              <a:rPr lang="en-US" altLang="en-US"/>
              <a:t>Quá trình phân tích gạt thu gọn</a:t>
            </a:r>
          </a:p>
          <a:p>
            <a:pPr marL="347663" indent="-347663" algn="just" eaLnBrk="1" hangingPunct="1">
              <a:lnSpc>
                <a:spcPct val="125000"/>
              </a:lnSpc>
            </a:pPr>
            <a:endParaRPr lang="en-US" altLang="en-US" sz="3600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198EC156-4640-43C4-BD57-7516F47D8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E5D88AF9-C880-EB32-A762-676188F38B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6B6F36-4373-4F37-BFF5-B1A5D538E69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828BA06-176D-5CF7-79BE-A76FE4B6B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</a:t>
            </a:r>
          </a:p>
        </p:txBody>
      </p:sp>
      <p:sp>
        <p:nvSpPr>
          <p:cNvPr id="1565699" name="Rectangle 3">
            <a:extLst>
              <a:ext uri="{FF2B5EF4-FFF2-40B4-BE49-F238E27FC236}">
                <a16:creationId xmlns:a16="http://schemas.microsoft.com/office/drawing/2014/main" id="{CC4557B3-E845-DAE2-CE06-7B3AC5DF3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9150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 algn="just" eaLnBrk="1" hangingPunct="1">
              <a:lnSpc>
                <a:spcPct val="105000"/>
              </a:lnSpc>
              <a:buFontTx/>
              <a:buNone/>
            </a:pPr>
            <a:r>
              <a:rPr lang="en-US" altLang="en-US"/>
              <a:t>Cho VPPNC  G = (V</a:t>
            </a:r>
            <a:r>
              <a:rPr lang="en-US" altLang="en-US" baseline="-25000"/>
              <a:t>T</a:t>
            </a:r>
            <a:r>
              <a:rPr lang="en-US" altLang="en-US"/>
              <a:t>, V</a:t>
            </a:r>
            <a:r>
              <a:rPr lang="en-US" altLang="en-US" baseline="-25000"/>
              <a:t>N</a:t>
            </a:r>
            <a:r>
              <a:rPr lang="en-US" altLang="en-US"/>
              <a:t>, P, S)</a:t>
            </a:r>
          </a:p>
          <a:p>
            <a:pPr marL="347663" indent="-347663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3600">
                <a:sym typeface="Symbol" panose="05050102010706020507" pitchFamily="18" charset="2"/>
              </a:rPr>
              <a:t>	</a:t>
            </a:r>
            <a:r>
              <a:rPr lang="en-US" altLang="en-US">
                <a:sym typeface="Symbol" panose="05050102010706020507" pitchFamily="18" charset="2"/>
              </a:rPr>
              <a:t> s</a:t>
            </a:r>
            <a:r>
              <a:rPr lang="en-US" altLang="en-US"/>
              <a:t>ản xuất </a:t>
            </a:r>
            <a:r>
              <a:rPr lang="en-US" altLang="en-US">
                <a:solidFill>
                  <a:schemeClr val="bg2"/>
                </a:solidFill>
              </a:rPr>
              <a:t>A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</a:t>
            </a:r>
            <a:r>
              <a:rPr lang="el-GR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baseline="-25000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|…|</a:t>
            </a:r>
            <a:r>
              <a:rPr lang="el-GR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baseline="-25000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/>
              <a:t> được đánh số 1, 2,..</a:t>
            </a:r>
            <a:endParaRPr lang="en-US" altLang="en-US" sz="3600"/>
          </a:p>
          <a:p>
            <a:pPr marL="347663" indent="-347663" algn="just" eaLnBrk="1" hangingPunct="1">
              <a:lnSpc>
                <a:spcPct val="105000"/>
              </a:lnSpc>
              <a:buFontTx/>
              <a:buNone/>
            </a:pPr>
            <a:r>
              <a:rPr lang="en-US" altLang="en-US"/>
              <a:t>Xây dựng cây phân tích cho xâu </a:t>
            </a:r>
            <a:r>
              <a:rPr lang="en-US" altLang="en-US">
                <a:sym typeface="Symbol" panose="05050102010706020507" pitchFamily="18" charset="2"/>
              </a:rPr>
              <a:t>:</a:t>
            </a:r>
          </a:p>
          <a:p>
            <a:pPr marL="347663" indent="-347663" algn="just" eaLnBrk="1" hangingPunct="1">
              <a:lnSpc>
                <a:spcPct val="105000"/>
              </a:lnSpc>
              <a:spcBef>
                <a:spcPct val="80000"/>
              </a:spcBef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Bước 1: Khởi tạo</a:t>
            </a:r>
          </a:p>
          <a:p>
            <a:pPr marL="347663" indent="-347663" algn="just" eaLnBrk="1" hangingPunct="1">
              <a:lnSpc>
                <a:spcPct val="105000"/>
              </a:lnSpc>
              <a:buFontTx/>
              <a:buChar char="-"/>
            </a:pPr>
            <a:r>
              <a:rPr lang="en-US" altLang="en-US">
                <a:sym typeface="Symbol" panose="05050102010706020507" pitchFamily="18" charset="2"/>
              </a:rPr>
              <a:t>Xây dựng cây chỉ có một nút gốc S</a:t>
            </a:r>
          </a:p>
          <a:p>
            <a:pPr marL="855663" lvl="1" indent="-288925" algn="just" eaLnBrk="1" hangingPunct="1">
              <a:lnSpc>
                <a:spcPct val="105000"/>
              </a:lnSpc>
              <a:buFontTx/>
              <a:buChar char="-"/>
            </a:pPr>
            <a:r>
              <a:rPr lang="en-US" altLang="en-US">
                <a:sym typeface="Symbol" panose="05050102010706020507" pitchFamily="18" charset="2"/>
              </a:rPr>
              <a:t>S (Start symbol): Ký hiệu khởi đầu</a:t>
            </a:r>
          </a:p>
          <a:p>
            <a:pPr marL="347663" indent="-347663" algn="just" eaLnBrk="1" hangingPunct="1">
              <a:lnSpc>
                <a:spcPct val="105000"/>
              </a:lnSpc>
              <a:buFontTx/>
              <a:buChar char="-"/>
            </a:pPr>
            <a:r>
              <a:rPr lang="en-US" altLang="en-US">
                <a:sym typeface="Symbol" panose="05050102010706020507" pitchFamily="18" charset="2"/>
              </a:rPr>
              <a:t>Gọi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ký hiệu cần phân tích</a:t>
            </a:r>
            <a:r>
              <a:rPr lang="en-US" altLang="en-US">
                <a:sym typeface="Symbol" panose="05050102010706020507" pitchFamily="18" charset="2"/>
              </a:rPr>
              <a:t> là ký hiệu đầu tiên của xâu </a:t>
            </a:r>
          </a:p>
          <a:p>
            <a:pPr marL="347663" indent="-347663" algn="just" eaLnBrk="1" hangingPunct="1">
              <a:lnSpc>
                <a:spcPct val="105000"/>
              </a:lnSpc>
              <a:buFontTx/>
              <a:buChar char="-"/>
            </a:pPr>
            <a:r>
              <a:rPr lang="en-US" altLang="en-US">
                <a:sym typeface="Symbol" panose="05050102010706020507" pitchFamily="18" charset="2"/>
              </a:rPr>
              <a:t>Gọi S là </a:t>
            </a:r>
            <a:r>
              <a:rPr lang="en-US" altLang="en-US" b="1" i="1">
                <a:solidFill>
                  <a:srgbClr val="3539EB"/>
                </a:solidFill>
                <a:sym typeface="Symbol" panose="05050102010706020507" pitchFamily="18" charset="2"/>
              </a:rPr>
              <a:t>nút hoạt động</a:t>
            </a:r>
            <a:r>
              <a:rPr lang="en-US" altLang="en-US" i="1">
                <a:solidFill>
                  <a:srgbClr val="3539EB"/>
                </a:solidFill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F08B7A2B-F76C-AACE-1E75-C29DB54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6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6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6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6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6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62BBBDC9-315A-40A9-C47C-38A30FB0E6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CFD508-52E0-49CA-BC65-A4059FAE751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176569C-3F1E-1A11-E7D8-8A4D33460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719BFDCC-1BA9-843A-E817-6ED5873D0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9150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sym typeface="Symbol" panose="05050102010706020507" pitchFamily="18" charset="2"/>
              </a:rPr>
              <a:t>Bước 2. Tạo các nút con của cây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 (</a:t>
            </a:r>
            <a:r>
              <a:rPr lang="en-US" altLang="en-US" sz="2800" i="1">
                <a:solidFill>
                  <a:srgbClr val="3539EB"/>
                </a:solidFill>
                <a:sym typeface="Symbol" panose="05050102010706020507" pitchFamily="18" charset="2"/>
              </a:rPr>
              <a:t>một cách đệ quy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</a:p>
          <a:p>
            <a:pPr marL="406400" indent="-406400" algn="just" eaLnBrk="1" hangingPunct="1">
              <a:lnSpc>
                <a:spcPct val="105000"/>
              </a:lnSpc>
              <a:buSzPct val="75000"/>
              <a:buFont typeface="Wingdings" panose="05000000000000000000" pitchFamily="2" charset="2"/>
              <a:buChar char="v"/>
            </a:pPr>
            <a:r>
              <a:rPr lang="en-US" altLang="en-US" b="1" i="1">
                <a:solidFill>
                  <a:srgbClr val="3539EB"/>
                </a:solidFill>
                <a:sym typeface="Symbol" panose="05050102010706020507" pitchFamily="18" charset="2"/>
              </a:rPr>
              <a:t>Nút hoạt động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là ký hiệu không kết thúc A</a:t>
            </a:r>
          </a:p>
          <a:p>
            <a:pPr marL="855663" lvl="1" indent="-334963" algn="just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altLang="en-US"/>
              <a:t>Chọn sản xuất đầu tiên của A chưa được áp dụng: A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X</a:t>
            </a:r>
            <a:r>
              <a:rPr lang="en-US" altLang="en-US" baseline="-25000"/>
              <a:t>1</a:t>
            </a:r>
            <a:r>
              <a:rPr lang="en-US" altLang="en-US"/>
              <a:t>X</a:t>
            </a:r>
            <a:r>
              <a:rPr lang="en-US" altLang="en-US" baseline="-25000"/>
              <a:t>2</a:t>
            </a:r>
            <a:r>
              <a:rPr lang="en-US" altLang="en-US"/>
              <a:t>. . . .X</a:t>
            </a:r>
            <a:r>
              <a:rPr lang="en-US" altLang="en-US" baseline="-25000"/>
              <a:t>k</a:t>
            </a:r>
            <a:r>
              <a:rPr lang="en-US" altLang="en-US"/>
              <a:t> (k </a:t>
            </a:r>
            <a:r>
              <a:rPr lang="en-US" altLang="en-US">
                <a:sym typeface="Symbol" panose="05050102010706020507" pitchFamily="18" charset="2"/>
              </a:rPr>
              <a:t></a:t>
            </a:r>
            <a:r>
              <a:rPr lang="en-US" altLang="en-US"/>
              <a:t>0)</a:t>
            </a:r>
          </a:p>
          <a:p>
            <a:pPr marL="855663" lvl="1" indent="-334963" algn="just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altLang="en-US"/>
              <a:t>Tạo k con trực tiếp của A với nhãn  X</a:t>
            </a:r>
            <a:r>
              <a:rPr lang="en-US" altLang="en-US" baseline="-25000"/>
              <a:t>1</a:t>
            </a:r>
            <a:r>
              <a:rPr lang="en-US" altLang="en-US"/>
              <a:t>, X</a:t>
            </a:r>
            <a:r>
              <a:rPr lang="en-US" altLang="en-US" baseline="-25000"/>
              <a:t>2</a:t>
            </a:r>
            <a:r>
              <a:rPr lang="en-US" altLang="en-US"/>
              <a:t>, ...X</a:t>
            </a:r>
            <a:r>
              <a:rPr lang="en-US" altLang="en-US" baseline="-25000"/>
              <a:t>k</a:t>
            </a:r>
            <a:r>
              <a:rPr lang="en-US" altLang="en-US"/>
              <a:t> </a:t>
            </a:r>
          </a:p>
          <a:p>
            <a:pPr marL="855663" lvl="1" indent="-334963" algn="just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altLang="en-US"/>
              <a:t>Nếu k &gt; 0, Lấy X</a:t>
            </a:r>
            <a:r>
              <a:rPr lang="en-US" altLang="en-US" baseline="-25000"/>
              <a:t>1 </a:t>
            </a:r>
            <a:r>
              <a:rPr lang="en-US" altLang="en-US"/>
              <a:t>làm nút hoạt động</a:t>
            </a:r>
          </a:p>
          <a:p>
            <a:pPr marL="855663" lvl="1" indent="-334963" algn="just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altLang="en-US"/>
              <a:t>Nếu k = 0, (</a:t>
            </a:r>
            <a:r>
              <a:rPr lang="en-US" altLang="en-US" i="1">
                <a:solidFill>
                  <a:schemeClr val="bg2"/>
                </a:solidFill>
              </a:rPr>
              <a:t>sản xuất A </a:t>
            </a:r>
            <a:r>
              <a:rPr lang="en-US" altLang="en-US" i="1">
                <a:solidFill>
                  <a:schemeClr val="bg2"/>
                </a:solidFill>
                <a:sym typeface="Symbol" panose="05050102010706020507" pitchFamily="18" charset="2"/>
              </a:rPr>
              <a:t> </a:t>
            </a:r>
            <a:r>
              <a:rPr lang="en-US" altLang="en-US" i="1">
                <a:solidFill>
                  <a:schemeClr val="bg2"/>
                </a:solidFill>
                <a:latin typeface="Symbol" panose="05050102010706020507" pitchFamily="18" charset="2"/>
              </a:rPr>
              <a:t>e</a:t>
            </a:r>
            <a:r>
              <a:rPr lang="en-US" altLang="en-US"/>
              <a:t>), lấy nút bên phải (</a:t>
            </a:r>
            <a:r>
              <a:rPr lang="en-US" altLang="en-US" i="1"/>
              <a:t>ngay sau</a:t>
            </a:r>
            <a:r>
              <a:rPr lang="en-US" altLang="en-US"/>
              <a:t>) A là nút hoạt động</a:t>
            </a:r>
            <a:endParaRPr lang="en-US" altLang="en-US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406400" indent="-406400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2800" i="1">
                <a:solidFill>
                  <a:srgbClr val="3539EB"/>
                </a:solidFill>
                <a:sym typeface="Symbol" panose="05050102010706020507" pitchFamily="18" charset="2"/>
              </a:rPr>
              <a:t>Quay lại thực hiện bước 2</a:t>
            </a:r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407A68E2-6B2D-BCF2-0D90-6DEFCA07A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45410C30-B5A3-0FA3-0A0E-4F4BE278CE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837AB1-D897-44D6-83B0-B95F115AC68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2E97047-8056-91B4-779D-9E1613714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465E329-C81C-06C5-A133-B750F8A50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9150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algn="just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sym typeface="Symbol" panose="05050102010706020507" pitchFamily="18" charset="2"/>
              </a:rPr>
              <a:t>Bước 2. Tạo các nút con của cây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 (</a:t>
            </a:r>
            <a:r>
              <a:rPr lang="en-US" altLang="en-US" sz="2800" i="1">
                <a:solidFill>
                  <a:srgbClr val="3539EB"/>
                </a:solidFill>
                <a:sym typeface="Symbol" panose="05050102010706020507" pitchFamily="18" charset="2"/>
              </a:rPr>
              <a:t>tiếp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</a:p>
          <a:p>
            <a:pPr marL="406400" indent="-406400" algn="just" eaLnBrk="1" hangingPunct="1">
              <a:lnSpc>
                <a:spcPct val="10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 i="1">
                <a:solidFill>
                  <a:srgbClr val="3539EB"/>
                </a:solidFill>
                <a:sym typeface="Symbol" panose="05050102010706020507" pitchFamily="18" charset="2"/>
              </a:rPr>
              <a:t>Nút hoạt động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là ký hiệu kết thúc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a</a:t>
            </a:r>
          </a:p>
          <a:p>
            <a:pPr marL="406400" indent="-406400" algn="just" eaLnBrk="1" hangingPunct="1">
              <a:lnSpc>
                <a:spcPct val="105000"/>
              </a:lnSpc>
              <a:spcBef>
                <a:spcPct val="10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So sánh </a:t>
            </a: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với ký hiệu cần phân tích hiện tại</a:t>
            </a:r>
          </a:p>
          <a:p>
            <a:pPr marL="855663" lvl="1" indent="-288925" algn="just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 b="1">
                <a:solidFill>
                  <a:schemeClr val="accent2"/>
                </a:solidFill>
              </a:rPr>
              <a:t>Nếu trùng nhau</a:t>
            </a:r>
          </a:p>
          <a:p>
            <a:pPr marL="1379538" lvl="2" indent="-350838" algn="just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Nút hoạt động là nút bên phải của a</a:t>
            </a:r>
          </a:p>
          <a:p>
            <a:pPr marL="1379538" lvl="2" indent="-350838" algn="just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Ký hiệu cần phân tích là ký hiệu tiếp theo trên xâu vào</a:t>
            </a:r>
          </a:p>
          <a:p>
            <a:pPr marL="1379538" lvl="2" indent="-350838" algn="just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 sz="2800" i="1">
                <a:solidFill>
                  <a:srgbClr val="3539EB"/>
                </a:solidFill>
                <a:sym typeface="Symbol" panose="05050102010706020507" pitchFamily="18" charset="2"/>
              </a:rPr>
              <a:t>Quay lại thực hiện bước 2</a:t>
            </a:r>
            <a:endParaRPr lang="en-US" altLang="en-US" sz="2800">
              <a:solidFill>
                <a:srgbClr val="B205FF"/>
              </a:solidFill>
              <a:sym typeface="Symbol" panose="05050102010706020507" pitchFamily="18" charset="2"/>
            </a:endParaRPr>
          </a:p>
          <a:p>
            <a:pPr marL="855663" lvl="1" indent="-288925" algn="just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 b="1" i="1">
                <a:solidFill>
                  <a:schemeClr val="accent2"/>
                </a:solidFill>
                <a:sym typeface="Symbol" panose="05050102010706020507" pitchFamily="18" charset="2"/>
              </a:rPr>
              <a:t>Nếu không trùng nhau</a:t>
            </a:r>
          </a:p>
          <a:p>
            <a:pPr marL="1379538" lvl="2" indent="-350838" algn="just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Quay lại bước đã sử dụng một sản xuất và thử sản xuất tiếp. </a:t>
            </a:r>
          </a:p>
          <a:p>
            <a:pPr marL="1722438" lvl="3" algn="just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Nếu đã hết khả năng, quay lại bước trước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DD635307-77B1-ADF9-18D9-9CCCDAFDF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E0ADED1D-2784-2C8A-46B6-0FF526EEF2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2F68DA-E6D3-464B-8B56-63AD07A1047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7A05518-B228-FA80-71AA-1CF76C0E6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E9E7269-EC5E-3273-BBFA-12EF12B2B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219200"/>
            <a:ext cx="8821737" cy="5029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algn="just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3. Điều kiện dừng</a:t>
            </a:r>
          </a:p>
          <a:p>
            <a:pPr marL="855663" lvl="1" indent="-288925" algn="just" eaLnBrk="1" hangingPunct="1">
              <a:lnSpc>
                <a:spcPct val="10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Đã áp dụng hết khả năng mà không tạo được cây </a:t>
            </a:r>
            <a:r>
              <a:rPr lang="en-US" altLang="en-US" sz="3200" i="1">
                <a:solidFill>
                  <a:srgbClr val="FA0617"/>
                </a:solidFill>
                <a:sym typeface="Symbol" panose="05050102010706020507" pitchFamily="18" charset="2"/>
              </a:rPr>
              <a:t>Xâu không được đoán nhận</a:t>
            </a:r>
          </a:p>
          <a:p>
            <a:pPr marL="855663" lvl="1" indent="-288925" algn="just" eaLnBrk="1" hangingPunct="1">
              <a:lnSpc>
                <a:spcPct val="10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Tạo ra cây suy dẫn cho xâu vào</a:t>
            </a: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330358C2-F888-6044-9E8F-D4734A537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9F663486-2D94-CAE8-A8DA-272E2F8879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A1DDA2-AF37-4CBE-A2F5-5D65FA40EB6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B95E069-1408-47BB-9C3C-89449DCA3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CA48D8B-7E5E-2A4C-9E1C-8506BFFAF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219200"/>
            <a:ext cx="8624887" cy="419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Điều kiện áp dụng thuật toán</a:t>
            </a:r>
          </a:p>
          <a:p>
            <a:pPr marL="855663" lvl="1" indent="-288925" algn="just" eaLnBrk="1" hangingPunct="1">
              <a:lnSpc>
                <a:spcPct val="12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Văn phạm không đệ quy trái</a:t>
            </a:r>
            <a:endParaRPr lang="en-US" altLang="en-US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406400" indent="-406400" algn="just" eaLnBrk="1" hangingPunct="1">
              <a:lnSpc>
                <a:spcPct val="125000"/>
              </a:lnSpc>
              <a:spcBef>
                <a:spcPct val="80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Chi phí 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n = l(); C, K &gt; 1 là các hằng số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lang="en-US" altLang="en-US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855663" lvl="1" indent="-288925" algn="just" eaLnBrk="1" hangingPunct="1">
              <a:lnSpc>
                <a:spcPct val="12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Bộ nhớ		C*n</a:t>
            </a:r>
          </a:p>
          <a:p>
            <a:pPr marL="855663" lvl="1" indent="-288925" algn="just" eaLnBrk="1" hangingPunct="1">
              <a:lnSpc>
                <a:spcPct val="12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Thời gian		K</a:t>
            </a:r>
            <a:r>
              <a:rPr lang="en-US" altLang="en-US" sz="3200" baseline="30000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C39DBFD9-FDD0-85F6-EBAF-E7BB0709C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E7A35584-E35D-1B3F-898A-4A330F6E29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D5EE6A-5A6D-4DF6-AF10-22F1D79A5C3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770629" name="AutoShape 133">
            <a:extLst>
              <a:ext uri="{FF2B5EF4-FFF2-40B4-BE49-F238E27FC236}">
                <a16:creationId xmlns:a16="http://schemas.microsoft.com/office/drawing/2014/main" id="{2EC302DB-2923-EEF1-163D-083379EF8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1488" y="2162175"/>
            <a:ext cx="838200" cy="533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618" name="Oval 122">
            <a:extLst>
              <a:ext uri="{FF2B5EF4-FFF2-40B4-BE49-F238E27FC236}">
                <a16:creationId xmlns:a16="http://schemas.microsoft.com/office/drawing/2014/main" id="{C23F99BB-CE73-A006-9162-73FABE5DD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43375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617" name="Oval 121">
            <a:extLst>
              <a:ext uri="{FF2B5EF4-FFF2-40B4-BE49-F238E27FC236}">
                <a16:creationId xmlns:a16="http://schemas.microsoft.com/office/drawing/2014/main" id="{941F1E5D-3630-3209-8D5E-E3F4DE752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6143625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95" name="Oval 99">
            <a:extLst>
              <a:ext uri="{FF2B5EF4-FFF2-40B4-BE49-F238E27FC236}">
                <a16:creationId xmlns:a16="http://schemas.microsoft.com/office/drawing/2014/main" id="{4431F288-5C30-62E9-91A9-90526136E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8" y="5195888"/>
            <a:ext cx="388937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79" name="Oval 83">
            <a:extLst>
              <a:ext uri="{FF2B5EF4-FFF2-40B4-BE49-F238E27FC236}">
                <a16:creationId xmlns:a16="http://schemas.microsoft.com/office/drawing/2014/main" id="{22B387D7-479B-7D85-B572-D8F2B0689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975" y="6248400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92" name="Oval 96">
            <a:extLst>
              <a:ext uri="{FF2B5EF4-FFF2-40B4-BE49-F238E27FC236}">
                <a16:creationId xmlns:a16="http://schemas.microsoft.com/office/drawing/2014/main" id="{0C58C620-8467-1D80-A7DE-8EF926636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6324600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77" name="Oval 81">
            <a:extLst>
              <a:ext uri="{FF2B5EF4-FFF2-40B4-BE49-F238E27FC236}">
                <a16:creationId xmlns:a16="http://schemas.microsoft.com/office/drawing/2014/main" id="{2C75ACF8-C3E3-AA60-F401-A52E4C966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738" y="5224463"/>
            <a:ext cx="388937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66" name="Oval 70">
            <a:extLst>
              <a:ext uri="{FF2B5EF4-FFF2-40B4-BE49-F238E27FC236}">
                <a16:creationId xmlns:a16="http://schemas.microsoft.com/office/drawing/2014/main" id="{B4AC1971-DAF0-FE3C-B3C4-9F75BDA41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6172200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51" name="Oval 55">
            <a:extLst>
              <a:ext uri="{FF2B5EF4-FFF2-40B4-BE49-F238E27FC236}">
                <a16:creationId xmlns:a16="http://schemas.microsoft.com/office/drawing/2014/main" id="{4021EB64-444C-2D90-316F-5C6B26B4E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5210175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55" name="Oval 59">
            <a:extLst>
              <a:ext uri="{FF2B5EF4-FFF2-40B4-BE49-F238E27FC236}">
                <a16:creationId xmlns:a16="http://schemas.microsoft.com/office/drawing/2014/main" id="{F80CEA9C-A2F1-84C3-100A-4BD230F46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4129088"/>
            <a:ext cx="388937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46" name="Oval 50">
            <a:extLst>
              <a:ext uri="{FF2B5EF4-FFF2-40B4-BE49-F238E27FC236}">
                <a16:creationId xmlns:a16="http://schemas.microsoft.com/office/drawing/2014/main" id="{84B0942B-6A6F-8DD0-B0CC-A26FE521D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4176713"/>
            <a:ext cx="388937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44" name="Oval 48">
            <a:extLst>
              <a:ext uri="{FF2B5EF4-FFF2-40B4-BE49-F238E27FC236}">
                <a16:creationId xmlns:a16="http://schemas.microsoft.com/office/drawing/2014/main" id="{4F17E8F2-CD1B-8398-A12F-5DD005EBC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3062288"/>
            <a:ext cx="388937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498" name="Oval 2">
            <a:extLst>
              <a:ext uri="{FF2B5EF4-FFF2-40B4-BE49-F238E27FC236}">
                <a16:creationId xmlns:a16="http://schemas.microsoft.com/office/drawing/2014/main" id="{1CB9D642-958A-32F8-4AD2-D830BCD3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2166938"/>
            <a:ext cx="541337" cy="5000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499" name="Oval 3">
            <a:extLst>
              <a:ext uri="{FF2B5EF4-FFF2-40B4-BE49-F238E27FC236}">
                <a16:creationId xmlns:a16="http://schemas.microsoft.com/office/drawing/2014/main" id="{754D6C5C-088E-8F8E-44D7-D251D738C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2166938"/>
            <a:ext cx="541337" cy="5000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00" name="Oval 4">
            <a:extLst>
              <a:ext uri="{FF2B5EF4-FFF2-40B4-BE49-F238E27FC236}">
                <a16:creationId xmlns:a16="http://schemas.microsoft.com/office/drawing/2014/main" id="{28F63DEA-E2A5-79AC-5BB0-1A9AA68D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181225"/>
            <a:ext cx="541337" cy="500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01" name="Oval 5">
            <a:extLst>
              <a:ext uri="{FF2B5EF4-FFF2-40B4-BE49-F238E27FC236}">
                <a16:creationId xmlns:a16="http://schemas.microsoft.com/office/drawing/2014/main" id="{02558DE9-7F70-BB26-3EB3-03C4F6611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5" y="2181225"/>
            <a:ext cx="541338" cy="500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0502" name="Oval 6">
            <a:extLst>
              <a:ext uri="{FF2B5EF4-FFF2-40B4-BE49-F238E27FC236}">
                <a16:creationId xmlns:a16="http://schemas.microsoft.com/office/drawing/2014/main" id="{C5475412-895B-A69C-5AB1-D960C1F47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950" y="2181225"/>
            <a:ext cx="541338" cy="500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9476" name="Rectangle 7">
            <a:extLst>
              <a:ext uri="{FF2B5EF4-FFF2-40B4-BE49-F238E27FC236}">
                <a16:creationId xmlns:a16="http://schemas.microsoft.com/office/drawing/2014/main" id="{B4D8D96E-1D4A-EE04-E844-8A55F7ADC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 </a:t>
            </a:r>
            <a:r>
              <a:rPr lang="en-US" altLang="en-US">
                <a:sym typeface="Symbol" panose="05050102010706020507" pitchFamily="18" charset="2"/>
              </a:rPr>
              <a:t> Ví dụ</a:t>
            </a:r>
          </a:p>
        </p:txBody>
      </p:sp>
      <p:sp>
        <p:nvSpPr>
          <p:cNvPr id="19477" name="Rectangle 8">
            <a:extLst>
              <a:ext uri="{FF2B5EF4-FFF2-40B4-BE49-F238E27FC236}">
                <a16:creationId xmlns:a16="http://schemas.microsoft.com/office/drawing/2014/main" id="{80BB7610-11A3-9BF0-14FA-3E15CD99319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686800" cy="685800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Văn phạm S  aSbS|aS|c, xâu  = aacbc</a:t>
            </a:r>
            <a:endParaRPr lang="en-US" altLang="en-US" baseline="300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9478" name="Text Box 9">
            <a:extLst>
              <a:ext uri="{FF2B5EF4-FFF2-40B4-BE49-F238E27FC236}">
                <a16:creationId xmlns:a16="http://schemas.microsoft.com/office/drawing/2014/main" id="{E6436D28-5BB9-80D5-61C1-F6C9DBB3E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  <p:sp>
        <p:nvSpPr>
          <p:cNvPr id="1770506" name="Text Box 10">
            <a:extLst>
              <a:ext uri="{FF2B5EF4-FFF2-40B4-BE49-F238E27FC236}">
                <a16:creationId xmlns:a16="http://schemas.microsoft.com/office/drawing/2014/main" id="{EDFFC1EC-FAB9-496B-F385-9A003FC37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81200"/>
            <a:ext cx="3124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Đánh số sản xuất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aSbS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aS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c</a:t>
            </a:r>
          </a:p>
        </p:txBody>
      </p:sp>
      <p:graphicFrame>
        <p:nvGraphicFramePr>
          <p:cNvPr id="1770508" name="Group 12">
            <a:extLst>
              <a:ext uri="{FF2B5EF4-FFF2-40B4-BE49-F238E27FC236}">
                <a16:creationId xmlns:a16="http://schemas.microsoft.com/office/drawing/2014/main" id="{CBCFF9D9-EDD5-7EDC-4C0E-BE53C1B3803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724400" y="2133600"/>
          <a:ext cx="4191000" cy="576263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70525" name="Text Box 29">
            <a:extLst>
              <a:ext uri="{FF2B5EF4-FFF2-40B4-BE49-F238E27FC236}">
                <a16:creationId xmlns:a16="http://schemas.microsoft.com/office/drawing/2014/main" id="{51390145-8FAE-90DF-DD1C-EF9F7B664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96703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accent2"/>
                </a:solidFill>
              </a:rPr>
              <a:t>S</a:t>
            </a:r>
          </a:p>
        </p:txBody>
      </p:sp>
      <p:grpSp>
        <p:nvGrpSpPr>
          <p:cNvPr id="1770543" name="Group 47">
            <a:extLst>
              <a:ext uri="{FF2B5EF4-FFF2-40B4-BE49-F238E27FC236}">
                <a16:creationId xmlns:a16="http://schemas.microsoft.com/office/drawing/2014/main" id="{54B25B8C-88D2-077C-174F-5D766EDBF77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429000"/>
            <a:ext cx="2743200" cy="1143000"/>
            <a:chOff x="3360" y="2160"/>
            <a:chExt cx="1728" cy="720"/>
          </a:xfrm>
        </p:grpSpPr>
        <p:sp>
          <p:nvSpPr>
            <p:cNvPr id="19550" name="Text Box 30">
              <a:extLst>
                <a:ext uri="{FF2B5EF4-FFF2-40B4-BE49-F238E27FC236}">
                  <a16:creationId xmlns:a16="http://schemas.microsoft.com/office/drawing/2014/main" id="{1ACB26A9-CB19-4585-FEBD-68AFFDCC1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19551" name="Text Box 31">
              <a:extLst>
                <a:ext uri="{FF2B5EF4-FFF2-40B4-BE49-F238E27FC236}">
                  <a16:creationId xmlns:a16="http://schemas.microsoft.com/office/drawing/2014/main" id="{6A0CBD99-C4D7-FAA0-8877-36E70CB2F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54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52" name="Text Box 32">
              <a:extLst>
                <a:ext uri="{FF2B5EF4-FFF2-40B4-BE49-F238E27FC236}">
                  <a16:creationId xmlns:a16="http://schemas.microsoft.com/office/drawing/2014/main" id="{4264C473-775C-893F-49E0-CA0C1B1B1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19553" name="Text Box 33">
              <a:extLst>
                <a:ext uri="{FF2B5EF4-FFF2-40B4-BE49-F238E27FC236}">
                  <a16:creationId xmlns:a16="http://schemas.microsoft.com/office/drawing/2014/main" id="{CC95EAC0-61CB-D569-65F0-D27BDDE35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54" name="Line 34">
              <a:extLst>
                <a:ext uri="{FF2B5EF4-FFF2-40B4-BE49-F238E27FC236}">
                  <a16:creationId xmlns:a16="http://schemas.microsoft.com/office/drawing/2014/main" id="{7EDC88A7-31D2-2AEF-6A56-2391D11C7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160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Line 35">
              <a:extLst>
                <a:ext uri="{FF2B5EF4-FFF2-40B4-BE49-F238E27FC236}">
                  <a16:creationId xmlns:a16="http://schemas.microsoft.com/office/drawing/2014/main" id="{8ABB7FF5-6DB9-C983-5B61-45CD4CBA9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Line 36">
              <a:extLst>
                <a:ext uri="{FF2B5EF4-FFF2-40B4-BE49-F238E27FC236}">
                  <a16:creationId xmlns:a16="http://schemas.microsoft.com/office/drawing/2014/main" id="{3B550724-F491-3BEC-1BC3-ED4A950EB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160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7" name="Line 37">
              <a:extLst>
                <a:ext uri="{FF2B5EF4-FFF2-40B4-BE49-F238E27FC236}">
                  <a16:creationId xmlns:a16="http://schemas.microsoft.com/office/drawing/2014/main" id="{79262784-CAD9-F11A-F52B-0C0C80F41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58" name="Text Box 46">
              <a:extLst>
                <a:ext uri="{FF2B5EF4-FFF2-40B4-BE49-F238E27FC236}">
                  <a16:creationId xmlns:a16="http://schemas.microsoft.com/office/drawing/2014/main" id="{2B7660B9-5627-2968-3B53-84D5C709A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1</a:t>
              </a:r>
            </a:p>
          </p:txBody>
        </p:sp>
      </p:grpSp>
      <p:sp>
        <p:nvSpPr>
          <p:cNvPr id="1770550" name="AutoShape 54">
            <a:extLst>
              <a:ext uri="{FF2B5EF4-FFF2-40B4-BE49-F238E27FC236}">
                <a16:creationId xmlns:a16="http://schemas.microsoft.com/office/drawing/2014/main" id="{17D404F3-B720-851A-50AD-42EBDC6010E5}"/>
              </a:ext>
            </a:extLst>
          </p:cNvPr>
          <p:cNvSpPr>
            <a:spLocks noChangeArrowheads="1"/>
          </p:cNvSpPr>
          <p:nvPr/>
        </p:nvSpPr>
        <p:spPr bwMode="auto">
          <a:xfrm rot="-1007095">
            <a:off x="5167313" y="2751138"/>
            <a:ext cx="273050" cy="1447800"/>
          </a:xfrm>
          <a:prstGeom prst="upDownArrow">
            <a:avLst>
              <a:gd name="adj1" fmla="val 50000"/>
              <a:gd name="adj2" fmla="val 1060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grpSp>
        <p:nvGrpSpPr>
          <p:cNvPr id="1770559" name="Group 63">
            <a:extLst>
              <a:ext uri="{FF2B5EF4-FFF2-40B4-BE49-F238E27FC236}">
                <a16:creationId xmlns:a16="http://schemas.microsoft.com/office/drawing/2014/main" id="{B370D72B-BD83-99CB-4C57-72930ACB7077}"/>
              </a:ext>
            </a:extLst>
          </p:cNvPr>
          <p:cNvGrpSpPr>
            <a:grpSpLocks/>
          </p:cNvGrpSpPr>
          <p:nvPr/>
        </p:nvGrpSpPr>
        <p:grpSpPr bwMode="auto">
          <a:xfrm>
            <a:off x="5838825" y="5653088"/>
            <a:ext cx="609600" cy="990600"/>
            <a:chOff x="4800" y="2832"/>
            <a:chExt cx="384" cy="624"/>
          </a:xfrm>
        </p:grpSpPr>
        <p:sp>
          <p:nvSpPr>
            <p:cNvPr id="19547" name="Text Box 43">
              <a:extLst>
                <a:ext uri="{FF2B5EF4-FFF2-40B4-BE49-F238E27FC236}">
                  <a16:creationId xmlns:a16="http://schemas.microsoft.com/office/drawing/2014/main" id="{CB3A6A1F-206C-DB10-BD10-5D8ABE947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12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c</a:t>
              </a:r>
            </a:p>
          </p:txBody>
        </p:sp>
        <p:sp>
          <p:nvSpPr>
            <p:cNvPr id="19548" name="Line 44">
              <a:extLst>
                <a:ext uri="{FF2B5EF4-FFF2-40B4-BE49-F238E27FC236}">
                  <a16:creationId xmlns:a16="http://schemas.microsoft.com/office/drawing/2014/main" id="{5690B217-92A1-5F81-E1A1-0BB6CCD41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83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9" name="Text Box 61">
              <a:extLst>
                <a:ext uri="{FF2B5EF4-FFF2-40B4-BE49-F238E27FC236}">
                  <a16:creationId xmlns:a16="http://schemas.microsoft.com/office/drawing/2014/main" id="{B33E02F0-3D52-41AC-135B-22E85E837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88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3</a:t>
              </a:r>
            </a:p>
          </p:txBody>
        </p:sp>
      </p:grpSp>
      <p:sp>
        <p:nvSpPr>
          <p:cNvPr id="1770553" name="Oval 57">
            <a:extLst>
              <a:ext uri="{FF2B5EF4-FFF2-40B4-BE49-F238E27FC236}">
                <a16:creationId xmlns:a16="http://schemas.microsoft.com/office/drawing/2014/main" id="{72712384-FD7F-F0ED-E4C5-DFAC59653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5195888"/>
            <a:ext cx="388937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grpSp>
        <p:nvGrpSpPr>
          <p:cNvPr id="1770581" name="Group 85">
            <a:extLst>
              <a:ext uri="{FF2B5EF4-FFF2-40B4-BE49-F238E27FC236}">
                <a16:creationId xmlns:a16="http://schemas.microsoft.com/office/drawing/2014/main" id="{8629675B-A560-19FF-12AA-FAFAB1274877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5581650"/>
            <a:ext cx="1462088" cy="1128713"/>
            <a:chOff x="1968" y="2409"/>
            <a:chExt cx="921" cy="711"/>
          </a:xfrm>
        </p:grpSpPr>
        <p:sp>
          <p:nvSpPr>
            <p:cNvPr id="19542" name="Text Box 38">
              <a:extLst>
                <a:ext uri="{FF2B5EF4-FFF2-40B4-BE49-F238E27FC236}">
                  <a16:creationId xmlns:a16="http://schemas.microsoft.com/office/drawing/2014/main" id="{3F785669-9ACC-4EF6-AF8D-F8F4041C8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697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19543" name="Text Box 39">
              <a:extLst>
                <a:ext uri="{FF2B5EF4-FFF2-40B4-BE49-F238E27FC236}">
                  <a16:creationId xmlns:a16="http://schemas.microsoft.com/office/drawing/2014/main" id="{3E71DA5F-835A-DA39-3B48-D1BA0979B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3" y="279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44" name="Line 41">
              <a:extLst>
                <a:ext uri="{FF2B5EF4-FFF2-40B4-BE49-F238E27FC236}">
                  <a16:creationId xmlns:a16="http://schemas.microsoft.com/office/drawing/2014/main" id="{308CE95B-677D-ADED-DCEA-43BE69EB16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51" y="2409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5" name="Line 42">
              <a:extLst>
                <a:ext uri="{FF2B5EF4-FFF2-40B4-BE49-F238E27FC236}">
                  <a16:creationId xmlns:a16="http://schemas.microsoft.com/office/drawing/2014/main" id="{0BFEA144-E78C-7286-5949-FF1AB7B3E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9" y="2409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Text Box 62">
              <a:extLst>
                <a:ext uri="{FF2B5EF4-FFF2-40B4-BE49-F238E27FC236}">
                  <a16:creationId xmlns:a16="http://schemas.microsoft.com/office/drawing/2014/main" id="{B2146170-F4D2-E23C-6026-4C90498D0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4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2</a:t>
              </a:r>
            </a:p>
          </p:txBody>
        </p:sp>
      </p:grpSp>
      <p:grpSp>
        <p:nvGrpSpPr>
          <p:cNvPr id="1770567" name="Group 71">
            <a:extLst>
              <a:ext uri="{FF2B5EF4-FFF2-40B4-BE49-F238E27FC236}">
                <a16:creationId xmlns:a16="http://schemas.microsoft.com/office/drawing/2014/main" id="{F4650FCB-C775-0985-B774-619D9FF46DD6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495800"/>
            <a:ext cx="2743200" cy="1143000"/>
            <a:chOff x="3360" y="2160"/>
            <a:chExt cx="1728" cy="720"/>
          </a:xfrm>
        </p:grpSpPr>
        <p:sp>
          <p:nvSpPr>
            <p:cNvPr id="19533" name="Text Box 72">
              <a:extLst>
                <a:ext uri="{FF2B5EF4-FFF2-40B4-BE49-F238E27FC236}">
                  <a16:creationId xmlns:a16="http://schemas.microsoft.com/office/drawing/2014/main" id="{F61EADFE-5BB7-2145-736B-5144D15FD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19534" name="Text Box 73">
              <a:extLst>
                <a:ext uri="{FF2B5EF4-FFF2-40B4-BE49-F238E27FC236}">
                  <a16:creationId xmlns:a16="http://schemas.microsoft.com/office/drawing/2014/main" id="{5521667E-AF12-7438-E17D-30C273B1C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54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35" name="Text Box 74">
              <a:extLst>
                <a:ext uri="{FF2B5EF4-FFF2-40B4-BE49-F238E27FC236}">
                  <a16:creationId xmlns:a16="http://schemas.microsoft.com/office/drawing/2014/main" id="{FF5CC78A-B16D-945B-6032-48BD7BD20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19536" name="Text Box 75">
              <a:extLst>
                <a:ext uri="{FF2B5EF4-FFF2-40B4-BE49-F238E27FC236}">
                  <a16:creationId xmlns:a16="http://schemas.microsoft.com/office/drawing/2014/main" id="{1EEE5B0A-B56C-9612-B060-65453AB26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37" name="Line 76">
              <a:extLst>
                <a:ext uri="{FF2B5EF4-FFF2-40B4-BE49-F238E27FC236}">
                  <a16:creationId xmlns:a16="http://schemas.microsoft.com/office/drawing/2014/main" id="{E47264DE-ABA4-A48B-0A3F-B92CA9EBC0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160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8" name="Line 77">
              <a:extLst>
                <a:ext uri="{FF2B5EF4-FFF2-40B4-BE49-F238E27FC236}">
                  <a16:creationId xmlns:a16="http://schemas.microsoft.com/office/drawing/2014/main" id="{4075A59E-B6EA-9F2D-7443-47CF6681E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9" name="Line 78">
              <a:extLst>
                <a:ext uri="{FF2B5EF4-FFF2-40B4-BE49-F238E27FC236}">
                  <a16:creationId xmlns:a16="http://schemas.microsoft.com/office/drawing/2014/main" id="{A1D5CC54-92DA-2C55-08BD-8FD2F6DFC1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160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0" name="Line 79">
              <a:extLst>
                <a:ext uri="{FF2B5EF4-FFF2-40B4-BE49-F238E27FC236}">
                  <a16:creationId xmlns:a16="http://schemas.microsoft.com/office/drawing/2014/main" id="{3F72BF99-2C44-3838-E54B-F2C5C9253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41" name="Text Box 80">
              <a:extLst>
                <a:ext uri="{FF2B5EF4-FFF2-40B4-BE49-F238E27FC236}">
                  <a16:creationId xmlns:a16="http://schemas.microsoft.com/office/drawing/2014/main" id="{DAC2827C-B16F-0118-5164-5AFBDFB76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1770582" name="Group 86">
            <a:extLst>
              <a:ext uri="{FF2B5EF4-FFF2-40B4-BE49-F238E27FC236}">
                <a16:creationId xmlns:a16="http://schemas.microsoft.com/office/drawing/2014/main" id="{9B07DDE2-173C-AE00-46B3-FFE1779E4827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5562600"/>
            <a:ext cx="2743200" cy="1143000"/>
            <a:chOff x="3360" y="2160"/>
            <a:chExt cx="1728" cy="720"/>
          </a:xfrm>
        </p:grpSpPr>
        <p:sp>
          <p:nvSpPr>
            <p:cNvPr id="19524" name="Text Box 87">
              <a:extLst>
                <a:ext uri="{FF2B5EF4-FFF2-40B4-BE49-F238E27FC236}">
                  <a16:creationId xmlns:a16="http://schemas.microsoft.com/office/drawing/2014/main" id="{84FF7579-104A-2A68-5ACE-563DEB07C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19525" name="Text Box 88">
              <a:extLst>
                <a:ext uri="{FF2B5EF4-FFF2-40B4-BE49-F238E27FC236}">
                  <a16:creationId xmlns:a16="http://schemas.microsoft.com/office/drawing/2014/main" id="{167F8176-424D-B446-509D-F0F6A42C2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54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26" name="Text Box 89">
              <a:extLst>
                <a:ext uri="{FF2B5EF4-FFF2-40B4-BE49-F238E27FC236}">
                  <a16:creationId xmlns:a16="http://schemas.microsoft.com/office/drawing/2014/main" id="{FFD788C6-9253-D043-BE3A-1BCC8FFE4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19527" name="Text Box 90">
              <a:extLst>
                <a:ext uri="{FF2B5EF4-FFF2-40B4-BE49-F238E27FC236}">
                  <a16:creationId xmlns:a16="http://schemas.microsoft.com/office/drawing/2014/main" id="{723AD4B6-8FFF-C3ED-C950-2D03BF0FE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28" name="Line 91">
              <a:extLst>
                <a:ext uri="{FF2B5EF4-FFF2-40B4-BE49-F238E27FC236}">
                  <a16:creationId xmlns:a16="http://schemas.microsoft.com/office/drawing/2014/main" id="{8B662BC1-A0D7-8DF3-0DF7-065380D02D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160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9" name="Line 92">
              <a:extLst>
                <a:ext uri="{FF2B5EF4-FFF2-40B4-BE49-F238E27FC236}">
                  <a16:creationId xmlns:a16="http://schemas.microsoft.com/office/drawing/2014/main" id="{BD334FF7-2484-B998-7F60-AD6FD201B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0" name="Line 93">
              <a:extLst>
                <a:ext uri="{FF2B5EF4-FFF2-40B4-BE49-F238E27FC236}">
                  <a16:creationId xmlns:a16="http://schemas.microsoft.com/office/drawing/2014/main" id="{9B9DC8E0-DFAE-EF70-F3A7-4CD0148C75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160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1" name="Line 94">
              <a:extLst>
                <a:ext uri="{FF2B5EF4-FFF2-40B4-BE49-F238E27FC236}">
                  <a16:creationId xmlns:a16="http://schemas.microsoft.com/office/drawing/2014/main" id="{9E239AE4-E5DA-0213-ED99-6AF2E4EFD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Text Box 95">
              <a:extLst>
                <a:ext uri="{FF2B5EF4-FFF2-40B4-BE49-F238E27FC236}">
                  <a16:creationId xmlns:a16="http://schemas.microsoft.com/office/drawing/2014/main" id="{B3C681F2-2870-F21E-7DBE-F51296CF3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1770596" name="Group 100">
            <a:extLst>
              <a:ext uri="{FF2B5EF4-FFF2-40B4-BE49-F238E27FC236}">
                <a16:creationId xmlns:a16="http://schemas.microsoft.com/office/drawing/2014/main" id="{4B09123E-99D7-9E10-9621-A7EC9227B3A5}"/>
              </a:ext>
            </a:extLst>
          </p:cNvPr>
          <p:cNvGrpSpPr>
            <a:grpSpLocks/>
          </p:cNvGrpSpPr>
          <p:nvPr/>
        </p:nvGrpSpPr>
        <p:grpSpPr bwMode="auto">
          <a:xfrm>
            <a:off x="6215063" y="5562600"/>
            <a:ext cx="2743200" cy="1143000"/>
            <a:chOff x="3360" y="2160"/>
            <a:chExt cx="1728" cy="720"/>
          </a:xfrm>
        </p:grpSpPr>
        <p:sp>
          <p:nvSpPr>
            <p:cNvPr id="19515" name="Text Box 101">
              <a:extLst>
                <a:ext uri="{FF2B5EF4-FFF2-40B4-BE49-F238E27FC236}">
                  <a16:creationId xmlns:a16="http://schemas.microsoft.com/office/drawing/2014/main" id="{022D0662-0EC7-A9BC-DF22-CBD473903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19516" name="Text Box 102">
              <a:extLst>
                <a:ext uri="{FF2B5EF4-FFF2-40B4-BE49-F238E27FC236}">
                  <a16:creationId xmlns:a16="http://schemas.microsoft.com/office/drawing/2014/main" id="{FE98A6F9-ECB5-BE11-E99A-499DADB68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54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17" name="Text Box 103">
              <a:extLst>
                <a:ext uri="{FF2B5EF4-FFF2-40B4-BE49-F238E27FC236}">
                  <a16:creationId xmlns:a16="http://schemas.microsoft.com/office/drawing/2014/main" id="{5090136B-4D3A-2686-9350-F5BDAF6E6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19518" name="Text Box 104">
              <a:extLst>
                <a:ext uri="{FF2B5EF4-FFF2-40B4-BE49-F238E27FC236}">
                  <a16:creationId xmlns:a16="http://schemas.microsoft.com/office/drawing/2014/main" id="{0799040C-F1F7-B92C-04C6-B9C981E32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19" name="Line 105">
              <a:extLst>
                <a:ext uri="{FF2B5EF4-FFF2-40B4-BE49-F238E27FC236}">
                  <a16:creationId xmlns:a16="http://schemas.microsoft.com/office/drawing/2014/main" id="{85523BF5-2C69-FD07-34E4-AE3F1FFFE7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160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Line 106">
              <a:extLst>
                <a:ext uri="{FF2B5EF4-FFF2-40B4-BE49-F238E27FC236}">
                  <a16:creationId xmlns:a16="http://schemas.microsoft.com/office/drawing/2014/main" id="{C9337527-9CBC-554C-05B8-3175E6526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Line 107">
              <a:extLst>
                <a:ext uri="{FF2B5EF4-FFF2-40B4-BE49-F238E27FC236}">
                  <a16:creationId xmlns:a16="http://schemas.microsoft.com/office/drawing/2014/main" id="{6AE0723D-0F1F-640D-2D66-E46F4C9DA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160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Line 108">
              <a:extLst>
                <a:ext uri="{FF2B5EF4-FFF2-40B4-BE49-F238E27FC236}">
                  <a16:creationId xmlns:a16="http://schemas.microsoft.com/office/drawing/2014/main" id="{6E029CAB-C69C-ADA3-6216-6F13727A9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Text Box 109">
              <a:extLst>
                <a:ext uri="{FF2B5EF4-FFF2-40B4-BE49-F238E27FC236}">
                  <a16:creationId xmlns:a16="http://schemas.microsoft.com/office/drawing/2014/main" id="{C55CC370-F4BC-1EFD-732C-5AEA863F1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1770612" name="Group 116">
            <a:extLst>
              <a:ext uri="{FF2B5EF4-FFF2-40B4-BE49-F238E27FC236}">
                <a16:creationId xmlns:a16="http://schemas.microsoft.com/office/drawing/2014/main" id="{88BCB832-780F-3D32-1135-B61C7A133B10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562600"/>
            <a:ext cx="1490663" cy="1028700"/>
            <a:chOff x="4752" y="1815"/>
            <a:chExt cx="939" cy="648"/>
          </a:xfrm>
        </p:grpSpPr>
        <p:sp>
          <p:nvSpPr>
            <p:cNvPr id="19510" name="Text Box 111">
              <a:extLst>
                <a:ext uri="{FF2B5EF4-FFF2-40B4-BE49-F238E27FC236}">
                  <a16:creationId xmlns:a16="http://schemas.microsoft.com/office/drawing/2014/main" id="{0F3BA37B-F3B9-2D73-9FE5-557D7656F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11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19511" name="Text Box 112">
              <a:extLst>
                <a:ext uri="{FF2B5EF4-FFF2-40B4-BE49-F238E27FC236}">
                  <a16:creationId xmlns:a16="http://schemas.microsoft.com/office/drawing/2014/main" id="{E4D19A1E-980F-45D1-6835-96FBF5761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" y="213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9512" name="Line 113">
              <a:extLst>
                <a:ext uri="{FF2B5EF4-FFF2-40B4-BE49-F238E27FC236}">
                  <a16:creationId xmlns:a16="http://schemas.microsoft.com/office/drawing/2014/main" id="{B1A106E3-1C60-44F6-7763-09A41418C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5" y="1824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114">
              <a:extLst>
                <a:ext uri="{FF2B5EF4-FFF2-40B4-BE49-F238E27FC236}">
                  <a16:creationId xmlns:a16="http://schemas.microsoft.com/office/drawing/2014/main" id="{ABB53C78-B641-FA36-5795-836A64EBF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" y="1815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Text Box 115">
              <a:extLst>
                <a:ext uri="{FF2B5EF4-FFF2-40B4-BE49-F238E27FC236}">
                  <a16:creationId xmlns:a16="http://schemas.microsoft.com/office/drawing/2014/main" id="{57FE6806-2ADB-BCBA-1BBF-86CB4092C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863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2</a:t>
              </a:r>
            </a:p>
          </p:txBody>
        </p:sp>
      </p:grpSp>
      <p:grpSp>
        <p:nvGrpSpPr>
          <p:cNvPr id="1770613" name="Group 117">
            <a:extLst>
              <a:ext uri="{FF2B5EF4-FFF2-40B4-BE49-F238E27FC236}">
                <a16:creationId xmlns:a16="http://schemas.microsoft.com/office/drawing/2014/main" id="{2728EF1B-E12D-7804-6580-A2E78D3E3A79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5562600"/>
            <a:ext cx="609600" cy="990600"/>
            <a:chOff x="4800" y="2832"/>
            <a:chExt cx="384" cy="624"/>
          </a:xfrm>
        </p:grpSpPr>
        <p:sp>
          <p:nvSpPr>
            <p:cNvPr id="19507" name="Text Box 118">
              <a:extLst>
                <a:ext uri="{FF2B5EF4-FFF2-40B4-BE49-F238E27FC236}">
                  <a16:creationId xmlns:a16="http://schemas.microsoft.com/office/drawing/2014/main" id="{D8E03460-001F-51C3-6737-5CF09E975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12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c</a:t>
              </a:r>
            </a:p>
          </p:txBody>
        </p:sp>
        <p:sp>
          <p:nvSpPr>
            <p:cNvPr id="19508" name="Line 119">
              <a:extLst>
                <a:ext uri="{FF2B5EF4-FFF2-40B4-BE49-F238E27FC236}">
                  <a16:creationId xmlns:a16="http://schemas.microsoft.com/office/drawing/2014/main" id="{20FABD13-E489-BFAC-E184-9CF666763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83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Text Box 120">
              <a:extLst>
                <a:ext uri="{FF2B5EF4-FFF2-40B4-BE49-F238E27FC236}">
                  <a16:creationId xmlns:a16="http://schemas.microsoft.com/office/drawing/2014/main" id="{15466441-17BC-1B6E-7862-95EC7F32D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88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70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70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7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77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7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7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770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7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7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770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70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770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7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7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77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1770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77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1770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1770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77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77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77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500"/>
                                        <p:tgtEl>
                                          <p:spTgt spid="1770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77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17705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1770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77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77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1770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1770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770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77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1770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77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1770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77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5" dur="500"/>
                                        <p:tgtEl>
                                          <p:spTgt spid="1770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8" dur="500"/>
                                        <p:tgtEl>
                                          <p:spTgt spid="1770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77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77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177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500"/>
                                        <p:tgtEl>
                                          <p:spTgt spid="17705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77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2" dur="500"/>
                                        <p:tgtEl>
                                          <p:spTgt spid="1770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77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0" dur="500"/>
                                        <p:tgtEl>
                                          <p:spTgt spid="1770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77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8" dur="500"/>
                                        <p:tgtEl>
                                          <p:spTgt spid="1770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1" dur="500"/>
                                        <p:tgtEl>
                                          <p:spTgt spid="1770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77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77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2" dur="500"/>
                                        <p:tgtEl>
                                          <p:spTgt spid="1770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5" dur="500"/>
                                        <p:tgtEl>
                                          <p:spTgt spid="17706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177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1" dur="500"/>
                                        <p:tgtEl>
                                          <p:spTgt spid="17706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177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9" dur="500"/>
                                        <p:tgtEl>
                                          <p:spTgt spid="1770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2" dur="500"/>
                                        <p:tgtEl>
                                          <p:spTgt spid="1770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77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8" dur="500"/>
                                        <p:tgtEl>
                                          <p:spTgt spid="1770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177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0629" grpId="0" animBg="1"/>
      <p:bldP spid="1770629" grpId="1" animBg="1"/>
      <p:bldP spid="1770618" grpId="0" animBg="1"/>
      <p:bldP spid="1770618" grpId="1" animBg="1"/>
      <p:bldP spid="1770617" grpId="0" animBg="1"/>
      <p:bldP spid="1770617" grpId="1" animBg="1"/>
      <p:bldP spid="1770595" grpId="0" animBg="1"/>
      <p:bldP spid="1770595" grpId="1" animBg="1"/>
      <p:bldP spid="1770595" grpId="2" animBg="1"/>
      <p:bldP spid="1770595" grpId="3" animBg="1"/>
      <p:bldP spid="1770579" grpId="0" animBg="1"/>
      <p:bldP spid="1770579" grpId="1" animBg="1"/>
      <p:bldP spid="1770592" grpId="0" animBg="1"/>
      <p:bldP spid="1770592" grpId="1" animBg="1"/>
      <p:bldP spid="1770577" grpId="0" animBg="1"/>
      <p:bldP spid="1770577" grpId="1" animBg="1"/>
      <p:bldP spid="1770566" grpId="0" animBg="1"/>
      <p:bldP spid="1770566" grpId="1" animBg="1"/>
      <p:bldP spid="1770551" grpId="0" animBg="1"/>
      <p:bldP spid="1770551" grpId="1" animBg="1"/>
      <p:bldP spid="1770555" grpId="0" animBg="1"/>
      <p:bldP spid="1770555" grpId="1" animBg="1"/>
      <p:bldP spid="1770546" grpId="0" animBg="1"/>
      <p:bldP spid="1770546" grpId="1" animBg="1"/>
      <p:bldP spid="1770544" grpId="0" animBg="1"/>
      <p:bldP spid="1770544" grpId="1" animBg="1"/>
      <p:bldP spid="1770498" grpId="0" animBg="1"/>
      <p:bldP spid="1770498" grpId="1" animBg="1"/>
      <p:bldP spid="1770499" grpId="0" animBg="1"/>
      <p:bldP spid="1770499" grpId="1" animBg="1"/>
      <p:bldP spid="1770500" grpId="0" animBg="1"/>
      <p:bldP spid="1770500" grpId="1" animBg="1"/>
      <p:bldP spid="1770500" grpId="2" animBg="1"/>
      <p:bldP spid="1770501" grpId="0" animBg="1"/>
      <p:bldP spid="1770501" grpId="1" animBg="1"/>
      <p:bldP spid="1770502" grpId="0" animBg="1"/>
      <p:bldP spid="1770502" grpId="1" animBg="1"/>
      <p:bldP spid="1770502" grpId="2" animBg="1"/>
      <p:bldP spid="1770502" grpId="3" animBg="1"/>
      <p:bldP spid="1770506" grpId="0"/>
      <p:bldP spid="1770525" grpId="0"/>
      <p:bldP spid="1770550" grpId="0" animBg="1"/>
      <p:bldP spid="1770550" grpId="1" animBg="1"/>
      <p:bldP spid="1770553" grpId="0" animBg="1"/>
      <p:bldP spid="1770553" grpId="1" animBg="1"/>
      <p:bldP spid="1770553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527140C7-4613-C38A-474E-A0811978A7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9C9B6B-5AB2-41C2-91FA-7C4EB3F4F2C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71967" name="Oval 127">
            <a:extLst>
              <a:ext uri="{FF2B5EF4-FFF2-40B4-BE49-F238E27FC236}">
                <a16:creationId xmlns:a16="http://schemas.microsoft.com/office/drawing/2014/main" id="{E682616F-FB86-72F8-AEDF-7EB7EAF27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050" y="5181600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55" name="Oval 115">
            <a:extLst>
              <a:ext uri="{FF2B5EF4-FFF2-40B4-BE49-F238E27FC236}">
                <a16:creationId xmlns:a16="http://schemas.microsoft.com/office/drawing/2014/main" id="{37C1DC0B-4674-974E-DCD0-DB3D34CEF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143375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30" name="Oval 90">
            <a:extLst>
              <a:ext uri="{FF2B5EF4-FFF2-40B4-BE49-F238E27FC236}">
                <a16:creationId xmlns:a16="http://schemas.microsoft.com/office/drawing/2014/main" id="{D8E83E64-1E57-D531-B7B2-4CA8933A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713" y="2181225"/>
            <a:ext cx="541337" cy="500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31" name="Oval 91">
            <a:extLst>
              <a:ext uri="{FF2B5EF4-FFF2-40B4-BE49-F238E27FC236}">
                <a16:creationId xmlns:a16="http://schemas.microsoft.com/office/drawing/2014/main" id="{A7393C1B-72C1-55AE-F7FC-5C909EE11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888" y="2181225"/>
            <a:ext cx="541337" cy="500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26" name="Oval 86">
            <a:extLst>
              <a:ext uri="{FF2B5EF4-FFF2-40B4-BE49-F238E27FC236}">
                <a16:creationId xmlns:a16="http://schemas.microsoft.com/office/drawing/2014/main" id="{F305BA4C-0CBD-6FCE-C784-F95A86C41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6186488"/>
            <a:ext cx="388937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56" name="Oval 116">
            <a:extLst>
              <a:ext uri="{FF2B5EF4-FFF2-40B4-BE49-F238E27FC236}">
                <a16:creationId xmlns:a16="http://schemas.microsoft.com/office/drawing/2014/main" id="{9A691D95-818A-5DF5-B93B-36DF31C7C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43375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32" name="Oval 92">
            <a:extLst>
              <a:ext uri="{FF2B5EF4-FFF2-40B4-BE49-F238E27FC236}">
                <a16:creationId xmlns:a16="http://schemas.microsoft.com/office/drawing/2014/main" id="{9B54C657-3285-AF0D-73E2-A09976361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0" y="5195888"/>
            <a:ext cx="388938" cy="347662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29" name="Oval 89">
            <a:extLst>
              <a:ext uri="{FF2B5EF4-FFF2-40B4-BE49-F238E27FC236}">
                <a16:creationId xmlns:a16="http://schemas.microsoft.com/office/drawing/2014/main" id="{A08E4D0D-7125-4FEC-8963-4072151D3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2162175"/>
            <a:ext cx="541337" cy="500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27" name="Oval 87">
            <a:extLst>
              <a:ext uri="{FF2B5EF4-FFF2-40B4-BE49-F238E27FC236}">
                <a16:creationId xmlns:a16="http://schemas.microsoft.com/office/drawing/2014/main" id="{17A5C998-41E4-31C0-29B0-0D18B5F6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181600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920" name="Oval 80">
            <a:extLst>
              <a:ext uri="{FF2B5EF4-FFF2-40B4-BE49-F238E27FC236}">
                <a16:creationId xmlns:a16="http://schemas.microsoft.com/office/drawing/2014/main" id="{1B89C18F-4753-599B-BF20-09F2F075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4143375"/>
            <a:ext cx="388938" cy="347663"/>
          </a:xfrm>
          <a:prstGeom prst="ellipse">
            <a:avLst/>
          </a:prstGeom>
          <a:solidFill>
            <a:srgbClr val="FFFC5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571891" name="Oval 51">
            <a:extLst>
              <a:ext uri="{FF2B5EF4-FFF2-40B4-BE49-F238E27FC236}">
                <a16:creationId xmlns:a16="http://schemas.microsoft.com/office/drawing/2014/main" id="{90739493-BAC4-967C-6E16-62C424A1B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2166938"/>
            <a:ext cx="541337" cy="5000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20494" name="Rectangle 2">
            <a:extLst>
              <a:ext uri="{FF2B5EF4-FFF2-40B4-BE49-F238E27FC236}">
                <a16:creationId xmlns:a16="http://schemas.microsoft.com/office/drawing/2014/main" id="{692A7690-0C32-DBF7-011A-0B22FC7BC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 </a:t>
            </a:r>
            <a:r>
              <a:rPr lang="en-US" altLang="en-US">
                <a:sym typeface="Symbol" panose="05050102010706020507" pitchFamily="18" charset="2"/>
              </a:rPr>
              <a:t> Ví dụ</a:t>
            </a:r>
          </a:p>
        </p:txBody>
      </p:sp>
      <p:sp>
        <p:nvSpPr>
          <p:cNvPr id="20495" name="Rectangle 3">
            <a:extLst>
              <a:ext uri="{FF2B5EF4-FFF2-40B4-BE49-F238E27FC236}">
                <a16:creationId xmlns:a16="http://schemas.microsoft.com/office/drawing/2014/main" id="{17A06FF3-ADF4-1047-BDA2-D2E61BED30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686800" cy="685800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Văn phạm S  aSbS|aS|c, xâu  = aacbc</a:t>
            </a:r>
            <a:endParaRPr lang="en-US" altLang="en-US" baseline="300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20496" name="Text Box 4">
            <a:extLst>
              <a:ext uri="{FF2B5EF4-FFF2-40B4-BE49-F238E27FC236}">
                <a16:creationId xmlns:a16="http://schemas.microsoft.com/office/drawing/2014/main" id="{2367D269-5271-C672-F64B-6569021CE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  <p:sp>
        <p:nvSpPr>
          <p:cNvPr id="20497" name="Text Box 5">
            <a:extLst>
              <a:ext uri="{FF2B5EF4-FFF2-40B4-BE49-F238E27FC236}">
                <a16:creationId xmlns:a16="http://schemas.microsoft.com/office/drawing/2014/main" id="{2EF43251-040E-8E87-DF6D-A8F880BFF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81200"/>
            <a:ext cx="3124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Đánh số sản xuất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aSbS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aS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c</a:t>
            </a:r>
          </a:p>
        </p:txBody>
      </p:sp>
      <p:sp>
        <p:nvSpPr>
          <p:cNvPr id="1571847" name="Text Box 7">
            <a:extLst>
              <a:ext uri="{FF2B5EF4-FFF2-40B4-BE49-F238E27FC236}">
                <a16:creationId xmlns:a16="http://schemas.microsoft.com/office/drawing/2014/main" id="{E1CBFB39-B5A7-B10A-6540-32BD390D6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5800"/>
            <a:ext cx="3124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b="0">
                <a:solidFill>
                  <a:schemeClr val="accent2"/>
                </a:solidFill>
              </a:rPr>
              <a:t>Đánh số sản xuất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c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aS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2800" b="0">
                <a:solidFill>
                  <a:schemeClr val="accent2"/>
                </a:solidFill>
                <a:sym typeface="Symbol" panose="05050102010706020507" pitchFamily="18" charset="2"/>
              </a:rPr>
              <a:t>S  aSbS</a:t>
            </a:r>
          </a:p>
        </p:txBody>
      </p:sp>
      <p:graphicFrame>
        <p:nvGraphicFramePr>
          <p:cNvPr id="1571910" name="Group 70">
            <a:extLst>
              <a:ext uri="{FF2B5EF4-FFF2-40B4-BE49-F238E27FC236}">
                <a16:creationId xmlns:a16="http://schemas.microsoft.com/office/drawing/2014/main" id="{A4B9C834-8325-DDB2-3516-9B21E6DF0A9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724400" y="2133600"/>
          <a:ext cx="4191000" cy="576263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15" name="Text Box 40">
            <a:extLst>
              <a:ext uri="{FF2B5EF4-FFF2-40B4-BE49-F238E27FC236}">
                <a16:creationId xmlns:a16="http://schemas.microsoft.com/office/drawing/2014/main" id="{48D3D93A-B3F6-1248-8C5D-A2E51106D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513" y="29860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accent2"/>
                </a:solidFill>
              </a:rPr>
              <a:t>S</a:t>
            </a:r>
          </a:p>
        </p:txBody>
      </p:sp>
      <p:grpSp>
        <p:nvGrpSpPr>
          <p:cNvPr id="20516" name="Group 84">
            <a:extLst>
              <a:ext uri="{FF2B5EF4-FFF2-40B4-BE49-F238E27FC236}">
                <a16:creationId xmlns:a16="http://schemas.microsoft.com/office/drawing/2014/main" id="{D5447F0E-0E85-21C6-8702-6C408962B234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429000"/>
            <a:ext cx="2743200" cy="1157288"/>
            <a:chOff x="3360" y="2160"/>
            <a:chExt cx="1728" cy="729"/>
          </a:xfrm>
        </p:grpSpPr>
        <p:sp>
          <p:nvSpPr>
            <p:cNvPr id="20547" name="Text Box 41">
              <a:extLst>
                <a:ext uri="{FF2B5EF4-FFF2-40B4-BE49-F238E27FC236}">
                  <a16:creationId xmlns:a16="http://schemas.microsoft.com/office/drawing/2014/main" id="{0DBB59E5-2CB0-B778-6842-984A1BFFB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20548" name="Text Box 42">
              <a:extLst>
                <a:ext uri="{FF2B5EF4-FFF2-40B4-BE49-F238E27FC236}">
                  <a16:creationId xmlns:a16="http://schemas.microsoft.com/office/drawing/2014/main" id="{AE6E77D6-0412-C807-2746-F9AA81748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7" y="256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20549" name="Text Box 43">
              <a:extLst>
                <a:ext uri="{FF2B5EF4-FFF2-40B4-BE49-F238E27FC236}">
                  <a16:creationId xmlns:a16="http://schemas.microsoft.com/office/drawing/2014/main" id="{18DC2F71-A11B-FB9E-9E73-00DF2502F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20550" name="Text Box 44">
              <a:extLst>
                <a:ext uri="{FF2B5EF4-FFF2-40B4-BE49-F238E27FC236}">
                  <a16:creationId xmlns:a16="http://schemas.microsoft.com/office/drawing/2014/main" id="{82912DCB-84AE-E1E0-9DE1-CBDD3795F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20551" name="Line 45">
              <a:extLst>
                <a:ext uri="{FF2B5EF4-FFF2-40B4-BE49-F238E27FC236}">
                  <a16:creationId xmlns:a16="http://schemas.microsoft.com/office/drawing/2014/main" id="{F2EEABA0-B2B2-667D-BDFB-8F664FA408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160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Line 46">
              <a:extLst>
                <a:ext uri="{FF2B5EF4-FFF2-40B4-BE49-F238E27FC236}">
                  <a16:creationId xmlns:a16="http://schemas.microsoft.com/office/drawing/2014/main" id="{96E40AFB-F421-C9F7-AF7B-8A6000923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Line 47">
              <a:extLst>
                <a:ext uri="{FF2B5EF4-FFF2-40B4-BE49-F238E27FC236}">
                  <a16:creationId xmlns:a16="http://schemas.microsoft.com/office/drawing/2014/main" id="{9D8B7504-A17A-B4C5-B23C-7C0B688E3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160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Line 48">
              <a:extLst>
                <a:ext uri="{FF2B5EF4-FFF2-40B4-BE49-F238E27FC236}">
                  <a16:creationId xmlns:a16="http://schemas.microsoft.com/office/drawing/2014/main" id="{34F7CD88-0C77-C024-1BEB-FE428A6CC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Text Box 82">
              <a:extLst>
                <a:ext uri="{FF2B5EF4-FFF2-40B4-BE49-F238E27FC236}">
                  <a16:creationId xmlns:a16="http://schemas.microsoft.com/office/drawing/2014/main" id="{C0C38284-DE73-5E41-D508-7035E8ACD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1571925" name="Group 85">
            <a:extLst>
              <a:ext uri="{FF2B5EF4-FFF2-40B4-BE49-F238E27FC236}">
                <a16:creationId xmlns:a16="http://schemas.microsoft.com/office/drawing/2014/main" id="{7E515B8A-E8EB-3B5B-5647-B6CF2B58F949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572000"/>
            <a:ext cx="1457325" cy="1066800"/>
            <a:chOff x="3531" y="2832"/>
            <a:chExt cx="918" cy="672"/>
          </a:xfrm>
        </p:grpSpPr>
        <p:sp>
          <p:nvSpPr>
            <p:cNvPr id="20542" name="Text Box 55">
              <a:extLst>
                <a:ext uri="{FF2B5EF4-FFF2-40B4-BE49-F238E27FC236}">
                  <a16:creationId xmlns:a16="http://schemas.microsoft.com/office/drawing/2014/main" id="{17677465-36D9-0D43-426B-013AD9D4A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316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20543" name="Text Box 56">
              <a:extLst>
                <a:ext uri="{FF2B5EF4-FFF2-40B4-BE49-F238E27FC236}">
                  <a16:creationId xmlns:a16="http://schemas.microsoft.com/office/drawing/2014/main" id="{C1931C0D-60E0-33B4-B305-B7EA02CFA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3" y="3177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20544" name="Line 59">
              <a:extLst>
                <a:ext uri="{FF2B5EF4-FFF2-40B4-BE49-F238E27FC236}">
                  <a16:creationId xmlns:a16="http://schemas.microsoft.com/office/drawing/2014/main" id="{B90F340A-3104-A68C-EFFF-2EECB6885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3" y="2832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Line 71">
              <a:extLst>
                <a:ext uri="{FF2B5EF4-FFF2-40B4-BE49-F238E27FC236}">
                  <a16:creationId xmlns:a16="http://schemas.microsoft.com/office/drawing/2014/main" id="{B3CFA6A1-4094-7534-B02E-9A1412433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1" y="283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Text Box 83">
              <a:extLst>
                <a:ext uri="{FF2B5EF4-FFF2-40B4-BE49-F238E27FC236}">
                  <a16:creationId xmlns:a16="http://schemas.microsoft.com/office/drawing/2014/main" id="{898EF399-7A10-E373-3220-C58B80152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92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2</a:t>
              </a:r>
            </a:p>
          </p:txBody>
        </p:sp>
      </p:grpSp>
      <p:grpSp>
        <p:nvGrpSpPr>
          <p:cNvPr id="1571933" name="Group 93">
            <a:extLst>
              <a:ext uri="{FF2B5EF4-FFF2-40B4-BE49-F238E27FC236}">
                <a16:creationId xmlns:a16="http://schemas.microsoft.com/office/drawing/2014/main" id="{B3884CCF-FE81-69CE-EAC3-D4C367A47AB9}"/>
              </a:ext>
            </a:extLst>
          </p:cNvPr>
          <p:cNvGrpSpPr>
            <a:grpSpLocks/>
          </p:cNvGrpSpPr>
          <p:nvPr/>
        </p:nvGrpSpPr>
        <p:grpSpPr bwMode="auto">
          <a:xfrm>
            <a:off x="5534025" y="5529263"/>
            <a:ext cx="2743200" cy="1157287"/>
            <a:chOff x="3360" y="2160"/>
            <a:chExt cx="1728" cy="729"/>
          </a:xfrm>
        </p:grpSpPr>
        <p:sp>
          <p:nvSpPr>
            <p:cNvPr id="20533" name="Text Box 94">
              <a:extLst>
                <a:ext uri="{FF2B5EF4-FFF2-40B4-BE49-F238E27FC236}">
                  <a16:creationId xmlns:a16="http://schemas.microsoft.com/office/drawing/2014/main" id="{E69AAD66-D929-2B41-E3CC-8F59615C7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20534" name="Text Box 95">
              <a:extLst>
                <a:ext uri="{FF2B5EF4-FFF2-40B4-BE49-F238E27FC236}">
                  <a16:creationId xmlns:a16="http://schemas.microsoft.com/office/drawing/2014/main" id="{77181F7B-E341-9817-0411-DB3AEB7F1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7" y="256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20535" name="Text Box 96">
              <a:extLst>
                <a:ext uri="{FF2B5EF4-FFF2-40B4-BE49-F238E27FC236}">
                  <a16:creationId xmlns:a16="http://schemas.microsoft.com/office/drawing/2014/main" id="{70BC3A8C-BE22-DD61-66DF-A4770A658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20536" name="Text Box 97">
              <a:extLst>
                <a:ext uri="{FF2B5EF4-FFF2-40B4-BE49-F238E27FC236}">
                  <a16:creationId xmlns:a16="http://schemas.microsoft.com/office/drawing/2014/main" id="{3405D36E-C57B-490F-7939-3344FA813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20537" name="Line 98">
              <a:extLst>
                <a:ext uri="{FF2B5EF4-FFF2-40B4-BE49-F238E27FC236}">
                  <a16:creationId xmlns:a16="http://schemas.microsoft.com/office/drawing/2014/main" id="{F8FECFD9-133D-4CAC-41BE-A9225D662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160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Line 99">
              <a:extLst>
                <a:ext uri="{FF2B5EF4-FFF2-40B4-BE49-F238E27FC236}">
                  <a16:creationId xmlns:a16="http://schemas.microsoft.com/office/drawing/2014/main" id="{62CF53E7-8C09-97C9-9D52-108D63462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72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Line 100">
              <a:extLst>
                <a:ext uri="{FF2B5EF4-FFF2-40B4-BE49-F238E27FC236}">
                  <a16:creationId xmlns:a16="http://schemas.microsoft.com/office/drawing/2014/main" id="{BFD7F09F-2B6F-ECBB-BEE7-EBADD5FB3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2160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Line 101">
              <a:extLst>
                <a:ext uri="{FF2B5EF4-FFF2-40B4-BE49-F238E27FC236}">
                  <a16:creationId xmlns:a16="http://schemas.microsoft.com/office/drawing/2014/main" id="{12ABA05A-EB50-6C4D-DF22-E20680766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60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Text Box 102">
              <a:extLst>
                <a:ext uri="{FF2B5EF4-FFF2-40B4-BE49-F238E27FC236}">
                  <a16:creationId xmlns:a16="http://schemas.microsoft.com/office/drawing/2014/main" id="{0EB0AD87-EFC3-FB0C-31BD-34FC81FA8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1571961" name="Group 121">
            <a:extLst>
              <a:ext uri="{FF2B5EF4-FFF2-40B4-BE49-F238E27FC236}">
                <a16:creationId xmlns:a16="http://schemas.microsoft.com/office/drawing/2014/main" id="{BCC89E35-D598-E56B-C68D-F169AAEAAC3B}"/>
              </a:ext>
            </a:extLst>
          </p:cNvPr>
          <p:cNvGrpSpPr>
            <a:grpSpLocks/>
          </p:cNvGrpSpPr>
          <p:nvPr/>
        </p:nvGrpSpPr>
        <p:grpSpPr bwMode="auto">
          <a:xfrm>
            <a:off x="6615113" y="5595938"/>
            <a:ext cx="638175" cy="990600"/>
            <a:chOff x="5031" y="3120"/>
            <a:chExt cx="402" cy="624"/>
          </a:xfrm>
        </p:grpSpPr>
        <p:sp>
          <p:nvSpPr>
            <p:cNvPr id="20530" name="Text Box 72">
              <a:extLst>
                <a:ext uri="{FF2B5EF4-FFF2-40B4-BE49-F238E27FC236}">
                  <a16:creationId xmlns:a16="http://schemas.microsoft.com/office/drawing/2014/main" id="{1FEED18A-5452-F14B-2509-28803EC2F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3417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c</a:t>
              </a:r>
            </a:p>
          </p:txBody>
        </p:sp>
        <p:sp>
          <p:nvSpPr>
            <p:cNvPr id="20531" name="Line 73">
              <a:extLst>
                <a:ext uri="{FF2B5EF4-FFF2-40B4-BE49-F238E27FC236}">
                  <a16:creationId xmlns:a16="http://schemas.microsoft.com/office/drawing/2014/main" id="{508BB0AD-1352-B16C-CE06-7EE9693B7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312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Text Box 108">
              <a:extLst>
                <a:ext uri="{FF2B5EF4-FFF2-40B4-BE49-F238E27FC236}">
                  <a16:creationId xmlns:a16="http://schemas.microsoft.com/office/drawing/2014/main" id="{FDEEA67C-1D8C-38FC-C724-EF61E627A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7" y="317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3</a:t>
              </a:r>
            </a:p>
          </p:txBody>
        </p:sp>
      </p:grpSp>
      <p:grpSp>
        <p:nvGrpSpPr>
          <p:cNvPr id="1571962" name="Group 122">
            <a:extLst>
              <a:ext uri="{FF2B5EF4-FFF2-40B4-BE49-F238E27FC236}">
                <a16:creationId xmlns:a16="http://schemas.microsoft.com/office/drawing/2014/main" id="{08D632BE-CAB9-6416-7F75-B29BC2E88383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5562600"/>
            <a:ext cx="1457325" cy="1066800"/>
            <a:chOff x="2112" y="2208"/>
            <a:chExt cx="918" cy="672"/>
          </a:xfrm>
        </p:grpSpPr>
        <p:sp>
          <p:nvSpPr>
            <p:cNvPr id="20525" name="Text Box 104">
              <a:extLst>
                <a:ext uri="{FF2B5EF4-FFF2-40B4-BE49-F238E27FC236}">
                  <a16:creationId xmlns:a16="http://schemas.microsoft.com/office/drawing/2014/main" id="{FE97C4B3-C39B-A77A-F923-3B102181A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54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20526" name="Text Box 105">
              <a:extLst>
                <a:ext uri="{FF2B5EF4-FFF2-40B4-BE49-F238E27FC236}">
                  <a16:creationId xmlns:a16="http://schemas.microsoft.com/office/drawing/2014/main" id="{CE68581C-9B7E-9A9D-09DB-B90A42EB3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2553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20527" name="Line 106">
              <a:extLst>
                <a:ext uri="{FF2B5EF4-FFF2-40B4-BE49-F238E27FC236}">
                  <a16:creationId xmlns:a16="http://schemas.microsoft.com/office/drawing/2014/main" id="{C2E086E0-3203-5448-A371-DF4AF396C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2208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Line 107">
              <a:extLst>
                <a:ext uri="{FF2B5EF4-FFF2-40B4-BE49-F238E27FC236}">
                  <a16:creationId xmlns:a16="http://schemas.microsoft.com/office/drawing/2014/main" id="{D32DBE1F-2493-32AD-BFC6-F1BB4D5B8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20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Text Box 120">
              <a:extLst>
                <a:ext uri="{FF2B5EF4-FFF2-40B4-BE49-F238E27FC236}">
                  <a16:creationId xmlns:a16="http://schemas.microsoft.com/office/drawing/2014/main" id="{FACB1F36-B4B1-A6CD-EC02-B81774A39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7" y="227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2</a:t>
              </a:r>
            </a:p>
          </p:txBody>
        </p:sp>
      </p:grpSp>
      <p:grpSp>
        <p:nvGrpSpPr>
          <p:cNvPr id="1571963" name="Group 123">
            <a:extLst>
              <a:ext uri="{FF2B5EF4-FFF2-40B4-BE49-F238E27FC236}">
                <a16:creationId xmlns:a16="http://schemas.microsoft.com/office/drawing/2014/main" id="{6A7EEE62-DA8A-C04A-02EE-2C000E09DEF4}"/>
              </a:ext>
            </a:extLst>
          </p:cNvPr>
          <p:cNvGrpSpPr>
            <a:grpSpLocks/>
          </p:cNvGrpSpPr>
          <p:nvPr/>
        </p:nvGrpSpPr>
        <p:grpSpPr bwMode="auto">
          <a:xfrm>
            <a:off x="7591425" y="4543425"/>
            <a:ext cx="638175" cy="990600"/>
            <a:chOff x="5031" y="3120"/>
            <a:chExt cx="402" cy="624"/>
          </a:xfrm>
        </p:grpSpPr>
        <p:sp>
          <p:nvSpPr>
            <p:cNvPr id="20522" name="Text Box 124">
              <a:extLst>
                <a:ext uri="{FF2B5EF4-FFF2-40B4-BE49-F238E27FC236}">
                  <a16:creationId xmlns:a16="http://schemas.microsoft.com/office/drawing/2014/main" id="{631F7EF3-AC00-C67A-2FD0-587907DD8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3417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c</a:t>
              </a:r>
            </a:p>
          </p:txBody>
        </p:sp>
        <p:sp>
          <p:nvSpPr>
            <p:cNvPr id="20523" name="Line 125">
              <a:extLst>
                <a:ext uri="{FF2B5EF4-FFF2-40B4-BE49-F238E27FC236}">
                  <a16:creationId xmlns:a16="http://schemas.microsoft.com/office/drawing/2014/main" id="{DD5C115C-D5E1-6B91-6A7B-40AA07543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312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Text Box 126">
              <a:extLst>
                <a:ext uri="{FF2B5EF4-FFF2-40B4-BE49-F238E27FC236}">
                  <a16:creationId xmlns:a16="http://schemas.microsoft.com/office/drawing/2014/main" id="{C62FFB82-5396-A5A5-774F-BF1B48069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7" y="317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b="0">
                  <a:solidFill>
                    <a:schemeClr val="accent2"/>
                  </a:solidFill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7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719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7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7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571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5718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7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7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15719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7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5719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7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5719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7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1571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57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15719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7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15719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15719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57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57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57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5" dur="500"/>
                                        <p:tgtEl>
                                          <p:spTgt spid="1571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57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500"/>
                                        <p:tgtEl>
                                          <p:spTgt spid="1571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15719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57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57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1967" grpId="0" animBg="1"/>
      <p:bldP spid="1571967" grpId="1" animBg="1"/>
      <p:bldP spid="1571955" grpId="0" animBg="1"/>
      <p:bldP spid="1571955" grpId="1" animBg="1"/>
      <p:bldP spid="1571930" grpId="0" animBg="1"/>
      <p:bldP spid="1571930" grpId="1" animBg="1"/>
      <p:bldP spid="1571931" grpId="0" animBg="1"/>
      <p:bldP spid="1571931" grpId="1" animBg="1"/>
      <p:bldP spid="1571926" grpId="0" animBg="1"/>
      <p:bldP spid="1571926" grpId="1" animBg="1"/>
      <p:bldP spid="1571956" grpId="0" animBg="1"/>
      <p:bldP spid="1571956" grpId="1" animBg="1"/>
      <p:bldP spid="1571932" grpId="0" animBg="1"/>
      <p:bldP spid="1571932" grpId="1" animBg="1"/>
      <p:bldP spid="1571929" grpId="0" animBg="1"/>
      <p:bldP spid="1571929" grpId="1" animBg="1"/>
      <p:bldP spid="1571927" grpId="0" animBg="1"/>
      <p:bldP spid="1571927" grpId="1" animBg="1"/>
      <p:bldP spid="1571920" grpId="0" animBg="1"/>
      <p:bldP spid="1571891" grpId="0" animBg="1"/>
      <p:bldP spid="15718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2CD1378A-72F1-ACA7-C718-D6AFC125D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C19940-DE2C-4601-A2F5-C01D1CCDC93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111D835-0622-CBD2-CCDA-893C9C6EA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 </a:t>
            </a:r>
            <a:r>
              <a:rPr lang="en-US" altLang="en-US">
                <a:sym typeface="Symbol" panose="05050102010706020507" pitchFamily="18" charset="2"/>
              </a:rPr>
              <a:t> Bài tập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4879A26-47B4-54D6-532D-C305D3C26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2000" cy="419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sym typeface="Symbol" panose="05050102010706020507" pitchFamily="18" charset="2"/>
              </a:rPr>
              <a:t>Cho văn phạm 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sym typeface="Symbol" panose="05050102010706020507" pitchFamily="18" charset="2"/>
              </a:rPr>
              <a:t>	E  T+E |T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sym typeface="Symbol" panose="05050102010706020507" pitchFamily="18" charset="2"/>
              </a:rPr>
              <a:t>	T  F*T |F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sym typeface="Symbol" panose="05050102010706020507" pitchFamily="18" charset="2"/>
              </a:rPr>
              <a:t>	F  (E) |a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sym typeface="Symbol" panose="05050102010706020507" pitchFamily="18" charset="2"/>
              </a:rPr>
              <a:t>Xây dựng cây suy dẫn cho xâu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a+a</a:t>
            </a:r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0B4FF659-B2A8-632E-9A3A-0CCCBF9DE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242F1639-39F4-4D69-86F6-626A42E6B7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04E858-B0C6-4296-98E3-9619A83240E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EFB34F7-2495-538C-0890-87781FCF4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(1/8)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95CEF9A-84D5-3E0D-F36F-C0EFCA994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9721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Vào </a:t>
            </a:r>
          </a:p>
          <a:p>
            <a:pPr marL="798513" lvl="1" indent="-450850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/>
              <a:t>Văn phạm phi ngữ cảnh không đệ quy trái </a:t>
            </a:r>
          </a:p>
          <a:p>
            <a:pPr marL="798513" lvl="1" indent="-450850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/>
              <a:t>xâu cần phân tích </a:t>
            </a:r>
            <a:r>
              <a:rPr lang="en-US" altLang="en-US">
                <a:sym typeface="Symbol" panose="05050102010706020507" pitchFamily="18" charset="2"/>
              </a:rPr>
              <a:t></a:t>
            </a:r>
            <a:r>
              <a:rPr lang="en-US" altLang="en-US"/>
              <a:t> = a</a:t>
            </a:r>
            <a:r>
              <a:rPr lang="en-US" altLang="en-US" baseline="-25000"/>
              <a:t>1</a:t>
            </a:r>
            <a:r>
              <a:rPr lang="en-US" altLang="en-US"/>
              <a:t>...a</a:t>
            </a:r>
            <a:r>
              <a:rPr lang="en-US" altLang="en-US" baseline="-25000"/>
              <a:t>n</a:t>
            </a:r>
            <a:r>
              <a:rPr lang="en-US" altLang="en-US"/>
              <a:t>, n </a:t>
            </a:r>
            <a:r>
              <a:rPr lang="en-US" altLang="en-US">
                <a:sym typeface="Symbol" panose="05050102010706020507" pitchFamily="18" charset="2"/>
              </a:rPr>
              <a:t></a:t>
            </a:r>
            <a:r>
              <a:rPr lang="en-US" altLang="en-US"/>
              <a:t> 0</a:t>
            </a:r>
          </a:p>
          <a:p>
            <a:pPr marL="798513" lvl="1" indent="-450850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/>
              <a:t>Các sản xuất của G được đánh số 1,...,q</a:t>
            </a:r>
            <a:endParaRPr lang="en-US" altLang="en-US" u="sng"/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Ra</a:t>
            </a:r>
          </a:p>
          <a:p>
            <a:pPr marL="798513" lvl="1" indent="-450850" eaLnBrk="1" hangingPunct="1">
              <a:lnSpc>
                <a:spcPct val="90000"/>
              </a:lnSpc>
            </a:pPr>
            <a:r>
              <a:rPr lang="en-US" altLang="en-US"/>
              <a:t>Một phân tích trái cho </a:t>
            </a:r>
            <a:r>
              <a:rPr lang="en-US" altLang="en-US">
                <a:sym typeface="Symbol" panose="05050102010706020507" pitchFamily="18" charset="2"/>
              </a:rPr>
              <a:t> </a:t>
            </a:r>
            <a:r>
              <a:rPr lang="en-US" altLang="en-US"/>
              <a:t>(nếu có)</a:t>
            </a:r>
          </a:p>
          <a:p>
            <a:pPr marL="798513" lvl="1" indent="-450850" eaLnBrk="1" hangingPunct="1">
              <a:lnSpc>
                <a:spcPct val="90000"/>
              </a:lnSpc>
            </a:pPr>
            <a:r>
              <a:rPr lang="en-US" altLang="en-US"/>
              <a:t>Thông báo lỗi nếu ngược lại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Quy ước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</a:t>
            </a:r>
            <a:r>
              <a:rPr lang="en-US" altLang="en-US" sz="2800"/>
              <a:t> A </a:t>
            </a:r>
            <a:r>
              <a:rPr lang="en-US" altLang="en-US" sz="2800">
                <a:sym typeface="Symbol" panose="05050102010706020507" pitchFamily="18" charset="2"/>
              </a:rPr>
              <a:t></a:t>
            </a:r>
            <a:r>
              <a:rPr lang="en-US" altLang="en-US" sz="2800"/>
              <a:t> V</a:t>
            </a:r>
            <a:r>
              <a:rPr lang="en-US" altLang="en-US" sz="2800" baseline="-25000"/>
              <a:t>N</a:t>
            </a:r>
            <a:r>
              <a:rPr lang="en-US" altLang="en-US" sz="2800"/>
              <a:t> , giả sử   A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 </a:t>
            </a:r>
            <a:r>
              <a:rPr lang="en-US" altLang="en-US" sz="2800">
                <a:latin typeface="Symbol" panose="05050102010706020507" pitchFamily="18" charset="2"/>
              </a:rPr>
              <a:t>a</a:t>
            </a:r>
            <a:r>
              <a:rPr lang="en-US" altLang="en-US" sz="1600"/>
              <a:t>1 </a:t>
            </a:r>
            <a:r>
              <a:rPr lang="en-US" altLang="en-US" sz="2800"/>
              <a:t>| </a:t>
            </a:r>
            <a:r>
              <a:rPr lang="en-US" altLang="en-US" sz="2800">
                <a:latin typeface="Symbol" panose="05050102010706020507" pitchFamily="18" charset="2"/>
              </a:rPr>
              <a:t>a</a:t>
            </a:r>
            <a:r>
              <a:rPr lang="en-US" altLang="en-US" sz="1600"/>
              <a:t>2</a:t>
            </a:r>
            <a:r>
              <a:rPr lang="en-US" altLang="en-US" sz="2800"/>
              <a:t> | . . . .| </a:t>
            </a:r>
            <a:r>
              <a:rPr lang="en-US" altLang="en-US" sz="2800">
                <a:latin typeface="Symbol" panose="05050102010706020507" pitchFamily="18" charset="2"/>
              </a:rPr>
              <a:t>a</a:t>
            </a:r>
            <a:r>
              <a:rPr lang="en-US" altLang="en-US" sz="1600"/>
              <a:t>n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Coi các sản xuất  trên là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A</a:t>
            </a:r>
            <a:r>
              <a:rPr lang="en-US" altLang="en-US" sz="1400"/>
              <a:t>1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</a:t>
            </a:r>
            <a:r>
              <a:rPr lang="en-US" altLang="en-US" sz="2400">
                <a:latin typeface="Symbol" panose="05050102010706020507" pitchFamily="18" charset="2"/>
              </a:rPr>
              <a:t>a</a:t>
            </a:r>
            <a:r>
              <a:rPr lang="en-US" altLang="en-US" sz="1400"/>
              <a:t>1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. . . .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A</a:t>
            </a:r>
            <a:r>
              <a:rPr lang="en-US" altLang="en-US" sz="1400"/>
              <a:t>n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</a:t>
            </a:r>
            <a:r>
              <a:rPr lang="en-US" altLang="en-US" sz="2400"/>
              <a:t> </a:t>
            </a:r>
            <a:r>
              <a:rPr lang="en-US" altLang="en-US" sz="2400">
                <a:latin typeface="Symbol" panose="05050102010706020507" pitchFamily="18" charset="2"/>
              </a:rPr>
              <a:t>a</a:t>
            </a:r>
            <a:r>
              <a:rPr lang="en-US" altLang="en-US" sz="1400"/>
              <a:t>n</a:t>
            </a:r>
            <a:endParaRPr lang="en-US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EB0E1CCD-EC4D-AA72-8DA7-3CF7DAC3A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  <p:grpSp>
        <p:nvGrpSpPr>
          <p:cNvPr id="22534" name="Group 7">
            <a:extLst>
              <a:ext uri="{FF2B5EF4-FFF2-40B4-BE49-F238E27FC236}">
                <a16:creationId xmlns:a16="http://schemas.microsoft.com/office/drawing/2014/main" id="{D8FD3E04-F630-8A89-2B73-F81535F9239F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5691188"/>
            <a:ext cx="4624388" cy="1187450"/>
            <a:chOff x="2112" y="3585"/>
            <a:chExt cx="2913" cy="748"/>
          </a:xfrm>
        </p:grpSpPr>
        <p:sp>
          <p:nvSpPr>
            <p:cNvPr id="22535" name="AutoShape 5">
              <a:extLst>
                <a:ext uri="{FF2B5EF4-FFF2-40B4-BE49-F238E27FC236}">
                  <a16:creationId xmlns:a16="http://schemas.microsoft.com/office/drawing/2014/main" id="{26B8B980-AE43-0D25-14B0-55F40C6B0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669"/>
              <a:ext cx="288" cy="624"/>
            </a:xfrm>
            <a:prstGeom prst="rightBrace">
              <a:avLst>
                <a:gd name="adj1" fmla="val 1805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2536" name="Text Box 6">
              <a:extLst>
                <a:ext uri="{FF2B5EF4-FFF2-40B4-BE49-F238E27FC236}">
                  <a16:creationId xmlns:a16="http://schemas.microsoft.com/office/drawing/2014/main" id="{40954BDE-BA14-494A-B815-3F517D1F4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3" y="3585"/>
              <a:ext cx="2592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Để phân biệt sản xuất đã sử dụng của cùng một ký hiệu không kết thúc A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12BBF5CD-6E3A-A72A-5DA4-0134FB777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E49E72-CB65-4056-958A-015056C1F53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5E72B9A-E072-7E64-D3B5-F08A33326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(2/8)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5CF6B0A-1CAB-7AB9-7FAF-B0F4A53C2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914400"/>
            <a:ext cx="8821737" cy="5715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105000"/>
              </a:lnSpc>
              <a:buFontTx/>
              <a:buNone/>
            </a:pPr>
            <a:r>
              <a:rPr lang="en-US" altLang="en-US" b="1"/>
              <a:t>Phương pháp: </a:t>
            </a:r>
            <a:r>
              <a:rPr lang="en-US" altLang="en-US"/>
              <a:t>Dùng 2 stack D</a:t>
            </a:r>
            <a:r>
              <a:rPr lang="en-US" altLang="en-US" baseline="-25000"/>
              <a:t>1</a:t>
            </a:r>
            <a:r>
              <a:rPr lang="en-US" altLang="en-US"/>
              <a:t> và D</a:t>
            </a:r>
            <a:r>
              <a:rPr lang="en-US" altLang="en-US" baseline="-25000"/>
              <a:t>2</a:t>
            </a:r>
            <a:r>
              <a:rPr lang="en-US" altLang="en-US"/>
              <a:t>	</a:t>
            </a:r>
          </a:p>
          <a:p>
            <a:pPr marL="566738" lvl="1" indent="-334963" eaLnBrk="1" hangingPunct="1">
              <a:lnSpc>
                <a:spcPct val="105000"/>
              </a:lnSpc>
            </a:pPr>
            <a:r>
              <a:rPr lang="en-US" altLang="en-US" i="1">
                <a:solidFill>
                  <a:schemeClr val="accent2"/>
                </a:solidFill>
              </a:rPr>
              <a:t>D</a:t>
            </a:r>
            <a:r>
              <a:rPr lang="en-US" altLang="en-US" sz="1600" b="1" i="1">
                <a:solidFill>
                  <a:schemeClr val="accent2"/>
                </a:solidFill>
              </a:rPr>
              <a:t>1 </a:t>
            </a:r>
            <a:r>
              <a:rPr lang="en-US" altLang="en-US" i="1">
                <a:solidFill>
                  <a:schemeClr val="accent2"/>
                </a:solidFill>
              </a:rPr>
              <a:t>ghi lại những lựa chọn đã sử dụng và những ký hiệu vào đã được phân tích</a:t>
            </a:r>
          </a:p>
          <a:p>
            <a:pPr marL="1257300" lvl="2" eaLnBrk="1" hangingPunct="1">
              <a:lnSpc>
                <a:spcPct val="105000"/>
              </a:lnSpc>
            </a:pPr>
            <a:r>
              <a:rPr lang="en-US" altLang="en-US" i="1">
                <a:solidFill>
                  <a:schemeClr val="accent2"/>
                </a:solidFill>
              </a:rPr>
              <a:t>Đầu đọc đã đổi vị trí theo ký hiệu đã phân tích</a:t>
            </a:r>
          </a:p>
          <a:p>
            <a:pPr marL="566738" lvl="1" indent="-334963" eaLnBrk="1" hangingPunct="1">
              <a:lnSpc>
                <a:spcPct val="105000"/>
              </a:lnSpc>
            </a:pPr>
            <a:r>
              <a:rPr lang="en-US" altLang="en-US" i="1">
                <a:solidFill>
                  <a:schemeClr val="accent2"/>
                </a:solidFill>
              </a:rPr>
              <a:t>D</a:t>
            </a:r>
            <a:r>
              <a:rPr lang="en-US" altLang="en-US" sz="1600" b="1" i="1">
                <a:solidFill>
                  <a:schemeClr val="accent2"/>
                </a:solidFill>
              </a:rPr>
              <a:t>2</a:t>
            </a:r>
            <a:r>
              <a:rPr lang="en-US" altLang="en-US" i="1">
                <a:solidFill>
                  <a:schemeClr val="accent2"/>
                </a:solidFill>
              </a:rPr>
              <a:t> biểu diễn dạng câu trái  hiện tại có được bằng cách thay thế các ký hiệu không kết thúc bởi vế phải tương ứng. </a:t>
            </a:r>
          </a:p>
          <a:p>
            <a:pPr marL="1257300" lvl="2" eaLnBrk="1" hangingPunct="1">
              <a:lnSpc>
                <a:spcPct val="105000"/>
              </a:lnSpc>
            </a:pPr>
            <a:r>
              <a:rPr lang="en-US" altLang="en-US" i="1">
                <a:solidFill>
                  <a:schemeClr val="accent2"/>
                </a:solidFill>
              </a:rPr>
              <a:t>Đỉnh của D</a:t>
            </a:r>
            <a:r>
              <a:rPr lang="en-US" altLang="en-US" i="1" baseline="-25000">
                <a:solidFill>
                  <a:schemeClr val="accent2"/>
                </a:solidFill>
              </a:rPr>
              <a:t>2</a:t>
            </a:r>
            <a:r>
              <a:rPr lang="en-US" altLang="en-US" i="1">
                <a:solidFill>
                  <a:schemeClr val="accent2"/>
                </a:solidFill>
              </a:rPr>
              <a:t> là nút hoạt động của cây tạo ra</a:t>
            </a:r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71A0CCAB-1224-BABA-A497-79B9AEBE4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68EF33D5-19B8-D536-F203-F94F18FF24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3A5DA3-0548-4C4C-97C2-697FBED9259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040AB56-6989-EB8A-BD7C-CA659F012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(3/8)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489A424-2803-4901-4F0C-9F8080C30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791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 eaLnBrk="1" hangingPunct="1">
              <a:lnSpc>
                <a:spcPct val="105000"/>
              </a:lnSpc>
              <a:buFontTx/>
              <a:buNone/>
            </a:pPr>
            <a:r>
              <a:rPr lang="en-US" altLang="en-US" b="1"/>
              <a:t>Hình trạng của giải thuật</a:t>
            </a:r>
          </a:p>
          <a:p>
            <a:pPr marL="347663" indent="-347663" algn="just" eaLnBrk="1" hangingPunct="1">
              <a:lnSpc>
                <a:spcPct val="105000"/>
              </a:lnSpc>
              <a:buFontTx/>
              <a:buNone/>
            </a:pPr>
            <a:r>
              <a:rPr lang="en-US" altLang="en-US" sz="2800"/>
              <a:t>		</a:t>
            </a:r>
            <a:r>
              <a:rPr lang="en-US" altLang="en-US"/>
              <a:t>Bộ bốn (s, i, </a:t>
            </a:r>
            <a:r>
              <a:rPr lang="en-US" altLang="en-US">
                <a:latin typeface="Symbol" panose="05050102010706020507" pitchFamily="18" charset="2"/>
              </a:rPr>
              <a:t>a, b</a:t>
            </a:r>
            <a:r>
              <a:rPr lang="en-US" altLang="en-US"/>
              <a:t>)</a:t>
            </a:r>
          </a:p>
          <a:p>
            <a:pPr marL="347663" indent="-347663" algn="just" eaLnBrk="1" hangingPunct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Q: Trạng thái hiện thời của giải thuật</a:t>
            </a:r>
          </a:p>
          <a:p>
            <a:pPr marL="855663" lvl="1" indent="-334963" algn="just" eaLnBrk="1" hangingPunct="1">
              <a:lnSpc>
                <a:spcPct val="105000"/>
              </a:lnSpc>
            </a:pPr>
            <a:r>
              <a:rPr lang="en-US" altLang="en-US"/>
              <a:t>q: Trạng thái bình thường </a:t>
            </a:r>
          </a:p>
          <a:p>
            <a:pPr marL="855663" lvl="1" indent="-334963" algn="just" eaLnBrk="1" hangingPunct="1">
              <a:lnSpc>
                <a:spcPct val="105000"/>
              </a:lnSpc>
            </a:pPr>
            <a:r>
              <a:rPr lang="en-US" altLang="en-US"/>
              <a:t>b: Quay lui</a:t>
            </a:r>
          </a:p>
          <a:p>
            <a:pPr marL="855663" lvl="1" indent="-334963" algn="just" eaLnBrk="1" hangingPunct="1">
              <a:lnSpc>
                <a:spcPct val="105000"/>
              </a:lnSpc>
            </a:pPr>
            <a:r>
              <a:rPr lang="en-US" altLang="en-US"/>
              <a:t>t: Kết thúc</a:t>
            </a:r>
          </a:p>
          <a:p>
            <a:pPr marL="347663" indent="-347663" algn="just" eaLnBrk="1" hangingPunct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en-US" altLang="en-US"/>
              <a:t>i : Vị trí đầu đọc (</a:t>
            </a:r>
            <a:r>
              <a:rPr lang="en-US" altLang="en-US" i="1">
                <a:solidFill>
                  <a:schemeClr val="bg2"/>
                </a:solidFill>
              </a:rPr>
              <a:t># kết thúc xâu băng vào</a:t>
            </a:r>
            <a:r>
              <a:rPr lang="en-US" altLang="en-US"/>
              <a:t>)</a:t>
            </a:r>
          </a:p>
          <a:p>
            <a:pPr marL="347663" indent="-347663" algn="just" eaLnBrk="1" hangingPunct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: Nội dung stack thứ nhất, đỉnh ở bên phải</a:t>
            </a:r>
          </a:p>
          <a:p>
            <a:pPr marL="347663" indent="-347663" algn="just" eaLnBrk="1" hangingPunct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/>
              <a:t>: Nội dung stack thứ hai, đỉnh ở bên trái</a:t>
            </a:r>
          </a:p>
          <a:p>
            <a:pPr marL="347663" indent="-347663" algn="just" eaLnBrk="1" hangingPunct="1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lang="en-US" altLang="en-US"/>
              <a:t>Hình trạng ban đầu (q, 1, </a:t>
            </a:r>
            <a:r>
              <a:rPr lang="el-GR" altLang="en-US">
                <a:cs typeface="Arial" panose="020B0604020202020204" pitchFamily="34" charset="0"/>
              </a:rPr>
              <a:t>ε</a:t>
            </a:r>
            <a:r>
              <a:rPr lang="en-US" altLang="en-US"/>
              <a:t>, S#)</a:t>
            </a:r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3F165B74-C12E-8E5E-DBE9-23BBD05E3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F475C07C-4950-3CF8-D8A2-CBC5D78793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292CDF-F42D-40B0-8832-971A673931F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5D92F1B-3EAC-CD4C-CEE8-0363E7FA5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(4/8)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3E58073-AC49-EB2C-F729-7DFD1FBBD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990600"/>
            <a:ext cx="8821737" cy="5638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3600" b="1"/>
              <a:t>Thực hiện giải thuật</a:t>
            </a:r>
          </a:p>
          <a:p>
            <a:pPr marL="711200" lvl="1" indent="-479425" algn="just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3200"/>
              <a:t>Bắt đầu từ hình trạng đầu, tính liên tiếp các hình trạng tiếp theo cho đến khi không tính được nữa.</a:t>
            </a:r>
          </a:p>
          <a:p>
            <a:pPr marL="711200" lvl="1" indent="-479425" algn="just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3200"/>
              <a:t>Ký hiệu </a:t>
            </a:r>
            <a:r>
              <a:rPr lang="en-US" altLang="en-US" sz="3200" b="1"/>
              <a:t>|</a:t>
            </a:r>
            <a:r>
              <a:rPr lang="en-US" altLang="en-US" sz="3200" b="1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 chỉ một thay đổi hình trạng</a:t>
            </a:r>
          </a:p>
          <a:p>
            <a:pPr marL="711200" lvl="1" indent="-479425" algn="just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3200"/>
              <a:t>		(q, i, </a:t>
            </a:r>
            <a:r>
              <a:rPr lang="en-US" altLang="en-US" sz="3200">
                <a:latin typeface="Symbol" panose="05050102010706020507" pitchFamily="18" charset="2"/>
              </a:rPr>
              <a:t>a, b )</a:t>
            </a:r>
            <a:r>
              <a:rPr lang="en-US" altLang="en-US" sz="3200"/>
              <a:t> |</a:t>
            </a: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  (q’, i’, </a:t>
            </a:r>
            <a:r>
              <a:rPr lang="en-US" altLang="en-US" sz="3200">
                <a:latin typeface="Symbol" panose="05050102010706020507" pitchFamily="18" charset="2"/>
              </a:rPr>
              <a:t>a</a:t>
            </a:r>
            <a:r>
              <a:rPr lang="en-US" altLang="en-US" sz="3200"/>
              <a:t>’</a:t>
            </a:r>
            <a:r>
              <a:rPr lang="en-US" altLang="en-US" sz="3200">
                <a:latin typeface="Symbol" panose="05050102010706020507" pitchFamily="18" charset="2"/>
              </a:rPr>
              <a:t>, b</a:t>
            </a:r>
            <a:r>
              <a:rPr lang="en-US" altLang="en-US" sz="3200"/>
              <a:t>’)</a:t>
            </a:r>
          </a:p>
          <a:p>
            <a:pPr marL="711200" lvl="1" indent="-479425" algn="just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3200"/>
              <a:t>Giải thuật thực hiện theo các dịch chuyển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EF26DB03-C894-8FD2-75D9-9BDFBC195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54209062-0A34-1E5D-FC9C-CC550BB7FD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A565C7-97ED-494A-AC86-C9C54E43D8D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17978B7-1DFA-D6F4-F714-37F4FC73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(5/8)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891FFD-872E-E189-DCE3-E49E91B41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0263"/>
            <a:ext cx="8821737" cy="5799137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/>
              <a:t>1. Mở rộng cây</a:t>
            </a:r>
          </a:p>
          <a:p>
            <a:pPr marL="711200" lvl="1" indent="-479425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(q, i, </a:t>
            </a:r>
            <a:r>
              <a:rPr lang="en-US" altLang="en-US">
                <a:latin typeface="Symbol" panose="05050102010706020507" pitchFamily="18" charset="2"/>
              </a:rPr>
              <a:t>a, Ab )</a:t>
            </a:r>
            <a:r>
              <a:rPr lang="en-US" altLang="en-US"/>
              <a:t> 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 (q, i,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A</a:t>
            </a:r>
            <a:r>
              <a:rPr lang="en-US" altLang="en-US" baseline="-25000"/>
              <a:t>1</a:t>
            </a:r>
            <a:r>
              <a:rPr lang="en-US" altLang="en-US">
                <a:latin typeface="Symbol" panose="05050102010706020507" pitchFamily="18" charset="2"/>
              </a:rPr>
              <a:t>, g</a:t>
            </a:r>
            <a:r>
              <a:rPr lang="en-US" altLang="en-US" baseline="-25000">
                <a:latin typeface="Symbol" panose="05050102010706020507" pitchFamily="18" charset="2"/>
              </a:rPr>
              <a:t>1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/>
              <a:t>)</a:t>
            </a:r>
          </a:p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A</a:t>
            </a:r>
            <a:r>
              <a:rPr lang="en-US" altLang="en-US"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và </a:t>
            </a:r>
            <a:r>
              <a:rPr lang="en-US" altLang="en-US"/>
              <a:t>A</a:t>
            </a:r>
            <a:r>
              <a:rPr lang="en-US" altLang="en-US" baseline="-25000"/>
              <a:t>1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>
                <a:latin typeface="Symbol" panose="05050102010706020507" pitchFamily="18" charset="2"/>
              </a:rPr>
              <a:t>g</a:t>
            </a:r>
            <a:r>
              <a:rPr lang="en-US" altLang="en-US" baseline="-25000">
                <a:latin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là lựa chọn đầu tiên của A</a:t>
            </a:r>
          </a:p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2. Phù hợp với ký hiệu vào</a:t>
            </a:r>
          </a:p>
          <a:p>
            <a:pPr marL="711200" lvl="1" indent="-479425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(q, i, </a:t>
            </a:r>
            <a:r>
              <a:rPr lang="en-US" altLang="en-US">
                <a:latin typeface="Symbol" panose="05050102010706020507" pitchFamily="18" charset="2"/>
              </a:rPr>
              <a:t>a, </a:t>
            </a:r>
            <a:r>
              <a:rPr lang="en-US" altLang="en-US">
                <a:solidFill>
                  <a:srgbClr val="3539EB"/>
                </a:solidFill>
              </a:rPr>
              <a:t>a</a:t>
            </a:r>
            <a:r>
              <a:rPr lang="en-US" altLang="en-US">
                <a:latin typeface="Symbol" panose="05050102010706020507" pitchFamily="18" charset="2"/>
              </a:rPr>
              <a:t>b )</a:t>
            </a:r>
            <a:r>
              <a:rPr lang="en-US" altLang="en-US"/>
              <a:t> 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 (q, i+1,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>
                <a:solidFill>
                  <a:srgbClr val="3539EB"/>
                </a:solidFill>
              </a:rPr>
              <a:t>a</a:t>
            </a:r>
            <a:r>
              <a:rPr lang="en-US" altLang="en-US">
                <a:latin typeface="Symbol" panose="05050102010706020507" pitchFamily="18" charset="2"/>
              </a:rPr>
              <a:t>, b</a:t>
            </a:r>
            <a:r>
              <a:rPr lang="en-US" altLang="en-US"/>
              <a:t>)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 </a:t>
            </a:r>
            <a:r>
              <a:rPr lang="en-US" altLang="en-US" sz="2800">
                <a:sym typeface="Symbol" panose="05050102010706020507" pitchFamily="18" charset="2"/>
              </a:rPr>
              <a:t>Ký hiệu </a:t>
            </a:r>
            <a:r>
              <a:rPr lang="en-US" altLang="en-US" sz="2800">
                <a:solidFill>
                  <a:srgbClr val="3539EB"/>
                </a:solidFill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V</a:t>
            </a:r>
            <a:r>
              <a:rPr lang="en-US" altLang="en-US" sz="2800" baseline="-25000">
                <a:sym typeface="Symbol" panose="05050102010706020507" pitchFamily="18" charset="2"/>
              </a:rPr>
              <a:t>T</a:t>
            </a:r>
            <a:r>
              <a:rPr lang="en-US" altLang="en-US" sz="2800">
                <a:sym typeface="Symbol" panose="05050102010706020507" pitchFamily="18" charset="2"/>
              </a:rPr>
              <a:t> ở đỉnh D</a:t>
            </a:r>
            <a:r>
              <a:rPr lang="en-US" altLang="en-US" sz="2800" baseline="-25000">
                <a:sym typeface="Symbol" panose="05050102010706020507" pitchFamily="18" charset="2"/>
              </a:rPr>
              <a:t>2</a:t>
            </a:r>
            <a:r>
              <a:rPr lang="en-US" altLang="en-US" sz="2800">
                <a:sym typeface="Symbol" panose="05050102010706020507" pitchFamily="18" charset="2"/>
              </a:rPr>
              <a:t> phù hợp ký hiệu vào 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 Chuyển </a:t>
            </a: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 sang D</a:t>
            </a:r>
            <a:r>
              <a:rPr lang="en-US" altLang="en-US" sz="2800" baseline="-25000">
                <a:sym typeface="Symbol" panose="05050102010706020507" pitchFamily="18" charset="2"/>
              </a:rPr>
              <a:t>1</a:t>
            </a:r>
            <a:r>
              <a:rPr lang="en-US" altLang="en-US" sz="2800">
                <a:sym typeface="Symbol" panose="05050102010706020507" pitchFamily="18" charset="2"/>
              </a:rPr>
              <a:t> và dịch chuyển đầu đọc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3. Không phù hợp ký hiệu vào</a:t>
            </a:r>
          </a:p>
          <a:p>
            <a:pPr marL="711200" lvl="1" indent="-479425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(q, i, </a:t>
            </a:r>
            <a:r>
              <a:rPr lang="en-US" altLang="en-US">
                <a:latin typeface="Symbol" panose="05050102010706020507" pitchFamily="18" charset="2"/>
              </a:rPr>
              <a:t>a, </a:t>
            </a:r>
            <a:r>
              <a:rPr lang="en-US" altLang="en-US"/>
              <a:t>a</a:t>
            </a:r>
            <a:r>
              <a:rPr lang="en-US" altLang="en-US">
                <a:latin typeface="Symbol" panose="05050102010706020507" pitchFamily="18" charset="2"/>
              </a:rPr>
              <a:t>b )</a:t>
            </a:r>
            <a:r>
              <a:rPr lang="en-US" altLang="en-US"/>
              <a:t> 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 (b, i, </a:t>
            </a:r>
            <a:r>
              <a:rPr lang="en-US" altLang="en-US">
                <a:latin typeface="Symbol" panose="05050102010706020507" pitchFamily="18" charset="2"/>
              </a:rPr>
              <a:t>a, </a:t>
            </a:r>
            <a:r>
              <a:rPr lang="en-US" altLang="en-US"/>
              <a:t>a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/>
              <a:t>) 	//chuyển sang </a:t>
            </a:r>
          </a:p>
          <a:p>
            <a:pPr marL="711200" lvl="1" indent="-479425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						//trạng thái quay lui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F4055C87-7547-6AF1-9BD7-ABF048AFA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A351C7F4-7A9A-D674-6889-5E0178F5E3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3B74DB-049E-4D80-8D6C-88243C0D20B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A72FB45-EECA-B136-A732-F8118ECFA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(6/8)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69919FD-F630-0301-0910-C587037E8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15975"/>
            <a:ext cx="8821737" cy="58134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/>
              <a:t>4. Quay lui trên xâu vào</a:t>
            </a:r>
          </a:p>
          <a:p>
            <a:pPr marL="711200" lvl="1" indent="-261938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(b, i,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a</a:t>
            </a:r>
            <a:r>
              <a:rPr lang="en-US" altLang="en-US">
                <a:latin typeface="Symbol" panose="05050102010706020507" pitchFamily="18" charset="2"/>
              </a:rPr>
              <a:t>, b )</a:t>
            </a:r>
            <a:r>
              <a:rPr lang="en-US" altLang="en-US"/>
              <a:t> 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 (b, i-1, </a:t>
            </a:r>
            <a:r>
              <a:rPr lang="en-US" altLang="en-US">
                <a:latin typeface="Symbol" panose="05050102010706020507" pitchFamily="18" charset="2"/>
              </a:rPr>
              <a:t>a, </a:t>
            </a:r>
            <a:r>
              <a:rPr lang="en-US" altLang="en-US"/>
              <a:t>a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/>
              <a:t>)   	a</a:t>
            </a:r>
            <a:r>
              <a:rPr lang="en-US" altLang="en-US"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ym typeface="Symbol" panose="05050102010706020507" pitchFamily="18" charset="2"/>
              </a:rPr>
              <a:t>T</a:t>
            </a:r>
          </a:p>
          <a:p>
            <a:pPr marL="711200" lvl="1" indent="-261938" algn="just" eaLnBrk="1" hangingPunct="1">
              <a:lnSpc>
                <a:spcPct val="110000"/>
              </a:lnSpc>
              <a:buFontTx/>
              <a:buNone/>
            </a:pPr>
            <a:r>
              <a:rPr lang="en-US" altLang="en-US" baseline="-25000">
                <a:sym typeface="Symbol" panose="05050102010706020507" pitchFamily="18" charset="2"/>
              </a:rPr>
              <a:t>	</a:t>
            </a:r>
            <a:r>
              <a:rPr lang="en-US" altLang="en-US">
                <a:sym typeface="Symbol" panose="05050102010706020507" pitchFamily="18" charset="2"/>
              </a:rPr>
              <a:t>Chuyển ký hiệu trên đỉnh D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sang D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 và dịch đầu đọc sang trái</a:t>
            </a:r>
          </a:p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5. Thử lựa chọn tiếp theo</a:t>
            </a:r>
          </a:p>
          <a:p>
            <a:pPr marL="711200" lvl="1" indent="-261938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(b, i,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A</a:t>
            </a:r>
            <a:r>
              <a:rPr lang="en-US" altLang="en-US" baseline="-25000"/>
              <a:t>j</a:t>
            </a:r>
            <a:r>
              <a:rPr lang="en-US" altLang="en-US">
                <a:latin typeface="Symbol" panose="05050102010706020507" pitchFamily="18" charset="2"/>
              </a:rPr>
              <a:t>, g</a:t>
            </a:r>
            <a:r>
              <a:rPr lang="en-US" altLang="en-US" baseline="-25000"/>
              <a:t>j</a:t>
            </a:r>
            <a:r>
              <a:rPr lang="en-US" altLang="en-US">
                <a:latin typeface="Symbol" panose="05050102010706020507" pitchFamily="18" charset="2"/>
              </a:rPr>
              <a:t>b )</a:t>
            </a:r>
            <a:r>
              <a:rPr lang="en-US" altLang="en-US"/>
              <a:t> 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(q, i, 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A</a:t>
            </a:r>
            <a:r>
              <a:rPr lang="en-US" altLang="en-US" baseline="-25000"/>
              <a:t>j+1</a:t>
            </a:r>
            <a:r>
              <a:rPr lang="en-US" altLang="en-US">
                <a:latin typeface="Symbol" panose="05050102010706020507" pitchFamily="18" charset="2"/>
              </a:rPr>
              <a:t>, g</a:t>
            </a:r>
            <a:r>
              <a:rPr lang="en-US" altLang="en-US" baseline="-25000"/>
              <a:t>j+1</a:t>
            </a:r>
            <a:r>
              <a:rPr lang="en-US" altLang="en-US">
                <a:latin typeface="Symbol" panose="05050102010706020507" pitchFamily="18" charset="2"/>
              </a:rPr>
              <a:t>b </a:t>
            </a:r>
            <a:r>
              <a:rPr lang="en-US" altLang="en-US"/>
              <a:t>)</a:t>
            </a:r>
            <a:r>
              <a:rPr lang="en-US" altLang="en-US" sz="3200"/>
              <a:t> </a:t>
            </a:r>
            <a:endParaRPr lang="en-US" altLang="en-US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1349375" lvl="2" indent="-361950" algn="just" eaLnBrk="1" hangingPunct="1">
              <a:lnSpc>
                <a:spcPct val="110000"/>
              </a:lnSpc>
            </a:pPr>
            <a:r>
              <a:rPr lang="en-US" altLang="en-US" sz="2800"/>
              <a:t> </a:t>
            </a:r>
            <a:r>
              <a:rPr lang="en-US" altLang="en-US" sz="2800">
                <a:latin typeface="Symbol" panose="05050102010706020507" pitchFamily="18" charset="2"/>
              </a:rPr>
              <a:t>g</a:t>
            </a:r>
            <a:r>
              <a:rPr lang="en-US" altLang="en-US" sz="2800" baseline="-25000"/>
              <a:t>j+1 </a:t>
            </a:r>
            <a:r>
              <a:rPr lang="en-US" altLang="en-US" sz="2800"/>
              <a:t>là lựa chọn tiếp của ký hiệu A</a:t>
            </a:r>
          </a:p>
          <a:p>
            <a:pPr marL="1349375" lvl="2" indent="-361950" algn="just" eaLnBrk="1" hangingPunct="1">
              <a:lnSpc>
                <a:spcPct val="110000"/>
              </a:lnSpc>
            </a:pPr>
            <a:r>
              <a:rPr lang="en-US" altLang="en-US" sz="2800"/>
              <a:t>Nếu là sản xuất cuối của A, quay lui tiếp</a:t>
            </a:r>
          </a:p>
          <a:p>
            <a:pPr marL="1890713" lvl="3" algn="just" eaLnBrk="1" hangingPunct="1">
              <a:lnSpc>
                <a:spcPct val="110000"/>
              </a:lnSpc>
            </a:pPr>
            <a:r>
              <a:rPr lang="en-US" altLang="en-US" sz="2800"/>
              <a:t>Thay </a:t>
            </a:r>
            <a:r>
              <a:rPr lang="en-US" altLang="en-US" sz="2400">
                <a:latin typeface="Symbol" panose="05050102010706020507" pitchFamily="18" charset="2"/>
              </a:rPr>
              <a:t>g</a:t>
            </a:r>
            <a:r>
              <a:rPr lang="en-US" altLang="en-US" sz="2400" baseline="-25000"/>
              <a:t>j </a:t>
            </a:r>
            <a:r>
              <a:rPr lang="en-US" altLang="en-US" sz="2400"/>
              <a:t>bởi A và loại bỏ A</a:t>
            </a:r>
            <a:r>
              <a:rPr lang="en-US" altLang="en-US" sz="2400" baseline="-25000"/>
              <a:t>j</a:t>
            </a:r>
            <a:r>
              <a:rPr lang="en-US" altLang="en-US" sz="2400"/>
              <a:t> trên đỉnh của D</a:t>
            </a:r>
            <a:r>
              <a:rPr lang="en-US" altLang="en-US" sz="2400" baseline="-25000"/>
              <a:t>1</a:t>
            </a:r>
          </a:p>
          <a:p>
            <a:pPr marL="1890713" lvl="3" algn="just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		(b, i, </a:t>
            </a:r>
            <a:r>
              <a:rPr lang="en-US" altLang="en-US" sz="2800">
                <a:latin typeface="Symbol" panose="05050102010706020507" pitchFamily="18" charset="2"/>
              </a:rPr>
              <a:t>a</a:t>
            </a:r>
            <a:r>
              <a:rPr lang="en-US" altLang="en-US" sz="2800"/>
              <a:t>A</a:t>
            </a:r>
            <a:r>
              <a:rPr lang="en-US" altLang="en-US" sz="2800" baseline="-25000"/>
              <a:t>j</a:t>
            </a:r>
            <a:r>
              <a:rPr lang="en-US" altLang="en-US" sz="2800">
                <a:latin typeface="Symbol" panose="05050102010706020507" pitchFamily="18" charset="2"/>
              </a:rPr>
              <a:t>, g</a:t>
            </a:r>
            <a:r>
              <a:rPr lang="en-US" altLang="en-US" sz="2800" baseline="-25000"/>
              <a:t>j</a:t>
            </a:r>
            <a:r>
              <a:rPr lang="en-US" altLang="en-US" sz="2800">
                <a:latin typeface="Symbol" panose="05050102010706020507" pitchFamily="18" charset="2"/>
              </a:rPr>
              <a:t>b )</a:t>
            </a:r>
            <a:r>
              <a:rPr lang="en-US" altLang="en-US" sz="2800"/>
              <a:t> |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 (b, i, </a:t>
            </a:r>
            <a:r>
              <a:rPr lang="en-US" altLang="en-US" sz="2800">
                <a:latin typeface="Symbol" panose="05050102010706020507" pitchFamily="18" charset="2"/>
              </a:rPr>
              <a:t>a, </a:t>
            </a:r>
            <a:r>
              <a:rPr lang="en-US" altLang="en-US" sz="2800"/>
              <a:t>A</a:t>
            </a:r>
            <a:r>
              <a:rPr lang="en-US" altLang="en-US" sz="2800" baseline="-25000"/>
              <a:t>j</a:t>
            </a:r>
            <a:r>
              <a:rPr lang="en-US" altLang="en-US" sz="2800">
                <a:latin typeface="Symbol" panose="05050102010706020507" pitchFamily="18" charset="2"/>
              </a:rPr>
              <a:t>b </a:t>
            </a:r>
            <a:r>
              <a:rPr lang="en-US" altLang="en-US" sz="2800"/>
              <a:t>)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58379A00-C68C-B2B2-DD22-2DF09E45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DADD4472-F118-A653-0F2B-F08FB20DB6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FE4739-213B-4C4A-AB2A-A8D1ACDF7F9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37EE0BD-3CF6-F578-06C4-84E1C3557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(7/8)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D14CC6C-6E9C-169E-91C2-032276E80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990600"/>
            <a:ext cx="8821737" cy="5638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/>
              <a:t>6</a:t>
            </a:r>
            <a:r>
              <a:rPr lang="en-US" altLang="en-US"/>
              <a:t>. </a:t>
            </a:r>
            <a:r>
              <a:rPr lang="en-US" altLang="en-US" b="1"/>
              <a:t>Nếu hết khả năng quay lui</a:t>
            </a:r>
            <a:r>
              <a:rPr lang="en-US" altLang="en-US"/>
              <a:t> (i=1, A</a:t>
            </a:r>
            <a:r>
              <a:rPr lang="en-US" altLang="en-US">
                <a:sym typeface="Symbol" panose="05050102010706020507" pitchFamily="18" charset="2"/>
              </a:rPr>
              <a:t></a:t>
            </a:r>
            <a:r>
              <a:rPr lang="en-US" altLang="en-US"/>
              <a:t> S): </a:t>
            </a:r>
          </a:p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Không đoán nhận</a:t>
            </a:r>
          </a:p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/>
              <a:t>7. Kết thúc thành công</a:t>
            </a:r>
          </a:p>
          <a:p>
            <a:pPr marL="566738" lvl="1" indent="-334963" algn="just" eaLnBrk="1" hangingPunct="1">
              <a:lnSpc>
                <a:spcPct val="110000"/>
              </a:lnSpc>
            </a:pPr>
            <a:r>
              <a:rPr lang="en-US" altLang="en-US" sz="3200"/>
              <a:t>(q, n+1, </a:t>
            </a:r>
            <a:r>
              <a:rPr lang="en-US" altLang="en-US" sz="3200">
                <a:latin typeface="Symbol" panose="05050102010706020507" pitchFamily="18" charset="2"/>
              </a:rPr>
              <a:t>a, # )</a:t>
            </a:r>
            <a:r>
              <a:rPr lang="en-US" altLang="en-US" sz="3200"/>
              <a:t> |</a:t>
            </a: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 (t, n+1, </a:t>
            </a:r>
            <a:r>
              <a:rPr lang="en-US" altLang="en-US" sz="3200">
                <a:latin typeface="Symbol" panose="05050102010706020507" pitchFamily="18" charset="2"/>
              </a:rPr>
              <a:t>a, </a:t>
            </a:r>
            <a:r>
              <a:rPr lang="en-US" altLang="en-US" sz="3200">
                <a:latin typeface="Symbol" panose="05050102010706020507" pitchFamily="18" charset="2"/>
                <a:sym typeface="Symbol" panose="05050102010706020507" pitchFamily="18" charset="2"/>
              </a:rPr>
              <a:t>)</a:t>
            </a:r>
            <a:endParaRPr lang="en-US" altLang="en-US">
              <a:sym typeface="Symbol" panose="05050102010706020507" pitchFamily="18" charset="2"/>
            </a:endParaRPr>
          </a:p>
          <a:p>
            <a:pPr marL="566738" lvl="1" indent="-334963" algn="just" eaLnBrk="1" hangingPunct="1">
              <a:lnSpc>
                <a:spcPct val="110000"/>
              </a:lnSpc>
            </a:pPr>
            <a:r>
              <a:rPr lang="en-US" altLang="en-US"/>
              <a:t>Kết kuận: Xâu đã được đoán nhận. </a:t>
            </a:r>
          </a:p>
          <a:p>
            <a:pPr marL="566738" lvl="1" indent="-334963" algn="just" eaLnBrk="1" hangingPunct="1">
              <a:lnSpc>
                <a:spcPct val="110000"/>
              </a:lnSpc>
            </a:pPr>
            <a:r>
              <a:rPr lang="en-US" altLang="en-US"/>
              <a:t>Để tìm phân tích trái, thực hiện hàm h(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/>
              <a:t>)</a:t>
            </a:r>
          </a:p>
          <a:p>
            <a:pPr marL="0" indent="0"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/>
              <a:t>Tìm phân tích trái</a:t>
            </a:r>
          </a:p>
          <a:p>
            <a:pPr marL="566738" lvl="1" indent="-334963" eaLnBrk="1" hangingPunct="1">
              <a:lnSpc>
                <a:spcPct val="110000"/>
              </a:lnSpc>
            </a:pPr>
            <a:r>
              <a:rPr lang="en-US" altLang="en-US" i="1"/>
              <a:t>h(a) = </a:t>
            </a:r>
            <a:r>
              <a:rPr lang="en-US" altLang="en-US" i="1">
                <a:latin typeface="Symbol" panose="05050102010706020507" pitchFamily="18" charset="2"/>
              </a:rPr>
              <a:t>e</a:t>
            </a:r>
            <a:r>
              <a:rPr lang="en-US" altLang="en-US" i="1"/>
              <a:t> </a:t>
            </a:r>
            <a:r>
              <a:rPr lang="en-US" altLang="en-US" i="1">
                <a:sym typeface="Symbol" panose="05050102010706020507" pitchFamily="18" charset="2"/>
              </a:rPr>
              <a:t></a:t>
            </a:r>
            <a:r>
              <a:rPr lang="en-US" altLang="en-US" i="1"/>
              <a:t>a là ký hiệu kết thúc</a:t>
            </a:r>
          </a:p>
          <a:p>
            <a:pPr marL="566738" lvl="1" indent="-334963" eaLnBrk="1" hangingPunct="1">
              <a:lnSpc>
                <a:spcPct val="110000"/>
              </a:lnSpc>
            </a:pPr>
            <a:r>
              <a:rPr lang="en-US" altLang="en-US" i="1"/>
              <a:t>h(A</a:t>
            </a:r>
            <a:r>
              <a:rPr lang="en-US" altLang="en-US" b="1" i="1" baseline="-25000"/>
              <a:t>i</a:t>
            </a:r>
            <a:r>
              <a:rPr lang="en-US" altLang="en-US" i="1"/>
              <a:t>)= p , Với p là số hiệu của sản xuất liên hệ với sản xuất A</a:t>
            </a:r>
            <a:r>
              <a:rPr lang="en-US" altLang="en-US" i="1">
                <a:sym typeface="Symbol" panose="05050102010706020507" pitchFamily="18" charset="2"/>
              </a:rPr>
              <a:t></a:t>
            </a:r>
            <a:r>
              <a:rPr lang="en-US" altLang="en-US" i="1"/>
              <a:t> </a:t>
            </a:r>
            <a:r>
              <a:rPr lang="en-US" altLang="en-US" i="1">
                <a:latin typeface="Symbol" panose="05050102010706020507" pitchFamily="18" charset="2"/>
              </a:rPr>
              <a:t>g </a:t>
            </a:r>
            <a:r>
              <a:rPr lang="en-US" altLang="en-US" i="1"/>
              <a:t>với</a:t>
            </a:r>
            <a:r>
              <a:rPr lang="en-US" altLang="en-US" i="1">
                <a:latin typeface="Symbol" panose="05050102010706020507" pitchFamily="18" charset="2"/>
              </a:rPr>
              <a:t> g</a:t>
            </a:r>
            <a:r>
              <a:rPr lang="en-US" altLang="en-US" i="1"/>
              <a:t> là lựa chọn thứ i của  A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99D432F4-2C0D-0A8E-3118-D7163A213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0FDBCA22-D808-FF71-53B5-B3673EDE3A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603121-1509-40EE-93FE-9E3E3CEABC1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F109B52-AF35-434F-69C7-2AB827718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Top-down quay lui (8/8)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DF8C0D3-EC86-FD0F-018B-F0E9CD2E8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3429000" cy="2590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altLang="en-US" sz="2800"/>
              <a:t>Ví dụ văn phạm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S</a:t>
            </a:r>
            <a:r>
              <a:rPr lang="en-US" altLang="en-US" sz="1600"/>
              <a:t>1</a:t>
            </a:r>
            <a:r>
              <a:rPr lang="en-US" altLang="en-US" sz="2800"/>
              <a:t> 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 aSb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/>
              <a:t>S</a:t>
            </a:r>
            <a:r>
              <a:rPr lang="en-US" altLang="en-US" sz="1600"/>
              <a:t>2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 c</a:t>
            </a:r>
            <a:endParaRPr lang="en-US" altLang="en-US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533400" indent="-53340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:aacbb</a:t>
            </a:r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4379934B-F767-BA86-3B27-5937A4FDA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  <p:sp>
        <p:nvSpPr>
          <p:cNvPr id="1577989" name="Text Box 5">
            <a:extLst>
              <a:ext uri="{FF2B5EF4-FFF2-40B4-BE49-F238E27FC236}">
                <a16:creationId xmlns:a16="http://schemas.microsoft.com/office/drawing/2014/main" id="{5D1CD4F7-D8DB-6508-7134-C3B25ABB0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79475"/>
            <a:ext cx="4724400" cy="56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(q,1, </a:t>
            </a:r>
            <a:r>
              <a:rPr lang="el-GR" altLang="en-US" sz="2800" b="0">
                <a:cs typeface="Arial" panose="020B0604020202020204" pitchFamily="34" charset="0"/>
              </a:rPr>
              <a:t>ε</a:t>
            </a:r>
            <a:r>
              <a:rPr lang="en-US" altLang="en-US" sz="2800" b="0"/>
              <a:t>, S#)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1, S</a:t>
            </a:r>
            <a:r>
              <a:rPr lang="en-US" altLang="en-US" sz="2800" b="0" baseline="-25000"/>
              <a:t>1</a:t>
            </a:r>
            <a:r>
              <a:rPr lang="en-US" altLang="en-US" sz="2800" b="0"/>
              <a:t>, </a:t>
            </a:r>
            <a:r>
              <a:rPr lang="en-US" altLang="en-US" sz="2800" b="0">
                <a:solidFill>
                  <a:srgbClr val="3539EB"/>
                </a:solidFill>
              </a:rPr>
              <a:t>aSb</a:t>
            </a:r>
            <a:r>
              <a:rPr lang="en-US" altLang="en-US" sz="2800" b="0"/>
              <a:t>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2, S</a:t>
            </a:r>
            <a:r>
              <a:rPr lang="en-US" altLang="en-US" sz="2800" baseline="-25000"/>
              <a:t>1</a:t>
            </a:r>
            <a:r>
              <a:rPr lang="en-US" altLang="en-US" sz="2800" b="0"/>
              <a:t>a, Sb#)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2,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,</a:t>
            </a:r>
            <a:r>
              <a:rPr lang="en-US" altLang="en-US" sz="2800" b="0">
                <a:solidFill>
                  <a:srgbClr val="3539EB"/>
                </a:solidFill>
              </a:rPr>
              <a:t>aSb</a:t>
            </a:r>
            <a:r>
              <a:rPr lang="en-US" altLang="en-US" sz="2800" b="0"/>
              <a:t>b#)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3,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a, Sbb#)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3,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,</a:t>
            </a:r>
            <a:r>
              <a:rPr lang="en-US" altLang="en-US" sz="2800" b="0">
                <a:solidFill>
                  <a:srgbClr val="3539EB"/>
                </a:solidFill>
              </a:rPr>
              <a:t>aSb</a:t>
            </a:r>
            <a:r>
              <a:rPr lang="en-US" altLang="en-US" sz="2800" b="0"/>
              <a:t>bb#)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(b, 3, S</a:t>
            </a:r>
            <a:r>
              <a:rPr lang="en-US" altLang="en-US" sz="2800" b="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,</a:t>
            </a:r>
            <a:r>
              <a:rPr lang="en-US" altLang="en-US" sz="2800" b="0">
                <a:solidFill>
                  <a:srgbClr val="3539EB"/>
                </a:solidFill>
              </a:rPr>
              <a:t>aSb</a:t>
            </a:r>
            <a:r>
              <a:rPr lang="en-US" altLang="en-US" sz="2800" b="0"/>
              <a:t>bb#)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3,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2</a:t>
            </a:r>
            <a:r>
              <a:rPr lang="en-US" altLang="en-US" sz="2800" b="0"/>
              <a:t>, </a:t>
            </a:r>
            <a:r>
              <a:rPr lang="en-US" altLang="en-US" sz="2800" b="0">
                <a:solidFill>
                  <a:srgbClr val="3539EB"/>
                </a:solidFill>
              </a:rPr>
              <a:t>c</a:t>
            </a:r>
            <a:r>
              <a:rPr lang="en-US" altLang="en-US" sz="2800" b="0"/>
              <a:t>bb#)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4,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2</a:t>
            </a:r>
            <a:r>
              <a:rPr lang="en-US" altLang="en-US" sz="2800" b="0"/>
              <a:t>c,bb#)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5,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 baseline="-25000"/>
              <a:t>a</a:t>
            </a:r>
            <a:r>
              <a:rPr lang="en-US" altLang="en-US" sz="2800" b="0"/>
              <a:t>S</a:t>
            </a:r>
            <a:r>
              <a:rPr lang="en-US" altLang="en-US" sz="2800" baseline="-25000"/>
              <a:t>2</a:t>
            </a:r>
            <a:r>
              <a:rPr lang="en-US" altLang="en-US" sz="2800" b="0"/>
              <a:t>cb,b#)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(q, 6,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2</a:t>
            </a:r>
            <a:r>
              <a:rPr lang="en-US" altLang="en-US" sz="2800" b="0"/>
              <a:t>cbb,#)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</a:t>
            </a:r>
            <a:r>
              <a:rPr lang="en-US" altLang="en-US" sz="2800" b="0"/>
              <a:t> (t, 6, 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1</a:t>
            </a:r>
            <a:r>
              <a:rPr lang="en-US" altLang="en-US" sz="2800" b="0"/>
              <a:t>aS</a:t>
            </a:r>
            <a:r>
              <a:rPr lang="en-US" altLang="en-US" sz="2800" baseline="-25000"/>
              <a:t>2</a:t>
            </a:r>
            <a:r>
              <a:rPr lang="en-US" altLang="en-US" sz="2800" b="0"/>
              <a:t>cbb,</a:t>
            </a:r>
            <a:r>
              <a:rPr lang="el-GR" altLang="en-US" sz="2800" b="0"/>
              <a:t>ε</a:t>
            </a:r>
            <a:r>
              <a:rPr lang="en-US" altLang="en-US" sz="2800" b="0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/>
              <a:t>|</a:t>
            </a:r>
            <a:r>
              <a:rPr lang="en-US" altLang="en-US" sz="2800" b="0">
                <a:sym typeface="Symbol" panose="05050102010706020507" pitchFamily="18" charset="2"/>
              </a:rPr>
              <a:t> Đoán nhận</a:t>
            </a:r>
          </a:p>
        </p:txBody>
      </p:sp>
      <p:sp>
        <p:nvSpPr>
          <p:cNvPr id="1577990" name="Text Box 6">
            <a:extLst>
              <a:ext uri="{FF2B5EF4-FFF2-40B4-BE49-F238E27FC236}">
                <a16:creationId xmlns:a16="http://schemas.microsoft.com/office/drawing/2014/main" id="{FC531A3D-BD57-C1A9-7AD3-6AF2481F7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486400"/>
            <a:ext cx="373380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800" b="0">
                <a:solidFill>
                  <a:schemeClr val="accent2"/>
                </a:solidFill>
              </a:rPr>
              <a:t>h(S</a:t>
            </a:r>
            <a:r>
              <a:rPr lang="en-US" altLang="en-US" sz="2800" baseline="-25000">
                <a:solidFill>
                  <a:schemeClr val="accent2"/>
                </a:solidFill>
              </a:rPr>
              <a:t>1</a:t>
            </a:r>
            <a:r>
              <a:rPr lang="en-US" altLang="en-US" sz="2800" b="0">
                <a:solidFill>
                  <a:schemeClr val="accent2"/>
                </a:solidFill>
              </a:rPr>
              <a:t>aS</a:t>
            </a:r>
            <a:r>
              <a:rPr lang="en-US" altLang="en-US" sz="2800" baseline="-25000">
                <a:solidFill>
                  <a:schemeClr val="accent2"/>
                </a:solidFill>
              </a:rPr>
              <a:t>1</a:t>
            </a:r>
            <a:r>
              <a:rPr lang="en-US" altLang="en-US" sz="2800" b="0">
                <a:solidFill>
                  <a:schemeClr val="accent2"/>
                </a:solidFill>
              </a:rPr>
              <a:t>aS</a:t>
            </a:r>
            <a:r>
              <a:rPr lang="en-US" altLang="en-US" sz="2800" baseline="-25000">
                <a:solidFill>
                  <a:schemeClr val="accent2"/>
                </a:solidFill>
              </a:rPr>
              <a:t>2</a:t>
            </a:r>
            <a:r>
              <a:rPr lang="en-US" altLang="en-US" sz="2800" b="0">
                <a:solidFill>
                  <a:schemeClr val="accent2"/>
                </a:solidFill>
              </a:rPr>
              <a:t>cbb)=</a:t>
            </a:r>
            <a:r>
              <a:rPr lang="en-US" altLang="en-US" sz="2800" b="0">
                <a:solidFill>
                  <a:srgbClr val="FA0617"/>
                </a:solidFill>
              </a:rPr>
              <a:t>112</a:t>
            </a:r>
            <a:endParaRPr lang="en-US" altLang="en-US" sz="2800">
              <a:solidFill>
                <a:srgbClr val="FA061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77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77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77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77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77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77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77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77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77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779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779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779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779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77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77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99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39CEA00F-310F-9BE6-4CF8-09C78AF25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8D90B8-B844-49ED-AAC0-AE885ECC2D8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AC5427F-5BDC-8AD3-97F5-508FD1ACD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Bottom-up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D4C0FD3-8907-5578-CB73-A9FF01FAA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990600"/>
            <a:ext cx="8624887" cy="57626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5138" indent="-465138" algn="just" eaLnBrk="1" hangingPunct="1">
              <a:lnSpc>
                <a:spcPct val="120000"/>
              </a:lnSpc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Sử dụng chu trình phân tích phải, thông qua tất cả các suy dẫn phải có thể theo chiều ngược lại phù hợp với xâu vào</a:t>
            </a:r>
          </a:p>
          <a:p>
            <a:pPr marL="911225" lvl="1" indent="-288925" algn="just" eaLnBrk="1" hangingPunct="1">
              <a:lnSpc>
                <a:spcPct val="120000"/>
              </a:lnSpc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Là quá trình gạt-thu gọn (</a:t>
            </a: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shift – reduce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</a:p>
          <a:p>
            <a:pPr marL="465138" indent="-465138" algn="just" eaLnBrk="1" hangingPunct="1">
              <a:lnSpc>
                <a:spcPct val="120000"/>
              </a:lnSpc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Thuật toán sử dụng stack S, dùng chứa các ký hiệu của văn phạm đã sinh ra một tiền tố nào đó trên xâu vào</a:t>
            </a:r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C90208D5-2116-A276-10B2-0678FFE7C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09555ED6-76FE-69BE-91E5-A0FD01482D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E41430-CBFD-401F-981E-7F126F93A7F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F7C4929-EE38-2204-3953-AC08D9EAA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Bottom-up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C467A91-74D1-992B-4E3F-93DCB2D0F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701087" cy="576262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0513" indent="-290513" algn="just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Hoạt động</a:t>
            </a:r>
          </a:p>
          <a:p>
            <a:pPr marL="290513" indent="-290513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Xét tất cả các xâu  có thể trên đỉnh Stack S</a:t>
            </a:r>
          </a:p>
          <a:p>
            <a:pPr marL="739775" lvl="1" indent="-231775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Nếu tồn tại một sản xuất A   P, thu gọn xâu  về A </a:t>
            </a:r>
          </a:p>
          <a:p>
            <a:pPr marL="1204913" lvl="2" indent="-290513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Nếu có nhiều lựa chọn  đánh số để thử lần lượt</a:t>
            </a:r>
          </a:p>
          <a:p>
            <a:pPr marL="739775" lvl="1" indent="-231775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Nếu không thể thu gọn được, gạt ký hiệu tiếp theo của  vào Stack</a:t>
            </a:r>
          </a:p>
          <a:p>
            <a:pPr marL="739775" lvl="1" indent="-231775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Nếu đi hết xâu mà không thể thu gọn   quay lui lại bước thu gọn sau cùng để thử thu gọn khác</a:t>
            </a:r>
          </a:p>
          <a:p>
            <a:pPr marL="739775" lvl="1" indent="-231775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Thuật toán dừng khi</a:t>
            </a:r>
          </a:p>
          <a:p>
            <a:pPr marL="1204913" lvl="2" indent="-290513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Đã gạt hết các ký hiệu và thu gọn về S</a:t>
            </a:r>
          </a:p>
          <a:p>
            <a:pPr marL="1204913" lvl="2" indent="-290513" algn="just" eaLnBrk="1" hangingPunct="1">
              <a:lnSpc>
                <a:spcPct val="105000"/>
              </a:lnSpc>
              <a:spcBef>
                <a:spcPct val="15000"/>
              </a:spcBef>
              <a:buFontTx/>
              <a:buChar char="-"/>
            </a:pP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Đã thử hết các trường hợp những vẫn không thu gọn </a:t>
            </a:r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2E91D20E-E121-FBE1-D4CE-CCB7863D5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A194BD62-5F04-9431-A402-F8DC8A20F4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2C50F9-C763-4428-A3D5-70D3BF7B4DA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34CFE0DC-6CAF-E131-5AAD-427A8168A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Bottom-up </a:t>
            </a:r>
            <a:r>
              <a:rPr lang="en-US" altLang="en-US">
                <a:sym typeface="Symbol" panose="05050102010706020507" pitchFamily="18" charset="2"/>
              </a:rPr>
              <a:t> Ví dụ</a:t>
            </a:r>
          </a:p>
        </p:txBody>
      </p:sp>
      <p:sp>
        <p:nvSpPr>
          <p:cNvPr id="32772" name="Rectangle 8">
            <a:extLst>
              <a:ext uri="{FF2B5EF4-FFF2-40B4-BE49-F238E27FC236}">
                <a16:creationId xmlns:a16="http://schemas.microsoft.com/office/drawing/2014/main" id="{54FBE516-51D8-B327-A93C-C576E9827CC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90600"/>
            <a:ext cx="8686800" cy="685800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Văn phạm S  aSbS|aS|c, xâu  = aacbc</a:t>
            </a:r>
            <a:endParaRPr lang="en-US" altLang="en-US" baseline="300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32773" name="Text Box 9">
            <a:extLst>
              <a:ext uri="{FF2B5EF4-FFF2-40B4-BE49-F238E27FC236}">
                <a16:creationId xmlns:a16="http://schemas.microsoft.com/office/drawing/2014/main" id="{799F25A3-4429-B896-9A89-20E6CAF49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  <p:grpSp>
        <p:nvGrpSpPr>
          <p:cNvPr id="1581126" name="Group 70">
            <a:extLst>
              <a:ext uri="{FF2B5EF4-FFF2-40B4-BE49-F238E27FC236}">
                <a16:creationId xmlns:a16="http://schemas.microsoft.com/office/drawing/2014/main" id="{0D88442F-88F4-9861-E0B7-55E49C43A49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079750"/>
            <a:ext cx="1066800" cy="3092450"/>
            <a:chOff x="912" y="1873"/>
            <a:chExt cx="672" cy="1948"/>
          </a:xfrm>
        </p:grpSpPr>
        <p:sp>
          <p:nvSpPr>
            <p:cNvPr id="32792" name="Text Box 47">
              <a:extLst>
                <a:ext uri="{FF2B5EF4-FFF2-40B4-BE49-F238E27FC236}">
                  <a16:creationId xmlns:a16="http://schemas.microsoft.com/office/drawing/2014/main" id="{F1479349-3F69-9ACC-1016-0FDADA206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976"/>
              <a:ext cx="672" cy="275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32793" name="Text Box 48">
              <a:extLst>
                <a:ext uri="{FF2B5EF4-FFF2-40B4-BE49-F238E27FC236}">
                  <a16:creationId xmlns:a16="http://schemas.microsoft.com/office/drawing/2014/main" id="{839CCB95-828C-6BAC-168E-1E0E2D21C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246"/>
              <a:ext cx="672" cy="275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32794" name="Text Box 49">
              <a:extLst>
                <a:ext uri="{FF2B5EF4-FFF2-40B4-BE49-F238E27FC236}">
                  <a16:creationId xmlns:a16="http://schemas.microsoft.com/office/drawing/2014/main" id="{47D7F165-46DA-D4AD-CE35-376467654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418"/>
              <a:ext cx="672" cy="275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32795" name="Text Box 50">
              <a:extLst>
                <a:ext uri="{FF2B5EF4-FFF2-40B4-BE49-F238E27FC236}">
                  <a16:creationId xmlns:a16="http://schemas.microsoft.com/office/drawing/2014/main" id="{2ED24924-0A5A-913A-BECD-E1A086D77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697"/>
              <a:ext cx="672" cy="275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32796" name="Text Box 51">
              <a:extLst>
                <a:ext uri="{FF2B5EF4-FFF2-40B4-BE49-F238E27FC236}">
                  <a16:creationId xmlns:a16="http://schemas.microsoft.com/office/drawing/2014/main" id="{F52BCF8B-D011-D94C-D846-588C715DF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873"/>
              <a:ext cx="672" cy="275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32797" name="Text Box 52">
              <a:extLst>
                <a:ext uri="{FF2B5EF4-FFF2-40B4-BE49-F238E27FC236}">
                  <a16:creationId xmlns:a16="http://schemas.microsoft.com/office/drawing/2014/main" id="{E9E46C66-5DF8-C703-CB55-EC167D095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143"/>
              <a:ext cx="672" cy="275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 sz="2800">
                <a:solidFill>
                  <a:schemeClr val="tx1"/>
                </a:solidFill>
              </a:endParaRPr>
            </a:p>
          </p:txBody>
        </p:sp>
        <p:sp>
          <p:nvSpPr>
            <p:cNvPr id="32798" name="Text Box 53">
              <a:extLst>
                <a:ext uri="{FF2B5EF4-FFF2-40B4-BE49-F238E27FC236}">
                  <a16:creationId xmlns:a16="http://schemas.microsoft.com/office/drawing/2014/main" id="{C44D491C-AD7D-4022-7DFB-8ECAB1C13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552"/>
              <a:ext cx="67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3539EB"/>
                  </a:solidFill>
                </a:rPr>
                <a:t>Stack</a:t>
              </a:r>
            </a:p>
          </p:txBody>
        </p:sp>
      </p:grpSp>
      <p:graphicFrame>
        <p:nvGraphicFramePr>
          <p:cNvPr id="1581110" name="Group 54">
            <a:extLst>
              <a:ext uri="{FF2B5EF4-FFF2-40B4-BE49-F238E27FC236}">
                <a16:creationId xmlns:a16="http://schemas.microsoft.com/office/drawing/2014/main" id="{D6165C01-2DB3-8874-6604-906062649E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962400" y="2090738"/>
          <a:ext cx="4191000" cy="576262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81129" name="Freeform 73">
            <a:extLst>
              <a:ext uri="{FF2B5EF4-FFF2-40B4-BE49-F238E27FC236}">
                <a16:creationId xmlns:a16="http://schemas.microsoft.com/office/drawing/2014/main" id="{52DC0287-15B2-B512-F883-9B8F7120C73D}"/>
              </a:ext>
            </a:extLst>
          </p:cNvPr>
          <p:cNvSpPr>
            <a:spLocks/>
          </p:cNvSpPr>
          <p:nvPr/>
        </p:nvSpPr>
        <p:spPr bwMode="auto">
          <a:xfrm>
            <a:off x="2133600" y="2159000"/>
            <a:ext cx="1752600" cy="889000"/>
          </a:xfrm>
          <a:custGeom>
            <a:avLst/>
            <a:gdLst>
              <a:gd name="T0" fmla="*/ 2147483646 w 1104"/>
              <a:gd name="T1" fmla="*/ 2147483646 h 560"/>
              <a:gd name="T2" fmla="*/ 2147483646 w 1104"/>
              <a:gd name="T3" fmla="*/ 2147483646 h 560"/>
              <a:gd name="T4" fmla="*/ 0 w 1104"/>
              <a:gd name="T5" fmla="*/ 2147483646 h 5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560">
                <a:moveTo>
                  <a:pt x="1104" y="80"/>
                </a:moveTo>
                <a:cubicBezTo>
                  <a:pt x="860" y="40"/>
                  <a:pt x="616" y="0"/>
                  <a:pt x="432" y="80"/>
                </a:cubicBezTo>
                <a:cubicBezTo>
                  <a:pt x="248" y="160"/>
                  <a:pt x="124" y="360"/>
                  <a:pt x="0" y="560"/>
                </a:cubicBezTo>
              </a:path>
            </a:pathLst>
          </a:custGeom>
          <a:noFill/>
          <a:ln w="762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8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8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8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D04DFBB5-1529-361C-09B7-07AE8FDCFF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F514CB-AE7F-4B82-8AEC-76184BF34FF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9E09B8F-3213-9111-67C4-7282833F5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Bottom-up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E791EE4-2DFA-64E5-8FFC-2F7DB7ECC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219200"/>
            <a:ext cx="8624887" cy="419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Điều kiện áp dụng thuật toán</a:t>
            </a:r>
          </a:p>
          <a:p>
            <a:pPr marL="855663" lvl="1" indent="-288925" algn="just" eaLnBrk="1" hangingPunct="1">
              <a:lnSpc>
                <a:spcPct val="12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Văn phạm không chứa sản xuất dạng</a:t>
            </a:r>
          </a:p>
          <a:p>
            <a:pPr marL="1379538" lvl="2" indent="-350838" algn="just" eaLnBrk="1" hangingPunct="1">
              <a:lnSpc>
                <a:spcPct val="125000"/>
              </a:lnSpc>
              <a:spcBef>
                <a:spcPct val="1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		A  </a:t>
            </a:r>
            <a:r>
              <a:rPr lang="el-GR" altLang="en-US" sz="28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hoặc A </a:t>
            </a:r>
            <a:r>
              <a:rPr lang="en-US" altLang="en-US" sz="2800" baseline="30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8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A	</a:t>
            </a:r>
            <a:endParaRPr lang="el-GR" altLang="en-US" sz="2800">
              <a:solidFill>
                <a:schemeClr val="accent2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06400" indent="-406400" algn="just" eaLnBrk="1" hangingPunct="1">
              <a:lnSpc>
                <a:spcPct val="125000"/>
              </a:lnSpc>
              <a:spcBef>
                <a:spcPct val="80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>
                <a:solidFill>
                  <a:schemeClr val="accent2"/>
                </a:solidFill>
                <a:sym typeface="Symbol" panose="05050102010706020507" pitchFamily="18" charset="2"/>
              </a:rPr>
              <a:t>Chi phí 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n = l(); C, K &gt; 1 là các hằng số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lang="en-US" altLang="en-US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855663" lvl="1" indent="-288925" algn="just" eaLnBrk="1" hangingPunct="1">
              <a:lnSpc>
                <a:spcPct val="12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Bộ nhớ		C*n</a:t>
            </a:r>
          </a:p>
          <a:p>
            <a:pPr marL="855663" lvl="1" indent="-288925" algn="just" eaLnBrk="1" hangingPunct="1">
              <a:lnSpc>
                <a:spcPct val="125000"/>
              </a:lnSpc>
              <a:spcBef>
                <a:spcPct val="10000"/>
              </a:spcBef>
              <a:buFontTx/>
              <a:buChar char="-"/>
            </a:pPr>
            <a:r>
              <a:rPr lang="en-US" altLang="en-US" sz="3200">
                <a:solidFill>
                  <a:schemeClr val="accent2"/>
                </a:solidFill>
                <a:sym typeface="Symbol" panose="05050102010706020507" pitchFamily="18" charset="2"/>
              </a:rPr>
              <a:t>Thời gian		K</a:t>
            </a:r>
            <a:r>
              <a:rPr lang="en-US" altLang="en-US" sz="3200" baseline="30000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06FDE5C4-90A4-23EF-C2D8-5D24C9481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288B00D7-0E11-43EA-FEAE-8E16A7D426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7EB80B-5517-45F3-83D6-C00B0B1F926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98CF471-CD2E-90B5-94D7-EAD42406E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Bottom-up </a:t>
            </a:r>
            <a:r>
              <a:rPr lang="en-US" altLang="en-US">
                <a:sym typeface="Symbol" panose="05050102010706020507" pitchFamily="18" charset="2"/>
              </a:rPr>
              <a:t> Ví dụ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1FEABF5-99DF-DEEC-2E32-FFD69F8CB1B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524000"/>
            <a:ext cx="2514600" cy="4267200"/>
          </a:xfrm>
          <a:ln>
            <a:solidFill>
              <a:schemeClr val="bg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E  E+T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E  T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T  T * F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T  F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F  (E)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F  a</a:t>
            </a:r>
          </a:p>
          <a:p>
            <a:pPr marL="406400" indent="-406400" algn="just" eaLnBrk="1" hangingPunct="1">
              <a:lnSpc>
                <a:spcPct val="12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 xâu  = a * a</a:t>
            </a:r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A8F5F52A-1220-DA75-648E-9F931EED5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  <p:sp>
        <p:nvSpPr>
          <p:cNvPr id="1771550" name="Rectangle 30">
            <a:extLst>
              <a:ext uri="{FF2B5EF4-FFF2-40B4-BE49-F238E27FC236}">
                <a16:creationId xmlns:a16="http://schemas.microsoft.com/office/drawing/2014/main" id="{F3E4F03A-6C24-D309-1B92-3A499E5A6AC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3505200" y="990600"/>
            <a:ext cx="5410200" cy="8382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fr-FR" altLang="en-US" sz="2400"/>
              <a:t>Dấu --- thể hiện các xâu trên đỉnh Stack không rút gọn được</a:t>
            </a:r>
          </a:p>
        </p:txBody>
      </p:sp>
      <p:sp>
        <p:nvSpPr>
          <p:cNvPr id="1771551" name="Text Box 31">
            <a:extLst>
              <a:ext uri="{FF2B5EF4-FFF2-40B4-BE49-F238E27FC236}">
                <a16:creationId xmlns:a16="http://schemas.microsoft.com/office/drawing/2014/main" id="{8E295653-5C9A-8BD6-D47C-8BD49F3E7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8859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771552" name="Text Box 32">
            <a:extLst>
              <a:ext uri="{FF2B5EF4-FFF2-40B4-BE49-F238E27FC236}">
                <a16:creationId xmlns:a16="http://schemas.microsoft.com/office/drawing/2014/main" id="{4B9CB96A-68DB-747A-D2F0-8D6EF00E1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2895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771553" name="Text Box 33">
            <a:extLst>
              <a:ext uri="{FF2B5EF4-FFF2-40B4-BE49-F238E27FC236}">
                <a16:creationId xmlns:a16="http://schemas.microsoft.com/office/drawing/2014/main" id="{383A70CA-0A57-73F5-CDDB-9C5F727B6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3962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771554" name="Text Box 34">
            <a:extLst>
              <a:ext uri="{FF2B5EF4-FFF2-40B4-BE49-F238E27FC236}">
                <a16:creationId xmlns:a16="http://schemas.microsoft.com/office/drawing/2014/main" id="{D3941B8C-30D2-CCEA-2C02-C9BBAC004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49053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71555" name="Text Box 35">
            <a:extLst>
              <a:ext uri="{FF2B5EF4-FFF2-40B4-BE49-F238E27FC236}">
                <a16:creationId xmlns:a16="http://schemas.microsoft.com/office/drawing/2014/main" id="{98EECFC3-00C0-D471-2A1C-9ED3359CA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13" y="49815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771557" name="Line 37">
            <a:extLst>
              <a:ext uri="{FF2B5EF4-FFF2-40B4-BE49-F238E27FC236}">
                <a16:creationId xmlns:a16="http://schemas.microsoft.com/office/drawing/2014/main" id="{29398D1B-B446-ED4A-FC4C-EF0C2F559E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5650" y="43576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58" name="Line 38">
            <a:extLst>
              <a:ext uri="{FF2B5EF4-FFF2-40B4-BE49-F238E27FC236}">
                <a16:creationId xmlns:a16="http://schemas.microsoft.com/office/drawing/2014/main" id="{08272A54-B3FF-822C-616A-2ABF619664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8025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59" name="Line 39">
            <a:extLst>
              <a:ext uri="{FF2B5EF4-FFF2-40B4-BE49-F238E27FC236}">
                <a16:creationId xmlns:a16="http://schemas.microsoft.com/office/drawing/2014/main" id="{00710FD1-72BC-5B1E-776D-EA86630504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3738" y="223837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60" name="Line 40">
            <a:extLst>
              <a:ext uri="{FF2B5EF4-FFF2-40B4-BE49-F238E27FC236}">
                <a16:creationId xmlns:a16="http://schemas.microsoft.com/office/drawing/2014/main" id="{6FCE7942-A6DF-96F9-5A6A-14A780A8C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8025" y="2209800"/>
            <a:ext cx="762000" cy="2895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61" name="Text Box 41">
            <a:extLst>
              <a:ext uri="{FF2B5EF4-FFF2-40B4-BE49-F238E27FC236}">
                <a16:creationId xmlns:a16="http://schemas.microsoft.com/office/drawing/2014/main" id="{9072F334-914F-EF8F-594D-603F796B0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8163" y="18859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771562" name="Text Box 42">
            <a:extLst>
              <a:ext uri="{FF2B5EF4-FFF2-40B4-BE49-F238E27FC236}">
                <a16:creationId xmlns:a16="http://schemas.microsoft.com/office/drawing/2014/main" id="{EF6BE5DC-8DB3-2B41-8624-37B52CC9C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8" y="2895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771563" name="Text Box 43">
            <a:extLst>
              <a:ext uri="{FF2B5EF4-FFF2-40B4-BE49-F238E27FC236}">
                <a16:creationId xmlns:a16="http://schemas.microsoft.com/office/drawing/2014/main" id="{43419A64-CB93-3F80-D823-D640369F6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88" y="3962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771564" name="Text Box 44">
            <a:extLst>
              <a:ext uri="{FF2B5EF4-FFF2-40B4-BE49-F238E27FC236}">
                <a16:creationId xmlns:a16="http://schemas.microsoft.com/office/drawing/2014/main" id="{8FDC0998-39CC-3DDD-658A-5AA98B43E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88" y="49053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71565" name="Line 45">
            <a:extLst>
              <a:ext uri="{FF2B5EF4-FFF2-40B4-BE49-F238E27FC236}">
                <a16:creationId xmlns:a16="http://schemas.microsoft.com/office/drawing/2014/main" id="{52F585D9-D599-47F9-ED83-AA90A70983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2013" y="43576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66" name="Line 46">
            <a:extLst>
              <a:ext uri="{FF2B5EF4-FFF2-40B4-BE49-F238E27FC236}">
                <a16:creationId xmlns:a16="http://schemas.microsoft.com/office/drawing/2014/main" id="{759B421C-3463-5E21-58B3-570E82F978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24388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67" name="Line 47">
            <a:extLst>
              <a:ext uri="{FF2B5EF4-FFF2-40B4-BE49-F238E27FC236}">
                <a16:creationId xmlns:a16="http://schemas.microsoft.com/office/drawing/2014/main" id="{9596E9DB-4A8D-EFC9-EB45-E684BC5495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0100" y="223837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68" name="Line 48">
            <a:extLst>
              <a:ext uri="{FF2B5EF4-FFF2-40B4-BE49-F238E27FC236}">
                <a16:creationId xmlns:a16="http://schemas.microsoft.com/office/drawing/2014/main" id="{C5675253-A784-0F12-CB9F-6C6A0345F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6225" y="5167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69" name="Line 49">
            <a:extLst>
              <a:ext uri="{FF2B5EF4-FFF2-40B4-BE49-F238E27FC236}">
                <a16:creationId xmlns:a16="http://schemas.microsoft.com/office/drawing/2014/main" id="{72579A80-BDEF-59CD-A1BA-AA4AC2723C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1938" y="4405313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70" name="Line 50">
            <a:extLst>
              <a:ext uri="{FF2B5EF4-FFF2-40B4-BE49-F238E27FC236}">
                <a16:creationId xmlns:a16="http://schemas.microsoft.com/office/drawing/2014/main" id="{32909A75-F2F5-E2FD-012A-12A343179A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0025" y="3124200"/>
            <a:ext cx="533400" cy="1905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71" name="Line 51">
            <a:extLst>
              <a:ext uri="{FF2B5EF4-FFF2-40B4-BE49-F238E27FC236}">
                <a16:creationId xmlns:a16="http://schemas.microsoft.com/office/drawing/2014/main" id="{3079B5DF-2E81-2DA7-AAA3-77C7C95187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0025" y="2286000"/>
            <a:ext cx="457200" cy="2819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73" name="Text Box 53">
            <a:extLst>
              <a:ext uri="{FF2B5EF4-FFF2-40B4-BE49-F238E27FC236}">
                <a16:creationId xmlns:a16="http://schemas.microsoft.com/office/drawing/2014/main" id="{BCC9C396-7A5C-D658-14F0-8BF289C9A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8" y="28670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771574" name="Text Box 54">
            <a:extLst>
              <a:ext uri="{FF2B5EF4-FFF2-40B4-BE49-F238E27FC236}">
                <a16:creationId xmlns:a16="http://schemas.microsoft.com/office/drawing/2014/main" id="{B31AE672-D11D-B05D-433B-370C77418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0638" y="39338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771575" name="Text Box 55">
            <a:extLst>
              <a:ext uri="{FF2B5EF4-FFF2-40B4-BE49-F238E27FC236}">
                <a16:creationId xmlns:a16="http://schemas.microsoft.com/office/drawing/2014/main" id="{4146B9CB-CE59-0B85-507B-C3933279F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0638" y="4876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71576" name="Text Box 56">
            <a:extLst>
              <a:ext uri="{FF2B5EF4-FFF2-40B4-BE49-F238E27FC236}">
                <a16:creationId xmlns:a16="http://schemas.microsoft.com/office/drawing/2014/main" id="{513B56DB-FFFC-3341-7966-88FE9B2F5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725" y="4953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771577" name="Line 57">
            <a:extLst>
              <a:ext uri="{FF2B5EF4-FFF2-40B4-BE49-F238E27FC236}">
                <a16:creationId xmlns:a16="http://schemas.microsoft.com/office/drawing/2014/main" id="{555236AD-F881-145E-1171-CFE78661D4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0663" y="432911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78" name="Line 58">
            <a:extLst>
              <a:ext uri="{FF2B5EF4-FFF2-40B4-BE49-F238E27FC236}">
                <a16:creationId xmlns:a16="http://schemas.microsoft.com/office/drawing/2014/main" id="{3B7D97B0-F978-38D7-1411-79373225C0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3038" y="3248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80" name="Line 60">
            <a:extLst>
              <a:ext uri="{FF2B5EF4-FFF2-40B4-BE49-F238E27FC236}">
                <a16:creationId xmlns:a16="http://schemas.microsoft.com/office/drawing/2014/main" id="{34D2A4AD-D19F-9150-45F1-4424A62BD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00400"/>
            <a:ext cx="757238" cy="1876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81" name="Text Box 61">
            <a:extLst>
              <a:ext uri="{FF2B5EF4-FFF2-40B4-BE49-F238E27FC236}">
                <a16:creationId xmlns:a16="http://schemas.microsoft.com/office/drawing/2014/main" id="{71EBB603-F070-92F6-80CF-74D565C90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75" y="18573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771582" name="Text Box 62">
            <a:extLst>
              <a:ext uri="{FF2B5EF4-FFF2-40B4-BE49-F238E27FC236}">
                <a16:creationId xmlns:a16="http://schemas.microsoft.com/office/drawing/2014/main" id="{A4E1C9C7-5DD2-5F86-1151-B2C0FE3D7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8670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771583" name="Text Box 63">
            <a:extLst>
              <a:ext uri="{FF2B5EF4-FFF2-40B4-BE49-F238E27FC236}">
                <a16:creationId xmlns:a16="http://schemas.microsoft.com/office/drawing/2014/main" id="{A3AFAB82-5D46-8F36-BB88-C3C4547B5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9338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771584" name="Text Box 64">
            <a:extLst>
              <a:ext uri="{FF2B5EF4-FFF2-40B4-BE49-F238E27FC236}">
                <a16:creationId xmlns:a16="http://schemas.microsoft.com/office/drawing/2014/main" id="{ECCFF045-86A5-D271-3672-451F288E7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876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71585" name="Line 65">
            <a:extLst>
              <a:ext uri="{FF2B5EF4-FFF2-40B4-BE49-F238E27FC236}">
                <a16:creationId xmlns:a16="http://schemas.microsoft.com/office/drawing/2014/main" id="{6BCF3880-5704-ECC5-25DF-549D5D6570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7025" y="432911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86" name="Line 66">
            <a:extLst>
              <a:ext uri="{FF2B5EF4-FFF2-40B4-BE49-F238E27FC236}">
                <a16:creationId xmlns:a16="http://schemas.microsoft.com/office/drawing/2014/main" id="{B1449BDE-9AA4-5F4E-61C9-E555113B4B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248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87" name="Line 67">
            <a:extLst>
              <a:ext uri="{FF2B5EF4-FFF2-40B4-BE49-F238E27FC236}">
                <a16:creationId xmlns:a16="http://schemas.microsoft.com/office/drawing/2014/main" id="{5BF9BFB9-0D6B-BA89-CE10-249741ECFD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113" y="2209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90" name="Line 70">
            <a:extLst>
              <a:ext uri="{FF2B5EF4-FFF2-40B4-BE49-F238E27FC236}">
                <a16:creationId xmlns:a16="http://schemas.microsoft.com/office/drawing/2014/main" id="{1482CE5E-3525-2A58-642B-635AFB0295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5038" y="3095625"/>
            <a:ext cx="533400" cy="1905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91" name="Line 71">
            <a:extLst>
              <a:ext uri="{FF2B5EF4-FFF2-40B4-BE49-F238E27FC236}">
                <a16:creationId xmlns:a16="http://schemas.microsoft.com/office/drawing/2014/main" id="{5C657E69-8063-A1A3-7094-A4D5B97328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5038" y="2257425"/>
            <a:ext cx="457200" cy="2819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92" name="Text Box 72">
            <a:extLst>
              <a:ext uri="{FF2B5EF4-FFF2-40B4-BE49-F238E27FC236}">
                <a16:creationId xmlns:a16="http://schemas.microsoft.com/office/drawing/2014/main" id="{42BE9B69-75B8-5DB0-CB83-984988948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895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771593" name="Text Box 73">
            <a:extLst>
              <a:ext uri="{FF2B5EF4-FFF2-40B4-BE49-F238E27FC236}">
                <a16:creationId xmlns:a16="http://schemas.microsoft.com/office/drawing/2014/main" id="{FE6671A1-A928-1160-AE6F-15D9D0FCF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962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771594" name="Text Box 74">
            <a:extLst>
              <a:ext uri="{FF2B5EF4-FFF2-40B4-BE49-F238E27FC236}">
                <a16:creationId xmlns:a16="http://schemas.microsoft.com/office/drawing/2014/main" id="{BB263E79-EC73-47ED-9845-6CBE64F4A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9053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71595" name="Text Box 75">
            <a:extLst>
              <a:ext uri="{FF2B5EF4-FFF2-40B4-BE49-F238E27FC236}">
                <a16:creationId xmlns:a16="http://schemas.microsoft.com/office/drawing/2014/main" id="{6627FA40-33C4-C030-42D5-FC5DE16C4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888" y="49815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771596" name="Line 76">
            <a:extLst>
              <a:ext uri="{FF2B5EF4-FFF2-40B4-BE49-F238E27FC236}">
                <a16:creationId xmlns:a16="http://schemas.microsoft.com/office/drawing/2014/main" id="{6788AA4B-3BA8-8B6E-7939-97A3E72948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2825" y="43576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97" name="Line 77">
            <a:extLst>
              <a:ext uri="{FF2B5EF4-FFF2-40B4-BE49-F238E27FC236}">
                <a16:creationId xmlns:a16="http://schemas.microsoft.com/office/drawing/2014/main" id="{DBC912FE-B2EB-2DF9-857E-1184DC377E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98" name="Line 78">
            <a:extLst>
              <a:ext uri="{FF2B5EF4-FFF2-40B4-BE49-F238E27FC236}">
                <a16:creationId xmlns:a16="http://schemas.microsoft.com/office/drawing/2014/main" id="{76E86007-E9C6-B94C-56DE-DC273A3BC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9963" y="3228975"/>
            <a:ext cx="757237" cy="1876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99" name="Text Box 79">
            <a:extLst>
              <a:ext uri="{FF2B5EF4-FFF2-40B4-BE49-F238E27FC236}">
                <a16:creationId xmlns:a16="http://schemas.microsoft.com/office/drawing/2014/main" id="{34BBE114-02AC-1001-A59F-AAEBAD84A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9050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771601" name="Text Box 81">
            <a:extLst>
              <a:ext uri="{FF2B5EF4-FFF2-40B4-BE49-F238E27FC236}">
                <a16:creationId xmlns:a16="http://schemas.microsoft.com/office/drawing/2014/main" id="{533C3D8A-41A1-D33A-3447-1DBD935D0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9163" y="3962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771602" name="Text Box 82">
            <a:extLst>
              <a:ext uri="{FF2B5EF4-FFF2-40B4-BE49-F238E27FC236}">
                <a16:creationId xmlns:a16="http://schemas.microsoft.com/office/drawing/2014/main" id="{619BA628-CAB8-67A7-9D76-1CF1C8F47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9163" y="49053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771603" name="Line 83">
            <a:extLst>
              <a:ext uri="{FF2B5EF4-FFF2-40B4-BE49-F238E27FC236}">
                <a16:creationId xmlns:a16="http://schemas.microsoft.com/office/drawing/2014/main" id="{A5AE4A81-B908-2FCA-09C0-6463DB2E5F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39188" y="43576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610" name="Line 90">
            <a:extLst>
              <a:ext uri="{FF2B5EF4-FFF2-40B4-BE49-F238E27FC236}">
                <a16:creationId xmlns:a16="http://schemas.microsoft.com/office/drawing/2014/main" id="{F0308624-B6A8-BB81-41E6-BB37B93972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4343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611" name="Line 91">
            <a:extLst>
              <a:ext uri="{FF2B5EF4-FFF2-40B4-BE49-F238E27FC236}">
                <a16:creationId xmlns:a16="http://schemas.microsoft.com/office/drawing/2014/main" id="{8CA64947-9657-6165-2B1B-9B3CF4EC1E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22860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7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7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7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7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7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7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7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7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77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7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7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7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77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77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77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77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77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1771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1771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1771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77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1771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1" dur="500"/>
                                        <p:tgtEl>
                                          <p:spTgt spid="1771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4" dur="500"/>
                                        <p:tgtEl>
                                          <p:spTgt spid="17715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77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1771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1771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17715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77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0" dur="500"/>
                                        <p:tgtEl>
                                          <p:spTgt spid="17715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3" dur="500"/>
                                        <p:tgtEl>
                                          <p:spTgt spid="1771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6" dur="500"/>
                                        <p:tgtEl>
                                          <p:spTgt spid="1771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9" dur="500"/>
                                        <p:tgtEl>
                                          <p:spTgt spid="1771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2" dur="500"/>
                                        <p:tgtEl>
                                          <p:spTgt spid="1771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5" dur="500"/>
                                        <p:tgtEl>
                                          <p:spTgt spid="1771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77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77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77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77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77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77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77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77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77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77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77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77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77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177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77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77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500"/>
                                        <p:tgtEl>
                                          <p:spTgt spid="1771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3" dur="500"/>
                                        <p:tgtEl>
                                          <p:spTgt spid="1771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500"/>
                                        <p:tgtEl>
                                          <p:spTgt spid="1771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1" dur="500"/>
                                        <p:tgtEl>
                                          <p:spTgt spid="1771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4" dur="500"/>
                                        <p:tgtEl>
                                          <p:spTgt spid="1771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7" dur="500"/>
                                        <p:tgtEl>
                                          <p:spTgt spid="17715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177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177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77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77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77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77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77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77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77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77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77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177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177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0" grpId="0"/>
      <p:bldP spid="1771551" grpId="0"/>
      <p:bldP spid="1771551" grpId="1"/>
      <p:bldP spid="1771552" grpId="0"/>
      <p:bldP spid="1771553" grpId="0"/>
      <p:bldP spid="1771554" grpId="0"/>
      <p:bldP spid="1771555" grpId="0"/>
      <p:bldP spid="1771555" grpId="1"/>
      <p:bldP spid="1771561" grpId="0"/>
      <p:bldP spid="1771561" grpId="1"/>
      <p:bldP spid="1771562" grpId="0"/>
      <p:bldP spid="1771562" grpId="1"/>
      <p:bldP spid="1771563" grpId="0"/>
      <p:bldP spid="1771563" grpId="1"/>
      <p:bldP spid="1771564" grpId="0"/>
      <p:bldP spid="1771564" grpId="1"/>
      <p:bldP spid="1771573" grpId="0"/>
      <p:bldP spid="1771574" grpId="0"/>
      <p:bldP spid="1771575" grpId="0"/>
      <p:bldP spid="1771576" grpId="0"/>
      <p:bldP spid="1771581" grpId="0"/>
      <p:bldP spid="1771581" grpId="1"/>
      <p:bldP spid="1771582" grpId="0"/>
      <p:bldP spid="1771582" grpId="1"/>
      <p:bldP spid="1771583" grpId="0"/>
      <p:bldP spid="1771584" grpId="0"/>
      <p:bldP spid="1771592" grpId="0"/>
      <p:bldP spid="1771593" grpId="0"/>
      <p:bldP spid="1771594" grpId="0"/>
      <p:bldP spid="1771595" grpId="0"/>
      <p:bldP spid="1771599" grpId="0"/>
      <p:bldP spid="1771601" grpId="0"/>
      <p:bldP spid="177160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418028DF-0ADA-46DD-E1B6-751DF317BE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595264-D6A2-42B5-8EB8-BEE717A03E2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7BF3236-79F8-29DF-422E-8C3E8FF8F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Bottom-Up quay lui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E3719002-7677-BA98-DD89-CB7E8150CC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791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800" b="1"/>
              <a:t>Vào :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Văn phạm không chứa sản xuất dạng</a:t>
            </a:r>
          </a:p>
          <a:p>
            <a:pPr marL="1379538" lvl="2" indent="-350838"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		A  </a:t>
            </a:r>
            <a:r>
              <a:rPr lang="el-GR" altLang="en-US" sz="28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hoặc A </a:t>
            </a:r>
            <a:r>
              <a:rPr lang="en-US" altLang="en-US" sz="2800" baseline="30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8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A	</a:t>
            </a:r>
          </a:p>
          <a:p>
            <a:pPr marL="1379538" lvl="2" indent="-350838" algn="just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 sz="2800"/>
              <a:t>Các sản xuất của G được đánh số 1,...,q</a:t>
            </a:r>
            <a:endParaRPr lang="en-US" altLang="en-US" sz="2800" u="sng"/>
          </a:p>
          <a:p>
            <a:pPr marL="0" indent="0" eaLnBrk="1" hangingPunct="1">
              <a:buFontTx/>
              <a:buNone/>
            </a:pPr>
            <a:r>
              <a:rPr lang="en-US" altLang="en-US" sz="2800" b="1"/>
              <a:t>Ra:  </a:t>
            </a:r>
            <a:r>
              <a:rPr lang="en-US" altLang="en-US" sz="2800"/>
              <a:t>- Phân tích phải cho </a:t>
            </a:r>
            <a:r>
              <a:rPr lang="en-US" altLang="en-US" sz="2800">
                <a:sym typeface="Symbol" panose="05050102010706020507" pitchFamily="18" charset="2"/>
              </a:rPr>
              <a:t> </a:t>
            </a:r>
            <a:r>
              <a:rPr lang="en-US" altLang="en-US" sz="2800"/>
              <a:t>(nếu có)</a:t>
            </a:r>
          </a:p>
          <a:p>
            <a:pPr marL="682625" lvl="1" indent="-334963" eaLnBrk="1" hangingPunct="1">
              <a:buFontTx/>
              <a:buNone/>
            </a:pPr>
            <a:r>
              <a:rPr lang="en-US" altLang="en-US" sz="2400"/>
              <a:t>	</a:t>
            </a:r>
            <a:r>
              <a:rPr lang="en-US" altLang="en-US"/>
              <a:t>- Thông báo lỗi nếu ngược lại</a:t>
            </a:r>
          </a:p>
          <a:p>
            <a:pPr marL="0" indent="0" eaLnBrk="1" hangingPunct="1">
              <a:lnSpc>
                <a:spcPct val="105000"/>
              </a:lnSpc>
              <a:buFontTx/>
              <a:buNone/>
            </a:pPr>
            <a:r>
              <a:rPr lang="en-US" altLang="en-US" sz="2800" b="1"/>
              <a:t>Hình trạng của giải thuật: </a:t>
            </a:r>
            <a:r>
              <a:rPr lang="en-US" altLang="en-US" sz="2800"/>
              <a:t>Bộ bốn (s, i, </a:t>
            </a:r>
            <a:r>
              <a:rPr lang="en-US" altLang="en-US" sz="2800">
                <a:latin typeface="Symbol" panose="05050102010706020507" pitchFamily="18" charset="2"/>
              </a:rPr>
              <a:t>a, b</a:t>
            </a:r>
            <a:r>
              <a:rPr lang="en-US" altLang="en-US" sz="2800"/>
              <a:t>)</a:t>
            </a:r>
          </a:p>
          <a:p>
            <a:pPr marL="682625" lvl="1" indent="-334963" eaLnBrk="1" hangingPunct="1"/>
            <a:r>
              <a:rPr lang="en-US" altLang="en-US" sz="2400"/>
              <a:t>Hình trạng ban đầu </a:t>
            </a:r>
            <a:r>
              <a:rPr lang="en-US" altLang="en-US" sz="2400">
                <a:solidFill>
                  <a:srgbClr val="3539EB"/>
                </a:solidFill>
              </a:rPr>
              <a:t>(q, 1, #, </a:t>
            </a:r>
            <a:r>
              <a:rPr lang="en-US" altLang="en-US" sz="2400">
                <a:solidFill>
                  <a:srgbClr val="3539EB"/>
                </a:solidFill>
                <a:sym typeface="Symbol" panose="05050102010706020507" pitchFamily="18" charset="2"/>
              </a:rPr>
              <a:t>)</a:t>
            </a:r>
          </a:p>
          <a:p>
            <a:pPr marL="682625" lvl="1" indent="-334963" eaLnBrk="1" hangingPunct="1"/>
            <a:r>
              <a:rPr lang="en-US" altLang="en-US" sz="2400">
                <a:solidFill>
                  <a:srgbClr val="3539EB"/>
                </a:solidFill>
                <a:sym typeface="Symbol" panose="05050102010706020507" pitchFamily="18" charset="2"/>
              </a:rPr>
              <a:t>s</a:t>
            </a:r>
            <a:r>
              <a:rPr lang="en-US" altLang="en-US" sz="2400">
                <a:sym typeface="Symbol" panose="05050102010706020507" pitchFamily="18" charset="2"/>
              </a:rPr>
              <a:t>: trạng thái thuật toán gồm: </a:t>
            </a:r>
            <a:r>
              <a:rPr lang="en-US" altLang="en-US" sz="2400">
                <a:solidFill>
                  <a:srgbClr val="3539EB"/>
                </a:solidFill>
                <a:sym typeface="Symbol" panose="05050102010706020507" pitchFamily="18" charset="2"/>
              </a:rPr>
              <a:t>q, b, t</a:t>
            </a:r>
            <a:r>
              <a:rPr lang="en-US" altLang="en-US" sz="2400">
                <a:sym typeface="Symbol" panose="05050102010706020507" pitchFamily="18" charset="2"/>
              </a:rPr>
              <a:t>; </a:t>
            </a:r>
            <a:r>
              <a:rPr lang="en-US" altLang="en-US" sz="2400">
                <a:solidFill>
                  <a:srgbClr val="3539EB"/>
                </a:solidFill>
                <a:latin typeface="Symbol" panose="05050102010706020507" pitchFamily="18" charset="2"/>
              </a:rPr>
              <a:t>a, b</a:t>
            </a:r>
            <a:r>
              <a:rPr lang="en-US" altLang="en-US" sz="2400">
                <a:sym typeface="Symbol" panose="05050102010706020507" pitchFamily="18" charset="2"/>
              </a:rPr>
              <a:t> nội dung các stack</a:t>
            </a:r>
          </a:p>
          <a:p>
            <a:pPr marL="682625" lvl="1" indent="-334963" eaLnBrk="1" hangingPunct="1"/>
            <a:r>
              <a:rPr lang="en-US" altLang="en-US" sz="2400" b="1">
                <a:solidFill>
                  <a:srgbClr val="3539EB"/>
                </a:solidFill>
                <a:sym typeface="Symbol" panose="05050102010706020507" pitchFamily="18" charset="2"/>
              </a:rPr>
              <a:t>Stack D</a:t>
            </a:r>
            <a:r>
              <a:rPr lang="en-US" altLang="en-US" sz="2400" b="1" baseline="-25000">
                <a:solidFill>
                  <a:srgbClr val="3539EB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ym typeface="Symbol" panose="05050102010706020507" pitchFamily="18" charset="2"/>
              </a:rPr>
              <a:t> : chứa ký hiệu của văn phạm đã sinh ra tiền tố của xâu vào (</a:t>
            </a:r>
            <a:r>
              <a:rPr lang="en-US" altLang="en-US" sz="2400" i="1">
                <a:solidFill>
                  <a:srgbClr val="3539EB"/>
                </a:solidFill>
                <a:sym typeface="Symbol" panose="05050102010706020507" pitchFamily="18" charset="2"/>
              </a:rPr>
              <a:t>đến vị trí i-1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</a:p>
          <a:p>
            <a:pPr marL="682625" lvl="1" indent="-334963" eaLnBrk="1" hangingPunct="1"/>
            <a:r>
              <a:rPr lang="en-US" altLang="en-US" sz="2400" b="1">
                <a:solidFill>
                  <a:srgbClr val="3539EB"/>
                </a:solidFill>
                <a:sym typeface="Symbol" panose="05050102010706020507" pitchFamily="18" charset="2"/>
              </a:rPr>
              <a:t>Stack D</a:t>
            </a:r>
            <a:r>
              <a:rPr lang="en-US" altLang="en-US" sz="2400" b="1" baseline="-25000">
                <a:solidFill>
                  <a:srgbClr val="3539EB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baseline="-250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: Ghi nhận quá trình gạt (s) thu gọn cần thiết để sinh được D</a:t>
            </a:r>
            <a:r>
              <a:rPr lang="en-US" altLang="en-US" sz="2400" baseline="-25000">
                <a:sym typeface="Symbol" panose="05050102010706020507" pitchFamily="18" charset="2"/>
              </a:rPr>
              <a:t>1</a:t>
            </a:r>
            <a:r>
              <a:rPr lang="en-US" altLang="en-US" sz="2400">
                <a:sym typeface="Symbol" panose="05050102010706020507" pitchFamily="18" charset="2"/>
              </a:rPr>
              <a:t> từ xâu vào</a:t>
            </a:r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B95AC808-3096-6D80-D528-7C09EF504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61D6150F-3621-DCDB-0159-8EA0021DB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D462BD-FADB-4F58-9232-C9527EDEE50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0A44029-A075-A94F-17DC-5055D6F207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Bottom-Up quay lui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09F6A33A-4377-01F0-F43D-0FDEDBC4E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791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1. Thu gọn</a:t>
            </a:r>
          </a:p>
          <a:p>
            <a:pPr marL="0" indent="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(q, i,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  <a:r>
              <a:rPr lang="en-US" altLang="en-US"/>
              <a:t>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>
                <a:sym typeface="Symbol" panose="05050102010706020507" pitchFamily="18" charset="2"/>
              </a:rPr>
              <a:t>( q, i,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aA</a:t>
            </a:r>
            <a:r>
              <a:rPr lang="en-US" altLang="en-US">
                <a:sym typeface="Symbol" panose="05050102010706020507" pitchFamily="18" charset="2"/>
              </a:rPr>
              <a:t>, j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</a:p>
          <a:p>
            <a:pPr marL="987425" lvl="1" indent="-450850" eaLnBrk="1" hangingPunct="1"/>
            <a:r>
              <a:rPr lang="en-US" altLang="en-US">
                <a:sym typeface="Symbol" panose="05050102010706020507" pitchFamily="18" charset="2"/>
              </a:rPr>
              <a:t>Nếu A 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 </a:t>
            </a:r>
            <a:r>
              <a:rPr lang="en-US" altLang="en-US">
                <a:sym typeface="Symbol" panose="05050102010706020507" pitchFamily="18" charset="2"/>
              </a:rPr>
              <a:t>là sản xuất thứ j của P </a:t>
            </a:r>
          </a:p>
          <a:p>
            <a:pPr marL="987425" lvl="1" indent="-450850" eaLnBrk="1" hangingPunct="1"/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là xâu trên đỉnh stack D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(được thu gọn về A)</a:t>
            </a:r>
            <a:endParaRPr lang="en-US" altLang="en-US" baseline="-25000"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2. Gạt </a:t>
            </a:r>
            <a:r>
              <a:rPr lang="en-US" altLang="en-US">
                <a:sym typeface="Symbol" panose="05050102010706020507" pitchFamily="18" charset="2"/>
              </a:rPr>
              <a:t>(s:shift)</a:t>
            </a:r>
          </a:p>
          <a:p>
            <a:pPr marL="0" indent="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(q, i,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  <a:r>
              <a:rPr lang="en-US" altLang="en-US"/>
              <a:t>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>
                <a:sym typeface="Symbol" panose="05050102010706020507" pitchFamily="18" charset="2"/>
              </a:rPr>
              <a:t>( q, i+1,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a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, s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</a:p>
          <a:p>
            <a:pPr marL="987425" lvl="1" indent="-450850" eaLnBrk="1" hangingPunct="1"/>
            <a:r>
              <a:rPr lang="en-US" altLang="en-US">
                <a:sym typeface="Symbol" panose="05050102010706020507" pitchFamily="18" charset="2"/>
              </a:rPr>
              <a:t>Gạt ký hiệu i+1 lên đỉnh D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, dịch đầu dọc. Đặt </a:t>
            </a:r>
            <a:r>
              <a:rPr lang="en-US" altLang="en-US" b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lên D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 để chỉ ra đã thực hiện thao tác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gạt</a:t>
            </a:r>
          </a:p>
          <a:p>
            <a:pPr marL="987425" lvl="1" indent="-450850" eaLnBrk="1" hangingPunct="1"/>
            <a:r>
              <a:rPr lang="en-US" altLang="en-US">
                <a:sym typeface="Symbol" panose="05050102010706020507" pitchFamily="18" charset="2"/>
              </a:rPr>
              <a:t>Nếu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i &lt; n+1</a:t>
            </a:r>
            <a:r>
              <a:rPr lang="en-US" altLang="en-US">
                <a:sym typeface="Symbol" panose="05050102010706020507" pitchFamily="18" charset="2"/>
              </a:rPr>
              <a:t>, thực hiện thu gọn</a:t>
            </a:r>
          </a:p>
          <a:p>
            <a:pPr marL="987425" lvl="1" indent="-450850" eaLnBrk="1" hangingPunct="1"/>
            <a:r>
              <a:rPr lang="en-US" altLang="en-US">
                <a:sym typeface="Symbol" panose="05050102010706020507" pitchFamily="18" charset="2"/>
              </a:rPr>
              <a:t>Nếu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i = n+1</a:t>
            </a:r>
            <a:r>
              <a:rPr lang="en-US" altLang="en-US">
                <a:sym typeface="Symbol" panose="05050102010706020507" pitchFamily="18" charset="2"/>
              </a:rPr>
              <a:t>, kiểm tra chấp nhận hoặc thực hiện quay lui</a:t>
            </a:r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BA49B9F7-52E6-7BF5-9B15-35B286536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A4184583-28CF-5F49-AF1E-72078BB94F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8146C7-F79C-4DE5-BAC8-59ECF49AC7C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C8EF491-E7A2-B7E3-0BDC-34E3A3413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Bottom-Up quay lui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751DF26E-654E-1480-C3B0-FF1515B9B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791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105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3. Chấp nhận</a:t>
            </a:r>
          </a:p>
          <a:p>
            <a:pPr marL="0" indent="0"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(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q</a:t>
            </a:r>
            <a:r>
              <a:rPr lang="en-US" altLang="en-US">
                <a:sym typeface="Symbol" panose="05050102010706020507" pitchFamily="18" charset="2"/>
              </a:rPr>
              <a:t>, n+1, #S,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  <a:r>
              <a:rPr lang="en-US" altLang="en-US"/>
              <a:t>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>
                <a:sym typeface="Symbol" panose="05050102010706020507" pitchFamily="18" charset="2"/>
              </a:rPr>
              <a:t>(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t</a:t>
            </a:r>
            <a:r>
              <a:rPr lang="en-US" altLang="en-US">
                <a:sym typeface="Symbol" panose="05050102010706020507" pitchFamily="18" charset="2"/>
              </a:rPr>
              <a:t>, n+1,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#</a:t>
            </a:r>
            <a:r>
              <a:rPr lang="en-US" altLang="en-US">
                <a:sym typeface="Symbol" panose="05050102010706020507" pitchFamily="18" charset="2"/>
              </a:rPr>
              <a:t>S,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</a:p>
          <a:p>
            <a:pPr marL="1262063" lvl="1" indent="-449263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Đã đọc hết xâu vào và thu gọn về S.</a:t>
            </a:r>
          </a:p>
          <a:p>
            <a:pPr marL="1262063" lvl="1" indent="-449263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Tính phân tích phải bởi thực hiện h(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marL="1757363" lvl="2" eaLnBrk="1" hangingPunct="1">
              <a:lnSpc>
                <a:spcPct val="105000"/>
              </a:lnSpc>
            </a:pPr>
            <a:r>
              <a:rPr lang="en-US" altLang="en-US" sz="2800">
                <a:sym typeface="Symbol" panose="05050102010706020507" pitchFamily="18" charset="2"/>
              </a:rPr>
              <a:t>h(s) =  </a:t>
            </a:r>
          </a:p>
          <a:p>
            <a:pPr marL="1757363" lvl="2" eaLnBrk="1" hangingPunct="1">
              <a:lnSpc>
                <a:spcPct val="105000"/>
              </a:lnSpc>
            </a:pPr>
            <a:r>
              <a:rPr lang="en-US" altLang="en-US" sz="2800">
                <a:sym typeface="Symbol" panose="05050102010706020507" pitchFamily="18" charset="2"/>
              </a:rPr>
              <a:t>h(j) = j với j là số thứ tự sản xuất</a:t>
            </a:r>
          </a:p>
          <a:p>
            <a:pPr marL="0" indent="0" eaLnBrk="1" hangingPunct="1">
              <a:lnSpc>
                <a:spcPct val="1050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4. Quay lui trên xâu vào</a:t>
            </a:r>
          </a:p>
          <a:p>
            <a:pPr marL="0" indent="0" eaLnBrk="1" hangingPunct="1">
              <a:lnSpc>
                <a:spcPct val="105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</a:t>
            </a:r>
            <a:r>
              <a:rPr lang="en-US" altLang="en-US">
                <a:sym typeface="Symbol" panose="05050102010706020507" pitchFamily="18" charset="2"/>
              </a:rPr>
              <a:t>Nếu </a:t>
            </a:r>
            <a:r>
              <a:rPr lang="en-US" altLang="en-US">
                <a:solidFill>
                  <a:srgbClr val="3539EB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khác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#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chuyển trạng thái quay lui</a:t>
            </a:r>
          </a:p>
          <a:p>
            <a:pPr marL="0" indent="0"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(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q</a:t>
            </a:r>
            <a:r>
              <a:rPr lang="en-US" altLang="en-US">
                <a:sym typeface="Symbol" panose="05050102010706020507" pitchFamily="18" charset="2"/>
              </a:rPr>
              <a:t>, n+1,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  <a:r>
              <a:rPr lang="en-US" altLang="en-US"/>
              <a:t>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>
                <a:sym typeface="Symbol" panose="05050102010706020507" pitchFamily="18" charset="2"/>
              </a:rPr>
              <a:t>(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, n+1,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id="{034D04CA-0EA7-34C2-D93E-4B48365F8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6BA49E9D-D7D2-38B0-F428-6C81AAF823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6A8331-1FD9-4EF6-A521-5C80B6F367C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69FCFCFC-4D20-215F-0639-CAA5229E4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Bottom-Up quay lui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37E86C8-BB10-6483-7D6F-3AE50EAF6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791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3538" indent="-363538" eaLnBrk="1" hangingPunct="1">
              <a:lnSpc>
                <a:spcPct val="105000"/>
              </a:lnSpc>
            </a:pPr>
            <a:r>
              <a:rPr lang="en-US" altLang="en-US" b="1">
                <a:sym typeface="Symbol" panose="05050102010706020507" pitchFamily="18" charset="2"/>
              </a:rPr>
              <a:t>Quay lui 1</a:t>
            </a:r>
          </a:p>
          <a:p>
            <a:pPr marL="363538" indent="-363538"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	(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, i,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A, j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  <a:r>
              <a:rPr lang="en-US" altLang="en-US"/>
              <a:t>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>
                <a:sym typeface="Symbol" panose="05050102010706020507" pitchFamily="18" charset="2"/>
              </a:rPr>
              <a:t>(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q</a:t>
            </a:r>
            <a:r>
              <a:rPr lang="en-US" altLang="en-US">
                <a:sym typeface="Symbol" panose="05050102010706020507" pitchFamily="18" charset="2"/>
              </a:rPr>
              <a:t>, i,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’B, k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</a:p>
          <a:p>
            <a:pPr marL="987425" lvl="1" indent="-444500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Nếu A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là sản xuất thứ j của P</a:t>
            </a:r>
          </a:p>
          <a:p>
            <a:pPr marL="987425" lvl="1" indent="-444500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xâu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 ab </a:t>
            </a:r>
            <a:r>
              <a:rPr lang="en-US" altLang="en-US">
                <a:sym typeface="Symbol" panose="05050102010706020507" pitchFamily="18" charset="2"/>
              </a:rPr>
              <a:t>=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’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’ và B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’ là sản xuất thứ k của P</a:t>
            </a:r>
          </a:p>
          <a:p>
            <a:pPr marL="363538" indent="-363538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 b="1">
                <a:sym typeface="Symbol" panose="05050102010706020507" pitchFamily="18" charset="2"/>
              </a:rPr>
              <a:t>Quay lui 2</a:t>
            </a:r>
          </a:p>
          <a:p>
            <a:pPr marL="363538" indent="-363538"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	(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, n+1,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A, j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  <a:r>
              <a:rPr lang="en-US" altLang="en-US"/>
              <a:t>|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>
                <a:sym typeface="Symbol" panose="05050102010706020507" pitchFamily="18" charset="2"/>
              </a:rPr>
              <a:t>(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, n+1,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>
                <a:sym typeface="Symbol" panose="05050102010706020507" pitchFamily="18" charset="2"/>
              </a:rPr>
              <a:t>) </a:t>
            </a:r>
          </a:p>
          <a:p>
            <a:pPr marL="987425" lvl="1" indent="-444500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Nếu A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là sản xuất thứ j của P và không có lựa chọn nào khác của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altLang="en-US">
                <a:sym typeface="Symbol" panose="05050102010706020507" pitchFamily="18" charset="2"/>
              </a:rPr>
              <a:t> để thu gọn (</a:t>
            </a:r>
            <a:r>
              <a:rPr lang="en-US" altLang="en-US" i="1">
                <a:sym typeface="Symbol" panose="05050102010706020507" pitchFamily="18" charset="2"/>
              </a:rPr>
              <a:t>như quay lui 1</a:t>
            </a:r>
            <a:r>
              <a:rPr lang="en-US" altLang="en-US">
                <a:sym typeface="Symbol" panose="05050102010706020507" pitchFamily="18" charset="2"/>
              </a:rPr>
              <a:t>), thực hiện </a:t>
            </a:r>
            <a:r>
              <a:rPr lang="en-US" altLang="en-US" b="1" i="1">
                <a:solidFill>
                  <a:srgbClr val="3539EB"/>
                </a:solidFill>
                <a:sym typeface="Symbol" panose="05050102010706020507" pitchFamily="18" charset="2"/>
              </a:rPr>
              <a:t>tự hủy</a:t>
            </a:r>
            <a:r>
              <a:rPr lang="en-US" altLang="en-US">
                <a:sym typeface="Symbol" panose="05050102010706020507" pitchFamily="18" charset="2"/>
              </a:rPr>
              <a:t> thu gọn đã thực hiện </a:t>
            </a:r>
          </a:p>
          <a:p>
            <a:pPr marL="987425" lvl="1" indent="-444500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Nếu đã đọc đến cuối xâu  tiếp tục quay lui</a:t>
            </a:r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A5C51557-8CC9-DACF-DD87-3C586A8D1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>
            <a:extLst>
              <a:ext uri="{FF2B5EF4-FFF2-40B4-BE49-F238E27FC236}">
                <a16:creationId xmlns:a16="http://schemas.microsoft.com/office/drawing/2014/main" id="{A222FD76-ED6F-92E3-50CE-82B8AAB06B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9A372E-7FAB-42D6-80B6-653DE056B62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82D70F1C-5F03-169B-A626-9CD6E7DD4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phân tích Bottom-Up quay lui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83DCD74-00AA-AD19-15AC-BBA4233BA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838200"/>
            <a:ext cx="8821737" cy="57912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49263" indent="-449263" eaLnBrk="1" hangingPunct="1">
              <a:lnSpc>
                <a:spcPct val="105000"/>
              </a:lnSpc>
            </a:pPr>
            <a:r>
              <a:rPr lang="en-US" altLang="en-US" sz="2800" b="1">
                <a:sym typeface="Symbol" panose="05050102010706020507" pitchFamily="18" charset="2"/>
              </a:rPr>
              <a:t>Quay lui 3</a:t>
            </a:r>
          </a:p>
          <a:p>
            <a:pPr marL="449263" indent="-449263" eaLnBrk="1" hangingPunct="1">
              <a:lnSpc>
                <a:spcPct val="105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		(</a:t>
            </a:r>
            <a:r>
              <a:rPr lang="en-US" altLang="en-US" sz="2800" b="1">
                <a:solidFill>
                  <a:srgbClr val="3539EB"/>
                </a:solidFill>
                <a:sym typeface="Symbol" panose="05050102010706020507" pitchFamily="18" charset="2"/>
              </a:rPr>
              <a:t>b</a:t>
            </a:r>
            <a:r>
              <a:rPr lang="en-US" altLang="en-US" sz="2800">
                <a:sym typeface="Symbol" panose="05050102010706020507" pitchFamily="18" charset="2"/>
              </a:rPr>
              <a:t>, i, 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A, j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 sz="2800">
                <a:sym typeface="Symbol" panose="05050102010706020507" pitchFamily="18" charset="2"/>
              </a:rPr>
              <a:t>) </a:t>
            </a:r>
            <a:r>
              <a:rPr lang="en-US" altLang="en-US" sz="2800"/>
              <a:t>|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 sz="2800">
                <a:sym typeface="Symbol" panose="05050102010706020507" pitchFamily="18" charset="2"/>
              </a:rPr>
              <a:t>( </a:t>
            </a:r>
            <a:r>
              <a:rPr lang="en-US" altLang="en-US" sz="2800" b="1">
                <a:solidFill>
                  <a:srgbClr val="3539EB"/>
                </a:solidFill>
                <a:sym typeface="Symbol" panose="05050102010706020507" pitchFamily="18" charset="2"/>
              </a:rPr>
              <a:t>q</a:t>
            </a:r>
            <a:r>
              <a:rPr lang="en-US" altLang="en-US" sz="2800">
                <a:sym typeface="Symbol" panose="05050102010706020507" pitchFamily="18" charset="2"/>
              </a:rPr>
              <a:t>, i+1, 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altLang="en-US" sz="2800">
                <a:sym typeface="Symbol" panose="05050102010706020507" pitchFamily="18" charset="2"/>
              </a:rPr>
              <a:t>a</a:t>
            </a:r>
            <a:r>
              <a:rPr lang="en-US" altLang="en-US" sz="2800" baseline="-25000">
                <a:sym typeface="Symbol" panose="05050102010706020507" pitchFamily="18" charset="2"/>
              </a:rPr>
              <a:t>i</a:t>
            </a:r>
            <a:r>
              <a:rPr lang="en-US" altLang="en-US" sz="2800">
                <a:sym typeface="Symbol" panose="05050102010706020507" pitchFamily="18" charset="2"/>
              </a:rPr>
              <a:t>, s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 sz="2800">
                <a:sym typeface="Symbol" panose="05050102010706020507" pitchFamily="18" charset="2"/>
              </a:rPr>
              <a:t>)</a:t>
            </a:r>
          </a:p>
          <a:p>
            <a:pPr marL="1160463" lvl="1" indent="-449263" eaLnBrk="1" hangingPunct="1">
              <a:lnSpc>
                <a:spcPct val="105000"/>
              </a:lnSpc>
            </a:pPr>
            <a:r>
              <a:rPr lang="en-US" altLang="en-US" sz="2400">
                <a:sym typeface="Symbol" panose="05050102010706020507" pitchFamily="18" charset="2"/>
              </a:rPr>
              <a:t>Nếu i &lt; n+1, A</a:t>
            </a:r>
            <a:r>
              <a:rPr lang="en-US" altLang="en-US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 sz="2400">
                <a:sym typeface="Symbol" panose="05050102010706020507" pitchFamily="18" charset="2"/>
              </a:rPr>
              <a:t> là sản xuất thứ j của P và không còn lựa chọn nào khác của xâu </a:t>
            </a:r>
            <a:r>
              <a:rPr lang="en-US" altLang="en-US" sz="2400">
                <a:latin typeface="Symbol" panose="05050102010706020507" pitchFamily="18" charset="2"/>
                <a:sym typeface="Symbol" panose="05050102010706020507" pitchFamily="18" charset="2"/>
              </a:rPr>
              <a:t>ab </a:t>
            </a:r>
            <a:r>
              <a:rPr lang="en-US" altLang="en-US" sz="2400">
                <a:sym typeface="Symbol" panose="05050102010706020507" pitchFamily="18" charset="2"/>
              </a:rPr>
              <a:t>thì </a:t>
            </a:r>
          </a:p>
          <a:p>
            <a:pPr marL="1757363" lvl="2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Hủy thu gọn j (A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), </a:t>
            </a:r>
          </a:p>
          <a:p>
            <a:pPr marL="1757363" lvl="2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Gạt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a</a:t>
            </a:r>
            <a:r>
              <a:rPr lang="en-US" altLang="en-US" b="1" baseline="-25000">
                <a:solidFill>
                  <a:srgbClr val="3539EB"/>
                </a:solidFill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vào D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và đặt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vào D</a:t>
            </a:r>
            <a:r>
              <a:rPr lang="en-US" altLang="en-US" baseline="-25000">
                <a:sym typeface="Symbol" panose="05050102010706020507" pitchFamily="18" charset="2"/>
              </a:rPr>
              <a:t>2 </a:t>
            </a:r>
            <a:r>
              <a:rPr lang="en-US" altLang="en-US">
                <a:sym typeface="Symbol" panose="05050102010706020507" pitchFamily="18" charset="2"/>
              </a:rPr>
              <a:t>rồi tiếp tục thu gọn</a:t>
            </a:r>
            <a:endParaRPr lang="en-US" altLang="en-US" baseline="-25000">
              <a:sym typeface="Symbol" panose="05050102010706020507" pitchFamily="18" charset="2"/>
            </a:endParaRPr>
          </a:p>
          <a:p>
            <a:pPr marL="449263" indent="-449263" eaLnBrk="1" hangingPunct="1">
              <a:lnSpc>
                <a:spcPct val="105000"/>
              </a:lnSpc>
            </a:pPr>
            <a:r>
              <a:rPr lang="en-US" altLang="en-US" sz="2800" b="1">
                <a:sym typeface="Symbol" panose="05050102010706020507" pitchFamily="18" charset="2"/>
              </a:rPr>
              <a:t>Quay lui 4</a:t>
            </a:r>
          </a:p>
          <a:p>
            <a:pPr marL="449263" indent="-449263" eaLnBrk="1" hangingPunct="1">
              <a:lnSpc>
                <a:spcPct val="105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			(b, i, 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a, s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 sz="2800">
                <a:sym typeface="Symbol" panose="05050102010706020507" pitchFamily="18" charset="2"/>
              </a:rPr>
              <a:t>) </a:t>
            </a:r>
            <a:r>
              <a:rPr lang="en-US" altLang="en-US" sz="2800"/>
              <a:t>|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 </a:t>
            </a:r>
            <a:r>
              <a:rPr lang="en-US" altLang="en-US" sz="2800">
                <a:sym typeface="Symbol" panose="05050102010706020507" pitchFamily="18" charset="2"/>
              </a:rPr>
              <a:t>( b, i -1, 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, </a:t>
            </a:r>
            <a:r>
              <a:rPr lang="en-US" altLang="en-US" sz="28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en-US" sz="2800">
                <a:sym typeface="Symbol" panose="05050102010706020507" pitchFamily="18" charset="2"/>
              </a:rPr>
              <a:t>)</a:t>
            </a:r>
          </a:p>
          <a:p>
            <a:pPr marL="1160463" lvl="1" indent="-449263" eaLnBrk="1" hangingPunct="1">
              <a:lnSpc>
                <a:spcPct val="105000"/>
              </a:lnSpc>
            </a:pPr>
            <a:r>
              <a:rPr lang="en-US" altLang="en-US" sz="2400">
                <a:sym typeface="Symbol" panose="05050102010706020507" pitchFamily="18" charset="2"/>
              </a:rPr>
              <a:t>Nếu đỉnh D</a:t>
            </a:r>
            <a:r>
              <a:rPr lang="en-US" altLang="en-US" sz="2400" baseline="-25000">
                <a:sym typeface="Symbol" panose="05050102010706020507" pitchFamily="18" charset="2"/>
              </a:rPr>
              <a:t>2</a:t>
            </a:r>
            <a:r>
              <a:rPr lang="en-US" altLang="en-US" sz="2400">
                <a:sym typeface="Symbol" panose="05050102010706020507" pitchFamily="18" charset="2"/>
              </a:rPr>
              <a:t> là ký hiệu gạt và mọi lựa chọn ở vị trí i đã hết, hoạt động </a:t>
            </a:r>
            <a:r>
              <a:rPr lang="en-US" altLang="en-US" sz="2400" i="1">
                <a:solidFill>
                  <a:srgbClr val="3539EB"/>
                </a:solidFill>
                <a:sym typeface="Symbol" panose="05050102010706020507" pitchFamily="18" charset="2"/>
              </a:rPr>
              <a:t>gạt bị tự hủy</a:t>
            </a:r>
          </a:p>
          <a:p>
            <a:pPr marL="1757363" lvl="2" eaLnBrk="1" hangingPunct="1">
              <a:lnSpc>
                <a:spcPct val="105000"/>
              </a:lnSpc>
            </a:pPr>
            <a:r>
              <a:rPr lang="en-US" altLang="en-US" sz="2000">
                <a:sym typeface="Symbol" panose="05050102010706020507" pitchFamily="18" charset="2"/>
              </a:rPr>
              <a:t>Đầu đọc dịch trái 1 đơn vị</a:t>
            </a:r>
          </a:p>
          <a:p>
            <a:pPr marL="1757363" lvl="2" eaLnBrk="1" hangingPunct="1">
              <a:lnSpc>
                <a:spcPct val="105000"/>
              </a:lnSpc>
            </a:pPr>
            <a:r>
              <a:rPr lang="en-US" altLang="en-US" sz="2000">
                <a:sym typeface="Symbol" panose="05050102010706020507" pitchFamily="18" charset="2"/>
              </a:rPr>
              <a:t>Loại bỏ ký hiệu </a:t>
            </a:r>
            <a:r>
              <a:rPr lang="en-US" altLang="en-US" sz="2000" b="1">
                <a:solidFill>
                  <a:srgbClr val="3539EB"/>
                </a:solidFill>
                <a:sym typeface="Symbol" panose="05050102010706020507" pitchFamily="18" charset="2"/>
              </a:rPr>
              <a:t>a</a:t>
            </a:r>
            <a:r>
              <a:rPr lang="en-US" altLang="en-US" sz="2000">
                <a:sym typeface="Symbol" panose="05050102010706020507" pitchFamily="18" charset="2"/>
              </a:rPr>
              <a:t> khỏi D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và </a:t>
            </a:r>
            <a:r>
              <a:rPr lang="en-US" altLang="en-US" sz="2000" b="1">
                <a:solidFill>
                  <a:srgbClr val="3539EB"/>
                </a:solidFill>
                <a:sym typeface="Symbol" panose="05050102010706020507" pitchFamily="18" charset="2"/>
              </a:rPr>
              <a:t>s</a:t>
            </a:r>
            <a:r>
              <a:rPr lang="en-US" altLang="en-US" sz="2000">
                <a:sym typeface="Symbol" panose="05050102010706020507" pitchFamily="18" charset="2"/>
              </a:rPr>
              <a:t> khỏi D</a:t>
            </a:r>
            <a:r>
              <a:rPr lang="en-US" altLang="en-US" sz="2000" baseline="-25000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9941" name="Text Box 4">
            <a:extLst>
              <a:ext uri="{FF2B5EF4-FFF2-40B4-BE49-F238E27FC236}">
                <a16:creationId xmlns:a16="http://schemas.microsoft.com/office/drawing/2014/main" id="{554EF9BC-3C5C-3D01-9C29-B0160969F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D553F7CF-7E56-2D91-1608-2FE071E18C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E0BE25-F252-41B4-9ECC-6AC04B206B2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6151153-FEFB-A1D9-DA29-CD2C224AA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Bottom-Up quay lui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Ví dụ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69B4775-C2AD-1528-8299-44BF3FCF5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3429000" cy="2590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altLang="en-US" sz="2800"/>
              <a:t>Ví dụ văn phạm</a:t>
            </a:r>
          </a:p>
          <a:p>
            <a:pPr marL="533400" indent="-5334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S  aSbS</a:t>
            </a:r>
          </a:p>
          <a:p>
            <a:pPr marL="533400" indent="-5334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S  aS</a:t>
            </a:r>
          </a:p>
          <a:p>
            <a:pPr marL="533400" indent="-5334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S  c </a:t>
            </a:r>
          </a:p>
          <a:p>
            <a:pPr marL="533400" indent="-533400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xâu  = aacbc</a:t>
            </a:r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4BA9007D-30E2-3413-900D-39CCD7B8A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  <p:sp>
        <p:nvSpPr>
          <p:cNvPr id="1704965" name="Text Box 5">
            <a:extLst>
              <a:ext uri="{FF2B5EF4-FFF2-40B4-BE49-F238E27FC236}">
                <a16:creationId xmlns:a16="http://schemas.microsoft.com/office/drawing/2014/main" id="{50B4EFFD-2731-57B1-CBD7-8C0D6F319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879475"/>
            <a:ext cx="5638800" cy="593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(q,1, #, </a:t>
            </a:r>
            <a:r>
              <a:rPr lang="el-GR" altLang="en-US" sz="2400" b="0">
                <a:solidFill>
                  <a:schemeClr val="accent2"/>
                </a:solidFill>
                <a:cs typeface="Arial" panose="020B0604020202020204" pitchFamily="34" charset="0"/>
              </a:rPr>
              <a:t>ε</a:t>
            </a:r>
            <a:r>
              <a:rPr lang="en-US" altLang="en-US" sz="2400" b="0">
                <a:solidFill>
                  <a:schemeClr val="accent2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2, #a, s)        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3, #aa,ss)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4, #aac,sss) 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4, #aaS,3sss)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4, #aS,23sss)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4, #S,223sss)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5, #Sb,s223sss)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6, #Sbc,ss223sss)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6, #SbS,3ss223sss)</a:t>
            </a:r>
            <a:endParaRPr lang="en-US" altLang="en-US" sz="2400" b="0">
              <a:solidFill>
                <a:schemeClr val="bg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</a:t>
            </a:r>
            <a:r>
              <a:rPr lang="en-US" altLang="en-US" sz="2400">
                <a:solidFill>
                  <a:srgbClr val="3539EB"/>
                </a:solidFill>
              </a:rPr>
              <a:t>b</a:t>
            </a:r>
            <a:r>
              <a:rPr lang="en-US" altLang="en-US" sz="2400" b="0">
                <a:solidFill>
                  <a:schemeClr val="accent2"/>
                </a:solidFill>
              </a:rPr>
              <a:t>, 6, #SbS,3ss223sss)//</a:t>
            </a:r>
            <a:r>
              <a:rPr lang="en-US" altLang="en-US" sz="2400" b="0">
                <a:solidFill>
                  <a:schemeClr val="bg2"/>
                </a:solidFill>
              </a:rPr>
              <a:t>quay lui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(b, 6, #Sbc,ss223sss)   //</a:t>
            </a:r>
            <a:r>
              <a:rPr lang="en-US" altLang="en-US" sz="2400" b="0">
                <a:solidFill>
                  <a:schemeClr val="bg2"/>
                </a:solidFill>
              </a:rPr>
              <a:t>hủy thu gọn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(b, 5, #Sb,s223sss) 	//</a:t>
            </a:r>
            <a:r>
              <a:rPr lang="en-US" altLang="en-US" sz="2400" b="0">
                <a:solidFill>
                  <a:schemeClr val="bg2"/>
                </a:solidFill>
              </a:rPr>
              <a:t>gạt tự hủy</a:t>
            </a:r>
            <a:endParaRPr lang="en-US" altLang="en-US" sz="2400" b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(b, 4, #S,223sss) 	//</a:t>
            </a:r>
            <a:r>
              <a:rPr lang="en-US" altLang="en-US" sz="2400" b="0">
                <a:solidFill>
                  <a:schemeClr val="bg2"/>
                </a:solidFill>
              </a:rPr>
              <a:t>gạt tự hủy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</a:t>
            </a:r>
            <a:r>
              <a:rPr lang="en-US" altLang="en-US" sz="2400">
                <a:solidFill>
                  <a:srgbClr val="3539EB"/>
                </a:solidFill>
              </a:rPr>
              <a:t>q</a:t>
            </a:r>
            <a:r>
              <a:rPr lang="en-US" altLang="en-US" sz="2400" b="0">
                <a:solidFill>
                  <a:schemeClr val="accent2"/>
                </a:solidFill>
              </a:rPr>
              <a:t>, 5, #aSb,s23sss) 	//</a:t>
            </a:r>
            <a:r>
              <a:rPr lang="en-US" altLang="en-US" sz="2400" b="0">
                <a:solidFill>
                  <a:schemeClr val="bg2"/>
                </a:solidFill>
              </a:rPr>
              <a:t>quay lui 3</a:t>
            </a:r>
            <a:endParaRPr lang="en-US" altLang="en-US" sz="2400" b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6, #aSbc,ss23sss)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</a:rPr>
              <a:t>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 b="0">
                <a:solidFill>
                  <a:schemeClr val="accent2"/>
                </a:solidFill>
              </a:rPr>
              <a:t> (q, 6, #aSbS,3ss23sss)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|</a:t>
            </a:r>
            <a:r>
              <a:rPr lang="en-US" altLang="en-US" sz="2400" b="0">
                <a:solidFill>
                  <a:schemeClr val="accent2"/>
                </a:solidFill>
              </a:rPr>
              <a:t> (q, 6, #S,13ss23sss) |</a:t>
            </a:r>
            <a:r>
              <a:rPr lang="en-US" altLang="en-US" sz="2400" b="0">
                <a:solidFill>
                  <a:schemeClr val="accent2"/>
                </a:solidFill>
                <a:sym typeface="Symbol" panose="05050102010706020507" pitchFamily="18" charset="2"/>
              </a:rPr>
              <a:t></a:t>
            </a:r>
            <a:r>
              <a:rPr lang="en-US" altLang="en-US" sz="2400">
                <a:solidFill>
                  <a:schemeClr val="tx1"/>
                </a:solidFill>
              </a:rPr>
              <a:t> Chấp nhận</a:t>
            </a:r>
          </a:p>
        </p:txBody>
      </p:sp>
      <p:sp>
        <p:nvSpPr>
          <p:cNvPr id="1704966" name="Text Box 6">
            <a:extLst>
              <a:ext uri="{FF2B5EF4-FFF2-40B4-BE49-F238E27FC236}">
                <a16:creationId xmlns:a16="http://schemas.microsoft.com/office/drawing/2014/main" id="{4E71D347-D09E-D71A-A9A6-9B02FE4BC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86200"/>
            <a:ext cx="2743200" cy="128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800" b="0">
                <a:solidFill>
                  <a:schemeClr val="accent2"/>
                </a:solidFill>
              </a:rPr>
              <a:t>h(13ss23sss) =</a:t>
            </a: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800" b="0">
                <a:solidFill>
                  <a:schemeClr val="accent2"/>
                </a:solidFill>
              </a:rPr>
              <a:t>   1323</a:t>
            </a: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en-US" sz="2800" b="0">
              <a:solidFill>
                <a:srgbClr val="FA061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04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04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04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04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04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04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04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04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049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7049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049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7049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049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0496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0496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70496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70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496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>
            <a:extLst>
              <a:ext uri="{FF2B5EF4-FFF2-40B4-BE49-F238E27FC236}">
                <a16:creationId xmlns:a16="http://schemas.microsoft.com/office/drawing/2014/main" id="{AE981786-2FA0-24B9-A726-0499A93F6C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B907FD-4ECD-4747-BA1F-FC8413A85F5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E55C72C-FA94-65AC-175D-191AA50A8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quay lui với PL/0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699CFDEA-3AF5-BCE9-3A2C-09C446D68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371600"/>
            <a:ext cx="8624887" cy="3352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D2E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eaLnBrk="1" hangingPunct="1">
              <a:lnSpc>
                <a:spcPct val="120000"/>
              </a:lnSpc>
            </a:pPr>
            <a:r>
              <a:rPr lang="en-US" altLang="en-US"/>
              <a:t>Cài đặt phức tạp</a:t>
            </a:r>
          </a:p>
          <a:p>
            <a:pPr marL="406400" indent="-406400" eaLnBrk="1" hangingPunct="1">
              <a:lnSpc>
                <a:spcPct val="120000"/>
              </a:lnSpc>
            </a:pPr>
            <a:r>
              <a:rPr lang="en-US" altLang="en-US"/>
              <a:t>Chi phí thời gian quá lớn nếu chương trình phải phân tích gồm nhiều ký hiệu (từ tố)</a:t>
            </a:r>
          </a:p>
          <a:p>
            <a:pPr marL="406400" indent="-406400" eaLnBrk="1" hangingPunct="1">
              <a:lnSpc>
                <a:spcPct val="120000"/>
              </a:lnSpc>
            </a:pPr>
            <a:r>
              <a:rPr lang="en-US" altLang="en-US"/>
              <a:t>Không thể thông báo lỗi chi tiết</a:t>
            </a: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89479379-5F4A-8AEC-D4EC-E66C2DAF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Phương pháp phân tích quay lui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2D5FB423-D79E-B8A4-BBF2-06B7858774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868D1D-CE4C-4B64-8AF6-D05B63AA86E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59554" name="Rectangle 2">
            <a:extLst>
              <a:ext uri="{FF2B5EF4-FFF2-40B4-BE49-F238E27FC236}">
                <a16:creationId xmlns:a16="http://schemas.microsoft.com/office/drawing/2014/main" id="{980F253F-6EF7-5F23-AE6F-9E755C70F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CF32F2B-B219-5708-DD7F-54604AD22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3: Phân tích cú pháp</a:t>
            </a:r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4B33C4E3-F878-834B-171B-4C305DB1D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219200"/>
            <a:ext cx="8724900" cy="4648200"/>
          </a:xfrm>
        </p:spPr>
        <p:txBody>
          <a:bodyPr/>
          <a:lstStyle/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Phương pháp phân tích cú pháp quay lui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bảng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cú pháp tất định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Xây dựng bộ phân tích cú pháp cho PL/0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5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955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>
            <a:extLst>
              <a:ext uri="{FF2B5EF4-FFF2-40B4-BE49-F238E27FC236}">
                <a16:creationId xmlns:a16="http://schemas.microsoft.com/office/drawing/2014/main" id="{2A3F5CA5-E003-04B0-2895-6D3E2B3D38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D01135-845F-4432-B0CE-CF91D6DCD65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F211C27-E263-1780-EA34-948BB93B4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Giới thiệu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389EB9C-ADBC-B011-FEA1-41E615542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420100" cy="5334000"/>
          </a:xfrm>
        </p:spPr>
        <p:txBody>
          <a:bodyPr/>
          <a:lstStyle/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Áp dụng với lớp văn phạm phi ngữ cảnh</a:t>
            </a:r>
          </a:p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Chi phí: (</a:t>
            </a:r>
            <a:r>
              <a:rPr lang="en-US" altLang="en-US" i="1"/>
              <a:t>n :độ dài xâu cần phân tích</a:t>
            </a:r>
            <a:r>
              <a:rPr lang="en-US" altLang="en-US"/>
              <a:t>) </a:t>
            </a:r>
          </a:p>
          <a:p>
            <a:pPr marL="1160463" lvl="1" indent="-357188" eaLnBrk="1" hangingPunct="1">
              <a:lnSpc>
                <a:spcPct val="110000"/>
              </a:lnSpc>
            </a:pPr>
            <a:r>
              <a:rPr lang="en-US" altLang="en-US"/>
              <a:t>n</a:t>
            </a:r>
            <a:r>
              <a:rPr lang="en-US" altLang="en-US" baseline="30000"/>
              <a:t>3 </a:t>
            </a:r>
            <a:r>
              <a:rPr lang="en-US" altLang="en-US"/>
              <a:t>về thời gian </a:t>
            </a:r>
          </a:p>
          <a:p>
            <a:pPr marL="1160463" lvl="1" indent="-357188" eaLnBrk="1" hangingPunct="1">
              <a:lnSpc>
                <a:spcPct val="110000"/>
              </a:lnSpc>
            </a:pPr>
            <a:r>
              <a:rPr lang="en-US" altLang="en-US"/>
              <a:t>n</a:t>
            </a:r>
            <a:r>
              <a:rPr lang="en-US" altLang="en-US" baseline="30000"/>
              <a:t>2</a:t>
            </a:r>
            <a:r>
              <a:rPr lang="en-US" altLang="en-US"/>
              <a:t> về mặt bộ nhớ</a:t>
            </a:r>
          </a:p>
          <a:p>
            <a:pPr marL="1160463" lvl="1" indent="-357188" eaLnBrk="1" hangingPunct="1">
              <a:lnSpc>
                <a:spcPct val="110000"/>
              </a:lnSpc>
            </a:pPr>
            <a:r>
              <a:rPr lang="en-US" altLang="en-US"/>
              <a:t>Nếu văn phạm đơn nghĩa: n</a:t>
            </a:r>
            <a:r>
              <a:rPr lang="en-US" altLang="en-US" baseline="30000"/>
              <a:t>2 </a:t>
            </a:r>
            <a:r>
              <a:rPr lang="en-US" altLang="en-US"/>
              <a:t>về thời gian</a:t>
            </a:r>
          </a:p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Phương pháp</a:t>
            </a:r>
          </a:p>
          <a:p>
            <a:pPr marL="1160463" lvl="1" indent="-357188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Giải thuật CYK (Cocke-Younger-Kasami)</a:t>
            </a:r>
          </a:p>
          <a:p>
            <a:pPr marL="1160463" lvl="1" indent="-357188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Giải thuật Earley</a:t>
            </a:r>
          </a:p>
        </p:txBody>
      </p:sp>
      <p:sp>
        <p:nvSpPr>
          <p:cNvPr id="44037" name="Text Box 4">
            <a:extLst>
              <a:ext uri="{FF2B5EF4-FFF2-40B4-BE49-F238E27FC236}">
                <a16:creationId xmlns:a16="http://schemas.microsoft.com/office/drawing/2014/main" id="{41BFF613-95C0-18CA-5615-8CB059E40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2BE33349-23B6-DC00-745F-521AF9C39B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C47CA5-9D29-4FD9-8A53-75FD6E509A7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E72FD58-3BBF-0F72-402E-4CD447F01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89A61B9-1796-708F-0761-24884B448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715000"/>
          </a:xfrm>
        </p:spPr>
        <p:txBody>
          <a:bodyPr/>
          <a:lstStyle/>
          <a:p>
            <a:pPr marL="363538" indent="-363538" eaLnBrk="1" hangingPunct="1">
              <a:lnSpc>
                <a:spcPct val="110000"/>
              </a:lnSpc>
            </a:pPr>
            <a:r>
              <a:rPr lang="en-US" altLang="en-US"/>
              <a:t>Điều kiện áp dụng</a:t>
            </a:r>
          </a:p>
          <a:p>
            <a:pPr marL="1160463" lvl="1" indent="-444500" eaLnBrk="1" hangingPunct="1">
              <a:lnSpc>
                <a:spcPct val="110000"/>
              </a:lnSpc>
            </a:pPr>
            <a:r>
              <a:rPr lang="en-US" altLang="en-US"/>
              <a:t>Văn phạm phi ngữ cảnh ở dạng chuẩn Chomsky (</a:t>
            </a:r>
            <a:r>
              <a:rPr lang="en-US" altLang="en-US" b="1">
                <a:solidFill>
                  <a:schemeClr val="bg2"/>
                </a:solidFill>
              </a:rPr>
              <a:t>CNF</a:t>
            </a:r>
            <a:r>
              <a:rPr lang="en-US" altLang="en-US">
                <a:solidFill>
                  <a:schemeClr val="bg2"/>
                </a:solidFill>
              </a:rPr>
              <a:t>: Chomsky Normal Form</a:t>
            </a:r>
            <a:r>
              <a:rPr lang="en-US" altLang="en-US"/>
              <a:t>)</a:t>
            </a:r>
          </a:p>
          <a:p>
            <a:pPr marL="1160463" lvl="1" indent="-444500" eaLnBrk="1" hangingPunct="1">
              <a:lnSpc>
                <a:spcPct val="110000"/>
              </a:lnSpc>
            </a:pPr>
            <a:r>
              <a:rPr lang="en-US" altLang="en-US"/>
              <a:t>Văn phạm không chứa </a:t>
            </a:r>
            <a:r>
              <a:rPr lang="en-US" altLang="en-US">
                <a:sym typeface="Symbol" panose="05050102010706020507" pitchFamily="18" charset="2"/>
              </a:rPr>
              <a:t>-sản xuất (</a:t>
            </a:r>
            <a:r>
              <a:rPr lang="en-US" altLang="en-US" i="1">
                <a:solidFill>
                  <a:schemeClr val="bg2"/>
                </a:solidFill>
                <a:sym typeface="Symbol" panose="05050102010706020507" pitchFamily="18" charset="2"/>
              </a:rPr>
              <a:t>Sản xuất dạng A </a:t>
            </a:r>
            <a:r>
              <a:rPr lang="en-US" altLang="en-US">
                <a:sym typeface="Symbol" panose="05050102010706020507" pitchFamily="18" charset="2"/>
              </a:rPr>
              <a:t>) và sản xuất vô ích</a:t>
            </a:r>
          </a:p>
          <a:p>
            <a:pPr marL="363538" indent="-3635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Nguyên tắc</a:t>
            </a:r>
          </a:p>
          <a:p>
            <a:pPr marL="1160463" lvl="1" indent="-444500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Tạo bảng phân tích tam giác theo xâu cần phân tích</a:t>
            </a:r>
          </a:p>
        </p:txBody>
      </p:sp>
      <p:sp>
        <p:nvSpPr>
          <p:cNvPr id="45061" name="Text Box 4">
            <a:extLst>
              <a:ext uri="{FF2B5EF4-FFF2-40B4-BE49-F238E27FC236}">
                <a16:creationId xmlns:a16="http://schemas.microsoft.com/office/drawing/2014/main" id="{9C4EA498-521F-B26D-574F-8333B652E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4">
            <a:extLst>
              <a:ext uri="{FF2B5EF4-FFF2-40B4-BE49-F238E27FC236}">
                <a16:creationId xmlns:a16="http://schemas.microsoft.com/office/drawing/2014/main" id="{FD5C09EB-4BE6-A855-2F43-8B86106DE6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A4A0F1-FC2B-419A-BB08-32F6273FB99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7C76596-7AE0-892B-420B-5D091B972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Dạng chuẩn Chomsky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18967B3-1375-D6CA-5167-A74B71CA2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34400" cy="5638800"/>
          </a:xfrm>
        </p:spPr>
        <p:txBody>
          <a:bodyPr/>
          <a:lstStyle/>
          <a:p>
            <a:pPr marL="363538" indent="-363538" eaLnBrk="1" hangingPunct="1">
              <a:lnSpc>
                <a:spcPct val="110000"/>
              </a:lnSpc>
            </a:pPr>
            <a:r>
              <a:rPr lang="en-US" altLang="en-US"/>
              <a:t>Khái niệm</a:t>
            </a:r>
          </a:p>
          <a:p>
            <a:pPr marL="1074738" lvl="1" indent="-450850" eaLnBrk="1" hangingPunct="1">
              <a:lnSpc>
                <a:spcPct val="110000"/>
              </a:lnSpc>
            </a:pPr>
            <a:r>
              <a:rPr lang="en-US" altLang="en-US"/>
              <a:t>Văn phạm phi ngữ cảnh được gọi là ở dạng chuẩn Chomsky nếu mọi sản xuất đều có dạng A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BC hoặc A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a (</a:t>
            </a:r>
            <a:r>
              <a:rPr lang="en-US" altLang="en-US">
                <a:solidFill>
                  <a:schemeClr val="bg2"/>
                </a:solidFill>
              </a:rPr>
              <a:t>A,B,C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olidFill>
                  <a:schemeClr val="bg2"/>
                </a:solidFill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, a  V</a:t>
            </a:r>
            <a:r>
              <a:rPr lang="en-US" altLang="en-US" baseline="-25000">
                <a:solidFill>
                  <a:schemeClr val="bg2"/>
                </a:solidFill>
                <a:sym typeface="Symbol" panose="05050102010706020507" pitchFamily="18" charset="2"/>
              </a:rPr>
              <a:t>T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marL="363538" indent="-3635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Mọi văn phạm không chứa -sản xuất đều có thể chuyển về dạng chuẩn Chomsky</a:t>
            </a:r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8165C042-4C63-1A53-3D61-B76DC4082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2395F546-F7B6-62F9-566D-CF9D692C84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2C3F84-4E0F-4501-908A-5208AFF91C8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5EDE8FF-BDB0-E3B5-8E0A-05C6876D6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Chuyển VPPNC sang dạng chuẩn Chomsky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C1B03C79-45C0-C804-2806-6ADF9B7C3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852488"/>
            <a:ext cx="8610600" cy="5884862"/>
          </a:xfrm>
        </p:spPr>
        <p:txBody>
          <a:bodyPr/>
          <a:lstStyle/>
          <a:p>
            <a:pPr marL="363538" indent="-363538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Với mọi sản xuất dạng A</a:t>
            </a:r>
            <a:r>
              <a:rPr lang="en-US" altLang="en-US">
                <a:sym typeface="Symbol" panose="05050102010706020507" pitchFamily="18" charset="2"/>
              </a:rPr>
              <a:t>X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X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…X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(n2)</a:t>
            </a:r>
          </a:p>
          <a:p>
            <a:pPr marL="1074738" lvl="1" indent="-358775" eaLnBrk="1" hangingPunct="1">
              <a:lnSpc>
                <a:spcPct val="110000"/>
              </a:lnSpc>
              <a:buFontTx/>
              <a:buChar char="•"/>
            </a:pPr>
            <a:r>
              <a:rPr lang="en-US" altLang="en-US">
                <a:sym typeface="Symbol" panose="05050102010706020507" pitchFamily="18" charset="2"/>
              </a:rPr>
              <a:t>Nếu X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ym typeface="Symbol" panose="05050102010706020507" pitchFamily="18" charset="2"/>
              </a:rPr>
              <a:t>T </a:t>
            </a:r>
            <a:r>
              <a:rPr lang="en-US" altLang="en-US">
                <a:sym typeface="Symbol" panose="05050102010706020507" pitchFamily="18" charset="2"/>
              </a:rPr>
              <a:t>là ký hiệu kết thúc (X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= a)</a:t>
            </a:r>
          </a:p>
          <a:p>
            <a:pPr marL="1611313" lvl="2" indent="-2619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Thêm ký kiệu C</a:t>
            </a:r>
            <a:r>
              <a:rPr lang="en-US" altLang="en-US" baseline="-25000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V</a:t>
            </a:r>
            <a:r>
              <a:rPr lang="en-US" altLang="en-US" baseline="-25000">
                <a:sym typeface="Symbol" panose="05050102010706020507" pitchFamily="18" charset="2"/>
              </a:rPr>
              <a:t>N </a:t>
            </a:r>
            <a:r>
              <a:rPr lang="en-US" altLang="en-US">
                <a:sym typeface="Symbol" panose="05050102010706020507" pitchFamily="18" charset="2"/>
              </a:rPr>
              <a:t>và sản xuất C</a:t>
            </a:r>
            <a:r>
              <a:rPr lang="en-US" altLang="en-US" baseline="-25000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 a</a:t>
            </a:r>
          </a:p>
          <a:p>
            <a:pPr marL="1611313" lvl="2" indent="-2619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Thay X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bởi C</a:t>
            </a:r>
            <a:r>
              <a:rPr lang="en-US" altLang="en-US" baseline="-25000">
                <a:sym typeface="Symbol" panose="05050102010706020507" pitchFamily="18" charset="2"/>
              </a:rPr>
              <a:t>a </a:t>
            </a:r>
            <a:r>
              <a:rPr lang="en-US" altLang="en-US">
                <a:sym typeface="Symbol" panose="05050102010706020507" pitchFamily="18" charset="2"/>
              </a:rPr>
              <a:t> trong các sản xuất của văn phạm</a:t>
            </a:r>
          </a:p>
          <a:p>
            <a:pPr marL="363538" indent="-363538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Với mọi sản xuất dạng </a:t>
            </a:r>
            <a:r>
              <a:rPr lang="en-US" altLang="en-US"/>
              <a:t>A</a:t>
            </a:r>
            <a:r>
              <a:rPr lang="en-US" altLang="en-US">
                <a:sym typeface="Symbol" panose="05050102010706020507" pitchFamily="18" charset="2"/>
              </a:rPr>
              <a:t>B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B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…B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(n3)</a:t>
            </a:r>
          </a:p>
          <a:p>
            <a:pPr marL="1074738" lvl="1" indent="-358775" eaLnBrk="1" hangingPunct="1">
              <a:lnSpc>
                <a:spcPct val="110000"/>
              </a:lnSpc>
              <a:buFontTx/>
              <a:buChar char="•"/>
            </a:pPr>
            <a:r>
              <a:rPr lang="en-US" altLang="en-US">
                <a:sym typeface="Symbol" panose="05050102010706020507" pitchFamily="18" charset="2"/>
              </a:rPr>
              <a:t>Thêm các ký hiệu không kết thúc D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,D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,.., D</a:t>
            </a:r>
            <a:r>
              <a:rPr lang="en-US" altLang="en-US" baseline="-25000">
                <a:sym typeface="Symbol" panose="05050102010706020507" pitchFamily="18" charset="2"/>
              </a:rPr>
              <a:t>n-2</a:t>
            </a:r>
          </a:p>
          <a:p>
            <a:pPr marL="1074738" lvl="1" indent="-358775" eaLnBrk="1" hangingPunct="1">
              <a:lnSpc>
                <a:spcPct val="110000"/>
              </a:lnSpc>
              <a:buFontTx/>
              <a:buChar char="•"/>
            </a:pPr>
            <a:r>
              <a:rPr lang="en-US" altLang="en-US">
                <a:sym typeface="Symbol" panose="05050102010706020507" pitchFamily="18" charset="2"/>
              </a:rPr>
              <a:t>Thay sản xuất </a:t>
            </a:r>
            <a:r>
              <a:rPr lang="en-US" altLang="en-US"/>
              <a:t>A</a:t>
            </a:r>
            <a:r>
              <a:rPr lang="en-US" altLang="en-US">
                <a:sym typeface="Symbol" panose="05050102010706020507" pitchFamily="18" charset="2"/>
              </a:rPr>
              <a:t>B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B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…B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 bởi tập</a:t>
            </a:r>
          </a:p>
          <a:p>
            <a:pPr marL="1611313" lvl="2" indent="-261938" eaLnBrk="1" hangingPunct="1">
              <a:lnSpc>
                <a:spcPct val="110000"/>
              </a:lnSpc>
            </a:pPr>
            <a:r>
              <a:rPr lang="en-US" altLang="en-US"/>
              <a:t>A  </a:t>
            </a:r>
            <a:r>
              <a:rPr lang="en-US" altLang="en-US">
                <a:sym typeface="Symbol" panose="05050102010706020507" pitchFamily="18" charset="2"/>
              </a:rPr>
              <a:t>B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D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</a:p>
          <a:p>
            <a:pPr marL="1611313" lvl="2" indent="-2619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D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B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D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</a:p>
          <a:p>
            <a:pPr marL="1611313" lvl="2" indent="-261938" eaLnBrk="1" hangingPunct="1">
              <a:lnSpc>
                <a:spcPct val="110000"/>
              </a:lnSpc>
            </a:pPr>
            <a:endParaRPr lang="en-US" altLang="en-US">
              <a:sym typeface="Symbol" panose="05050102010706020507" pitchFamily="18" charset="2"/>
            </a:endParaRPr>
          </a:p>
          <a:p>
            <a:pPr marL="1611313" lvl="2" indent="-2619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D</a:t>
            </a:r>
            <a:r>
              <a:rPr lang="en-US" altLang="en-US" baseline="-25000">
                <a:sym typeface="Symbol" panose="05050102010706020507" pitchFamily="18" charset="2"/>
              </a:rPr>
              <a:t>n-2</a:t>
            </a:r>
            <a:r>
              <a:rPr lang="en-US" altLang="en-US">
                <a:sym typeface="Symbol" panose="05050102010706020507" pitchFamily="18" charset="2"/>
              </a:rPr>
              <a:t> B</a:t>
            </a:r>
            <a:r>
              <a:rPr lang="en-US" altLang="en-US" baseline="-25000">
                <a:sym typeface="Symbol" panose="05050102010706020507" pitchFamily="18" charset="2"/>
              </a:rPr>
              <a:t>n-1</a:t>
            </a:r>
            <a:r>
              <a:rPr lang="en-US" altLang="en-US">
                <a:sym typeface="Symbol" panose="05050102010706020507" pitchFamily="18" charset="2"/>
              </a:rPr>
              <a:t>B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1EF84979-7905-5643-DA3E-47DBB1484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>
            <a:extLst>
              <a:ext uri="{FF2B5EF4-FFF2-40B4-BE49-F238E27FC236}">
                <a16:creationId xmlns:a16="http://schemas.microsoft.com/office/drawing/2014/main" id="{CD234D7C-CAB1-5FC1-ABE2-EA9999B447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1B98F7-DFDE-4BE0-98FC-CBAF353B1F5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59A1D0D-5076-9302-D5D4-6C27AE1DE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Dạng chuẩn Chomsky</a:t>
            </a:r>
            <a:r>
              <a:rPr lang="en-US" altLang="en-US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06064C7A-8DA1-03CC-3BDC-F66A2D463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3200400" cy="20574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 bA | aB</a:t>
            </a:r>
          </a:p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anose="05050102010706020507" pitchFamily="18" charset="2"/>
              </a:rPr>
              <a:t> bAA | aS |a</a:t>
            </a:r>
          </a:p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B </a:t>
            </a:r>
            <a:r>
              <a:rPr lang="en-US" altLang="en-US">
                <a:sym typeface="Symbol" panose="05050102010706020507" pitchFamily="18" charset="2"/>
              </a:rPr>
              <a:t> aBB | bS |b</a:t>
            </a:r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ACBA2C43-B5CF-6029-12ED-A153FF4AF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685509" name="Rectangle 5">
            <a:extLst>
              <a:ext uri="{FF2B5EF4-FFF2-40B4-BE49-F238E27FC236}">
                <a16:creationId xmlns:a16="http://schemas.microsoft.com/office/drawing/2014/main" id="{8EEB18CD-33DD-4443-36D8-4EC059926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914400"/>
            <a:ext cx="5334000" cy="4724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155700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272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0"/>
              <a:t>Thêm 2 sản xuất</a:t>
            </a:r>
          </a:p>
          <a:p>
            <a:pPr eaLnBrk="1" hangingPunct="1"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 b  và 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 a </a:t>
            </a:r>
          </a:p>
          <a:p>
            <a:pPr eaLnBrk="1" hangingPunct="1">
              <a:buFontTx/>
              <a:buNone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 bA</a:t>
            </a:r>
            <a:r>
              <a:rPr lang="en-US" altLang="en-US" b="0">
                <a:sym typeface="Symbol" panose="05050102010706020507" pitchFamily="18" charset="2"/>
              </a:rPr>
              <a:t> :	 	</a:t>
            </a:r>
            <a:r>
              <a:rPr lang="en-US" altLang="en-US" b="0"/>
              <a:t>S </a:t>
            </a:r>
            <a:r>
              <a:rPr lang="en-US" altLang="en-US" b="0">
                <a:sym typeface="Symbol" panose="05050102010706020507" pitchFamily="18" charset="2"/>
              </a:rPr>
              <a:t> 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A </a:t>
            </a:r>
          </a:p>
          <a:p>
            <a:pPr eaLnBrk="1" hangingPunct="1">
              <a:buFontTx/>
              <a:buNone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 aB</a:t>
            </a:r>
            <a:r>
              <a:rPr lang="en-US" altLang="en-US" b="0">
                <a:sym typeface="Symbol" panose="05050102010706020507" pitchFamily="18" charset="2"/>
              </a:rPr>
              <a:t> : 	 	</a:t>
            </a:r>
            <a:r>
              <a:rPr lang="en-US" altLang="en-US" b="0"/>
              <a:t>S </a:t>
            </a:r>
            <a:r>
              <a:rPr lang="en-US" altLang="en-US" b="0">
                <a:sym typeface="Symbol" panose="05050102010706020507" pitchFamily="18" charset="2"/>
              </a:rPr>
              <a:t> 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B </a:t>
            </a:r>
          </a:p>
          <a:p>
            <a:pPr eaLnBrk="1" hangingPunct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anose="05050102010706020507" pitchFamily="18" charset="2"/>
              </a:rPr>
              <a:t> bAA</a:t>
            </a:r>
            <a:r>
              <a:rPr lang="en-US" altLang="en-US" b="0">
                <a:sym typeface="Symbol" panose="05050102010706020507" pitchFamily="18" charset="2"/>
              </a:rPr>
              <a:t> : 	</a:t>
            </a:r>
            <a:r>
              <a:rPr lang="en-US" altLang="en-US" b="0"/>
              <a:t>A </a:t>
            </a:r>
            <a:r>
              <a:rPr lang="en-US" altLang="en-US" b="0">
                <a:sym typeface="Symbol" panose="05050102010706020507" pitchFamily="18" charset="2"/>
              </a:rPr>
              <a:t> 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AA </a:t>
            </a:r>
          </a:p>
          <a:p>
            <a:pPr eaLnBrk="1" hangingPunct="1">
              <a:buFontTx/>
              <a:buNone/>
            </a:pPr>
            <a:r>
              <a:rPr lang="en-US" altLang="en-US"/>
              <a:t>A </a:t>
            </a:r>
            <a:r>
              <a:rPr lang="en-US" altLang="en-US">
                <a:sym typeface="Symbol" panose="05050102010706020507" pitchFamily="18" charset="2"/>
              </a:rPr>
              <a:t> aS</a:t>
            </a:r>
            <a:r>
              <a:rPr lang="en-US" altLang="en-US" b="0">
                <a:sym typeface="Symbol" panose="05050102010706020507" pitchFamily="18" charset="2"/>
              </a:rPr>
              <a:t> : 		</a:t>
            </a:r>
            <a:r>
              <a:rPr lang="en-US" altLang="en-US" b="0"/>
              <a:t>A </a:t>
            </a:r>
            <a:r>
              <a:rPr lang="en-US" altLang="en-US" b="0">
                <a:sym typeface="Symbol" panose="05050102010706020507" pitchFamily="18" charset="2"/>
              </a:rPr>
              <a:t> 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S</a:t>
            </a:r>
          </a:p>
          <a:p>
            <a:pPr eaLnBrk="1" hangingPunct="1">
              <a:buFontTx/>
              <a:buNone/>
            </a:pPr>
            <a:r>
              <a:rPr lang="en-US" altLang="en-US"/>
              <a:t>B </a:t>
            </a:r>
            <a:r>
              <a:rPr lang="en-US" altLang="en-US">
                <a:sym typeface="Symbol" panose="05050102010706020507" pitchFamily="18" charset="2"/>
              </a:rPr>
              <a:t> aBB</a:t>
            </a:r>
            <a:r>
              <a:rPr lang="en-US" altLang="en-US" b="0">
                <a:sym typeface="Symbol" panose="05050102010706020507" pitchFamily="18" charset="2"/>
              </a:rPr>
              <a:t> : 	</a:t>
            </a:r>
            <a:r>
              <a:rPr lang="en-US" altLang="en-US" b="0"/>
              <a:t>B </a:t>
            </a:r>
            <a:r>
              <a:rPr lang="en-US" altLang="en-US" b="0">
                <a:sym typeface="Symbol" panose="05050102010706020507" pitchFamily="18" charset="2"/>
              </a:rPr>
              <a:t> 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BB </a:t>
            </a:r>
          </a:p>
          <a:p>
            <a:pPr eaLnBrk="1" hangingPunct="1"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</a:t>
            </a:r>
            <a:r>
              <a:rPr lang="en-US" altLang="en-US"/>
              <a:t>B </a:t>
            </a:r>
            <a:r>
              <a:rPr lang="en-US" altLang="en-US">
                <a:sym typeface="Symbol" panose="05050102010706020507" pitchFamily="18" charset="2"/>
              </a:rPr>
              <a:t> bS</a:t>
            </a:r>
            <a:r>
              <a:rPr lang="en-US" altLang="en-US" b="0">
                <a:sym typeface="Symbol" panose="05050102010706020507" pitchFamily="18" charset="2"/>
              </a:rPr>
              <a:t>  : 	</a:t>
            </a:r>
            <a:r>
              <a:rPr lang="en-US" altLang="en-US" b="0"/>
              <a:t>B </a:t>
            </a:r>
            <a:r>
              <a:rPr lang="en-US" altLang="en-US" b="0">
                <a:sym typeface="Symbol" panose="05050102010706020507" pitchFamily="18" charset="2"/>
              </a:rPr>
              <a:t> 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S </a:t>
            </a:r>
          </a:p>
        </p:txBody>
      </p:sp>
      <p:sp>
        <p:nvSpPr>
          <p:cNvPr id="1685510" name="Rectangle 6">
            <a:extLst>
              <a:ext uri="{FF2B5EF4-FFF2-40B4-BE49-F238E27FC236}">
                <a16:creationId xmlns:a16="http://schemas.microsoft.com/office/drawing/2014/main" id="{12888663-3609-0366-E41C-5EC40A5F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24200"/>
            <a:ext cx="3200400" cy="3429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155700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272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b="0"/>
              <a:t>S</a:t>
            </a:r>
            <a:r>
              <a:rPr lang="en-US" altLang="en-US" b="0">
                <a:sym typeface="Symbol" panose="05050102010706020507" pitchFamily="18" charset="2"/>
              </a:rPr>
              <a:t>C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A | 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B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b="0"/>
              <a:t>A</a:t>
            </a:r>
            <a:r>
              <a:rPr lang="en-US" altLang="en-US" b="0">
                <a:sym typeface="Symbol" panose="05050102010706020507" pitchFamily="18" charset="2"/>
              </a:rPr>
              <a:t>C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D</a:t>
            </a:r>
            <a:r>
              <a:rPr lang="en-US" altLang="en-US" b="0" baseline="-25000">
                <a:sym typeface="Symbol" panose="05050102010706020507" pitchFamily="18" charset="2"/>
              </a:rPr>
              <a:t>1</a:t>
            </a:r>
            <a:r>
              <a:rPr lang="en-US" altLang="en-US" b="0">
                <a:sym typeface="Symbol" panose="05050102010706020507" pitchFamily="18" charset="2"/>
              </a:rPr>
              <a:t> |C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S |a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b="0"/>
              <a:t>B</a:t>
            </a:r>
            <a:r>
              <a:rPr lang="en-US" altLang="en-US" b="0">
                <a:sym typeface="Symbol" panose="05050102010706020507" pitchFamily="18" charset="2"/>
              </a:rPr>
              <a:t>C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D</a:t>
            </a:r>
            <a:r>
              <a:rPr lang="en-US" altLang="en-US" b="0" baseline="-25000">
                <a:sym typeface="Symbol" panose="05050102010706020507" pitchFamily="18" charset="2"/>
              </a:rPr>
              <a:t>2</a:t>
            </a:r>
            <a:r>
              <a:rPr lang="en-US" altLang="en-US" b="0">
                <a:sym typeface="Symbol" panose="05050102010706020507" pitchFamily="18" charset="2"/>
              </a:rPr>
              <a:t>| 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S |b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D</a:t>
            </a:r>
            <a:r>
              <a:rPr lang="en-US" altLang="en-US" b="0" baseline="-25000">
                <a:sym typeface="Symbol" panose="05050102010706020507" pitchFamily="18" charset="2"/>
              </a:rPr>
              <a:t>1</a:t>
            </a:r>
            <a:r>
              <a:rPr lang="en-US" altLang="en-US" b="0">
                <a:sym typeface="Symbol" panose="05050102010706020507" pitchFamily="18" charset="2"/>
              </a:rPr>
              <a:t>AA   C</a:t>
            </a:r>
            <a:r>
              <a:rPr lang="en-US" altLang="en-US" b="0" baseline="-25000">
                <a:sym typeface="Symbol" panose="05050102010706020507" pitchFamily="18" charset="2"/>
              </a:rPr>
              <a:t>a</a:t>
            </a:r>
            <a:r>
              <a:rPr lang="en-US" altLang="en-US" b="0">
                <a:sym typeface="Symbol" panose="05050102010706020507" pitchFamily="18" charset="2"/>
              </a:rPr>
              <a:t> a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D</a:t>
            </a:r>
            <a:r>
              <a:rPr lang="en-US" altLang="en-US" b="0" baseline="-25000">
                <a:sym typeface="Symbol" panose="05050102010706020507" pitchFamily="18" charset="2"/>
              </a:rPr>
              <a:t>2 </a:t>
            </a:r>
            <a:r>
              <a:rPr lang="en-US" altLang="en-US" b="0">
                <a:sym typeface="Symbol" panose="05050102010706020507" pitchFamily="18" charset="2"/>
              </a:rPr>
              <a:t>BB   C</a:t>
            </a:r>
            <a:r>
              <a:rPr lang="en-US" altLang="en-US" b="0" baseline="-25000">
                <a:sym typeface="Symbol" panose="05050102010706020507" pitchFamily="18" charset="2"/>
              </a:rPr>
              <a:t>b</a:t>
            </a:r>
            <a:r>
              <a:rPr lang="en-US" altLang="en-US" b="0">
                <a:sym typeface="Symbol" panose="05050102010706020507" pitchFamily="18" charset="2"/>
              </a:rPr>
              <a:t>b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5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5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5509" grpId="0" animBg="1"/>
      <p:bldP spid="16855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4">
            <a:extLst>
              <a:ext uri="{FF2B5EF4-FFF2-40B4-BE49-F238E27FC236}">
                <a16:creationId xmlns:a16="http://schemas.microsoft.com/office/drawing/2014/main" id="{146F816E-4954-BE22-0D60-F30EBA766D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6AB01D-4837-43FA-8DA0-329EA200515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2AE9C58-6841-AFB8-9E52-4FA45581F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Mô tả bảng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66AD6D4-9497-5F44-1345-514C17D7A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2514600"/>
          </a:xfrm>
        </p:spPr>
        <p:txBody>
          <a:bodyPr/>
          <a:lstStyle/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Bảng dữ liệu T dạng ma trận tam giác dưới, phụ thuộc xâu cần phân tích</a:t>
            </a:r>
          </a:p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Các phần tử là T</a:t>
            </a:r>
            <a:r>
              <a:rPr lang="en-US" altLang="en-US" baseline="-25000"/>
              <a:t>ij</a:t>
            </a:r>
            <a:r>
              <a:rPr lang="en-US" altLang="en-US"/>
              <a:t>, i chỉ số cột, j chỉ số hàng</a:t>
            </a:r>
          </a:p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Mỗi phần tử T</a:t>
            </a:r>
            <a:r>
              <a:rPr lang="en-US" altLang="en-US" baseline="-25000"/>
              <a:t>ij</a:t>
            </a:r>
            <a:r>
              <a:rPr lang="en-US" altLang="en-US"/>
              <a:t> chứa tập con V</a:t>
            </a:r>
            <a:r>
              <a:rPr lang="en-US" altLang="en-US" baseline="-25000"/>
              <a:t>N</a:t>
            </a:r>
            <a:endParaRPr lang="en-US" altLang="en-US"/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23343798-EF8E-2FF3-04F8-E67828027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49158" name="Rectangle 5">
            <a:extLst>
              <a:ext uri="{FF2B5EF4-FFF2-40B4-BE49-F238E27FC236}">
                <a16:creationId xmlns:a16="http://schemas.microsoft.com/office/drawing/2014/main" id="{42FB0ACC-F45D-8D00-3FF8-56EB6E848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57600"/>
            <a:ext cx="5334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9263" indent="-449263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249363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88595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446338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3006725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4639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9211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3783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8355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b="0"/>
              <a:t>A</a:t>
            </a:r>
            <a:r>
              <a:rPr lang="en-US" altLang="en-US" b="0">
                <a:sym typeface="Symbol" panose="05050102010706020507" pitchFamily="18" charset="2"/>
              </a:rPr>
              <a:t>T</a:t>
            </a:r>
            <a:r>
              <a:rPr lang="en-US" altLang="en-US" b="0" baseline="-25000">
                <a:sym typeface="Symbol" panose="05050102010706020507" pitchFamily="18" charset="2"/>
              </a:rPr>
              <a:t>ij </a:t>
            </a:r>
            <a:r>
              <a:rPr lang="en-US" altLang="en-US" b="0">
                <a:sym typeface="Symbol" panose="05050102010706020507" pitchFamily="18" charset="2"/>
              </a:rPr>
              <a:t> A</a:t>
            </a:r>
            <a:r>
              <a:rPr lang="en-US" altLang="en-US" b="0" baseline="30000">
                <a:sym typeface="Symbol" panose="05050102010706020507" pitchFamily="18" charset="2"/>
              </a:rPr>
              <a:t>+</a:t>
            </a:r>
            <a:r>
              <a:rPr lang="en-US" altLang="en-US" b="0">
                <a:sym typeface="Symbol" panose="05050102010706020507" pitchFamily="18" charset="2"/>
              </a:rPr>
              <a:t>a</a:t>
            </a:r>
            <a:r>
              <a:rPr lang="en-US" altLang="en-US" b="0" baseline="-25000">
                <a:sym typeface="Symbol" panose="05050102010706020507" pitchFamily="18" charset="2"/>
              </a:rPr>
              <a:t>i</a:t>
            </a:r>
            <a:r>
              <a:rPr lang="en-US" altLang="en-US" b="0">
                <a:sym typeface="Symbol" panose="05050102010706020507" pitchFamily="18" charset="2"/>
              </a:rPr>
              <a:t>a</a:t>
            </a:r>
            <a:r>
              <a:rPr lang="en-US" altLang="en-US" b="0" baseline="-25000">
                <a:sym typeface="Symbol" panose="05050102010706020507" pitchFamily="18" charset="2"/>
              </a:rPr>
              <a:t>i+1</a:t>
            </a:r>
            <a:r>
              <a:rPr lang="en-US" altLang="en-US" b="0">
                <a:sym typeface="Symbol" panose="05050102010706020507" pitchFamily="18" charset="2"/>
              </a:rPr>
              <a:t>..a</a:t>
            </a:r>
            <a:r>
              <a:rPr lang="en-US" altLang="en-US" b="0" baseline="-25000">
                <a:sym typeface="Symbol" panose="05050102010706020507" pitchFamily="18" charset="2"/>
              </a:rPr>
              <a:t>i+j-1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0">
                <a:sym typeface="Symbol" panose="05050102010706020507" pitchFamily="18" charset="2"/>
              </a:rPr>
              <a:t>j ký hiệu kể từ vị trí i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0">
                <a:sym typeface="Symbol" panose="05050102010706020507" pitchFamily="18" charset="2"/>
              </a:rPr>
              <a:t>Nếu S T</a:t>
            </a:r>
            <a:r>
              <a:rPr lang="en-US" altLang="en-US" b="0" baseline="-25000">
                <a:sym typeface="Symbol" panose="05050102010706020507" pitchFamily="18" charset="2"/>
              </a:rPr>
              <a:t>1n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0">
                <a:sym typeface="Symbol" panose="05050102010706020507" pitchFamily="18" charset="2"/>
              </a:rPr>
              <a:t>S </a:t>
            </a:r>
            <a:r>
              <a:rPr lang="en-US" altLang="en-US" b="0" baseline="30000">
                <a:sym typeface="Symbol" panose="05050102010706020507" pitchFamily="18" charset="2"/>
              </a:rPr>
              <a:t>+</a:t>
            </a:r>
            <a:r>
              <a:rPr lang="en-US" altLang="en-US" b="0">
                <a:sym typeface="Symbol" panose="05050102010706020507" pitchFamily="18" charset="2"/>
              </a:rPr>
              <a:t>a</a:t>
            </a:r>
            <a:r>
              <a:rPr lang="en-US" altLang="en-US" b="0" baseline="-25000">
                <a:sym typeface="Symbol" panose="05050102010706020507" pitchFamily="18" charset="2"/>
              </a:rPr>
              <a:t>1</a:t>
            </a:r>
            <a:r>
              <a:rPr lang="en-US" altLang="en-US" b="0">
                <a:sym typeface="Symbol" panose="05050102010706020507" pitchFamily="18" charset="2"/>
              </a:rPr>
              <a:t>a</a:t>
            </a:r>
            <a:r>
              <a:rPr lang="en-US" altLang="en-US" b="0" baseline="-25000">
                <a:sym typeface="Symbol" panose="05050102010706020507" pitchFamily="18" charset="2"/>
              </a:rPr>
              <a:t>2</a:t>
            </a:r>
            <a:r>
              <a:rPr lang="en-US" altLang="en-US" b="0">
                <a:sym typeface="Symbol" panose="05050102010706020507" pitchFamily="18" charset="2"/>
              </a:rPr>
              <a:t>..a</a:t>
            </a:r>
            <a:r>
              <a:rPr lang="en-US" altLang="en-US" b="0" baseline="-25000">
                <a:sym typeface="Symbol" panose="05050102010706020507" pitchFamily="18" charset="2"/>
              </a:rPr>
              <a:t>1+n-1</a:t>
            </a:r>
            <a:r>
              <a:rPr lang="en-US" altLang="en-US" b="0">
                <a:sym typeface="Symbol" panose="05050102010706020507" pitchFamily="18" charset="2"/>
              </a:rPr>
              <a:t> = 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0">
                <a:sym typeface="Symbol" panose="05050102010706020507" pitchFamily="18" charset="2"/>
              </a:rPr>
              <a:t>Vậy  L(G)</a:t>
            </a:r>
            <a:r>
              <a:rPr lang="en-US" altLang="en-US" b="0" baseline="-25000">
                <a:sym typeface="Symbol" panose="05050102010706020507" pitchFamily="18" charset="2"/>
              </a:rPr>
              <a:t> </a:t>
            </a:r>
            <a:r>
              <a:rPr lang="en-US" altLang="en-US" b="0">
                <a:sym typeface="Symbol" panose="05050102010706020507" pitchFamily="18" charset="2"/>
              </a:rPr>
              <a:t> S T</a:t>
            </a:r>
            <a:r>
              <a:rPr lang="en-US" altLang="en-US" b="0" baseline="-25000">
                <a:sym typeface="Symbol" panose="05050102010706020507" pitchFamily="18" charset="2"/>
              </a:rPr>
              <a:t>1n </a:t>
            </a:r>
          </a:p>
        </p:txBody>
      </p:sp>
      <p:grpSp>
        <p:nvGrpSpPr>
          <p:cNvPr id="49159" name="Group 20">
            <a:extLst>
              <a:ext uri="{FF2B5EF4-FFF2-40B4-BE49-F238E27FC236}">
                <a16:creationId xmlns:a16="http://schemas.microsoft.com/office/drawing/2014/main" id="{5BE2BB6F-3618-4CCC-BE24-E1651A7ECF03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810000"/>
            <a:ext cx="3352800" cy="2590800"/>
            <a:chOff x="3552" y="2400"/>
            <a:chExt cx="2112" cy="1632"/>
          </a:xfrm>
        </p:grpSpPr>
        <p:sp>
          <p:nvSpPr>
            <p:cNvPr id="49160" name="Line 6">
              <a:extLst>
                <a:ext uri="{FF2B5EF4-FFF2-40B4-BE49-F238E27FC236}">
                  <a16:creationId xmlns:a16="http://schemas.microsoft.com/office/drawing/2014/main" id="{79240299-5182-E321-B74E-5392D3A62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400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1" name="Line 7">
              <a:extLst>
                <a:ext uri="{FF2B5EF4-FFF2-40B4-BE49-F238E27FC236}">
                  <a16:creationId xmlns:a16="http://schemas.microsoft.com/office/drawing/2014/main" id="{1CC44D8F-150B-E999-9A37-72BF38579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4032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2" name="Rectangle 8">
              <a:extLst>
                <a:ext uri="{FF2B5EF4-FFF2-40B4-BE49-F238E27FC236}">
                  <a16:creationId xmlns:a16="http://schemas.microsoft.com/office/drawing/2014/main" id="{A87AFDC3-ED31-2851-9F49-B333977BD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744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63" name="Rectangle 9">
              <a:extLst>
                <a:ext uri="{FF2B5EF4-FFF2-40B4-BE49-F238E27FC236}">
                  <a16:creationId xmlns:a16="http://schemas.microsoft.com/office/drawing/2014/main" id="{A95D5890-B49A-8B1E-2662-6DE807444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744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64" name="Rectangle 10">
              <a:extLst>
                <a:ext uri="{FF2B5EF4-FFF2-40B4-BE49-F238E27FC236}">
                  <a16:creationId xmlns:a16="http://schemas.microsoft.com/office/drawing/2014/main" id="{C89C8578-1EBE-EE28-3379-CAEB1EB1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56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65" name="Rectangle 11">
              <a:extLst>
                <a:ext uri="{FF2B5EF4-FFF2-40B4-BE49-F238E27FC236}">
                  <a16:creationId xmlns:a16="http://schemas.microsoft.com/office/drawing/2014/main" id="{12F421D8-768F-D02B-9DDD-964FF4533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168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66" name="Rectangle 12">
              <a:extLst>
                <a:ext uri="{FF2B5EF4-FFF2-40B4-BE49-F238E27FC236}">
                  <a16:creationId xmlns:a16="http://schemas.microsoft.com/office/drawing/2014/main" id="{D5CD5B48-4BEE-65AC-C67F-E21832083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744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67" name="Rectangle 13">
              <a:extLst>
                <a:ext uri="{FF2B5EF4-FFF2-40B4-BE49-F238E27FC236}">
                  <a16:creationId xmlns:a16="http://schemas.microsoft.com/office/drawing/2014/main" id="{5ACCB5D3-D6C7-7CDB-3A71-CBD07A4B3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744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68" name="Rectangle 14">
              <a:extLst>
                <a:ext uri="{FF2B5EF4-FFF2-40B4-BE49-F238E27FC236}">
                  <a16:creationId xmlns:a16="http://schemas.microsoft.com/office/drawing/2014/main" id="{87FB8CCA-66F0-08D1-A80A-4D493411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456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69" name="Rectangle 15">
              <a:extLst>
                <a:ext uri="{FF2B5EF4-FFF2-40B4-BE49-F238E27FC236}">
                  <a16:creationId xmlns:a16="http://schemas.microsoft.com/office/drawing/2014/main" id="{CF0EF5DD-7902-5AC8-48C2-0550F73E6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456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70" name="Rectangle 16">
              <a:extLst>
                <a:ext uri="{FF2B5EF4-FFF2-40B4-BE49-F238E27FC236}">
                  <a16:creationId xmlns:a16="http://schemas.microsoft.com/office/drawing/2014/main" id="{7875A036-CCFB-5B7D-55EA-5636C7E49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168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71" name="Rectangle 17">
              <a:extLst>
                <a:ext uri="{FF2B5EF4-FFF2-40B4-BE49-F238E27FC236}">
                  <a16:creationId xmlns:a16="http://schemas.microsoft.com/office/drawing/2014/main" id="{C25BBE58-7C12-61BD-BA22-42753ECF8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880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172" name="Text Box 18">
              <a:extLst>
                <a:ext uri="{FF2B5EF4-FFF2-40B4-BE49-F238E27FC236}">
                  <a16:creationId xmlns:a16="http://schemas.microsoft.com/office/drawing/2014/main" id="{C495B17D-E466-31D0-EA48-EE484E821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4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49173" name="Text Box 19">
              <a:extLst>
                <a:ext uri="{FF2B5EF4-FFF2-40B4-BE49-F238E27FC236}">
                  <a16:creationId xmlns:a16="http://schemas.microsoft.com/office/drawing/2014/main" id="{DF0A6F3D-C1C1-9B8B-4E73-AAAF893CE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374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i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4">
            <a:extLst>
              <a:ext uri="{FF2B5EF4-FFF2-40B4-BE49-F238E27FC236}">
                <a16:creationId xmlns:a16="http://schemas.microsoft.com/office/drawing/2014/main" id="{206EA450-D758-CA5B-E22D-82FE42B29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1D63E2-6234-4548-B5E0-6DB51CA916C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AB96A40-D08B-D390-7C2D-51E71FEBF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Xây dựng bảng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B6275672-3863-FBA4-127E-C2D4F9CA2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686800" cy="5791200"/>
          </a:xfrm>
        </p:spPr>
        <p:txBody>
          <a:bodyPr/>
          <a:lstStyle/>
          <a:p>
            <a:pPr marL="536575" indent="-536575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Xây dựng các phần tử cho hàng thứ nhất</a:t>
            </a:r>
          </a:p>
          <a:p>
            <a:pPr marL="1249363" lvl="1" indent="-5334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T</a:t>
            </a:r>
            <a:r>
              <a:rPr lang="en-US" altLang="en-US" baseline="-25000"/>
              <a:t>i1</a:t>
            </a:r>
            <a:r>
              <a:rPr lang="en-US" altLang="en-US"/>
              <a:t> = {A|A</a:t>
            </a:r>
            <a:r>
              <a:rPr lang="en-US" altLang="en-US"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và Aa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/>
              <a:t>}</a:t>
            </a:r>
          </a:p>
          <a:p>
            <a:pPr marL="536575" indent="-536575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Giả thiết đã xây dựng xong cho j-1 hàng</a:t>
            </a:r>
          </a:p>
          <a:p>
            <a:pPr marL="1249363" lvl="1" indent="-5334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T</a:t>
            </a:r>
            <a:r>
              <a:rPr lang="en-US" altLang="en-US" baseline="-25000"/>
              <a:t>ij</a:t>
            </a:r>
            <a:r>
              <a:rPr lang="en-US" altLang="en-US"/>
              <a:t> = {A | </a:t>
            </a:r>
            <a:r>
              <a:rPr lang="en-US" altLang="en-US">
                <a:sym typeface="Symbol" panose="05050102010706020507" pitchFamily="18" charset="2"/>
              </a:rPr>
              <a:t> k 1k&lt;j  thỏa mãn</a:t>
            </a:r>
          </a:p>
          <a:p>
            <a:pPr marL="1249363" lvl="1" indent="-5334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 BT</a:t>
            </a:r>
            <a:r>
              <a:rPr lang="en-US" altLang="en-US" baseline="-25000">
                <a:sym typeface="Symbol" panose="05050102010706020507" pitchFamily="18" charset="2"/>
              </a:rPr>
              <a:t>ik</a:t>
            </a:r>
            <a:r>
              <a:rPr lang="en-US" altLang="en-US">
                <a:sym typeface="Symbol" panose="05050102010706020507" pitchFamily="18" charset="2"/>
              </a:rPr>
              <a:t>, CT</a:t>
            </a:r>
            <a:r>
              <a:rPr lang="en-US" altLang="en-US" baseline="-25000">
                <a:sym typeface="Symbol" panose="05050102010706020507" pitchFamily="18" charset="2"/>
              </a:rPr>
              <a:t>i+k,j-k</a:t>
            </a:r>
            <a:r>
              <a:rPr lang="en-US" altLang="en-US">
                <a:sym typeface="Symbol" panose="05050102010706020507" pitchFamily="18" charset="2"/>
              </a:rPr>
              <a:t> ABC P </a:t>
            </a:r>
            <a:r>
              <a:rPr lang="en-US" altLang="en-US"/>
              <a:t>}</a:t>
            </a:r>
          </a:p>
          <a:p>
            <a:pPr marL="1249363" lvl="1" indent="-5334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Rõ ràng: A </a:t>
            </a:r>
            <a:r>
              <a:rPr lang="en-US" altLang="en-US">
                <a:sym typeface="Symbol" panose="05050102010706020507" pitchFamily="18" charset="2"/>
              </a:rPr>
              <a:t>T</a:t>
            </a:r>
            <a:r>
              <a:rPr lang="en-US" altLang="en-US" baseline="-25000">
                <a:sym typeface="Symbol" panose="05050102010706020507" pitchFamily="18" charset="2"/>
              </a:rPr>
              <a:t>ij</a:t>
            </a:r>
            <a:r>
              <a:rPr lang="en-US" altLang="en-US">
                <a:sym typeface="Symbol" panose="05050102010706020507" pitchFamily="18" charset="2"/>
              </a:rPr>
              <a:t> thì</a:t>
            </a:r>
          </a:p>
          <a:p>
            <a:pPr marL="1249363" lvl="1" indent="-5334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A BC </a:t>
            </a:r>
            <a:r>
              <a:rPr lang="en-US" altLang="en-US" baseline="30000">
                <a:sym typeface="Symbol" panose="05050102010706020507" pitchFamily="18" charset="2"/>
              </a:rPr>
              <a:t>+</a:t>
            </a:r>
            <a:r>
              <a:rPr lang="en-US" altLang="en-US">
                <a:sym typeface="Symbol" panose="05050102010706020507" pitchFamily="18" charset="2"/>
              </a:rPr>
              <a:t>a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a</a:t>
            </a:r>
            <a:r>
              <a:rPr lang="en-US" altLang="en-US" baseline="-25000">
                <a:sym typeface="Symbol" panose="05050102010706020507" pitchFamily="18" charset="2"/>
              </a:rPr>
              <a:t>i+1</a:t>
            </a:r>
            <a:r>
              <a:rPr lang="en-US" altLang="en-US">
                <a:sym typeface="Symbol" panose="05050102010706020507" pitchFamily="18" charset="2"/>
              </a:rPr>
              <a:t>..a</a:t>
            </a:r>
            <a:r>
              <a:rPr lang="en-US" altLang="en-US" baseline="-25000">
                <a:sym typeface="Symbol" panose="05050102010706020507" pitchFamily="18" charset="2"/>
              </a:rPr>
              <a:t>i+k-1</a:t>
            </a:r>
            <a:r>
              <a:rPr lang="en-US" altLang="en-US">
                <a:sym typeface="Symbol" panose="05050102010706020507" pitchFamily="18" charset="2"/>
              </a:rPr>
              <a:t>C (do B BT</a:t>
            </a:r>
            <a:r>
              <a:rPr lang="en-US" altLang="en-US" baseline="-25000">
                <a:sym typeface="Symbol" panose="05050102010706020507" pitchFamily="18" charset="2"/>
              </a:rPr>
              <a:t>ik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marL="1249363" lvl="1" indent="-5334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 </a:t>
            </a:r>
            <a:r>
              <a:rPr lang="en-US" altLang="en-US" baseline="30000">
                <a:sym typeface="Symbol" panose="05050102010706020507" pitchFamily="18" charset="2"/>
              </a:rPr>
              <a:t>+</a:t>
            </a:r>
            <a:r>
              <a:rPr lang="en-US" altLang="en-US">
                <a:sym typeface="Symbol" panose="05050102010706020507" pitchFamily="18" charset="2"/>
              </a:rPr>
              <a:t> a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a</a:t>
            </a:r>
            <a:r>
              <a:rPr lang="en-US" altLang="en-US" baseline="-25000">
                <a:sym typeface="Symbol" panose="05050102010706020507" pitchFamily="18" charset="2"/>
              </a:rPr>
              <a:t>i+1</a:t>
            </a:r>
            <a:r>
              <a:rPr lang="en-US" altLang="en-US">
                <a:sym typeface="Symbol" panose="05050102010706020507" pitchFamily="18" charset="2"/>
              </a:rPr>
              <a:t>..a</a:t>
            </a:r>
            <a:r>
              <a:rPr lang="en-US" altLang="en-US" baseline="-25000">
                <a:sym typeface="Symbol" panose="05050102010706020507" pitchFamily="18" charset="2"/>
              </a:rPr>
              <a:t>i+k-1</a:t>
            </a:r>
            <a:r>
              <a:rPr lang="en-US" altLang="en-US">
                <a:sym typeface="Symbol" panose="05050102010706020507" pitchFamily="18" charset="2"/>
              </a:rPr>
              <a:t>a</a:t>
            </a:r>
            <a:r>
              <a:rPr lang="en-US" altLang="en-US" baseline="-25000">
                <a:sym typeface="Symbol" panose="05050102010706020507" pitchFamily="18" charset="2"/>
              </a:rPr>
              <a:t>i+k</a:t>
            </a:r>
            <a:r>
              <a:rPr lang="en-US" altLang="en-US">
                <a:sym typeface="Symbol" panose="05050102010706020507" pitchFamily="18" charset="2"/>
              </a:rPr>
              <a:t>,a</a:t>
            </a:r>
            <a:r>
              <a:rPr lang="en-US" altLang="en-US" baseline="-25000">
                <a:sym typeface="Symbol" panose="05050102010706020507" pitchFamily="18" charset="2"/>
              </a:rPr>
              <a:t>i+k-1</a:t>
            </a:r>
            <a:r>
              <a:rPr lang="en-US" altLang="en-US">
                <a:sym typeface="Symbol" panose="05050102010706020507" pitchFamily="18" charset="2"/>
              </a:rPr>
              <a:t>.. A</a:t>
            </a:r>
            <a:r>
              <a:rPr lang="en-US" altLang="en-US" baseline="-25000">
                <a:sym typeface="Symbol" panose="05050102010706020507" pitchFamily="18" charset="2"/>
              </a:rPr>
              <a:t>i+k+j-k-1</a:t>
            </a:r>
            <a:r>
              <a:rPr lang="en-US" altLang="en-US">
                <a:sym typeface="Symbol" panose="05050102010706020507" pitchFamily="18" charset="2"/>
              </a:rPr>
              <a:t> = a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..a</a:t>
            </a:r>
            <a:r>
              <a:rPr lang="en-US" altLang="en-US" baseline="-25000">
                <a:sym typeface="Symbol" panose="05050102010706020507" pitchFamily="18" charset="2"/>
              </a:rPr>
              <a:t>i+j-1</a:t>
            </a:r>
          </a:p>
          <a:p>
            <a:pPr marL="536575" indent="-536575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Lặp lại bước 2 cho tới khi tính xong các phần tử của T</a:t>
            </a:r>
          </a:p>
        </p:txBody>
      </p:sp>
      <p:sp>
        <p:nvSpPr>
          <p:cNvPr id="50181" name="Text Box 4">
            <a:extLst>
              <a:ext uri="{FF2B5EF4-FFF2-40B4-BE49-F238E27FC236}">
                <a16:creationId xmlns:a16="http://schemas.microsoft.com/office/drawing/2014/main" id="{691AA3CC-BCFD-C999-C130-222876FE3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5A85AA26-1610-7FA6-F1A3-F7B0FE0CB6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9E13A4-97D0-4A16-8E27-E8C0DF437B1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9277A6B-2376-01B6-A99D-7D1CD09AF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Xây dựng bảngVí dụ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F95EE3C-6B5E-287D-ABDB-F09D05E9E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3657600" cy="1981200"/>
          </a:xfrm>
        </p:spPr>
        <p:txBody>
          <a:bodyPr/>
          <a:lstStyle/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 AA | AS | b</a:t>
            </a:r>
          </a:p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A  SA | AS | a</a:t>
            </a:r>
          </a:p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: abaab</a:t>
            </a:r>
          </a:p>
        </p:txBody>
      </p:sp>
      <p:sp>
        <p:nvSpPr>
          <p:cNvPr id="51205" name="Text Box 4">
            <a:extLst>
              <a:ext uri="{FF2B5EF4-FFF2-40B4-BE49-F238E27FC236}">
                <a16:creationId xmlns:a16="http://schemas.microsoft.com/office/drawing/2014/main" id="{2DF78E60-4B7B-B5E3-7537-08A0F73A1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688607" name="Group 31">
            <a:extLst>
              <a:ext uri="{FF2B5EF4-FFF2-40B4-BE49-F238E27FC236}">
                <a16:creationId xmlns:a16="http://schemas.microsoft.com/office/drawing/2014/main" id="{45EDF943-EE5B-043E-ADA6-6E6171CBF5E0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178050"/>
            <a:ext cx="4386263" cy="2622550"/>
            <a:chOff x="2889" y="1228"/>
            <a:chExt cx="2763" cy="1652"/>
          </a:xfrm>
        </p:grpSpPr>
        <p:sp>
          <p:nvSpPr>
            <p:cNvPr id="51207" name="Text Box 5">
              <a:extLst>
                <a:ext uri="{FF2B5EF4-FFF2-40B4-BE49-F238E27FC236}">
                  <a16:creationId xmlns:a16="http://schemas.microsoft.com/office/drawing/2014/main" id="{0042BDF2-D9A1-84AA-1346-F9806286D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S,A</a:t>
              </a:r>
            </a:p>
          </p:txBody>
        </p:sp>
        <p:sp>
          <p:nvSpPr>
            <p:cNvPr id="51208" name="Text Box 6">
              <a:extLst>
                <a:ext uri="{FF2B5EF4-FFF2-40B4-BE49-F238E27FC236}">
                  <a16:creationId xmlns:a16="http://schemas.microsoft.com/office/drawing/2014/main" id="{FE2E6603-B152-B00A-3FF4-2311A2320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209" name="Text Box 7">
              <a:extLst>
                <a:ext uri="{FF2B5EF4-FFF2-40B4-BE49-F238E27FC236}">
                  <a16:creationId xmlns:a16="http://schemas.microsoft.com/office/drawing/2014/main" id="{457CD516-F059-2CBB-D3A2-9C1501960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1210" name="Text Box 8">
              <a:extLst>
                <a:ext uri="{FF2B5EF4-FFF2-40B4-BE49-F238E27FC236}">
                  <a16:creationId xmlns:a16="http://schemas.microsoft.com/office/drawing/2014/main" id="{BD0C070C-AD68-478D-E3CB-985D6471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S,A</a:t>
              </a:r>
            </a:p>
          </p:txBody>
        </p:sp>
        <p:sp>
          <p:nvSpPr>
            <p:cNvPr id="51211" name="Text Box 10">
              <a:extLst>
                <a:ext uri="{FF2B5EF4-FFF2-40B4-BE49-F238E27FC236}">
                  <a16:creationId xmlns:a16="http://schemas.microsoft.com/office/drawing/2014/main" id="{7AAAA5EF-7ACB-DDA1-12F4-5FF30A893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1212" name="Text Box 11">
              <a:extLst>
                <a:ext uri="{FF2B5EF4-FFF2-40B4-BE49-F238E27FC236}">
                  <a16:creationId xmlns:a16="http://schemas.microsoft.com/office/drawing/2014/main" id="{2977CCE1-C022-7CD5-1FB3-F9496E18D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1213" name="Text Box 12">
              <a:extLst>
                <a:ext uri="{FF2B5EF4-FFF2-40B4-BE49-F238E27FC236}">
                  <a16:creationId xmlns:a16="http://schemas.microsoft.com/office/drawing/2014/main" id="{976FACA4-D830-3C4F-D441-089991CEA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1214" name="Text Box 13">
              <a:extLst>
                <a:ext uri="{FF2B5EF4-FFF2-40B4-BE49-F238E27FC236}">
                  <a16:creationId xmlns:a16="http://schemas.microsoft.com/office/drawing/2014/main" id="{9A5F42BA-A41C-330B-E51B-FAD9AAD3A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449"/>
              <a:ext cx="432" cy="2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1215" name="Text Box 15">
              <a:extLst>
                <a:ext uri="{FF2B5EF4-FFF2-40B4-BE49-F238E27FC236}">
                  <a16:creationId xmlns:a16="http://schemas.microsoft.com/office/drawing/2014/main" id="{34978D89-6044-E5E4-933F-716B4DD58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216" name="Text Box 16">
              <a:extLst>
                <a:ext uri="{FF2B5EF4-FFF2-40B4-BE49-F238E27FC236}">
                  <a16:creationId xmlns:a16="http://schemas.microsoft.com/office/drawing/2014/main" id="{DED4FB49-EC54-DED8-DC19-BA9EFD6D9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1217" name="Text Box 17">
              <a:extLst>
                <a:ext uri="{FF2B5EF4-FFF2-40B4-BE49-F238E27FC236}">
                  <a16:creationId xmlns:a16="http://schemas.microsoft.com/office/drawing/2014/main" id="{F7BAD6BF-E052-25D6-A0CB-2EF079A57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218" name="Text Box 18">
              <a:extLst>
                <a:ext uri="{FF2B5EF4-FFF2-40B4-BE49-F238E27FC236}">
                  <a16:creationId xmlns:a16="http://schemas.microsoft.com/office/drawing/2014/main" id="{C20C8729-C76F-0947-18F0-7947A4062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219" name="Text Box 19">
              <a:extLst>
                <a:ext uri="{FF2B5EF4-FFF2-40B4-BE49-F238E27FC236}">
                  <a16:creationId xmlns:a16="http://schemas.microsoft.com/office/drawing/2014/main" id="{01787382-ED3A-1A59-7F20-8CD1FA173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1220" name="Text Box 20">
              <a:extLst>
                <a:ext uri="{FF2B5EF4-FFF2-40B4-BE49-F238E27FC236}">
                  <a16:creationId xmlns:a16="http://schemas.microsoft.com/office/drawing/2014/main" id="{4F28B920-5DA2-B04F-3E9A-87793525B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221" name="Text Box 21">
              <a:extLst>
                <a:ext uri="{FF2B5EF4-FFF2-40B4-BE49-F238E27FC236}">
                  <a16:creationId xmlns:a16="http://schemas.microsoft.com/office/drawing/2014/main" id="{C8952379-2A7D-5124-B5B2-05942EB8B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1222" name="Text Box 22">
              <a:extLst>
                <a:ext uri="{FF2B5EF4-FFF2-40B4-BE49-F238E27FC236}">
                  <a16:creationId xmlns:a16="http://schemas.microsoft.com/office/drawing/2014/main" id="{A2487736-7330-C91F-02A7-393B5C647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223" name="Text Box 23">
              <a:extLst>
                <a:ext uri="{FF2B5EF4-FFF2-40B4-BE49-F238E27FC236}">
                  <a16:creationId xmlns:a16="http://schemas.microsoft.com/office/drawing/2014/main" id="{1618AD36-1BBA-42A0-6314-5EF247565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224" name="Text Box 24">
              <a:extLst>
                <a:ext uri="{FF2B5EF4-FFF2-40B4-BE49-F238E27FC236}">
                  <a16:creationId xmlns:a16="http://schemas.microsoft.com/office/drawing/2014/main" id="{6C572B1A-FF71-510C-702E-97E938E29F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1225" name="Text Box 25">
              <a:extLst>
                <a:ext uri="{FF2B5EF4-FFF2-40B4-BE49-F238E27FC236}">
                  <a16:creationId xmlns:a16="http://schemas.microsoft.com/office/drawing/2014/main" id="{DDAC08E6-76BF-C40F-0F2F-01DBC0279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68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S,A</a:t>
              </a:r>
            </a:p>
          </p:txBody>
        </p:sp>
        <p:sp>
          <p:nvSpPr>
            <p:cNvPr id="51226" name="Text Box 26">
              <a:extLst>
                <a:ext uri="{FF2B5EF4-FFF2-40B4-BE49-F238E27FC236}">
                  <a16:creationId xmlns:a16="http://schemas.microsoft.com/office/drawing/2014/main" id="{5CC7B403-E89C-2646-3F71-B78D9B992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68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1227" name="Line 27">
              <a:extLst>
                <a:ext uri="{FF2B5EF4-FFF2-40B4-BE49-F238E27FC236}">
                  <a16:creationId xmlns:a16="http://schemas.microsoft.com/office/drawing/2014/main" id="{B36112F3-F6DC-127B-EB48-3D630F333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640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28" name="Line 28">
              <a:extLst>
                <a:ext uri="{FF2B5EF4-FFF2-40B4-BE49-F238E27FC236}">
                  <a16:creationId xmlns:a16="http://schemas.microsoft.com/office/drawing/2014/main" id="{B32C5AFD-EDE0-70B6-41B1-6B540CE8E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24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29" name="Text Box 29">
              <a:extLst>
                <a:ext uri="{FF2B5EF4-FFF2-40B4-BE49-F238E27FC236}">
                  <a16:creationId xmlns:a16="http://schemas.microsoft.com/office/drawing/2014/main" id="{DD6EA1AD-634E-88F6-7FBA-F1039C579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" y="1228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51230" name="Text Box 30">
              <a:extLst>
                <a:ext uri="{FF2B5EF4-FFF2-40B4-BE49-F238E27FC236}">
                  <a16:creationId xmlns:a16="http://schemas.microsoft.com/office/drawing/2014/main" id="{F4D8AF03-3075-F487-FDDC-00E97A9B8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" y="26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>
            <a:extLst>
              <a:ext uri="{FF2B5EF4-FFF2-40B4-BE49-F238E27FC236}">
                <a16:creationId xmlns:a16="http://schemas.microsoft.com/office/drawing/2014/main" id="{99D3886C-2D1C-CAA7-2380-8F11940748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7F3BDE-4DA2-4896-99FA-0CAFA7F4020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024F9E9-D551-BCD2-A155-AB3D1EEA8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Tìm cây phân tích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B1D9911-6765-0E6D-9645-DCAA2DD44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852488"/>
            <a:ext cx="8686800" cy="5878512"/>
          </a:xfrm>
        </p:spPr>
        <p:txBody>
          <a:bodyPr/>
          <a:lstStyle/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Là quá trình ngược với xây dựng bảng</a:t>
            </a:r>
          </a:p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Sử dụng hàm </a:t>
            </a:r>
            <a:r>
              <a:rPr lang="en-US" altLang="en-US" b="1"/>
              <a:t>Gen(i, j, A)</a:t>
            </a:r>
            <a:r>
              <a:rPr lang="en-US" altLang="en-US"/>
              <a:t> sinh ra dãy phân tích trái ứng với suy dẫn A </a:t>
            </a:r>
            <a:r>
              <a:rPr lang="en-US" altLang="en-US">
                <a:sym typeface="Symbol" panose="05050102010706020507" pitchFamily="18" charset="2"/>
              </a:rPr>
              <a:t>*</a:t>
            </a:r>
            <a:r>
              <a:rPr lang="en-US" altLang="en-US" baseline="-25000">
                <a:sym typeface="Symbol" panose="05050102010706020507" pitchFamily="18" charset="2"/>
              </a:rPr>
              <a:t>L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/>
              <a:t>a</a:t>
            </a:r>
            <a:r>
              <a:rPr lang="en-US" altLang="en-US" baseline="-25000"/>
              <a:t>i</a:t>
            </a:r>
            <a:r>
              <a:rPr lang="en-US" altLang="en-US"/>
              <a:t>a</a:t>
            </a:r>
            <a:r>
              <a:rPr lang="en-US" altLang="en-US" baseline="-25000"/>
              <a:t>i+1</a:t>
            </a:r>
            <a:r>
              <a:rPr lang="en-US" altLang="en-US"/>
              <a:t>,..a</a:t>
            </a:r>
            <a:r>
              <a:rPr lang="en-US" altLang="en-US" baseline="-25000"/>
              <a:t>i+j-1</a:t>
            </a:r>
          </a:p>
          <a:p>
            <a:pPr marL="1249363" lvl="1" indent="-533400" eaLnBrk="1" hangingPunct="1">
              <a:lnSpc>
                <a:spcPct val="110000"/>
              </a:lnSpc>
            </a:pPr>
            <a:r>
              <a:rPr lang="en-US" altLang="en-US" b="1"/>
              <a:t>Gen(1,n,S)</a:t>
            </a:r>
            <a:r>
              <a:rPr lang="en-US" altLang="en-US"/>
              <a:t> để sinh ra dãy suy dẫn trái của xâu cần phân tích</a:t>
            </a:r>
          </a:p>
          <a:p>
            <a:pPr marL="449263" indent="-449263" eaLnBrk="1" hangingPunct="1">
              <a:lnSpc>
                <a:spcPct val="110000"/>
              </a:lnSpc>
            </a:pPr>
            <a:r>
              <a:rPr lang="en-US" altLang="en-US"/>
              <a:t>Gen(i, j, A)</a:t>
            </a:r>
          </a:p>
          <a:p>
            <a:pPr marL="1249363" lvl="1" indent="-533400" eaLnBrk="1" hangingPunct="1">
              <a:lnSpc>
                <a:spcPct val="110000"/>
              </a:lnSpc>
            </a:pPr>
            <a:r>
              <a:rPr lang="en-US" altLang="en-US"/>
              <a:t>j = 1: A </a:t>
            </a:r>
            <a:r>
              <a:rPr lang="en-US" altLang="en-US">
                <a:sym typeface="Symbol" panose="05050102010706020507" pitchFamily="18" charset="2"/>
              </a:rPr>
              <a:t>a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là sản xuất m. Viết ra giá trị m</a:t>
            </a:r>
          </a:p>
          <a:p>
            <a:pPr marL="1249363" lvl="1" indent="-533400" eaLnBrk="1" hangingPunct="1">
              <a:lnSpc>
                <a:spcPct val="110000"/>
              </a:lnSpc>
            </a:pPr>
            <a:r>
              <a:rPr lang="en-US" altLang="en-US"/>
              <a:t>j &gt; 1: Nếu </a:t>
            </a:r>
            <a:r>
              <a:rPr lang="en-US" altLang="en-US" b="1">
                <a:solidFill>
                  <a:srgbClr val="3539EB"/>
                </a:solidFill>
              </a:rPr>
              <a:t>k</a:t>
            </a:r>
            <a:r>
              <a:rPr lang="en-US" altLang="en-US"/>
              <a:t> là một số nguyên (nhỏ nhất) thỏa mãn: 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BT</a:t>
            </a:r>
            <a:r>
              <a:rPr lang="en-US" altLang="en-US" baseline="-25000">
                <a:solidFill>
                  <a:srgbClr val="3539EB"/>
                </a:solidFill>
                <a:sym typeface="Symbol" panose="05050102010706020507" pitchFamily="18" charset="2"/>
              </a:rPr>
              <a:t>ik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CT</a:t>
            </a:r>
            <a:r>
              <a:rPr lang="en-US" altLang="en-US" baseline="-25000">
                <a:solidFill>
                  <a:srgbClr val="3539EB"/>
                </a:solidFill>
                <a:sym typeface="Symbol" panose="05050102010706020507" pitchFamily="18" charset="2"/>
              </a:rPr>
              <a:t>i+k,j-k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ABC P</a:t>
            </a:r>
            <a:r>
              <a:rPr lang="en-US" altLang="en-US">
                <a:sym typeface="Symbol" panose="05050102010706020507" pitchFamily="18" charset="2"/>
              </a:rPr>
              <a:t> là s.xuất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m</a:t>
            </a:r>
          </a:p>
          <a:p>
            <a:pPr marL="1885950" lvl="2" indent="-457200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Viết ra giá trị </a:t>
            </a:r>
            <a:r>
              <a:rPr lang="en-US" altLang="en-US" b="1">
                <a:solidFill>
                  <a:srgbClr val="3539EB"/>
                </a:solidFill>
                <a:sym typeface="Symbol" panose="05050102010706020507" pitchFamily="18" charset="2"/>
              </a:rPr>
              <a:t>m</a:t>
            </a:r>
          </a:p>
          <a:p>
            <a:pPr marL="1885950" lvl="2" indent="-457200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Gọi Gen(i, k, B) và Gen (i+k, j-k, C)</a:t>
            </a:r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id="{CE84CC75-9A83-ED07-415F-2AAEC46A6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E7B394A5-3629-8AD8-3CEC-1915E9268F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1A7B9C-916E-4F7A-9E5D-4E322FCA0A1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27A558E-314C-0554-A621-F3B34D813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Tìm cây phân tíchVí dụ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AA5FDE54-CB6D-79B4-A180-D2D7B70C6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53253" name="Rectangle 6">
            <a:extLst>
              <a:ext uri="{FF2B5EF4-FFF2-40B4-BE49-F238E27FC236}">
                <a16:creationId xmlns:a16="http://schemas.microsoft.com/office/drawing/2014/main" id="{0452B55B-C77D-BA60-D858-3C7E8F4C3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3505200" cy="4343400"/>
          </a:xfrm>
          <a:noFill/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 AA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 AS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/>
              <a:t>S </a:t>
            </a:r>
            <a:r>
              <a:rPr lang="en-US" altLang="en-US">
                <a:sym typeface="Symbol" panose="05050102010706020507" pitchFamily="18" charset="2"/>
              </a:rPr>
              <a:t> b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A  SA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A  AS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A  a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: abaab</a:t>
            </a:r>
          </a:p>
        </p:txBody>
      </p:sp>
      <p:sp>
        <p:nvSpPr>
          <p:cNvPr id="53254" name="Rectangle 7">
            <a:extLst>
              <a:ext uri="{FF2B5EF4-FFF2-40B4-BE49-F238E27FC236}">
                <a16:creationId xmlns:a16="http://schemas.microsoft.com/office/drawing/2014/main" id="{415EAD4C-7EB4-DB6F-22BE-E1B1F5949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981200"/>
            <a:ext cx="350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155700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272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Gen (1, 5, S)</a:t>
            </a:r>
          </a:p>
        </p:txBody>
      </p:sp>
      <p:sp>
        <p:nvSpPr>
          <p:cNvPr id="1690632" name="Rectangle 8">
            <a:extLst>
              <a:ext uri="{FF2B5EF4-FFF2-40B4-BE49-F238E27FC236}">
                <a16:creationId xmlns:a16="http://schemas.microsoft.com/office/drawing/2014/main" id="{C4156CBB-68C1-79EA-F238-20A8389E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743200"/>
            <a:ext cx="3505200" cy="685800"/>
          </a:xfrm>
          <a:prstGeom prst="rect">
            <a:avLst/>
          </a:prstGeom>
          <a:noFill/>
          <a:ln w="9525">
            <a:solidFill>
              <a:srgbClr val="3539E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155700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272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164356263</a:t>
            </a:r>
          </a:p>
        </p:txBody>
      </p:sp>
      <p:sp>
        <p:nvSpPr>
          <p:cNvPr id="1690633" name="Rectangle 9">
            <a:extLst>
              <a:ext uri="{FF2B5EF4-FFF2-40B4-BE49-F238E27FC236}">
                <a16:creationId xmlns:a16="http://schemas.microsoft.com/office/drawing/2014/main" id="{0F3218D7-A90D-A135-CF8C-809736162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581400"/>
            <a:ext cx="3505200" cy="685800"/>
          </a:xfrm>
          <a:prstGeom prst="rect">
            <a:avLst/>
          </a:prstGeom>
          <a:noFill/>
          <a:ln w="9525">
            <a:solidFill>
              <a:srgbClr val="3539E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155700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272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262436263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9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90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90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632" grpId="0" animBg="1"/>
      <p:bldP spid="16906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>
            <a:extLst>
              <a:ext uri="{FF2B5EF4-FFF2-40B4-BE49-F238E27FC236}">
                <a16:creationId xmlns:a16="http://schemas.microsoft.com/office/drawing/2014/main" id="{A72B35B4-C854-3891-15BB-A9D1741EE2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5525D5-4E5D-40B0-B01F-AD4BAC5A9D4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F1D3CF11-BEEB-6F4A-C7A4-6B5249C4C6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Tìm cây phân tích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id="{48ABE025-D309-AA35-1840-527FBF4A7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54277" name="Group 6">
            <a:extLst>
              <a:ext uri="{FF2B5EF4-FFF2-40B4-BE49-F238E27FC236}">
                <a16:creationId xmlns:a16="http://schemas.microsoft.com/office/drawing/2014/main" id="{02F00B55-842A-C67B-B5E3-99C7745A720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143000"/>
            <a:ext cx="4386263" cy="2622550"/>
            <a:chOff x="2889" y="1228"/>
            <a:chExt cx="2763" cy="1652"/>
          </a:xfrm>
        </p:grpSpPr>
        <p:sp>
          <p:nvSpPr>
            <p:cNvPr id="54371" name="Text Box 7">
              <a:extLst>
                <a:ext uri="{FF2B5EF4-FFF2-40B4-BE49-F238E27FC236}">
                  <a16:creationId xmlns:a16="http://schemas.microsoft.com/office/drawing/2014/main" id="{9B959ACA-6191-24EC-6DB0-3A718001B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S,A</a:t>
              </a:r>
            </a:p>
          </p:txBody>
        </p:sp>
        <p:sp>
          <p:nvSpPr>
            <p:cNvPr id="54372" name="Text Box 8">
              <a:extLst>
                <a:ext uri="{FF2B5EF4-FFF2-40B4-BE49-F238E27FC236}">
                  <a16:creationId xmlns:a16="http://schemas.microsoft.com/office/drawing/2014/main" id="{8722AEF5-905C-30E2-1431-50A2D1ED6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4373" name="Text Box 9">
              <a:extLst>
                <a:ext uri="{FF2B5EF4-FFF2-40B4-BE49-F238E27FC236}">
                  <a16:creationId xmlns:a16="http://schemas.microsoft.com/office/drawing/2014/main" id="{45B9A9F3-BA08-93F1-B404-CDB597AB3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S</a:t>
              </a:r>
            </a:p>
          </p:txBody>
        </p:sp>
        <p:sp>
          <p:nvSpPr>
            <p:cNvPr id="54374" name="Text Box 10">
              <a:extLst>
                <a:ext uri="{FF2B5EF4-FFF2-40B4-BE49-F238E27FC236}">
                  <a16:creationId xmlns:a16="http://schemas.microsoft.com/office/drawing/2014/main" id="{14FF3CC4-14E0-BF02-101B-4A877EED7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S,A</a:t>
              </a:r>
            </a:p>
          </p:txBody>
        </p:sp>
        <p:sp>
          <p:nvSpPr>
            <p:cNvPr id="54375" name="Text Box 11">
              <a:extLst>
                <a:ext uri="{FF2B5EF4-FFF2-40B4-BE49-F238E27FC236}">
                  <a16:creationId xmlns:a16="http://schemas.microsoft.com/office/drawing/2014/main" id="{5DF38CAB-1B22-6351-46C6-845BDBDDC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A,S</a:t>
              </a:r>
            </a:p>
          </p:txBody>
        </p:sp>
        <p:sp>
          <p:nvSpPr>
            <p:cNvPr id="54376" name="Text Box 12">
              <a:extLst>
                <a:ext uri="{FF2B5EF4-FFF2-40B4-BE49-F238E27FC236}">
                  <a16:creationId xmlns:a16="http://schemas.microsoft.com/office/drawing/2014/main" id="{6297FD77-1FD4-15C1-CF7C-E32E3B4A6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S</a:t>
              </a:r>
            </a:p>
          </p:txBody>
        </p:sp>
        <p:sp>
          <p:nvSpPr>
            <p:cNvPr id="54377" name="Text Box 13">
              <a:extLst>
                <a:ext uri="{FF2B5EF4-FFF2-40B4-BE49-F238E27FC236}">
                  <a16:creationId xmlns:a16="http://schemas.microsoft.com/office/drawing/2014/main" id="{25C280A9-95BA-FAF1-A080-D185DE145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A,S</a:t>
              </a:r>
            </a:p>
          </p:txBody>
        </p:sp>
        <p:sp>
          <p:nvSpPr>
            <p:cNvPr id="54378" name="Text Box 14">
              <a:extLst>
                <a:ext uri="{FF2B5EF4-FFF2-40B4-BE49-F238E27FC236}">
                  <a16:creationId xmlns:a16="http://schemas.microsoft.com/office/drawing/2014/main" id="{52309BBC-6F4C-C36C-A674-82AB043A5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449"/>
              <a:ext cx="432" cy="2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A,S</a:t>
              </a:r>
            </a:p>
          </p:txBody>
        </p:sp>
        <p:sp>
          <p:nvSpPr>
            <p:cNvPr id="54379" name="Text Box 15">
              <a:extLst>
                <a:ext uri="{FF2B5EF4-FFF2-40B4-BE49-F238E27FC236}">
                  <a16:creationId xmlns:a16="http://schemas.microsoft.com/office/drawing/2014/main" id="{0B7E192D-6D1E-AC42-61D6-52AB74585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4380" name="Text Box 16">
              <a:extLst>
                <a:ext uri="{FF2B5EF4-FFF2-40B4-BE49-F238E27FC236}">
                  <a16:creationId xmlns:a16="http://schemas.microsoft.com/office/drawing/2014/main" id="{9B2CC583-81D9-E8D6-0C42-586E0F692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54381" name="Text Box 17">
              <a:extLst>
                <a:ext uri="{FF2B5EF4-FFF2-40B4-BE49-F238E27FC236}">
                  <a16:creationId xmlns:a16="http://schemas.microsoft.com/office/drawing/2014/main" id="{B2F34165-BDFE-1E80-6033-01E6F8B50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4382" name="Text Box 18">
              <a:extLst>
                <a:ext uri="{FF2B5EF4-FFF2-40B4-BE49-F238E27FC236}">
                  <a16:creationId xmlns:a16="http://schemas.microsoft.com/office/drawing/2014/main" id="{769FDE2F-A560-57DF-23E4-71791B83D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4383" name="Text Box 19">
              <a:extLst>
                <a:ext uri="{FF2B5EF4-FFF2-40B4-BE49-F238E27FC236}">
                  <a16:creationId xmlns:a16="http://schemas.microsoft.com/office/drawing/2014/main" id="{7C1D8BE9-3729-B50F-F5E8-81282C377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54384" name="Text Box 20">
              <a:extLst>
                <a:ext uri="{FF2B5EF4-FFF2-40B4-BE49-F238E27FC236}">
                  <a16:creationId xmlns:a16="http://schemas.microsoft.com/office/drawing/2014/main" id="{ADE8F5B6-70EB-7EA9-8522-D771AF006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4385" name="Text Box 21">
              <a:extLst>
                <a:ext uri="{FF2B5EF4-FFF2-40B4-BE49-F238E27FC236}">
                  <a16:creationId xmlns:a16="http://schemas.microsoft.com/office/drawing/2014/main" id="{FB0E6E08-0876-58CD-C5F5-C06B1F358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S</a:t>
              </a:r>
            </a:p>
          </p:txBody>
        </p:sp>
        <p:sp>
          <p:nvSpPr>
            <p:cNvPr id="54386" name="Text Box 22">
              <a:extLst>
                <a:ext uri="{FF2B5EF4-FFF2-40B4-BE49-F238E27FC236}">
                  <a16:creationId xmlns:a16="http://schemas.microsoft.com/office/drawing/2014/main" id="{F81714D4-3AAF-D4CD-15CF-25674FE97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4387" name="Text Box 23">
              <a:extLst>
                <a:ext uri="{FF2B5EF4-FFF2-40B4-BE49-F238E27FC236}">
                  <a16:creationId xmlns:a16="http://schemas.microsoft.com/office/drawing/2014/main" id="{07561224-79EB-4A3C-918A-6EE40213D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54388" name="Text Box 24">
              <a:extLst>
                <a:ext uri="{FF2B5EF4-FFF2-40B4-BE49-F238E27FC236}">
                  <a16:creationId xmlns:a16="http://schemas.microsoft.com/office/drawing/2014/main" id="{ED3036B8-101E-2895-17EF-11135B25C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S</a:t>
              </a:r>
            </a:p>
          </p:txBody>
        </p:sp>
        <p:sp>
          <p:nvSpPr>
            <p:cNvPr id="54389" name="Text Box 25">
              <a:extLst>
                <a:ext uri="{FF2B5EF4-FFF2-40B4-BE49-F238E27FC236}">
                  <a16:creationId xmlns:a16="http://schemas.microsoft.com/office/drawing/2014/main" id="{C8EEA8E6-2D89-E990-F87E-DB556D580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68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S,A</a:t>
              </a:r>
            </a:p>
          </p:txBody>
        </p:sp>
        <p:sp>
          <p:nvSpPr>
            <p:cNvPr id="54390" name="Text Box 26">
              <a:extLst>
                <a:ext uri="{FF2B5EF4-FFF2-40B4-BE49-F238E27FC236}">
                  <a16:creationId xmlns:a16="http://schemas.microsoft.com/office/drawing/2014/main" id="{A6B88222-1634-1946-DA80-FD3E16A94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68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A,S</a:t>
              </a:r>
            </a:p>
          </p:txBody>
        </p:sp>
        <p:sp>
          <p:nvSpPr>
            <p:cNvPr id="54391" name="Line 27">
              <a:extLst>
                <a:ext uri="{FF2B5EF4-FFF2-40B4-BE49-F238E27FC236}">
                  <a16:creationId xmlns:a16="http://schemas.microsoft.com/office/drawing/2014/main" id="{635C6117-F9C6-5AC5-3DD7-5351E4696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640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2" name="Line 28">
              <a:extLst>
                <a:ext uri="{FF2B5EF4-FFF2-40B4-BE49-F238E27FC236}">
                  <a16:creationId xmlns:a16="http://schemas.microsoft.com/office/drawing/2014/main" id="{0DABB42D-803A-0395-AAB5-B0E3BB020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24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3" name="Text Box 29">
              <a:extLst>
                <a:ext uri="{FF2B5EF4-FFF2-40B4-BE49-F238E27FC236}">
                  <a16:creationId xmlns:a16="http://schemas.microsoft.com/office/drawing/2014/main" id="{73FBD954-DB17-C41D-7F6F-27F563FAE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" y="1228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j</a:t>
              </a:r>
            </a:p>
          </p:txBody>
        </p:sp>
        <p:sp>
          <p:nvSpPr>
            <p:cNvPr id="54394" name="Text Box 30">
              <a:extLst>
                <a:ext uri="{FF2B5EF4-FFF2-40B4-BE49-F238E27FC236}">
                  <a16:creationId xmlns:a16="http://schemas.microsoft.com/office/drawing/2014/main" id="{ADEDE9C7-8C78-29DD-74C2-C36B1F367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" y="26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bg2"/>
                  </a:solidFill>
                </a:rPr>
                <a:t>i</a:t>
              </a:r>
            </a:p>
          </p:txBody>
        </p:sp>
      </p:grpSp>
      <p:grpSp>
        <p:nvGrpSpPr>
          <p:cNvPr id="54278" name="Group 31">
            <a:extLst>
              <a:ext uri="{FF2B5EF4-FFF2-40B4-BE49-F238E27FC236}">
                <a16:creationId xmlns:a16="http://schemas.microsoft.com/office/drawing/2014/main" id="{955A8072-EA92-EE96-1D0E-EFFE8D275CCB}"/>
              </a:ext>
            </a:extLst>
          </p:cNvPr>
          <p:cNvGrpSpPr>
            <a:grpSpLocks/>
          </p:cNvGrpSpPr>
          <p:nvPr/>
        </p:nvGrpSpPr>
        <p:grpSpPr bwMode="auto">
          <a:xfrm>
            <a:off x="1481138" y="3930650"/>
            <a:ext cx="4386262" cy="2622550"/>
            <a:chOff x="2889" y="1228"/>
            <a:chExt cx="2763" cy="1652"/>
          </a:xfrm>
        </p:grpSpPr>
        <p:sp>
          <p:nvSpPr>
            <p:cNvPr id="54347" name="Text Box 32">
              <a:extLst>
                <a:ext uri="{FF2B5EF4-FFF2-40B4-BE49-F238E27FC236}">
                  <a16:creationId xmlns:a16="http://schemas.microsoft.com/office/drawing/2014/main" id="{620EAA1F-6CB4-B0AD-A5A8-90C28977F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S,A</a:t>
              </a:r>
            </a:p>
          </p:txBody>
        </p:sp>
        <p:sp>
          <p:nvSpPr>
            <p:cNvPr id="54348" name="Text Box 33">
              <a:extLst>
                <a:ext uri="{FF2B5EF4-FFF2-40B4-BE49-F238E27FC236}">
                  <a16:creationId xmlns:a16="http://schemas.microsoft.com/office/drawing/2014/main" id="{566E0C93-5B06-FA45-5E70-8E04CE056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349" name="Text Box 34">
              <a:extLst>
                <a:ext uri="{FF2B5EF4-FFF2-40B4-BE49-F238E27FC236}">
                  <a16:creationId xmlns:a16="http://schemas.microsoft.com/office/drawing/2014/main" id="{004621AF-D5C8-038B-0083-CF87F562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4350" name="Text Box 35">
              <a:extLst>
                <a:ext uri="{FF2B5EF4-FFF2-40B4-BE49-F238E27FC236}">
                  <a16:creationId xmlns:a16="http://schemas.microsoft.com/office/drawing/2014/main" id="{322CB478-0E08-C8C7-691A-F267865F0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16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S,A</a:t>
              </a:r>
            </a:p>
          </p:txBody>
        </p:sp>
        <p:sp>
          <p:nvSpPr>
            <p:cNvPr id="54351" name="Text Box 36">
              <a:extLst>
                <a:ext uri="{FF2B5EF4-FFF2-40B4-BE49-F238E27FC236}">
                  <a16:creationId xmlns:a16="http://schemas.microsoft.com/office/drawing/2014/main" id="{0C4FA78C-8376-C93D-7559-38EDF042A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4352" name="Text Box 37">
              <a:extLst>
                <a:ext uri="{FF2B5EF4-FFF2-40B4-BE49-F238E27FC236}">
                  <a16:creationId xmlns:a16="http://schemas.microsoft.com/office/drawing/2014/main" id="{54FBB1CD-4987-F2E0-5BA9-18D3373BD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4353" name="Text Box 38">
              <a:extLst>
                <a:ext uri="{FF2B5EF4-FFF2-40B4-BE49-F238E27FC236}">
                  <a16:creationId xmlns:a16="http://schemas.microsoft.com/office/drawing/2014/main" id="{EFF52F78-2BFD-F4EF-6E92-3FAC8F289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92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4354" name="Text Box 39">
              <a:extLst>
                <a:ext uri="{FF2B5EF4-FFF2-40B4-BE49-F238E27FC236}">
                  <a16:creationId xmlns:a16="http://schemas.microsoft.com/office/drawing/2014/main" id="{5F449368-E07A-8623-E2AB-AE4D08AA4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449"/>
              <a:ext cx="432" cy="2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4355" name="Text Box 40">
              <a:extLst>
                <a:ext uri="{FF2B5EF4-FFF2-40B4-BE49-F238E27FC236}">
                  <a16:creationId xmlns:a16="http://schemas.microsoft.com/office/drawing/2014/main" id="{E8BD13E4-FD4B-C7FD-5132-A2E167833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356" name="Text Box 41">
              <a:extLst>
                <a:ext uri="{FF2B5EF4-FFF2-40B4-BE49-F238E27FC236}">
                  <a16:creationId xmlns:a16="http://schemas.microsoft.com/office/drawing/2014/main" id="{CE7C0A33-86B6-686E-A199-496BF2D91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4357" name="Text Box 42">
              <a:extLst>
                <a:ext uri="{FF2B5EF4-FFF2-40B4-BE49-F238E27FC236}">
                  <a16:creationId xmlns:a16="http://schemas.microsoft.com/office/drawing/2014/main" id="{594E0C50-9D44-5DFE-793D-31F2021A5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358" name="Text Box 43">
              <a:extLst>
                <a:ext uri="{FF2B5EF4-FFF2-40B4-BE49-F238E27FC236}">
                  <a16:creationId xmlns:a16="http://schemas.microsoft.com/office/drawing/2014/main" id="{3605CA13-97CA-D0B4-36D8-629088D80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359" name="Text Box 44">
              <a:extLst>
                <a:ext uri="{FF2B5EF4-FFF2-40B4-BE49-F238E27FC236}">
                  <a16:creationId xmlns:a16="http://schemas.microsoft.com/office/drawing/2014/main" id="{AF458264-502F-29CA-91DD-4723FA863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640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4360" name="Text Box 45">
              <a:extLst>
                <a:ext uri="{FF2B5EF4-FFF2-40B4-BE49-F238E27FC236}">
                  <a16:creationId xmlns:a16="http://schemas.microsoft.com/office/drawing/2014/main" id="{8147B58B-3BEE-E293-F0D5-E0345D44C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361" name="Text Box 46">
              <a:extLst>
                <a:ext uri="{FF2B5EF4-FFF2-40B4-BE49-F238E27FC236}">
                  <a16:creationId xmlns:a16="http://schemas.microsoft.com/office/drawing/2014/main" id="{AA9762F1-C945-F5C4-CB22-7412AC050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4362" name="Text Box 47">
              <a:extLst>
                <a:ext uri="{FF2B5EF4-FFF2-40B4-BE49-F238E27FC236}">
                  <a16:creationId xmlns:a16="http://schemas.microsoft.com/office/drawing/2014/main" id="{5681AF4E-29B2-5355-43AB-8A6640B29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363" name="Text Box 48">
              <a:extLst>
                <a:ext uri="{FF2B5EF4-FFF2-40B4-BE49-F238E27FC236}">
                  <a16:creationId xmlns:a16="http://schemas.microsoft.com/office/drawing/2014/main" id="{35B884AA-4EBF-D53A-EF9C-339AD031F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4364" name="Text Box 49">
              <a:extLst>
                <a:ext uri="{FF2B5EF4-FFF2-40B4-BE49-F238E27FC236}">
                  <a16:creationId xmlns:a16="http://schemas.microsoft.com/office/drawing/2014/main" id="{6199487D-5AED-89F8-093E-FC0B95C99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00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4365" name="Text Box 50">
              <a:extLst>
                <a:ext uri="{FF2B5EF4-FFF2-40B4-BE49-F238E27FC236}">
                  <a16:creationId xmlns:a16="http://schemas.microsoft.com/office/drawing/2014/main" id="{4A1A53D4-4258-237D-B146-184461354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68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S,A</a:t>
              </a:r>
            </a:p>
          </p:txBody>
        </p:sp>
        <p:sp>
          <p:nvSpPr>
            <p:cNvPr id="54366" name="Text Box 51">
              <a:extLst>
                <a:ext uri="{FF2B5EF4-FFF2-40B4-BE49-F238E27FC236}">
                  <a16:creationId xmlns:a16="http://schemas.microsoft.com/office/drawing/2014/main" id="{C446A158-9E13-77FD-8A25-4A3585FFF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689"/>
              <a:ext cx="432" cy="23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A,S</a:t>
              </a:r>
            </a:p>
          </p:txBody>
        </p:sp>
        <p:sp>
          <p:nvSpPr>
            <p:cNvPr id="54367" name="Line 52">
              <a:extLst>
                <a:ext uri="{FF2B5EF4-FFF2-40B4-BE49-F238E27FC236}">
                  <a16:creationId xmlns:a16="http://schemas.microsoft.com/office/drawing/2014/main" id="{CADC93C2-45E1-911E-62C7-20FB8B484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640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68" name="Line 53">
              <a:extLst>
                <a:ext uri="{FF2B5EF4-FFF2-40B4-BE49-F238E27FC236}">
                  <a16:creationId xmlns:a16="http://schemas.microsoft.com/office/drawing/2014/main" id="{5A08E532-2FBE-0894-CF8A-DDED4EA6D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24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69" name="Text Box 54">
              <a:extLst>
                <a:ext uri="{FF2B5EF4-FFF2-40B4-BE49-F238E27FC236}">
                  <a16:creationId xmlns:a16="http://schemas.microsoft.com/office/drawing/2014/main" id="{3D0BB42A-563E-361B-CBF0-92EBA657C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" y="1228"/>
              <a:ext cx="432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54370" name="Text Box 55">
              <a:extLst>
                <a:ext uri="{FF2B5EF4-FFF2-40B4-BE49-F238E27FC236}">
                  <a16:creationId xmlns:a16="http://schemas.microsoft.com/office/drawing/2014/main" id="{681EA69B-56AC-4028-AA5A-69B8C4D27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" y="2650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i</a:t>
              </a:r>
            </a:p>
          </p:txBody>
        </p:sp>
      </p:grpSp>
      <p:grpSp>
        <p:nvGrpSpPr>
          <p:cNvPr id="54279" name="Group 75">
            <a:extLst>
              <a:ext uri="{FF2B5EF4-FFF2-40B4-BE49-F238E27FC236}">
                <a16:creationId xmlns:a16="http://schemas.microsoft.com/office/drawing/2014/main" id="{F5FEBFC5-C220-51A7-3805-46D7C390DC97}"/>
              </a:ext>
            </a:extLst>
          </p:cNvPr>
          <p:cNvGrpSpPr>
            <a:grpSpLocks/>
          </p:cNvGrpSpPr>
          <p:nvPr/>
        </p:nvGrpSpPr>
        <p:grpSpPr bwMode="auto">
          <a:xfrm>
            <a:off x="942975" y="1595438"/>
            <a:ext cx="2819400" cy="2028825"/>
            <a:chOff x="1104" y="1008"/>
            <a:chExt cx="1776" cy="1278"/>
          </a:xfrm>
        </p:grpSpPr>
        <p:sp>
          <p:nvSpPr>
            <p:cNvPr id="54328" name="Line 56">
              <a:extLst>
                <a:ext uri="{FF2B5EF4-FFF2-40B4-BE49-F238E27FC236}">
                  <a16:creationId xmlns:a16="http://schemas.microsoft.com/office/drawing/2014/main" id="{8F332146-6A30-48B3-84BE-75E5F4BA2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056"/>
              <a:ext cx="0" cy="96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9" name="Line 57">
              <a:extLst>
                <a:ext uri="{FF2B5EF4-FFF2-40B4-BE49-F238E27FC236}">
                  <a16:creationId xmlns:a16="http://schemas.microsoft.com/office/drawing/2014/main" id="{A2F3C851-7CE3-CFF7-A663-DD36D0472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" y="1056"/>
              <a:ext cx="1680" cy="96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0" name="Line 58">
              <a:extLst>
                <a:ext uri="{FF2B5EF4-FFF2-40B4-BE49-F238E27FC236}">
                  <a16:creationId xmlns:a16="http://schemas.microsoft.com/office/drawing/2014/main" id="{6CF41CE2-7607-237D-9CB3-E0F2AAC85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96"/>
              <a:ext cx="0" cy="672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1" name="Line 59">
              <a:extLst>
                <a:ext uri="{FF2B5EF4-FFF2-40B4-BE49-F238E27FC236}">
                  <a16:creationId xmlns:a16="http://schemas.microsoft.com/office/drawing/2014/main" id="{1E8E66FF-5D61-F7C8-1559-101C95514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536"/>
              <a:ext cx="0" cy="48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2" name="Line 60">
              <a:extLst>
                <a:ext uri="{FF2B5EF4-FFF2-40B4-BE49-F238E27FC236}">
                  <a16:creationId xmlns:a16="http://schemas.microsoft.com/office/drawing/2014/main" id="{B2A0EE70-4417-81AA-9AD8-74DF979B1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728"/>
              <a:ext cx="0" cy="288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3" name="Line 61">
              <a:extLst>
                <a:ext uri="{FF2B5EF4-FFF2-40B4-BE49-F238E27FC236}">
                  <a16:creationId xmlns:a16="http://schemas.microsoft.com/office/drawing/2014/main" id="{7796C7A3-20B5-83F8-E556-A78C3FB47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016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4" name="Line 62">
              <a:extLst>
                <a:ext uri="{FF2B5EF4-FFF2-40B4-BE49-F238E27FC236}">
                  <a16:creationId xmlns:a16="http://schemas.microsoft.com/office/drawing/2014/main" id="{67400EAE-8CBA-1987-2E31-8601A3ED0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16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5" name="Line 63">
              <a:extLst>
                <a:ext uri="{FF2B5EF4-FFF2-40B4-BE49-F238E27FC236}">
                  <a16:creationId xmlns:a16="http://schemas.microsoft.com/office/drawing/2014/main" id="{9E16BB37-E938-7D6A-93B2-C8B7E9B58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046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6" name="Line 64">
              <a:extLst>
                <a:ext uri="{FF2B5EF4-FFF2-40B4-BE49-F238E27FC236}">
                  <a16:creationId xmlns:a16="http://schemas.microsoft.com/office/drawing/2014/main" id="{2E7EA16F-FAD1-0267-3B69-3F6B3624D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034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7" name="Line 65">
              <a:extLst>
                <a:ext uri="{FF2B5EF4-FFF2-40B4-BE49-F238E27FC236}">
                  <a16:creationId xmlns:a16="http://schemas.microsoft.com/office/drawing/2014/main" id="{B0C26643-A11C-EE5B-D0CE-B42243F42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016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8" name="Oval 66">
              <a:extLst>
                <a:ext uri="{FF2B5EF4-FFF2-40B4-BE49-F238E27FC236}">
                  <a16:creationId xmlns:a16="http://schemas.microsoft.com/office/drawing/2014/main" id="{3E7F24D8-BA72-E09B-31AA-95ED7071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008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39" name="Oval 67">
              <a:extLst>
                <a:ext uri="{FF2B5EF4-FFF2-40B4-BE49-F238E27FC236}">
                  <a16:creationId xmlns:a16="http://schemas.microsoft.com/office/drawing/2014/main" id="{96CBF6A8-A4FA-4019-8BC7-9B89B0262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221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40" name="Oval 68">
              <a:extLst>
                <a:ext uri="{FF2B5EF4-FFF2-40B4-BE49-F238E27FC236}">
                  <a16:creationId xmlns:a16="http://schemas.microsoft.com/office/drawing/2014/main" id="{2CD929D0-34A1-E3BD-F24D-40A5814C6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488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41" name="Oval 69">
              <a:extLst>
                <a:ext uri="{FF2B5EF4-FFF2-40B4-BE49-F238E27FC236}">
                  <a16:creationId xmlns:a16="http://schemas.microsoft.com/office/drawing/2014/main" id="{99AC948B-237A-3353-1558-97ECA5261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80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42" name="Oval 70">
              <a:extLst>
                <a:ext uri="{FF2B5EF4-FFF2-40B4-BE49-F238E27FC236}">
                  <a16:creationId xmlns:a16="http://schemas.microsoft.com/office/drawing/2014/main" id="{488C1CA4-C34B-738D-8AB0-6FEAD015B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968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43" name="Oval 71">
              <a:extLst>
                <a:ext uri="{FF2B5EF4-FFF2-40B4-BE49-F238E27FC236}">
                  <a16:creationId xmlns:a16="http://schemas.microsoft.com/office/drawing/2014/main" id="{906767EF-AFB4-F983-FF91-3333B25C3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016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44" name="Oval 72">
              <a:extLst>
                <a:ext uri="{FF2B5EF4-FFF2-40B4-BE49-F238E27FC236}">
                  <a16:creationId xmlns:a16="http://schemas.microsoft.com/office/drawing/2014/main" id="{C9C9A02F-C354-CEF0-352B-FF5BA9260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977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45" name="Oval 73">
              <a:extLst>
                <a:ext uri="{FF2B5EF4-FFF2-40B4-BE49-F238E27FC236}">
                  <a16:creationId xmlns:a16="http://schemas.microsoft.com/office/drawing/2014/main" id="{DBBB7360-409E-E8CA-6FDC-E1C11D227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938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46" name="Oval 74">
              <a:extLst>
                <a:ext uri="{FF2B5EF4-FFF2-40B4-BE49-F238E27FC236}">
                  <a16:creationId xmlns:a16="http://schemas.microsoft.com/office/drawing/2014/main" id="{955FFA4C-BD3F-2B35-2227-741ABDCA4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968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54280" name="Group 98">
            <a:extLst>
              <a:ext uri="{FF2B5EF4-FFF2-40B4-BE49-F238E27FC236}">
                <a16:creationId xmlns:a16="http://schemas.microsoft.com/office/drawing/2014/main" id="{F8831527-2FCF-B9E1-3DC7-43278406AC15}"/>
              </a:ext>
            </a:extLst>
          </p:cNvPr>
          <p:cNvGrpSpPr>
            <a:grpSpLocks/>
          </p:cNvGrpSpPr>
          <p:nvPr/>
        </p:nvGrpSpPr>
        <p:grpSpPr bwMode="auto">
          <a:xfrm>
            <a:off x="2166938" y="4387850"/>
            <a:ext cx="2819400" cy="2028825"/>
            <a:chOff x="2832" y="2736"/>
            <a:chExt cx="1776" cy="1278"/>
          </a:xfrm>
        </p:grpSpPr>
        <p:sp>
          <p:nvSpPr>
            <p:cNvPr id="54308" name="Line 77">
              <a:extLst>
                <a:ext uri="{FF2B5EF4-FFF2-40B4-BE49-F238E27FC236}">
                  <a16:creationId xmlns:a16="http://schemas.microsoft.com/office/drawing/2014/main" id="{228D5B99-0241-FBA7-3F76-953D80C6B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784"/>
              <a:ext cx="0" cy="96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9" name="Line 78">
              <a:extLst>
                <a:ext uri="{FF2B5EF4-FFF2-40B4-BE49-F238E27FC236}">
                  <a16:creationId xmlns:a16="http://schemas.microsoft.com/office/drawing/2014/main" id="{D1EC984E-3527-4FE8-2486-3790A3E54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" y="2784"/>
              <a:ext cx="1680" cy="96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0" name="Line 79">
              <a:extLst>
                <a:ext uri="{FF2B5EF4-FFF2-40B4-BE49-F238E27FC236}">
                  <a16:creationId xmlns:a16="http://schemas.microsoft.com/office/drawing/2014/main" id="{0C596E84-27FA-E306-327A-6081A32F4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024"/>
              <a:ext cx="0" cy="48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1" name="Line 80">
              <a:extLst>
                <a:ext uri="{FF2B5EF4-FFF2-40B4-BE49-F238E27FC236}">
                  <a16:creationId xmlns:a16="http://schemas.microsoft.com/office/drawing/2014/main" id="{8099DA52-F143-9AD3-22DD-A74200CDF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504"/>
              <a:ext cx="432" cy="24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2" name="Line 81">
              <a:extLst>
                <a:ext uri="{FF2B5EF4-FFF2-40B4-BE49-F238E27FC236}">
                  <a16:creationId xmlns:a16="http://schemas.microsoft.com/office/drawing/2014/main" id="{20E76924-11D0-30D0-E16C-4804F295E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456"/>
              <a:ext cx="0" cy="288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3" name="Line 82">
              <a:extLst>
                <a:ext uri="{FF2B5EF4-FFF2-40B4-BE49-F238E27FC236}">
                  <a16:creationId xmlns:a16="http://schemas.microsoft.com/office/drawing/2014/main" id="{5F04E09F-DF06-E77B-7206-FDA2BD647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744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4" name="Line 83">
              <a:extLst>
                <a:ext uri="{FF2B5EF4-FFF2-40B4-BE49-F238E27FC236}">
                  <a16:creationId xmlns:a16="http://schemas.microsoft.com/office/drawing/2014/main" id="{FE46B8DF-C157-BA81-B796-82457C3CB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744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5" name="Line 84">
              <a:extLst>
                <a:ext uri="{FF2B5EF4-FFF2-40B4-BE49-F238E27FC236}">
                  <a16:creationId xmlns:a16="http://schemas.microsoft.com/office/drawing/2014/main" id="{13BF1054-6970-7AC5-CF89-CB84F7528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774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6" name="Line 85">
              <a:extLst>
                <a:ext uri="{FF2B5EF4-FFF2-40B4-BE49-F238E27FC236}">
                  <a16:creationId xmlns:a16="http://schemas.microsoft.com/office/drawing/2014/main" id="{D81CA381-F7F1-C6AF-5635-C6F5A9AD4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762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7" name="Line 86">
              <a:extLst>
                <a:ext uri="{FF2B5EF4-FFF2-40B4-BE49-F238E27FC236}">
                  <a16:creationId xmlns:a16="http://schemas.microsoft.com/office/drawing/2014/main" id="{B8938EBF-E038-524D-4C27-CD843F779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3744"/>
              <a:ext cx="0" cy="240"/>
            </a:xfrm>
            <a:prstGeom prst="line">
              <a:avLst/>
            </a:prstGeom>
            <a:noFill/>
            <a:ln w="28575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8" name="Oval 87">
              <a:extLst>
                <a:ext uri="{FF2B5EF4-FFF2-40B4-BE49-F238E27FC236}">
                  <a16:creationId xmlns:a16="http://schemas.microsoft.com/office/drawing/2014/main" id="{9E41BFD0-BD49-FF1B-DCCD-E815F1532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736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19" name="Oval 88">
              <a:extLst>
                <a:ext uri="{FF2B5EF4-FFF2-40B4-BE49-F238E27FC236}">
                  <a16:creationId xmlns:a16="http://schemas.microsoft.com/office/drawing/2014/main" id="{29E4BC43-5260-C8F8-39FA-5766FB8B6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949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0" name="Oval 89">
              <a:extLst>
                <a:ext uri="{FF2B5EF4-FFF2-40B4-BE49-F238E27FC236}">
                  <a16:creationId xmlns:a16="http://schemas.microsoft.com/office/drawing/2014/main" id="{1341AD8F-2D9C-E0CB-3EA8-33BEA981A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" y="3714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1" name="Oval 90">
              <a:extLst>
                <a:ext uri="{FF2B5EF4-FFF2-40B4-BE49-F238E27FC236}">
                  <a16:creationId xmlns:a16="http://schemas.microsoft.com/office/drawing/2014/main" id="{B3975D80-21E9-EE71-7481-8F4B83204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408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2" name="Oval 91">
              <a:extLst>
                <a:ext uri="{FF2B5EF4-FFF2-40B4-BE49-F238E27FC236}">
                  <a16:creationId xmlns:a16="http://schemas.microsoft.com/office/drawing/2014/main" id="{807B01B4-DB36-12E3-2865-A21CFB6BC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696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3" name="Oval 92">
              <a:extLst>
                <a:ext uri="{FF2B5EF4-FFF2-40B4-BE49-F238E27FC236}">
                  <a16:creationId xmlns:a16="http://schemas.microsoft.com/office/drawing/2014/main" id="{A57A32EE-2D68-9B65-AAD8-9AB378FA0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744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4" name="Oval 93">
              <a:extLst>
                <a:ext uri="{FF2B5EF4-FFF2-40B4-BE49-F238E27FC236}">
                  <a16:creationId xmlns:a16="http://schemas.microsoft.com/office/drawing/2014/main" id="{947E90C4-8FF4-3E9E-9DD1-74E756509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705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5" name="Oval 94">
              <a:extLst>
                <a:ext uri="{FF2B5EF4-FFF2-40B4-BE49-F238E27FC236}">
                  <a16:creationId xmlns:a16="http://schemas.microsoft.com/office/drawing/2014/main" id="{F8E801C8-6692-D38B-C441-B4292FF84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456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6" name="Oval 95">
              <a:extLst>
                <a:ext uri="{FF2B5EF4-FFF2-40B4-BE49-F238E27FC236}">
                  <a16:creationId xmlns:a16="http://schemas.microsoft.com/office/drawing/2014/main" id="{549F8EE9-98CE-4FD8-E381-5080868B4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696"/>
              <a:ext cx="96" cy="96"/>
            </a:xfrm>
            <a:prstGeom prst="ellipse">
              <a:avLst/>
            </a:prstGeom>
            <a:solidFill>
              <a:srgbClr val="27007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4327" name="Line 96">
              <a:extLst>
                <a:ext uri="{FF2B5EF4-FFF2-40B4-BE49-F238E27FC236}">
                  <a16:creationId xmlns:a16="http://schemas.microsoft.com/office/drawing/2014/main" id="{80EC5C17-5D6A-744C-6DB6-70054C289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504"/>
              <a:ext cx="0" cy="240"/>
            </a:xfrm>
            <a:prstGeom prst="line">
              <a:avLst/>
            </a:prstGeom>
            <a:noFill/>
            <a:ln w="76200">
              <a:solidFill>
                <a:srgbClr val="27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281" name="Text Box 99">
            <a:extLst>
              <a:ext uri="{FF2B5EF4-FFF2-40B4-BE49-F238E27FC236}">
                <a16:creationId xmlns:a16="http://schemas.microsoft.com/office/drawing/2014/main" id="{2100F24E-A02E-4137-B6F2-95217947E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0732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82" name="Text Box 100">
            <a:extLst>
              <a:ext uri="{FF2B5EF4-FFF2-40B4-BE49-F238E27FC236}">
                <a16:creationId xmlns:a16="http://schemas.microsoft.com/office/drawing/2014/main" id="{09194ACF-36A9-DB6C-51C6-0398B2C50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682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4283" name="Text Box 101">
            <a:extLst>
              <a:ext uri="{FF2B5EF4-FFF2-40B4-BE49-F238E27FC236}">
                <a16:creationId xmlns:a16="http://schemas.microsoft.com/office/drawing/2014/main" id="{5BE52B5E-7125-5CAC-9BBB-7EC9E1290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682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84" name="Text Box 102">
            <a:extLst>
              <a:ext uri="{FF2B5EF4-FFF2-40B4-BE49-F238E27FC236}">
                <a16:creationId xmlns:a16="http://schemas.microsoft.com/office/drawing/2014/main" id="{A14872D4-3AEB-64E7-B849-F19B0403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444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85" name="Text Box 103">
            <a:extLst>
              <a:ext uri="{FF2B5EF4-FFF2-40B4-BE49-F238E27FC236}">
                <a16:creationId xmlns:a16="http://schemas.microsoft.com/office/drawing/2014/main" id="{9F0CF7F6-537E-B062-C8D3-18741A2F0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5210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4286" name="Text Box 104">
            <a:extLst>
              <a:ext uri="{FF2B5EF4-FFF2-40B4-BE49-F238E27FC236}">
                <a16:creationId xmlns:a16="http://schemas.microsoft.com/office/drawing/2014/main" id="{E56F9C56-1355-D121-CF56-67CBAE8F1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1148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4287" name="Text Box 105">
            <a:extLst>
              <a:ext uri="{FF2B5EF4-FFF2-40B4-BE49-F238E27FC236}">
                <a16:creationId xmlns:a16="http://schemas.microsoft.com/office/drawing/2014/main" id="{859A80FC-6A4E-30D4-AD6F-8C1306B9C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1910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88" name="Text Box 106">
            <a:extLst>
              <a:ext uri="{FF2B5EF4-FFF2-40B4-BE49-F238E27FC236}">
                <a16:creationId xmlns:a16="http://schemas.microsoft.com/office/drawing/2014/main" id="{E713E202-72F2-7734-785C-0D47495AD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0574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89" name="Text Box 107">
            <a:extLst>
              <a:ext uri="{FF2B5EF4-FFF2-40B4-BE49-F238E27FC236}">
                <a16:creationId xmlns:a16="http://schemas.microsoft.com/office/drawing/2014/main" id="{51754165-1BE5-0EA4-5041-415AD845E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2192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4290" name="Text Box 108">
            <a:extLst>
              <a:ext uri="{FF2B5EF4-FFF2-40B4-BE49-F238E27FC236}">
                <a16:creationId xmlns:a16="http://schemas.microsoft.com/office/drawing/2014/main" id="{4EB73469-27D4-DF6A-B26A-496454FBD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8194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91" name="Text Box 109">
            <a:extLst>
              <a:ext uri="{FF2B5EF4-FFF2-40B4-BE49-F238E27FC236}">
                <a16:creationId xmlns:a16="http://schemas.microsoft.com/office/drawing/2014/main" id="{BE18BB56-B94A-F980-2F01-BD4E7E11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3528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4292" name="Text Box 110">
            <a:extLst>
              <a:ext uri="{FF2B5EF4-FFF2-40B4-BE49-F238E27FC236}">
                <a16:creationId xmlns:a16="http://schemas.microsoft.com/office/drawing/2014/main" id="{A110E9EA-70BD-9F75-14E1-D58E9A3C1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148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93" name="Text Box 111">
            <a:extLst>
              <a:ext uri="{FF2B5EF4-FFF2-40B4-BE49-F238E27FC236}">
                <a16:creationId xmlns:a16="http://schemas.microsoft.com/office/drawing/2014/main" id="{DC052C54-912A-6C0B-6DA3-76C4CED21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8768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4294" name="Text Box 112">
            <a:extLst>
              <a:ext uri="{FF2B5EF4-FFF2-40B4-BE49-F238E27FC236}">
                <a16:creationId xmlns:a16="http://schemas.microsoft.com/office/drawing/2014/main" id="{11E07818-6739-1CF9-2E55-8992591A3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876800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fr-FR" altLang="en-US" sz="2400" b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4295" name="Line 113">
            <a:extLst>
              <a:ext uri="{FF2B5EF4-FFF2-40B4-BE49-F238E27FC236}">
                <a16:creationId xmlns:a16="http://schemas.microsoft.com/office/drawing/2014/main" id="{B679A02E-D88F-F246-087E-E0B3DDC27B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1600200"/>
            <a:ext cx="762000" cy="4572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6" name="Line 114">
            <a:extLst>
              <a:ext uri="{FF2B5EF4-FFF2-40B4-BE49-F238E27FC236}">
                <a16:creationId xmlns:a16="http://schemas.microsoft.com/office/drawing/2014/main" id="{31C9649C-9EBE-5D82-12EC-DD05AF72F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600200"/>
            <a:ext cx="762000" cy="6096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7" name="Line 115">
            <a:extLst>
              <a:ext uri="{FF2B5EF4-FFF2-40B4-BE49-F238E27FC236}">
                <a16:creationId xmlns:a16="http://schemas.microsoft.com/office/drawing/2014/main" id="{2E22DEDD-1BD6-EA2D-969C-9EE82215F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438400"/>
            <a:ext cx="609600" cy="3048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8" name="Line 116">
            <a:extLst>
              <a:ext uri="{FF2B5EF4-FFF2-40B4-BE49-F238E27FC236}">
                <a16:creationId xmlns:a16="http://schemas.microsoft.com/office/drawing/2014/main" id="{9D9AB03A-9AAF-4FFF-9787-32C5E3EA9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438400"/>
            <a:ext cx="457200" cy="3048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99" name="Line 117">
            <a:extLst>
              <a:ext uri="{FF2B5EF4-FFF2-40B4-BE49-F238E27FC236}">
                <a16:creationId xmlns:a16="http://schemas.microsoft.com/office/drawing/2014/main" id="{D8F49FFE-E864-95B8-522C-095E9C89EE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2971800"/>
            <a:ext cx="609600" cy="5334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0" name="Line 118">
            <a:extLst>
              <a:ext uri="{FF2B5EF4-FFF2-40B4-BE49-F238E27FC236}">
                <a16:creationId xmlns:a16="http://schemas.microsoft.com/office/drawing/2014/main" id="{4DB2D1BF-7CB2-D5CD-BC2C-863B3605E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2971800"/>
            <a:ext cx="685800" cy="5334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1" name="Line 119">
            <a:extLst>
              <a:ext uri="{FF2B5EF4-FFF2-40B4-BE49-F238E27FC236}">
                <a16:creationId xmlns:a16="http://schemas.microsoft.com/office/drawing/2014/main" id="{2F879975-E01A-9815-F91E-B0613E579E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3810000"/>
            <a:ext cx="304800" cy="3810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2" name="Line 120">
            <a:extLst>
              <a:ext uri="{FF2B5EF4-FFF2-40B4-BE49-F238E27FC236}">
                <a16:creationId xmlns:a16="http://schemas.microsoft.com/office/drawing/2014/main" id="{0B1BC297-AEC6-6CF6-228D-4C67C2CE9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810000"/>
            <a:ext cx="381000" cy="3810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3" name="Line 121">
            <a:extLst>
              <a:ext uri="{FF2B5EF4-FFF2-40B4-BE49-F238E27FC236}">
                <a16:creationId xmlns:a16="http://schemas.microsoft.com/office/drawing/2014/main" id="{B118218C-75B3-C9FE-BBFE-66491DB45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362200"/>
            <a:ext cx="0" cy="5334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4" name="Line 122">
            <a:extLst>
              <a:ext uri="{FF2B5EF4-FFF2-40B4-BE49-F238E27FC236}">
                <a16:creationId xmlns:a16="http://schemas.microsoft.com/office/drawing/2014/main" id="{F1E89BEC-70C4-FF1D-6EBB-9F6308B3AD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971800"/>
            <a:ext cx="0" cy="4572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5" name="Line 123">
            <a:extLst>
              <a:ext uri="{FF2B5EF4-FFF2-40B4-BE49-F238E27FC236}">
                <a16:creationId xmlns:a16="http://schemas.microsoft.com/office/drawing/2014/main" id="{20D0F036-8F7B-DDAA-10B6-BEFF9ED4C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810000"/>
            <a:ext cx="0" cy="3810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6" name="Line 125">
            <a:extLst>
              <a:ext uri="{FF2B5EF4-FFF2-40B4-BE49-F238E27FC236}">
                <a16:creationId xmlns:a16="http://schemas.microsoft.com/office/drawing/2014/main" id="{3951E7A3-18C6-BD5B-753B-72292E035E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419600"/>
            <a:ext cx="0" cy="5334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7" name="Line 126">
            <a:extLst>
              <a:ext uri="{FF2B5EF4-FFF2-40B4-BE49-F238E27FC236}">
                <a16:creationId xmlns:a16="http://schemas.microsoft.com/office/drawing/2014/main" id="{2429596F-CA4B-2EBC-22B9-F164F5D4A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419600"/>
            <a:ext cx="0" cy="533400"/>
          </a:xfrm>
          <a:prstGeom prst="line">
            <a:avLst/>
          </a:prstGeom>
          <a:noFill/>
          <a:ln w="9525">
            <a:solidFill>
              <a:srgbClr val="27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>
            <a:extLst>
              <a:ext uri="{FF2B5EF4-FFF2-40B4-BE49-F238E27FC236}">
                <a16:creationId xmlns:a16="http://schemas.microsoft.com/office/drawing/2014/main" id="{63E214A1-5095-5993-F9EB-B0A7C5F19E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A5559A-540F-4488-938C-81AFBDED1F6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5737594E-8AF7-D654-2CED-CC18B7D49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Bài tập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1F54075D-D456-E883-C211-BDEC09049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839200" cy="5486400"/>
          </a:xfrm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kumimoji="1" lang="en-US" altLang="en-US" dirty="0">
                <a:latin typeface="Arial Narrow" panose="020B0606020202030204" pitchFamily="34" charset="0"/>
              </a:rPr>
              <a:t>S 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NP VP			</a:t>
            </a:r>
          </a:p>
          <a:p>
            <a:pPr>
              <a:spcBef>
                <a:spcPts val="600"/>
              </a:spcBef>
              <a:defRPr/>
            </a:pPr>
            <a:r>
              <a:rPr kumimoji="1" lang="en-US" altLang="en-US" dirty="0">
                <a:latin typeface="Arial Narrow" panose="020B0606020202030204" pitchFamily="34" charset="0"/>
              </a:rPr>
              <a:t>NP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</a:t>
            </a:r>
            <a:r>
              <a:rPr kumimoji="1" lang="en-US" altLang="en-US" dirty="0" err="1">
                <a:latin typeface="Arial Narrow" panose="020B0606020202030204" pitchFamily="34" charset="0"/>
              </a:rPr>
              <a:t>Det</a:t>
            </a:r>
            <a:r>
              <a:rPr kumimoji="1" lang="en-US" altLang="en-US" dirty="0">
                <a:latin typeface="Arial Narrow" panose="020B0606020202030204" pitchFamily="34" charset="0"/>
              </a:rPr>
              <a:t> N | NP PP	 |  </a:t>
            </a:r>
            <a:r>
              <a:rPr kumimoji="1" lang="en-US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Papa</a:t>
            </a:r>
            <a:r>
              <a:rPr kumimoji="1" lang="en-US" altLang="en-US" dirty="0">
                <a:latin typeface="Arial Narrow" panose="020B0606020202030204" pitchFamily="34" charset="0"/>
              </a:rPr>
              <a:t>		</a:t>
            </a:r>
          </a:p>
          <a:p>
            <a:pPr>
              <a:spcBef>
                <a:spcPts val="600"/>
              </a:spcBef>
              <a:defRPr/>
            </a:pPr>
            <a:r>
              <a:rPr kumimoji="1" lang="en-US" altLang="en-US" dirty="0">
                <a:latin typeface="Arial Narrow" panose="020B0606020202030204" pitchFamily="34" charset="0"/>
              </a:rPr>
              <a:t>VP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VP PP| V NP </a:t>
            </a:r>
          </a:p>
          <a:p>
            <a:pPr>
              <a:spcBef>
                <a:spcPts val="600"/>
              </a:spcBef>
              <a:defRPr/>
            </a:pPr>
            <a:r>
              <a:rPr kumimoji="1" lang="en-US" altLang="en-US" dirty="0">
                <a:latin typeface="Arial Narrow" panose="020B0606020202030204" pitchFamily="34" charset="0"/>
              </a:rPr>
              <a:t>PP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P NP 				</a:t>
            </a:r>
          </a:p>
          <a:p>
            <a:pPr>
              <a:spcBef>
                <a:spcPts val="600"/>
              </a:spcBef>
              <a:defRPr/>
            </a:pPr>
            <a:r>
              <a:rPr kumimoji="1" lang="en-US" altLang="en-US" dirty="0">
                <a:latin typeface="Arial Narrow" panose="020B0606020202030204" pitchFamily="34" charset="0"/>
              </a:rPr>
              <a:t>N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</a:t>
            </a:r>
            <a:r>
              <a:rPr kumimoji="1" lang="en-US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caviar</a:t>
            </a:r>
            <a:r>
              <a:rPr kumimoji="1" lang="en-US" altLang="en-US" dirty="0">
                <a:latin typeface="Arial Narrow" panose="020B0606020202030204" pitchFamily="34" charset="0"/>
              </a:rPr>
              <a:t> | </a:t>
            </a:r>
            <a:r>
              <a:rPr kumimoji="1" lang="en-US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spoon</a:t>
            </a:r>
          </a:p>
          <a:p>
            <a:pPr>
              <a:spcBef>
                <a:spcPts val="600"/>
              </a:spcBef>
              <a:defRPr/>
            </a:pPr>
            <a:r>
              <a:rPr kumimoji="1" lang="en-US" altLang="en-US" dirty="0">
                <a:latin typeface="Arial Narrow" panose="020B0606020202030204" pitchFamily="34" charset="0"/>
              </a:rPr>
              <a:t>V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</a:t>
            </a:r>
            <a:r>
              <a:rPr kumimoji="1" lang="en-US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ate</a:t>
            </a:r>
          </a:p>
          <a:p>
            <a:pPr>
              <a:spcBef>
                <a:spcPts val="600"/>
              </a:spcBef>
              <a:defRPr/>
            </a:pPr>
            <a:r>
              <a:rPr kumimoji="1" lang="en-US" altLang="en-US" dirty="0">
                <a:latin typeface="Arial Narrow" panose="020B0606020202030204" pitchFamily="34" charset="0"/>
              </a:rPr>
              <a:t>P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</a:t>
            </a:r>
            <a:r>
              <a:rPr kumimoji="1" lang="en-US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with</a:t>
            </a:r>
          </a:p>
          <a:p>
            <a:pPr>
              <a:spcBef>
                <a:spcPts val="600"/>
              </a:spcBef>
              <a:defRPr/>
            </a:pPr>
            <a:r>
              <a:rPr kumimoji="1" lang="en-US" altLang="en-US" dirty="0" err="1">
                <a:latin typeface="Arial Narrow" panose="020B0606020202030204" pitchFamily="34" charset="0"/>
              </a:rPr>
              <a:t>Det</a:t>
            </a:r>
            <a:r>
              <a:rPr kumimoji="1" lang="en-US" altLang="en-US" dirty="0">
                <a:latin typeface="Arial Narrow" panose="020B0606020202030204" pitchFamily="34" charset="0"/>
              </a:rPr>
              <a:t>	</a:t>
            </a:r>
            <a:r>
              <a:rPr kumimoji="1" lang="en-US" altLang="en-US" dirty="0">
                <a:latin typeface="Arial Narrow" panose="020B060602020203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en-US" dirty="0">
                <a:latin typeface="Arial Narrow" panose="020B0606020202030204" pitchFamily="34" charset="0"/>
              </a:rPr>
              <a:t> </a:t>
            </a:r>
            <a:r>
              <a:rPr kumimoji="1" lang="en-US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the</a:t>
            </a:r>
            <a:r>
              <a:rPr kumimoji="1" lang="en-US" altLang="en-US" dirty="0">
                <a:latin typeface="Arial Narrow" panose="020B0606020202030204" pitchFamily="34" charset="0"/>
              </a:rPr>
              <a:t> | </a:t>
            </a:r>
            <a:r>
              <a:rPr kumimoji="1" lang="en-US" alt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a</a:t>
            </a:r>
          </a:p>
          <a:p>
            <a:pPr marL="0" indent="0">
              <a:spcBef>
                <a:spcPts val="600"/>
              </a:spcBef>
              <a:buFontTx/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 : </a:t>
            </a:r>
            <a:r>
              <a:rPr kumimoji="1" lang="en-US" altLang="en-US" dirty="0">
                <a:solidFill>
                  <a:srgbClr val="FF0000"/>
                </a:solidFill>
              </a:rPr>
              <a:t>Papa ate the caviar with </a:t>
            </a:r>
            <a:r>
              <a:rPr kumimoji="1" lang="en-US" altLang="en-US" sz="1800" dirty="0">
                <a:solidFill>
                  <a:srgbClr val="3399FF"/>
                </a:solidFill>
                <a:latin typeface="Arial Narrow" panose="020B0606020202030204" pitchFamily="34" charset="0"/>
              </a:rPr>
              <a:t> </a:t>
            </a:r>
            <a:r>
              <a:rPr kumimoji="1" lang="en-US" altLang="en-US" dirty="0">
                <a:solidFill>
                  <a:srgbClr val="FF0000"/>
                </a:solidFill>
              </a:rPr>
              <a:t>a spoon</a:t>
            </a:r>
            <a:endParaRPr kumimoji="1" lang="en-US" altLang="en-US" sz="1800" dirty="0">
              <a:solidFill>
                <a:srgbClr val="3399FF"/>
              </a:solidFill>
              <a:latin typeface="Arial Narrow" panose="020B0606020202030204" pitchFamily="34" charset="0"/>
            </a:endParaRPr>
          </a:p>
          <a:p>
            <a:pPr>
              <a:defRPr/>
            </a:pPr>
            <a:endParaRPr kumimoji="1" lang="en-US" altLang="en-US" dirty="0">
              <a:latin typeface="Arial Narrow" panose="020B0606020202030204" pitchFamily="34" charset="0"/>
            </a:endParaRPr>
          </a:p>
          <a:p>
            <a:pPr marL="609600" indent="-609600" eaLnBrk="1" hangingPunct="1">
              <a:lnSpc>
                <a:spcPct val="110000"/>
              </a:lnSpc>
              <a:buFontTx/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2582CE33-F579-B53A-309B-3018CFD97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>
            <a:extLst>
              <a:ext uri="{FF2B5EF4-FFF2-40B4-BE49-F238E27FC236}">
                <a16:creationId xmlns:a16="http://schemas.microsoft.com/office/drawing/2014/main" id="{1283E3DF-C650-77F4-4143-F7C7A2ED4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3510BA-F305-47AC-9160-937F6AE6DA6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E1EFAF33-AD48-7928-86FB-BA4CD2610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Giải thuật CYK</a:t>
            </a:r>
            <a:r>
              <a:rPr lang="en-US" altLang="en-US">
                <a:sym typeface="Symbol" panose="05050102010706020507" pitchFamily="18" charset="2"/>
              </a:rPr>
              <a:t>Bài tập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C699818-A56E-6207-F426-B5747839C5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534400" cy="1371600"/>
          </a:xfrm>
        </p:spPr>
        <p:txBody>
          <a:bodyPr/>
          <a:lstStyle/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Cho văn phạm S</a:t>
            </a:r>
            <a:r>
              <a:rPr lang="en-US" altLang="en-US">
                <a:sym typeface="Symbol" panose="05050102010706020507" pitchFamily="18" charset="2"/>
              </a:rPr>
              <a:t>aSbS | aS| c</a:t>
            </a:r>
          </a:p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Dùng phương pháp CYK phân tích  : aacbc</a:t>
            </a:r>
          </a:p>
        </p:txBody>
      </p:sp>
      <p:sp>
        <p:nvSpPr>
          <p:cNvPr id="56325" name="Text Box 4">
            <a:extLst>
              <a:ext uri="{FF2B5EF4-FFF2-40B4-BE49-F238E27FC236}">
                <a16:creationId xmlns:a16="http://schemas.microsoft.com/office/drawing/2014/main" id="{88C994E1-D1B0-CF16-39F7-5019E2C00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>
            <a:extLst>
              <a:ext uri="{FF2B5EF4-FFF2-40B4-BE49-F238E27FC236}">
                <a16:creationId xmlns:a16="http://schemas.microsoft.com/office/drawing/2014/main" id="{E8E6C5D6-D548-7E5F-E6B8-C7D3238556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01FEF3-3921-4F0B-BDAB-F1A61FAAEE7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680386" name="Rectangle 2">
            <a:extLst>
              <a:ext uri="{FF2B5EF4-FFF2-40B4-BE49-F238E27FC236}">
                <a16:creationId xmlns:a16="http://schemas.microsoft.com/office/drawing/2014/main" id="{154E6331-623F-CD02-D4D8-C954D75EE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386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745E70AD-91F3-B277-42C4-B97768897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3: Phân tích cú pháp</a:t>
            </a:r>
          </a:p>
        </p:txBody>
      </p:sp>
      <p:sp>
        <p:nvSpPr>
          <p:cNvPr id="57349" name="Rectangle 4">
            <a:extLst>
              <a:ext uri="{FF2B5EF4-FFF2-40B4-BE49-F238E27FC236}">
                <a16:creationId xmlns:a16="http://schemas.microsoft.com/office/drawing/2014/main" id="{92667A09-A8A5-FCD2-55EC-2A6CB92EFF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219200"/>
            <a:ext cx="8724900" cy="4648200"/>
          </a:xfrm>
        </p:spPr>
        <p:txBody>
          <a:bodyPr/>
          <a:lstStyle/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Phương pháp phân tích cú pháp quay lui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bảng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cú pháp tất định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Xây dựng bộ phân tích cú pháp cho PL/0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038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>
            <a:extLst>
              <a:ext uri="{FF2B5EF4-FFF2-40B4-BE49-F238E27FC236}">
                <a16:creationId xmlns:a16="http://schemas.microsoft.com/office/drawing/2014/main" id="{A31F15E7-5FFA-EE72-C543-78152DF6F4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449F4F-D9AC-4C25-900D-0A00C387A3F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7AF1595C-0A5B-6F18-61C3-86940463C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Nội dung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A3A5B71-D0AC-EBBA-FA13-1DD815766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524000"/>
            <a:ext cx="8724900" cy="3733800"/>
          </a:xfrm>
        </p:spPr>
        <p:txBody>
          <a:bodyPr/>
          <a:lstStyle/>
          <a:p>
            <a:pPr marL="609600" indent="-609600" algn="just" eaLnBrk="1" hangingPunct="1">
              <a:lnSpc>
                <a:spcPct val="15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z="4000"/>
              <a:t>Giới thiệu</a:t>
            </a:r>
          </a:p>
          <a:p>
            <a:pPr marL="609600" indent="-609600" algn="just" eaLnBrk="1" hangingPunct="1">
              <a:lnSpc>
                <a:spcPct val="15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z="4000"/>
              <a:t>Phân tích Top-Down</a:t>
            </a:r>
          </a:p>
          <a:p>
            <a:pPr marL="609600" indent="-609600" algn="just" eaLnBrk="1" hangingPunct="1">
              <a:lnSpc>
                <a:spcPct val="15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z="4000"/>
              <a:t>Phân tích Bottom-Up</a:t>
            </a:r>
          </a:p>
        </p:txBody>
      </p:sp>
      <p:sp>
        <p:nvSpPr>
          <p:cNvPr id="58373" name="Text Box 4">
            <a:extLst>
              <a:ext uri="{FF2B5EF4-FFF2-40B4-BE49-F238E27FC236}">
                <a16:creationId xmlns:a16="http://schemas.microsoft.com/office/drawing/2014/main" id="{04D7CD3A-C18E-0F50-4E6B-401394385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>
            <a:extLst>
              <a:ext uri="{FF2B5EF4-FFF2-40B4-BE49-F238E27FC236}">
                <a16:creationId xmlns:a16="http://schemas.microsoft.com/office/drawing/2014/main" id="{CCFADFED-9A69-EF78-9409-E16F4FE88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89D610-5D30-4F5F-9A8A-61763DF1B80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71A69B5-1429-9250-1825-699AAB4EB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Giới thiệu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CCA5E6C-7AAB-ED17-C28F-5186D2DD9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524000"/>
            <a:ext cx="8420100" cy="38862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sz="3600"/>
              <a:t>Phân tích tất định xem xét một lượt xâu vào từ trái qua phải và tại mỗi bước sẽ xác định được </a:t>
            </a:r>
            <a:r>
              <a:rPr lang="en-US" altLang="en-US" sz="3600" b="1">
                <a:solidFill>
                  <a:srgbClr val="3539EB"/>
                </a:solidFill>
              </a:rPr>
              <a:t>duy nhất một sản xuất</a:t>
            </a:r>
            <a:r>
              <a:rPr lang="en-US" altLang="en-US" sz="3600"/>
              <a:t> phù hợp với trạng thái hiện tại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3B57DB3F-C363-7BDA-CF79-0D560051F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>
            <a:extLst>
              <a:ext uri="{FF2B5EF4-FFF2-40B4-BE49-F238E27FC236}">
                <a16:creationId xmlns:a16="http://schemas.microsoft.com/office/drawing/2014/main" id="{C61EB1C3-257D-FB65-7EEA-ABBA68B270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1D7B61-8B7C-42D5-B9DD-5B37A6D72F6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C8E25B9-AE33-736D-085A-B65F26DF3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Ví dụ 1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85A4E5A-213E-67B1-BD15-76199F3C19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914400"/>
            <a:ext cx="7543800" cy="12954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Văn phạm:	 S </a:t>
            </a:r>
            <a:r>
              <a:rPr lang="en-US" altLang="en-US" sz="2800">
                <a:sym typeface="Symbol" panose="05050102010706020507" pitchFamily="18" charset="2"/>
              </a:rPr>
              <a:t> aA  ,  A c|bA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Xâu cần phân tích: abbc</a:t>
            </a:r>
          </a:p>
        </p:txBody>
      </p:sp>
      <p:sp>
        <p:nvSpPr>
          <p:cNvPr id="60421" name="Text Box 4">
            <a:extLst>
              <a:ext uri="{FF2B5EF4-FFF2-40B4-BE49-F238E27FC236}">
                <a16:creationId xmlns:a16="http://schemas.microsoft.com/office/drawing/2014/main" id="{259C27B3-97AB-2AB0-9B32-F4158BC3C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588296" name="Group 72">
            <a:extLst>
              <a:ext uri="{FF2B5EF4-FFF2-40B4-BE49-F238E27FC236}">
                <a16:creationId xmlns:a16="http://schemas.microsoft.com/office/drawing/2014/main" id="{EDD8991F-3974-56FC-C500-162FEB3F449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62000" y="2413000"/>
          <a:ext cx="5715000" cy="414496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K/hiệu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Xâu phân tích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bbc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aA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bbc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So sánh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So sánh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588299" name="Group 75">
            <a:extLst>
              <a:ext uri="{FF2B5EF4-FFF2-40B4-BE49-F238E27FC236}">
                <a16:creationId xmlns:a16="http://schemas.microsoft.com/office/drawing/2014/main" id="{2FA54541-4163-15F8-B7E5-8344853DBD38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286000"/>
            <a:ext cx="2062163" cy="4343400"/>
            <a:chOff x="4128" y="1440"/>
            <a:chExt cx="1299" cy="2736"/>
          </a:xfrm>
        </p:grpSpPr>
        <p:sp>
          <p:nvSpPr>
            <p:cNvPr id="60461" name="AutoShape 73">
              <a:extLst>
                <a:ext uri="{FF2B5EF4-FFF2-40B4-BE49-F238E27FC236}">
                  <a16:creationId xmlns:a16="http://schemas.microsoft.com/office/drawing/2014/main" id="{ECCFDA9A-C2A8-05BF-4A73-408586557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440"/>
              <a:ext cx="336" cy="2736"/>
            </a:xfrm>
            <a:prstGeom prst="rightBrace">
              <a:avLst>
                <a:gd name="adj1" fmla="val 678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0462" name="Text Box 74">
              <a:extLst>
                <a:ext uri="{FF2B5EF4-FFF2-40B4-BE49-F238E27FC236}">
                  <a16:creationId xmlns:a16="http://schemas.microsoft.com/office/drawing/2014/main" id="{4C711B72-95F0-1CE9-0FD0-509934E13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4423" y="1632"/>
              <a:ext cx="1004" cy="2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Sản xuất luôn được lựa chọn duy nhất nhờ xem trước một ký hiệu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8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E2C6B5E3-4805-6D12-6D5C-8E20B0E402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0BB986-92C7-44A3-9FFE-51AAE0824C3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DC0E4FC-4025-814F-9626-9EB367433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Ví dụ 2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DD57365C-04C0-8515-D685-BFB043396E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762000"/>
            <a:ext cx="8382000" cy="1066800"/>
          </a:xfrm>
        </p:spPr>
        <p:txBody>
          <a:bodyPr/>
          <a:lstStyle/>
          <a:p>
            <a:pPr marL="0" indent="0" eaLnBrk="1" hangingPunct="1">
              <a:spcBef>
                <a:spcPct val="15000"/>
              </a:spcBef>
              <a:buFontTx/>
              <a:buNone/>
            </a:pPr>
            <a:r>
              <a:rPr lang="en-US" altLang="en-US"/>
              <a:t>Văn phạm: 	S </a:t>
            </a:r>
            <a:r>
              <a:rPr lang="en-US" altLang="en-US" sz="2800">
                <a:sym typeface="Symbol" panose="05050102010706020507" pitchFamily="18" charset="2"/>
              </a:rPr>
              <a:t> A|B , A aA|c,  B aB|b</a:t>
            </a:r>
          </a:p>
          <a:p>
            <a:pPr marL="0" indent="0" eaLnBrk="1" hangingPunct="1">
              <a:spcBef>
                <a:spcPct val="1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Xâu phân tích: aab</a:t>
            </a:r>
          </a:p>
        </p:txBody>
      </p:sp>
      <p:sp>
        <p:nvSpPr>
          <p:cNvPr id="61445" name="Text Box 4">
            <a:extLst>
              <a:ext uri="{FF2B5EF4-FFF2-40B4-BE49-F238E27FC236}">
                <a16:creationId xmlns:a16="http://schemas.microsoft.com/office/drawing/2014/main" id="{645C2D81-7A50-BB03-C505-6B0373DE7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589295" name="Group 47">
            <a:extLst>
              <a:ext uri="{FF2B5EF4-FFF2-40B4-BE49-F238E27FC236}">
                <a16:creationId xmlns:a16="http://schemas.microsoft.com/office/drawing/2014/main" id="{B56C6BE7-3473-B368-F6BE-661F7FB0AB1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57200" y="1905000"/>
          <a:ext cx="5715000" cy="368776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K/hiệu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Xâu phân tích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xuất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ab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ab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ab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So sánh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A0617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So sánh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89297" name="Group 49">
            <a:extLst>
              <a:ext uri="{FF2B5EF4-FFF2-40B4-BE49-F238E27FC236}">
                <a16:creationId xmlns:a16="http://schemas.microsoft.com/office/drawing/2014/main" id="{CEB1F643-4AA2-8935-C047-3B15EE7227FA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766888"/>
            <a:ext cx="2368550" cy="3810000"/>
            <a:chOff x="3984" y="1113"/>
            <a:chExt cx="1492" cy="2400"/>
          </a:xfrm>
        </p:grpSpPr>
        <p:sp>
          <p:nvSpPr>
            <p:cNvPr id="61482" name="AutoShape 44">
              <a:extLst>
                <a:ext uri="{FF2B5EF4-FFF2-40B4-BE49-F238E27FC236}">
                  <a16:creationId xmlns:a16="http://schemas.microsoft.com/office/drawing/2014/main" id="{58966397-0176-EA43-5DF5-1F6BA860C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152"/>
              <a:ext cx="336" cy="235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1483" name="Text Box 45">
              <a:extLst>
                <a:ext uri="{FF2B5EF4-FFF2-40B4-BE49-F238E27FC236}">
                  <a16:creationId xmlns:a16="http://schemas.microsoft.com/office/drawing/2014/main" id="{E7828AFF-23AE-F203-6621-6052B0126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4176" y="1113"/>
              <a:ext cx="1300" cy="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accent2"/>
                  </a:solidFill>
                </a:rPr>
                <a:t>Nhìn trước một ký hiệu chưa đủ để lựa chọn đúng sản xuất</a:t>
              </a:r>
              <a:r>
                <a:rPr lang="en-US" altLang="en-US" sz="2800" b="0">
                  <a:solidFill>
                    <a:schemeClr val="accent2"/>
                  </a:solidFill>
                  <a:sym typeface="Symbol" panose="05050102010706020507" pitchFamily="18" charset="2"/>
                </a:rPr>
                <a:t>Phải thực hiện quay lui</a:t>
              </a:r>
            </a:p>
          </p:txBody>
        </p:sp>
      </p:grpSp>
      <p:sp>
        <p:nvSpPr>
          <p:cNvPr id="1589296" name="Text Box 48">
            <a:extLst>
              <a:ext uri="{FF2B5EF4-FFF2-40B4-BE49-F238E27FC236}">
                <a16:creationId xmlns:a16="http://schemas.microsoft.com/office/drawing/2014/main" id="{06AE6CC3-5FD9-681B-F1FA-CAD6342D7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638800"/>
            <a:ext cx="85344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accent2"/>
                </a:solidFill>
              </a:rPr>
              <a:t>Để tránh quay lui, thuật toán phân tích tất định giới hạn trong một số lớp ngôn ngữ: </a:t>
            </a:r>
            <a:r>
              <a:rPr lang="en-US" altLang="en-US" sz="2800" b="0">
                <a:solidFill>
                  <a:srgbClr val="3539EB"/>
                </a:solidFill>
              </a:rPr>
              <a:t>LL(k),</a:t>
            </a:r>
            <a:r>
              <a:rPr lang="en-US" altLang="en-US" sz="2800" b="0">
                <a:solidFill>
                  <a:schemeClr val="accent2"/>
                </a:solidFill>
              </a:rPr>
              <a:t> </a:t>
            </a:r>
            <a:r>
              <a:rPr lang="en-US" altLang="en-US" sz="2800" b="0">
                <a:solidFill>
                  <a:srgbClr val="3539EB"/>
                </a:solidFill>
              </a:rPr>
              <a:t>LR(k),…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9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9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9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9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929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>
            <a:extLst>
              <a:ext uri="{FF2B5EF4-FFF2-40B4-BE49-F238E27FC236}">
                <a16:creationId xmlns:a16="http://schemas.microsoft.com/office/drawing/2014/main" id="{11721488-7640-5158-D5B9-390FB02C8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95029E-F36A-45BF-924C-6B082A082B1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5C03CAC-14EE-65D7-20A9-A3C6266EA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cấp các ngôn ngữ phi ngữ cảnh</a:t>
            </a: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D56FE1AF-1226-378A-5B53-FAB7A7C82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pic>
        <p:nvPicPr>
          <p:cNvPr id="62469" name="Picture 5" descr="llk">
            <a:extLst>
              <a:ext uri="{FF2B5EF4-FFF2-40B4-BE49-F238E27FC236}">
                <a16:creationId xmlns:a16="http://schemas.microsoft.com/office/drawing/2014/main" id="{F25F7A5C-AB4B-C018-6616-01756A595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8153400" cy="5667375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>
            <a:extLst>
              <a:ext uri="{FF2B5EF4-FFF2-40B4-BE49-F238E27FC236}">
                <a16:creationId xmlns:a16="http://schemas.microsoft.com/office/drawing/2014/main" id="{1D27728D-BEE1-8598-6408-48144FF9AE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9F346F-C115-4662-9017-4C21923088F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EAC2974-0F05-07A6-2170-C701ACFB7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Top-Down</a:t>
            </a:r>
          </a:p>
        </p:txBody>
      </p:sp>
      <p:sp>
        <p:nvSpPr>
          <p:cNvPr id="1591299" name="Rectangle 3">
            <a:extLst>
              <a:ext uri="{FF2B5EF4-FFF2-40B4-BE49-F238E27FC236}">
                <a16:creationId xmlns:a16="http://schemas.microsoft.com/office/drawing/2014/main" id="{8B078232-2DD3-0128-3DBB-CD12AB75D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72500" cy="4724400"/>
          </a:xfrm>
        </p:spPr>
        <p:txBody>
          <a:bodyPr/>
          <a:lstStyle/>
          <a:p>
            <a:pPr marL="406400" indent="-406400" eaLnBrk="1" hangingPunct="1">
              <a:spcBef>
                <a:spcPct val="80000"/>
              </a:spcBef>
            </a:pPr>
            <a:r>
              <a:rPr lang="en-US" altLang="en-US" sz="3600"/>
              <a:t>Văn phạm LL(k) </a:t>
            </a:r>
          </a:p>
          <a:p>
            <a:pPr marL="406400" indent="-406400" eaLnBrk="1" hangingPunct="1">
              <a:spcBef>
                <a:spcPct val="80000"/>
              </a:spcBef>
            </a:pPr>
            <a:r>
              <a:rPr lang="en-US" altLang="en-US" sz="3600"/>
              <a:t>Văn phạm LL(1)</a:t>
            </a:r>
          </a:p>
          <a:p>
            <a:pPr marL="406400" indent="-406400" eaLnBrk="1" hangingPunct="1">
              <a:spcBef>
                <a:spcPct val="80000"/>
              </a:spcBef>
            </a:pPr>
            <a:r>
              <a:rPr lang="en-US" altLang="en-US" sz="3600"/>
              <a:t>Phân tích xem trước</a:t>
            </a:r>
            <a:r>
              <a:rPr lang="fr-FR" altLang="en-US" sz="3600"/>
              <a:t> </a:t>
            </a:r>
          </a:p>
          <a:p>
            <a:pPr marL="406400" indent="-406400" eaLnBrk="1" hangingPunct="1">
              <a:spcBef>
                <a:spcPct val="80000"/>
              </a:spcBef>
            </a:pPr>
            <a:r>
              <a:rPr lang="en-US" altLang="en-US" sz="3600"/>
              <a:t>Phân tích đệ quy trên xuống</a:t>
            </a:r>
            <a:r>
              <a:rPr lang="fr-FR" altLang="en-US" sz="3600"/>
              <a:t> </a:t>
            </a:r>
            <a:endParaRPr lang="en-US" altLang="en-US" sz="3600"/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C01CCF1A-2EFC-AB10-6945-F5162BDAA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59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159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159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500"/>
                                        <p:tgtEl>
                                          <p:spTgt spid="159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1299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>
            <a:extLst>
              <a:ext uri="{FF2B5EF4-FFF2-40B4-BE49-F238E27FC236}">
                <a16:creationId xmlns:a16="http://schemas.microsoft.com/office/drawing/2014/main" id="{4B36F945-9742-F9DD-97BB-1ACB74C16E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41A4B3-3477-4E9B-9A83-4F77231B24F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A78EF19-8ADA-2893-F267-6EE55101B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Ngôn ngữ LL(k)</a:t>
            </a:r>
          </a:p>
        </p:txBody>
      </p:sp>
      <p:sp>
        <p:nvSpPr>
          <p:cNvPr id="1716227" name="Rectangle 3">
            <a:extLst>
              <a:ext uri="{FF2B5EF4-FFF2-40B4-BE49-F238E27FC236}">
                <a16:creationId xmlns:a16="http://schemas.microsoft.com/office/drawing/2014/main" id="{59635AD1-533E-E755-4B02-52E04A563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914400"/>
            <a:ext cx="8420100" cy="3124200"/>
          </a:xfrm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Được sinh ra từ văn phạm LL(k)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Khi thực hiện phân tích văn phạm LL(k), bộ phân tích cần nhìn trước k ký hiệu để quyết định sản xuất nào sẽ được sử dụng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Để đạt được tính chất này, văn phạm LL(k) cần thỏa mãn một số điều kiện nào đó</a:t>
            </a:r>
          </a:p>
        </p:txBody>
      </p:sp>
      <p:sp>
        <p:nvSpPr>
          <p:cNvPr id="64517" name="Text Box 4">
            <a:extLst>
              <a:ext uri="{FF2B5EF4-FFF2-40B4-BE49-F238E27FC236}">
                <a16:creationId xmlns:a16="http://schemas.microsoft.com/office/drawing/2014/main" id="{60F49BEF-035B-A5C4-3E7E-84067C33C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716229" name="Rectangle 5">
            <a:extLst>
              <a:ext uri="{FF2B5EF4-FFF2-40B4-BE49-F238E27FC236}">
                <a16:creationId xmlns:a16="http://schemas.microsoft.com/office/drawing/2014/main" id="{0B7E2C86-5840-FAEA-4499-0D8AC72C4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4038600"/>
            <a:ext cx="2209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155700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272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en-US" sz="6000" b="0"/>
              <a:t>LL(k)</a:t>
            </a:r>
          </a:p>
        </p:txBody>
      </p:sp>
      <p:grpSp>
        <p:nvGrpSpPr>
          <p:cNvPr id="1716230" name="Group 6">
            <a:extLst>
              <a:ext uri="{FF2B5EF4-FFF2-40B4-BE49-F238E27FC236}">
                <a16:creationId xmlns:a16="http://schemas.microsoft.com/office/drawing/2014/main" id="{A1B6C040-8F72-116E-B598-41E7FEDC74F9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800600"/>
            <a:ext cx="7162800" cy="1371600"/>
            <a:chOff x="768" y="1056"/>
            <a:chExt cx="4512" cy="864"/>
          </a:xfrm>
        </p:grpSpPr>
        <p:sp>
          <p:nvSpPr>
            <p:cNvPr id="64526" name="Rectangle 7">
              <a:extLst>
                <a:ext uri="{FF2B5EF4-FFF2-40B4-BE49-F238E27FC236}">
                  <a16:creationId xmlns:a16="http://schemas.microsoft.com/office/drawing/2014/main" id="{1AD18EF6-69ED-CBCE-55F9-597AD1E9B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584"/>
              <a:ext cx="398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155700" indent="-53340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727200" indent="-4572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22500" indent="-3810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17800" indent="-3810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1750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322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0894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5466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40000"/>
                </a:spcBef>
                <a:buFontTx/>
                <a:buNone/>
              </a:pPr>
              <a:r>
                <a:rPr lang="en-US" altLang="en-US" sz="2800"/>
                <a:t>Left:</a:t>
              </a:r>
              <a:r>
                <a:rPr lang="en-US" altLang="en-US" sz="2800" b="0"/>
                <a:t> Thực hiện các suy dẫn trái nhất</a:t>
              </a:r>
            </a:p>
          </p:txBody>
        </p:sp>
        <p:sp>
          <p:nvSpPr>
            <p:cNvPr id="64527" name="Freeform 8">
              <a:extLst>
                <a:ext uri="{FF2B5EF4-FFF2-40B4-BE49-F238E27FC236}">
                  <a16:creationId xmlns:a16="http://schemas.microsoft.com/office/drawing/2014/main" id="{1563CED5-1325-E98D-94A5-91889E333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056"/>
              <a:ext cx="576" cy="720"/>
            </a:xfrm>
            <a:custGeom>
              <a:avLst/>
              <a:gdLst>
                <a:gd name="T0" fmla="*/ 0 w 576"/>
                <a:gd name="T1" fmla="*/ 0 h 720"/>
                <a:gd name="T2" fmla="*/ 0 w 576"/>
                <a:gd name="T3" fmla="*/ 720 h 720"/>
                <a:gd name="T4" fmla="*/ 576 w 576"/>
                <a:gd name="T5" fmla="*/ 720 h 7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0">
                  <a:moveTo>
                    <a:pt x="0" y="0"/>
                  </a:moveTo>
                  <a:lnTo>
                    <a:pt x="0" y="720"/>
                  </a:lnTo>
                  <a:lnTo>
                    <a:pt x="576" y="72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16233" name="Group 9">
            <a:extLst>
              <a:ext uri="{FF2B5EF4-FFF2-40B4-BE49-F238E27FC236}">
                <a16:creationId xmlns:a16="http://schemas.microsoft.com/office/drawing/2014/main" id="{6DEFFC11-21C0-BE5A-BD58-8952F1EEEBB7}"/>
              </a:ext>
            </a:extLst>
          </p:cNvPr>
          <p:cNvGrpSpPr>
            <a:grpSpLocks/>
          </p:cNvGrpSpPr>
          <p:nvPr/>
        </p:nvGrpSpPr>
        <p:grpSpPr bwMode="auto">
          <a:xfrm>
            <a:off x="928688" y="4800600"/>
            <a:ext cx="8077200" cy="1981200"/>
            <a:chOff x="480" y="1056"/>
            <a:chExt cx="5088" cy="1248"/>
          </a:xfrm>
        </p:grpSpPr>
        <p:sp>
          <p:nvSpPr>
            <p:cNvPr id="64524" name="Rectangle 10">
              <a:extLst>
                <a:ext uri="{FF2B5EF4-FFF2-40B4-BE49-F238E27FC236}">
                  <a16:creationId xmlns:a16="http://schemas.microsoft.com/office/drawing/2014/main" id="{B3D9897E-3D46-8C00-3204-EBBF3AEB2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4272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155700" indent="-53340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727200" indent="-4572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22500" indent="-3810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17800" indent="-3810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1750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322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0894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5466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40000"/>
                </a:spcBef>
                <a:buFontTx/>
                <a:buNone/>
              </a:pPr>
              <a:r>
                <a:rPr lang="en-US" altLang="en-US" sz="2800"/>
                <a:t>Left:</a:t>
              </a:r>
              <a:r>
                <a:rPr lang="en-US" altLang="en-US" sz="2800" b="0"/>
                <a:t> Câu được phân tích từ trái qua phải</a:t>
              </a:r>
            </a:p>
          </p:txBody>
        </p:sp>
        <p:sp>
          <p:nvSpPr>
            <p:cNvPr id="64525" name="Freeform 11">
              <a:extLst>
                <a:ext uri="{FF2B5EF4-FFF2-40B4-BE49-F238E27FC236}">
                  <a16:creationId xmlns:a16="http://schemas.microsoft.com/office/drawing/2014/main" id="{ACC18505-485A-6CE3-E5AC-0DE9F35BC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056"/>
              <a:ext cx="816" cy="1152"/>
            </a:xfrm>
            <a:custGeom>
              <a:avLst/>
              <a:gdLst>
                <a:gd name="T0" fmla="*/ 0 w 576"/>
                <a:gd name="T1" fmla="*/ 0 h 720"/>
                <a:gd name="T2" fmla="*/ 0 w 576"/>
                <a:gd name="T3" fmla="*/ 12078 h 720"/>
                <a:gd name="T4" fmla="*/ 4658 w 576"/>
                <a:gd name="T5" fmla="*/ 12078 h 7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0">
                  <a:moveTo>
                    <a:pt x="0" y="0"/>
                  </a:moveTo>
                  <a:lnTo>
                    <a:pt x="0" y="720"/>
                  </a:lnTo>
                  <a:lnTo>
                    <a:pt x="576" y="72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16236" name="Group 12">
            <a:extLst>
              <a:ext uri="{FF2B5EF4-FFF2-40B4-BE49-F238E27FC236}">
                <a16:creationId xmlns:a16="http://schemas.microsoft.com/office/drawing/2014/main" id="{614A5BC8-58B4-B074-6A21-8E1B29C03855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800600"/>
            <a:ext cx="6477000" cy="838200"/>
            <a:chOff x="1152" y="1056"/>
            <a:chExt cx="4080" cy="528"/>
          </a:xfrm>
        </p:grpSpPr>
        <p:sp>
          <p:nvSpPr>
            <p:cNvPr id="64522" name="Rectangle 13">
              <a:extLst>
                <a:ext uri="{FF2B5EF4-FFF2-40B4-BE49-F238E27FC236}">
                  <a16:creationId xmlns:a16="http://schemas.microsoft.com/office/drawing/2014/main" id="{3E97E18A-287F-DBEE-03A6-7527F4A6E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248"/>
              <a:ext cx="398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155700" indent="-53340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727200" indent="-4572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2222500" indent="-3810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17800" indent="-3810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1750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322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0894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546600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40000"/>
                </a:spcBef>
                <a:buFontTx/>
                <a:buNone/>
              </a:pPr>
              <a:r>
                <a:rPr lang="en-US" altLang="en-US" sz="2800"/>
                <a:t> k</a:t>
              </a:r>
              <a:r>
                <a:rPr lang="en-US" altLang="en-US" sz="2800" b="0"/>
                <a:t>:   Số ký hiệu cần nhìn trước</a:t>
              </a:r>
            </a:p>
          </p:txBody>
        </p:sp>
        <p:sp>
          <p:nvSpPr>
            <p:cNvPr id="64523" name="Freeform 14">
              <a:extLst>
                <a:ext uri="{FF2B5EF4-FFF2-40B4-BE49-F238E27FC236}">
                  <a16:creationId xmlns:a16="http://schemas.microsoft.com/office/drawing/2014/main" id="{734714E0-8B0D-85DA-DE25-181F2EB20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1056"/>
              <a:ext cx="192" cy="432"/>
            </a:xfrm>
            <a:custGeom>
              <a:avLst/>
              <a:gdLst>
                <a:gd name="T0" fmla="*/ 0 w 576"/>
                <a:gd name="T1" fmla="*/ 0 h 720"/>
                <a:gd name="T2" fmla="*/ 0 w 576"/>
                <a:gd name="T3" fmla="*/ 34 h 720"/>
                <a:gd name="T4" fmla="*/ 1 w 576"/>
                <a:gd name="T5" fmla="*/ 34 h 7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720">
                  <a:moveTo>
                    <a:pt x="0" y="0"/>
                  </a:moveTo>
                  <a:lnTo>
                    <a:pt x="0" y="720"/>
                  </a:lnTo>
                  <a:lnTo>
                    <a:pt x="576" y="72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71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1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171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16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16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500"/>
                                        <p:tgtEl>
                                          <p:spTgt spid="171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71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1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71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6227" grpId="0" build="p"/>
      <p:bldP spid="171622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>
            <a:extLst>
              <a:ext uri="{FF2B5EF4-FFF2-40B4-BE49-F238E27FC236}">
                <a16:creationId xmlns:a16="http://schemas.microsoft.com/office/drawing/2014/main" id="{111B9352-DC08-0E31-5746-AE0A3D3FB8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C20DAE-23F9-4C03-9135-42BDB5D04DC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AFC76158-1A73-BD82-4280-C6949082A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</a:t>
            </a:r>
            <a:r>
              <a:rPr lang="en-US" altLang="en-US" baseline="-25000"/>
              <a:t>k</a:t>
            </a:r>
            <a:r>
              <a:rPr lang="en-US" altLang="en-US"/>
              <a:t>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</a:t>
            </a:r>
          </a:p>
        </p:txBody>
      </p:sp>
      <p:sp>
        <p:nvSpPr>
          <p:cNvPr id="1595395" name="Rectangle 3">
            <a:extLst>
              <a:ext uri="{FF2B5EF4-FFF2-40B4-BE49-F238E27FC236}">
                <a16:creationId xmlns:a16="http://schemas.microsoft.com/office/drawing/2014/main" id="{989B82C5-87ED-524D-DDF2-4AE555DBA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724900" cy="5486400"/>
          </a:xfrm>
        </p:spPr>
        <p:txBody>
          <a:bodyPr/>
          <a:lstStyle/>
          <a:p>
            <a:pPr marL="406400" indent="-406400" eaLnBrk="1" hangingPunct="1">
              <a:lnSpc>
                <a:spcPct val="115000"/>
              </a:lnSpc>
            </a:pPr>
            <a:r>
              <a:rPr lang="en-US" altLang="en-US">
                <a:cs typeface="Times New Roman" panose="02020603050405020304" pitchFamily="18" charset="0"/>
              </a:rPr>
              <a:t>Cho văn phạm phi ngữ cảnh G=(V</a:t>
            </a:r>
            <a:r>
              <a:rPr lang="en-US" altLang="en-US" baseline="-25000">
                <a:cs typeface="Times New Roman" panose="02020603050405020304" pitchFamily="18" charset="0"/>
              </a:rPr>
              <a:t>T</a:t>
            </a:r>
            <a:r>
              <a:rPr lang="en-US" altLang="en-US">
                <a:cs typeface="Times New Roman" panose="02020603050405020304" pitchFamily="18" charset="0"/>
              </a:rPr>
              <a:t>,V</a:t>
            </a:r>
            <a:r>
              <a:rPr lang="en-US" altLang="en-US" baseline="-25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,P,S) </a:t>
            </a:r>
          </a:p>
          <a:p>
            <a:pPr marL="406400" indent="-406400" eaLnBrk="1" hangingPunct="1">
              <a:lnSpc>
                <a:spcPct val="115000"/>
              </a:lnSpc>
            </a:pPr>
            <a:r>
              <a:rPr lang="en-US" altLang="en-US">
                <a:cs typeface="Times New Roman" panose="02020603050405020304" pitchFamily="18" charset="0"/>
              </a:rPr>
              <a:t>k là một số nguyên dương,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 V* </a:t>
            </a:r>
          </a:p>
          <a:p>
            <a:pPr marL="406400" indent="-406400" eaLnBrk="1" hangingPunct="1">
              <a:lnSpc>
                <a:spcPct val="115000"/>
              </a:lnSpc>
            </a:pPr>
            <a:r>
              <a:rPr lang="en-US" altLang="en-US"/>
              <a:t>Định nghĩa</a:t>
            </a:r>
          </a:p>
          <a:p>
            <a:pPr marL="406400" indent="-406400" eaLnBrk="1" hangingPunct="1">
              <a:lnSpc>
                <a:spcPct val="115000"/>
              </a:lnSpc>
              <a:buFontTx/>
              <a:buNone/>
            </a:pPr>
            <a:r>
              <a:rPr lang="en-US" altLang="en-US"/>
              <a:t>	FIRST</a:t>
            </a:r>
            <a:r>
              <a:rPr lang="en-US" altLang="en-US" baseline="-25000"/>
              <a:t>k</a:t>
            </a:r>
            <a:r>
              <a:rPr lang="en-US" altLang="en-US"/>
              <a:t>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 = {x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lang="en-US" altLang="en-US"/>
              <a:t>x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 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l(x) = k,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x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} 			    = </a:t>
            </a:r>
            <a:r>
              <a:rPr lang="en-US" altLang="en-US"/>
              <a:t>{x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lang="en-US" altLang="en-US"/>
              <a:t>x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 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l(x) &lt; k,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x}</a:t>
            </a:r>
          </a:p>
          <a:p>
            <a:pPr marL="406400" indent="-406400" eaLnBrk="1" hangingPunct="1">
              <a:lnSpc>
                <a:spcPct val="115000"/>
              </a:lnSpc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là tập các xâu  x gồm k ký hiệu  kết thúc trái nhất của các xâu được suy dẫn ra từ 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292100" eaLnBrk="1" hangingPunct="1">
              <a:lnSpc>
                <a:spcPct val="115000"/>
              </a:lnSpc>
            </a:pP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Chấp nhận trường hợp xâu x không có đủ k ký hiệu nhưng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 suy dẫn ra x và không còn ký hiệu nào sau x</a:t>
            </a:r>
            <a:endParaRPr lang="en-US" altLang="en-US" sz="24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5541" name="Text Box 4">
            <a:extLst>
              <a:ext uri="{FF2B5EF4-FFF2-40B4-BE49-F238E27FC236}">
                <a16:creationId xmlns:a16="http://schemas.microsoft.com/office/drawing/2014/main" id="{B762F632-3DD7-DCA4-B0DE-C0CBD1D76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9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>
            <a:extLst>
              <a:ext uri="{FF2B5EF4-FFF2-40B4-BE49-F238E27FC236}">
                <a16:creationId xmlns:a16="http://schemas.microsoft.com/office/drawing/2014/main" id="{DE588727-6D50-7901-8B31-605FEE5A82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F05D77-BDF7-4678-BDAC-A93DB53634C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DE84686-B0FA-2F31-25B5-017A3F67C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FOLLOW</a:t>
            </a:r>
            <a:r>
              <a:rPr lang="en-US" altLang="en-US" baseline="-25000"/>
              <a:t>k</a:t>
            </a:r>
            <a:r>
              <a:rPr lang="en-US" altLang="en-US"/>
              <a:t>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</a:t>
            </a:r>
          </a:p>
        </p:txBody>
      </p:sp>
      <p:sp>
        <p:nvSpPr>
          <p:cNvPr id="1594371" name="Rectangle 3">
            <a:extLst>
              <a:ext uri="{FF2B5EF4-FFF2-40B4-BE49-F238E27FC236}">
                <a16:creationId xmlns:a16="http://schemas.microsoft.com/office/drawing/2014/main" id="{710A4507-03D0-AF03-D761-C11D48424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105400"/>
          </a:xfrm>
        </p:spPr>
        <p:txBody>
          <a:bodyPr/>
          <a:lstStyle/>
          <a:p>
            <a:pPr marL="406400" indent="-406400" eaLnBrk="1" hangingPunct="1">
              <a:lnSpc>
                <a:spcPct val="115000"/>
              </a:lnSpc>
            </a:pPr>
            <a:r>
              <a:rPr lang="en-US" altLang="en-US">
                <a:cs typeface="Times New Roman" panose="02020603050405020304" pitchFamily="18" charset="0"/>
              </a:rPr>
              <a:t>Cho văn phạm phi ngữ cảnh G=(V</a:t>
            </a:r>
            <a:r>
              <a:rPr lang="en-US" altLang="en-US" baseline="-25000">
                <a:cs typeface="Times New Roman" panose="02020603050405020304" pitchFamily="18" charset="0"/>
              </a:rPr>
              <a:t>T</a:t>
            </a:r>
            <a:r>
              <a:rPr lang="en-US" altLang="en-US">
                <a:cs typeface="Times New Roman" panose="02020603050405020304" pitchFamily="18" charset="0"/>
              </a:rPr>
              <a:t>,V</a:t>
            </a:r>
            <a:r>
              <a:rPr lang="en-US" altLang="en-US" baseline="-25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,P,S) </a:t>
            </a:r>
          </a:p>
          <a:p>
            <a:pPr marL="406400" indent="-406400" eaLnBrk="1" hangingPunct="1">
              <a:lnSpc>
                <a:spcPct val="115000"/>
              </a:lnSpc>
            </a:pPr>
            <a:r>
              <a:rPr lang="en-US" altLang="en-US">
                <a:cs typeface="Times New Roman" panose="02020603050405020304" pitchFamily="18" charset="0"/>
              </a:rPr>
              <a:t>k là một số nguyên dương,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 V* </a:t>
            </a:r>
          </a:p>
          <a:p>
            <a:pPr marL="406400" indent="-406400" eaLnBrk="1" hangingPunct="1">
              <a:lnSpc>
                <a:spcPct val="115000"/>
              </a:lnSpc>
            </a:pPr>
            <a:r>
              <a:rPr lang="en-US" altLang="en-US"/>
              <a:t>Định nghĩa</a:t>
            </a:r>
          </a:p>
          <a:p>
            <a:pPr marL="406400" indent="-406400" eaLnBrk="1" hangingPunct="1">
              <a:lnSpc>
                <a:spcPct val="115000"/>
              </a:lnSpc>
              <a:buFontTx/>
              <a:buNone/>
            </a:pPr>
            <a:r>
              <a:rPr lang="en-US" altLang="en-US"/>
              <a:t>	FOLLOW</a:t>
            </a:r>
            <a:r>
              <a:rPr lang="en-US" altLang="en-US" baseline="-25000"/>
              <a:t>k</a:t>
            </a:r>
            <a:r>
              <a:rPr lang="en-US" altLang="en-US"/>
              <a:t>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 = {x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lang="en-US" altLang="en-US"/>
              <a:t>S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βα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/>
              <a:t>x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 FIRST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)}</a:t>
            </a:r>
          </a:p>
          <a:p>
            <a:pPr marL="406400" indent="-406400" eaLnBrk="1" hangingPunct="1">
              <a:lnSpc>
                <a:spcPct val="115000"/>
              </a:lnSpc>
              <a:spcBef>
                <a:spcPct val="60000"/>
              </a:spcBef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latin typeface="Times New Roman" panose="02020603050405020304" pitchFamily="18" charset="0"/>
              </a:rPr>
              <a:t>FOLLOW</a:t>
            </a:r>
            <a:r>
              <a:rPr lang="en-US" altLang="en-US" sz="2800" b="1" baseline="-25000">
                <a:latin typeface="Times New Roman" panose="02020603050405020304" pitchFamily="18" charset="0"/>
              </a:rPr>
              <a:t>k</a:t>
            </a:r>
            <a:r>
              <a:rPr lang="en-US" altLang="en-US" sz="2800" b="1">
                <a:latin typeface="Times New Roman" panose="02020603050405020304" pitchFamily="18" charset="0"/>
              </a:rPr>
              <a:t>(</a:t>
            </a:r>
            <a:r>
              <a:rPr lang="el-GR" altLang="en-US" sz="2800" b="1">
                <a:latin typeface="Times New Roman" panose="02020603050405020304" pitchFamily="18" charset="0"/>
                <a:cs typeface="Arial" panose="020B0604020202020204" pitchFamily="34" charset="0"/>
              </a:rPr>
              <a:t>α</a:t>
            </a:r>
            <a:r>
              <a:rPr lang="en-US" altLang="en-US" sz="2800" b="1">
                <a:latin typeface="Times New Roman" panose="02020603050405020304" pitchFamily="18" charset="0"/>
              </a:rPr>
              <a:t>)</a:t>
            </a:r>
            <a:r>
              <a:rPr lang="en-US" altLang="en-US" sz="2800" i="1">
                <a:latin typeface="Times New Roman" panose="02020603050405020304" pitchFamily="18" charset="0"/>
              </a:rPr>
              <a:t> là tập tất cả các xâu chứa k ký hiệu kết thúc, </a:t>
            </a:r>
            <a:r>
              <a:rPr lang="en-US" altLang="en-US" sz="2800" b="1" i="1">
                <a:solidFill>
                  <a:srgbClr val="3539EB"/>
                </a:solidFill>
                <a:latin typeface="Times New Roman" panose="02020603050405020304" pitchFamily="18" charset="0"/>
              </a:rPr>
              <a:t>đứng ngay đằng sau </a:t>
            </a:r>
            <a:r>
              <a:rPr lang="el-GR" altLang="en-US" sz="2800" b="1" i="1">
                <a:solidFill>
                  <a:srgbClr val="3539EB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α</a:t>
            </a:r>
            <a:r>
              <a:rPr lang="en-US" altLang="en-US" sz="2800" i="1">
                <a:latin typeface="Times New Roman" panose="02020603050405020304" pitchFamily="18" charset="0"/>
              </a:rPr>
              <a:t> trong bất kỳ dạng câu nào</a:t>
            </a:r>
          </a:p>
          <a:p>
            <a:pPr marL="855663" lvl="1" indent="-233363" eaLnBrk="1" hangingPunct="1">
              <a:lnSpc>
                <a:spcPct val="115000"/>
              </a:lnSpc>
            </a:pPr>
            <a:r>
              <a:rPr lang="en-US" altLang="en-US" i="1">
                <a:latin typeface="Times New Roman" panose="02020603050405020304" pitchFamily="18" charset="0"/>
              </a:rPr>
              <a:t>Nếu </a:t>
            </a:r>
            <a:r>
              <a:rPr lang="el-GR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α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 ≡ A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 V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và </a:t>
            </a: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n-US" altLang="en-US" i="1" baseline="-2500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i="1" baseline="30000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i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A, </a:t>
            </a:r>
            <a:r>
              <a:rPr lang="en-US" altLang="en-US" i="1">
                <a:latin typeface="Times New Roman" panose="02020603050405020304" pitchFamily="18" charset="0"/>
              </a:rPr>
              <a:t>FOLLOW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  <a:r>
              <a:rPr lang="en-US" altLang="en-US" i="1">
                <a:latin typeface="Times New Roman" panose="02020603050405020304" pitchFamily="18" charset="0"/>
              </a:rPr>
              <a:t>(</a:t>
            </a:r>
            <a:r>
              <a:rPr lang="el-GR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α</a:t>
            </a:r>
            <a:r>
              <a:rPr lang="en-US" altLang="en-US" i="1">
                <a:latin typeface="Times New Roman" panose="02020603050405020304" pitchFamily="18" charset="0"/>
              </a:rPr>
              <a:t>) </a:t>
            </a:r>
            <a:r>
              <a:rPr lang="en-US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 {</a:t>
            </a:r>
            <a:r>
              <a:rPr lang="el-GR" altLang="en-US" i="1">
                <a:latin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66565" name="Text Box 4">
            <a:extLst>
              <a:ext uri="{FF2B5EF4-FFF2-40B4-BE49-F238E27FC236}">
                <a16:creationId xmlns:a16="http://schemas.microsoft.com/office/drawing/2014/main" id="{BF6E5EC9-F8AB-98B7-F472-EC982E112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4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94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>
            <a:extLst>
              <a:ext uri="{FF2B5EF4-FFF2-40B4-BE49-F238E27FC236}">
                <a16:creationId xmlns:a16="http://schemas.microsoft.com/office/drawing/2014/main" id="{9664D779-4AD3-36EB-98C0-62A939400D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6D1055-70A3-4A4E-9A77-3260C8B6AFA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33F0F584-B938-E180-9526-7FC3DB76A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70FBFF8-D61F-61E3-CB3A-C958C9532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914400"/>
            <a:ext cx="5715000" cy="1676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Cho văn phạm</a:t>
            </a:r>
          </a:p>
          <a:p>
            <a:pPr marL="2222500" lvl="3" indent="-381000" eaLnBrk="1" hangingPunct="1">
              <a:lnSpc>
                <a:spcPct val="90000"/>
              </a:lnSpc>
              <a:buFontTx/>
              <a:buNone/>
            </a:pPr>
            <a:r>
              <a:rPr lang="en-US" altLang="en-US" sz="3200"/>
              <a:t>S </a:t>
            </a:r>
            <a:r>
              <a:rPr lang="en-US" altLang="en-US" sz="3200">
                <a:sym typeface="Symbol" panose="05050102010706020507" pitchFamily="18" charset="2"/>
              </a:rPr>
              <a:t> aAb | c</a:t>
            </a:r>
          </a:p>
          <a:p>
            <a:pPr marL="2222500" lvl="3" indent="-381000" eaLnBrk="1" hangingPunct="1">
              <a:lnSpc>
                <a:spcPct val="90000"/>
              </a:lnSpc>
              <a:buFontTx/>
              <a:buNone/>
            </a:pPr>
            <a:r>
              <a:rPr lang="en-US" altLang="en-US" sz="3200">
                <a:sym typeface="Symbol" panose="05050102010706020507" pitchFamily="18" charset="2"/>
              </a:rPr>
              <a:t>A    hS | g</a:t>
            </a:r>
          </a:p>
        </p:txBody>
      </p:sp>
      <p:sp>
        <p:nvSpPr>
          <p:cNvPr id="67589" name="Text Box 4">
            <a:extLst>
              <a:ext uri="{FF2B5EF4-FFF2-40B4-BE49-F238E27FC236}">
                <a16:creationId xmlns:a16="http://schemas.microsoft.com/office/drawing/2014/main" id="{A338F493-7F11-F089-7EC5-10806251A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596421" name="Rectangle 5">
            <a:extLst>
              <a:ext uri="{FF2B5EF4-FFF2-40B4-BE49-F238E27FC236}">
                <a16:creationId xmlns:a16="http://schemas.microsoft.com/office/drawing/2014/main" id="{B7BEDABF-CA84-ACB2-C351-43B2C4E54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90800"/>
            <a:ext cx="8610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155700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272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225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17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175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32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089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546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0">
                <a:sym typeface="Symbol" panose="05050102010706020507" pitchFamily="18" charset="2"/>
              </a:rPr>
              <a:t>First</a:t>
            </a:r>
            <a:r>
              <a:rPr lang="en-US" altLang="en-US" sz="2800" b="0" baseline="-25000">
                <a:sym typeface="Symbol" panose="05050102010706020507" pitchFamily="18" charset="2"/>
              </a:rPr>
              <a:t>1</a:t>
            </a:r>
            <a:r>
              <a:rPr lang="en-US" altLang="en-US" sz="2800" b="0">
                <a:sym typeface="Symbol" panose="05050102010706020507" pitchFamily="18" charset="2"/>
              </a:rPr>
              <a:t>(S) 	 = {a, c} 		First</a:t>
            </a:r>
            <a:r>
              <a:rPr lang="en-US" altLang="en-US" sz="2800" b="0" baseline="-25000">
                <a:sym typeface="Symbol" panose="05050102010706020507" pitchFamily="18" charset="2"/>
              </a:rPr>
              <a:t>1</a:t>
            </a:r>
            <a:r>
              <a:rPr lang="en-US" altLang="en-US" sz="2800" b="0">
                <a:sym typeface="Symbol" panose="05050102010706020507" pitchFamily="18" charset="2"/>
              </a:rPr>
              <a:t>(A) 	= {h, g}</a:t>
            </a:r>
          </a:p>
          <a:p>
            <a:pPr eaLnBrk="1" hangingPunct="1"/>
            <a:r>
              <a:rPr lang="en-US" altLang="en-US" sz="2800" b="0">
                <a:sym typeface="Symbol" panose="05050102010706020507" pitchFamily="18" charset="2"/>
              </a:rPr>
              <a:t>Follow</a:t>
            </a:r>
            <a:r>
              <a:rPr lang="en-US" altLang="en-US" sz="2800" b="0" baseline="-25000">
                <a:sym typeface="Symbol" panose="05050102010706020507" pitchFamily="18" charset="2"/>
              </a:rPr>
              <a:t>1</a:t>
            </a:r>
            <a:r>
              <a:rPr lang="en-US" altLang="en-US" sz="2800" b="0">
                <a:sym typeface="Symbol" panose="05050102010706020507" pitchFamily="18" charset="2"/>
              </a:rPr>
              <a:t>(S) = {b}			Follow</a:t>
            </a:r>
            <a:r>
              <a:rPr lang="en-US" altLang="en-US" sz="2800" b="0" baseline="-25000">
                <a:sym typeface="Symbol" panose="05050102010706020507" pitchFamily="18" charset="2"/>
              </a:rPr>
              <a:t>1</a:t>
            </a:r>
            <a:r>
              <a:rPr lang="en-US" altLang="en-US" sz="2800" b="0">
                <a:sym typeface="Symbol" panose="05050102010706020507" pitchFamily="18" charset="2"/>
              </a:rPr>
              <a:t>(A)	={b}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 sz="2800" b="0">
                <a:sym typeface="Symbol" panose="05050102010706020507" pitchFamily="18" charset="2"/>
              </a:rPr>
              <a:t>First</a:t>
            </a:r>
            <a:r>
              <a:rPr lang="en-US" altLang="en-US" sz="2800" b="0" baseline="-25000">
                <a:sym typeface="Symbol" panose="05050102010706020507" pitchFamily="18" charset="2"/>
              </a:rPr>
              <a:t>2</a:t>
            </a:r>
            <a:r>
              <a:rPr lang="en-US" altLang="en-US" sz="2800" b="0">
                <a:sym typeface="Symbol" panose="05050102010706020507" pitchFamily="18" charset="2"/>
              </a:rPr>
              <a:t>(S) 	 = {ah, ag, c}	First</a:t>
            </a:r>
            <a:r>
              <a:rPr lang="en-US" altLang="en-US" sz="2800" b="0" baseline="-25000">
                <a:sym typeface="Symbol" panose="05050102010706020507" pitchFamily="18" charset="2"/>
              </a:rPr>
              <a:t>2</a:t>
            </a:r>
            <a:r>
              <a:rPr lang="en-US" altLang="en-US" sz="2800" b="0">
                <a:sym typeface="Symbol" panose="05050102010706020507" pitchFamily="18" charset="2"/>
              </a:rPr>
              <a:t>(A) 	= {ha, hc, g}</a:t>
            </a:r>
          </a:p>
          <a:p>
            <a:pPr eaLnBrk="1" hangingPunct="1"/>
            <a:r>
              <a:rPr lang="en-US" altLang="en-US" sz="2800" b="0">
                <a:sym typeface="Symbol" panose="05050102010706020507" pitchFamily="18" charset="2"/>
              </a:rPr>
              <a:t>Follow</a:t>
            </a:r>
            <a:r>
              <a:rPr lang="en-US" altLang="en-US" sz="2800" b="0" baseline="-25000">
                <a:sym typeface="Symbol" panose="05050102010706020507" pitchFamily="18" charset="2"/>
              </a:rPr>
              <a:t>2</a:t>
            </a:r>
            <a:r>
              <a:rPr lang="en-US" altLang="en-US" sz="2800" b="0">
                <a:sym typeface="Symbol" panose="05050102010706020507" pitchFamily="18" charset="2"/>
              </a:rPr>
              <a:t>(S) = {b, bb}		Follow</a:t>
            </a:r>
            <a:r>
              <a:rPr lang="en-US" altLang="en-US" sz="2800" b="0" baseline="-25000">
                <a:sym typeface="Symbol" panose="05050102010706020507" pitchFamily="18" charset="2"/>
              </a:rPr>
              <a:t>1</a:t>
            </a:r>
            <a:r>
              <a:rPr lang="en-US" altLang="en-US" sz="2800" b="0">
                <a:sym typeface="Symbol" panose="05050102010706020507" pitchFamily="18" charset="2"/>
              </a:rPr>
              <a:t>(A)	={b, bb}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 sz="2800" b="0">
                <a:sym typeface="Symbol" panose="05050102010706020507" pitchFamily="18" charset="2"/>
              </a:rPr>
              <a:t>First</a:t>
            </a:r>
            <a:r>
              <a:rPr lang="en-US" altLang="en-US" sz="2800" b="0" baseline="-25000">
                <a:sym typeface="Symbol" panose="05050102010706020507" pitchFamily="18" charset="2"/>
              </a:rPr>
              <a:t>3</a:t>
            </a:r>
            <a:r>
              <a:rPr lang="en-US" altLang="en-US" sz="2800" b="0">
                <a:sym typeface="Symbol" panose="05050102010706020507" pitchFamily="18" charset="2"/>
              </a:rPr>
              <a:t>(S) 	 = {aha, ahc, agb, c}</a:t>
            </a:r>
          </a:p>
          <a:p>
            <a:pPr eaLnBrk="1" hangingPunct="1"/>
            <a:r>
              <a:rPr lang="en-US" altLang="en-US" sz="2800" b="0">
                <a:sym typeface="Symbol" panose="05050102010706020507" pitchFamily="18" charset="2"/>
              </a:rPr>
              <a:t>First</a:t>
            </a:r>
            <a:r>
              <a:rPr lang="en-US" altLang="en-US" sz="2800" b="0" baseline="-25000">
                <a:sym typeface="Symbol" panose="05050102010706020507" pitchFamily="18" charset="2"/>
              </a:rPr>
              <a:t>3</a:t>
            </a:r>
            <a:r>
              <a:rPr lang="en-US" altLang="en-US" sz="2800" b="0">
                <a:sym typeface="Symbol" panose="05050102010706020507" pitchFamily="18" charset="2"/>
              </a:rPr>
              <a:t>(A) 	= {hah, hag, hc, g}</a:t>
            </a:r>
          </a:p>
          <a:p>
            <a:pPr eaLnBrk="1" hangingPunct="1"/>
            <a:r>
              <a:rPr lang="en-US" altLang="en-US" sz="2800" b="0">
                <a:sym typeface="Symbol" panose="05050102010706020507" pitchFamily="18" charset="2"/>
              </a:rPr>
              <a:t>Follow</a:t>
            </a:r>
            <a:r>
              <a:rPr lang="en-US" altLang="en-US" sz="2800" b="0" baseline="-25000">
                <a:sym typeface="Symbol" panose="05050102010706020507" pitchFamily="18" charset="2"/>
              </a:rPr>
              <a:t>3</a:t>
            </a:r>
            <a:r>
              <a:rPr lang="en-US" altLang="en-US" sz="2800" b="0">
                <a:sym typeface="Symbol" panose="05050102010706020507" pitchFamily="18" charset="2"/>
              </a:rPr>
              <a:t>(S) = {b, bb,bbb}	Follow</a:t>
            </a:r>
            <a:r>
              <a:rPr lang="en-US" altLang="en-US" sz="2800" b="0" baseline="-25000">
                <a:sym typeface="Symbol" panose="05050102010706020507" pitchFamily="18" charset="2"/>
              </a:rPr>
              <a:t>3</a:t>
            </a:r>
            <a:r>
              <a:rPr lang="en-US" altLang="en-US" sz="2800" b="0">
                <a:sym typeface="Symbol" panose="05050102010706020507" pitchFamily="18" charset="2"/>
              </a:rPr>
              <a:t>(A)	={b, bb,bbb}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96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96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96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96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96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96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500"/>
                                        <p:tgtEl>
                                          <p:spTgt spid="1596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96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96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500"/>
                                        <p:tgtEl>
                                          <p:spTgt spid="15964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96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96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500"/>
                                        <p:tgtEl>
                                          <p:spTgt spid="15964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>
            <a:extLst>
              <a:ext uri="{FF2B5EF4-FFF2-40B4-BE49-F238E27FC236}">
                <a16:creationId xmlns:a16="http://schemas.microsoft.com/office/drawing/2014/main" id="{AEDA9CCA-7599-51FF-CAB0-4FC297B023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A8BC19-2AB7-4F19-A17E-58E6A4B819B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363FB65-37B1-E680-02F5-141C5DAE0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Sản xuất LL(k)</a:t>
            </a:r>
          </a:p>
        </p:txBody>
      </p:sp>
      <p:sp>
        <p:nvSpPr>
          <p:cNvPr id="1597443" name="Rectangle 3">
            <a:extLst>
              <a:ext uri="{FF2B5EF4-FFF2-40B4-BE49-F238E27FC236}">
                <a16:creationId xmlns:a16="http://schemas.microsoft.com/office/drawing/2014/main" id="{7DA59BD2-851B-801C-DD1C-E926E546B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4800600"/>
          </a:xfrm>
        </p:spPr>
        <p:txBody>
          <a:bodyPr/>
          <a:lstStyle/>
          <a:p>
            <a:pPr marL="58738" indent="-58738" eaLnBrk="1" hangingPunct="1">
              <a:lnSpc>
                <a:spcPct val="135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Cho văn phạm phi ngữ cảnh G = (V</a:t>
            </a:r>
            <a:r>
              <a:rPr lang="en-US" altLang="en-US" baseline="-25000">
                <a:cs typeface="Times New Roman" panose="02020603050405020304" pitchFamily="18" charset="0"/>
              </a:rPr>
              <a:t>T</a:t>
            </a:r>
            <a:r>
              <a:rPr lang="en-US" altLang="en-US">
                <a:cs typeface="Times New Roman" panose="02020603050405020304" pitchFamily="18" charset="0"/>
              </a:rPr>
              <a:t>,V</a:t>
            </a:r>
            <a:r>
              <a:rPr lang="en-US" altLang="en-US" baseline="-25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, P, S), một sản xuất từ A </a:t>
            </a:r>
            <a:r>
              <a:rPr lang="en-US" altLang="en-US"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 là sản xuất LL(k) nếu thỏa mãn các điều kiện</a:t>
            </a:r>
          </a:p>
          <a:p>
            <a:pPr marL="1030288" lvl="1" indent="-450850" eaLnBrk="1" hangingPunct="1">
              <a:lnSpc>
                <a:spcPct val="13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 sz="3200"/>
              <a:t>S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 baseline="-25000">
                <a:sym typeface="Symbol" panose="05050102010706020507" pitchFamily="18" charset="2"/>
              </a:rPr>
              <a:t>L</a:t>
            </a:r>
            <a:r>
              <a:rPr lang="en-US" altLang="en-US" sz="3200">
                <a:sym typeface="Symbol" panose="05050102010706020507" pitchFamily="18" charset="2"/>
              </a:rPr>
              <a:t>* xA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 baseline="-25000">
                <a:sym typeface="Symbol" panose="05050102010706020507" pitchFamily="18" charset="2"/>
              </a:rPr>
              <a:t>L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 baseline="-25000">
                <a:sym typeface="Symbol" panose="05050102010706020507" pitchFamily="18" charset="2"/>
              </a:rPr>
              <a:t>L</a:t>
            </a:r>
            <a:r>
              <a:rPr lang="en-US" altLang="en-US" sz="3200">
                <a:sym typeface="Symbol" panose="05050102010706020507" pitchFamily="18" charset="2"/>
              </a:rPr>
              <a:t>* xZ</a:t>
            </a:r>
            <a:r>
              <a:rPr lang="en-US" altLang="en-US" sz="3200" baseline="-25000">
                <a:sym typeface="Symbol" panose="05050102010706020507" pitchFamily="18" charset="2"/>
              </a:rPr>
              <a:t>1   </a:t>
            </a:r>
            <a:r>
              <a:rPr lang="en-US" altLang="en-US" sz="3200">
                <a:solidFill>
                  <a:srgbClr val="757575"/>
                </a:solidFill>
                <a:sym typeface="Symbol" panose="05050102010706020507" pitchFamily="18" charset="2"/>
              </a:rPr>
              <a:t>(x V</a:t>
            </a:r>
            <a:r>
              <a:rPr lang="en-US" altLang="en-US" sz="3200" baseline="-25000">
                <a:solidFill>
                  <a:srgbClr val="757575"/>
                </a:solidFill>
                <a:sym typeface="Symbol" panose="05050102010706020507" pitchFamily="18" charset="2"/>
              </a:rPr>
              <a:t>T</a:t>
            </a:r>
            <a:r>
              <a:rPr lang="en-US" altLang="en-US" sz="3200">
                <a:solidFill>
                  <a:srgbClr val="757575"/>
                </a:solidFill>
                <a:sym typeface="Symbol" panose="05050102010706020507" pitchFamily="18" charset="2"/>
              </a:rPr>
              <a:t>*)</a:t>
            </a:r>
            <a:endParaRPr lang="en-US" altLang="en-US" sz="3200" baseline="-25000">
              <a:solidFill>
                <a:srgbClr val="757575"/>
              </a:solidFill>
              <a:sym typeface="Symbol" panose="05050102010706020507" pitchFamily="18" charset="2"/>
            </a:endParaRPr>
          </a:p>
          <a:p>
            <a:pPr marL="1030288" lvl="1" indent="-450850" eaLnBrk="1" hangingPunct="1">
              <a:lnSpc>
                <a:spcPct val="13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 sz="3200"/>
              <a:t>S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 baseline="-25000">
                <a:sym typeface="Symbol" panose="05050102010706020507" pitchFamily="18" charset="2"/>
              </a:rPr>
              <a:t>L</a:t>
            </a:r>
            <a:r>
              <a:rPr lang="en-US" altLang="en-US" sz="3200">
                <a:sym typeface="Symbol" panose="05050102010706020507" pitchFamily="18" charset="2"/>
              </a:rPr>
              <a:t>* xA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 baseline="-25000">
                <a:sym typeface="Symbol" panose="05050102010706020507" pitchFamily="18" charset="2"/>
              </a:rPr>
              <a:t>L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 baseline="-25000">
                <a:sym typeface="Symbol" panose="05050102010706020507" pitchFamily="18" charset="2"/>
              </a:rPr>
              <a:t>L</a:t>
            </a:r>
            <a:r>
              <a:rPr lang="en-US" altLang="en-US" sz="3200">
                <a:sym typeface="Symbol" panose="05050102010706020507" pitchFamily="18" charset="2"/>
              </a:rPr>
              <a:t>* xZ</a:t>
            </a:r>
            <a:r>
              <a:rPr lang="en-US" altLang="en-US" sz="3200" baseline="-25000">
                <a:sym typeface="Symbol" panose="05050102010706020507" pitchFamily="18" charset="2"/>
              </a:rPr>
              <a:t>2</a:t>
            </a:r>
          </a:p>
          <a:p>
            <a:pPr marL="1030288" lvl="1" indent="-450850" eaLnBrk="1" hangingPunct="1">
              <a:lnSpc>
                <a:spcPct val="13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 sz="3200">
                <a:sym typeface="Symbol" panose="05050102010706020507" pitchFamily="18" charset="2"/>
              </a:rPr>
              <a:t>Nếu FIRST</a:t>
            </a:r>
            <a:r>
              <a:rPr lang="en-US" altLang="en-US" sz="3200" baseline="-25000">
                <a:sym typeface="Symbol" panose="05050102010706020507" pitchFamily="18" charset="2"/>
              </a:rPr>
              <a:t>k</a:t>
            </a:r>
            <a:r>
              <a:rPr lang="en-US" altLang="en-US" sz="3200">
                <a:sym typeface="Symbol" panose="05050102010706020507" pitchFamily="18" charset="2"/>
              </a:rPr>
              <a:t>(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) = </a:t>
            </a:r>
            <a:r>
              <a:rPr lang="en-US" altLang="en-US" sz="3200">
                <a:sym typeface="Symbol" panose="05050102010706020507" pitchFamily="18" charset="2"/>
              </a:rPr>
              <a:t>FIRST</a:t>
            </a:r>
            <a:r>
              <a:rPr lang="en-US" altLang="en-US" sz="3200" baseline="-25000">
                <a:sym typeface="Symbol" panose="05050102010706020507" pitchFamily="18" charset="2"/>
              </a:rPr>
              <a:t>k</a:t>
            </a:r>
            <a:r>
              <a:rPr lang="en-US" altLang="en-US" sz="3200">
                <a:sym typeface="Symbol" panose="05050102010706020507" pitchFamily="18" charset="2"/>
              </a:rPr>
              <a:t>(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) thì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68613" name="Text Box 4">
            <a:extLst>
              <a:ext uri="{FF2B5EF4-FFF2-40B4-BE49-F238E27FC236}">
                <a16:creationId xmlns:a16="http://schemas.microsoft.com/office/drawing/2014/main" id="{FF611D82-0693-9AB9-5E5F-9E5479F3F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9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9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>
            <a:extLst>
              <a:ext uri="{FF2B5EF4-FFF2-40B4-BE49-F238E27FC236}">
                <a16:creationId xmlns:a16="http://schemas.microsoft.com/office/drawing/2014/main" id="{83E122D2-781F-1740-0AA3-00E48ABAB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19C0AA-4EE0-406A-8B1C-3D31BD9E873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621E5A45-A212-A879-CAE8-B86319D64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Văn phạm LL(k)</a:t>
            </a:r>
          </a:p>
        </p:txBody>
      </p:sp>
      <p:sp>
        <p:nvSpPr>
          <p:cNvPr id="1598467" name="Rectangle 3">
            <a:extLst>
              <a:ext uri="{FF2B5EF4-FFF2-40B4-BE49-F238E27FC236}">
                <a16:creationId xmlns:a16="http://schemas.microsoft.com/office/drawing/2014/main" id="{420B3289-C281-EAAE-BBB0-9BCF514E9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34400" cy="5181600"/>
          </a:xfrm>
        </p:spPr>
        <p:txBody>
          <a:bodyPr/>
          <a:lstStyle/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Văn phạm phi ngữ cảnh </a:t>
            </a:r>
            <a:r>
              <a:rPr lang="en-US" altLang="en-US">
                <a:cs typeface="Times New Roman" panose="02020603050405020304" pitchFamily="18" charset="0"/>
              </a:rPr>
              <a:t>G = (V</a:t>
            </a:r>
            <a:r>
              <a:rPr lang="en-US" altLang="en-US" baseline="-25000">
                <a:cs typeface="Times New Roman" panose="02020603050405020304" pitchFamily="18" charset="0"/>
              </a:rPr>
              <a:t>T</a:t>
            </a:r>
            <a:r>
              <a:rPr lang="en-US" altLang="en-US">
                <a:cs typeface="Times New Roman" panose="02020603050405020304" pitchFamily="18" charset="0"/>
              </a:rPr>
              <a:t>,V</a:t>
            </a:r>
            <a:r>
              <a:rPr lang="en-US" altLang="en-US" baseline="-25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, P, S),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LL(k) nếu mọi sản xuất của G đều là sản xuất LL(k)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 b="1" i="1" u="sng">
                <a:cs typeface="Arial" panose="020B0604020202020204" pitchFamily="34" charset="0"/>
                <a:sym typeface="Symbol" panose="05050102010706020507" pitchFamily="18" charset="2"/>
              </a:rPr>
              <a:t>Ý nghĩa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1030288" lvl="1" indent="-450850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Nếu G là LL(k) và 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xA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một dạng câu, khi đó nếu biết được 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ký hiệu kết thúc được suy dẫn ra từ 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thì chỉ </a:t>
            </a:r>
            <a:r>
              <a:rPr lang="en-US" altLang="en-US" i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tồn tại duy nhất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một sản xuất từ A thỏa mãn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9637" name="Text Box 4">
            <a:extLst>
              <a:ext uri="{FF2B5EF4-FFF2-40B4-BE49-F238E27FC236}">
                <a16:creationId xmlns:a16="http://schemas.microsoft.com/office/drawing/2014/main" id="{32C00AB9-8C4A-2A1E-5F4B-4964A2D15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9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>
            <a:extLst>
              <a:ext uri="{FF2B5EF4-FFF2-40B4-BE49-F238E27FC236}">
                <a16:creationId xmlns:a16="http://schemas.microsoft.com/office/drawing/2014/main" id="{8272F31C-6A29-60CE-51E6-F8A1C1316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FF6E61-4F95-4A60-A5F5-F31912A9765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F8B91F9-4AA1-95DD-61A3-E1E59CF5C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9D1BDCF-4239-AC84-C112-38ABFB16F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534400" cy="1143000"/>
          </a:xfrm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/>
              <a:t>Văn phạm  S </a:t>
            </a:r>
            <a:r>
              <a:rPr lang="en-US" altLang="en-US">
                <a:sym typeface="Symbol" panose="05050102010706020507" pitchFamily="18" charset="2"/>
              </a:rPr>
              <a:t> aAS | b,  A   bSa | a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là văn phạm LL(1)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0661" name="Text Box 4">
            <a:extLst>
              <a:ext uri="{FF2B5EF4-FFF2-40B4-BE49-F238E27FC236}">
                <a16:creationId xmlns:a16="http://schemas.microsoft.com/office/drawing/2014/main" id="{FAEEE294-4145-3280-840B-6386D4173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599493" name="Rectangle 5">
            <a:extLst>
              <a:ext uri="{FF2B5EF4-FFF2-40B4-BE49-F238E27FC236}">
                <a16:creationId xmlns:a16="http://schemas.microsoft.com/office/drawing/2014/main" id="{4AF2664C-E111-46B4-A0F2-03193EBF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057400"/>
            <a:ext cx="8686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0513" indent="-290513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4400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9538" indent="-58738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397125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892425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3496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8068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2640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7212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800" b="0"/>
              <a:t>Xét các sản xuất từ S:  </a:t>
            </a:r>
            <a:r>
              <a:rPr lang="en-US" altLang="en-US" sz="2800" b="0">
                <a:solidFill>
                  <a:srgbClr val="3539EB"/>
                </a:solidFill>
              </a:rPr>
              <a:t>S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 aAS | 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Xét các cặp suy dẫn trái</a:t>
            </a:r>
          </a:p>
          <a:p>
            <a:pPr lvl="2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 b="0"/>
              <a:t>S </a:t>
            </a:r>
            <a:r>
              <a:rPr lang="en-US" altLang="en-US" sz="2800" b="0">
                <a:sym typeface="Symbol" panose="05050102010706020507" pitchFamily="18" charset="2"/>
              </a:rPr>
              <a:t></a:t>
            </a:r>
            <a:r>
              <a:rPr lang="en-US" altLang="en-US" sz="2800" b="0" baseline="-25000">
                <a:sym typeface="Symbol" panose="05050102010706020507" pitchFamily="18" charset="2"/>
              </a:rPr>
              <a:t>L</a:t>
            </a:r>
            <a:r>
              <a:rPr lang="en-US" altLang="en-US" sz="2800" b="0">
                <a:sym typeface="Symbol" panose="05050102010706020507" pitchFamily="18" charset="2"/>
              </a:rPr>
              <a:t>* xS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 </a:t>
            </a:r>
            <a:r>
              <a:rPr lang="en-US" altLang="en-US" sz="2800" b="0">
                <a:sym typeface="Symbol" panose="05050102010706020507" pitchFamily="18" charset="2"/>
              </a:rPr>
              <a:t></a:t>
            </a:r>
            <a:r>
              <a:rPr lang="en-US" altLang="en-US" sz="2800" b="0" baseline="-25000">
                <a:sym typeface="Symbol" panose="05050102010706020507" pitchFamily="18" charset="2"/>
              </a:rPr>
              <a:t>L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0">
                <a:sym typeface="Symbol" panose="05050102010706020507" pitchFamily="18" charset="2"/>
              </a:rPr>
              <a:t></a:t>
            </a:r>
            <a:r>
              <a:rPr lang="en-US" altLang="en-US" sz="2800" b="0" baseline="-25000">
                <a:sym typeface="Symbol" panose="05050102010706020507" pitchFamily="18" charset="2"/>
              </a:rPr>
              <a:t>L</a:t>
            </a:r>
            <a:r>
              <a:rPr lang="en-US" altLang="en-US" sz="2800" b="0">
                <a:sym typeface="Symbol" panose="05050102010706020507" pitchFamily="18" charset="2"/>
              </a:rPr>
              <a:t>* xZ</a:t>
            </a:r>
            <a:r>
              <a:rPr lang="en-US" altLang="en-US" sz="2800" b="0" baseline="-25000">
                <a:sym typeface="Symbol" panose="05050102010706020507" pitchFamily="18" charset="2"/>
              </a:rPr>
              <a:t>1</a:t>
            </a:r>
            <a:endParaRPr lang="en-US" altLang="en-US" sz="2800" b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 b="0"/>
              <a:t>S </a:t>
            </a:r>
            <a:r>
              <a:rPr lang="en-US" altLang="en-US" sz="2800" b="0">
                <a:sym typeface="Symbol" panose="05050102010706020507" pitchFamily="18" charset="2"/>
              </a:rPr>
              <a:t></a:t>
            </a:r>
            <a:r>
              <a:rPr lang="en-US" altLang="en-US" sz="2800" b="0" baseline="-25000">
                <a:sym typeface="Symbol" panose="05050102010706020507" pitchFamily="18" charset="2"/>
              </a:rPr>
              <a:t>L</a:t>
            </a:r>
            <a:r>
              <a:rPr lang="en-US" altLang="en-US" sz="2800" b="0">
                <a:sym typeface="Symbol" panose="05050102010706020507" pitchFamily="18" charset="2"/>
              </a:rPr>
              <a:t>* xS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 </a:t>
            </a:r>
            <a:r>
              <a:rPr lang="en-US" altLang="en-US" sz="2800" b="0">
                <a:sym typeface="Symbol" panose="05050102010706020507" pitchFamily="18" charset="2"/>
              </a:rPr>
              <a:t></a:t>
            </a:r>
            <a:r>
              <a:rPr lang="en-US" altLang="en-US" sz="2800" b="0" baseline="-25000">
                <a:sym typeface="Symbol" panose="05050102010706020507" pitchFamily="18" charset="2"/>
              </a:rPr>
              <a:t>L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0">
                <a:sym typeface="Symbol" panose="05050102010706020507" pitchFamily="18" charset="2"/>
              </a:rPr>
              <a:t></a:t>
            </a:r>
            <a:r>
              <a:rPr lang="en-US" altLang="en-US" sz="2800" b="0" baseline="-25000">
                <a:sym typeface="Symbol" panose="05050102010706020507" pitchFamily="18" charset="2"/>
              </a:rPr>
              <a:t>L</a:t>
            </a:r>
            <a:r>
              <a:rPr lang="en-US" altLang="en-US" sz="2800" b="0">
                <a:sym typeface="Symbol" panose="05050102010706020507" pitchFamily="18" charset="2"/>
              </a:rPr>
              <a:t>* xZ</a:t>
            </a:r>
            <a:r>
              <a:rPr lang="en-US" altLang="en-US" sz="2800" b="0" baseline="-25000">
                <a:sym typeface="Symbol" panose="05050102010706020507" pitchFamily="18" charset="2"/>
              </a:rPr>
              <a:t>2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FIRST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(Z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)=FIRST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(Z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)={</a:t>
            </a:r>
            <a:r>
              <a:rPr lang="en-US" altLang="en-US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thì từ S phải dùng </a:t>
            </a:r>
            <a:r>
              <a:rPr lang="en-US" altLang="en-US" b="0"/>
              <a:t>sản xuất có ký hiệu </a:t>
            </a:r>
            <a:r>
              <a:rPr lang="en-US" altLang="en-US"/>
              <a:t>a</a:t>
            </a:r>
            <a:r>
              <a:rPr lang="en-US" altLang="en-US" b="0"/>
              <a:t> ở đầu: </a:t>
            </a:r>
            <a:r>
              <a:rPr lang="en-US" altLang="en-US">
                <a:solidFill>
                  <a:schemeClr val="accent2"/>
                </a:solidFill>
              </a:rPr>
              <a:t>S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 </a:t>
            </a:r>
            <a:r>
              <a:rPr lang="en-US" altLang="en-US">
                <a:solidFill>
                  <a:srgbClr val="FA0617"/>
                </a:solidFill>
                <a:sym typeface="Symbol" panose="05050102010706020507" pitchFamily="18" charset="2"/>
              </a:rPr>
              <a:t>a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AS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FIRST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(Z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)=FIRST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(Z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)={</a:t>
            </a:r>
            <a:r>
              <a:rPr lang="en-US" altLang="en-US" b="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dùng</a:t>
            </a:r>
            <a:r>
              <a:rPr lang="en-US" altLang="en-US" b="0"/>
              <a:t>: </a:t>
            </a:r>
            <a:r>
              <a:rPr lang="en-US" altLang="en-US">
                <a:solidFill>
                  <a:srgbClr val="3539EB"/>
                </a:solidFill>
              </a:rPr>
              <a:t>S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 b</a:t>
            </a:r>
            <a:endParaRPr lang="el-GR" altLang="en-US">
              <a:solidFill>
                <a:srgbClr val="3539EB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 sz="2800" b="0">
                <a:sym typeface="Symbol" panose="05050102010706020507" pitchFamily="18" charset="2"/>
              </a:rPr>
              <a:t>Tương tự với các sản xuất từ A: A   bSa | a</a:t>
            </a:r>
            <a:endParaRPr lang="el-GR" altLang="en-US" sz="2800" b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9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99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99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994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99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994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8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0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99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4">
            <a:extLst>
              <a:ext uri="{FF2B5EF4-FFF2-40B4-BE49-F238E27FC236}">
                <a16:creationId xmlns:a16="http://schemas.microsoft.com/office/drawing/2014/main" id="{5BD096F3-080D-C1A4-9420-0482F078D3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C2AC33-8E0B-4F3C-A8CE-6D0020C95B3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F1A81A3-32C8-30CF-EDEA-41AD82CA0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7FF2D954-BEB8-7647-F874-DCA4C847E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534400" cy="685800"/>
          </a:xfrm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/>
              <a:t>Văn phạm  S </a:t>
            </a:r>
            <a:r>
              <a:rPr lang="en-US" altLang="en-US">
                <a:sym typeface="Symbol" panose="05050102010706020507" pitchFamily="18" charset="2"/>
              </a:rPr>
              <a:t> aAa | bAba,  A   b |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</a:p>
        </p:txBody>
      </p:sp>
      <p:sp>
        <p:nvSpPr>
          <p:cNvPr id="71685" name="Text Box 4">
            <a:extLst>
              <a:ext uri="{FF2B5EF4-FFF2-40B4-BE49-F238E27FC236}">
                <a16:creationId xmlns:a16="http://schemas.microsoft.com/office/drawing/2014/main" id="{D6ED47F0-617B-A7E8-3318-3BB471CE1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600518" name="Rectangle 6">
            <a:extLst>
              <a:ext uri="{FF2B5EF4-FFF2-40B4-BE49-F238E27FC236}">
                <a16:creationId xmlns:a16="http://schemas.microsoft.com/office/drawing/2014/main" id="{2BE59A96-0511-41CE-196D-12F0CABB2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534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4508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901825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397125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892425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3496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8068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2640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7212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Không phải văn phạm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LL(1)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	Xét sản xuất </a:t>
            </a:r>
            <a:r>
              <a:rPr lang="en-US" altLang="en-US" sz="2800" b="0"/>
              <a:t>S </a:t>
            </a:r>
            <a:r>
              <a:rPr lang="en-US" altLang="en-US" sz="2800" b="0">
                <a:sym typeface="Symbol" panose="05050102010706020507" pitchFamily="18" charset="2"/>
              </a:rPr>
              <a:t> bAba, nếu đang ở ký hiệu không kết thúc A và nhìn trước </a:t>
            </a:r>
            <a:r>
              <a:rPr lang="en-US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b</a:t>
            </a:r>
            <a:r>
              <a:rPr lang="en-US" altLang="en-US" sz="2800" b="0">
                <a:sym typeface="Symbol" panose="05050102010706020507" pitchFamily="18" charset="2"/>
              </a:rPr>
              <a:t>, sẽ không biết cần sử dụng sản xuất </a:t>
            </a:r>
            <a:r>
              <a:rPr lang="en-US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A  b</a:t>
            </a:r>
            <a:r>
              <a:rPr lang="en-US" altLang="en-US" sz="2800" b="0">
                <a:sym typeface="Symbol" panose="05050102010706020507" pitchFamily="18" charset="2"/>
              </a:rPr>
              <a:t> hay </a:t>
            </a:r>
            <a:r>
              <a:rPr lang="en-US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A   </a:t>
            </a:r>
            <a:r>
              <a:rPr lang="el-GR" altLang="en-US" sz="2800" b="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l-GR" altLang="en-US" sz="2800" b="0">
              <a:solidFill>
                <a:srgbClr val="FA0617"/>
              </a:solidFill>
              <a:sym typeface="Symbol" panose="05050102010706020507" pitchFamily="18" charset="2"/>
            </a:endParaRPr>
          </a:p>
        </p:txBody>
      </p:sp>
      <p:sp>
        <p:nvSpPr>
          <p:cNvPr id="1600519" name="Rectangle 7">
            <a:extLst>
              <a:ext uri="{FF2B5EF4-FFF2-40B4-BE49-F238E27FC236}">
                <a16:creationId xmlns:a16="http://schemas.microsoft.com/office/drawing/2014/main" id="{C3EBF80A-8140-6E0D-8FD9-F08820F0C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352800"/>
            <a:ext cx="86868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0513" indent="-290513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8513" indent="-39211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901825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397125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892425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3496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8068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2640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7212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Là văn phạm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LL(2)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Nếu đang ở ngữ cảnh </a:t>
            </a:r>
            <a:r>
              <a:rPr lang="en-US" altLang="en-US" i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aAa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, và nhìn trước được 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, phải áp dụng </a:t>
            </a:r>
            <a:r>
              <a:rPr lang="en-US" altLang="en-US" i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i="1">
                <a:solidFill>
                  <a:srgbClr val="3539EB"/>
                </a:solidFill>
                <a:sym typeface="Symbol" panose="05050102010706020507" pitchFamily="18" charset="2"/>
              </a:rPr>
              <a:t>b</a:t>
            </a:r>
            <a:r>
              <a:rPr lang="en-US" altLang="en-US" b="0">
                <a:sym typeface="Symbol" panose="05050102010706020507" pitchFamily="18" charset="2"/>
              </a:rPr>
              <a:t>, còn nếu nhìn trước được </a:t>
            </a:r>
            <a:r>
              <a:rPr lang="en-US" altLang="en-US" i="1">
                <a:solidFill>
                  <a:srgbClr val="FA0617"/>
                </a:solidFill>
                <a:sym typeface="Symbol" panose="05050102010706020507" pitchFamily="18" charset="2"/>
              </a:rPr>
              <a:t>a#,</a:t>
            </a:r>
            <a:r>
              <a:rPr lang="en-US" altLang="en-US" b="0">
                <a:sym typeface="Symbol" panose="05050102010706020507" pitchFamily="18" charset="2"/>
              </a:rPr>
              <a:t> phải áp dụng </a:t>
            </a:r>
            <a:r>
              <a:rPr lang="en-US" altLang="en-US" i="1">
                <a:solidFill>
                  <a:srgbClr val="FA0617"/>
                </a:solidFill>
                <a:sym typeface="Symbol" panose="05050102010706020507" pitchFamily="18" charset="2"/>
              </a:rPr>
              <a:t>A   </a:t>
            </a:r>
            <a:r>
              <a:rPr lang="el-GR" altLang="en-US" i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Nếu đang ở ngữ cảnh </a:t>
            </a:r>
            <a:r>
              <a:rPr lang="en-US" altLang="en-US" i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bAba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, và nhìn trước được </a:t>
            </a:r>
            <a:r>
              <a:rPr lang="en-US" altLang="en-US" i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bb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, phải áp dụng </a:t>
            </a:r>
            <a:r>
              <a:rPr lang="en-US" altLang="en-US" i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i="1">
                <a:solidFill>
                  <a:srgbClr val="3539EB"/>
                </a:solidFill>
                <a:sym typeface="Symbol" panose="05050102010706020507" pitchFamily="18" charset="2"/>
              </a:rPr>
              <a:t>b</a:t>
            </a:r>
            <a:r>
              <a:rPr lang="en-US" altLang="en-US" b="0">
                <a:sym typeface="Symbol" panose="05050102010706020507" pitchFamily="18" charset="2"/>
              </a:rPr>
              <a:t>, còn nếu nhìn trước được </a:t>
            </a:r>
            <a:r>
              <a:rPr lang="en-US" altLang="en-US" i="1">
                <a:solidFill>
                  <a:srgbClr val="FA0617"/>
                </a:solidFill>
                <a:sym typeface="Symbol" panose="05050102010706020507" pitchFamily="18" charset="2"/>
              </a:rPr>
              <a:t>ba</a:t>
            </a:r>
            <a:r>
              <a:rPr lang="en-US" altLang="en-US" b="0">
                <a:sym typeface="Symbol" panose="05050102010706020507" pitchFamily="18" charset="2"/>
              </a:rPr>
              <a:t>, phải áp dụng </a:t>
            </a:r>
            <a:r>
              <a:rPr lang="en-US" altLang="en-US" i="1">
                <a:solidFill>
                  <a:srgbClr val="FA0617"/>
                </a:solidFill>
                <a:sym typeface="Symbol" panose="05050102010706020507" pitchFamily="18" charset="2"/>
              </a:rPr>
              <a:t>A   </a:t>
            </a:r>
            <a:r>
              <a:rPr lang="el-GR" altLang="en-US" i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l-GR" altLang="en-US" i="1">
              <a:solidFill>
                <a:srgbClr val="FA0617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0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0518" grpId="0"/>
      <p:bldP spid="160051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>
            <a:extLst>
              <a:ext uri="{FF2B5EF4-FFF2-40B4-BE49-F238E27FC236}">
                <a16:creationId xmlns:a16="http://schemas.microsoft.com/office/drawing/2014/main" id="{16ADD830-B97F-495E-1D4A-6C427F7D44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76BA06-0B2F-48D0-BDC1-4CA902DFDB7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D852D99B-81DA-81FB-FEDB-1CD051CF85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Điều kiện để văn phạm là LL(k)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56C345A-9492-ACB6-FA5F-F20BA1DE9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4038600"/>
          </a:xfrm>
        </p:spPr>
        <p:txBody>
          <a:bodyPr/>
          <a:lstStyle/>
          <a:p>
            <a:pPr marL="58738" indent="-58738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Cho văn phạm phi ngữ cảnh G = (V</a:t>
            </a:r>
            <a:r>
              <a:rPr lang="en-US" altLang="en-US" baseline="-25000">
                <a:cs typeface="Times New Roman" panose="02020603050405020304" pitchFamily="18" charset="0"/>
              </a:rPr>
              <a:t>T</a:t>
            </a:r>
            <a:r>
              <a:rPr lang="en-US" altLang="en-US">
                <a:cs typeface="Times New Roman" panose="02020603050405020304" pitchFamily="18" charset="0"/>
              </a:rPr>
              <a:t>,V</a:t>
            </a:r>
            <a:r>
              <a:rPr lang="en-US" altLang="en-US" baseline="-25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, P, S), </a:t>
            </a:r>
          </a:p>
          <a:p>
            <a:pPr marL="58738" indent="-58738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G là văn phạm LL(k) khi và chỉ khi thỏa mãn</a:t>
            </a:r>
          </a:p>
          <a:p>
            <a:pPr marL="682625" lvl="1" indent="-334963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>
                <a:cs typeface="Times New Roman" panose="02020603050405020304" pitchFamily="18" charset="0"/>
              </a:rPr>
              <a:t>Nếu 	xA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 là một dạng câu (S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xA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682625" lvl="1" indent="-334963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	A 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P và  A 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P (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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)</a:t>
            </a:r>
          </a:p>
          <a:p>
            <a:pPr marL="682625" lvl="1" indent="-334963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Thì FIRST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)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 FIRST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)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n-US" altLang="en-US"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72709" name="Text Box 4">
            <a:extLst>
              <a:ext uri="{FF2B5EF4-FFF2-40B4-BE49-F238E27FC236}">
                <a16:creationId xmlns:a16="http://schemas.microsoft.com/office/drawing/2014/main" id="{C926051B-2CB6-3F52-9C38-CA7D584E3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4">
            <a:extLst>
              <a:ext uri="{FF2B5EF4-FFF2-40B4-BE49-F238E27FC236}">
                <a16:creationId xmlns:a16="http://schemas.microsoft.com/office/drawing/2014/main" id="{4968CA32-E546-AFCE-9AD6-BDBB5BB7F4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E23DB6-D99E-4EFE-B08C-803E9F097AA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DCAAF5C6-5B67-BF91-A2BB-8B799ED98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LL(1)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6B53B95E-CD77-94D6-E5D9-888F60019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066800"/>
            <a:ext cx="8572500" cy="54864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en-US"/>
              <a:t>Văn phạm LL(k): nhắc tới trong lý thuyết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/>
              <a:t>Sử dụng thực tế, k = 1.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/>
              <a:t>Quy ước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/>
              <a:t>FIRST</a:t>
            </a:r>
            <a:r>
              <a:rPr lang="en-US" altLang="en-US" baseline="-25000"/>
              <a:t>1</a:t>
            </a:r>
            <a:r>
              <a:rPr lang="en-US" altLang="en-US"/>
              <a:t>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 </a:t>
            </a:r>
            <a:r>
              <a:rPr lang="en-US" altLang="en-US">
                <a:cs typeface="Arial" panose="020B0604020202020204" pitchFamily="34" charset="0"/>
              </a:rPr>
              <a:t>≡ </a:t>
            </a:r>
            <a:r>
              <a:rPr lang="en-US" altLang="en-US"/>
              <a:t>FIRST(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 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/>
              <a:t>FOLLOW</a:t>
            </a:r>
            <a:r>
              <a:rPr lang="en-US" altLang="en-US" baseline="-25000"/>
              <a:t>1</a:t>
            </a:r>
            <a:r>
              <a:rPr lang="en-US" altLang="en-US"/>
              <a:t>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 </a:t>
            </a:r>
            <a:r>
              <a:rPr lang="en-US" altLang="en-US">
                <a:cs typeface="Arial" panose="020B0604020202020204" pitchFamily="34" charset="0"/>
              </a:rPr>
              <a:t>≡ </a:t>
            </a:r>
            <a:r>
              <a:rPr lang="en-US" altLang="en-US"/>
              <a:t>FOLLOW(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/>
              <a:t>)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/>
              <a:t>Định nghĩa lại tập FIRST và FOLLOW 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/>
              <a:t>Để dễ dàng tính toán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en-US"/>
              <a:t>Thường quan tâm tới FOLLOW của một ký hiệu không kết thúc</a:t>
            </a:r>
          </a:p>
        </p:txBody>
      </p:sp>
      <p:sp>
        <p:nvSpPr>
          <p:cNvPr id="73733" name="Text Box 4">
            <a:extLst>
              <a:ext uri="{FF2B5EF4-FFF2-40B4-BE49-F238E27FC236}">
                <a16:creationId xmlns:a16="http://schemas.microsoft.com/office/drawing/2014/main" id="{7353B100-8210-244D-D7C1-95A64D2B1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>
            <a:extLst>
              <a:ext uri="{FF2B5EF4-FFF2-40B4-BE49-F238E27FC236}">
                <a16:creationId xmlns:a16="http://schemas.microsoft.com/office/drawing/2014/main" id="{C83B1CC6-1084-FDE2-2983-CE0487AA6A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28AF91-D4D3-4A64-B15E-AD566F27A67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CDB0589-F67C-8BF8-0C42-044C7CEA5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FIRST(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>
                <a:cs typeface="Arial" panose="020B0604020202020204" pitchFamily="34" charset="0"/>
              </a:rPr>
              <a:t>)</a:t>
            </a:r>
            <a:endParaRPr lang="en-US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93CD9AF-E347-120F-ABA2-DC7597AB7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spcBef>
                <a:spcPct val="40000"/>
              </a:spcBef>
              <a:buFontTx/>
              <a:buNone/>
            </a:pPr>
            <a:r>
              <a:rPr lang="en-US" altLang="en-US" sz="3600"/>
              <a:t>FIRST(</a:t>
            </a:r>
            <a:r>
              <a:rPr lang="el-GR" altLang="en-US" sz="3600">
                <a:cs typeface="Arial" panose="020B0604020202020204" pitchFamily="34" charset="0"/>
              </a:rPr>
              <a:t>α</a:t>
            </a:r>
            <a:r>
              <a:rPr lang="en-US" altLang="en-US" sz="3600">
                <a:cs typeface="Arial" panose="020B0604020202020204" pitchFamily="34" charset="0"/>
              </a:rPr>
              <a:t>)   = { a | a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3600" baseline="-25000"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3600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* a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} hoặc </a:t>
            </a:r>
          </a:p>
          <a:p>
            <a:pPr eaLnBrk="1" hangingPunct="1">
              <a:lnSpc>
                <a:spcPct val="125000"/>
              </a:lnSpc>
              <a:spcBef>
                <a:spcPct val="40000"/>
              </a:spcBef>
              <a:buFontTx/>
              <a:buNone/>
            </a:pP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			   = {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600">
                <a:cs typeface="Arial" panose="020B0604020202020204" pitchFamily="34" charset="0"/>
              </a:rPr>
              <a:t>|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3600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25000"/>
              </a:lnSpc>
              <a:spcBef>
                <a:spcPct val="40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Tập tất cả các ký hiệu kết thúc, đứng đầu một chuỗi được suy dẫn ra từ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</a:p>
        </p:txBody>
      </p:sp>
      <p:sp>
        <p:nvSpPr>
          <p:cNvPr id="74757" name="Text Box 4">
            <a:extLst>
              <a:ext uri="{FF2B5EF4-FFF2-40B4-BE49-F238E27FC236}">
                <a16:creationId xmlns:a16="http://schemas.microsoft.com/office/drawing/2014/main" id="{6959EF8E-D5EE-D586-B7F4-0A443585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4">
            <a:extLst>
              <a:ext uri="{FF2B5EF4-FFF2-40B4-BE49-F238E27FC236}">
                <a16:creationId xmlns:a16="http://schemas.microsoft.com/office/drawing/2014/main" id="{B5AEE687-9CFD-53B0-4334-8778F8133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E2A21D-CAEA-49E0-8B20-0E91DA496A1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F1FBEE1-C62E-B16E-9D99-2D01CCC01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FIRST(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>
                <a:cs typeface="Arial" panose="020B0604020202020204" pitchFamily="34" charset="0"/>
              </a:rPr>
              <a:t>)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Tính chất</a:t>
            </a:r>
            <a:endParaRPr lang="el-GR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823FEB39-E02F-6084-9849-8BB87D37E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867400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en-US"/>
              <a:t>a </a:t>
            </a:r>
            <a:r>
              <a:rPr lang="en-US" altLang="en-US">
                <a:sym typeface="Symbol" panose="05050102010706020507" pitchFamily="18" charset="2"/>
              </a:rPr>
              <a:t> V</a:t>
            </a:r>
            <a:r>
              <a:rPr lang="en-US" altLang="en-US" baseline="-25000">
                <a:sym typeface="Symbol" panose="05050102010706020507" pitchFamily="18" charset="2"/>
              </a:rPr>
              <a:t>T</a:t>
            </a:r>
            <a:r>
              <a:rPr lang="en-US" altLang="en-US">
                <a:sym typeface="Symbol" panose="05050102010706020507" pitchFamily="18" charset="2"/>
              </a:rPr>
              <a:t>*		FIRST(a) = {a}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		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= 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endParaRPr lang="en-US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  a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FIRST(A)  {a}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  B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FIRST(A)  FIRST(B) –{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 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Nếu b  FIRST(B) thì B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30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b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endParaRPr lang="en-US" altLang="en-US">
              <a:solidFill>
                <a:srgbClr val="3539EB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Vậy A  B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30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b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βγ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. Do đó FIRST(A)  {b}</a:t>
            </a:r>
          </a:p>
          <a:p>
            <a:pPr lvl="1" eaLnBrk="1" hangingPunct="1">
              <a:lnSpc>
                <a:spcPct val="105000"/>
              </a:lnSpc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Xét trường hợp A  Ba và B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FIRST(B)  {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 nhưng {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  FIRST(A)</a:t>
            </a:r>
            <a:endParaRPr lang="el-GR" altLang="en-US">
              <a:solidFill>
                <a:srgbClr val="3539EB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  B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γ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và  B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FIRST(A)  (FIRST(B) –{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 ) 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5EC7D9D1-00B6-8F3E-E0AA-AE668F055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>
            <a:extLst>
              <a:ext uri="{FF2B5EF4-FFF2-40B4-BE49-F238E27FC236}">
                <a16:creationId xmlns:a16="http://schemas.microsoft.com/office/drawing/2014/main" id="{BA831174-7C12-9233-AE71-B348BE2F8D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FF209F-8706-4A7C-B776-E12D00D602E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2013E59-AB57-74AF-6222-C4E448960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FOLLOW(</a:t>
            </a:r>
            <a:r>
              <a:rPr lang="en-US" altLang="en-US" sz="2800">
                <a:cs typeface="Arial" panose="020B0604020202020204" pitchFamily="34" charset="0"/>
              </a:rPr>
              <a:t>A)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0CC3D5F-EA7A-ECE1-5B42-0767440C1E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648700" cy="5638800"/>
          </a:xfrm>
        </p:spPr>
        <p:txBody>
          <a:bodyPr/>
          <a:lstStyle/>
          <a:p>
            <a:pPr algn="ctr" eaLnBrk="1" hangingPunct="1">
              <a:lnSpc>
                <a:spcPct val="125000"/>
              </a:lnSpc>
              <a:spcBef>
                <a:spcPct val="40000"/>
              </a:spcBef>
              <a:buFontTx/>
              <a:buNone/>
            </a:pPr>
            <a:r>
              <a:rPr lang="en-US" altLang="en-US" sz="3600"/>
              <a:t>FOLLOW(</a:t>
            </a:r>
            <a:r>
              <a:rPr lang="en-US" altLang="en-US" sz="3600">
                <a:cs typeface="Arial" panose="020B0604020202020204" pitchFamily="34" charset="0"/>
              </a:rPr>
              <a:t>A)   = { a | a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3600" baseline="-25000"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, S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3600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Aa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}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Tập tất cả các ký hiệu kết thúc có thể 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đứng ngay sau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ký hiệu không kết thúc A trong một dạng câu nào đó</a:t>
            </a:r>
          </a:p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Trường hợp đặc biệt, nếu A là ký hiệu bên phải nhất của một dạng câu (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thì 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FOLLOW(A)  {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// </a:t>
            </a:r>
            <a:r>
              <a:rPr lang="en-US" altLang="en-US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FOLLOW(A)  {#}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Đánh dấu không có ký hiệu nào ở bên phải A</a:t>
            </a:r>
          </a:p>
        </p:txBody>
      </p:sp>
      <p:sp>
        <p:nvSpPr>
          <p:cNvPr id="76805" name="Text Box 4">
            <a:extLst>
              <a:ext uri="{FF2B5EF4-FFF2-40B4-BE49-F238E27FC236}">
                <a16:creationId xmlns:a16="http://schemas.microsoft.com/office/drawing/2014/main" id="{90CDBDCB-9A45-471B-DA53-27C259D6A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4">
            <a:extLst>
              <a:ext uri="{FF2B5EF4-FFF2-40B4-BE49-F238E27FC236}">
                <a16:creationId xmlns:a16="http://schemas.microsoft.com/office/drawing/2014/main" id="{7A99D9A7-96FB-36B3-9D1E-2FFA5EEDB9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B5E397-514B-49DF-8896-54742405AFD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F84EC68E-3661-589F-FE2A-DCC09BFBB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FOLLOW(</a:t>
            </a:r>
            <a:r>
              <a:rPr lang="en-US" altLang="en-US" sz="2800">
                <a:cs typeface="Arial" panose="020B0604020202020204" pitchFamily="34" charset="0"/>
              </a:rPr>
              <a:t>A)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Tính chất</a:t>
            </a:r>
            <a:endParaRPr lang="el-GR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F6C61BD8-F48C-6A79-B2AC-8B1DB8E72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648700" cy="57912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FOLLOW(B)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)-{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</a:p>
          <a:p>
            <a:pPr marL="798513" lvl="1" indent="-341313" eaLnBrk="1" hangingPunct="1">
              <a:lnSpc>
                <a:spcPct val="110000"/>
              </a:lnSpc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Nếu FIRST(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{a},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*a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. </a:t>
            </a:r>
          </a:p>
          <a:p>
            <a:pPr marL="798513" lvl="1" indent="-341313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Vì A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nên A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endParaRPr lang="en-US" altLang="en-US">
              <a:solidFill>
                <a:srgbClr val="3539EB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798513" lvl="1" indent="-341313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Vậy FOLLOW(B)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{a}</a:t>
            </a:r>
          </a:p>
          <a:p>
            <a:pPr marL="798513" lvl="1" indent="-341313" eaLnBrk="1" hangingPunct="1">
              <a:lnSpc>
                <a:spcPct val="110000"/>
              </a:lnSpc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Xét S Aa, A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và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solidFill>
                <a:srgbClr val="3539EB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{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 FIRST(</a:t>
            </a:r>
            <a:r>
              <a:rPr lang="el-GR" altLang="en-US" sz="28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 nhưng {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 FOLLOW(B)</a:t>
            </a:r>
          </a:p>
          <a:p>
            <a:pPr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 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  hoặc A 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và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		FOLLOW(B)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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FOLLOW(A)</a:t>
            </a:r>
          </a:p>
          <a:p>
            <a:pPr marL="798513" lvl="1" indent="-341313" eaLnBrk="1" hangingPunct="1">
              <a:spcBef>
                <a:spcPct val="10000"/>
              </a:spcBef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{a} FOLLOW(A) thì S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Aa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endParaRPr lang="en-US" altLang="en-US">
              <a:solidFill>
                <a:srgbClr val="3539EB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798513" lvl="1" indent="-341313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Do A 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 nên S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Aa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  αγ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 </a:t>
            </a:r>
          </a:p>
        </p:txBody>
      </p:sp>
      <p:sp>
        <p:nvSpPr>
          <p:cNvPr id="77829" name="Text Box 4">
            <a:extLst>
              <a:ext uri="{FF2B5EF4-FFF2-40B4-BE49-F238E27FC236}">
                <a16:creationId xmlns:a16="http://schemas.microsoft.com/office/drawing/2014/main" id="{9826FD61-DF19-CCB2-0A30-27675D550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>
            <a:extLst>
              <a:ext uri="{FF2B5EF4-FFF2-40B4-BE49-F238E27FC236}">
                <a16:creationId xmlns:a16="http://schemas.microsoft.com/office/drawing/2014/main" id="{BA42536C-7F4A-791E-0AAC-DEE9985157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1C56E9-E961-4C08-A7F0-27E368277CE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5AD67F5-67E9-3EB7-5A88-EA44C311E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607683" name="Rectangle 3">
            <a:extLst>
              <a:ext uri="{FF2B5EF4-FFF2-40B4-BE49-F238E27FC236}">
                <a16:creationId xmlns:a16="http://schemas.microsoft.com/office/drawing/2014/main" id="{263EA18F-E488-5AB0-5562-28DB34134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715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/>
              <a:t>Cho văn phạm: 	E</a:t>
            </a:r>
            <a:r>
              <a:rPr lang="en-US" altLang="en-US" sz="2800">
                <a:sym typeface="Symbol" panose="05050102010706020507" pitchFamily="18" charset="2"/>
              </a:rPr>
              <a:t>T | E+T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/>
              <a:t>				T</a:t>
            </a:r>
            <a:r>
              <a:rPr lang="en-US" altLang="en-US" sz="2800">
                <a:sym typeface="Symbol" panose="05050102010706020507" pitchFamily="18" charset="2"/>
              </a:rPr>
              <a:t>F | T*F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/>
              <a:t>				F</a:t>
            </a:r>
            <a:r>
              <a:rPr lang="en-US" altLang="en-US" sz="2800">
                <a:sym typeface="Symbol" panose="05050102010706020507" pitchFamily="18" charset="2"/>
              </a:rPr>
              <a:t>a | (E)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FIRST(F) = {a, ( }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FIRST(T) = FIRST(F) = {a, ( }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FIRST(E) = FIRST(T) =  {a, ( }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FOLLOW(E) = { +, ) , </a:t>
            </a:r>
            <a:r>
              <a:rPr lang="en-US" altLang="en-US" sz="2800" b="1">
                <a:solidFill>
                  <a:srgbClr val="FA0617"/>
                </a:solidFill>
                <a:sym typeface="Symbol" panose="05050102010706020507" pitchFamily="18" charset="2"/>
              </a:rPr>
              <a:t>#</a:t>
            </a:r>
            <a:r>
              <a:rPr lang="en-US" altLang="en-US" sz="28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FOLLOW(T) = FOLLOW(T)  { * } = { +, ), * , </a:t>
            </a:r>
            <a:r>
              <a:rPr lang="en-US" altLang="en-US" sz="2800" b="1">
                <a:solidFill>
                  <a:srgbClr val="FA0617"/>
                </a:solidFill>
                <a:sym typeface="Symbol" panose="05050102010706020507" pitchFamily="18" charset="2"/>
              </a:rPr>
              <a:t>#</a:t>
            </a:r>
            <a:r>
              <a:rPr lang="en-US" altLang="en-US" sz="280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FOLLOW(F) = FOLLOW(T)  = { +, ), *, </a:t>
            </a:r>
            <a:r>
              <a:rPr lang="en-US" altLang="en-US" sz="2800" b="1">
                <a:solidFill>
                  <a:srgbClr val="FA0617"/>
                </a:solidFill>
                <a:sym typeface="Symbol" panose="05050102010706020507" pitchFamily="18" charset="2"/>
              </a:rPr>
              <a:t>#</a:t>
            </a:r>
            <a:r>
              <a:rPr lang="en-US" altLang="en-US" sz="2800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78853" name="Text Box 4">
            <a:extLst>
              <a:ext uri="{FF2B5EF4-FFF2-40B4-BE49-F238E27FC236}">
                <a16:creationId xmlns:a16="http://schemas.microsoft.com/office/drawing/2014/main" id="{D301AC5A-35B1-29EF-AAF8-D26AC088D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0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0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60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60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60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4">
            <a:extLst>
              <a:ext uri="{FF2B5EF4-FFF2-40B4-BE49-F238E27FC236}">
                <a16:creationId xmlns:a16="http://schemas.microsoft.com/office/drawing/2014/main" id="{74E9FA78-54BB-5848-1FB8-72DD08EA27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FD4C2D-6E5C-4FC5-B154-5ABE31FEE60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CCCF4AE-D01C-86A5-A293-F63B5D098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Toán tử </a:t>
            </a:r>
            <a:endParaRPr lang="el-GR" altLang="en-US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09731" name="Rectangle 3">
            <a:extLst>
              <a:ext uri="{FF2B5EF4-FFF2-40B4-BE49-F238E27FC236}">
                <a16:creationId xmlns:a16="http://schemas.microsoft.com/office/drawing/2014/main" id="{D8957771-6BD1-F3B2-0CED-358977939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Cho 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và 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là 2 tập ký hiệu.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Định nghĩa toán tử  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		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 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	= 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nếu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ε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				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= (V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-{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})  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nếu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 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Ví dụ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{a, b}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{c, d} = {a, b}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a, b}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{c, d} = {a, b, c, d}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{ }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{a, b} = { }	//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Do tập rỗng không chứa </a:t>
            </a:r>
            <a:r>
              <a:rPr lang="el-GR" altLang="en-US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 i="1">
              <a:solidFill>
                <a:schemeClr val="bg2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9877" name="Text Box 4">
            <a:extLst>
              <a:ext uri="{FF2B5EF4-FFF2-40B4-BE49-F238E27FC236}">
                <a16:creationId xmlns:a16="http://schemas.microsoft.com/office/drawing/2014/main" id="{F7444987-E68F-26AD-4667-59C0E7E29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0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0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0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4">
            <a:extLst>
              <a:ext uri="{FF2B5EF4-FFF2-40B4-BE49-F238E27FC236}">
                <a16:creationId xmlns:a16="http://schemas.microsoft.com/office/drawing/2014/main" id="{B4597C6C-CADE-8A43-B60B-B10AD8F8DC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814C3E-196A-4BD8-BCC7-F4E0B2055D3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DDA5EC2-B86D-0DA6-6E62-F3E86F4EA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Bổ đề</a:t>
            </a:r>
            <a:endParaRPr lang="el-GR" altLang="en-US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0DADAB48-BF6C-244C-3602-62CF7B9AE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838200"/>
            <a:ext cx="6781800" cy="609600"/>
          </a:xfrm>
          <a:ln>
            <a:solidFill>
              <a:srgbClr val="3539EB"/>
            </a:solidFill>
            <a:miter lim="800000"/>
            <a:headEnd/>
            <a:tailEnd/>
          </a:ln>
        </p:spPr>
        <p:txBody>
          <a:bodyPr/>
          <a:lstStyle/>
          <a:p>
            <a:pPr marL="0" indent="0" algn="ctr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=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0901" name="Text Box 4">
            <a:extLst>
              <a:ext uri="{FF2B5EF4-FFF2-40B4-BE49-F238E27FC236}">
                <a16:creationId xmlns:a16="http://schemas.microsoft.com/office/drawing/2014/main" id="{D304320C-5270-3A9A-B905-51C72290B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623045" name="Rectangle 5">
            <a:extLst>
              <a:ext uri="{FF2B5EF4-FFF2-40B4-BE49-F238E27FC236}">
                <a16:creationId xmlns:a16="http://schemas.microsoft.com/office/drawing/2014/main" id="{8E5E4BEA-E75C-C930-1B5D-0213A76A7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450975"/>
            <a:ext cx="8572500" cy="533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682625" indent="-3349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 a 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và a 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Định nghĩa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:  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FIRST(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FIRST(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ru-RU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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a </a:t>
            </a:r>
          </a:p>
          <a:p>
            <a:pPr lvl="1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sz="3200" b="0">
                <a:cs typeface="Arial" panose="020B0604020202020204" pitchFamily="34" charset="0"/>
                <a:sym typeface="Symbol" panose="05050102010706020507" pitchFamily="18" charset="2"/>
              </a:rPr>
              <a:t>Định nghĩa FIRST:  </a:t>
            </a:r>
            <a:r>
              <a:rPr lang="el-GR" altLang="en-US" sz="32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 </a:t>
            </a:r>
            <a:r>
              <a:rPr lang="en-US" altLang="en-US" sz="32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3200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32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*a</a:t>
            </a:r>
            <a:r>
              <a:rPr lang="el-GR" altLang="en-US" sz="32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γ</a:t>
            </a:r>
            <a:endParaRPr lang="en-US" altLang="en-US" sz="3200" b="0">
              <a:solidFill>
                <a:srgbClr val="3539EB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2"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		Vậy   FIRST(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αβ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 = FIRST(a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γβ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ru-RU" altLang="en-US" sz="2800" b="0">
                <a:cs typeface="Arial" panose="020B0604020202020204" pitchFamily="34" charset="0"/>
                <a:sym typeface="Symbol" panose="05050102010706020507" pitchFamily="18" charset="2"/>
              </a:rPr>
              <a:t>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a</a:t>
            </a:r>
            <a:endParaRPr lang="ru-RU" altLang="en-US" sz="2800" b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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Định nghĩa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</a:p>
          <a:p>
            <a:pPr lvl="3"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en-US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FIRST(</a:t>
            </a:r>
            <a:r>
              <a:rPr lang="el-GR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l-GR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FIRST(</a:t>
            </a:r>
            <a:r>
              <a:rPr lang="el-GR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= (FIRST(</a:t>
            </a:r>
            <a:r>
              <a:rPr lang="el-GR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–{</a:t>
            </a:r>
            <a:r>
              <a:rPr lang="el-GR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}) FIRST(</a:t>
            </a:r>
            <a:r>
              <a:rPr lang="el-GR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Định nghĩa FIRST,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 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="0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. </a:t>
            </a:r>
          </a:p>
          <a:p>
            <a:pPr lvl="2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Dựa trên tính chất FIRST (A  B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γ 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và  B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) FIRST(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αβ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) = (FIRST(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) –{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}) FIRST(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23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623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623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623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23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23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500"/>
                                        <p:tgtEl>
                                          <p:spTgt spid="1623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23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23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500"/>
                                        <p:tgtEl>
                                          <p:spTgt spid="1623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23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23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500"/>
                                        <p:tgtEl>
                                          <p:spTgt spid="1623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230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230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500"/>
                                        <p:tgtEl>
                                          <p:spTgt spid="16230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230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230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3" dur="500"/>
                                        <p:tgtEl>
                                          <p:spTgt spid="16230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4">
            <a:extLst>
              <a:ext uri="{FF2B5EF4-FFF2-40B4-BE49-F238E27FC236}">
                <a16:creationId xmlns:a16="http://schemas.microsoft.com/office/drawing/2014/main" id="{D19A345D-3936-0468-F32F-2632F304D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B6B2D5-0E1F-45A8-9C03-41D0C904C6B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B509AB4A-B812-B208-2165-34A5BFC4C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Tính toán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l-GR" altLang="en-US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FF7F493-4EC5-1355-AB23-185461839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524000"/>
            <a:ext cx="8724900" cy="36576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40000"/>
              </a:spcBef>
              <a:buFontTx/>
              <a:buNone/>
            </a:pP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l-GR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= X</a:t>
            </a:r>
            <a:r>
              <a:rPr lang="en-US" altLang="en-US" sz="3600" baseline="-25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3600" baseline="-25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..X</a:t>
            </a:r>
            <a:r>
              <a:rPr lang="en-US" altLang="en-US" sz="3600" baseline="-25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với X</a:t>
            </a:r>
            <a:r>
              <a:rPr lang="en-US" altLang="en-US" sz="3600" baseline="-25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 V</a:t>
            </a:r>
          </a:p>
          <a:p>
            <a:pPr marL="0" indent="0" eaLnBrk="1" hangingPunct="1">
              <a:lnSpc>
                <a:spcPct val="150000"/>
              </a:lnSpc>
              <a:spcBef>
                <a:spcPct val="40000"/>
              </a:spcBef>
              <a:buFontTx/>
              <a:buNone/>
            </a:pP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FIRST(</a:t>
            </a:r>
            <a:r>
              <a:rPr lang="el-GR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= FIRST(X</a:t>
            </a:r>
            <a:r>
              <a:rPr lang="en-US" altLang="en-US" sz="3600" baseline="-25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l-GR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          		FIRST(X</a:t>
            </a:r>
            <a:r>
              <a:rPr lang="en-US" altLang="en-US" sz="3600" baseline="-25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l-GR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…</a:t>
            </a:r>
            <a:r>
              <a:rPr lang="el-GR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FIRST(X</a:t>
            </a:r>
            <a:r>
              <a:rPr lang="en-US" altLang="en-US" sz="3600" baseline="-250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600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1925" name="Text Box 4">
            <a:extLst>
              <a:ext uri="{FF2B5EF4-FFF2-40B4-BE49-F238E27FC236}">
                <a16:creationId xmlns:a16="http://schemas.microsoft.com/office/drawing/2014/main" id="{3CB0DCBA-F5EF-5464-ED0C-FC808A5F5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4">
            <a:extLst>
              <a:ext uri="{FF2B5EF4-FFF2-40B4-BE49-F238E27FC236}">
                <a16:creationId xmlns:a16="http://schemas.microsoft.com/office/drawing/2014/main" id="{CCC5F9C4-9D09-2315-AA18-FE1FCCB796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0FC60E-C79B-48E5-9E8A-385BCF4E947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45BCA9E0-6287-AD80-4DB0-B6B04CB0E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Thuật toán tính FIRST(</a:t>
            </a:r>
            <a:r>
              <a:rPr lang="en-US" altLang="en-US" sz="2800">
                <a:cs typeface="Arial" panose="020B0604020202020204" pitchFamily="34" charset="0"/>
              </a:rPr>
              <a:t>A</a:t>
            </a:r>
            <a:r>
              <a:rPr lang="en-US" altLang="en-US" sz="2800"/>
              <a:t>), A </a:t>
            </a:r>
            <a:r>
              <a:rPr lang="en-US" altLang="en-US" sz="2800">
                <a:cs typeface="Times New Roman" panose="02020603050405020304" pitchFamily="18" charset="0"/>
                <a:sym typeface="Symbol" panose="05050102010706020507" pitchFamily="18" charset="2"/>
              </a:rPr>
              <a:t>V</a:t>
            </a:r>
            <a:r>
              <a:rPr lang="en-US" altLang="en-US" sz="2800" baseline="-25000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l-GR" altLang="en-US" sz="2800" baseline="-2500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A5B20249-3FC7-63B4-4293-4092738F0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724900" cy="5715000"/>
          </a:xfrm>
        </p:spPr>
        <p:txBody>
          <a:bodyPr/>
          <a:lstStyle/>
          <a:p>
            <a:pPr marL="508000" indent="-508000" eaLnBrk="1" hangingPunct="1">
              <a:lnSpc>
                <a:spcPct val="115000"/>
              </a:lnSpc>
              <a:buFontTx/>
              <a:buNone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Xây dựng các tập 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(X) với X  V</a:t>
            </a:r>
          </a:p>
          <a:p>
            <a:pPr marL="508000" indent="-508000" eaLnBrk="1" hangingPunct="1">
              <a:lnSpc>
                <a:spcPct val="115000"/>
              </a:lnSpc>
              <a:buFontTx/>
              <a:buAutoNum type="arabicPeriod"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a  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	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(a) = {a}	i</a:t>
            </a:r>
          </a:p>
          <a:p>
            <a:pPr marL="508000" indent="-508000" eaLnBrk="1" hangingPunct="1">
              <a:lnSpc>
                <a:spcPct val="115000"/>
              </a:lnSpc>
              <a:buFontTx/>
              <a:buAutoNum type="arabicPeriod"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(A) = {a|aV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và Aa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P}{|A P}</a:t>
            </a:r>
          </a:p>
          <a:p>
            <a:pPr marL="508000" indent="-508000" eaLnBrk="1" hangingPunct="1">
              <a:lnSpc>
                <a:spcPct val="115000"/>
              </a:lnSpc>
              <a:buFontTx/>
              <a:buAutoNum type="arabicPeriod"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Giả thiết đã tính được tập 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, 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,…F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i-1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, tính 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</a:p>
          <a:p>
            <a:pPr marL="1214438" lvl="1" indent="-474663" eaLnBrk="1" hangingPunct="1">
              <a:lnSpc>
                <a:spcPct val="115000"/>
              </a:lnSpc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(A)={a|aV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, Nếu AX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...X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 P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thì</a:t>
            </a:r>
          </a:p>
          <a:p>
            <a:pPr marL="1214438" lvl="1" indent="-474663" eaLnBrk="1" hangingPunct="1">
              <a:lnSpc>
                <a:spcPct val="115000"/>
              </a:lnSpc>
              <a:buFontTx/>
              <a:buNone/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		     a F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i-1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) 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i-1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 …F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i-1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marL="508000" indent="-508000" eaLnBrk="1" hangingPunct="1">
              <a:lnSpc>
                <a:spcPct val="115000"/>
              </a:lnSpc>
              <a:buFontTx/>
              <a:buAutoNum type="arabicPeriod"/>
            </a:pPr>
            <a:r>
              <a:rPr lang="en-US" altLang="en-US"/>
              <a:t>Thuật toán dừng khi các F</a:t>
            </a:r>
            <a:r>
              <a:rPr lang="en-US" altLang="en-US" baseline="-25000"/>
              <a:t>i</a:t>
            </a:r>
            <a:r>
              <a:rPr lang="en-US" altLang="en-US"/>
              <a:t> không đổi (</a:t>
            </a:r>
            <a:r>
              <a:rPr lang="en-US" altLang="en-US">
                <a:solidFill>
                  <a:schemeClr val="bg2"/>
                </a:solidFill>
              </a:rPr>
              <a:t>luôn đúng vì </a:t>
            </a:r>
            <a:r>
              <a:rPr lang="en-US" altLang="en-US" i="1">
                <a:solidFill>
                  <a:schemeClr val="bg2"/>
                </a:solidFill>
              </a:rPr>
              <a:t>F</a:t>
            </a:r>
            <a:r>
              <a:rPr lang="en-US" altLang="en-US" i="1" baseline="-25000">
                <a:solidFill>
                  <a:schemeClr val="bg2"/>
                </a:solidFill>
              </a:rPr>
              <a:t>i-1</a:t>
            </a:r>
            <a:r>
              <a:rPr lang="en-US" altLang="en-US" i="1">
                <a:solidFill>
                  <a:schemeClr val="bg2"/>
                </a:solidFill>
              </a:rPr>
              <a:t>(X) </a:t>
            </a:r>
            <a:r>
              <a:rPr lang="en-US" altLang="en-US" i="1">
                <a:solidFill>
                  <a:schemeClr val="bg2"/>
                </a:solidFill>
                <a:sym typeface="Symbol" panose="05050102010706020507" pitchFamily="18" charset="2"/>
              </a:rPr>
              <a:t></a:t>
            </a:r>
            <a:r>
              <a:rPr lang="en-US" altLang="en-US" i="1">
                <a:solidFill>
                  <a:schemeClr val="bg2"/>
                </a:solidFill>
              </a:rPr>
              <a:t> F</a:t>
            </a:r>
            <a:r>
              <a:rPr lang="en-US" altLang="en-US" i="1" baseline="-25000">
                <a:solidFill>
                  <a:schemeClr val="bg2"/>
                </a:solidFill>
              </a:rPr>
              <a:t>i</a:t>
            </a:r>
            <a:r>
              <a:rPr lang="en-US" altLang="en-US" i="1">
                <a:solidFill>
                  <a:schemeClr val="bg2"/>
                </a:solidFill>
              </a:rPr>
              <a:t>(X) </a:t>
            </a:r>
            <a:r>
              <a:rPr lang="en-US" altLang="en-US" i="1">
                <a:solidFill>
                  <a:schemeClr val="bg2"/>
                </a:solidFill>
                <a:sym typeface="Symbol" panose="05050102010706020507" pitchFamily="18" charset="2"/>
              </a:rPr>
              <a:t> V</a:t>
            </a:r>
            <a:r>
              <a:rPr lang="en-US" altLang="en-US" i="1" baseline="-25000">
                <a:solidFill>
                  <a:schemeClr val="bg2"/>
                </a:solidFill>
                <a:sym typeface="Symbol" panose="05050102010706020507" pitchFamily="18" charset="2"/>
              </a:rPr>
              <a:t>T</a:t>
            </a:r>
            <a:r>
              <a:rPr lang="en-US" altLang="en-US">
                <a:sym typeface="Symbol" panose="05050102010706020507" pitchFamily="18" charset="2"/>
              </a:rPr>
              <a:t>). </a:t>
            </a:r>
          </a:p>
          <a:p>
            <a:pPr marL="508000" indent="-508000" eaLnBrk="1" hangingPunct="1">
              <a:lnSpc>
                <a:spcPct val="120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Kết luận</a:t>
            </a:r>
            <a:r>
              <a:rPr lang="en-US" altLang="en-US">
                <a:sym typeface="Symbol" panose="05050102010706020507" pitchFamily="18" charset="2"/>
              </a:rPr>
              <a:t> FIRST(X)=F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(X)</a:t>
            </a:r>
          </a:p>
        </p:txBody>
      </p:sp>
      <p:sp>
        <p:nvSpPr>
          <p:cNvPr id="82949" name="Text Box 4">
            <a:extLst>
              <a:ext uri="{FF2B5EF4-FFF2-40B4-BE49-F238E27FC236}">
                <a16:creationId xmlns:a16="http://schemas.microsoft.com/office/drawing/2014/main" id="{FEDB16AB-A4C7-08D5-18E7-2285F799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>
            <a:extLst>
              <a:ext uri="{FF2B5EF4-FFF2-40B4-BE49-F238E27FC236}">
                <a16:creationId xmlns:a16="http://schemas.microsoft.com/office/drawing/2014/main" id="{075362FC-D501-2EEF-D230-633FD99C05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8D6C76-854B-4428-88D7-251BEECF77C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7A4CABED-4C92-FA99-3503-1E7F1A21B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 tính FIRST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32BC895-18E0-8093-EC5A-B616A7A675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743200" y="1066800"/>
            <a:ext cx="3810000" cy="2667000"/>
          </a:xfrm>
        </p:spPr>
        <p:txBody>
          <a:bodyPr/>
          <a:lstStyle/>
          <a:p>
            <a:pPr marL="0" indent="0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4000">
                <a:cs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l-GR" altLang="en-US" sz="40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4000">
                <a:cs typeface="Arial" panose="020B0604020202020204" pitchFamily="34" charset="0"/>
                <a:sym typeface="Symbol" panose="05050102010706020507" pitchFamily="18" charset="2"/>
              </a:rPr>
              <a:t> T | E+T</a:t>
            </a:r>
          </a:p>
          <a:p>
            <a:pPr marL="0" indent="0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4000">
                <a:cs typeface="Arial" panose="020B0604020202020204" pitchFamily="34" charset="0"/>
                <a:sym typeface="Symbol" panose="05050102010706020507" pitchFamily="18" charset="2"/>
              </a:rPr>
              <a:t>T </a:t>
            </a:r>
            <a:r>
              <a:rPr lang="el-GR" altLang="en-US" sz="40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4000">
                <a:cs typeface="Arial" panose="020B0604020202020204" pitchFamily="34" charset="0"/>
                <a:sym typeface="Symbol" panose="05050102010706020507" pitchFamily="18" charset="2"/>
              </a:rPr>
              <a:t>  F |T*F</a:t>
            </a:r>
          </a:p>
          <a:p>
            <a:pPr marL="0" indent="0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4000">
                <a:cs typeface="Arial" panose="020B0604020202020204" pitchFamily="34" charset="0"/>
                <a:sym typeface="Symbol" panose="05050102010706020507" pitchFamily="18" charset="2"/>
              </a:rPr>
              <a:t>F </a:t>
            </a:r>
            <a:r>
              <a:rPr lang="el-GR" altLang="en-US" sz="40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4000">
                <a:cs typeface="Arial" panose="020B0604020202020204" pitchFamily="34" charset="0"/>
                <a:sym typeface="Symbol" panose="05050102010706020507" pitchFamily="18" charset="2"/>
              </a:rPr>
              <a:t>  a |(E)</a:t>
            </a:r>
            <a:endParaRPr lang="en-US" altLang="en-US" sz="24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3973" name="Text Box 4">
            <a:extLst>
              <a:ext uri="{FF2B5EF4-FFF2-40B4-BE49-F238E27FC236}">
                <a16:creationId xmlns:a16="http://schemas.microsoft.com/office/drawing/2014/main" id="{D84EB909-EDE0-FE8C-F323-2EE84D1C3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16976" name="Group 80">
            <a:extLst>
              <a:ext uri="{FF2B5EF4-FFF2-40B4-BE49-F238E27FC236}">
                <a16:creationId xmlns:a16="http://schemas.microsoft.com/office/drawing/2014/main" id="{CA532056-4195-4F8E-31AF-11278D0DF9D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04800" y="4102100"/>
          <a:ext cx="8534400" cy="2073275"/>
        </p:xfrm>
        <a:graphic>
          <a:graphicData uri="http://schemas.openxmlformats.org/drawingml/2006/table">
            <a:tbl>
              <a:tblPr/>
              <a:tblGrid>
                <a:gridCol w="86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1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a, (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a, (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Không đổi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a, (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a, (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Không đổi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a, (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a, (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Không đổi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4">
            <a:extLst>
              <a:ext uri="{FF2B5EF4-FFF2-40B4-BE49-F238E27FC236}">
                <a16:creationId xmlns:a16="http://schemas.microsoft.com/office/drawing/2014/main" id="{F20D0D13-6A09-3003-5C5F-3A2FF8345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0AE3A3-DFE7-4518-88A9-DC97FBBBAF8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9DE0B5C9-661C-3412-574A-B8D21E871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Thuật toán tính FOLLOW(</a:t>
            </a:r>
            <a:r>
              <a:rPr lang="en-US" altLang="en-US" sz="2800">
                <a:cs typeface="Arial" panose="020B0604020202020204" pitchFamily="34" charset="0"/>
              </a:rPr>
              <a:t>A</a:t>
            </a:r>
            <a:r>
              <a:rPr lang="en-US" altLang="en-US" sz="2800"/>
              <a:t>)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AD8C5251-49BD-FDF1-1FE2-6236002A4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715000"/>
          </a:xfrm>
        </p:spPr>
        <p:txBody>
          <a:bodyPr/>
          <a:lstStyle/>
          <a:p>
            <a:pPr marL="457200" indent="-457200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Thực hiện các quy tắc sau cho tới khi không xuất hiện các thay đổi trong tập FOLLOW</a:t>
            </a:r>
          </a:p>
          <a:p>
            <a:pPr marL="838200" lvl="1" indent="-381000"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Đặt # vào tập FOLLOW(S)</a:t>
            </a:r>
          </a:p>
          <a:p>
            <a:pPr marL="1257300" lvl="2" indent="-342900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>
                <a:sym typeface="Symbol" panose="05050102010706020507" pitchFamily="18" charset="2"/>
              </a:rPr>
              <a:t>S là ký hiệu khởi đầu</a:t>
            </a:r>
          </a:p>
          <a:p>
            <a:pPr marL="1257300" lvl="2" indent="-342900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# V</a:t>
            </a:r>
            <a:r>
              <a:rPr lang="en-US" altLang="en-US">
                <a:sym typeface="Symbol" panose="05050102010706020507" pitchFamily="18" charset="2"/>
              </a:rPr>
              <a:t>, dùng đánh dấu kết thúc chuỗi cần phân tích</a:t>
            </a:r>
          </a:p>
          <a:p>
            <a:pPr marL="838200" lvl="1" indent="-381000"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Với mọi sản xuất có dạng A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thêm 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- 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 vào FOLLOW(B)</a:t>
            </a:r>
          </a:p>
          <a:p>
            <a:pPr marL="838200" lvl="1" indent="-381000"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Nếu tồn tại sản xuất  A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 hoặc có  </a:t>
            </a:r>
            <a:r>
              <a:rPr lang="en-US" altLang="en-US">
                <a:sym typeface="Symbol" panose="05050102010706020507" pitchFamily="18" charset="2"/>
              </a:rPr>
              <a:t>A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mà 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 FIRST(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thì thêm FOLLOW(A) vào FOLLOW(B)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4997" name="Text Box 4">
            <a:extLst>
              <a:ext uri="{FF2B5EF4-FFF2-40B4-BE49-F238E27FC236}">
                <a16:creationId xmlns:a16="http://schemas.microsoft.com/office/drawing/2014/main" id="{C1629A79-834F-1D79-4ECD-05306D821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4">
            <a:extLst>
              <a:ext uri="{FF2B5EF4-FFF2-40B4-BE49-F238E27FC236}">
                <a16:creationId xmlns:a16="http://schemas.microsoft.com/office/drawing/2014/main" id="{CD78EAB2-56C1-B474-82A5-E162E379AC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0368E3-8BC7-4D80-B672-3CE509B11D3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2D80FD7F-1AA8-34F5-F983-EFB01E1D6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 tính FOLLOW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1E45D67F-B396-1A0A-D72A-31CAAC103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20124" name="Group 156">
            <a:extLst>
              <a:ext uri="{FF2B5EF4-FFF2-40B4-BE49-F238E27FC236}">
                <a16:creationId xmlns:a16="http://schemas.microsoft.com/office/drawing/2014/main" id="{C7E53545-7DC6-4795-A9A1-85A71F485D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6700" y="1524000"/>
          <a:ext cx="8648700" cy="5253038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1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xuât áp dụng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FOLLOW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Khởi tạo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7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E+T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, 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T*F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(E)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,+, 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754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E+T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E  T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95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T*F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T  F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93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FOLLOW (X)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), +, 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*, ), +, 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*,), +, #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75" name="Rectangle 137">
            <a:extLst>
              <a:ext uri="{FF2B5EF4-FFF2-40B4-BE49-F238E27FC236}">
                <a16:creationId xmlns:a16="http://schemas.microsoft.com/office/drawing/2014/main" id="{2CFC6341-C7C5-03A2-D0FE-BA53B0C2E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8686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VP:   E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T | E+T,   T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 F |T*F,    F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a |(E)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4">
            <a:extLst>
              <a:ext uri="{FF2B5EF4-FFF2-40B4-BE49-F238E27FC236}">
                <a16:creationId xmlns:a16="http://schemas.microsoft.com/office/drawing/2014/main" id="{0C86BAAF-CC69-1E80-BAA2-1732FF3C52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603D1B-C5A1-4020-9D4E-C82EA45EE31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2C060CE9-680A-75B4-4D3D-3E1D979D4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229BEC0B-4A3C-0577-8F51-7FEA15C9E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382000" cy="5257800"/>
          </a:xfrm>
        </p:spPr>
        <p:txBody>
          <a:bodyPr/>
          <a:lstStyle/>
          <a:p>
            <a:pPr lvl="4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BA</a:t>
            </a:r>
          </a:p>
          <a:p>
            <a:pPr lvl="4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+ BA |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 sz="360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4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B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DC</a:t>
            </a:r>
          </a:p>
          <a:p>
            <a:pPr lvl="4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C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* DC |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 sz="360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4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D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(S) | a</a:t>
            </a:r>
          </a:p>
          <a:p>
            <a:pPr marL="0" indent="0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Tính FIRST(X) và FOLLOW(X) với X V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</a:p>
          <a:p>
            <a:pPr marL="0" indent="0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7045" name="Text Box 4">
            <a:extLst>
              <a:ext uri="{FF2B5EF4-FFF2-40B4-BE49-F238E27FC236}">
                <a16:creationId xmlns:a16="http://schemas.microsoft.com/office/drawing/2014/main" id="{3A76B20B-6116-7D39-3AEA-CCDEB60FE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4">
            <a:extLst>
              <a:ext uri="{FF2B5EF4-FFF2-40B4-BE49-F238E27FC236}">
                <a16:creationId xmlns:a16="http://schemas.microsoft.com/office/drawing/2014/main" id="{98F201A5-74C0-503C-90BD-08A975BCB7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B7CF07-5B64-49E0-873C-36C10B0CFAE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12775C3-7B76-52CE-FF19-E577A028C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 tính FIRST</a:t>
            </a:r>
            <a:endParaRPr lang="el-GR" altLang="en-US" sz="2800"/>
          </a:p>
        </p:txBody>
      </p:sp>
      <p:sp>
        <p:nvSpPr>
          <p:cNvPr id="88068" name="Text Box 4">
            <a:extLst>
              <a:ext uri="{FF2B5EF4-FFF2-40B4-BE49-F238E27FC236}">
                <a16:creationId xmlns:a16="http://schemas.microsoft.com/office/drawing/2014/main" id="{46094CF2-07C3-5138-3503-F4E1688C2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25199" name="Group 111">
            <a:extLst>
              <a:ext uri="{FF2B5EF4-FFF2-40B4-BE49-F238E27FC236}">
                <a16:creationId xmlns:a16="http://schemas.microsoft.com/office/drawing/2014/main" id="{232662E4-D875-0E6F-7EF6-DED1AC849E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828800"/>
          <a:ext cx="8724900" cy="4229100"/>
        </p:xfrm>
        <a:graphic>
          <a:graphicData uri="http://schemas.openxmlformats.org/drawingml/2006/table">
            <a:tbl>
              <a:tblPr/>
              <a:tblGrid>
                <a:gridCol w="8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2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4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alt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FIRST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{ 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}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+, </a:t>
                      </a:r>
                      <a:r>
                        <a:rPr kumimoji="0" lang="el-G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+, </a:t>
                      </a:r>
                      <a:r>
                        <a:rPr kumimoji="0" lang="el-G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{ 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+, </a:t>
                      </a:r>
                      <a:r>
                        <a:rPr kumimoji="0" lang="el-GR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{ 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*, </a:t>
                      </a:r>
                      <a:r>
                        <a:rPr kumimoji="0" lang="el-G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*, </a:t>
                      </a:r>
                      <a:r>
                        <a:rPr kumimoji="0" lang="el-G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{ 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*, </a:t>
                      </a:r>
                      <a:r>
                        <a:rPr kumimoji="0" lang="el-GR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{  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(, a</a:t>
                      </a: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4">
            <a:extLst>
              <a:ext uri="{FF2B5EF4-FFF2-40B4-BE49-F238E27FC236}">
                <a16:creationId xmlns:a16="http://schemas.microsoft.com/office/drawing/2014/main" id="{FE133C4D-4995-324D-9125-2236FF70E0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A19D55-8F2C-45E5-9B16-C119470A55A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17F35F8A-8482-6853-3858-068550038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 tính FOLLOW</a:t>
            </a:r>
            <a:endParaRPr lang="el-GR" altLang="en-US"/>
          </a:p>
        </p:txBody>
      </p:sp>
      <p:sp>
        <p:nvSpPr>
          <p:cNvPr id="89092" name="Text Box 3">
            <a:extLst>
              <a:ext uri="{FF2B5EF4-FFF2-40B4-BE49-F238E27FC236}">
                <a16:creationId xmlns:a16="http://schemas.microsoft.com/office/drawing/2014/main" id="{0FD74F11-FB95-CDDF-14D9-3EBB5165C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27467" name="Group 331">
            <a:extLst>
              <a:ext uri="{FF2B5EF4-FFF2-40B4-BE49-F238E27FC236}">
                <a16:creationId xmlns:a16="http://schemas.microsoft.com/office/drawing/2014/main" id="{AB21A983-1F21-2507-66B3-344363B9CD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6700" y="914400"/>
          <a:ext cx="8724900" cy="5456238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9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Quy tắc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Sản xuât áp dụng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FOLLOW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Khởi tạo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9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SBA, A +BA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BDC, C *DC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D(S)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27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SBA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 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A +BA, A </a:t>
                      </a:r>
                      <a:r>
                        <a:rPr kumimoji="0" lang="el-G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 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BDC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#,+,)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C *DC, C </a:t>
                      </a:r>
                      <a:r>
                        <a:rPr kumimoji="0" lang="el-G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ε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539E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#,+,)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819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FOLLOW(X)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 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 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#,+,)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#,+,)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539EB"/>
                          </a:solidFill>
                          <a:effectLst/>
                          <a:latin typeface="Arial" panose="020B0604020202020204" pitchFamily="34" charset="0"/>
                        </a:rPr>
                        <a:t>*, #,+,)</a:t>
                      </a:r>
                    </a:p>
                  </a:txBody>
                  <a:tcPr marT="45723" marB="4572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4">
            <a:extLst>
              <a:ext uri="{FF2B5EF4-FFF2-40B4-BE49-F238E27FC236}">
                <a16:creationId xmlns:a16="http://schemas.microsoft.com/office/drawing/2014/main" id="{2DA875E3-DE42-B53D-090B-56EEE6CB7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05BFCC-B0E4-4855-A054-F88899FD041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7895CA15-1295-D176-F8DE-15A65C333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Điều kiện để văn phạm là LL(1)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611779" name="Rectangle 3">
            <a:extLst>
              <a:ext uri="{FF2B5EF4-FFF2-40B4-BE49-F238E27FC236}">
                <a16:creationId xmlns:a16="http://schemas.microsoft.com/office/drawing/2014/main" id="{F02D575A-E539-2A1D-178F-82E61246E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7150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Văn phạm phi ngữ cảnh </a:t>
            </a:r>
            <a:r>
              <a:rPr lang="en-US" altLang="en-US">
                <a:cs typeface="Times New Roman" panose="02020603050405020304" pitchFamily="18" charset="0"/>
              </a:rPr>
              <a:t>G = (V</a:t>
            </a:r>
            <a:r>
              <a:rPr lang="en-US" altLang="en-US" baseline="-25000">
                <a:cs typeface="Times New Roman" panose="02020603050405020304" pitchFamily="18" charset="0"/>
              </a:rPr>
              <a:t>T</a:t>
            </a:r>
            <a:r>
              <a:rPr lang="en-US" altLang="en-US">
                <a:cs typeface="Times New Roman" panose="02020603050405020304" pitchFamily="18" charset="0"/>
              </a:rPr>
              <a:t>,V</a:t>
            </a:r>
            <a:r>
              <a:rPr lang="en-US" altLang="en-US" baseline="-25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, P, S) là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LL(1) nếu thỏa mãn các điều kiện sau</a:t>
            </a:r>
          </a:p>
          <a:p>
            <a:pPr marL="623888" lvl="1" indent="-333375" algn="just" eaLnBrk="1" hangingPunct="1">
              <a:lnSpc>
                <a:spcPct val="110000"/>
              </a:lnSpc>
              <a:spcAft>
                <a:spcPct val="20000"/>
              </a:spcAft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Mọi sản xuất dạng </a:t>
            </a:r>
            <a:r>
              <a:rPr lang="en-US" altLang="en-US">
                <a:cs typeface="Times New Roman" panose="02020603050405020304" pitchFamily="18" charset="0"/>
              </a:rPr>
              <a:t>A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|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| ....|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baseline="-30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 , n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en-US">
                <a:cs typeface="Times New Roman" panose="02020603050405020304" pitchFamily="18" charset="0"/>
              </a:rPr>
              <a:t>  2 thoả mãn </a:t>
            </a:r>
            <a:r>
              <a:rPr lang="en-US" altLang="en-US" sz="3200">
                <a:cs typeface="Times New Roman" panose="02020603050405020304" pitchFamily="18" charset="0"/>
              </a:rPr>
              <a:t>FIRST</a:t>
            </a:r>
            <a:r>
              <a:rPr lang="en-US" altLang="en-US" sz="3200"/>
              <a:t>(</a:t>
            </a:r>
            <a:r>
              <a:rPr lang="en-US" altLang="en-US" sz="3200">
                <a:sym typeface="Symbol" panose="05050102010706020507" pitchFamily="18" charset="2"/>
              </a:rPr>
              <a:t></a:t>
            </a:r>
            <a:r>
              <a:rPr lang="en-US" altLang="en-US" sz="3200" baseline="-30000"/>
              <a:t>i</a:t>
            </a:r>
            <a:r>
              <a:rPr lang="en-US" altLang="en-US" sz="3200"/>
              <a:t>) </a:t>
            </a:r>
            <a:r>
              <a:rPr lang="en-US" altLang="en-US" sz="3200">
                <a:sym typeface="Symbol" panose="05050102010706020507" pitchFamily="18" charset="2"/>
              </a:rPr>
              <a:t></a:t>
            </a:r>
            <a:r>
              <a:rPr lang="en-US" altLang="en-US" sz="3200"/>
              <a:t> </a:t>
            </a:r>
            <a:r>
              <a:rPr lang="en-US" altLang="en-US" sz="3200">
                <a:cs typeface="Times New Roman" panose="02020603050405020304" pitchFamily="18" charset="0"/>
              </a:rPr>
              <a:t>FIRST</a:t>
            </a:r>
            <a:r>
              <a:rPr lang="en-US" altLang="en-US" sz="3200"/>
              <a:t>(</a:t>
            </a:r>
            <a:r>
              <a:rPr lang="en-US" altLang="en-US" sz="3200">
                <a:sym typeface="Symbol" panose="05050102010706020507" pitchFamily="18" charset="2"/>
              </a:rPr>
              <a:t></a:t>
            </a:r>
            <a:r>
              <a:rPr lang="en-US" altLang="en-US" sz="3200" baseline="-30000"/>
              <a:t>j</a:t>
            </a:r>
            <a:r>
              <a:rPr lang="en-US" altLang="en-US" sz="3200"/>
              <a:t>) = </a:t>
            </a:r>
            <a:r>
              <a:rPr lang="en-US" altLang="en-US" sz="3200">
                <a:sym typeface="Symbol" panose="05050102010706020507" pitchFamily="18" charset="2"/>
              </a:rPr>
              <a:t> </a:t>
            </a:r>
            <a:r>
              <a:rPr lang="en-US" altLang="en-US" sz="3200"/>
              <a:t>, i </a:t>
            </a:r>
            <a:r>
              <a:rPr lang="en-US" altLang="en-US" sz="3200">
                <a:sym typeface="Symbol" panose="05050102010706020507" pitchFamily="18" charset="2"/>
              </a:rPr>
              <a:t></a:t>
            </a:r>
            <a:r>
              <a:rPr lang="en-US" altLang="en-US" sz="3200"/>
              <a:t> j </a:t>
            </a:r>
          </a:p>
          <a:p>
            <a:pPr marL="623888" lvl="1" indent="-333375" algn="just"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altLang="en-US" sz="3200"/>
              <a:t>	</a:t>
            </a:r>
            <a:r>
              <a:rPr lang="en-US" altLang="en-US" sz="2400" b="1" i="1">
                <a:solidFill>
                  <a:srgbClr val="3539EB"/>
                </a:solidFill>
              </a:rPr>
              <a:t>Ý nghĩa:</a:t>
            </a:r>
            <a:r>
              <a:rPr lang="en-US" altLang="en-US" sz="2400" i="1">
                <a:solidFill>
                  <a:srgbClr val="3539EB"/>
                </a:solidFill>
              </a:rPr>
              <a:t> Nếu 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A 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30000">
                <a:solidFill>
                  <a:srgbClr val="3539EB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| 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30000">
                <a:solidFill>
                  <a:srgbClr val="3539EB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| ....|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30000">
                <a:solidFill>
                  <a:srgbClr val="3539EB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  thì các 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25000">
                <a:solidFill>
                  <a:srgbClr val="3539EB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 phải bắt đầu bởi các ký hiệu kết thúc khác nhau</a:t>
            </a:r>
            <a:endParaRPr lang="en-US" altLang="en-US" sz="2400" i="1">
              <a:solidFill>
                <a:srgbClr val="3539EB"/>
              </a:solidFill>
            </a:endParaRPr>
          </a:p>
          <a:p>
            <a:pPr marL="623888" lvl="1" indent="-333375" algn="just" eaLnBrk="1" hangingPunct="1">
              <a:lnSpc>
                <a:spcPct val="110000"/>
              </a:lnSpc>
              <a:spcAft>
                <a:spcPct val="20000"/>
              </a:spcAft>
            </a:pP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en-US"/>
              <a:t> A </a:t>
            </a:r>
            <a:r>
              <a:rPr lang="en-US" altLang="en-US"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>
                <a:cs typeface="Times New Roman" panose="02020603050405020304" pitchFamily="18" charset="0"/>
              </a:rPr>
              <a:t>A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| 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| ....|</a:t>
            </a:r>
            <a:r>
              <a:rPr lang="en-US" altLang="en-US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baseline="-30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  và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</a:t>
            </a:r>
            <a:r>
              <a:rPr lang="en-US" altLang="en-US">
                <a:latin typeface="Symbol" panose="05050102010706020507" pitchFamily="18" charset="2"/>
              </a:rPr>
              <a:t>a</a:t>
            </a:r>
            <a:r>
              <a:rPr lang="en-US" altLang="en-US" baseline="-30000"/>
              <a:t>j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</a:t>
            </a:r>
            <a:r>
              <a:rPr lang="en-US" altLang="en-US"/>
              <a:t> * </a:t>
            </a:r>
            <a:r>
              <a:rPr lang="en-US" altLang="en-US">
                <a:latin typeface="Symbol" panose="05050102010706020507" pitchFamily="18" charset="2"/>
              </a:rPr>
              <a:t>e</a:t>
            </a:r>
            <a:r>
              <a:rPr lang="en-US" altLang="en-US"/>
              <a:t> thì </a:t>
            </a:r>
          </a:p>
          <a:p>
            <a:pPr lvl="2" algn="just" eaLnBrk="1" hangingPunct="1">
              <a:lnSpc>
                <a:spcPct val="110000"/>
              </a:lnSpc>
              <a:spcAft>
                <a:spcPct val="20000"/>
              </a:spcAft>
              <a:buFontTx/>
              <a:buNone/>
            </a:pPr>
            <a:r>
              <a:rPr lang="en-US" altLang="en-US" sz="2800"/>
              <a:t>	FIRST(</a:t>
            </a:r>
            <a:r>
              <a:rPr lang="en-US" altLang="en-US" sz="2800">
                <a:sym typeface="Symbol" panose="05050102010706020507" pitchFamily="18" charset="2"/>
              </a:rPr>
              <a:t></a:t>
            </a:r>
            <a:r>
              <a:rPr lang="en-US" altLang="en-US" sz="2800" baseline="-30000"/>
              <a:t>i</a:t>
            </a:r>
            <a:r>
              <a:rPr lang="en-US" altLang="en-US" sz="2800"/>
              <a:t>) </a:t>
            </a:r>
            <a:r>
              <a:rPr lang="en-US" altLang="en-US" sz="2800">
                <a:sym typeface="Symbol" panose="05050102010706020507" pitchFamily="18" charset="2"/>
              </a:rPr>
              <a:t></a:t>
            </a:r>
            <a:r>
              <a:rPr lang="en-US" altLang="en-US" sz="2800"/>
              <a:t> FOLLOW(A) =</a:t>
            </a:r>
            <a:r>
              <a:rPr lang="en-US" altLang="en-US" sz="2800">
                <a:sym typeface="Symbol" panose="05050102010706020507" pitchFamily="18" charset="2"/>
              </a:rPr>
              <a:t>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 i  j</a:t>
            </a:r>
            <a:endParaRPr lang="en-US" altLang="en-US" sz="2000"/>
          </a:p>
          <a:p>
            <a:pPr marL="623888" lvl="1" indent="-333375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b="1"/>
              <a:t>	</a:t>
            </a:r>
            <a:r>
              <a:rPr lang="en-US" altLang="en-US" sz="2400" b="1" i="1">
                <a:solidFill>
                  <a:srgbClr val="3539EB"/>
                </a:solidFill>
              </a:rPr>
              <a:t>Ý nghĩa:</a:t>
            </a:r>
            <a:r>
              <a:rPr lang="en-US" altLang="en-US" sz="2400" i="1">
                <a:solidFill>
                  <a:srgbClr val="3539EB"/>
                </a:solidFill>
              </a:rPr>
              <a:t> Nếu 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A 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30000">
                <a:solidFill>
                  <a:srgbClr val="3539EB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| 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30000">
                <a:solidFill>
                  <a:srgbClr val="3539EB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| ....|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30000">
                <a:solidFill>
                  <a:srgbClr val="3539EB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 | 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 và b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FOLLOW(A) thì không có nhánh </a:t>
            </a:r>
            <a:r>
              <a:rPr lang="en-US" altLang="en-US" sz="2400" i="1">
                <a:solidFill>
                  <a:srgbClr val="3539EB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2400" i="1" baseline="-25000">
                <a:solidFill>
                  <a:srgbClr val="3539EB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400" i="1">
                <a:solidFill>
                  <a:srgbClr val="3539EB"/>
                </a:solidFill>
                <a:cs typeface="Times New Roman" panose="02020603050405020304" pitchFamily="18" charset="0"/>
              </a:rPr>
              <a:t> nào được bắt đầu bởi ký hiệu</a:t>
            </a:r>
            <a:r>
              <a:rPr lang="en-US" altLang="en-US" sz="2400">
                <a:cs typeface="Times New Roman" panose="02020603050405020304" pitchFamily="18" charset="0"/>
              </a:rPr>
              <a:t> b</a:t>
            </a:r>
          </a:p>
        </p:txBody>
      </p:sp>
      <p:sp>
        <p:nvSpPr>
          <p:cNvPr id="90117" name="Text Box 4">
            <a:extLst>
              <a:ext uri="{FF2B5EF4-FFF2-40B4-BE49-F238E27FC236}">
                <a16:creationId xmlns:a16="http://schemas.microsoft.com/office/drawing/2014/main" id="{C1882A99-EA1B-229B-A9F8-40DD5F184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1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1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1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1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1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4">
            <a:extLst>
              <a:ext uri="{FF2B5EF4-FFF2-40B4-BE49-F238E27FC236}">
                <a16:creationId xmlns:a16="http://schemas.microsoft.com/office/drawing/2014/main" id="{9B287A3E-3D62-ACAB-4745-E1D6EB806C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634390-3EE0-4888-9BFB-C803E00E835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39095067-85BD-E54A-AE81-1C3701C67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là LL(1) đơn giản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7457DEAD-FD64-19B5-AB33-9918383D3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1143000"/>
            <a:ext cx="8420100" cy="48006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40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Văn phạm phi ngữ cảnh </a:t>
            </a:r>
            <a:r>
              <a:rPr lang="en-US" altLang="en-US">
                <a:cs typeface="Times New Roman" panose="02020603050405020304" pitchFamily="18" charset="0"/>
              </a:rPr>
              <a:t>G = (V</a:t>
            </a:r>
            <a:r>
              <a:rPr lang="en-US" altLang="en-US" baseline="-25000">
                <a:cs typeface="Times New Roman" panose="02020603050405020304" pitchFamily="18" charset="0"/>
              </a:rPr>
              <a:t>T</a:t>
            </a:r>
            <a:r>
              <a:rPr lang="en-US" altLang="en-US">
                <a:cs typeface="Times New Roman" panose="02020603050405020304" pitchFamily="18" charset="0"/>
              </a:rPr>
              <a:t>,V</a:t>
            </a:r>
            <a:r>
              <a:rPr lang="en-US" altLang="en-US" baseline="-25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, P, S) là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LL(1) </a:t>
            </a:r>
            <a:r>
              <a:rPr lang="en-US" altLang="en-US">
                <a:cs typeface="Times New Roman" panose="02020603050405020304" pitchFamily="18" charset="0"/>
              </a:rPr>
              <a:t>đơn giản nếu mọi sản xuất của văn phạm có dạng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40000"/>
              </a:spcBef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	A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Times New Roman" panose="02020603050405020304" pitchFamily="18" charset="0"/>
              </a:rPr>
              <a:t> a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 baseline="-30000">
                <a:cs typeface="Times New Roman" panose="02020603050405020304" pitchFamily="18" charset="0"/>
              </a:rPr>
              <a:t>1</a:t>
            </a:r>
            <a:r>
              <a:rPr lang="en-US" altLang="en-US">
                <a:cs typeface="Times New Roman" panose="02020603050405020304" pitchFamily="18" charset="0"/>
              </a:rPr>
              <a:t> | a</a:t>
            </a:r>
            <a:r>
              <a:rPr lang="en-US" altLang="en-US" baseline="-30000">
                <a:cs typeface="Times New Roman" panose="02020603050405020304" pitchFamily="18" charset="0"/>
              </a:rPr>
              <a:t>2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baseline="-30000">
                <a:cs typeface="Times New Roman" panose="02020603050405020304" pitchFamily="18" charset="0"/>
              </a:rPr>
              <a:t>2</a:t>
            </a:r>
            <a:r>
              <a:rPr lang="en-US" altLang="en-US">
                <a:cs typeface="Times New Roman" panose="02020603050405020304" pitchFamily="18" charset="0"/>
              </a:rPr>
              <a:t> |.... |a</a:t>
            </a:r>
            <a:r>
              <a:rPr lang="en-US" altLang="en-US" baseline="-30000">
                <a:cs typeface="Times New Roman" panose="02020603050405020304" pitchFamily="18" charset="0"/>
              </a:rPr>
              <a:t>n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 baseline="-30000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40000"/>
              </a:spcBef>
              <a:buFontTx/>
              <a:buNone/>
            </a:pPr>
            <a:r>
              <a:rPr lang="en-US" altLang="en-US">
                <a:cs typeface="Times New Roman" panose="02020603050405020304" pitchFamily="18" charset="0"/>
              </a:rPr>
              <a:t>Trong đó a</a:t>
            </a:r>
            <a:r>
              <a:rPr lang="en-US" altLang="en-US" baseline="-30000">
                <a:cs typeface="Times New Roman" panose="02020603050405020304" pitchFamily="18" charset="0"/>
              </a:rPr>
              <a:t>i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 V</a:t>
            </a:r>
            <a:r>
              <a:rPr lang="en-US" altLang="en-US" baseline="-25000"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và </a:t>
            </a:r>
            <a:r>
              <a:rPr lang="en-US" altLang="en-US">
                <a:cs typeface="Times New Roman" panose="02020603050405020304" pitchFamily="18" charset="0"/>
              </a:rPr>
              <a:t>a</a:t>
            </a:r>
            <a:r>
              <a:rPr lang="en-US" altLang="en-US" baseline="-30000">
                <a:cs typeface="Times New Roman" panose="02020603050405020304" pitchFamily="18" charset="0"/>
              </a:rPr>
              <a:t>i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>
                <a:cs typeface="Times New Roman" panose="02020603050405020304" pitchFamily="18" charset="0"/>
              </a:rPr>
              <a:t> a</a:t>
            </a:r>
            <a:r>
              <a:rPr lang="en-US" altLang="en-US" baseline="-30000">
                <a:cs typeface="Times New Roman" panose="02020603050405020304" pitchFamily="18" charset="0"/>
              </a:rPr>
              <a:t>j </a:t>
            </a:r>
            <a:r>
              <a:rPr lang="en-US" altLang="en-US">
                <a:cs typeface="Times New Roman" panose="02020603050405020304" pitchFamily="18" charset="0"/>
              </a:rPr>
              <a:t>với i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>
                <a:cs typeface="Times New Roman" panose="02020603050405020304" pitchFamily="18" charset="0"/>
              </a:rPr>
              <a:t> j 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91141" name="Text Box 4">
            <a:extLst>
              <a:ext uri="{FF2B5EF4-FFF2-40B4-BE49-F238E27FC236}">
                <a16:creationId xmlns:a16="http://schemas.microsoft.com/office/drawing/2014/main" id="{A74C1286-14DF-FBB3-1B29-51524CDD9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4">
            <a:extLst>
              <a:ext uri="{FF2B5EF4-FFF2-40B4-BE49-F238E27FC236}">
                <a16:creationId xmlns:a16="http://schemas.microsoft.com/office/drawing/2014/main" id="{A5680EA0-79C6-19F2-70BB-F839768B97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908BB2-1A5B-46E2-A179-7685A1B1CC7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DEC12E82-E9D0-A632-E44C-70F6FE97EA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 về văn phạm  LL(1)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75DE526-DC65-A698-B435-9D4B96808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43200" y="838200"/>
            <a:ext cx="3733800" cy="2036763"/>
          </a:xfrm>
          <a:ln>
            <a:solidFill>
              <a:srgbClr val="3539EB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T | E+T</a:t>
            </a:r>
          </a:p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 F |T*F</a:t>
            </a:r>
          </a:p>
          <a:p>
            <a:pPr marL="609600" indent="-609600"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F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 a |(E)</a:t>
            </a: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92165" name="Text Box 4">
            <a:extLst>
              <a:ext uri="{FF2B5EF4-FFF2-40B4-BE49-F238E27FC236}">
                <a16:creationId xmlns:a16="http://schemas.microsoft.com/office/drawing/2014/main" id="{896AE975-7D09-280A-14A0-9F496C384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628165" name="Rectangle 5">
            <a:extLst>
              <a:ext uri="{FF2B5EF4-FFF2-40B4-BE49-F238E27FC236}">
                <a16:creationId xmlns:a16="http://schemas.microsoft.com/office/drawing/2014/main" id="{259C426C-B919-856B-8079-A7B99C40D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860675"/>
            <a:ext cx="8458200" cy="39131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823913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209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5000"/>
              </a:spcBef>
              <a:defRPr/>
            </a:pPr>
            <a:r>
              <a:rPr lang="en-US" altLang="en-US" b="0" dirty="0" err="1">
                <a:cs typeface="Arial" panose="020B0604020202020204" pitchFamily="34" charset="0"/>
                <a:sym typeface="Symbol" panose="05050102010706020507" pitchFamily="18" charset="2"/>
              </a:rPr>
              <a:t>Sản</a:t>
            </a:r>
            <a:r>
              <a:rPr lang="en-US" altLang="en-US" b="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0" dirty="0" err="1">
                <a:cs typeface="Arial" panose="020B0604020202020204" pitchFamily="34" charset="0"/>
                <a:sym typeface="Symbol" panose="05050102010706020507" pitchFamily="18" charset="2"/>
              </a:rPr>
              <a:t>xuất</a:t>
            </a:r>
            <a:r>
              <a:rPr lang="en-US" altLang="en-US" b="0" dirty="0">
                <a:cs typeface="Arial" panose="020B0604020202020204" pitchFamily="34" charset="0"/>
                <a:sym typeface="Symbol" panose="05050102010706020507" pitchFamily="18" charset="2"/>
              </a:rPr>
              <a:t> (3) </a:t>
            </a:r>
            <a:r>
              <a:rPr lang="en-US" altLang="en-US" b="0" dirty="0" err="1"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b="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0" dirty="0" err="1">
                <a:cs typeface="Arial" panose="020B0604020202020204" pitchFamily="34" charset="0"/>
                <a:sym typeface="Symbol" panose="05050102010706020507" pitchFamily="18" charset="2"/>
              </a:rPr>
              <a:t>sản</a:t>
            </a:r>
            <a:r>
              <a:rPr lang="en-US" altLang="en-US" b="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0" dirty="0" err="1">
                <a:cs typeface="Arial" panose="020B0604020202020204" pitchFamily="34" charset="0"/>
                <a:sym typeface="Symbol" panose="05050102010706020507" pitchFamily="18" charset="2"/>
              </a:rPr>
              <a:t>xuất</a:t>
            </a:r>
            <a:r>
              <a:rPr lang="en-US" altLang="en-US" b="0" dirty="0">
                <a:cs typeface="Arial" panose="020B0604020202020204" pitchFamily="34" charset="0"/>
                <a:sym typeface="Symbol" panose="05050102010706020507" pitchFamily="18" charset="2"/>
              </a:rPr>
              <a:t> LL(1) </a:t>
            </a:r>
            <a:r>
              <a:rPr lang="en-US" altLang="en-US" b="0" dirty="0" err="1">
                <a:cs typeface="Arial" panose="020B0604020202020204" pitchFamily="34" charset="0"/>
                <a:sym typeface="Symbol" panose="05050102010706020507" pitchFamily="18" charset="2"/>
              </a:rPr>
              <a:t>đơn</a:t>
            </a:r>
            <a:r>
              <a:rPr lang="en-US" altLang="en-US" b="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0" dirty="0" err="1">
                <a:cs typeface="Arial" panose="020B0604020202020204" pitchFamily="34" charset="0"/>
                <a:sym typeface="Symbol" panose="05050102010706020507" pitchFamily="18" charset="2"/>
              </a:rPr>
              <a:t>giản</a:t>
            </a:r>
            <a:endParaRPr lang="en-US" altLang="en-US" b="0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en-US" b="0" dirty="0" err="1">
                <a:cs typeface="Times New Roman" panose="02020603050405020304" pitchFamily="18" charset="0"/>
              </a:rPr>
              <a:t>Xét</a:t>
            </a:r>
            <a:r>
              <a:rPr lang="en-US" altLang="en-US" b="0" dirty="0">
                <a:cs typeface="Times New Roman" panose="02020603050405020304" pitchFamily="18" charset="0"/>
              </a:rPr>
              <a:t> </a:t>
            </a:r>
            <a:r>
              <a:rPr lang="en-US" altLang="en-US" b="0" dirty="0" err="1">
                <a:cs typeface="Times New Roman" panose="02020603050405020304" pitchFamily="18" charset="0"/>
              </a:rPr>
              <a:t>sản</a:t>
            </a:r>
            <a:r>
              <a:rPr lang="en-US" altLang="en-US" b="0" dirty="0">
                <a:cs typeface="Times New Roman" panose="02020603050405020304" pitchFamily="18" charset="0"/>
              </a:rPr>
              <a:t> </a:t>
            </a:r>
            <a:r>
              <a:rPr lang="en-US" altLang="en-US" b="0" dirty="0" err="1">
                <a:cs typeface="Times New Roman" panose="02020603050405020304" pitchFamily="18" charset="0"/>
              </a:rPr>
              <a:t>xuất</a:t>
            </a:r>
            <a:r>
              <a:rPr lang="en-US" altLang="en-US" b="0" dirty="0">
                <a:cs typeface="Times New Roman" panose="02020603050405020304" pitchFamily="18" charset="0"/>
              </a:rPr>
              <a:t> (1)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en-US" b="0" dirty="0">
                <a:cs typeface="Times New Roman" panose="02020603050405020304" pitchFamily="18" charset="0"/>
              </a:rPr>
              <a:t>FIRST(T) = { a, ( }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en-US" b="0" dirty="0">
                <a:cs typeface="Times New Roman" panose="02020603050405020304" pitchFamily="18" charset="0"/>
              </a:rPr>
              <a:t>FIRST(E+T) = FIRST(E) = { a, ( }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en-US" b="0" dirty="0" err="1">
                <a:cs typeface="Times New Roman" panose="02020603050405020304" pitchFamily="18" charset="0"/>
              </a:rPr>
              <a:t>Vậy</a:t>
            </a:r>
            <a:r>
              <a:rPr lang="en-US" altLang="en-US" b="0" dirty="0">
                <a:cs typeface="Times New Roman" panose="02020603050405020304" pitchFamily="18" charset="0"/>
              </a:rPr>
              <a:t> FIRST(T) </a:t>
            </a:r>
            <a:r>
              <a:rPr lang="en-US" altLang="en-US" b="0" dirty="0">
                <a:cs typeface="Times New Roman" panose="02020603050405020304" pitchFamily="18" charset="0"/>
                <a:sym typeface="Symbol" panose="05050102010706020507" pitchFamily="18" charset="2"/>
              </a:rPr>
              <a:t> </a:t>
            </a:r>
            <a:r>
              <a:rPr lang="en-US" altLang="en-US" b="0" dirty="0">
                <a:cs typeface="Times New Roman" panose="02020603050405020304" pitchFamily="18" charset="0"/>
              </a:rPr>
              <a:t>FIRST(E+T)={ a, ( } </a:t>
            </a:r>
            <a:r>
              <a:rPr lang="en-US" altLang="en-US" b="0" dirty="0">
                <a:cs typeface="Times New Roman" panose="02020603050405020304" pitchFamily="18" charset="0"/>
                <a:sym typeface="Symbol" panose="05050102010706020507" pitchFamily="18" charset="2"/>
              </a:rPr>
              <a:t> 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b="0" dirty="0"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b="0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Văn</a:t>
            </a:r>
            <a:r>
              <a:rPr lang="en-US" altLang="en-US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phạm</a:t>
            </a:r>
            <a:r>
              <a:rPr lang="en-US" altLang="en-US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phải</a:t>
            </a:r>
            <a:r>
              <a:rPr lang="en-US" altLang="en-US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là</a:t>
            </a:r>
            <a:r>
              <a:rPr lang="en-US" altLang="en-US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LL(1)</a:t>
            </a:r>
          </a:p>
          <a:p>
            <a:pPr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Ví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dụ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:  </a:t>
            </a:r>
            <a:r>
              <a:rPr lang="en-US" altLang="en-US" sz="2400" b="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Xét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+ a / </a:t>
            </a:r>
            <a:r>
              <a:rPr lang="en-US" altLang="en-US" sz="2400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* a. </a:t>
            </a:r>
            <a:r>
              <a:rPr lang="en-US" altLang="en-US" sz="2400" b="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Chỉ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đọc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được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FA0617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chọn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0" dirty="0" err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đc</a:t>
            </a:r>
            <a:r>
              <a:rPr lang="en-US" altLang="en-US" sz="2400" b="0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SX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2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6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4">
            <a:extLst>
              <a:ext uri="{FF2B5EF4-FFF2-40B4-BE49-F238E27FC236}">
                <a16:creationId xmlns:a16="http://schemas.microsoft.com/office/drawing/2014/main" id="{E90A8DD8-7987-EAAF-FBDB-EEACBB5C5F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BFB4A2-4CB0-40BF-BBC0-0CC3A74A979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C2252BF-B53A-F0D7-7DFC-26C3DD41B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 về văn phạm  LL(1)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8F16420-FC10-98A4-75C4-D73E02667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0" y="838200"/>
            <a:ext cx="3124200" cy="2514600"/>
          </a:xfrm>
          <a:ln>
            <a:solidFill>
              <a:srgbClr val="3539EB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BA</a:t>
            </a:r>
          </a:p>
          <a:p>
            <a:pPr marL="609600" indent="-6096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+ BA |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DC</a:t>
            </a:r>
          </a:p>
          <a:p>
            <a:pPr marL="609600" indent="-6096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* DC |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D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(S) | a</a:t>
            </a:r>
            <a:endParaRPr lang="en-US" altLang="en-US" sz="2000">
              <a:cs typeface="Times New Roman" panose="02020603050405020304" pitchFamily="18" charset="0"/>
            </a:endParaRPr>
          </a:p>
        </p:txBody>
      </p:sp>
      <p:sp>
        <p:nvSpPr>
          <p:cNvPr id="93189" name="Text Box 4">
            <a:extLst>
              <a:ext uri="{FF2B5EF4-FFF2-40B4-BE49-F238E27FC236}">
                <a16:creationId xmlns:a16="http://schemas.microsoft.com/office/drawing/2014/main" id="{C1A65C2A-3102-26A0-4342-053AD4D25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629189" name="Rectangle 5">
            <a:extLst>
              <a:ext uri="{FF2B5EF4-FFF2-40B4-BE49-F238E27FC236}">
                <a16:creationId xmlns:a16="http://schemas.microsoft.com/office/drawing/2014/main" id="{3A06DC13-EDFA-1483-EBA8-A8BA04F2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200400"/>
            <a:ext cx="86868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7663" indent="-347663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73138" indent="-406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785938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81238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b="0">
                <a:cs typeface="Times New Roman" panose="02020603050405020304" pitchFamily="18" charset="0"/>
                <a:sym typeface="Symbol" panose="05050102010706020507" pitchFamily="18" charset="2"/>
              </a:rPr>
              <a:t>Sản xuất (1) &amp;(3) là các sản xuất đơn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0">
                <a:cs typeface="Times New Roman" panose="02020603050405020304" pitchFamily="18" charset="0"/>
                <a:sym typeface="Symbol" panose="05050102010706020507" pitchFamily="18" charset="2"/>
              </a:rPr>
              <a:t>Sản xuất (5) là sản xuất LL(1) đơn giản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0">
                <a:cs typeface="Times New Roman" panose="02020603050405020304" pitchFamily="18" charset="0"/>
                <a:sym typeface="Symbol" panose="05050102010706020507" pitchFamily="18" charset="2"/>
              </a:rPr>
              <a:t>Sản xuất (2)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0">
                <a:cs typeface="Times New Roman" panose="02020603050405020304" pitchFamily="18" charset="0"/>
                <a:sym typeface="Symbol" panose="05050102010706020507" pitchFamily="18" charset="2"/>
              </a:rPr>
              <a:t>FIRST(+BA)FOLLOW(A) = {+} {#, )} = 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0">
                <a:cs typeface="Times New Roman" panose="02020603050405020304" pitchFamily="18" charset="0"/>
                <a:sym typeface="Symbol" panose="05050102010706020507" pitchFamily="18" charset="2"/>
              </a:rPr>
              <a:t>Sản xuất (4)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b="0">
                <a:cs typeface="Times New Roman" panose="02020603050405020304" pitchFamily="18" charset="0"/>
                <a:sym typeface="Symbol" panose="05050102010706020507" pitchFamily="18" charset="2"/>
              </a:rPr>
              <a:t>FIRST(*DC)FOLLOW(C) = {*} {+, #, ) } = 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918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4">
            <a:extLst>
              <a:ext uri="{FF2B5EF4-FFF2-40B4-BE49-F238E27FC236}">
                <a16:creationId xmlns:a16="http://schemas.microsoft.com/office/drawing/2014/main" id="{6D275838-2EE3-FB34-109E-9783ABE7AD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BED5A8-4959-4B60-8748-50A984041BB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12EF54DF-632A-5C62-6419-DDAB7D835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Khử đệ quy trái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613827" name="Rectangle 3">
            <a:extLst>
              <a:ext uri="{FF2B5EF4-FFF2-40B4-BE49-F238E27FC236}">
                <a16:creationId xmlns:a16="http://schemas.microsoft.com/office/drawing/2014/main" id="{EFE74195-1E69-8A0F-3E39-61BFFDA47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875713" cy="5715000"/>
          </a:xfrm>
        </p:spPr>
        <p:txBody>
          <a:bodyPr/>
          <a:lstStyle/>
          <a:p>
            <a:pPr marL="363538" indent="-363538"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US" altLang="en-US">
                <a:sym typeface="Symbol" panose="05050102010706020507" pitchFamily="18" charset="2"/>
              </a:rPr>
              <a:t>Các văn phạm LL(1) không đệ quy trái</a:t>
            </a:r>
          </a:p>
          <a:p>
            <a:pPr marL="987425" lvl="1" indent="-42068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Có thể khử đệ quy trái của VPPNC</a:t>
            </a:r>
          </a:p>
          <a:p>
            <a:pPr marL="363538" indent="-3635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Đệ quy trái (</a:t>
            </a:r>
            <a:r>
              <a:rPr lang="en-US" altLang="en-US" i="1">
                <a:sym typeface="Symbol" panose="05050102010706020507" pitchFamily="18" charset="2"/>
              </a:rPr>
              <a:t>trực tiếp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marL="987425" lvl="1" indent="-420688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Sản xuất: A  A</a:t>
            </a:r>
            <a:r>
              <a:rPr lang="en-US" altLang="en-US" baseline="-25000">
                <a:sym typeface="Symbol" panose="05050102010706020507" pitchFamily="18" charset="2"/>
              </a:rPr>
              <a:t>1 </a:t>
            </a:r>
            <a:r>
              <a:rPr lang="en-US" altLang="en-US">
                <a:sym typeface="Symbol" panose="05050102010706020507" pitchFamily="18" charset="2"/>
              </a:rPr>
              <a:t>|...|A</a:t>
            </a:r>
            <a:r>
              <a:rPr lang="en-US" altLang="en-US" baseline="-25000">
                <a:sym typeface="Symbol" panose="05050102010706020507" pitchFamily="18" charset="2"/>
              </a:rPr>
              <a:t>n </a:t>
            </a:r>
            <a:r>
              <a:rPr lang="en-US" altLang="en-US">
                <a:sym typeface="Symbol" panose="05050102010706020507" pitchFamily="18" charset="2"/>
              </a:rPr>
              <a:t>| 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|...| </a:t>
            </a:r>
            <a:r>
              <a:rPr lang="en-US" altLang="en-US" baseline="-25000">
                <a:sym typeface="Symbol" panose="05050102010706020507" pitchFamily="18" charset="2"/>
              </a:rPr>
              <a:t>m</a:t>
            </a:r>
            <a:r>
              <a:rPr lang="en-US" altLang="en-US">
                <a:sym typeface="Symbol" panose="05050102010706020507" pitchFamily="18" charset="2"/>
              </a:rPr>
              <a:t> với 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[1]  A </a:t>
            </a:r>
          </a:p>
          <a:p>
            <a:pPr marL="987425" lvl="1" indent="-42068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Đệ qui trái dừng khi áp dụng SX A  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|...| </a:t>
            </a:r>
            <a:r>
              <a:rPr lang="en-US" altLang="en-US" baseline="-25000">
                <a:sym typeface="Symbol" panose="05050102010706020507" pitchFamily="18" charset="2"/>
              </a:rPr>
              <a:t>m</a:t>
            </a:r>
            <a:endParaRPr lang="en-US" altLang="en-US">
              <a:sym typeface="Symbol" panose="05050102010706020507" pitchFamily="18" charset="2"/>
            </a:endParaRPr>
          </a:p>
          <a:p>
            <a:pPr marL="987425" lvl="1" indent="-42068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Từ A sinh ra các xâu dạng</a:t>
            </a:r>
          </a:p>
          <a:p>
            <a:pPr marL="987425" lvl="1" indent="-420688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(</a:t>
            </a:r>
            <a:r>
              <a:rPr lang="en-US" altLang="en-US" baseline="-25000">
                <a:solidFill>
                  <a:srgbClr val="3539EB"/>
                </a:solidFill>
                <a:sym typeface="Symbol" panose="05050102010706020507" pitchFamily="18" charset="2"/>
              </a:rPr>
              <a:t>1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 | ... | </a:t>
            </a:r>
            <a:r>
              <a:rPr lang="en-US" altLang="en-US" baseline="-25000">
                <a:solidFill>
                  <a:srgbClr val="3539EB"/>
                </a:solidFill>
                <a:sym typeface="Symbol" panose="05050102010706020507" pitchFamily="18" charset="2"/>
              </a:rPr>
              <a:t>m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) (</a:t>
            </a:r>
            <a:r>
              <a:rPr lang="en-US" altLang="en-US" baseline="-25000">
                <a:solidFill>
                  <a:srgbClr val="3539EB"/>
                </a:solidFill>
                <a:sym typeface="Symbol" panose="05050102010706020507" pitchFamily="18" charset="2"/>
              </a:rPr>
              <a:t>1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| ... |</a:t>
            </a:r>
            <a:r>
              <a:rPr lang="en-US" altLang="en-US" baseline="-25000">
                <a:solidFill>
                  <a:srgbClr val="3539EB"/>
                </a:solidFill>
                <a:sym typeface="Symbol" panose="05050102010706020507" pitchFamily="18" charset="2"/>
              </a:rPr>
              <a:t>n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)*</a:t>
            </a:r>
            <a:r>
              <a:rPr lang="en-US" altLang="en-US">
                <a:sym typeface="Symbol" panose="05050102010706020507" pitchFamily="18" charset="2"/>
              </a:rPr>
              <a:t> </a:t>
            </a:r>
          </a:p>
          <a:p>
            <a:pPr marL="987425" lvl="1" indent="-42068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Xâu trên được sinh ra tự văn phạm</a:t>
            </a:r>
          </a:p>
          <a:p>
            <a:pPr marL="1844675" lvl="2" eaLnBrk="1" hangingPunct="1">
              <a:lnSpc>
                <a:spcPct val="110000"/>
              </a:lnSpc>
            </a:pP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  </a:t>
            </a:r>
            <a:r>
              <a:rPr lang="en-US" altLang="en-US" sz="2800" baseline="-25000">
                <a:solidFill>
                  <a:srgbClr val="3539EB"/>
                </a:solidFill>
                <a:sym typeface="Symbol" panose="05050102010706020507" pitchFamily="18" charset="2"/>
              </a:rPr>
              <a:t>1</a:t>
            </a: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A’ | </a:t>
            </a:r>
            <a:r>
              <a:rPr lang="en-US" altLang="en-US" sz="2800" baseline="-25000">
                <a:solidFill>
                  <a:srgbClr val="3539EB"/>
                </a:solidFill>
                <a:sym typeface="Symbol" panose="05050102010706020507" pitchFamily="18" charset="2"/>
              </a:rPr>
              <a:t>2</a:t>
            </a: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A’ | ... | </a:t>
            </a:r>
            <a:r>
              <a:rPr lang="en-US" altLang="en-US" sz="2800" baseline="-25000">
                <a:solidFill>
                  <a:srgbClr val="3539EB"/>
                </a:solidFill>
                <a:sym typeface="Symbol" panose="05050102010706020507" pitchFamily="18" charset="2"/>
              </a:rPr>
              <a:t>m</a:t>
            </a: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A’ </a:t>
            </a:r>
            <a:endParaRPr lang="en-US" altLang="en-US" sz="2800" baseline="-25000">
              <a:solidFill>
                <a:srgbClr val="3539EB"/>
              </a:solidFill>
              <a:sym typeface="Symbol" panose="05050102010706020507" pitchFamily="18" charset="2"/>
            </a:endParaRPr>
          </a:p>
          <a:p>
            <a:pPr marL="1844675" lvl="2" eaLnBrk="1" hangingPunct="1">
              <a:lnSpc>
                <a:spcPct val="110000"/>
              </a:lnSpc>
            </a:pP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A’  | </a:t>
            </a:r>
            <a:r>
              <a:rPr lang="en-US" altLang="en-US" sz="2800" baseline="-25000">
                <a:solidFill>
                  <a:srgbClr val="3539EB"/>
                </a:solidFill>
                <a:sym typeface="Symbol" panose="05050102010706020507" pitchFamily="18" charset="2"/>
              </a:rPr>
              <a:t>1</a:t>
            </a: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A’ |…| </a:t>
            </a:r>
            <a:r>
              <a:rPr lang="en-US" altLang="en-US" sz="2800" baseline="-25000">
                <a:solidFill>
                  <a:srgbClr val="3539EB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A’</a:t>
            </a:r>
            <a:endParaRPr lang="en-US" altLang="en-US">
              <a:solidFill>
                <a:srgbClr val="3539EB"/>
              </a:solidFill>
              <a:sym typeface="Symbol" panose="05050102010706020507" pitchFamily="18" charset="2"/>
            </a:endParaRPr>
          </a:p>
        </p:txBody>
      </p:sp>
      <p:sp>
        <p:nvSpPr>
          <p:cNvPr id="94213" name="Text Box 4">
            <a:extLst>
              <a:ext uri="{FF2B5EF4-FFF2-40B4-BE49-F238E27FC236}">
                <a16:creationId xmlns:a16="http://schemas.microsoft.com/office/drawing/2014/main" id="{93B55E51-B9FC-91A7-5398-4DE80F228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1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1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61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61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613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13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13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13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4">
            <a:extLst>
              <a:ext uri="{FF2B5EF4-FFF2-40B4-BE49-F238E27FC236}">
                <a16:creationId xmlns:a16="http://schemas.microsoft.com/office/drawing/2014/main" id="{E29006CE-6D85-865F-8979-2F83BB33A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7E0583-1501-4F81-998E-9E65458D70E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4706A9E4-2088-531F-DDCC-68467962D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Khử đệ quy trái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A3C85EA7-93AA-F216-141D-E2C688E0D5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875713" cy="5715000"/>
          </a:xfrm>
        </p:spPr>
        <p:txBody>
          <a:bodyPr/>
          <a:lstStyle/>
          <a:p>
            <a:pPr marL="363538" indent="-3635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Ví dụ: </a:t>
            </a:r>
          </a:p>
          <a:p>
            <a:pPr marL="987425" lvl="1" indent="-2714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Văn phạm </a:t>
            </a:r>
            <a:r>
              <a:rPr lang="en-US" altLang="en-US" b="1">
                <a:sym typeface="Symbol" panose="05050102010706020507" pitchFamily="18" charset="2"/>
              </a:rPr>
              <a:t>A  Aa</a:t>
            </a:r>
            <a:r>
              <a:rPr lang="en-US" altLang="en-US" b="1" baseline="-25000">
                <a:sym typeface="Symbol" panose="05050102010706020507" pitchFamily="18" charset="2"/>
              </a:rPr>
              <a:t> </a:t>
            </a:r>
            <a:r>
              <a:rPr lang="en-US" altLang="en-US" sz="3200" b="1">
                <a:sym typeface="Symbol" panose="05050102010706020507" pitchFamily="18" charset="2"/>
              </a:rPr>
              <a:t>|</a:t>
            </a:r>
            <a:r>
              <a:rPr lang="en-US" altLang="en-US" b="1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 đệ quy trái trực tiếp</a:t>
            </a:r>
          </a:p>
          <a:p>
            <a:pPr marL="987425" lvl="1" indent="-2714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Tương đương với văn phạm  không đệ quy trái</a:t>
            </a:r>
          </a:p>
          <a:p>
            <a:pPr marL="1844675" lvl="2" eaLnBrk="1" hangingPunct="1">
              <a:lnSpc>
                <a:spcPct val="110000"/>
              </a:lnSpc>
              <a:buFontTx/>
              <a:buNone/>
            </a:pPr>
            <a:r>
              <a:rPr lang="en-US" altLang="en-US" sz="2800" b="1">
                <a:sym typeface="Symbol" panose="05050102010706020507" pitchFamily="18" charset="2"/>
              </a:rPr>
              <a:t>A   bB; B  | aB </a:t>
            </a:r>
            <a:endParaRPr lang="en-US" altLang="en-US" sz="2800">
              <a:sym typeface="Symbol" panose="05050102010706020507" pitchFamily="18" charset="2"/>
            </a:endParaRPr>
          </a:p>
          <a:p>
            <a:pPr marL="987425" lvl="1" indent="-2714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Ngôn ngữ được sinh ra bởi 2 VP: ba*</a:t>
            </a:r>
          </a:p>
          <a:p>
            <a:pPr marL="363538" indent="-363538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Ghi chú</a:t>
            </a:r>
          </a:p>
          <a:p>
            <a:pPr marL="987425" lvl="1" indent="-2714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Loại bỏ đệ quy trái  cây phân tích bị thay đổi</a:t>
            </a:r>
          </a:p>
          <a:p>
            <a:pPr marL="987425" lvl="1" indent="-2714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Cần phải cấu trúc lại cây phân tích để có được cấu trúc gốc</a:t>
            </a:r>
          </a:p>
        </p:txBody>
      </p:sp>
      <p:sp>
        <p:nvSpPr>
          <p:cNvPr id="95237" name="Text Box 4">
            <a:extLst>
              <a:ext uri="{FF2B5EF4-FFF2-40B4-BE49-F238E27FC236}">
                <a16:creationId xmlns:a16="http://schemas.microsoft.com/office/drawing/2014/main" id="{29BF6984-9BBA-E0C1-C4F7-47BCE2566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4">
            <a:extLst>
              <a:ext uri="{FF2B5EF4-FFF2-40B4-BE49-F238E27FC236}">
                <a16:creationId xmlns:a16="http://schemas.microsoft.com/office/drawing/2014/main" id="{9C8D5E25-33A3-D4B0-4259-A152EA895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8DED02-EAE0-475A-BC21-24B998FB404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453C3232-E78C-67D6-476E-0BD869E3C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Khử đệ quy trái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  <a:endParaRPr lang="en-US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84835" name="Rectangle 3">
            <a:extLst>
              <a:ext uri="{FF2B5EF4-FFF2-40B4-BE49-F238E27FC236}">
                <a16:creationId xmlns:a16="http://schemas.microsoft.com/office/drawing/2014/main" id="{B0FCF0A7-F796-9D4E-E08A-AD7BC6D2D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29200" y="3200400"/>
            <a:ext cx="3048000" cy="3352800"/>
          </a:xfrm>
          <a:ln>
            <a:solidFill>
              <a:srgbClr val="270076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BA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+ BA |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DC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* DC |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D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(S) | a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96261" name="Text Box 4">
            <a:extLst>
              <a:ext uri="{FF2B5EF4-FFF2-40B4-BE49-F238E27FC236}">
                <a16:creationId xmlns:a16="http://schemas.microsoft.com/office/drawing/2014/main" id="{E7082CD4-F64A-CD5D-74D3-D5C932F99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96262" name="Rectangle 5">
            <a:extLst>
              <a:ext uri="{FF2B5EF4-FFF2-40B4-BE49-F238E27FC236}">
                <a16:creationId xmlns:a16="http://schemas.microsoft.com/office/drawing/2014/main" id="{3BF69A9D-3D01-31C5-BF76-2D7616A9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838200"/>
            <a:ext cx="3733800" cy="2133600"/>
          </a:xfrm>
          <a:prstGeom prst="rect">
            <a:avLst/>
          </a:prstGeom>
          <a:noFill/>
          <a:ln w="9525">
            <a:solidFill>
              <a:srgbClr val="3539E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823913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20980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T | E+T</a:t>
            </a:r>
          </a:p>
          <a:p>
            <a:pPr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T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 F |T*F</a:t>
            </a:r>
          </a:p>
          <a:p>
            <a:pPr eaLnBrk="1" hangingPunct="1">
              <a:lnSpc>
                <a:spcPct val="115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F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 a |(E)</a:t>
            </a:r>
            <a:endParaRPr lang="en-US" altLang="en-US" b="0">
              <a:cs typeface="Times New Roman" panose="02020603050405020304" pitchFamily="18" charset="0"/>
            </a:endParaRPr>
          </a:p>
        </p:txBody>
      </p:sp>
      <p:sp>
        <p:nvSpPr>
          <p:cNvPr id="1784839" name="Rectangle 7">
            <a:extLst>
              <a:ext uri="{FF2B5EF4-FFF2-40B4-BE49-F238E27FC236}">
                <a16:creationId xmlns:a16="http://schemas.microsoft.com/office/drawing/2014/main" id="{83B2C0DB-2A82-3E25-EA9A-3FFA7AC1F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48000"/>
            <a:ext cx="4114800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249363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2073275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405063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81305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702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7274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846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418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T | E+T</a:t>
            </a:r>
          </a:p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 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fr-F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TE’</a:t>
            </a:r>
          </a:p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fr-F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 E’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fr-F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+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fr-F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E’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|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784840" name="Rectangle 8">
            <a:extLst>
              <a:ext uri="{FF2B5EF4-FFF2-40B4-BE49-F238E27FC236}">
                <a16:creationId xmlns:a16="http://schemas.microsoft.com/office/drawing/2014/main" id="{9B4DCCAE-5CD2-DFFA-BE3A-C804C40D5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876800"/>
            <a:ext cx="41148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249363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2073275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405063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813050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702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7274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846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4185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T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F | T * F</a:t>
            </a:r>
          </a:p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 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fr-F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F T’</a:t>
            </a:r>
          </a:p>
          <a:p>
            <a:pPr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fr-F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 T’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fr-F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*F T’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| </a:t>
            </a:r>
            <a:r>
              <a:rPr lang="el-GR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8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8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848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8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8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8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8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8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4835" grpId="0" build="p" animBg="1"/>
      <p:bldP spid="1784839" grpId="0"/>
      <p:bldP spid="1784840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4">
            <a:extLst>
              <a:ext uri="{FF2B5EF4-FFF2-40B4-BE49-F238E27FC236}">
                <a16:creationId xmlns:a16="http://schemas.microsoft.com/office/drawing/2014/main" id="{D57B93AE-19DF-DEFA-CBDB-778C705A11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0B0854-84FE-4D8E-A871-E2A8C29019C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DB9FDE3C-1F93-D931-D30E-536D5BDBD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là LL(1) trên sơ đồ cú pháp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32DA81EF-3AF8-54A4-86DF-6AB85AB83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715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US" altLang="en-US"/>
              <a:t>Ở mỗi lối rẽ, các nhánh phải bắt đầu bằng các ký hiệu khác nhau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en-US" altLang="en-US"/>
              <a:t>Nếu  sơ đồ có chứa một đường rỗng (</a:t>
            </a:r>
            <a:r>
              <a:rPr lang="en-US" altLang="en-US" i="1">
                <a:solidFill>
                  <a:schemeClr val="bg2"/>
                </a:solidFill>
              </a:rPr>
              <a:t>statement</a:t>
            </a:r>
            <a:r>
              <a:rPr lang="en-US" altLang="en-US"/>
              <a:t>) thì mọi ký hiệu đứng sau ký hiệu được biểu diễn bởi  sơ đồ phải khác các ký hiệu đứng đầu các nhánh của sơ đồ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  <a:buFontTx/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97285" name="Text Box 4">
            <a:extLst>
              <a:ext uri="{FF2B5EF4-FFF2-40B4-BE49-F238E27FC236}">
                <a16:creationId xmlns:a16="http://schemas.microsoft.com/office/drawing/2014/main" id="{AB58E4C7-6477-E310-539B-1BF19039F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4">
            <a:extLst>
              <a:ext uri="{FF2B5EF4-FFF2-40B4-BE49-F238E27FC236}">
                <a16:creationId xmlns:a16="http://schemas.microsoft.com/office/drawing/2014/main" id="{09B16FC9-6094-83B1-3699-ACFA2F50A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501E68-8C25-414D-B450-A2CE866E0A0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83F02CDD-80F6-655F-45C6-D6FB2651E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PL/0 là LL(1) ?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98308" name="Text Box 4">
            <a:extLst>
              <a:ext uri="{FF2B5EF4-FFF2-40B4-BE49-F238E27FC236}">
                <a16:creationId xmlns:a16="http://schemas.microsoft.com/office/drawing/2014/main" id="{14A7194E-51B2-0AF4-7017-BC20D4752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14919" name="Group 71">
            <a:extLst>
              <a:ext uri="{FF2B5EF4-FFF2-40B4-BE49-F238E27FC236}">
                <a16:creationId xmlns:a16="http://schemas.microsoft.com/office/drawing/2014/main" id="{AC21672C-88DD-CD37-FF6C-2D64DFD919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438275"/>
          <a:ext cx="8724900" cy="4525963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0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FIRST(A)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FOLLOW(A)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Block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CONST  VAR PROCEDURE BEGIN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  ;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Statement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Ident  CALL  BEGIN IF WHILE FOR, </a:t>
                      </a: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;  END 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Expression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 - ( ident number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;  END TO THEN DO ) -  ] &lt; &lt;= &gt; &gt;= = !=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9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Condition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 - ( ident number, ODD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THEN DO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Ident number  (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; END TO THEN DO ) - + &lt; &lt;= &gt; &gt;= = !=  ]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Factor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Ident  number  (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; END TO THEN  DO  +  - * /  )  &lt; &lt;= &gt; &gt;= = != ]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4">
            <a:extLst>
              <a:ext uri="{FF2B5EF4-FFF2-40B4-BE49-F238E27FC236}">
                <a16:creationId xmlns:a16="http://schemas.microsoft.com/office/drawing/2014/main" id="{298E7722-575E-78BC-6110-7661503CDB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3E2083-23F0-46A5-97D9-1C644E85BB7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DC2F740A-5746-2FF4-CF84-0AA65E1DF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PL/0 là LL(1) ?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99332" name="Text Box 3">
            <a:extLst>
              <a:ext uri="{FF2B5EF4-FFF2-40B4-BE49-F238E27FC236}">
                <a16:creationId xmlns:a16="http://schemas.microsoft.com/office/drawing/2014/main" id="{88CF0750-2F45-E08C-7D65-5B83D7E3B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99333" name="Text Box 48">
            <a:extLst>
              <a:ext uri="{FF2B5EF4-FFF2-40B4-BE49-F238E27FC236}">
                <a16:creationId xmlns:a16="http://schemas.microsoft.com/office/drawing/2014/main" id="{45529C3E-77C9-A4F3-8D87-5A8E440C9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299075"/>
            <a:ext cx="861060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0"/>
              <a:t>Các nhánh của sơ đồ bắt đầu bởi một từ khóa (từ tố)  khác nhau (CONST, VAR, PROCEDURE, BEGIN). Vậy &lt;Block&gt; là một sản xuât LL(1) đơn giản</a:t>
            </a:r>
          </a:p>
        </p:txBody>
      </p:sp>
      <p:pic>
        <p:nvPicPr>
          <p:cNvPr id="99334" name="Picture 168" descr="aa">
            <a:extLst>
              <a:ext uri="{FF2B5EF4-FFF2-40B4-BE49-F238E27FC236}">
                <a16:creationId xmlns:a16="http://schemas.microsoft.com/office/drawing/2014/main" id="{8E698EE5-E671-BAD9-8CF3-2705130CB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558213" cy="4419600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4">
            <a:extLst>
              <a:ext uri="{FF2B5EF4-FFF2-40B4-BE49-F238E27FC236}">
                <a16:creationId xmlns:a16="http://schemas.microsoft.com/office/drawing/2014/main" id="{6DA49B8B-FC1A-633D-72D6-7F3AEF4247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2C7D05-AC5A-4B8C-9171-54FCB62792B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072E8313-134C-18AB-0D77-B9B78C6E5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PL/0 là LL(1) ?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00356" name="Text Box 3">
            <a:extLst>
              <a:ext uri="{FF2B5EF4-FFF2-40B4-BE49-F238E27FC236}">
                <a16:creationId xmlns:a16="http://schemas.microsoft.com/office/drawing/2014/main" id="{829E91CE-4697-239B-2CC5-0DDC9F13A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00357" name="Text Box 49">
            <a:extLst>
              <a:ext uri="{FF2B5EF4-FFF2-40B4-BE49-F238E27FC236}">
                <a16:creationId xmlns:a16="http://schemas.microsoft.com/office/drawing/2014/main" id="{D3C2DFEC-D4CC-D7AB-B816-90900C1DA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724400"/>
            <a:ext cx="8839200" cy="199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None/>
            </a:pPr>
            <a:r>
              <a:rPr lang="en-US" altLang="en-US" sz="2400"/>
              <a:t>Điều kiện 1:</a:t>
            </a:r>
            <a:r>
              <a:rPr lang="en-US" altLang="en-US" sz="2400" b="0"/>
              <a:t> </a:t>
            </a:r>
            <a:r>
              <a:rPr lang="en-US" altLang="en-US" sz="2400" b="0">
                <a:solidFill>
                  <a:srgbClr val="3539EB"/>
                </a:solidFill>
              </a:rPr>
              <a:t>Các nhánh bắt đầu bởi các từ tố khác nhau</a:t>
            </a:r>
          </a:p>
          <a:p>
            <a:pPr eaLnBrk="1" hangingPunct="1">
              <a:lnSpc>
                <a:spcPct val="115000"/>
              </a:lnSpc>
              <a:buFontTx/>
              <a:buNone/>
            </a:pPr>
            <a:r>
              <a:rPr lang="en-US" altLang="en-US" sz="2400"/>
              <a:t>Điều kiện 2:</a:t>
            </a:r>
            <a:r>
              <a:rPr lang="en-US" altLang="en-US" sz="2400" b="0"/>
              <a:t> (</a:t>
            </a:r>
            <a:r>
              <a:rPr lang="en-US" altLang="en-US" sz="2400" b="0" i="1">
                <a:solidFill>
                  <a:schemeClr val="bg2"/>
                </a:solidFill>
              </a:rPr>
              <a:t>Thỏa mãn</a:t>
            </a:r>
            <a:r>
              <a:rPr lang="en-US" altLang="en-US" sz="2400" b="0"/>
              <a:t>)</a:t>
            </a:r>
          </a:p>
          <a:p>
            <a:pPr eaLnBrk="1" hangingPunct="1">
              <a:lnSpc>
                <a:spcPct val="115000"/>
              </a:lnSpc>
              <a:buFontTx/>
              <a:buNone/>
            </a:pPr>
            <a:r>
              <a:rPr lang="en-US" altLang="en-US" sz="2400" b="0"/>
              <a:t>    FOLLOW(&lt;Statement&gt;) = {END, ., ; }</a:t>
            </a:r>
          </a:p>
          <a:p>
            <a:pPr eaLnBrk="1" hangingPunct="1">
              <a:lnSpc>
                <a:spcPct val="115000"/>
              </a:lnSpc>
              <a:buFontTx/>
              <a:buNone/>
            </a:pPr>
            <a:r>
              <a:rPr lang="en-US" altLang="en-US" sz="2400" b="0"/>
              <a:t>    FIRST(&lt;Statement&gt;)={Ident, CALL, BEGIN, IF, WHILE, FOR}</a:t>
            </a:r>
          </a:p>
        </p:txBody>
      </p:sp>
      <p:pic>
        <p:nvPicPr>
          <p:cNvPr id="100358" name="Picture 179" descr="aa">
            <a:extLst>
              <a:ext uri="{FF2B5EF4-FFF2-40B4-BE49-F238E27FC236}">
                <a16:creationId xmlns:a16="http://schemas.microsoft.com/office/drawing/2014/main" id="{A27C9D25-2953-6624-2139-AAD06A00D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305800" cy="3995738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4">
            <a:extLst>
              <a:ext uri="{FF2B5EF4-FFF2-40B4-BE49-F238E27FC236}">
                <a16:creationId xmlns:a16="http://schemas.microsoft.com/office/drawing/2014/main" id="{AC1ED2B0-D092-232C-0358-042BF395F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C68D3A-CD0A-4018-9C07-52A2E25E958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7BF6EECA-C569-FFC3-A848-ACB8612AC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Thuật toán phân tích xem trước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9F5E8999-8099-67EE-35DF-BFFBCDA78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7249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/>
              <a:t>Chỉ nghiên cứu với văn phạm LL(1)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/>
              <a:t>Cho phép phân tích đúng nhờ đọc trước 1 ký hiệu trên xâu vào</a:t>
            </a: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/>
              <a:t>Bao gồm 2 giai đoạn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/>
              <a:t>Xây dựng ma trận phân tích</a:t>
            </a:r>
          </a:p>
          <a:p>
            <a:pPr lvl="1" eaLnBrk="1" hangingPunct="1">
              <a:lnSpc>
                <a:spcPct val="120000"/>
              </a:lnSpc>
              <a:spcBef>
                <a:spcPct val="40000"/>
              </a:spcBef>
            </a:pPr>
            <a:r>
              <a:rPr lang="en-US" altLang="en-US"/>
              <a:t>Thực hiện phân tích xem trước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01381" name="Text Box 4">
            <a:extLst>
              <a:ext uri="{FF2B5EF4-FFF2-40B4-BE49-F238E27FC236}">
                <a16:creationId xmlns:a16="http://schemas.microsoft.com/office/drawing/2014/main" id="{FC1C766D-E718-17CB-BD42-50807603C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4">
            <a:extLst>
              <a:ext uri="{FF2B5EF4-FFF2-40B4-BE49-F238E27FC236}">
                <a16:creationId xmlns:a16="http://schemas.microsoft.com/office/drawing/2014/main" id="{CF02F7E7-C7C5-15D4-FFB4-51D4BCE748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A33B9F-BD71-45EA-8EF9-2A6DC88A1F5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9CCC911A-61CB-8195-7EAB-DA284E1E4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Xây dựng ma trận phân tích</a:t>
            </a:r>
            <a:endParaRPr lang="el-GR" altLang="en-US">
              <a:sym typeface="Symbol" panose="05050102010706020507" pitchFamily="18" charset="2"/>
            </a:endParaRP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6C18B9EC-E4EC-2FAE-1927-8D32E3E818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648700" cy="5638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3539EB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Xây dựng ma trận phân tích M trên  tập: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(V  {#} ) x (V</a:t>
            </a:r>
            <a:r>
              <a:rPr lang="en-US" altLang="en-US" baseline="-25000">
                <a:solidFill>
                  <a:srgbClr val="3539EB"/>
                </a:solidFill>
                <a:sym typeface="Symbol" panose="05050102010706020507" pitchFamily="18" charset="2"/>
              </a:rPr>
              <a:t>T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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{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} )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Nếu A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sản xuất thứ k của P</a:t>
            </a:r>
          </a:p>
          <a:p>
            <a:pPr marL="1139825" lvl="1" indent="-457200" eaLnBrk="1" hangingPunct="1">
              <a:lnSpc>
                <a:spcPct val="110000"/>
              </a:lnSpc>
              <a:spcBef>
                <a:spcPct val="25000"/>
              </a:spcBef>
              <a:buFontTx/>
              <a:buChar char="•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ε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và a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thì M[A,a]=(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,k)</a:t>
            </a:r>
          </a:p>
          <a:p>
            <a:pPr marL="1139825" lvl="1" indent="-457200" eaLnBrk="1" hangingPunct="1">
              <a:lnSpc>
                <a:spcPct val="110000"/>
              </a:lnSpc>
              <a:spcBef>
                <a:spcPct val="25000"/>
              </a:spcBef>
              <a:buFontTx/>
              <a:buChar char="•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ε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FIRST(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thì </a:t>
            </a:r>
          </a:p>
          <a:p>
            <a:pPr marL="1139825" lvl="1" indent="-4572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FOLLOW(A), M[A,b] = (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,k)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M[a, a] = “Đẩy”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M[#, # ] = “Nhận”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Mọi ô khác có giá trị sai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2405" name="Text Box 4">
            <a:extLst>
              <a:ext uri="{FF2B5EF4-FFF2-40B4-BE49-F238E27FC236}">
                <a16:creationId xmlns:a16="http://schemas.microsoft.com/office/drawing/2014/main" id="{84F379E6-D2BA-33EC-2AD2-25F80F76B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4">
            <a:extLst>
              <a:ext uri="{FF2B5EF4-FFF2-40B4-BE49-F238E27FC236}">
                <a16:creationId xmlns:a16="http://schemas.microsoft.com/office/drawing/2014/main" id="{C5EE5DB9-85A4-31F2-EC15-EBC7613419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54C566-89DC-4DC5-AF67-4AE7DBCD77A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3D8D1004-EED0-7E57-B16D-2B10A1988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Xây dựng ma trận phân tích </a:t>
            </a:r>
            <a:r>
              <a:rPr lang="en-US" altLang="en-US">
                <a:sym typeface="Symbol" panose="05050102010706020507" pitchFamily="18" charset="2"/>
              </a:rPr>
              <a:t>Ví dụ</a:t>
            </a:r>
            <a:endParaRPr lang="el-GR" altLang="en-US">
              <a:sym typeface="Symbol" panose="05050102010706020507" pitchFamily="18" charset="2"/>
            </a:endParaRPr>
          </a:p>
        </p:txBody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351E35B2-1850-E055-42F8-D55F3D848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438400"/>
            <a:ext cx="2514600" cy="2667000"/>
          </a:xfrm>
          <a:ln>
            <a:solidFill>
              <a:srgbClr val="3539EB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SaAS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S b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A  a</a:t>
            </a:r>
          </a:p>
          <a:p>
            <a:pPr marL="533400" indent="-533400" eaLnBrk="1" hangingPunct="1">
              <a:lnSpc>
                <a:spcPct val="110000"/>
              </a:lnSpc>
              <a:spcBef>
                <a:spcPct val="25000"/>
              </a:spcBef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A bSA</a:t>
            </a:r>
          </a:p>
        </p:txBody>
      </p:sp>
      <p:sp>
        <p:nvSpPr>
          <p:cNvPr id="103429" name="Text Box 4">
            <a:extLst>
              <a:ext uri="{FF2B5EF4-FFF2-40B4-BE49-F238E27FC236}">
                <a16:creationId xmlns:a16="http://schemas.microsoft.com/office/drawing/2014/main" id="{A7E9CF0D-0BD5-6B3D-F25F-304C3E269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39536" name="Group 112">
            <a:extLst>
              <a:ext uri="{FF2B5EF4-FFF2-40B4-BE49-F238E27FC236}">
                <a16:creationId xmlns:a16="http://schemas.microsoft.com/office/drawing/2014/main" id="{6DF1C8A3-E6B5-D15A-0A40-2C869C34864D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752600"/>
          <a:ext cx="5181600" cy="37353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539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kumimoji="0" lang="el-G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63">
                <a:tc>
                  <a:txBody>
                    <a:bodyPr/>
                    <a:lstStyle>
                      <a:lvl1pPr marL="347663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7663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aAS,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b,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63">
                <a:tc>
                  <a:txBody>
                    <a:bodyPr/>
                    <a:lstStyle>
                      <a:lvl1pPr indent="347663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347663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a,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bSA,4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>
                      <a:lvl1pPr indent="347663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347663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63">
                <a:tc>
                  <a:txBody>
                    <a:bodyPr/>
                    <a:lstStyle>
                      <a:lvl1pPr indent="347663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347663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>
                      <a:lvl1pPr indent="347663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347663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Nhận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5">
            <a:extLst>
              <a:ext uri="{FF2B5EF4-FFF2-40B4-BE49-F238E27FC236}">
                <a16:creationId xmlns:a16="http://schemas.microsoft.com/office/drawing/2014/main" id="{D7678564-9863-FB46-8AED-A3F9F00458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458C2D-713A-4549-A25E-DA90F6A38CC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7D7B919-495B-8F60-0802-317295761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xem trước </a:t>
            </a:r>
            <a:r>
              <a:rPr lang="en-US" altLang="en-US">
                <a:sym typeface="Symbol" panose="05050102010706020507" pitchFamily="18" charset="2"/>
              </a:rPr>
              <a:t> Mô tả</a:t>
            </a:r>
          </a:p>
        </p:txBody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443933B8-8BE3-13F7-1050-1705089C49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14400"/>
            <a:ext cx="4191000" cy="5638800"/>
          </a:xfrm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Thuật toán gồm</a:t>
            </a:r>
          </a:p>
          <a:p>
            <a:pPr marL="231775" indent="-23177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>
                <a:sym typeface="Symbol" panose="05050102010706020507" pitchFamily="18" charset="2"/>
              </a:rPr>
              <a:t>Xâu cần phân tích</a:t>
            </a:r>
          </a:p>
          <a:p>
            <a:pPr marL="739775" lvl="1" indent="-274638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400">
                <a:sym typeface="Symbol" panose="05050102010706020507" pitchFamily="18" charset="2"/>
              </a:rPr>
              <a:t>Đọc bởi một đầu vào</a:t>
            </a:r>
          </a:p>
          <a:p>
            <a:pPr marL="231775" indent="-23177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>
                <a:sym typeface="Symbol" panose="05050102010706020507" pitchFamily="18" charset="2"/>
              </a:rPr>
              <a:t>Ma trận phân tích M</a:t>
            </a:r>
          </a:p>
          <a:p>
            <a:pPr marL="231775" indent="-23177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>
                <a:sym typeface="Symbol" panose="05050102010706020507" pitchFamily="18" charset="2"/>
              </a:rPr>
              <a:t>Danh sách đẩy</a:t>
            </a:r>
          </a:p>
          <a:p>
            <a:pPr marL="739775" lvl="1" indent="-274638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400">
                <a:sym typeface="Symbol" panose="05050102010706020507" pitchFamily="18" charset="2"/>
              </a:rPr>
              <a:t>Chứa xâu </a:t>
            </a:r>
            <a:r>
              <a:rPr lang="en-US" altLang="en-US" sz="2400">
                <a:solidFill>
                  <a:srgbClr val="3539EB"/>
                </a:solidFill>
                <a:sym typeface="Symbol" panose="05050102010706020507" pitchFamily="18" charset="2"/>
              </a:rPr>
              <a:t>X</a:t>
            </a:r>
            <a:r>
              <a:rPr lang="el-GR" altLang="en-US" sz="24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</a:p>
          <a:p>
            <a:pPr marL="1146175" lvl="2" indent="-23177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#  Là đáy danh sách</a:t>
            </a:r>
          </a:p>
          <a:p>
            <a:pPr marL="1146175" lvl="2" indent="-23177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l-GR" altLang="en-US" sz="2000">
                <a:cs typeface="Arial" panose="020B0604020202020204" pitchFamily="34" charset="0"/>
                <a:sym typeface="Symbol" panose="05050102010706020507" pitchFamily="18" charset="2"/>
              </a:rPr>
              <a:t>α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V*</a:t>
            </a:r>
            <a:endParaRPr lang="el-GR" altLang="en-US" sz="200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31775" indent="-23177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800">
                <a:sym typeface="Symbol" panose="05050102010706020507" pitchFamily="18" charset="2"/>
              </a:rPr>
              <a:t>Xâu ra</a:t>
            </a:r>
          </a:p>
          <a:p>
            <a:pPr marL="739775" lvl="1" indent="-274638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400">
                <a:sym typeface="Symbol" panose="05050102010706020507" pitchFamily="18" charset="2"/>
              </a:rPr>
              <a:t>Viết bởi một đầu ghi</a:t>
            </a:r>
          </a:p>
          <a:p>
            <a:pPr marL="739775" lvl="1" indent="-274638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sz="2400">
                <a:sym typeface="Symbol" panose="05050102010706020507" pitchFamily="18" charset="2"/>
              </a:rPr>
              <a:t>Chứa số thứ tự các SX</a:t>
            </a:r>
          </a:p>
        </p:txBody>
      </p:sp>
      <p:sp>
        <p:nvSpPr>
          <p:cNvPr id="104453" name="Text Box 4">
            <a:extLst>
              <a:ext uri="{FF2B5EF4-FFF2-40B4-BE49-F238E27FC236}">
                <a16:creationId xmlns:a16="http://schemas.microsoft.com/office/drawing/2014/main" id="{4581E090-2798-3584-3A93-D36FE5BAE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04454" name="Object 5">
            <a:extLst>
              <a:ext uri="{FF2B5EF4-FFF2-40B4-BE49-F238E27FC236}">
                <a16:creationId xmlns:a16="http://schemas.microsoft.com/office/drawing/2014/main" id="{226D6EE3-DCF1-51F8-B71D-1A4856AAF4C1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4267200" y="1295400"/>
          <a:ext cx="4800600" cy="384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66767" imgH="3813353" progId="Visio.Drawing.11">
                  <p:embed/>
                </p:oleObj>
              </mc:Choice>
              <mc:Fallback>
                <p:oleObj name="Visio" r:id="rId2" imgW="4766767" imgH="381335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295400"/>
                        <a:ext cx="4800600" cy="384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4">
            <a:extLst>
              <a:ext uri="{FF2B5EF4-FFF2-40B4-BE49-F238E27FC236}">
                <a16:creationId xmlns:a16="http://schemas.microsoft.com/office/drawing/2014/main" id="{0035170A-7783-8635-0DB2-30ED5725BE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79517B-19DC-43F5-BDA5-6CA946A10BF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F7E694B6-97CA-2E0E-3B5E-323FCDF7C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xem trước </a:t>
            </a:r>
            <a:r>
              <a:rPr lang="en-US" altLang="en-US">
                <a:sym typeface="Symbol" panose="05050102010706020507" pitchFamily="18" charset="2"/>
              </a:rPr>
              <a:t> Hoạt động</a:t>
            </a:r>
            <a:endParaRPr lang="el-GR" altLang="en-US">
              <a:sym typeface="Symbol" panose="05050102010706020507" pitchFamily="18" charset="2"/>
            </a:endParaRPr>
          </a:p>
        </p:txBody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A9B7C244-FDD1-181F-7876-4C5E4215B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838200"/>
            <a:ext cx="8572500" cy="58674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Thuật toán dựa vào ma trận phân tích M, ký hiệu đọc được bởi đầu đọc và ký hiệu trển đỉnh Stack để quyết định công việc</a:t>
            </a:r>
          </a:p>
          <a:p>
            <a:pPr marL="623888" lvl="1" indent="-27622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b="1">
                <a:sym typeface="Symbol" panose="05050102010706020507" pitchFamily="18" charset="2"/>
              </a:rPr>
              <a:t>M[X,a]= {</a:t>
            </a:r>
            <a:r>
              <a:rPr lang="el-GR" altLang="en-US" b="1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b="1">
                <a:cs typeface="Arial" panose="020B0604020202020204" pitchFamily="34" charset="0"/>
                <a:sym typeface="Symbol" panose="05050102010706020507" pitchFamily="18" charset="2"/>
              </a:rPr>
              <a:t>, k</a:t>
            </a:r>
            <a:r>
              <a:rPr lang="en-US" altLang="en-US" b="1">
                <a:sym typeface="Symbol" panose="05050102010706020507" pitchFamily="18" charset="2"/>
              </a:rPr>
              <a:t>}: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X trên đỉnh DS được thay bằng xâu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(ký hiệu đầu của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ở trên); Viết k ra xâu ra</a:t>
            </a:r>
          </a:p>
          <a:p>
            <a:pPr marL="623888" lvl="1" indent="-27622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b="1">
                <a:sym typeface="Symbol" panose="05050102010706020507" pitchFamily="18" charset="2"/>
              </a:rPr>
              <a:t>M[X,a]= “đẩy”: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Đầu đọc dịch phải một đơn vị, X bị loại bỏ khỏi danh sach</a:t>
            </a:r>
          </a:p>
          <a:p>
            <a:pPr marL="623888" lvl="1" indent="-27622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b="1">
                <a:sym typeface="Symbol" panose="05050102010706020507" pitchFamily="18" charset="2"/>
              </a:rPr>
              <a:t>M[X,a]= “sai”: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Dừng lại và thông báo xâu không được đoán nhận</a:t>
            </a:r>
          </a:p>
          <a:p>
            <a:pPr marL="623888" lvl="1" indent="-276225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 b="1">
                <a:sym typeface="Symbol" panose="05050102010706020507" pitchFamily="18" charset="2"/>
              </a:rPr>
              <a:t>M[X,a]= “nhận”: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Thuật toán dừng, xâu được đoán nhận và xâu ra chứa DS các SX đã dùng</a:t>
            </a:r>
          </a:p>
        </p:txBody>
      </p:sp>
      <p:sp>
        <p:nvSpPr>
          <p:cNvPr id="105477" name="Text Box 4">
            <a:extLst>
              <a:ext uri="{FF2B5EF4-FFF2-40B4-BE49-F238E27FC236}">
                <a16:creationId xmlns:a16="http://schemas.microsoft.com/office/drawing/2014/main" id="{B9245387-3D00-210E-DA7F-589330701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4">
            <a:extLst>
              <a:ext uri="{FF2B5EF4-FFF2-40B4-BE49-F238E27FC236}">
                <a16:creationId xmlns:a16="http://schemas.microsoft.com/office/drawing/2014/main" id="{624786BD-4E60-76FC-18C0-9E42C6CFAF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AD0849-644A-4868-9E43-3F3D3146E99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646796" name="Oval 204">
            <a:extLst>
              <a:ext uri="{FF2B5EF4-FFF2-40B4-BE49-F238E27FC236}">
                <a16:creationId xmlns:a16="http://schemas.microsoft.com/office/drawing/2014/main" id="{8F183DF8-3FDE-918E-6B64-FD4DA6B58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076825"/>
            <a:ext cx="11430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en-US" sz="1200">
              <a:solidFill>
                <a:srgbClr val="3539EB"/>
              </a:solidFill>
            </a:endParaRPr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510B1A3C-693A-3A2A-7671-A57FCEF12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Phân tích xem trước </a:t>
            </a:r>
            <a:r>
              <a:rPr lang="en-US" altLang="en-US" sz="3600">
                <a:sym typeface="Symbol" panose="05050102010706020507" pitchFamily="18" charset="2"/>
              </a:rPr>
              <a:t>Ví dụ</a:t>
            </a:r>
            <a:endParaRPr lang="el-GR" altLang="en-US" sz="3600">
              <a:sym typeface="Symbol" panose="05050102010706020507" pitchFamily="18" charset="2"/>
            </a:endParaRPr>
          </a:p>
        </p:txBody>
      </p:sp>
      <p:sp>
        <p:nvSpPr>
          <p:cNvPr id="106501" name="Text Box 4">
            <a:extLst>
              <a:ext uri="{FF2B5EF4-FFF2-40B4-BE49-F238E27FC236}">
                <a16:creationId xmlns:a16="http://schemas.microsoft.com/office/drawing/2014/main" id="{8EC48CB6-9404-9D3C-0355-F95333236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46665" name="Group 73">
            <a:extLst>
              <a:ext uri="{FF2B5EF4-FFF2-40B4-BE49-F238E27FC236}">
                <a16:creationId xmlns:a16="http://schemas.microsoft.com/office/drawing/2014/main" id="{4B79E80C-DD6A-40F6-895C-6336D351F9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14600" y="2438400"/>
          <a:ext cx="4343400" cy="310832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539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kumimoji="0" lang="el-G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>
                      <a:lvl1pPr marL="174625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1746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aAS,1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b, 2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>
                      <a:lvl1pPr indent="115888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11588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a, 3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bSA,4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>
                      <a:lvl1pPr indent="115888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11588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>
                      <a:lvl1pPr indent="115888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11588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>
                      <a:lvl1pPr indent="174625"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 marL="461963"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1746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Sai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Nhận</a:t>
                      </a:r>
                    </a:p>
                  </a:txBody>
                  <a:tcPr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6547" name="Group 86">
            <a:extLst>
              <a:ext uri="{FF2B5EF4-FFF2-40B4-BE49-F238E27FC236}">
                <a16:creationId xmlns:a16="http://schemas.microsoft.com/office/drawing/2014/main" id="{D526F1F4-D3A0-61E6-22F6-16B89B42E64E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990600"/>
            <a:ext cx="3200400" cy="528638"/>
            <a:chOff x="1872" y="624"/>
            <a:chExt cx="2016" cy="333"/>
          </a:xfrm>
        </p:grpSpPr>
        <p:sp>
          <p:nvSpPr>
            <p:cNvPr id="106640" name="Text Box 74">
              <a:extLst>
                <a:ext uri="{FF2B5EF4-FFF2-40B4-BE49-F238E27FC236}">
                  <a16:creationId xmlns:a16="http://schemas.microsoft.com/office/drawing/2014/main" id="{250938DD-F0C8-03DF-8C7F-74777AB66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624"/>
              <a:ext cx="336" cy="333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06641" name="Text Box 75">
              <a:extLst>
                <a:ext uri="{FF2B5EF4-FFF2-40B4-BE49-F238E27FC236}">
                  <a16:creationId xmlns:a16="http://schemas.microsoft.com/office/drawing/2014/main" id="{1BB78D06-918E-22A3-F759-4D0C968CC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624"/>
              <a:ext cx="336" cy="333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06642" name="Text Box 76">
              <a:extLst>
                <a:ext uri="{FF2B5EF4-FFF2-40B4-BE49-F238E27FC236}">
                  <a16:creationId xmlns:a16="http://schemas.microsoft.com/office/drawing/2014/main" id="{8B4C7778-549B-2D19-1EE5-038160124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624"/>
              <a:ext cx="336" cy="333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06643" name="Text Box 77">
              <a:extLst>
                <a:ext uri="{FF2B5EF4-FFF2-40B4-BE49-F238E27FC236}">
                  <a16:creationId xmlns:a16="http://schemas.microsoft.com/office/drawing/2014/main" id="{5243CB7D-6851-636E-57C1-E4E338E9F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624"/>
              <a:ext cx="336" cy="333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06644" name="Text Box 78">
              <a:extLst>
                <a:ext uri="{FF2B5EF4-FFF2-40B4-BE49-F238E27FC236}">
                  <a16:creationId xmlns:a16="http://schemas.microsoft.com/office/drawing/2014/main" id="{66D7AA60-27A6-AE7E-4899-3F515E7E4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624"/>
              <a:ext cx="336" cy="333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06645" name="Text Box 79">
              <a:extLst>
                <a:ext uri="{FF2B5EF4-FFF2-40B4-BE49-F238E27FC236}">
                  <a16:creationId xmlns:a16="http://schemas.microsoft.com/office/drawing/2014/main" id="{0DA173DF-2705-AAFB-75BE-CBCFF72A3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624"/>
              <a:ext cx="336" cy="333"/>
            </a:xfrm>
            <a:prstGeom prst="rect">
              <a:avLst/>
            </a:prstGeom>
            <a:noFill/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#</a:t>
              </a:r>
            </a:p>
          </p:txBody>
        </p:sp>
      </p:grpSp>
      <p:grpSp>
        <p:nvGrpSpPr>
          <p:cNvPr id="1646728" name="Group 136">
            <a:extLst>
              <a:ext uri="{FF2B5EF4-FFF2-40B4-BE49-F238E27FC236}">
                <a16:creationId xmlns:a16="http://schemas.microsoft.com/office/drawing/2014/main" id="{7C773498-34C2-5D8E-CF3F-0B513044721D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52800"/>
            <a:ext cx="609600" cy="2940050"/>
            <a:chOff x="384" y="1837"/>
            <a:chExt cx="384" cy="1852"/>
          </a:xfrm>
        </p:grpSpPr>
        <p:sp>
          <p:nvSpPr>
            <p:cNvPr id="106635" name="Text Box 80">
              <a:extLst>
                <a:ext uri="{FF2B5EF4-FFF2-40B4-BE49-F238E27FC236}">
                  <a16:creationId xmlns:a16="http://schemas.microsoft.com/office/drawing/2014/main" id="{2DCD7D40-2CB5-270E-1978-665CBF2DD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318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36" name="Text Box 82">
              <a:extLst>
                <a:ext uri="{FF2B5EF4-FFF2-40B4-BE49-F238E27FC236}">
                  <a16:creationId xmlns:a16="http://schemas.microsoft.com/office/drawing/2014/main" id="{3C402493-9127-AF91-6D96-E0F3E1F8C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4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37" name="Text Box 83">
              <a:extLst>
                <a:ext uri="{FF2B5EF4-FFF2-40B4-BE49-F238E27FC236}">
                  <a16:creationId xmlns:a16="http://schemas.microsoft.com/office/drawing/2014/main" id="{03DE045F-C049-2DC2-FF36-82E0FE29C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578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38" name="Text Box 84">
              <a:extLst>
                <a:ext uri="{FF2B5EF4-FFF2-40B4-BE49-F238E27FC236}">
                  <a16:creationId xmlns:a16="http://schemas.microsoft.com/office/drawing/2014/main" id="{7A7DAA67-6CFB-ACCC-BAE6-979FD2A81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208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39" name="Text Box 85">
              <a:extLst>
                <a:ext uri="{FF2B5EF4-FFF2-40B4-BE49-F238E27FC236}">
                  <a16:creationId xmlns:a16="http://schemas.microsoft.com/office/drawing/2014/main" id="{DC4BDF38-9F7F-D182-0AB2-019BDB094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8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</p:grpSp>
      <p:sp>
        <p:nvSpPr>
          <p:cNvPr id="106549" name="Text Box 87">
            <a:extLst>
              <a:ext uri="{FF2B5EF4-FFF2-40B4-BE49-F238E27FC236}">
                <a16:creationId xmlns:a16="http://schemas.microsoft.com/office/drawing/2014/main" id="{F8EA8277-F069-E98C-6317-653928329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15000"/>
            <a:ext cx="16002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rgbClr val="3539EB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fr-FR" altLang="en-US" sz="2800">
              <a:solidFill>
                <a:schemeClr val="tx1"/>
              </a:solidFill>
            </a:endParaRPr>
          </a:p>
        </p:txBody>
      </p:sp>
      <p:sp>
        <p:nvSpPr>
          <p:cNvPr id="106550" name="AutoShape 89">
            <a:extLst>
              <a:ext uri="{FF2B5EF4-FFF2-40B4-BE49-F238E27FC236}">
                <a16:creationId xmlns:a16="http://schemas.microsoft.com/office/drawing/2014/main" id="{4CA6E076-CCAB-A229-4C5B-0B1C37D99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505200"/>
            <a:ext cx="1066800" cy="3048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646682" name="Freeform 90">
            <a:extLst>
              <a:ext uri="{FF2B5EF4-FFF2-40B4-BE49-F238E27FC236}">
                <a16:creationId xmlns:a16="http://schemas.microsoft.com/office/drawing/2014/main" id="{2BCB87A4-7996-B435-E4E1-214C0773CD2B}"/>
              </a:ext>
            </a:extLst>
          </p:cNvPr>
          <p:cNvSpPr>
            <a:spLocks/>
          </p:cNvSpPr>
          <p:nvPr/>
        </p:nvSpPr>
        <p:spPr bwMode="auto">
          <a:xfrm>
            <a:off x="6858000" y="3657600"/>
            <a:ext cx="1066800" cy="2057400"/>
          </a:xfrm>
          <a:custGeom>
            <a:avLst/>
            <a:gdLst>
              <a:gd name="T0" fmla="*/ 0 w 600"/>
              <a:gd name="T1" fmla="*/ 2147483646 h 1296"/>
              <a:gd name="T2" fmla="*/ 2147483646 w 600"/>
              <a:gd name="T3" fmla="*/ 2147483646 h 1296"/>
              <a:gd name="T4" fmla="*/ 2147483646 w 600"/>
              <a:gd name="T5" fmla="*/ 2147483646 h 1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00" h="1296">
                <a:moveTo>
                  <a:pt x="0" y="144"/>
                </a:moveTo>
                <a:cubicBezTo>
                  <a:pt x="228" y="72"/>
                  <a:pt x="456" y="0"/>
                  <a:pt x="528" y="192"/>
                </a:cubicBezTo>
                <a:cubicBezTo>
                  <a:pt x="600" y="384"/>
                  <a:pt x="516" y="840"/>
                  <a:pt x="432" y="1296"/>
                </a:cubicBezTo>
              </a:path>
            </a:pathLst>
          </a:custGeom>
          <a:noFill/>
          <a:ln w="762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688" name="Freeform 96">
            <a:extLst>
              <a:ext uri="{FF2B5EF4-FFF2-40B4-BE49-F238E27FC236}">
                <a16:creationId xmlns:a16="http://schemas.microsoft.com/office/drawing/2014/main" id="{776460F0-0EA0-8200-3E2A-FDD108474C3F}"/>
              </a:ext>
            </a:extLst>
          </p:cNvPr>
          <p:cNvSpPr>
            <a:spLocks/>
          </p:cNvSpPr>
          <p:nvPr/>
        </p:nvSpPr>
        <p:spPr bwMode="auto">
          <a:xfrm>
            <a:off x="3200400" y="1524000"/>
            <a:ext cx="1752600" cy="914400"/>
          </a:xfrm>
          <a:custGeom>
            <a:avLst/>
            <a:gdLst>
              <a:gd name="T0" fmla="*/ 2147483646 w 1104"/>
              <a:gd name="T1" fmla="*/ 2147483646 h 576"/>
              <a:gd name="T2" fmla="*/ 2147483646 w 1104"/>
              <a:gd name="T3" fmla="*/ 2147483646 h 576"/>
              <a:gd name="T4" fmla="*/ 0 w 1104"/>
              <a:gd name="T5" fmla="*/ 2147483646 h 576"/>
              <a:gd name="T6" fmla="*/ 0 w 1104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576">
                <a:moveTo>
                  <a:pt x="1104" y="576"/>
                </a:moveTo>
                <a:lnTo>
                  <a:pt x="1104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76200" cmpd="sng">
            <a:solidFill>
              <a:srgbClr val="27007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689" name="Oval 97">
            <a:extLst>
              <a:ext uri="{FF2B5EF4-FFF2-40B4-BE49-F238E27FC236}">
                <a16:creationId xmlns:a16="http://schemas.microsoft.com/office/drawing/2014/main" id="{CA357EB2-09F2-0047-28AD-E2D4A1E0C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971800"/>
            <a:ext cx="1219200" cy="533400"/>
          </a:xfrm>
          <a:prstGeom prst="ellipse">
            <a:avLst/>
          </a:prstGeom>
          <a:noFill/>
          <a:ln w="38100">
            <a:solidFill>
              <a:srgbClr val="FA061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grpSp>
        <p:nvGrpSpPr>
          <p:cNvPr id="1646729" name="Group 137">
            <a:extLst>
              <a:ext uri="{FF2B5EF4-FFF2-40B4-BE49-F238E27FC236}">
                <a16:creationId xmlns:a16="http://schemas.microsoft.com/office/drawing/2014/main" id="{A781895D-314B-A411-8B39-299A9F4D1B2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630" name="Text Box 101">
              <a:extLst>
                <a:ext uri="{FF2B5EF4-FFF2-40B4-BE49-F238E27FC236}">
                  <a16:creationId xmlns:a16="http://schemas.microsoft.com/office/drawing/2014/main" id="{889CF923-6BB1-ACA5-B3C2-742E6F8BC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31" name="Text Box 102">
              <a:extLst>
                <a:ext uri="{FF2B5EF4-FFF2-40B4-BE49-F238E27FC236}">
                  <a16:creationId xmlns:a16="http://schemas.microsoft.com/office/drawing/2014/main" id="{8A4B62E5-E9C2-6823-6BE7-8914B346B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32" name="Text Box 103">
              <a:extLst>
                <a:ext uri="{FF2B5EF4-FFF2-40B4-BE49-F238E27FC236}">
                  <a16:creationId xmlns:a16="http://schemas.microsoft.com/office/drawing/2014/main" id="{5B47F5EA-1DAC-544E-69DE-ADABF50D7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33" name="Text Box 104">
              <a:extLst>
                <a:ext uri="{FF2B5EF4-FFF2-40B4-BE49-F238E27FC236}">
                  <a16:creationId xmlns:a16="http://schemas.microsoft.com/office/drawing/2014/main" id="{A00C67EC-0F92-AC3A-5BF4-A966F7D65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  <p:sp>
          <p:nvSpPr>
            <p:cNvPr id="106634" name="Text Box 105">
              <a:extLst>
                <a:ext uri="{FF2B5EF4-FFF2-40B4-BE49-F238E27FC236}">
                  <a16:creationId xmlns:a16="http://schemas.microsoft.com/office/drawing/2014/main" id="{ECAF0AF8-AECC-70F9-74E0-5596C76DF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</p:grpSp>
      <p:sp>
        <p:nvSpPr>
          <p:cNvPr id="1646698" name="Oval 106">
            <a:extLst>
              <a:ext uri="{FF2B5EF4-FFF2-40B4-BE49-F238E27FC236}">
                <a16:creationId xmlns:a16="http://schemas.microsoft.com/office/drawing/2014/main" id="{73B536F4-DE89-3D73-B276-0D3DBC615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962400"/>
            <a:ext cx="1219200" cy="533400"/>
          </a:xfrm>
          <a:prstGeom prst="ellipse">
            <a:avLst/>
          </a:prstGeom>
          <a:noFill/>
          <a:ln w="38100">
            <a:solidFill>
              <a:srgbClr val="FA061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646706" name="Freeform 114">
            <a:extLst>
              <a:ext uri="{FF2B5EF4-FFF2-40B4-BE49-F238E27FC236}">
                <a16:creationId xmlns:a16="http://schemas.microsoft.com/office/drawing/2014/main" id="{A808ABBD-6811-1BDE-1FDF-AB25018BAD30}"/>
              </a:ext>
            </a:extLst>
          </p:cNvPr>
          <p:cNvSpPr>
            <a:spLocks/>
          </p:cNvSpPr>
          <p:nvPr/>
        </p:nvSpPr>
        <p:spPr bwMode="auto">
          <a:xfrm>
            <a:off x="3810000" y="1524000"/>
            <a:ext cx="1143000" cy="914400"/>
          </a:xfrm>
          <a:custGeom>
            <a:avLst/>
            <a:gdLst>
              <a:gd name="T0" fmla="*/ 2147483646 w 1104"/>
              <a:gd name="T1" fmla="*/ 2147483646 h 576"/>
              <a:gd name="T2" fmla="*/ 2147483646 w 1104"/>
              <a:gd name="T3" fmla="*/ 2147483646 h 576"/>
              <a:gd name="T4" fmla="*/ 0 w 1104"/>
              <a:gd name="T5" fmla="*/ 2147483646 h 576"/>
              <a:gd name="T6" fmla="*/ 0 w 1104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576">
                <a:moveTo>
                  <a:pt x="1104" y="576"/>
                </a:moveTo>
                <a:lnTo>
                  <a:pt x="1104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76200" cmpd="sng">
            <a:solidFill>
              <a:srgbClr val="27007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707" name="Text Box 115">
            <a:extLst>
              <a:ext uri="{FF2B5EF4-FFF2-40B4-BE49-F238E27FC236}">
                <a16:creationId xmlns:a16="http://schemas.microsoft.com/office/drawing/2014/main" id="{9387C836-6F9E-ECCA-BF77-94F78170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25" y="5729288"/>
            <a:ext cx="22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/>
              <a:t>1</a:t>
            </a:r>
          </a:p>
        </p:txBody>
      </p:sp>
      <p:sp>
        <p:nvSpPr>
          <p:cNvPr id="1646708" name="Freeform 116">
            <a:extLst>
              <a:ext uri="{FF2B5EF4-FFF2-40B4-BE49-F238E27FC236}">
                <a16:creationId xmlns:a16="http://schemas.microsoft.com/office/drawing/2014/main" id="{FC83EDEC-CA8D-B41D-38FA-9E52A8B64566}"/>
              </a:ext>
            </a:extLst>
          </p:cNvPr>
          <p:cNvSpPr>
            <a:spLocks/>
          </p:cNvSpPr>
          <p:nvPr/>
        </p:nvSpPr>
        <p:spPr bwMode="auto">
          <a:xfrm>
            <a:off x="6858000" y="3657600"/>
            <a:ext cx="685800" cy="2057400"/>
          </a:xfrm>
          <a:custGeom>
            <a:avLst/>
            <a:gdLst>
              <a:gd name="T0" fmla="*/ 0 w 600"/>
              <a:gd name="T1" fmla="*/ 2147483646 h 1296"/>
              <a:gd name="T2" fmla="*/ 2147483646 w 600"/>
              <a:gd name="T3" fmla="*/ 2147483646 h 1296"/>
              <a:gd name="T4" fmla="*/ 2147483646 w 600"/>
              <a:gd name="T5" fmla="*/ 2147483646 h 1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00" h="1296">
                <a:moveTo>
                  <a:pt x="0" y="144"/>
                </a:moveTo>
                <a:cubicBezTo>
                  <a:pt x="228" y="72"/>
                  <a:pt x="456" y="0"/>
                  <a:pt x="528" y="192"/>
                </a:cubicBezTo>
                <a:cubicBezTo>
                  <a:pt x="600" y="384"/>
                  <a:pt x="516" y="840"/>
                  <a:pt x="432" y="1296"/>
                </a:cubicBezTo>
              </a:path>
            </a:pathLst>
          </a:custGeom>
          <a:noFill/>
          <a:ln w="762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709" name="Oval 117">
            <a:extLst>
              <a:ext uri="{FF2B5EF4-FFF2-40B4-BE49-F238E27FC236}">
                <a16:creationId xmlns:a16="http://schemas.microsoft.com/office/drawing/2014/main" id="{FC235491-9C9B-202D-C164-BCC6C3622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43288"/>
            <a:ext cx="1219200" cy="533400"/>
          </a:xfrm>
          <a:prstGeom prst="ellipse">
            <a:avLst/>
          </a:prstGeom>
          <a:noFill/>
          <a:ln w="38100">
            <a:solidFill>
              <a:srgbClr val="FA061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646717" name="Text Box 125">
            <a:extLst>
              <a:ext uri="{FF2B5EF4-FFF2-40B4-BE49-F238E27FC236}">
                <a16:creationId xmlns:a16="http://schemas.microsoft.com/office/drawing/2014/main" id="{7249827D-CBE6-279B-5E54-D01FF2F18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5715000"/>
            <a:ext cx="22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/>
              <a:t>4</a:t>
            </a:r>
          </a:p>
        </p:txBody>
      </p:sp>
      <p:sp>
        <p:nvSpPr>
          <p:cNvPr id="1646718" name="Freeform 126">
            <a:extLst>
              <a:ext uri="{FF2B5EF4-FFF2-40B4-BE49-F238E27FC236}">
                <a16:creationId xmlns:a16="http://schemas.microsoft.com/office/drawing/2014/main" id="{20B36F62-7350-32D3-E578-5B057B4BE29C}"/>
              </a:ext>
            </a:extLst>
          </p:cNvPr>
          <p:cNvSpPr>
            <a:spLocks/>
          </p:cNvSpPr>
          <p:nvPr/>
        </p:nvSpPr>
        <p:spPr bwMode="auto">
          <a:xfrm>
            <a:off x="6858000" y="3581400"/>
            <a:ext cx="1473200" cy="2133600"/>
          </a:xfrm>
          <a:custGeom>
            <a:avLst/>
            <a:gdLst>
              <a:gd name="T0" fmla="*/ 0 w 600"/>
              <a:gd name="T1" fmla="*/ 2147483646 h 1296"/>
              <a:gd name="T2" fmla="*/ 2147483646 w 600"/>
              <a:gd name="T3" fmla="*/ 2147483646 h 1296"/>
              <a:gd name="T4" fmla="*/ 2147483646 w 600"/>
              <a:gd name="T5" fmla="*/ 2147483646 h 1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00" h="1296">
                <a:moveTo>
                  <a:pt x="0" y="144"/>
                </a:moveTo>
                <a:cubicBezTo>
                  <a:pt x="228" y="72"/>
                  <a:pt x="456" y="0"/>
                  <a:pt x="528" y="192"/>
                </a:cubicBezTo>
                <a:cubicBezTo>
                  <a:pt x="600" y="384"/>
                  <a:pt x="516" y="840"/>
                  <a:pt x="432" y="1296"/>
                </a:cubicBezTo>
              </a:path>
            </a:pathLst>
          </a:custGeom>
          <a:noFill/>
          <a:ln w="762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719" name="Oval 127">
            <a:extLst>
              <a:ext uri="{FF2B5EF4-FFF2-40B4-BE49-F238E27FC236}">
                <a16:creationId xmlns:a16="http://schemas.microsoft.com/office/drawing/2014/main" id="{49F62847-A037-7995-D8FE-5DE1E81EA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4495800"/>
            <a:ext cx="1219200" cy="533400"/>
          </a:xfrm>
          <a:prstGeom prst="ellipse">
            <a:avLst/>
          </a:prstGeom>
          <a:noFill/>
          <a:ln w="38100">
            <a:solidFill>
              <a:srgbClr val="FA061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646727" name="Freeform 135">
            <a:extLst>
              <a:ext uri="{FF2B5EF4-FFF2-40B4-BE49-F238E27FC236}">
                <a16:creationId xmlns:a16="http://schemas.microsoft.com/office/drawing/2014/main" id="{CF7BA96D-467B-5A69-4FDF-2CB4D8F4FF2F}"/>
              </a:ext>
            </a:extLst>
          </p:cNvPr>
          <p:cNvSpPr>
            <a:spLocks/>
          </p:cNvSpPr>
          <p:nvPr/>
        </p:nvSpPr>
        <p:spPr bwMode="auto">
          <a:xfrm>
            <a:off x="4267200" y="1524000"/>
            <a:ext cx="685800" cy="914400"/>
          </a:xfrm>
          <a:custGeom>
            <a:avLst/>
            <a:gdLst>
              <a:gd name="T0" fmla="*/ 2147483646 w 1104"/>
              <a:gd name="T1" fmla="*/ 2147483646 h 576"/>
              <a:gd name="T2" fmla="*/ 2147483646 w 1104"/>
              <a:gd name="T3" fmla="*/ 2147483646 h 576"/>
              <a:gd name="T4" fmla="*/ 0 w 1104"/>
              <a:gd name="T5" fmla="*/ 2147483646 h 576"/>
              <a:gd name="T6" fmla="*/ 0 w 1104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576">
                <a:moveTo>
                  <a:pt x="1104" y="576"/>
                </a:moveTo>
                <a:lnTo>
                  <a:pt x="1104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76200" cmpd="sng">
            <a:solidFill>
              <a:srgbClr val="27007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46730" name="Group 138">
            <a:extLst>
              <a:ext uri="{FF2B5EF4-FFF2-40B4-BE49-F238E27FC236}">
                <a16:creationId xmlns:a16="http://schemas.microsoft.com/office/drawing/2014/main" id="{B75B75D7-0606-6C18-10B9-9694E256F82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40100"/>
            <a:ext cx="609600" cy="2955925"/>
            <a:chOff x="1344" y="2265"/>
            <a:chExt cx="384" cy="1862"/>
          </a:xfrm>
        </p:grpSpPr>
        <p:sp>
          <p:nvSpPr>
            <p:cNvPr id="106625" name="Text Box 139">
              <a:extLst>
                <a:ext uri="{FF2B5EF4-FFF2-40B4-BE49-F238E27FC236}">
                  <a16:creationId xmlns:a16="http://schemas.microsoft.com/office/drawing/2014/main" id="{BEBA1C8C-E293-E6F8-0020-9A7B8FA15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26" name="Text Box 140">
              <a:extLst>
                <a:ext uri="{FF2B5EF4-FFF2-40B4-BE49-F238E27FC236}">
                  <a16:creationId xmlns:a16="http://schemas.microsoft.com/office/drawing/2014/main" id="{E46A9BE3-9740-809F-F1C2-C3636265E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27" name="Text Box 141">
              <a:extLst>
                <a:ext uri="{FF2B5EF4-FFF2-40B4-BE49-F238E27FC236}">
                  <a16:creationId xmlns:a16="http://schemas.microsoft.com/office/drawing/2014/main" id="{796C7413-A656-2A6C-7D06-EA08B37B1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28" name="Text Box 142">
              <a:extLst>
                <a:ext uri="{FF2B5EF4-FFF2-40B4-BE49-F238E27FC236}">
                  <a16:creationId xmlns:a16="http://schemas.microsoft.com/office/drawing/2014/main" id="{1294660E-5B6B-D876-2DA1-6D32E8D43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29" name="Text Box 143">
              <a:extLst>
                <a:ext uri="{FF2B5EF4-FFF2-40B4-BE49-F238E27FC236}">
                  <a16:creationId xmlns:a16="http://schemas.microsoft.com/office/drawing/2014/main" id="{E8A34AB8-9521-AFC9-8590-79BB0CF3D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</p:grpSp>
      <p:grpSp>
        <p:nvGrpSpPr>
          <p:cNvPr id="1646736" name="Group 144">
            <a:extLst>
              <a:ext uri="{FF2B5EF4-FFF2-40B4-BE49-F238E27FC236}">
                <a16:creationId xmlns:a16="http://schemas.microsoft.com/office/drawing/2014/main" id="{1351EBAE-088A-8D4E-580D-3FC87D5E14C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620" name="Text Box 145">
              <a:extLst>
                <a:ext uri="{FF2B5EF4-FFF2-40B4-BE49-F238E27FC236}">
                  <a16:creationId xmlns:a16="http://schemas.microsoft.com/office/drawing/2014/main" id="{8B171EE7-F505-EF41-902E-84EE449FF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21" name="Text Box 146">
              <a:extLst>
                <a:ext uri="{FF2B5EF4-FFF2-40B4-BE49-F238E27FC236}">
                  <a16:creationId xmlns:a16="http://schemas.microsoft.com/office/drawing/2014/main" id="{6C7DEE64-1B80-FD22-3145-5529E8593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22" name="Text Box 147">
              <a:extLst>
                <a:ext uri="{FF2B5EF4-FFF2-40B4-BE49-F238E27FC236}">
                  <a16:creationId xmlns:a16="http://schemas.microsoft.com/office/drawing/2014/main" id="{DE00352C-BA42-FD6E-B0EA-7364E2CB0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  <p:sp>
          <p:nvSpPr>
            <p:cNvPr id="106623" name="Text Box 148">
              <a:extLst>
                <a:ext uri="{FF2B5EF4-FFF2-40B4-BE49-F238E27FC236}">
                  <a16:creationId xmlns:a16="http://schemas.microsoft.com/office/drawing/2014/main" id="{979CB8F2-981D-A00D-B6A2-B424FCF7C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24" name="Text Box 149">
              <a:extLst>
                <a:ext uri="{FF2B5EF4-FFF2-40B4-BE49-F238E27FC236}">
                  <a16:creationId xmlns:a16="http://schemas.microsoft.com/office/drawing/2014/main" id="{91D42E3D-922F-7884-BFE5-96EE71A2D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b</a:t>
              </a:r>
            </a:p>
          </p:txBody>
        </p:sp>
      </p:grpSp>
      <p:grpSp>
        <p:nvGrpSpPr>
          <p:cNvPr id="1646742" name="Group 150">
            <a:extLst>
              <a:ext uri="{FF2B5EF4-FFF2-40B4-BE49-F238E27FC236}">
                <a16:creationId xmlns:a16="http://schemas.microsoft.com/office/drawing/2014/main" id="{8728E630-A35E-731A-F56A-712F48F73357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615" name="Text Box 151">
              <a:extLst>
                <a:ext uri="{FF2B5EF4-FFF2-40B4-BE49-F238E27FC236}">
                  <a16:creationId xmlns:a16="http://schemas.microsoft.com/office/drawing/2014/main" id="{3A364A2D-B4A4-EFE1-30FF-841B54FBF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16" name="Text Box 152">
              <a:extLst>
                <a:ext uri="{FF2B5EF4-FFF2-40B4-BE49-F238E27FC236}">
                  <a16:creationId xmlns:a16="http://schemas.microsoft.com/office/drawing/2014/main" id="{BC670A4F-45F0-0DDD-DDA8-330CC37ED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17" name="Text Box 153">
              <a:extLst>
                <a:ext uri="{FF2B5EF4-FFF2-40B4-BE49-F238E27FC236}">
                  <a16:creationId xmlns:a16="http://schemas.microsoft.com/office/drawing/2014/main" id="{3EC69277-0442-F84A-31B5-4964681A6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18" name="Text Box 154">
              <a:extLst>
                <a:ext uri="{FF2B5EF4-FFF2-40B4-BE49-F238E27FC236}">
                  <a16:creationId xmlns:a16="http://schemas.microsoft.com/office/drawing/2014/main" id="{8D9084B6-B36F-14FE-63FB-89CBB28A0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  <p:sp>
          <p:nvSpPr>
            <p:cNvPr id="106619" name="Text Box 155">
              <a:extLst>
                <a:ext uri="{FF2B5EF4-FFF2-40B4-BE49-F238E27FC236}">
                  <a16:creationId xmlns:a16="http://schemas.microsoft.com/office/drawing/2014/main" id="{A7FCBBEA-68BE-0591-04EE-3CF3F8FBB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</p:grpSp>
      <p:sp>
        <p:nvSpPr>
          <p:cNvPr id="1646748" name="Oval 156">
            <a:extLst>
              <a:ext uri="{FF2B5EF4-FFF2-40B4-BE49-F238E27FC236}">
                <a16:creationId xmlns:a16="http://schemas.microsoft.com/office/drawing/2014/main" id="{4FDC398F-3222-7974-43CB-6B177FD19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938463"/>
            <a:ext cx="1219200" cy="533400"/>
          </a:xfrm>
          <a:prstGeom prst="ellipse">
            <a:avLst/>
          </a:prstGeom>
          <a:noFill/>
          <a:ln w="38100">
            <a:solidFill>
              <a:srgbClr val="FA061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grpSp>
        <p:nvGrpSpPr>
          <p:cNvPr id="1646749" name="Group 157">
            <a:extLst>
              <a:ext uri="{FF2B5EF4-FFF2-40B4-BE49-F238E27FC236}">
                <a16:creationId xmlns:a16="http://schemas.microsoft.com/office/drawing/2014/main" id="{79180D0B-A686-3330-A49C-8EEB9EB1D9E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610" name="Text Box 158">
              <a:extLst>
                <a:ext uri="{FF2B5EF4-FFF2-40B4-BE49-F238E27FC236}">
                  <a16:creationId xmlns:a16="http://schemas.microsoft.com/office/drawing/2014/main" id="{D8654164-70CC-E9B4-BBF7-8FA13ACED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11" name="Text Box 159">
              <a:extLst>
                <a:ext uri="{FF2B5EF4-FFF2-40B4-BE49-F238E27FC236}">
                  <a16:creationId xmlns:a16="http://schemas.microsoft.com/office/drawing/2014/main" id="{EFA53C9D-5504-3282-8442-554208649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12" name="Text Box 160">
              <a:extLst>
                <a:ext uri="{FF2B5EF4-FFF2-40B4-BE49-F238E27FC236}">
                  <a16:creationId xmlns:a16="http://schemas.microsoft.com/office/drawing/2014/main" id="{1A80835D-2F8B-83BE-F2A1-52F0E52A4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13" name="Text Box 161">
              <a:extLst>
                <a:ext uri="{FF2B5EF4-FFF2-40B4-BE49-F238E27FC236}">
                  <a16:creationId xmlns:a16="http://schemas.microsoft.com/office/drawing/2014/main" id="{4172E272-48CB-E2F5-7A62-8B4B104B8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  <p:sp>
          <p:nvSpPr>
            <p:cNvPr id="106614" name="Text Box 162">
              <a:extLst>
                <a:ext uri="{FF2B5EF4-FFF2-40B4-BE49-F238E27FC236}">
                  <a16:creationId xmlns:a16="http://schemas.microsoft.com/office/drawing/2014/main" id="{F04F39C6-3D65-184A-F40F-ED877B802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b</a:t>
              </a:r>
            </a:p>
          </p:txBody>
        </p:sp>
      </p:grpSp>
      <p:sp>
        <p:nvSpPr>
          <p:cNvPr id="1646755" name="Text Box 163">
            <a:extLst>
              <a:ext uri="{FF2B5EF4-FFF2-40B4-BE49-F238E27FC236}">
                <a16:creationId xmlns:a16="http://schemas.microsoft.com/office/drawing/2014/main" id="{4B3CB702-F47A-1FFC-A1B0-A41223E15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825" y="5715000"/>
            <a:ext cx="22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/>
              <a:t>2</a:t>
            </a:r>
          </a:p>
        </p:txBody>
      </p:sp>
      <p:grpSp>
        <p:nvGrpSpPr>
          <p:cNvPr id="1646757" name="Group 165">
            <a:extLst>
              <a:ext uri="{FF2B5EF4-FFF2-40B4-BE49-F238E27FC236}">
                <a16:creationId xmlns:a16="http://schemas.microsoft.com/office/drawing/2014/main" id="{3AACE8CE-B20A-1B80-1EE4-954ECCC685F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605" name="Text Box 166">
              <a:extLst>
                <a:ext uri="{FF2B5EF4-FFF2-40B4-BE49-F238E27FC236}">
                  <a16:creationId xmlns:a16="http://schemas.microsoft.com/office/drawing/2014/main" id="{FA0533C1-82E0-175F-792E-757E88536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06" name="Text Box 167">
              <a:extLst>
                <a:ext uri="{FF2B5EF4-FFF2-40B4-BE49-F238E27FC236}">
                  <a16:creationId xmlns:a16="http://schemas.microsoft.com/office/drawing/2014/main" id="{E6151646-4D0A-581D-CF8C-A85533BA9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07" name="Text Box 168">
              <a:extLst>
                <a:ext uri="{FF2B5EF4-FFF2-40B4-BE49-F238E27FC236}">
                  <a16:creationId xmlns:a16="http://schemas.microsoft.com/office/drawing/2014/main" id="{55A280A0-BE6F-84FF-39D9-01350A81D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08" name="Text Box 169">
              <a:extLst>
                <a:ext uri="{FF2B5EF4-FFF2-40B4-BE49-F238E27FC236}">
                  <a16:creationId xmlns:a16="http://schemas.microsoft.com/office/drawing/2014/main" id="{D0571432-A9C0-0833-AFB5-21728B8A9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09" name="Text Box 170">
              <a:extLst>
                <a:ext uri="{FF2B5EF4-FFF2-40B4-BE49-F238E27FC236}">
                  <a16:creationId xmlns:a16="http://schemas.microsoft.com/office/drawing/2014/main" id="{10F69CA0-7FEF-2949-F3A3-B64DDC01D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</p:grpSp>
      <p:sp>
        <p:nvSpPr>
          <p:cNvPr id="1646763" name="Freeform 171">
            <a:extLst>
              <a:ext uri="{FF2B5EF4-FFF2-40B4-BE49-F238E27FC236}">
                <a16:creationId xmlns:a16="http://schemas.microsoft.com/office/drawing/2014/main" id="{E315445F-6C9D-B8FB-A513-E963C37F3D51}"/>
              </a:ext>
            </a:extLst>
          </p:cNvPr>
          <p:cNvSpPr>
            <a:spLocks/>
          </p:cNvSpPr>
          <p:nvPr/>
        </p:nvSpPr>
        <p:spPr bwMode="auto">
          <a:xfrm>
            <a:off x="4800600" y="1524000"/>
            <a:ext cx="152400" cy="914400"/>
          </a:xfrm>
          <a:custGeom>
            <a:avLst/>
            <a:gdLst>
              <a:gd name="T0" fmla="*/ 2147483646 w 1104"/>
              <a:gd name="T1" fmla="*/ 2147483646 h 576"/>
              <a:gd name="T2" fmla="*/ 2147483646 w 1104"/>
              <a:gd name="T3" fmla="*/ 2147483646 h 576"/>
              <a:gd name="T4" fmla="*/ 0 w 1104"/>
              <a:gd name="T5" fmla="*/ 2147483646 h 576"/>
              <a:gd name="T6" fmla="*/ 0 w 1104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576">
                <a:moveTo>
                  <a:pt x="1104" y="576"/>
                </a:moveTo>
                <a:lnTo>
                  <a:pt x="1104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76200" cmpd="sng">
            <a:solidFill>
              <a:srgbClr val="27007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764" name="Oval 172">
            <a:extLst>
              <a:ext uri="{FF2B5EF4-FFF2-40B4-BE49-F238E27FC236}">
                <a16:creationId xmlns:a16="http://schemas.microsoft.com/office/drawing/2014/main" id="{A885252B-B640-DEBE-B95A-D1CDCE4A3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490913"/>
            <a:ext cx="1219200" cy="533400"/>
          </a:xfrm>
          <a:prstGeom prst="ellipse">
            <a:avLst/>
          </a:prstGeom>
          <a:noFill/>
          <a:ln w="38100">
            <a:solidFill>
              <a:srgbClr val="FA061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grpSp>
        <p:nvGrpSpPr>
          <p:cNvPr id="1646765" name="Group 173">
            <a:extLst>
              <a:ext uri="{FF2B5EF4-FFF2-40B4-BE49-F238E27FC236}">
                <a16:creationId xmlns:a16="http://schemas.microsoft.com/office/drawing/2014/main" id="{C36247C9-579F-92A2-4678-8FAEFF8F6FDC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600" name="Text Box 174">
              <a:extLst>
                <a:ext uri="{FF2B5EF4-FFF2-40B4-BE49-F238E27FC236}">
                  <a16:creationId xmlns:a16="http://schemas.microsoft.com/office/drawing/2014/main" id="{0B33A7CB-5F20-8CE1-9CC4-78339F82E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01" name="Text Box 175">
              <a:extLst>
                <a:ext uri="{FF2B5EF4-FFF2-40B4-BE49-F238E27FC236}">
                  <a16:creationId xmlns:a16="http://schemas.microsoft.com/office/drawing/2014/main" id="{D1DBF8D5-EBE5-8DC3-B3AE-CF19FE108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602" name="Text Box 176">
              <a:extLst>
                <a:ext uri="{FF2B5EF4-FFF2-40B4-BE49-F238E27FC236}">
                  <a16:creationId xmlns:a16="http://schemas.microsoft.com/office/drawing/2014/main" id="{5B142B2B-F2D3-190C-195C-4F0113D19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603" name="Text Box 177">
              <a:extLst>
                <a:ext uri="{FF2B5EF4-FFF2-40B4-BE49-F238E27FC236}">
                  <a16:creationId xmlns:a16="http://schemas.microsoft.com/office/drawing/2014/main" id="{E42D3777-4843-ABFA-80D0-57DEFB865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  <p:sp>
          <p:nvSpPr>
            <p:cNvPr id="106604" name="Text Box 178">
              <a:extLst>
                <a:ext uri="{FF2B5EF4-FFF2-40B4-BE49-F238E27FC236}">
                  <a16:creationId xmlns:a16="http://schemas.microsoft.com/office/drawing/2014/main" id="{5630F4F4-2262-1D2F-FEFF-C13211381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a</a:t>
              </a:r>
            </a:p>
          </p:txBody>
        </p:sp>
      </p:grpSp>
      <p:sp>
        <p:nvSpPr>
          <p:cNvPr id="1646771" name="Text Box 179">
            <a:extLst>
              <a:ext uri="{FF2B5EF4-FFF2-40B4-BE49-F238E27FC236}">
                <a16:creationId xmlns:a16="http://schemas.microsoft.com/office/drawing/2014/main" id="{AC168FF2-CCAD-F0F1-D5A5-A179291E2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5288" y="5715000"/>
            <a:ext cx="22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/>
              <a:t>3</a:t>
            </a:r>
          </a:p>
        </p:txBody>
      </p:sp>
      <p:sp>
        <p:nvSpPr>
          <p:cNvPr id="1646772" name="Freeform 180">
            <a:extLst>
              <a:ext uri="{FF2B5EF4-FFF2-40B4-BE49-F238E27FC236}">
                <a16:creationId xmlns:a16="http://schemas.microsoft.com/office/drawing/2014/main" id="{257F34BE-61CE-CBA4-E44F-89D4D5C99AAD}"/>
              </a:ext>
            </a:extLst>
          </p:cNvPr>
          <p:cNvSpPr>
            <a:spLocks/>
          </p:cNvSpPr>
          <p:nvPr/>
        </p:nvSpPr>
        <p:spPr bwMode="auto">
          <a:xfrm>
            <a:off x="6858000" y="3581400"/>
            <a:ext cx="1820863" cy="2133600"/>
          </a:xfrm>
          <a:custGeom>
            <a:avLst/>
            <a:gdLst>
              <a:gd name="T0" fmla="*/ 0 w 600"/>
              <a:gd name="T1" fmla="*/ 2147483646 h 1296"/>
              <a:gd name="T2" fmla="*/ 2147483646 w 600"/>
              <a:gd name="T3" fmla="*/ 2147483646 h 1296"/>
              <a:gd name="T4" fmla="*/ 2147483646 w 600"/>
              <a:gd name="T5" fmla="*/ 2147483646 h 1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00" h="1296">
                <a:moveTo>
                  <a:pt x="0" y="144"/>
                </a:moveTo>
                <a:cubicBezTo>
                  <a:pt x="228" y="72"/>
                  <a:pt x="456" y="0"/>
                  <a:pt x="528" y="192"/>
                </a:cubicBezTo>
                <a:cubicBezTo>
                  <a:pt x="600" y="384"/>
                  <a:pt x="516" y="840"/>
                  <a:pt x="432" y="1296"/>
                </a:cubicBezTo>
              </a:path>
            </a:pathLst>
          </a:custGeom>
          <a:noFill/>
          <a:ln w="762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773" name="Freeform 181">
            <a:extLst>
              <a:ext uri="{FF2B5EF4-FFF2-40B4-BE49-F238E27FC236}">
                <a16:creationId xmlns:a16="http://schemas.microsoft.com/office/drawing/2014/main" id="{D5C29270-798E-D6FF-0C7C-E8010CAF9115}"/>
              </a:ext>
            </a:extLst>
          </p:cNvPr>
          <p:cNvSpPr>
            <a:spLocks/>
          </p:cNvSpPr>
          <p:nvPr/>
        </p:nvSpPr>
        <p:spPr bwMode="auto">
          <a:xfrm>
            <a:off x="6858000" y="3581400"/>
            <a:ext cx="2111375" cy="2133600"/>
          </a:xfrm>
          <a:custGeom>
            <a:avLst/>
            <a:gdLst>
              <a:gd name="T0" fmla="*/ 0 w 600"/>
              <a:gd name="T1" fmla="*/ 2147483646 h 1296"/>
              <a:gd name="T2" fmla="*/ 2147483646 w 600"/>
              <a:gd name="T3" fmla="*/ 2147483646 h 1296"/>
              <a:gd name="T4" fmla="*/ 2147483646 w 600"/>
              <a:gd name="T5" fmla="*/ 2147483646 h 1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00" h="1296">
                <a:moveTo>
                  <a:pt x="0" y="144"/>
                </a:moveTo>
                <a:cubicBezTo>
                  <a:pt x="228" y="72"/>
                  <a:pt x="456" y="0"/>
                  <a:pt x="528" y="192"/>
                </a:cubicBezTo>
                <a:cubicBezTo>
                  <a:pt x="600" y="384"/>
                  <a:pt x="516" y="840"/>
                  <a:pt x="432" y="1296"/>
                </a:cubicBezTo>
              </a:path>
            </a:pathLst>
          </a:custGeom>
          <a:noFill/>
          <a:ln w="762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46774" name="Group 182">
            <a:extLst>
              <a:ext uri="{FF2B5EF4-FFF2-40B4-BE49-F238E27FC236}">
                <a16:creationId xmlns:a16="http://schemas.microsoft.com/office/drawing/2014/main" id="{48DEC624-97C7-C351-A346-C96753A4AE0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595" name="Text Box 183">
              <a:extLst>
                <a:ext uri="{FF2B5EF4-FFF2-40B4-BE49-F238E27FC236}">
                  <a16:creationId xmlns:a16="http://schemas.microsoft.com/office/drawing/2014/main" id="{EBB5BDCA-C6D8-15A0-F5AA-C10696140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96" name="Text Box 184">
              <a:extLst>
                <a:ext uri="{FF2B5EF4-FFF2-40B4-BE49-F238E27FC236}">
                  <a16:creationId xmlns:a16="http://schemas.microsoft.com/office/drawing/2014/main" id="{08A9CACA-120F-1C52-9891-A421CEB0D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97" name="Text Box 185">
              <a:extLst>
                <a:ext uri="{FF2B5EF4-FFF2-40B4-BE49-F238E27FC236}">
                  <a16:creationId xmlns:a16="http://schemas.microsoft.com/office/drawing/2014/main" id="{B498B0EE-8661-D6E8-6B4C-FCF1D6C87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98" name="Text Box 186">
              <a:extLst>
                <a:ext uri="{FF2B5EF4-FFF2-40B4-BE49-F238E27FC236}">
                  <a16:creationId xmlns:a16="http://schemas.microsoft.com/office/drawing/2014/main" id="{C48176B2-0FE0-DE96-6A27-76ACB71A9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599" name="Text Box 187">
              <a:extLst>
                <a:ext uri="{FF2B5EF4-FFF2-40B4-BE49-F238E27FC236}">
                  <a16:creationId xmlns:a16="http://schemas.microsoft.com/office/drawing/2014/main" id="{240B89F4-B67F-3793-4624-BF18DA0E0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S</a:t>
              </a:r>
            </a:p>
          </p:txBody>
        </p:sp>
      </p:grpSp>
      <p:sp>
        <p:nvSpPr>
          <p:cNvPr id="1646780" name="Freeform 188">
            <a:extLst>
              <a:ext uri="{FF2B5EF4-FFF2-40B4-BE49-F238E27FC236}">
                <a16:creationId xmlns:a16="http://schemas.microsoft.com/office/drawing/2014/main" id="{DC11D835-9E39-6FE5-47DD-30069B455946}"/>
              </a:ext>
            </a:extLst>
          </p:cNvPr>
          <p:cNvSpPr>
            <a:spLocks/>
          </p:cNvSpPr>
          <p:nvPr/>
        </p:nvSpPr>
        <p:spPr bwMode="auto">
          <a:xfrm flipH="1">
            <a:off x="4953000" y="1524000"/>
            <a:ext cx="381000" cy="914400"/>
          </a:xfrm>
          <a:custGeom>
            <a:avLst/>
            <a:gdLst>
              <a:gd name="T0" fmla="*/ 2147483646 w 1104"/>
              <a:gd name="T1" fmla="*/ 2147483646 h 576"/>
              <a:gd name="T2" fmla="*/ 2147483646 w 1104"/>
              <a:gd name="T3" fmla="*/ 2147483646 h 576"/>
              <a:gd name="T4" fmla="*/ 0 w 1104"/>
              <a:gd name="T5" fmla="*/ 2147483646 h 576"/>
              <a:gd name="T6" fmla="*/ 0 w 1104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576">
                <a:moveTo>
                  <a:pt x="1104" y="576"/>
                </a:moveTo>
                <a:lnTo>
                  <a:pt x="1104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76200" cmpd="sng">
            <a:solidFill>
              <a:srgbClr val="27007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46781" name="Group 189">
            <a:extLst>
              <a:ext uri="{FF2B5EF4-FFF2-40B4-BE49-F238E27FC236}">
                <a16:creationId xmlns:a16="http://schemas.microsoft.com/office/drawing/2014/main" id="{9DD80794-982F-2B5A-EEB6-506D460D069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40100"/>
            <a:ext cx="609600" cy="2955925"/>
            <a:chOff x="1344" y="2265"/>
            <a:chExt cx="384" cy="1862"/>
          </a:xfrm>
        </p:grpSpPr>
        <p:sp>
          <p:nvSpPr>
            <p:cNvPr id="106590" name="Text Box 190">
              <a:extLst>
                <a:ext uri="{FF2B5EF4-FFF2-40B4-BE49-F238E27FC236}">
                  <a16:creationId xmlns:a16="http://schemas.microsoft.com/office/drawing/2014/main" id="{3F9A3E0E-01BF-50EA-A83C-B856203F9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91" name="Text Box 191">
              <a:extLst>
                <a:ext uri="{FF2B5EF4-FFF2-40B4-BE49-F238E27FC236}">
                  <a16:creationId xmlns:a16="http://schemas.microsoft.com/office/drawing/2014/main" id="{98AE2D2E-B66C-F870-D602-0A4CB43BD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92" name="Text Box 192">
              <a:extLst>
                <a:ext uri="{FF2B5EF4-FFF2-40B4-BE49-F238E27FC236}">
                  <a16:creationId xmlns:a16="http://schemas.microsoft.com/office/drawing/2014/main" id="{7D764FD8-0EB8-7B5B-317B-76026D0D7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93" name="Text Box 193">
              <a:extLst>
                <a:ext uri="{FF2B5EF4-FFF2-40B4-BE49-F238E27FC236}">
                  <a16:creationId xmlns:a16="http://schemas.microsoft.com/office/drawing/2014/main" id="{C1AB46C9-B5AC-766B-4C15-744728FA4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  <p:sp>
          <p:nvSpPr>
            <p:cNvPr id="106594" name="Text Box 194">
              <a:extLst>
                <a:ext uri="{FF2B5EF4-FFF2-40B4-BE49-F238E27FC236}">
                  <a16:creationId xmlns:a16="http://schemas.microsoft.com/office/drawing/2014/main" id="{EAE1615C-3DD4-5A36-9C1B-F2AE1F35D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b</a:t>
              </a:r>
            </a:p>
          </p:txBody>
        </p:sp>
      </p:grpSp>
      <p:sp>
        <p:nvSpPr>
          <p:cNvPr id="1646787" name="Text Box 195">
            <a:extLst>
              <a:ext uri="{FF2B5EF4-FFF2-40B4-BE49-F238E27FC236}">
                <a16:creationId xmlns:a16="http://schemas.microsoft.com/office/drawing/2014/main" id="{05BE3AB8-67CD-75A0-7805-FE8AAAE13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513" y="5700713"/>
            <a:ext cx="22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/>
              <a:t>2</a:t>
            </a:r>
          </a:p>
        </p:txBody>
      </p:sp>
      <p:sp>
        <p:nvSpPr>
          <p:cNvPr id="1646788" name="Freeform 196">
            <a:extLst>
              <a:ext uri="{FF2B5EF4-FFF2-40B4-BE49-F238E27FC236}">
                <a16:creationId xmlns:a16="http://schemas.microsoft.com/office/drawing/2014/main" id="{7D9E4566-0894-B935-0062-B028E1FF4349}"/>
              </a:ext>
            </a:extLst>
          </p:cNvPr>
          <p:cNvSpPr>
            <a:spLocks/>
          </p:cNvSpPr>
          <p:nvPr/>
        </p:nvSpPr>
        <p:spPr bwMode="auto">
          <a:xfrm>
            <a:off x="6858000" y="3581400"/>
            <a:ext cx="2366963" cy="2133600"/>
          </a:xfrm>
          <a:custGeom>
            <a:avLst/>
            <a:gdLst>
              <a:gd name="T0" fmla="*/ 0 w 600"/>
              <a:gd name="T1" fmla="*/ 2147483646 h 1296"/>
              <a:gd name="T2" fmla="*/ 2147483646 w 600"/>
              <a:gd name="T3" fmla="*/ 2147483646 h 1296"/>
              <a:gd name="T4" fmla="*/ 2147483646 w 600"/>
              <a:gd name="T5" fmla="*/ 2147483646 h 1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00" h="1296">
                <a:moveTo>
                  <a:pt x="0" y="144"/>
                </a:moveTo>
                <a:cubicBezTo>
                  <a:pt x="228" y="72"/>
                  <a:pt x="456" y="0"/>
                  <a:pt x="528" y="192"/>
                </a:cubicBezTo>
                <a:cubicBezTo>
                  <a:pt x="600" y="384"/>
                  <a:pt x="516" y="840"/>
                  <a:pt x="432" y="1296"/>
                </a:cubicBezTo>
              </a:path>
            </a:pathLst>
          </a:custGeom>
          <a:noFill/>
          <a:ln w="76200" cmpd="sng">
            <a:solidFill>
              <a:srgbClr val="3539EB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46789" name="Group 197">
            <a:extLst>
              <a:ext uri="{FF2B5EF4-FFF2-40B4-BE49-F238E27FC236}">
                <a16:creationId xmlns:a16="http://schemas.microsoft.com/office/drawing/2014/main" id="{C7E11081-4514-37D5-456A-EE81496DE0D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338513"/>
            <a:ext cx="609600" cy="2955925"/>
            <a:chOff x="1344" y="2265"/>
            <a:chExt cx="384" cy="1862"/>
          </a:xfrm>
        </p:grpSpPr>
        <p:sp>
          <p:nvSpPr>
            <p:cNvPr id="106585" name="Text Box 198">
              <a:extLst>
                <a:ext uri="{FF2B5EF4-FFF2-40B4-BE49-F238E27FC236}">
                  <a16:creationId xmlns:a16="http://schemas.microsoft.com/office/drawing/2014/main" id="{76967088-F7B2-EF48-FCF7-87566BD96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756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86" name="Text Box 199">
              <a:extLst>
                <a:ext uri="{FF2B5EF4-FFF2-40B4-BE49-F238E27FC236}">
                  <a16:creationId xmlns:a16="http://schemas.microsoft.com/office/drawing/2014/main" id="{8CE7C5E8-5218-DDFB-482A-6ACE155E7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381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87" name="Text Box 200">
              <a:extLst>
                <a:ext uri="{FF2B5EF4-FFF2-40B4-BE49-F238E27FC236}">
                  <a16:creationId xmlns:a16="http://schemas.microsoft.com/office/drawing/2014/main" id="{3F56E25B-36C0-D3E9-AACA-CA5AE1F05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09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88" name="Text Box 201">
              <a:extLst>
                <a:ext uri="{FF2B5EF4-FFF2-40B4-BE49-F238E27FC236}">
                  <a16:creationId xmlns:a16="http://schemas.microsoft.com/office/drawing/2014/main" id="{CBA3FF36-39F9-88B2-9EA8-3CFC44195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37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fr-FR" altLang="en-US"/>
            </a:p>
          </p:txBody>
        </p:sp>
        <p:sp>
          <p:nvSpPr>
            <p:cNvPr id="106589" name="Text Box 202">
              <a:extLst>
                <a:ext uri="{FF2B5EF4-FFF2-40B4-BE49-F238E27FC236}">
                  <a16:creationId xmlns:a16="http://schemas.microsoft.com/office/drawing/2014/main" id="{BFAB33B2-6838-2569-3420-FE872754C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65"/>
              <a:ext cx="384" cy="3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3539E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#</a:t>
              </a:r>
            </a:p>
          </p:txBody>
        </p:sp>
      </p:grpSp>
      <p:sp>
        <p:nvSpPr>
          <p:cNvPr id="1646795" name="Freeform 203">
            <a:extLst>
              <a:ext uri="{FF2B5EF4-FFF2-40B4-BE49-F238E27FC236}">
                <a16:creationId xmlns:a16="http://schemas.microsoft.com/office/drawing/2014/main" id="{D65CD703-697E-E444-95BB-315698FE23FE}"/>
              </a:ext>
            </a:extLst>
          </p:cNvPr>
          <p:cNvSpPr>
            <a:spLocks/>
          </p:cNvSpPr>
          <p:nvPr/>
        </p:nvSpPr>
        <p:spPr bwMode="auto">
          <a:xfrm flipH="1">
            <a:off x="4953000" y="1524000"/>
            <a:ext cx="914400" cy="914400"/>
          </a:xfrm>
          <a:custGeom>
            <a:avLst/>
            <a:gdLst>
              <a:gd name="T0" fmla="*/ 2147483646 w 1104"/>
              <a:gd name="T1" fmla="*/ 2147483646 h 576"/>
              <a:gd name="T2" fmla="*/ 2147483646 w 1104"/>
              <a:gd name="T3" fmla="*/ 2147483646 h 576"/>
              <a:gd name="T4" fmla="*/ 0 w 1104"/>
              <a:gd name="T5" fmla="*/ 2147483646 h 576"/>
              <a:gd name="T6" fmla="*/ 0 w 1104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4" h="576">
                <a:moveTo>
                  <a:pt x="1104" y="576"/>
                </a:moveTo>
                <a:lnTo>
                  <a:pt x="1104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76200" cmpd="sng">
            <a:solidFill>
              <a:srgbClr val="27007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6797" name="Text Box 205">
            <a:extLst>
              <a:ext uri="{FF2B5EF4-FFF2-40B4-BE49-F238E27FC236}">
                <a16:creationId xmlns:a16="http://schemas.microsoft.com/office/drawing/2014/main" id="{29D59A79-23D1-2BD0-35DA-D5B445AF4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91200"/>
            <a:ext cx="4953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/>
              <a:t>Xâu abbab được đoán nhận với các sản xuất 14232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6466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4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1646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4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4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1646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4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646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646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64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64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1646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64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1646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5" dur="500"/>
                                        <p:tgtEl>
                                          <p:spTgt spid="1646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164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64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64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1646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646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7" dur="500"/>
                                        <p:tgtEl>
                                          <p:spTgt spid="1646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164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164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1646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64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3" dur="500"/>
                                        <p:tgtEl>
                                          <p:spTgt spid="1646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164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64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500"/>
                                        <p:tgtEl>
                                          <p:spTgt spid="1646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164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164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6796" grpId="0" animBg="1"/>
      <p:bldP spid="1646689" grpId="0" animBg="1"/>
      <p:bldP spid="1646689" grpId="1" animBg="1"/>
      <p:bldP spid="1646698" grpId="0" animBg="1"/>
      <p:bldP spid="1646698" grpId="1" animBg="1"/>
      <p:bldP spid="1646698" grpId="2" animBg="1"/>
      <p:bldP spid="1646698" grpId="3" animBg="1"/>
      <p:bldP spid="1646709" grpId="0" animBg="1"/>
      <p:bldP spid="1646709" grpId="1" animBg="1"/>
      <p:bldP spid="1646717" grpId="0"/>
      <p:bldP spid="1646719" grpId="0" animBg="1"/>
      <p:bldP spid="1646719" grpId="1" animBg="1"/>
      <p:bldP spid="1646719" grpId="2" animBg="1"/>
      <p:bldP spid="1646719" grpId="3" animBg="1"/>
      <p:bldP spid="1646719" grpId="4" animBg="1"/>
      <p:bldP spid="1646719" grpId="5" animBg="1"/>
      <p:bldP spid="1646748" grpId="0" animBg="1"/>
      <p:bldP spid="1646748" grpId="1" animBg="1"/>
      <p:bldP spid="1646748" grpId="2" animBg="1"/>
      <p:bldP spid="1646748" grpId="3" animBg="1"/>
      <p:bldP spid="1646755" grpId="0"/>
      <p:bldP spid="1646764" grpId="0" animBg="1"/>
      <p:bldP spid="1646764" grpId="1" animBg="1"/>
      <p:bldP spid="1646771" grpId="0"/>
      <p:bldP spid="1646787" grpId="0"/>
      <p:bldP spid="1646797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4">
            <a:extLst>
              <a:ext uri="{FF2B5EF4-FFF2-40B4-BE49-F238E27FC236}">
                <a16:creationId xmlns:a16="http://schemas.microsoft.com/office/drawing/2014/main" id="{4294F4A9-94B9-9650-A521-8A5ABFD87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A6983D-1067-411A-AC70-99E359D9FDD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4CB9FD02-EB43-A7E0-426A-02DD6A03C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xem trước </a:t>
            </a:r>
            <a:r>
              <a:rPr lang="en-US" altLang="en-US">
                <a:sym typeface="Symbol" panose="05050102010706020507" pitchFamily="18" charset="2"/>
              </a:rPr>
              <a:t>Hình trạng thuật toán</a:t>
            </a:r>
            <a:endParaRPr lang="el-GR" altLang="en-US">
              <a:sym typeface="Symbol" panose="05050102010706020507" pitchFamily="18" charset="2"/>
            </a:endParaRPr>
          </a:p>
        </p:txBody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CFDD6680-3475-2093-BB24-51655F305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638800"/>
          </a:xfrm>
        </p:spPr>
        <p:txBody>
          <a:bodyPr/>
          <a:lstStyle/>
          <a:p>
            <a:pPr marL="406400" indent="-406400" eaLnBrk="1" hangingPunct="1">
              <a:lnSpc>
                <a:spcPct val="105000"/>
              </a:lnSpc>
            </a:pPr>
            <a:r>
              <a:rPr lang="en-US" altLang="en-US">
                <a:sym typeface="Symbol" panose="05050102010706020507" pitchFamily="18" charset="2"/>
              </a:rPr>
              <a:t>Hình trạng của thuật toán là bộ 3 (x#,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#,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1030288" lvl="1" indent="-347663"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x V</a:t>
            </a:r>
            <a:r>
              <a:rPr lang="en-US" altLang="en-US" baseline="-25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aseline="3000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phần chưa xét của xâu vào</a:t>
            </a:r>
          </a:p>
          <a:p>
            <a:pPr marL="1373188" lvl="2" eaLnBrk="1" hangingPunct="1">
              <a:lnSpc>
                <a:spcPct val="105000"/>
              </a:lnSpc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ký hiệu đánh dấu kết thúc xâu cần phân tích</a:t>
            </a:r>
          </a:p>
          <a:p>
            <a:pPr marL="1030288" lvl="1" indent="-347663"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 V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nội dung danh sách đẩy</a:t>
            </a:r>
          </a:p>
          <a:p>
            <a:pPr marL="1373188" lvl="2" eaLnBrk="1" hangingPunct="1">
              <a:lnSpc>
                <a:spcPct val="105000"/>
              </a:lnSpc>
            </a:pPr>
            <a:r>
              <a:rPr lang="en-US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ký hiệu nằm dưới của danh sách đẩy. # V</a:t>
            </a:r>
          </a:p>
          <a:p>
            <a:pPr marL="1030288" lvl="1" indent="-347663"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nội dung của xâu ra</a:t>
            </a:r>
          </a:p>
          <a:p>
            <a:pPr marL="406400" indent="-406400"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Hình trạng ban đầu  </a:t>
            </a:r>
            <a:r>
              <a:rPr lang="en-US" altLang="en-US" b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(#, S#, </a:t>
            </a:r>
            <a:r>
              <a:rPr lang="el-GR" altLang="en-US" b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b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1030288" lvl="1" indent="-347663"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 là xâu cần phân tích</a:t>
            </a:r>
          </a:p>
          <a:p>
            <a:pPr marL="406400" indent="-406400" eaLnBrk="1" hangingPunct="1">
              <a:lnSpc>
                <a:spcPct val="105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Hình trạng cuối nếu thành công </a:t>
            </a:r>
            <a:r>
              <a:rPr lang="en-US" altLang="en-US" b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(#, #, </a:t>
            </a:r>
            <a:r>
              <a:rPr lang="el-GR" altLang="en-US" b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n-US" b="1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1030288" lvl="1" indent="-347663" eaLnBrk="1" hangingPunct="1">
              <a:lnSpc>
                <a:spcPct val="105000"/>
              </a:lnSpc>
            </a:pP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là danh sách các sản xuất đã sử dụng</a:t>
            </a:r>
          </a:p>
        </p:txBody>
      </p:sp>
      <p:sp>
        <p:nvSpPr>
          <p:cNvPr id="107525" name="Text Box 4">
            <a:extLst>
              <a:ext uri="{FF2B5EF4-FFF2-40B4-BE49-F238E27FC236}">
                <a16:creationId xmlns:a16="http://schemas.microsoft.com/office/drawing/2014/main" id="{D4EE78A4-F525-BCED-9F63-CA3D3CF2C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4">
            <a:extLst>
              <a:ext uri="{FF2B5EF4-FFF2-40B4-BE49-F238E27FC236}">
                <a16:creationId xmlns:a16="http://schemas.microsoft.com/office/drawing/2014/main" id="{578A0511-ABE5-F2F9-8315-089FF204A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C7D9A6-2C2D-4711-AF32-F2B967FF986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7C54162-DC09-904F-C315-716916C3E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xem trước </a:t>
            </a:r>
            <a:r>
              <a:rPr lang="en-US" altLang="en-US">
                <a:sym typeface="Symbol" panose="05050102010706020507" pitchFamily="18" charset="2"/>
              </a:rPr>
              <a:t> Ví dụ</a:t>
            </a:r>
            <a:endParaRPr lang="el-GR" altLang="en-US">
              <a:sym typeface="Symbol" panose="05050102010706020507" pitchFamily="18" charset="2"/>
            </a:endParaRPr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41C7E8BC-8166-09DB-9C31-3A187B6F03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24900" cy="5105400"/>
          </a:xfrm>
        </p:spPr>
        <p:txBody>
          <a:bodyPr/>
          <a:lstStyle/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Xét xâu  ≡ abbab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bbab#,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 	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	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bbab#,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AS#,1)	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bab#,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S#,1)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	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bab#,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SAS#,14)	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AS#,14)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	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AS#,142)	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S#,142)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	 (</a:t>
            </a:r>
            <a:r>
              <a:rPr lang="en-US" altLang="en-US" sz="2800" b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b#,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S#,1423)	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#,1423)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	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#,14232) 	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8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,14232)</a:t>
            </a:r>
          </a:p>
          <a:p>
            <a:pPr marL="406400" indent="-406400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	  Nhận</a:t>
            </a:r>
          </a:p>
        </p:txBody>
      </p:sp>
      <p:sp>
        <p:nvSpPr>
          <p:cNvPr id="108549" name="Text Box 4">
            <a:extLst>
              <a:ext uri="{FF2B5EF4-FFF2-40B4-BE49-F238E27FC236}">
                <a16:creationId xmlns:a16="http://schemas.microsoft.com/office/drawing/2014/main" id="{4919E380-62FF-7684-26BF-47317DD54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4">
            <a:extLst>
              <a:ext uri="{FF2B5EF4-FFF2-40B4-BE49-F238E27FC236}">
                <a16:creationId xmlns:a16="http://schemas.microsoft.com/office/drawing/2014/main" id="{42B41EAB-3853-DE4B-04F3-9C8F94C1AF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F5BB33-8333-42C0-A4D9-D10AD99A64B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83D652FA-03E9-F936-3172-B2D113DC5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Phân tích xem trước </a:t>
            </a:r>
            <a:r>
              <a:rPr lang="en-US" altLang="en-US">
                <a:sym typeface="Symbol" panose="05050102010706020507" pitchFamily="18" charset="2"/>
              </a:rPr>
              <a:t> Ví dụ 2</a:t>
            </a:r>
            <a:endParaRPr lang="el-GR" altLang="en-US">
              <a:sym typeface="Symbol" panose="05050102010706020507" pitchFamily="18" charset="2"/>
            </a:endParaRPr>
          </a:p>
        </p:txBody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1497E535-3380-A173-52D5-DD95B4968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2933700" cy="5638800"/>
          </a:xfrm>
        </p:spPr>
        <p:txBody>
          <a:bodyPr/>
          <a:lstStyle/>
          <a:p>
            <a:pPr marL="609600" indent="-609600" eaLnBrk="1" hangingPunct="1">
              <a:lnSpc>
                <a:spcPct val="105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Cho văn phạm</a:t>
            </a: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SBA</a:t>
            </a: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A+BA</a:t>
            </a: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 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 DC</a:t>
            </a: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 *DC</a:t>
            </a: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 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D  (S)</a:t>
            </a:r>
          </a:p>
          <a:p>
            <a:pPr marL="609600" indent="-609600" eaLnBrk="1" hangingPunct="1">
              <a:lnSpc>
                <a:spcPct val="105000"/>
              </a:lnSpc>
              <a:buFontTx/>
              <a:buAutoNum type="arabicPeriod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D  a</a:t>
            </a:r>
          </a:p>
        </p:txBody>
      </p:sp>
      <p:sp>
        <p:nvSpPr>
          <p:cNvPr id="109573" name="Text Box 4">
            <a:extLst>
              <a:ext uri="{FF2B5EF4-FFF2-40B4-BE49-F238E27FC236}">
                <a16:creationId xmlns:a16="http://schemas.microsoft.com/office/drawing/2014/main" id="{1D48E41F-79BC-47DC-72DC-52E4DD8DB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09574" name="Rectangle 5">
            <a:extLst>
              <a:ext uri="{FF2B5EF4-FFF2-40B4-BE49-F238E27FC236}">
                <a16:creationId xmlns:a16="http://schemas.microsoft.com/office/drawing/2014/main" id="{646060BE-0FBC-49D2-FA90-26BF2E383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676400"/>
            <a:ext cx="6172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216025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601788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868488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21138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6685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1257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5829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0401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/>
              <a:t>FIRST(S)=FIRST(B)=FIRST(D)={(,a}</a:t>
            </a:r>
          </a:p>
          <a:p>
            <a:pPr eaLnBrk="1" hangingPunct="1">
              <a:buFontTx/>
              <a:buNone/>
            </a:pPr>
            <a:r>
              <a:rPr lang="en-US" altLang="en-US" sz="2800" b="0"/>
              <a:t>FIRST(A) = { +, </a:t>
            </a:r>
            <a:r>
              <a:rPr lang="en-US" altLang="en-US" sz="2800" b="0">
                <a:sym typeface="Symbol" panose="05050102010706020507" pitchFamily="18" charset="2"/>
              </a:rPr>
              <a:t>}</a:t>
            </a:r>
          </a:p>
          <a:p>
            <a:pPr eaLnBrk="1" hangingPunct="1">
              <a:buFontTx/>
              <a:buNone/>
            </a:pPr>
            <a:r>
              <a:rPr lang="en-US" altLang="en-US" sz="2800" b="0"/>
              <a:t>FIRST(C) = { </a:t>
            </a:r>
            <a:r>
              <a:rPr lang="en-US" altLang="en-US" sz="2800"/>
              <a:t>*</a:t>
            </a:r>
            <a:r>
              <a:rPr lang="en-US" altLang="en-US" sz="2800" b="0"/>
              <a:t>, </a:t>
            </a:r>
            <a:r>
              <a:rPr lang="en-US" altLang="en-US" sz="2800" b="0">
                <a:sym typeface="Symbol" panose="05050102010706020507" pitchFamily="18" charset="2"/>
              </a:rPr>
              <a:t>}</a:t>
            </a:r>
            <a:endParaRPr lang="en-US" altLang="en-US" sz="2800" b="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9575" name="Rectangle 6">
            <a:extLst>
              <a:ext uri="{FF2B5EF4-FFF2-40B4-BE49-F238E27FC236}">
                <a16:creationId xmlns:a16="http://schemas.microsoft.com/office/drawing/2014/main" id="{26133FE9-791A-FE5D-A585-EF321706F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3657600"/>
            <a:ext cx="6113462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216025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601788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868488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21138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6685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1257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5829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0401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>
                <a:sym typeface="Symbol" panose="05050102010706020507" pitchFamily="18" charset="2"/>
              </a:rPr>
              <a:t>FOLLOW(S) = FOLLOW(A)={ #, ) }</a:t>
            </a:r>
          </a:p>
          <a:p>
            <a:pPr eaLnBrk="1" hangingPunct="1">
              <a:buFontTx/>
              <a:buNone/>
            </a:pPr>
            <a:r>
              <a:rPr lang="en-US" altLang="en-US" sz="2800" b="0">
                <a:sym typeface="Symbol" panose="05050102010706020507" pitchFamily="18" charset="2"/>
              </a:rPr>
              <a:t>FOLLOW(B) = FOLLOW(C)={+, #, )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b="0">
                <a:sym typeface="Symbol" panose="05050102010706020507" pitchFamily="18" charset="2"/>
              </a:rPr>
              <a:t>} </a:t>
            </a:r>
          </a:p>
          <a:p>
            <a:pPr eaLnBrk="1" hangingPunct="1">
              <a:buFontTx/>
              <a:buNone/>
            </a:pPr>
            <a:r>
              <a:rPr lang="en-US" altLang="en-US" sz="2800" b="0">
                <a:sym typeface="Symbol" panose="05050102010706020507" pitchFamily="18" charset="2"/>
              </a:rPr>
              <a:t>FOLLOW(D) = { </a:t>
            </a:r>
            <a:r>
              <a:rPr lang="en-US" altLang="en-US" sz="2800">
                <a:sym typeface="Symbol" panose="05050102010706020507" pitchFamily="18" charset="2"/>
              </a:rPr>
              <a:t>*</a:t>
            </a:r>
            <a:r>
              <a:rPr lang="en-US" altLang="en-US" sz="2800" b="0">
                <a:sym typeface="Symbol" panose="05050102010706020507" pitchFamily="18" charset="2"/>
              </a:rPr>
              <a:t>, +, #, ) }</a:t>
            </a:r>
          </a:p>
        </p:txBody>
      </p:sp>
      <p:sp>
        <p:nvSpPr>
          <p:cNvPr id="109576" name="Rectangle 7">
            <a:extLst>
              <a:ext uri="{FF2B5EF4-FFF2-40B4-BE49-F238E27FC236}">
                <a16:creationId xmlns:a16="http://schemas.microsoft.com/office/drawing/2014/main" id="{B3F5E25F-DDCC-99B3-E377-B38009F5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334000"/>
            <a:ext cx="5867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216025" indent="-53340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601788" indent="-4572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868488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21138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6685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1257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5829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04018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>
                <a:sym typeface="Symbol" panose="05050102010706020507" pitchFamily="18" charset="2"/>
              </a:rPr>
              <a:t>Văn phạm đã cho là LL(1)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4">
            <a:extLst>
              <a:ext uri="{FF2B5EF4-FFF2-40B4-BE49-F238E27FC236}">
                <a16:creationId xmlns:a16="http://schemas.microsoft.com/office/drawing/2014/main" id="{A3DB9437-D03E-03F0-C404-A67D94E278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E8A2E8-F615-453F-8C57-88ED1C9AC5B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DC99967D-EA00-F05B-C979-7FFD34033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Ví dụ 2Ma trân phân tích</a:t>
            </a:r>
          </a:p>
        </p:txBody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95EE1822-BE7C-6830-4B40-D37C9DAD0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aphicFrame>
        <p:nvGraphicFramePr>
          <p:cNvPr id="1650823" name="Group 135">
            <a:extLst>
              <a:ext uri="{FF2B5EF4-FFF2-40B4-BE49-F238E27FC236}">
                <a16:creationId xmlns:a16="http://schemas.microsoft.com/office/drawing/2014/main" id="{CA011862-A533-8404-034E-5C7D5AF07B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914400"/>
          <a:ext cx="8724900" cy="58515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BA, 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BA,1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l-GR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,3</a:t>
                      </a:r>
                      <a:endParaRPr kumimoji="0" lang="el-G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+BA,2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l-GR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,3</a:t>
                      </a:r>
                      <a:endParaRPr kumimoji="0" lang="en-US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DC,4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DC,4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l-GR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l-GR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*DC,5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l-GR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a,8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(S),7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Đẩy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Nhận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4">
            <a:extLst>
              <a:ext uri="{FF2B5EF4-FFF2-40B4-BE49-F238E27FC236}">
                <a16:creationId xmlns:a16="http://schemas.microsoft.com/office/drawing/2014/main" id="{C0AB5E63-F75D-56D0-045E-99F9921A3C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5B3C55-6ED0-46EF-9547-E0D3EAFBE08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B76056B6-564F-04AD-0936-C44C8717D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Ví dụ 2Phân tích xâu (a*a)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3DFBB0B5-88DC-592C-B781-B50E2AAC8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838200"/>
            <a:ext cx="8724900" cy="5802313"/>
          </a:xfrm>
        </p:spPr>
        <p:txBody>
          <a:bodyPr/>
          <a:lstStyle/>
          <a:p>
            <a:pPr marL="231775" indent="-231775" eaLnBrk="1" hangingPunct="1"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]</a:t>
            </a:r>
          </a:p>
          <a:p>
            <a:pPr marL="231775" indent="-231775" eaLnBrk="1" hangingPunct="1"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A#,1] 	  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CA#,14]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S)CA#,147]   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)CA#,147]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A)CA#,1471]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CA)CA#,14714]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*a)#,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CA)CA#,147148] 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A)CA#,147148]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DCA)CA#,1471485] 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CA)CA#,1471485]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CA)CA#,14714858] 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A)CA#,14714858]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)CA#,147148586] 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CA#,1471485863]     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A#,1471485863] </a:t>
            </a:r>
          </a:p>
          <a:p>
            <a:pPr marL="231775" indent="-231775" eaLnBrk="1" hangingPunct="1"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	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#,14714858636][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800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#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,147148586363] Nhận</a:t>
            </a:r>
          </a:p>
        </p:txBody>
      </p:sp>
      <p:sp>
        <p:nvSpPr>
          <p:cNvPr id="111621" name="Text Box 4">
            <a:extLst>
              <a:ext uri="{FF2B5EF4-FFF2-40B4-BE49-F238E27FC236}">
                <a16:creationId xmlns:a16="http://schemas.microsoft.com/office/drawing/2014/main" id="{90C0AFC4-F4C1-FE09-A0C2-808C0C738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4">
            <a:extLst>
              <a:ext uri="{FF2B5EF4-FFF2-40B4-BE49-F238E27FC236}">
                <a16:creationId xmlns:a16="http://schemas.microsoft.com/office/drawing/2014/main" id="{330A2DE8-3BC8-F8D8-3C20-02FC397AF6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78201D-7891-4910-805E-F6D22779FCE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D2FCAC0A-7447-B407-F5E4-642E430AD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Phương pháp đệ quy trên xuống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B7675EE0-D99A-7A74-575C-6F4EE5F5E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638800"/>
          </a:xfrm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altLang="en-US"/>
              <a:t>Sử dụng để phân tích cú pháp cho các văn phạm LL(1)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altLang="en-US"/>
              <a:t>Có thể mở rộng cho văn phạm LL(k), nhưng việc tính toán phức tạp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altLang="en-US"/>
              <a:t>Sử dụng để phân tích văn phạm khác có thể dẫn đến lặp vô hạn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altLang="en-US"/>
              <a:t>Bộ phân tích gồm một tập thủ tục, mỗi thủ tục ứng với một sơ đồ cú pháp (</a:t>
            </a:r>
            <a:r>
              <a:rPr lang="en-US" altLang="en-US" i="1">
                <a:solidFill>
                  <a:srgbClr val="3539EB"/>
                </a:solidFill>
              </a:rPr>
              <a:t>một ký hiệu không kết thúc</a:t>
            </a:r>
            <a:r>
              <a:rPr lang="en-US" altLang="en-US"/>
              <a:t>)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12645" name="Text Box 4">
            <a:extLst>
              <a:ext uri="{FF2B5EF4-FFF2-40B4-BE49-F238E27FC236}">
                <a16:creationId xmlns:a16="http://schemas.microsoft.com/office/drawing/2014/main" id="{7A137C28-30B9-90F9-FA48-8DBDEF4B9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4">
            <a:extLst>
              <a:ext uri="{FF2B5EF4-FFF2-40B4-BE49-F238E27FC236}">
                <a16:creationId xmlns:a16="http://schemas.microsoft.com/office/drawing/2014/main" id="{54942170-2B56-CED9-9DB5-7BD06C0098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EEB2D0-8E10-4F5C-BF55-6348A835227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EFCE5A86-C6D1-FD68-9A6E-13DFEC526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Phương pháp đệ quy trên xuống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05CFDB5C-98D6-DE3E-7AAA-947C1AE1A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572500" cy="5638800"/>
          </a:xfrm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</a:pPr>
            <a:r>
              <a:rPr lang="en-US" altLang="en-US"/>
              <a:t>Với mỗi ký hiệu không kết thúc, lập một sơ đồ cú pháp tương ứng</a:t>
            </a:r>
          </a:p>
          <a:p>
            <a:pPr marL="1030288" lvl="1" indent="-3476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Tên sơ đồ, là tên ký hiệu không kết thúc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Xây dựng chương trình bởi diễn dịch mỗi sơ đồ cú pháp thành một thủ tục tương ứng</a:t>
            </a:r>
          </a:p>
          <a:p>
            <a:pPr marL="1030288" lvl="1" indent="-3476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Tên thủ tục là tên sơ đồ</a:t>
            </a:r>
          </a:p>
          <a:p>
            <a:pPr marL="1030288" lvl="1" indent="-34766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Mỗi thủ tục có nhiệm vụ triển khai một đoạn nào đo trên văn bản nguồn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Quá trình phân tích bắt đầu từ thủ tục S và gọi tới các thủ tục khác một cách đệ quy</a:t>
            </a:r>
          </a:p>
        </p:txBody>
      </p:sp>
      <p:sp>
        <p:nvSpPr>
          <p:cNvPr id="113669" name="Text Box 4">
            <a:extLst>
              <a:ext uri="{FF2B5EF4-FFF2-40B4-BE49-F238E27FC236}">
                <a16:creationId xmlns:a16="http://schemas.microsoft.com/office/drawing/2014/main" id="{74DE762B-E639-DCDA-7301-4FAEF8879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4">
            <a:extLst>
              <a:ext uri="{FF2B5EF4-FFF2-40B4-BE49-F238E27FC236}">
                <a16:creationId xmlns:a16="http://schemas.microsoft.com/office/drawing/2014/main" id="{B8437138-A286-3CC0-22E6-8F7FE9442E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3A4C5F-ED7F-4B77-BD4E-839C650FBA7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E7E43FF-BB0B-4024-4A19-8EC5BA25A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Xây dựng sơ đồ cú pháp cho các sản xuất EBNF</a:t>
            </a:r>
            <a:endParaRPr lang="el-GR" altLang="en-US" sz="2800">
              <a:sym typeface="Symbol" panose="05050102010706020507" pitchFamily="18" charset="2"/>
            </a:endParaRPr>
          </a:p>
        </p:txBody>
      </p:sp>
      <p:sp>
        <p:nvSpPr>
          <p:cNvPr id="114692" name="Text Box 4">
            <a:extLst>
              <a:ext uri="{FF2B5EF4-FFF2-40B4-BE49-F238E27FC236}">
                <a16:creationId xmlns:a16="http://schemas.microsoft.com/office/drawing/2014/main" id="{1E513082-7C17-3919-DE9C-0D9DAC52D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635352" name="Group 24">
            <a:extLst>
              <a:ext uri="{FF2B5EF4-FFF2-40B4-BE49-F238E27FC236}">
                <a16:creationId xmlns:a16="http://schemas.microsoft.com/office/drawing/2014/main" id="{F8F0615D-9421-42FA-8342-C3CF1D017616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8200"/>
            <a:ext cx="7924800" cy="762000"/>
            <a:chOff x="240" y="528"/>
            <a:chExt cx="4992" cy="480"/>
          </a:xfrm>
        </p:grpSpPr>
        <p:sp>
          <p:nvSpPr>
            <p:cNvPr id="114734" name="Rectangle 8">
              <a:extLst>
                <a:ext uri="{FF2B5EF4-FFF2-40B4-BE49-F238E27FC236}">
                  <a16:creationId xmlns:a16="http://schemas.microsoft.com/office/drawing/2014/main" id="{9DFF11CF-7385-86BD-3A2A-3BCD27CBA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528"/>
              <a:ext cx="326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b="0">
                  <a:sym typeface="Symbol" panose="05050102010706020507" pitchFamily="18" charset="2"/>
                </a:rPr>
                <a:t>aV</a:t>
              </a:r>
              <a:r>
                <a:rPr lang="en-US" altLang="en-US" b="0" baseline="-25000">
                  <a:sym typeface="Symbol" panose="05050102010706020507" pitchFamily="18" charset="2"/>
                </a:rPr>
                <a:t>T</a:t>
              </a:r>
              <a:r>
                <a:rPr lang="en-US" altLang="en-US" b="0">
                  <a:sym typeface="Symbol" panose="05050102010706020507" pitchFamily="18" charset="2"/>
                </a:rPr>
                <a:t>, lập sơ đồ cú pháp</a:t>
              </a:r>
            </a:p>
          </p:txBody>
        </p:sp>
        <p:grpSp>
          <p:nvGrpSpPr>
            <p:cNvPr id="114735" name="Group 13">
              <a:extLst>
                <a:ext uri="{FF2B5EF4-FFF2-40B4-BE49-F238E27FC236}">
                  <a16:creationId xmlns:a16="http://schemas.microsoft.com/office/drawing/2014/main" id="{CCC83C20-E3CB-897A-1DD4-0B1458716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528"/>
              <a:ext cx="1296" cy="384"/>
              <a:chOff x="2976" y="720"/>
              <a:chExt cx="1296" cy="384"/>
            </a:xfrm>
          </p:grpSpPr>
          <p:sp>
            <p:nvSpPr>
              <p:cNvPr id="114736" name="Oval 6">
                <a:extLst>
                  <a:ext uri="{FF2B5EF4-FFF2-40B4-BE49-F238E27FC236}">
                    <a16:creationId xmlns:a16="http://schemas.microsoft.com/office/drawing/2014/main" id="{46B59A68-C272-17C9-A985-A36A335A5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720"/>
                <a:ext cx="432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4737" name="Text Box 10">
                <a:extLst>
                  <a:ext uri="{FF2B5EF4-FFF2-40B4-BE49-F238E27FC236}">
                    <a16:creationId xmlns:a16="http://schemas.microsoft.com/office/drawing/2014/main" id="{BC0E99FD-CCC9-58DB-FB52-1683F16175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3" y="729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114738" name="Line 11">
                <a:extLst>
                  <a:ext uri="{FF2B5EF4-FFF2-40B4-BE49-F238E27FC236}">
                    <a16:creationId xmlns:a16="http://schemas.microsoft.com/office/drawing/2014/main" id="{4F4571B3-7C7D-9366-01F0-E000C4875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91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9" name="Line 12">
                <a:extLst>
                  <a:ext uri="{FF2B5EF4-FFF2-40B4-BE49-F238E27FC236}">
                    <a16:creationId xmlns:a16="http://schemas.microsoft.com/office/drawing/2014/main" id="{A40AA9DD-8D98-4662-481E-860BE18C8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91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35379" name="Group 51">
            <a:extLst>
              <a:ext uri="{FF2B5EF4-FFF2-40B4-BE49-F238E27FC236}">
                <a16:creationId xmlns:a16="http://schemas.microsoft.com/office/drawing/2014/main" id="{E928219F-53EA-723E-E93A-854001AE686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524000"/>
            <a:ext cx="7867650" cy="762000"/>
            <a:chOff x="240" y="960"/>
            <a:chExt cx="4956" cy="480"/>
          </a:xfrm>
        </p:grpSpPr>
        <p:grpSp>
          <p:nvGrpSpPr>
            <p:cNvPr id="114729" name="Group 20">
              <a:extLst>
                <a:ext uri="{FF2B5EF4-FFF2-40B4-BE49-F238E27FC236}">
                  <a16:creationId xmlns:a16="http://schemas.microsoft.com/office/drawing/2014/main" id="{9F610A90-0815-1EB2-0BE8-25AED4B56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056"/>
              <a:ext cx="1260" cy="333"/>
              <a:chOff x="3012" y="1269"/>
              <a:chExt cx="1260" cy="333"/>
            </a:xfrm>
          </p:grpSpPr>
          <p:sp>
            <p:nvSpPr>
              <p:cNvPr id="114731" name="Text Box 16">
                <a:extLst>
                  <a:ext uri="{FF2B5EF4-FFF2-40B4-BE49-F238E27FC236}">
                    <a16:creationId xmlns:a16="http://schemas.microsoft.com/office/drawing/2014/main" id="{383BAB00-CA40-8CBC-22DF-15104BA95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7" y="1269"/>
                <a:ext cx="384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114732" name="Line 17">
                <a:extLst>
                  <a:ext uri="{FF2B5EF4-FFF2-40B4-BE49-F238E27FC236}">
                    <a16:creationId xmlns:a16="http://schemas.microsoft.com/office/drawing/2014/main" id="{0F714E42-B154-525D-B043-11906A21F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3" name="Line 18">
                <a:extLst>
                  <a:ext uri="{FF2B5EF4-FFF2-40B4-BE49-F238E27FC236}">
                    <a16:creationId xmlns:a16="http://schemas.microsoft.com/office/drawing/2014/main" id="{D53CF00A-C560-6768-9BD5-EF63A8253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2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30" name="Rectangle 21">
              <a:extLst>
                <a:ext uri="{FF2B5EF4-FFF2-40B4-BE49-F238E27FC236}">
                  <a16:creationId xmlns:a16="http://schemas.microsoft.com/office/drawing/2014/main" id="{F0955C9C-D28D-FBCF-6E83-37F79254B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960"/>
              <a:ext cx="331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b="0">
                  <a:sym typeface="Symbol" panose="05050102010706020507" pitchFamily="18" charset="2"/>
                </a:rPr>
                <a:t>AV</a:t>
              </a:r>
              <a:r>
                <a:rPr lang="en-US" altLang="en-US" b="0" baseline="-25000">
                  <a:sym typeface="Symbol" panose="05050102010706020507" pitchFamily="18" charset="2"/>
                </a:rPr>
                <a:t>N</a:t>
              </a:r>
              <a:r>
                <a:rPr lang="en-US" altLang="en-US" b="0">
                  <a:sym typeface="Symbol" panose="05050102010706020507" pitchFamily="18" charset="2"/>
                </a:rPr>
                <a:t>, lập sơ đồ cú pháp</a:t>
              </a:r>
            </a:p>
          </p:txBody>
        </p:sp>
      </p:grpSp>
      <p:grpSp>
        <p:nvGrpSpPr>
          <p:cNvPr id="1635366" name="Group 38">
            <a:extLst>
              <a:ext uri="{FF2B5EF4-FFF2-40B4-BE49-F238E27FC236}">
                <a16:creationId xmlns:a16="http://schemas.microsoft.com/office/drawing/2014/main" id="{F7EA50F7-FDF2-2391-FE95-54756F18D0D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09800"/>
            <a:ext cx="8610600" cy="1981200"/>
            <a:chOff x="288" y="1392"/>
            <a:chExt cx="5424" cy="1248"/>
          </a:xfrm>
        </p:grpSpPr>
        <p:sp>
          <p:nvSpPr>
            <p:cNvPr id="114715" name="Rectangle 5">
              <a:extLst>
                <a:ext uri="{FF2B5EF4-FFF2-40B4-BE49-F238E27FC236}">
                  <a16:creationId xmlns:a16="http://schemas.microsoft.com/office/drawing/2014/main" id="{FC9E112C-A97C-C348-FAF4-ABB4CB8A1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392"/>
              <a:ext cx="2496" cy="1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b="0">
                  <a:sym typeface="Symbol" panose="05050102010706020507" pitchFamily="18" charset="2"/>
                </a:rPr>
                <a:t>sản xuất dạng </a:t>
              </a:r>
            </a:p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b="0">
                  <a:sym typeface="Symbol" panose="05050102010706020507" pitchFamily="18" charset="2"/>
                </a:rPr>
                <a:t>A</a:t>
              </a:r>
              <a:r>
                <a:rPr lang="el-GR" altLang="en-US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b="0" baseline="-25000"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|</a:t>
              </a:r>
              <a:r>
                <a:rPr lang="el-GR" altLang="en-US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b="0" baseline="-25000">
                  <a:cs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|…|</a:t>
              </a:r>
              <a:r>
                <a:rPr lang="el-GR" altLang="en-US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b="0" baseline="-25000">
                  <a:cs typeface="Arial" panose="020B0604020202020204" pitchFamily="34" charset="0"/>
                  <a:sym typeface="Symbol" panose="05050102010706020507" pitchFamily="18" charset="2"/>
                </a:rPr>
                <a:t>n</a:t>
              </a:r>
              <a:endParaRPr lang="el-GR" altLang="en-US" b="0" baseline="-25000"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b="0">
                  <a:sym typeface="Symbol" panose="05050102010706020507" pitchFamily="18" charset="2"/>
                </a:rPr>
                <a:t>Lập sơ đồ có pháp</a:t>
              </a:r>
            </a:p>
          </p:txBody>
        </p:sp>
        <p:grpSp>
          <p:nvGrpSpPr>
            <p:cNvPr id="114716" name="Group 37">
              <a:extLst>
                <a:ext uri="{FF2B5EF4-FFF2-40B4-BE49-F238E27FC236}">
                  <a16:creationId xmlns:a16="http://schemas.microsoft.com/office/drawing/2014/main" id="{AC1A0E25-3DBB-9D7F-C4C2-8C056DA2E8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536"/>
              <a:ext cx="2496" cy="1053"/>
              <a:chOff x="3168" y="1536"/>
              <a:chExt cx="2496" cy="1053"/>
            </a:xfrm>
          </p:grpSpPr>
          <p:sp>
            <p:nvSpPr>
              <p:cNvPr id="114717" name="Text Box 25">
                <a:extLst>
                  <a:ext uri="{FF2B5EF4-FFF2-40B4-BE49-F238E27FC236}">
                    <a16:creationId xmlns:a16="http://schemas.microsoft.com/office/drawing/2014/main" id="{6BC65262-386A-06F8-7F1F-8C6B5BB6E4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1536"/>
                <a:ext cx="528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l-GR" altLang="en-US" sz="2800" b="0">
                    <a:sym typeface="Symbol" panose="05050102010706020507" pitchFamily="18" charset="2"/>
                  </a:rPr>
                  <a:t>α</a:t>
                </a:r>
                <a:r>
                  <a:rPr lang="en-US" altLang="en-US" sz="2800" b="0" baseline="-25000"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114718" name="Text Box 26">
                <a:extLst>
                  <a:ext uri="{FF2B5EF4-FFF2-40B4-BE49-F238E27FC236}">
                    <a16:creationId xmlns:a16="http://schemas.microsoft.com/office/drawing/2014/main" id="{09DAE019-8A2D-75BB-2AA9-96B4BA0265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2256"/>
                <a:ext cx="528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l-GR" altLang="en-US" sz="2800" b="0">
                    <a:sym typeface="Symbol" panose="05050102010706020507" pitchFamily="18" charset="2"/>
                  </a:rPr>
                  <a:t>α</a:t>
                </a:r>
                <a:r>
                  <a:rPr lang="en-US" altLang="en-US" sz="2800" b="0" baseline="-25000">
                    <a:sym typeface="Symbol" panose="05050102010706020507" pitchFamily="18" charset="2"/>
                  </a:rPr>
                  <a:t>n</a:t>
                </a:r>
              </a:p>
            </p:txBody>
          </p:sp>
          <p:sp>
            <p:nvSpPr>
              <p:cNvPr id="114719" name="Line 27">
                <a:extLst>
                  <a:ext uri="{FF2B5EF4-FFF2-40B4-BE49-F238E27FC236}">
                    <a16:creationId xmlns:a16="http://schemas.microsoft.com/office/drawing/2014/main" id="{9F99B598-D1B1-6D27-DDD5-63E7A4404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20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0" name="Line 28">
                <a:extLst>
                  <a:ext uri="{FF2B5EF4-FFF2-40B4-BE49-F238E27FC236}">
                    <a16:creationId xmlns:a16="http://schemas.microsoft.com/office/drawing/2014/main" id="{7FA3EA0D-50B6-0FE4-9F9C-28E161E02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68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1" name="Line 29">
                <a:extLst>
                  <a:ext uri="{FF2B5EF4-FFF2-40B4-BE49-F238E27FC236}">
                    <a16:creationId xmlns:a16="http://schemas.microsoft.com/office/drawing/2014/main" id="{F8E7BC84-479D-B05A-2D7E-7102C2C9E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064"/>
                <a:ext cx="384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2" name="Line 30">
                <a:extLst>
                  <a:ext uri="{FF2B5EF4-FFF2-40B4-BE49-F238E27FC236}">
                    <a16:creationId xmlns:a16="http://schemas.microsoft.com/office/drawing/2014/main" id="{97FDF9EF-085D-868B-BE11-445C24170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064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3" name="Line 31">
                <a:extLst>
                  <a:ext uri="{FF2B5EF4-FFF2-40B4-BE49-F238E27FC236}">
                    <a16:creationId xmlns:a16="http://schemas.microsoft.com/office/drawing/2014/main" id="{09A15399-89CF-1227-F10F-D304631A7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16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4" name="Line 32">
                <a:extLst>
                  <a:ext uri="{FF2B5EF4-FFF2-40B4-BE49-F238E27FC236}">
                    <a16:creationId xmlns:a16="http://schemas.microsoft.com/office/drawing/2014/main" id="{04C257EF-B945-E39E-CE82-896ECC6406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8" y="206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5" name="Line 33">
                <a:extLst>
                  <a:ext uri="{FF2B5EF4-FFF2-40B4-BE49-F238E27FC236}">
                    <a16:creationId xmlns:a16="http://schemas.microsoft.com/office/drawing/2014/main" id="{B00922BF-5E11-CC5D-915B-ADC9CDC32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1920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6" name="Line 34">
                <a:extLst>
                  <a:ext uri="{FF2B5EF4-FFF2-40B4-BE49-F238E27FC236}">
                    <a16:creationId xmlns:a16="http://schemas.microsoft.com/office/drawing/2014/main" id="{EEADC01E-0E2D-EDB9-0C2F-F78ABB24D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064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7" name="Line 35">
                <a:extLst>
                  <a:ext uri="{FF2B5EF4-FFF2-40B4-BE49-F238E27FC236}">
                    <a16:creationId xmlns:a16="http://schemas.microsoft.com/office/drawing/2014/main" id="{DA0EEF20-FF80-A319-2C4E-A54E7A767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920"/>
                <a:ext cx="38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8" name="Line 36">
                <a:extLst>
                  <a:ext uri="{FF2B5EF4-FFF2-40B4-BE49-F238E27FC236}">
                    <a16:creationId xmlns:a16="http://schemas.microsoft.com/office/drawing/2014/main" id="{411C9B15-C748-5C86-F5D9-3EBC8DC11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8" y="2064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35377" name="Group 49">
            <a:extLst>
              <a:ext uri="{FF2B5EF4-FFF2-40B4-BE49-F238E27FC236}">
                <a16:creationId xmlns:a16="http://schemas.microsoft.com/office/drawing/2014/main" id="{F2E2E6BF-4773-4BF9-54D2-8A66AE1C1F0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267200"/>
            <a:ext cx="8229600" cy="1214438"/>
            <a:chOff x="288" y="2688"/>
            <a:chExt cx="5184" cy="765"/>
          </a:xfrm>
        </p:grpSpPr>
        <p:sp>
          <p:nvSpPr>
            <p:cNvPr id="114704" name="Rectangle 23">
              <a:extLst>
                <a:ext uri="{FF2B5EF4-FFF2-40B4-BE49-F238E27FC236}">
                  <a16:creationId xmlns:a16="http://schemas.microsoft.com/office/drawing/2014/main" id="{F3A53F5A-6E1A-56B5-9BAF-B530C4CDD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688"/>
              <a:ext cx="5184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b="0">
                  <a:sym typeface="Symbol" panose="05050102010706020507" pitchFamily="18" charset="2"/>
                </a:rPr>
                <a:t>Nếu </a:t>
              </a:r>
              <a:r>
                <a:rPr lang="el-GR" altLang="en-US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 có dạng X</a:t>
              </a:r>
              <a:r>
                <a:rPr lang="en-US" altLang="en-US" b="0" baseline="-25000"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X</a:t>
              </a:r>
              <a:r>
                <a:rPr lang="en-US" altLang="en-US" b="0" baseline="-25000">
                  <a:cs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..X</a:t>
              </a:r>
              <a:r>
                <a:rPr lang="en-US" altLang="en-US" b="0" baseline="-25000">
                  <a:cs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, lập sơ đồ cú pháp</a:t>
              </a:r>
              <a:endParaRPr lang="en-US" altLang="en-US" b="0" baseline="-250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grpSp>
          <p:nvGrpSpPr>
            <p:cNvPr id="114705" name="Group 48">
              <a:extLst>
                <a:ext uri="{FF2B5EF4-FFF2-40B4-BE49-F238E27FC236}">
                  <a16:creationId xmlns:a16="http://schemas.microsoft.com/office/drawing/2014/main" id="{24EAAB3B-2880-40A5-DC61-54C169B776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120"/>
              <a:ext cx="3408" cy="333"/>
              <a:chOff x="864" y="3120"/>
              <a:chExt cx="3408" cy="333"/>
            </a:xfrm>
          </p:grpSpPr>
          <p:sp>
            <p:nvSpPr>
              <p:cNvPr id="114706" name="Text Box 39">
                <a:extLst>
                  <a:ext uri="{FF2B5EF4-FFF2-40B4-BE49-F238E27FC236}">
                    <a16:creationId xmlns:a16="http://schemas.microsoft.com/office/drawing/2014/main" id="{141AE340-1872-D22E-1E54-C9C3BB03E0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120"/>
                <a:ext cx="432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X</a:t>
                </a:r>
                <a:r>
                  <a:rPr lang="en-US" altLang="en-US" sz="2800" b="0" baseline="-25000"/>
                  <a:t>1</a:t>
                </a:r>
              </a:p>
            </p:txBody>
          </p:sp>
          <p:sp>
            <p:nvSpPr>
              <p:cNvPr id="114707" name="Text Box 40">
                <a:extLst>
                  <a:ext uri="{FF2B5EF4-FFF2-40B4-BE49-F238E27FC236}">
                    <a16:creationId xmlns:a16="http://schemas.microsoft.com/office/drawing/2014/main" id="{BAD2AF5E-D1F0-2DB4-463E-20AAB0E532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120"/>
                <a:ext cx="432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X</a:t>
                </a:r>
                <a:r>
                  <a:rPr lang="en-US" altLang="en-US" sz="2800" b="0" baseline="-25000"/>
                  <a:t>2</a:t>
                </a:r>
              </a:p>
            </p:txBody>
          </p:sp>
          <p:sp>
            <p:nvSpPr>
              <p:cNvPr id="114708" name="Text Box 41">
                <a:extLst>
                  <a:ext uri="{FF2B5EF4-FFF2-40B4-BE49-F238E27FC236}">
                    <a16:creationId xmlns:a16="http://schemas.microsoft.com/office/drawing/2014/main" id="{301692C3-27FE-D80F-6041-5504C184E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3120"/>
                <a:ext cx="432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X</a:t>
                </a:r>
                <a:r>
                  <a:rPr lang="en-US" altLang="en-US" sz="2800" b="0" baseline="-25000"/>
                  <a:t>N</a:t>
                </a:r>
              </a:p>
            </p:txBody>
          </p:sp>
          <p:sp>
            <p:nvSpPr>
              <p:cNvPr id="114709" name="Line 42">
                <a:extLst>
                  <a:ext uri="{FF2B5EF4-FFF2-40B4-BE49-F238E27FC236}">
                    <a16:creationId xmlns:a16="http://schemas.microsoft.com/office/drawing/2014/main" id="{D6DCDB43-1134-5282-C0FE-C8889521B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0" name="Line 43">
                <a:extLst>
                  <a:ext uri="{FF2B5EF4-FFF2-40B4-BE49-F238E27FC236}">
                    <a16:creationId xmlns:a16="http://schemas.microsoft.com/office/drawing/2014/main" id="{374E0465-FBAD-C16E-D3BE-E0204F47A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1" name="Line 44">
                <a:extLst>
                  <a:ext uri="{FF2B5EF4-FFF2-40B4-BE49-F238E27FC236}">
                    <a16:creationId xmlns:a16="http://schemas.microsoft.com/office/drawing/2014/main" id="{0D0C1F47-2AEF-7522-A5CA-B3D4CF7E7E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2" name="Line 45">
                <a:extLst>
                  <a:ext uri="{FF2B5EF4-FFF2-40B4-BE49-F238E27FC236}">
                    <a16:creationId xmlns:a16="http://schemas.microsoft.com/office/drawing/2014/main" id="{CD6B07A3-E485-011B-8F59-1CD03CB14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3" name="Line 46">
                <a:extLst>
                  <a:ext uri="{FF2B5EF4-FFF2-40B4-BE49-F238E27FC236}">
                    <a16:creationId xmlns:a16="http://schemas.microsoft.com/office/drawing/2014/main" id="{DFC31897-1393-B96B-A8F8-E2AACD7B9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4" name="Line 47">
                <a:extLst>
                  <a:ext uri="{FF2B5EF4-FFF2-40B4-BE49-F238E27FC236}">
                    <a16:creationId xmlns:a16="http://schemas.microsoft.com/office/drawing/2014/main" id="{66F7A2E3-079F-62C2-11B6-998418974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26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35385" name="Group 57">
            <a:extLst>
              <a:ext uri="{FF2B5EF4-FFF2-40B4-BE49-F238E27FC236}">
                <a16:creationId xmlns:a16="http://schemas.microsoft.com/office/drawing/2014/main" id="{7A78666B-1045-F038-3B97-2836E70D587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638800"/>
            <a:ext cx="8077200" cy="1066800"/>
            <a:chOff x="288" y="3552"/>
            <a:chExt cx="5088" cy="672"/>
          </a:xfrm>
        </p:grpSpPr>
        <p:sp>
          <p:nvSpPr>
            <p:cNvPr id="114698" name="Rectangle 50">
              <a:extLst>
                <a:ext uri="{FF2B5EF4-FFF2-40B4-BE49-F238E27FC236}">
                  <a16:creationId xmlns:a16="http://schemas.microsoft.com/office/drawing/2014/main" id="{217C4D7A-34D8-C80B-D7DB-81E29EC7F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552"/>
              <a:ext cx="3120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b="0">
                  <a:sym typeface="Symbol" panose="05050102010706020507" pitchFamily="18" charset="2"/>
                </a:rPr>
                <a:t>Nếu </a:t>
              </a:r>
              <a:r>
                <a:rPr lang="el-GR" altLang="en-US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 có dạng lặp </a:t>
              </a:r>
              <a:r>
                <a:rPr lang="el-GR" altLang="en-US" b="0">
                  <a:solidFill>
                    <a:srgbClr val="3539EB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α≡</a:t>
              </a:r>
              <a:r>
                <a:rPr lang="en-US" altLang="en-US" b="0">
                  <a:solidFill>
                    <a:srgbClr val="3539EB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{X}</a:t>
              </a:r>
            </a:p>
            <a:p>
              <a:pPr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b="0">
                  <a:cs typeface="Arial" panose="020B0604020202020204" pitchFamily="34" charset="0"/>
                  <a:sym typeface="Symbol" panose="05050102010706020507" pitchFamily="18" charset="2"/>
                </a:rPr>
                <a:t>Sơ đồ cú pháp có dạng</a:t>
              </a:r>
              <a:endParaRPr lang="el-GR" altLang="en-US" b="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grpSp>
          <p:nvGrpSpPr>
            <p:cNvPr id="114699" name="Group 56">
              <a:extLst>
                <a:ext uri="{FF2B5EF4-FFF2-40B4-BE49-F238E27FC236}">
                  <a16:creationId xmlns:a16="http://schemas.microsoft.com/office/drawing/2014/main" id="{6A771669-592C-D252-C909-A901C762D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3696"/>
              <a:ext cx="1440" cy="525"/>
              <a:chOff x="3936" y="3696"/>
              <a:chExt cx="1440" cy="525"/>
            </a:xfrm>
          </p:grpSpPr>
          <p:sp>
            <p:nvSpPr>
              <p:cNvPr id="114700" name="Text Box 52">
                <a:extLst>
                  <a:ext uri="{FF2B5EF4-FFF2-40B4-BE49-F238E27FC236}">
                    <a16:creationId xmlns:a16="http://schemas.microsoft.com/office/drawing/2014/main" id="{BE89886D-3A7D-1ED6-2404-A6CF90A47C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3888"/>
                <a:ext cx="576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X</a:t>
                </a:r>
              </a:p>
            </p:txBody>
          </p:sp>
          <p:sp>
            <p:nvSpPr>
              <p:cNvPr id="114701" name="Line 53">
                <a:extLst>
                  <a:ext uri="{FF2B5EF4-FFF2-40B4-BE49-F238E27FC236}">
                    <a16:creationId xmlns:a16="http://schemas.microsoft.com/office/drawing/2014/main" id="{E3747622-CA21-502E-650D-62EEDEA3E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696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2" name="Freeform 54">
                <a:extLst>
                  <a:ext uri="{FF2B5EF4-FFF2-40B4-BE49-F238E27FC236}">
                    <a16:creationId xmlns:a16="http://schemas.microsoft.com/office/drawing/2014/main" id="{DF68B38E-3EF1-7099-D677-CC3D69CDF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" y="3696"/>
                <a:ext cx="192" cy="336"/>
              </a:xfrm>
              <a:custGeom>
                <a:avLst/>
                <a:gdLst>
                  <a:gd name="T0" fmla="*/ 25 w 288"/>
                  <a:gd name="T1" fmla="*/ 0 h 336"/>
                  <a:gd name="T2" fmla="*/ 25 w 288"/>
                  <a:gd name="T3" fmla="*/ 336 h 336"/>
                  <a:gd name="T4" fmla="*/ 0 w 288"/>
                  <a:gd name="T5" fmla="*/ 336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8" h="336">
                    <a:moveTo>
                      <a:pt x="288" y="0"/>
                    </a:moveTo>
                    <a:lnTo>
                      <a:pt x="288" y="336"/>
                    </a:lnTo>
                    <a:lnTo>
                      <a:pt x="0" y="33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3" name="Freeform 55">
                <a:extLst>
                  <a:ext uri="{FF2B5EF4-FFF2-40B4-BE49-F238E27FC236}">
                    <a16:creationId xmlns:a16="http://schemas.microsoft.com/office/drawing/2014/main" id="{310C1CAA-CFC8-FEEC-C774-BC7F5B8B3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3696"/>
                <a:ext cx="192" cy="336"/>
              </a:xfrm>
              <a:custGeom>
                <a:avLst/>
                <a:gdLst>
                  <a:gd name="T0" fmla="*/ 192 w 192"/>
                  <a:gd name="T1" fmla="*/ 336 h 336"/>
                  <a:gd name="T2" fmla="*/ 0 w 192"/>
                  <a:gd name="T3" fmla="*/ 336 h 336"/>
                  <a:gd name="T4" fmla="*/ 0 w 192"/>
                  <a:gd name="T5" fmla="*/ 0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336">
                    <a:moveTo>
                      <a:pt x="192" y="336"/>
                    </a:moveTo>
                    <a:lnTo>
                      <a:pt x="0" y="336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3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3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3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3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500"/>
                                        <p:tgtEl>
                                          <p:spTgt spid="163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63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4">
            <a:extLst>
              <a:ext uri="{FF2B5EF4-FFF2-40B4-BE49-F238E27FC236}">
                <a16:creationId xmlns:a16="http://schemas.microsoft.com/office/drawing/2014/main" id="{86ACDAE4-257E-80EC-55AB-2EE3422D7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BB54BF-4006-4809-85E5-A11CFB7D98B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2B07B350-2E5F-7FD6-5989-11C48AE8D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Xây dựng sơ đồ cú pháp </a:t>
            </a:r>
            <a:r>
              <a:rPr lang="en-US" altLang="en-US">
                <a:sym typeface="Symbol" panose="05050102010706020507" pitchFamily="18" charset="2"/>
              </a:rPr>
              <a:t>Ví dụ</a:t>
            </a:r>
            <a:endParaRPr lang="el-GR" altLang="en-US">
              <a:sym typeface="Symbol" panose="05050102010706020507" pitchFamily="18" charset="2"/>
            </a:endParaRPr>
          </a:p>
        </p:txBody>
      </p:sp>
      <p:sp>
        <p:nvSpPr>
          <p:cNvPr id="115716" name="Text Box 4">
            <a:extLst>
              <a:ext uri="{FF2B5EF4-FFF2-40B4-BE49-F238E27FC236}">
                <a16:creationId xmlns:a16="http://schemas.microsoft.com/office/drawing/2014/main" id="{798E5A5B-A508-B4B6-293B-3CAF40F46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15717" name="Rectangle 5">
            <a:extLst>
              <a:ext uri="{FF2B5EF4-FFF2-40B4-BE49-F238E27FC236}">
                <a16:creationId xmlns:a16="http://schemas.microsoft.com/office/drawing/2014/main" id="{0A96B1F5-0E52-CEE9-6FDA-14DA74DE6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2057400"/>
            <a:ext cx="2095500" cy="3048000"/>
          </a:xfrm>
          <a:noFill/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SBA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A+BA|</a:t>
            </a:r>
            <a:r>
              <a:rPr lang="el-GR" altLang="en-US">
                <a:sym typeface="Symbol" panose="05050102010706020507" pitchFamily="18" charset="2"/>
              </a:rPr>
              <a:t>ε</a:t>
            </a:r>
            <a:endParaRPr lang="en-US" altLang="en-US">
              <a:sym typeface="Symbol" panose="05050102010706020507" pitchFamily="18" charset="2"/>
            </a:endParaRPr>
          </a:p>
          <a:p>
            <a:pPr marL="609600" indent="-60960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B DC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C *DC|</a:t>
            </a:r>
            <a:r>
              <a:rPr lang="el-GR" altLang="en-US">
                <a:sym typeface="Symbol" panose="05050102010706020507" pitchFamily="18" charset="2"/>
              </a:rPr>
              <a:t>ε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D  (S)|a</a:t>
            </a:r>
          </a:p>
        </p:txBody>
      </p:sp>
      <p:grpSp>
        <p:nvGrpSpPr>
          <p:cNvPr id="1642520" name="Group 24">
            <a:extLst>
              <a:ext uri="{FF2B5EF4-FFF2-40B4-BE49-F238E27FC236}">
                <a16:creationId xmlns:a16="http://schemas.microsoft.com/office/drawing/2014/main" id="{E46B2585-45C6-4929-45A9-158372C9261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842963"/>
            <a:ext cx="4038600" cy="757237"/>
            <a:chOff x="2640" y="576"/>
            <a:chExt cx="2544" cy="477"/>
          </a:xfrm>
        </p:grpSpPr>
        <p:sp>
          <p:nvSpPr>
            <p:cNvPr id="115767" name="Text Box 6">
              <a:extLst>
                <a:ext uri="{FF2B5EF4-FFF2-40B4-BE49-F238E27FC236}">
                  <a16:creationId xmlns:a16="http://schemas.microsoft.com/office/drawing/2014/main" id="{545A790B-57F9-03C1-3211-0ACC51B67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57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S</a:t>
              </a:r>
            </a:p>
          </p:txBody>
        </p:sp>
        <p:sp>
          <p:nvSpPr>
            <p:cNvPr id="115768" name="Text Box 7">
              <a:extLst>
                <a:ext uri="{FF2B5EF4-FFF2-40B4-BE49-F238E27FC236}">
                  <a16:creationId xmlns:a16="http://schemas.microsoft.com/office/drawing/2014/main" id="{53930655-8712-0594-54B0-39CFD5474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720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15769" name="Text Box 8">
              <a:extLst>
                <a:ext uri="{FF2B5EF4-FFF2-40B4-BE49-F238E27FC236}">
                  <a16:creationId xmlns:a16="http://schemas.microsoft.com/office/drawing/2014/main" id="{B823EC87-B19B-BC18-BE64-571BD9E90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720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15770" name="Line 9">
              <a:extLst>
                <a:ext uri="{FF2B5EF4-FFF2-40B4-BE49-F238E27FC236}">
                  <a16:creationId xmlns:a16="http://schemas.microsoft.com/office/drawing/2014/main" id="{353CC61E-3AFE-CE23-CF3D-3B104ED87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873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1" name="Line 10">
              <a:extLst>
                <a:ext uri="{FF2B5EF4-FFF2-40B4-BE49-F238E27FC236}">
                  <a16:creationId xmlns:a16="http://schemas.microsoft.com/office/drawing/2014/main" id="{8BFB081A-C6C7-53B2-BAF7-7136731C7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864"/>
              <a:ext cx="76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2" name="Line 11">
              <a:extLst>
                <a:ext uri="{FF2B5EF4-FFF2-40B4-BE49-F238E27FC236}">
                  <a16:creationId xmlns:a16="http://schemas.microsoft.com/office/drawing/2014/main" id="{A0D178E6-AAA9-BE5D-8AC3-63D3058B6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864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2527" name="Group 31">
            <a:extLst>
              <a:ext uri="{FF2B5EF4-FFF2-40B4-BE49-F238E27FC236}">
                <a16:creationId xmlns:a16="http://schemas.microsoft.com/office/drawing/2014/main" id="{270EC15C-4644-E75E-DB69-E29BC6BA9D9E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600200"/>
            <a:ext cx="5024438" cy="1143000"/>
            <a:chOff x="2208" y="1152"/>
            <a:chExt cx="3165" cy="720"/>
          </a:xfrm>
        </p:grpSpPr>
        <p:sp>
          <p:nvSpPr>
            <p:cNvPr id="115756" name="Text Box 18">
              <a:extLst>
                <a:ext uri="{FF2B5EF4-FFF2-40B4-BE49-F238E27FC236}">
                  <a16:creationId xmlns:a16="http://schemas.microsoft.com/office/drawing/2014/main" id="{38C6E9AF-5677-2680-3F2C-72D1C96B8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15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15757" name="Text Box 19">
              <a:extLst>
                <a:ext uri="{FF2B5EF4-FFF2-40B4-BE49-F238E27FC236}">
                  <a16:creationId xmlns:a16="http://schemas.microsoft.com/office/drawing/2014/main" id="{33C71427-764C-1B01-0244-82C9D15A8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96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15758" name="Text Box 20">
              <a:extLst>
                <a:ext uri="{FF2B5EF4-FFF2-40B4-BE49-F238E27FC236}">
                  <a16:creationId xmlns:a16="http://schemas.microsoft.com/office/drawing/2014/main" id="{F48E6700-F3DC-DFEC-B641-C1740F636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7" y="1278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15759" name="Line 21">
              <a:extLst>
                <a:ext uri="{FF2B5EF4-FFF2-40B4-BE49-F238E27FC236}">
                  <a16:creationId xmlns:a16="http://schemas.microsoft.com/office/drawing/2014/main" id="{225BA1E5-DA64-35EB-74FE-D3B82F397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49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60" name="Line 23">
              <a:extLst>
                <a:ext uri="{FF2B5EF4-FFF2-40B4-BE49-F238E27FC236}">
                  <a16:creationId xmlns:a16="http://schemas.microsoft.com/office/drawing/2014/main" id="{B90169DC-B5F8-68AA-E9B2-C78D127BA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1" y="1431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61" name="Group 27">
              <a:extLst>
                <a:ext uri="{FF2B5EF4-FFF2-40B4-BE49-F238E27FC236}">
                  <a16:creationId xmlns:a16="http://schemas.microsoft.com/office/drawing/2014/main" id="{ABC42921-F263-D65E-42F3-F7F8D3856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248"/>
              <a:ext cx="408" cy="384"/>
              <a:chOff x="2100" y="1701"/>
              <a:chExt cx="408" cy="384"/>
            </a:xfrm>
          </p:grpSpPr>
          <p:sp>
            <p:nvSpPr>
              <p:cNvPr id="115765" name="Oval 26">
                <a:extLst>
                  <a:ext uri="{FF2B5EF4-FFF2-40B4-BE49-F238E27FC236}">
                    <a16:creationId xmlns:a16="http://schemas.microsoft.com/office/drawing/2014/main" id="{41A1D9DB-E1C9-9AE7-B781-520ED18F8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5766" name="Text Box 25">
                <a:extLst>
                  <a:ext uri="{FF2B5EF4-FFF2-40B4-BE49-F238E27FC236}">
                    <a16:creationId xmlns:a16="http://schemas.microsoft.com/office/drawing/2014/main" id="{6D051AD3-0C0A-0058-215F-101C9850EB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+</a:t>
                </a:r>
              </a:p>
            </p:txBody>
          </p:sp>
        </p:grpSp>
        <p:sp>
          <p:nvSpPr>
            <p:cNvPr id="115762" name="Line 28">
              <a:extLst>
                <a:ext uri="{FF2B5EF4-FFF2-40B4-BE49-F238E27FC236}">
                  <a16:creationId xmlns:a16="http://schemas.microsoft.com/office/drawing/2014/main" id="{D8C81F23-5A32-402B-EB36-0B22289FA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7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63" name="Line 29">
              <a:extLst>
                <a:ext uri="{FF2B5EF4-FFF2-40B4-BE49-F238E27FC236}">
                  <a16:creationId xmlns:a16="http://schemas.microsoft.com/office/drawing/2014/main" id="{8FF9A9CE-739B-987C-FD9F-FCE2CF1FB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64" name="Freeform 30">
              <a:extLst>
                <a:ext uri="{FF2B5EF4-FFF2-40B4-BE49-F238E27FC236}">
                  <a16:creationId xmlns:a16="http://schemas.microsoft.com/office/drawing/2014/main" id="{4D7CA832-A794-575A-2D6D-766AE0832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440"/>
              <a:ext cx="2640" cy="432"/>
            </a:xfrm>
            <a:custGeom>
              <a:avLst/>
              <a:gdLst>
                <a:gd name="T0" fmla="*/ 0 w 2640"/>
                <a:gd name="T1" fmla="*/ 0 h 432"/>
                <a:gd name="T2" fmla="*/ 0 w 2640"/>
                <a:gd name="T3" fmla="*/ 432 h 432"/>
                <a:gd name="T4" fmla="*/ 2640 w 2640"/>
                <a:gd name="T5" fmla="*/ 432 h 432"/>
                <a:gd name="T6" fmla="*/ 2640 w 264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40" h="432">
                  <a:moveTo>
                    <a:pt x="0" y="0"/>
                  </a:moveTo>
                  <a:lnTo>
                    <a:pt x="0" y="432"/>
                  </a:lnTo>
                  <a:lnTo>
                    <a:pt x="2640" y="432"/>
                  </a:lnTo>
                  <a:lnTo>
                    <a:pt x="264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2528" name="Group 32">
            <a:extLst>
              <a:ext uri="{FF2B5EF4-FFF2-40B4-BE49-F238E27FC236}">
                <a16:creationId xmlns:a16="http://schemas.microsoft.com/office/drawing/2014/main" id="{82AA45A3-797D-2389-EEE5-D841AC2C5A63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895600"/>
            <a:ext cx="4038600" cy="757238"/>
            <a:chOff x="2640" y="576"/>
            <a:chExt cx="2544" cy="477"/>
          </a:xfrm>
        </p:grpSpPr>
        <p:sp>
          <p:nvSpPr>
            <p:cNvPr id="115750" name="Text Box 33">
              <a:extLst>
                <a:ext uri="{FF2B5EF4-FFF2-40B4-BE49-F238E27FC236}">
                  <a16:creationId xmlns:a16="http://schemas.microsoft.com/office/drawing/2014/main" id="{963904BF-6FC3-25C4-781D-4D4B234CC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57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15751" name="Text Box 34">
              <a:extLst>
                <a:ext uri="{FF2B5EF4-FFF2-40B4-BE49-F238E27FC236}">
                  <a16:creationId xmlns:a16="http://schemas.microsoft.com/office/drawing/2014/main" id="{3A4EF901-B676-A9CE-0D5A-19E94F50E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720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D</a:t>
              </a:r>
            </a:p>
          </p:txBody>
        </p:sp>
        <p:sp>
          <p:nvSpPr>
            <p:cNvPr id="115752" name="Text Box 35">
              <a:extLst>
                <a:ext uri="{FF2B5EF4-FFF2-40B4-BE49-F238E27FC236}">
                  <a16:creationId xmlns:a16="http://schemas.microsoft.com/office/drawing/2014/main" id="{7BFD4BC9-6530-097C-A176-33FD1C8D6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720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C</a:t>
              </a:r>
            </a:p>
          </p:txBody>
        </p:sp>
        <p:sp>
          <p:nvSpPr>
            <p:cNvPr id="115753" name="Line 36">
              <a:extLst>
                <a:ext uri="{FF2B5EF4-FFF2-40B4-BE49-F238E27FC236}">
                  <a16:creationId xmlns:a16="http://schemas.microsoft.com/office/drawing/2014/main" id="{545FA07C-29E0-8FA8-6645-0C541089E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87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4" name="Line 37">
              <a:extLst>
                <a:ext uri="{FF2B5EF4-FFF2-40B4-BE49-F238E27FC236}">
                  <a16:creationId xmlns:a16="http://schemas.microsoft.com/office/drawing/2014/main" id="{CC733208-5BB6-65B6-8027-2C93A8535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8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5" name="Line 38">
              <a:extLst>
                <a:ext uri="{FF2B5EF4-FFF2-40B4-BE49-F238E27FC236}">
                  <a16:creationId xmlns:a16="http://schemas.microsoft.com/office/drawing/2014/main" id="{521B46CC-9F67-77DD-EDF9-CC2BC6146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86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2535" name="Group 39">
            <a:extLst>
              <a:ext uri="{FF2B5EF4-FFF2-40B4-BE49-F238E27FC236}">
                <a16:creationId xmlns:a16="http://schemas.microsoft.com/office/drawing/2014/main" id="{FCD3D40C-0BC0-DEA0-E952-F1CA4FA9286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810000"/>
            <a:ext cx="5024438" cy="1143000"/>
            <a:chOff x="2208" y="1152"/>
            <a:chExt cx="3165" cy="720"/>
          </a:xfrm>
        </p:grpSpPr>
        <p:sp>
          <p:nvSpPr>
            <p:cNvPr id="115739" name="Text Box 40">
              <a:extLst>
                <a:ext uri="{FF2B5EF4-FFF2-40B4-BE49-F238E27FC236}">
                  <a16:creationId xmlns:a16="http://schemas.microsoft.com/office/drawing/2014/main" id="{41150D74-4C83-0BF2-6EE4-99552A3E6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15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C</a:t>
              </a:r>
            </a:p>
          </p:txBody>
        </p:sp>
        <p:sp>
          <p:nvSpPr>
            <p:cNvPr id="115740" name="Text Box 41">
              <a:extLst>
                <a:ext uri="{FF2B5EF4-FFF2-40B4-BE49-F238E27FC236}">
                  <a16:creationId xmlns:a16="http://schemas.microsoft.com/office/drawing/2014/main" id="{1BE2D459-ADF7-5F49-5B12-3885E6EAF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96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D</a:t>
              </a:r>
            </a:p>
          </p:txBody>
        </p:sp>
        <p:sp>
          <p:nvSpPr>
            <p:cNvPr id="115741" name="Text Box 42">
              <a:extLst>
                <a:ext uri="{FF2B5EF4-FFF2-40B4-BE49-F238E27FC236}">
                  <a16:creationId xmlns:a16="http://schemas.microsoft.com/office/drawing/2014/main" id="{7E8A7D43-DC24-D862-C385-8B7F8EE19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7" y="1278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C</a:t>
              </a:r>
            </a:p>
          </p:txBody>
        </p:sp>
        <p:sp>
          <p:nvSpPr>
            <p:cNvPr id="115742" name="Line 43">
              <a:extLst>
                <a:ext uri="{FF2B5EF4-FFF2-40B4-BE49-F238E27FC236}">
                  <a16:creationId xmlns:a16="http://schemas.microsoft.com/office/drawing/2014/main" id="{D452A17D-85F2-4460-47FA-691F19767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49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3" name="Line 44">
              <a:extLst>
                <a:ext uri="{FF2B5EF4-FFF2-40B4-BE49-F238E27FC236}">
                  <a16:creationId xmlns:a16="http://schemas.microsoft.com/office/drawing/2014/main" id="{CBCF83F5-A0E6-BF50-40A5-ABC595CE8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1" y="1431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44" name="Group 45">
              <a:extLst>
                <a:ext uri="{FF2B5EF4-FFF2-40B4-BE49-F238E27FC236}">
                  <a16:creationId xmlns:a16="http://schemas.microsoft.com/office/drawing/2014/main" id="{D62D147E-F63D-05E9-1AE4-4D94C58FC1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248"/>
              <a:ext cx="408" cy="384"/>
              <a:chOff x="2100" y="1701"/>
              <a:chExt cx="408" cy="384"/>
            </a:xfrm>
          </p:grpSpPr>
          <p:sp>
            <p:nvSpPr>
              <p:cNvPr id="115748" name="Oval 46">
                <a:extLst>
                  <a:ext uri="{FF2B5EF4-FFF2-40B4-BE49-F238E27FC236}">
                    <a16:creationId xmlns:a16="http://schemas.microsoft.com/office/drawing/2014/main" id="{405C4D95-C058-CCAD-82C3-B5F2522A3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5749" name="Text Box 47">
                <a:extLst>
                  <a:ext uri="{FF2B5EF4-FFF2-40B4-BE49-F238E27FC236}">
                    <a16:creationId xmlns:a16="http://schemas.microsoft.com/office/drawing/2014/main" id="{0D63F688-D1D9-5B40-B2BE-BEC8E94E82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*</a:t>
                </a:r>
              </a:p>
            </p:txBody>
          </p:sp>
        </p:grpSp>
        <p:sp>
          <p:nvSpPr>
            <p:cNvPr id="115745" name="Line 48">
              <a:extLst>
                <a:ext uri="{FF2B5EF4-FFF2-40B4-BE49-F238E27FC236}">
                  <a16:creationId xmlns:a16="http://schemas.microsoft.com/office/drawing/2014/main" id="{599FF621-BA6E-CBC5-AA0E-B7E05542A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7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6" name="Line 49">
              <a:extLst>
                <a:ext uri="{FF2B5EF4-FFF2-40B4-BE49-F238E27FC236}">
                  <a16:creationId xmlns:a16="http://schemas.microsoft.com/office/drawing/2014/main" id="{221A4032-25AD-1EFF-2AD2-BEE3A1792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7" name="Freeform 50">
              <a:extLst>
                <a:ext uri="{FF2B5EF4-FFF2-40B4-BE49-F238E27FC236}">
                  <a16:creationId xmlns:a16="http://schemas.microsoft.com/office/drawing/2014/main" id="{C90146EA-2FCB-B412-6503-F3E898E65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440"/>
              <a:ext cx="2640" cy="432"/>
            </a:xfrm>
            <a:custGeom>
              <a:avLst/>
              <a:gdLst>
                <a:gd name="T0" fmla="*/ 0 w 2640"/>
                <a:gd name="T1" fmla="*/ 0 h 432"/>
                <a:gd name="T2" fmla="*/ 0 w 2640"/>
                <a:gd name="T3" fmla="*/ 432 h 432"/>
                <a:gd name="T4" fmla="*/ 2640 w 2640"/>
                <a:gd name="T5" fmla="*/ 432 h 432"/>
                <a:gd name="T6" fmla="*/ 2640 w 264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40" h="432">
                  <a:moveTo>
                    <a:pt x="0" y="0"/>
                  </a:moveTo>
                  <a:lnTo>
                    <a:pt x="0" y="432"/>
                  </a:lnTo>
                  <a:lnTo>
                    <a:pt x="2640" y="432"/>
                  </a:lnTo>
                  <a:lnTo>
                    <a:pt x="264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2565" name="Group 69">
            <a:extLst>
              <a:ext uri="{FF2B5EF4-FFF2-40B4-BE49-F238E27FC236}">
                <a16:creationId xmlns:a16="http://schemas.microsoft.com/office/drawing/2014/main" id="{D379CDA3-1286-6819-191D-20A83C8E3B1D}"/>
              </a:ext>
            </a:extLst>
          </p:cNvPr>
          <p:cNvGrpSpPr>
            <a:grpSpLocks/>
          </p:cNvGrpSpPr>
          <p:nvPr/>
        </p:nvGrpSpPr>
        <p:grpSpPr bwMode="auto">
          <a:xfrm>
            <a:off x="3509963" y="5181600"/>
            <a:ext cx="5024437" cy="1447800"/>
            <a:chOff x="2160" y="3408"/>
            <a:chExt cx="3165" cy="912"/>
          </a:xfrm>
        </p:grpSpPr>
        <p:sp>
          <p:nvSpPr>
            <p:cNvPr id="115723" name="Text Box 52">
              <a:extLst>
                <a:ext uri="{FF2B5EF4-FFF2-40B4-BE49-F238E27FC236}">
                  <a16:creationId xmlns:a16="http://schemas.microsoft.com/office/drawing/2014/main" id="{5935AF10-0F16-A2C7-83D3-2EC89DCC8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0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D</a:t>
              </a:r>
            </a:p>
          </p:txBody>
        </p:sp>
        <p:sp>
          <p:nvSpPr>
            <p:cNvPr id="115724" name="Text Box 53">
              <a:extLst>
                <a:ext uri="{FF2B5EF4-FFF2-40B4-BE49-F238E27FC236}">
                  <a16:creationId xmlns:a16="http://schemas.microsoft.com/office/drawing/2014/main" id="{7D363022-29E3-41B8-0C16-6662EC2B1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552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S</a:t>
              </a:r>
            </a:p>
          </p:txBody>
        </p:sp>
        <p:sp>
          <p:nvSpPr>
            <p:cNvPr id="115725" name="Line 55">
              <a:extLst>
                <a:ext uri="{FF2B5EF4-FFF2-40B4-BE49-F238E27FC236}">
                  <a16:creationId xmlns:a16="http://schemas.microsoft.com/office/drawing/2014/main" id="{BF0E5AC5-3AD9-1FDC-0E92-68C729448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705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26" name="Line 56">
              <a:extLst>
                <a:ext uri="{FF2B5EF4-FFF2-40B4-BE49-F238E27FC236}">
                  <a16:creationId xmlns:a16="http://schemas.microsoft.com/office/drawing/2014/main" id="{4F29B51D-BBAD-E5CF-BD4E-30BA53566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3687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27" name="Group 57">
              <a:extLst>
                <a:ext uri="{FF2B5EF4-FFF2-40B4-BE49-F238E27FC236}">
                  <a16:creationId xmlns:a16="http://schemas.microsoft.com/office/drawing/2014/main" id="{5AD09C88-43EE-F019-D9E9-003811FABA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3504"/>
              <a:ext cx="408" cy="384"/>
              <a:chOff x="2100" y="1701"/>
              <a:chExt cx="408" cy="384"/>
            </a:xfrm>
          </p:grpSpPr>
          <p:sp>
            <p:nvSpPr>
              <p:cNvPr id="115737" name="Oval 58">
                <a:extLst>
                  <a:ext uri="{FF2B5EF4-FFF2-40B4-BE49-F238E27FC236}">
                    <a16:creationId xmlns:a16="http://schemas.microsoft.com/office/drawing/2014/main" id="{67AA5A61-D869-B685-942B-D9D0668C6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5738" name="Text Box 59">
                <a:extLst>
                  <a:ext uri="{FF2B5EF4-FFF2-40B4-BE49-F238E27FC236}">
                    <a16:creationId xmlns:a16="http://schemas.microsoft.com/office/drawing/2014/main" id="{AC082470-0EB9-3212-144A-305C36E02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(</a:t>
                </a:r>
              </a:p>
            </p:txBody>
          </p:sp>
        </p:grpSp>
        <p:sp>
          <p:nvSpPr>
            <p:cNvPr id="115728" name="Line 60">
              <a:extLst>
                <a:ext uri="{FF2B5EF4-FFF2-40B4-BE49-F238E27FC236}">
                  <a16:creationId xmlns:a16="http://schemas.microsoft.com/office/drawing/2014/main" id="{558E38B6-08D0-D9AE-4B48-B710A5A1E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9" y="3696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29" name="Line 61">
              <a:extLst>
                <a:ext uri="{FF2B5EF4-FFF2-40B4-BE49-F238E27FC236}">
                  <a16:creationId xmlns:a16="http://schemas.microsoft.com/office/drawing/2014/main" id="{25BE9EF6-EE2A-778C-1B6E-0FD189338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3" y="3696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0" name="Freeform 62">
              <a:extLst>
                <a:ext uri="{FF2B5EF4-FFF2-40B4-BE49-F238E27FC236}">
                  <a16:creationId xmlns:a16="http://schemas.microsoft.com/office/drawing/2014/main" id="{5D0D73FE-593D-B7D3-F724-F8E4293C5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3696"/>
              <a:ext cx="2640" cy="432"/>
            </a:xfrm>
            <a:custGeom>
              <a:avLst/>
              <a:gdLst>
                <a:gd name="T0" fmla="*/ 0 w 2640"/>
                <a:gd name="T1" fmla="*/ 0 h 432"/>
                <a:gd name="T2" fmla="*/ 0 w 2640"/>
                <a:gd name="T3" fmla="*/ 432 h 432"/>
                <a:gd name="T4" fmla="*/ 2640 w 2640"/>
                <a:gd name="T5" fmla="*/ 432 h 432"/>
                <a:gd name="T6" fmla="*/ 2640 w 264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40" h="432">
                  <a:moveTo>
                    <a:pt x="0" y="0"/>
                  </a:moveTo>
                  <a:lnTo>
                    <a:pt x="0" y="432"/>
                  </a:lnTo>
                  <a:lnTo>
                    <a:pt x="2640" y="432"/>
                  </a:lnTo>
                  <a:lnTo>
                    <a:pt x="264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31" name="Group 63">
              <a:extLst>
                <a:ext uri="{FF2B5EF4-FFF2-40B4-BE49-F238E27FC236}">
                  <a16:creationId xmlns:a16="http://schemas.microsoft.com/office/drawing/2014/main" id="{A41E092B-3BCE-FDC7-ED51-A618711FF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504"/>
              <a:ext cx="408" cy="384"/>
              <a:chOff x="2100" y="1701"/>
              <a:chExt cx="408" cy="384"/>
            </a:xfrm>
          </p:grpSpPr>
          <p:sp>
            <p:nvSpPr>
              <p:cNvPr id="115735" name="Oval 64">
                <a:extLst>
                  <a:ext uri="{FF2B5EF4-FFF2-40B4-BE49-F238E27FC236}">
                    <a16:creationId xmlns:a16="http://schemas.microsoft.com/office/drawing/2014/main" id="{BA888AE6-0301-CD9E-33A2-4393BDAB7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5736" name="Text Box 65">
                <a:extLst>
                  <a:ext uri="{FF2B5EF4-FFF2-40B4-BE49-F238E27FC236}">
                    <a16:creationId xmlns:a16="http://schemas.microsoft.com/office/drawing/2014/main" id="{9CDF724A-E930-A8BC-33FA-451167B3B1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)</a:t>
                </a:r>
              </a:p>
            </p:txBody>
          </p:sp>
        </p:grpSp>
        <p:grpSp>
          <p:nvGrpSpPr>
            <p:cNvPr id="115732" name="Group 66">
              <a:extLst>
                <a:ext uri="{FF2B5EF4-FFF2-40B4-BE49-F238E27FC236}">
                  <a16:creationId xmlns:a16="http://schemas.microsoft.com/office/drawing/2014/main" id="{D87F5563-A07D-1E88-7E57-2FA5D9FBE6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936"/>
              <a:ext cx="408" cy="384"/>
              <a:chOff x="2100" y="1701"/>
              <a:chExt cx="408" cy="384"/>
            </a:xfrm>
          </p:grpSpPr>
          <p:sp>
            <p:nvSpPr>
              <p:cNvPr id="115733" name="Oval 67">
                <a:extLst>
                  <a:ext uri="{FF2B5EF4-FFF2-40B4-BE49-F238E27FC236}">
                    <a16:creationId xmlns:a16="http://schemas.microsoft.com/office/drawing/2014/main" id="{90F8D6D4-823F-6A11-1313-C6D893C65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5734" name="Text Box 68">
                <a:extLst>
                  <a:ext uri="{FF2B5EF4-FFF2-40B4-BE49-F238E27FC236}">
                    <a16:creationId xmlns:a16="http://schemas.microsoft.com/office/drawing/2014/main" id="{A4CC3FBD-FD4E-4DF7-0D1B-C11CC7C1AF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4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42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4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500"/>
                                        <p:tgtEl>
                                          <p:spTgt spid="164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4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4">
            <a:extLst>
              <a:ext uri="{FF2B5EF4-FFF2-40B4-BE49-F238E27FC236}">
                <a16:creationId xmlns:a16="http://schemas.microsoft.com/office/drawing/2014/main" id="{C078EE41-07C9-768B-A6DF-6B254F9C7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F5C83D-BD91-4445-BF1D-47EFE0819FA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2B8E0C0E-401A-4091-DC03-40D6ACE49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Xây dựng chương trình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0870725D-41E3-488B-819B-9A6BCBF68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763000" cy="1066800"/>
          </a:xfrm>
        </p:spPr>
        <p:txBody>
          <a:bodyPr/>
          <a:lstStyle/>
          <a:p>
            <a:pPr marL="465138" indent="-465138" eaLnBrk="1" hangingPunct="1"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sz="2800">
                <a:sym typeface="Symbol" panose="05050102010706020507" pitchFamily="18" charset="2"/>
              </a:rPr>
              <a:t>T(S) là câu lệnh diễn dịch cho sơ đồ S</a:t>
            </a:r>
          </a:p>
          <a:p>
            <a:pPr marL="465138" indent="-465138" eaLnBrk="1" hangingPunct="1"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sz="2800">
                <a:sym typeface="Symbol" panose="05050102010706020507" pitchFamily="18" charset="2"/>
              </a:rPr>
              <a:t>Ch là ký hiệu đọc trước trên xâu vào bởi </a:t>
            </a:r>
            <a:r>
              <a:rPr lang="en-US" altLang="en-US" sz="2800">
                <a:solidFill>
                  <a:srgbClr val="3539EB"/>
                </a:solidFill>
                <a:sym typeface="Symbol" panose="05050102010706020507" pitchFamily="18" charset="2"/>
              </a:rPr>
              <a:t>nextCh</a:t>
            </a:r>
          </a:p>
        </p:txBody>
      </p:sp>
      <p:sp>
        <p:nvSpPr>
          <p:cNvPr id="116741" name="Text Box 4">
            <a:extLst>
              <a:ext uri="{FF2B5EF4-FFF2-40B4-BE49-F238E27FC236}">
                <a16:creationId xmlns:a16="http://schemas.microsoft.com/office/drawing/2014/main" id="{BB520598-048E-D42F-F99E-E4D8F5B2D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16742" name="Group 57">
            <a:extLst>
              <a:ext uri="{FF2B5EF4-FFF2-40B4-BE49-F238E27FC236}">
                <a16:creationId xmlns:a16="http://schemas.microsoft.com/office/drawing/2014/main" id="{02424C22-2E87-9A9A-A58F-C97CCA1EF9BB}"/>
              </a:ext>
            </a:extLst>
          </p:cNvPr>
          <p:cNvGrpSpPr>
            <a:grpSpLocks/>
          </p:cNvGrpSpPr>
          <p:nvPr/>
        </p:nvGrpSpPr>
        <p:grpSpPr bwMode="auto">
          <a:xfrm>
            <a:off x="452438" y="1905000"/>
            <a:ext cx="7772400" cy="1295400"/>
            <a:chOff x="285" y="1200"/>
            <a:chExt cx="4896" cy="816"/>
          </a:xfrm>
        </p:grpSpPr>
        <p:grpSp>
          <p:nvGrpSpPr>
            <p:cNvPr id="116773" name="Group 7">
              <a:extLst>
                <a:ext uri="{FF2B5EF4-FFF2-40B4-BE49-F238E27FC236}">
                  <a16:creationId xmlns:a16="http://schemas.microsoft.com/office/drawing/2014/main" id="{692228EA-7AD5-ABA1-FBE5-AEFFB77C94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248"/>
              <a:ext cx="3408" cy="333"/>
              <a:chOff x="864" y="3120"/>
              <a:chExt cx="3408" cy="333"/>
            </a:xfrm>
          </p:grpSpPr>
          <p:sp>
            <p:nvSpPr>
              <p:cNvPr id="116775" name="Text Box 8">
                <a:extLst>
                  <a:ext uri="{FF2B5EF4-FFF2-40B4-BE49-F238E27FC236}">
                    <a16:creationId xmlns:a16="http://schemas.microsoft.com/office/drawing/2014/main" id="{40B9BED9-2A0B-ED65-56F4-82242979E9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120"/>
                <a:ext cx="432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X</a:t>
                </a:r>
                <a:r>
                  <a:rPr lang="en-US" altLang="en-US" sz="2800" b="0" baseline="-25000"/>
                  <a:t>1</a:t>
                </a:r>
              </a:p>
            </p:txBody>
          </p:sp>
          <p:sp>
            <p:nvSpPr>
              <p:cNvPr id="116776" name="Text Box 9">
                <a:extLst>
                  <a:ext uri="{FF2B5EF4-FFF2-40B4-BE49-F238E27FC236}">
                    <a16:creationId xmlns:a16="http://schemas.microsoft.com/office/drawing/2014/main" id="{755DCA31-E41B-E104-DEEB-778277E1F8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3120"/>
                <a:ext cx="432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X</a:t>
                </a:r>
                <a:r>
                  <a:rPr lang="en-US" altLang="en-US" sz="2800" b="0" baseline="-25000"/>
                  <a:t>2</a:t>
                </a:r>
              </a:p>
            </p:txBody>
          </p:sp>
          <p:sp>
            <p:nvSpPr>
              <p:cNvPr id="116777" name="Text Box 10">
                <a:extLst>
                  <a:ext uri="{FF2B5EF4-FFF2-40B4-BE49-F238E27FC236}">
                    <a16:creationId xmlns:a16="http://schemas.microsoft.com/office/drawing/2014/main" id="{72474101-2E17-5DF4-F4A1-556BFEEB72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3120"/>
                <a:ext cx="432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X</a:t>
                </a:r>
                <a:r>
                  <a:rPr lang="en-US" altLang="en-US" sz="2800" b="0" baseline="-25000"/>
                  <a:t>N</a:t>
                </a:r>
              </a:p>
            </p:txBody>
          </p:sp>
          <p:sp>
            <p:nvSpPr>
              <p:cNvPr id="116778" name="Line 11">
                <a:extLst>
                  <a:ext uri="{FF2B5EF4-FFF2-40B4-BE49-F238E27FC236}">
                    <a16:creationId xmlns:a16="http://schemas.microsoft.com/office/drawing/2014/main" id="{7464617F-C1FF-EA1B-027E-2D4F2EB9A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79" name="Line 12">
                <a:extLst>
                  <a:ext uri="{FF2B5EF4-FFF2-40B4-BE49-F238E27FC236}">
                    <a16:creationId xmlns:a16="http://schemas.microsoft.com/office/drawing/2014/main" id="{58F247A5-57C8-79A1-6BA7-EA6A482FF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80" name="Line 13">
                <a:extLst>
                  <a:ext uri="{FF2B5EF4-FFF2-40B4-BE49-F238E27FC236}">
                    <a16:creationId xmlns:a16="http://schemas.microsoft.com/office/drawing/2014/main" id="{EFC72C1A-1F58-72F5-8282-740AB9B11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81" name="Line 14">
                <a:extLst>
                  <a:ext uri="{FF2B5EF4-FFF2-40B4-BE49-F238E27FC236}">
                    <a16:creationId xmlns:a16="http://schemas.microsoft.com/office/drawing/2014/main" id="{5DFCABF4-9600-86A9-CB81-C8EDEA2B2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82" name="Line 15">
                <a:extLst>
                  <a:ext uri="{FF2B5EF4-FFF2-40B4-BE49-F238E27FC236}">
                    <a16:creationId xmlns:a16="http://schemas.microsoft.com/office/drawing/2014/main" id="{9931D1D9-C8DA-12E4-A4AD-C9DAA3015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83" name="Line 16">
                <a:extLst>
                  <a:ext uri="{FF2B5EF4-FFF2-40B4-BE49-F238E27FC236}">
                    <a16:creationId xmlns:a16="http://schemas.microsoft.com/office/drawing/2014/main" id="{754584D8-ABB7-C13E-60EE-B1C20A6904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326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6774" name="Rectangle 6">
              <a:extLst>
                <a:ext uri="{FF2B5EF4-FFF2-40B4-BE49-F238E27FC236}">
                  <a16:creationId xmlns:a16="http://schemas.microsoft.com/office/drawing/2014/main" id="{CCC09A55-7375-05DE-1FB0-0092D406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" y="1200"/>
              <a:ext cx="4896" cy="8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sz="2800" b="0">
                  <a:sym typeface="Symbol" panose="05050102010706020507" pitchFamily="18" charset="2"/>
                </a:rPr>
                <a:t>Sơ đồ dạng: </a:t>
              </a:r>
            </a:p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sz="2800" b="0">
                  <a:sym typeface="Symbol" panose="05050102010706020507" pitchFamily="18" charset="2"/>
                </a:rPr>
                <a:t>Diễn dịch thành: {T(X</a:t>
              </a:r>
              <a:r>
                <a:rPr lang="en-US" altLang="en-US" sz="2800" b="0" baseline="-25000">
                  <a:sym typeface="Symbol" panose="05050102010706020507" pitchFamily="18" charset="2"/>
                </a:rPr>
                <a:t>1</a:t>
              </a:r>
              <a:r>
                <a:rPr lang="en-US" altLang="en-US" sz="2800" b="0">
                  <a:sym typeface="Symbol" panose="05050102010706020507" pitchFamily="18" charset="2"/>
                </a:rPr>
                <a:t>); T(X</a:t>
              </a:r>
              <a:r>
                <a:rPr lang="en-US" altLang="en-US" sz="2800" b="0" baseline="-25000">
                  <a:sym typeface="Symbol" panose="05050102010706020507" pitchFamily="18" charset="2"/>
                </a:rPr>
                <a:t>2</a:t>
              </a:r>
              <a:r>
                <a:rPr lang="en-US" altLang="en-US" sz="2800" b="0">
                  <a:sym typeface="Symbol" panose="05050102010706020507" pitchFamily="18" charset="2"/>
                </a:rPr>
                <a:t>); …..T(X</a:t>
              </a:r>
              <a:r>
                <a:rPr lang="en-US" altLang="en-US" sz="2800" b="0" baseline="-25000">
                  <a:sym typeface="Symbol" panose="05050102010706020507" pitchFamily="18" charset="2"/>
                </a:rPr>
                <a:t>N</a:t>
              </a:r>
              <a:r>
                <a:rPr lang="en-US" altLang="en-US" sz="2800" b="0">
                  <a:sym typeface="Symbol" panose="05050102010706020507" pitchFamily="18" charset="2"/>
                </a:rPr>
                <a:t>);}</a:t>
              </a:r>
              <a:endPara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636373" name="Rectangle 21">
            <a:extLst>
              <a:ext uri="{FF2B5EF4-FFF2-40B4-BE49-F238E27FC236}">
                <a16:creationId xmlns:a16="http://schemas.microsoft.com/office/drawing/2014/main" id="{DA15EC5F-0C33-2FA1-C693-60137233F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048000"/>
            <a:ext cx="5715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800" b="0">
                <a:sym typeface="Symbol" panose="05050102010706020507" pitchFamily="18" charset="2"/>
              </a:rPr>
              <a:t> Ch in FIRST(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28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Then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T(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Else If</a:t>
            </a:r>
            <a:r>
              <a:rPr lang="en-US" altLang="en-US" sz="2800" b="0">
                <a:sym typeface="Symbol" panose="05050102010706020507" pitchFamily="18" charset="2"/>
              </a:rPr>
              <a:t> Ch in FIRST(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28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Then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T(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Else If…</a:t>
            </a:r>
          </a:p>
          <a:p>
            <a:pPr eaLnBrk="1" hangingPunct="1"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Else If</a:t>
            </a:r>
            <a:r>
              <a:rPr lang="en-US" altLang="en-US" sz="2800" b="0">
                <a:sym typeface="Symbol" panose="05050102010706020507" pitchFamily="18" charset="2"/>
              </a:rPr>
              <a:t> Ch in FIRST(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2800" b="0">
                <a:solidFill>
                  <a:srgbClr val="3539EB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Then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 T(</a:t>
            </a:r>
            <a:r>
              <a:rPr lang="el-GR" altLang="en-US" sz="2800" b="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b="0" baseline="-2500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="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l-GR" altLang="en-US" sz="2800" b="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636403" name="Group 51">
            <a:extLst>
              <a:ext uri="{FF2B5EF4-FFF2-40B4-BE49-F238E27FC236}">
                <a16:creationId xmlns:a16="http://schemas.microsoft.com/office/drawing/2014/main" id="{23154D3F-76AE-656B-0E5A-9442F1029AF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105400"/>
            <a:ext cx="8153400" cy="762000"/>
            <a:chOff x="432" y="3168"/>
            <a:chExt cx="5136" cy="480"/>
          </a:xfrm>
        </p:grpSpPr>
        <p:grpSp>
          <p:nvGrpSpPr>
            <p:cNvPr id="116768" name="Group 46">
              <a:extLst>
                <a:ext uri="{FF2B5EF4-FFF2-40B4-BE49-F238E27FC236}">
                  <a16:creationId xmlns:a16="http://schemas.microsoft.com/office/drawing/2014/main" id="{8C18A820-858C-39CF-C399-CEA01121F1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3216"/>
              <a:ext cx="1260" cy="333"/>
              <a:chOff x="3012" y="1269"/>
              <a:chExt cx="1260" cy="333"/>
            </a:xfrm>
          </p:grpSpPr>
          <p:sp>
            <p:nvSpPr>
              <p:cNvPr id="116770" name="Text Box 47">
                <a:extLst>
                  <a:ext uri="{FF2B5EF4-FFF2-40B4-BE49-F238E27FC236}">
                    <a16:creationId xmlns:a16="http://schemas.microsoft.com/office/drawing/2014/main" id="{C469DCEC-66B3-72F2-7AFA-BF79F144BF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7" y="1269"/>
                <a:ext cx="384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116771" name="Line 48">
                <a:extLst>
                  <a:ext uri="{FF2B5EF4-FFF2-40B4-BE49-F238E27FC236}">
                    <a16:creationId xmlns:a16="http://schemas.microsoft.com/office/drawing/2014/main" id="{A366FC06-FAB7-D1DD-6F28-C06D5F370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72" name="Line 49">
                <a:extLst>
                  <a:ext uri="{FF2B5EF4-FFF2-40B4-BE49-F238E27FC236}">
                    <a16:creationId xmlns:a16="http://schemas.microsoft.com/office/drawing/2014/main" id="{3018E993-7DC1-A2AC-425D-2A88C0E17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2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6769" name="Rectangle 50">
              <a:extLst>
                <a:ext uri="{FF2B5EF4-FFF2-40B4-BE49-F238E27FC236}">
                  <a16:creationId xmlns:a16="http://schemas.microsoft.com/office/drawing/2014/main" id="{E15E01D0-FA05-983B-38B5-0DFE10018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168"/>
              <a:ext cx="513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sz="2800" b="0">
                  <a:sym typeface="Symbol" panose="05050102010706020507" pitchFamily="18" charset="2"/>
                </a:rPr>
                <a:t>Sơ đồ cú pháp:                          diễn dịch: Call A</a:t>
              </a:r>
            </a:p>
          </p:txBody>
        </p:sp>
      </p:grpSp>
      <p:grpSp>
        <p:nvGrpSpPr>
          <p:cNvPr id="1636406" name="Group 54">
            <a:extLst>
              <a:ext uri="{FF2B5EF4-FFF2-40B4-BE49-F238E27FC236}">
                <a16:creationId xmlns:a16="http://schemas.microsoft.com/office/drawing/2014/main" id="{434D6618-B982-302F-6A28-7C4B522D2957}"/>
              </a:ext>
            </a:extLst>
          </p:cNvPr>
          <p:cNvGrpSpPr>
            <a:grpSpLocks/>
          </p:cNvGrpSpPr>
          <p:nvPr/>
        </p:nvGrpSpPr>
        <p:grpSpPr bwMode="auto">
          <a:xfrm>
            <a:off x="623888" y="5672138"/>
            <a:ext cx="3048000" cy="1109662"/>
            <a:chOff x="393" y="3573"/>
            <a:chExt cx="1920" cy="699"/>
          </a:xfrm>
        </p:grpSpPr>
        <p:sp>
          <p:nvSpPr>
            <p:cNvPr id="116762" name="Rectangle 39">
              <a:extLst>
                <a:ext uri="{FF2B5EF4-FFF2-40B4-BE49-F238E27FC236}">
                  <a16:creationId xmlns:a16="http://schemas.microsoft.com/office/drawing/2014/main" id="{4EA5022E-66CC-AD3F-6A2C-D8E1CA0B0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3573"/>
              <a:ext cx="192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FontTx/>
                <a:buNone/>
              </a:pPr>
              <a:r>
                <a:rPr lang="en-US" altLang="en-US" sz="2800" b="0">
                  <a:sym typeface="Symbol" panose="05050102010706020507" pitchFamily="18" charset="2"/>
                </a:rPr>
                <a:t>Sơ đồ cú pháp</a:t>
              </a:r>
            </a:p>
          </p:txBody>
        </p:sp>
        <p:grpSp>
          <p:nvGrpSpPr>
            <p:cNvPr id="116763" name="Group 40">
              <a:extLst>
                <a:ext uri="{FF2B5EF4-FFF2-40B4-BE49-F238E27FC236}">
                  <a16:creationId xmlns:a16="http://schemas.microsoft.com/office/drawing/2014/main" id="{682126CE-22BC-D7F7-5C6E-EFD07309A2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888"/>
              <a:ext cx="1296" cy="384"/>
              <a:chOff x="2976" y="720"/>
              <a:chExt cx="1296" cy="384"/>
            </a:xfrm>
          </p:grpSpPr>
          <p:sp>
            <p:nvSpPr>
              <p:cNvPr id="116764" name="Oval 41">
                <a:extLst>
                  <a:ext uri="{FF2B5EF4-FFF2-40B4-BE49-F238E27FC236}">
                    <a16:creationId xmlns:a16="http://schemas.microsoft.com/office/drawing/2014/main" id="{0DD36D10-AE94-7039-B2AA-102ED2C7A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720"/>
                <a:ext cx="432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6765" name="Text Box 42">
                <a:extLst>
                  <a:ext uri="{FF2B5EF4-FFF2-40B4-BE49-F238E27FC236}">
                    <a16:creationId xmlns:a16="http://schemas.microsoft.com/office/drawing/2014/main" id="{F56D50E4-DDC2-7A16-4D8D-4E8EE8175C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3" y="729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116766" name="Line 43">
                <a:extLst>
                  <a:ext uri="{FF2B5EF4-FFF2-40B4-BE49-F238E27FC236}">
                    <a16:creationId xmlns:a16="http://schemas.microsoft.com/office/drawing/2014/main" id="{E0FA0FDD-A71D-077A-5BA9-E8A5DD3EE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91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67" name="Line 44">
                <a:extLst>
                  <a:ext uri="{FF2B5EF4-FFF2-40B4-BE49-F238E27FC236}">
                    <a16:creationId xmlns:a16="http://schemas.microsoft.com/office/drawing/2014/main" id="{894328BF-7CCE-EDFF-8426-CC817CA77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6" y="91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636404" name="Rectangle 52">
            <a:extLst>
              <a:ext uri="{FF2B5EF4-FFF2-40B4-BE49-F238E27FC236}">
                <a16:creationId xmlns:a16="http://schemas.microsoft.com/office/drawing/2014/main" id="{5B5B4E1B-5719-F5FD-45F1-513CE5A73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776913"/>
            <a:ext cx="5486400" cy="928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800" b="0">
                <a:sym typeface="Symbol" panose="05050102010706020507" pitchFamily="18" charset="2"/>
              </a:rPr>
              <a:t> Ch = a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800" b="0">
                <a:sym typeface="Symbol" panose="05050102010706020507" pitchFamily="18" charset="2"/>
              </a:rPr>
              <a:t> </a:t>
            </a: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nextCh</a:t>
            </a:r>
          </a:p>
          <a:p>
            <a:pPr eaLnBrk="1" hangingPunct="1">
              <a:buFontTx/>
              <a:buNone/>
            </a:pPr>
            <a:r>
              <a:rPr lang="en-US" altLang="en-US" sz="2800" b="0">
                <a:solidFill>
                  <a:srgbClr val="3539EB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2800" b="0">
                <a:sym typeface="Symbol" panose="05050102010706020507" pitchFamily="18" charset="2"/>
              </a:rPr>
              <a:t> </a:t>
            </a:r>
            <a:r>
              <a:rPr lang="en-US" altLang="en-US" sz="2800" b="0">
                <a:solidFill>
                  <a:srgbClr val="FA0617"/>
                </a:solidFill>
                <a:sym typeface="Symbol" panose="05050102010706020507" pitchFamily="18" charset="2"/>
              </a:rPr>
              <a:t>Error</a:t>
            </a:r>
            <a:r>
              <a:rPr lang="en-US" altLang="en-US" sz="2800" b="0">
                <a:sym typeface="Symbol" panose="05050102010706020507" pitchFamily="18" charset="2"/>
              </a:rPr>
              <a:t> (Đang đợi ký hiệu a)</a:t>
            </a:r>
          </a:p>
        </p:txBody>
      </p:sp>
      <p:grpSp>
        <p:nvGrpSpPr>
          <p:cNvPr id="1636408" name="Group 56">
            <a:extLst>
              <a:ext uri="{FF2B5EF4-FFF2-40B4-BE49-F238E27FC236}">
                <a16:creationId xmlns:a16="http://schemas.microsoft.com/office/drawing/2014/main" id="{D3BBC423-2246-5306-D1E7-3752C7A169F8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048000"/>
            <a:ext cx="2971800" cy="1824038"/>
            <a:chOff x="144" y="1920"/>
            <a:chExt cx="1872" cy="1149"/>
          </a:xfrm>
        </p:grpSpPr>
        <p:grpSp>
          <p:nvGrpSpPr>
            <p:cNvPr id="116748" name="Group 37">
              <a:extLst>
                <a:ext uri="{FF2B5EF4-FFF2-40B4-BE49-F238E27FC236}">
                  <a16:creationId xmlns:a16="http://schemas.microsoft.com/office/drawing/2014/main" id="{6986BBC4-97D1-8323-1711-8DC1480855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016"/>
              <a:ext cx="1872" cy="1053"/>
              <a:chOff x="528" y="2163"/>
              <a:chExt cx="1872" cy="1053"/>
            </a:xfrm>
          </p:grpSpPr>
          <p:sp>
            <p:nvSpPr>
              <p:cNvPr id="116750" name="Text Box 23">
                <a:extLst>
                  <a:ext uri="{FF2B5EF4-FFF2-40B4-BE49-F238E27FC236}">
                    <a16:creationId xmlns:a16="http://schemas.microsoft.com/office/drawing/2014/main" id="{1E742AB2-B43D-210D-F91F-AFC6BD42F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2163"/>
                <a:ext cx="528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l-GR" altLang="en-US" sz="2800" b="0">
                    <a:sym typeface="Symbol" panose="05050102010706020507" pitchFamily="18" charset="2"/>
                  </a:rPr>
                  <a:t>α</a:t>
                </a:r>
                <a:r>
                  <a:rPr lang="en-US" altLang="en-US" sz="2800" b="0" baseline="-25000"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116751" name="Text Box 24">
                <a:extLst>
                  <a:ext uri="{FF2B5EF4-FFF2-40B4-BE49-F238E27FC236}">
                    <a16:creationId xmlns:a16="http://schemas.microsoft.com/office/drawing/2014/main" id="{912E93D6-C138-8C74-5A2F-4C4D9438C5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2883"/>
                <a:ext cx="528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l-GR" altLang="en-US" sz="2800" b="0">
                    <a:sym typeface="Symbol" panose="05050102010706020507" pitchFamily="18" charset="2"/>
                  </a:rPr>
                  <a:t>α</a:t>
                </a:r>
                <a:r>
                  <a:rPr lang="en-US" altLang="en-US" sz="2800" b="0" baseline="-25000">
                    <a:sym typeface="Symbol" panose="05050102010706020507" pitchFamily="18" charset="2"/>
                  </a:rPr>
                  <a:t>n</a:t>
                </a:r>
              </a:p>
            </p:txBody>
          </p:sp>
          <p:sp>
            <p:nvSpPr>
              <p:cNvPr id="116752" name="Line 26">
                <a:extLst>
                  <a:ext uri="{FF2B5EF4-FFF2-40B4-BE49-F238E27FC236}">
                    <a16:creationId xmlns:a16="http://schemas.microsoft.com/office/drawing/2014/main" id="{5C8516F0-7011-DEC6-8E50-148488561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307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3" name="Line 27">
                <a:extLst>
                  <a:ext uri="{FF2B5EF4-FFF2-40B4-BE49-F238E27FC236}">
                    <a16:creationId xmlns:a16="http://schemas.microsoft.com/office/drawing/2014/main" id="{2F9389FD-B1BB-C14C-2E48-A67611D1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" y="2691"/>
                <a:ext cx="384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4" name="Line 28">
                <a:extLst>
                  <a:ext uri="{FF2B5EF4-FFF2-40B4-BE49-F238E27FC236}">
                    <a16:creationId xmlns:a16="http://schemas.microsoft.com/office/drawing/2014/main" id="{4BFC50B0-1D5F-70DB-AF59-42006F49F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91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5" name="Line 29">
                <a:extLst>
                  <a:ext uri="{FF2B5EF4-FFF2-40B4-BE49-F238E27FC236}">
                    <a16:creationId xmlns:a16="http://schemas.microsoft.com/office/drawing/2014/main" id="{2FED2AFB-C722-2762-53A7-6CF90EAA4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8" y="2307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6" name="Line 31">
                <a:extLst>
                  <a:ext uri="{FF2B5EF4-FFF2-40B4-BE49-F238E27FC236}">
                    <a16:creationId xmlns:a16="http://schemas.microsoft.com/office/drawing/2014/main" id="{72687A9E-C36E-C4EA-CD4A-9FB7E3AE4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8" y="2547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7" name="Line 32">
                <a:extLst>
                  <a:ext uri="{FF2B5EF4-FFF2-40B4-BE49-F238E27FC236}">
                    <a16:creationId xmlns:a16="http://schemas.microsoft.com/office/drawing/2014/main" id="{A1D5C609-72FF-3B6C-7CD0-64ED06D63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691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8" name="Line 33">
                <a:extLst>
                  <a:ext uri="{FF2B5EF4-FFF2-40B4-BE49-F238E27FC236}">
                    <a16:creationId xmlns:a16="http://schemas.microsoft.com/office/drawing/2014/main" id="{6972864F-85E3-AD70-D42B-0DEAAF1C9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547"/>
                <a:ext cx="38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59" name="Line 34">
                <a:extLst>
                  <a:ext uri="{FF2B5EF4-FFF2-40B4-BE49-F238E27FC236}">
                    <a16:creationId xmlns:a16="http://schemas.microsoft.com/office/drawing/2014/main" id="{12F92D2E-7628-110E-C3A0-8252F7182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72" y="2691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60" name="Line 35">
                <a:extLst>
                  <a:ext uri="{FF2B5EF4-FFF2-40B4-BE49-F238E27FC236}">
                    <a16:creationId xmlns:a16="http://schemas.microsoft.com/office/drawing/2014/main" id="{88A436D6-E0A2-E9DF-6487-D8D499B351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8" y="268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61" name="Line 36">
                <a:extLst>
                  <a:ext uri="{FF2B5EF4-FFF2-40B4-BE49-F238E27FC236}">
                    <a16:creationId xmlns:a16="http://schemas.microsoft.com/office/drawing/2014/main" id="{79D3C1A9-05FF-627B-4B1F-142614C5FC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6749" name="Text Box 55">
              <a:extLst>
                <a:ext uri="{FF2B5EF4-FFF2-40B4-BE49-F238E27FC236}">
                  <a16:creationId xmlns:a16="http://schemas.microsoft.com/office/drawing/2014/main" id="{BAFD1282-D74F-3A28-9212-57AACB820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20"/>
              <a:ext cx="48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Sơ đồ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63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3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3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3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500"/>
                                        <p:tgtEl>
                                          <p:spTgt spid="163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6373" grpId="0"/>
      <p:bldP spid="1636404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4">
            <a:extLst>
              <a:ext uri="{FF2B5EF4-FFF2-40B4-BE49-F238E27FC236}">
                <a16:creationId xmlns:a16="http://schemas.microsoft.com/office/drawing/2014/main" id="{F0BD6300-2B61-ED25-18EF-56AD5A319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160410-AC85-4FA3-9DDD-18E4B10D833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06713AE8-0C14-2F4D-207C-AFDF89D28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Xây dựng chương trình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  <a:endParaRPr lang="en-US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37379" name="Rectangle 3">
            <a:extLst>
              <a:ext uri="{FF2B5EF4-FFF2-40B4-BE49-F238E27FC236}">
                <a16:creationId xmlns:a16="http://schemas.microsoft.com/office/drawing/2014/main" id="{5DC97DDF-0DD6-5C86-474E-13B9154D9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3657600"/>
            <a:ext cx="3657600" cy="22098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void S(){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B();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A();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 }</a:t>
            </a:r>
          </a:p>
        </p:txBody>
      </p:sp>
      <p:sp>
        <p:nvSpPr>
          <p:cNvPr id="117765" name="Text Box 4">
            <a:extLst>
              <a:ext uri="{FF2B5EF4-FFF2-40B4-BE49-F238E27FC236}">
                <a16:creationId xmlns:a16="http://schemas.microsoft.com/office/drawing/2014/main" id="{AD0FEE94-397F-31C3-B473-4BFF96730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17766" name="Group 25">
            <a:extLst>
              <a:ext uri="{FF2B5EF4-FFF2-40B4-BE49-F238E27FC236}">
                <a16:creationId xmlns:a16="http://schemas.microsoft.com/office/drawing/2014/main" id="{19BEBFA3-833E-DAF3-6AD1-E819038ED96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438400"/>
            <a:ext cx="4038600" cy="757238"/>
            <a:chOff x="528" y="1488"/>
            <a:chExt cx="2544" cy="477"/>
          </a:xfrm>
        </p:grpSpPr>
        <p:sp>
          <p:nvSpPr>
            <p:cNvPr id="117780" name="Text Box 6">
              <a:extLst>
                <a:ext uri="{FF2B5EF4-FFF2-40B4-BE49-F238E27FC236}">
                  <a16:creationId xmlns:a16="http://schemas.microsoft.com/office/drawing/2014/main" id="{08B0D4B4-FD81-63B8-C72D-957B52541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8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S</a:t>
              </a:r>
            </a:p>
          </p:txBody>
        </p:sp>
        <p:sp>
          <p:nvSpPr>
            <p:cNvPr id="117781" name="Text Box 7">
              <a:extLst>
                <a:ext uri="{FF2B5EF4-FFF2-40B4-BE49-F238E27FC236}">
                  <a16:creationId xmlns:a16="http://schemas.microsoft.com/office/drawing/2014/main" id="{39F0EB06-38FB-A775-9581-C234744EA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32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17782" name="Text Box 8">
              <a:extLst>
                <a:ext uri="{FF2B5EF4-FFF2-40B4-BE49-F238E27FC236}">
                  <a16:creationId xmlns:a16="http://schemas.microsoft.com/office/drawing/2014/main" id="{8423B520-ECC9-B044-0302-5535127F3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632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17783" name="Line 9">
              <a:extLst>
                <a:ext uri="{FF2B5EF4-FFF2-40B4-BE49-F238E27FC236}">
                  <a16:creationId xmlns:a16="http://schemas.microsoft.com/office/drawing/2014/main" id="{404BB078-316D-E4C4-2C53-36ADEAAB6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785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4" name="Line 10">
              <a:extLst>
                <a:ext uri="{FF2B5EF4-FFF2-40B4-BE49-F238E27FC236}">
                  <a16:creationId xmlns:a16="http://schemas.microsoft.com/office/drawing/2014/main" id="{59F9DFD7-3DE4-8FE6-8D0C-86CCF7C02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76"/>
              <a:ext cx="76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5" name="Line 11">
              <a:extLst>
                <a:ext uri="{FF2B5EF4-FFF2-40B4-BE49-F238E27FC236}">
                  <a16:creationId xmlns:a16="http://schemas.microsoft.com/office/drawing/2014/main" id="{5E236549-3880-BA2E-1ED9-CC6ACA470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776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7388" name="Group 12">
            <a:extLst>
              <a:ext uri="{FF2B5EF4-FFF2-40B4-BE49-F238E27FC236}">
                <a16:creationId xmlns:a16="http://schemas.microsoft.com/office/drawing/2014/main" id="{DC2B3119-EA03-BD63-30AF-0042C264A36C}"/>
              </a:ext>
            </a:extLst>
          </p:cNvPr>
          <p:cNvGrpSpPr>
            <a:grpSpLocks/>
          </p:cNvGrpSpPr>
          <p:nvPr/>
        </p:nvGrpSpPr>
        <p:grpSpPr bwMode="auto">
          <a:xfrm>
            <a:off x="4119563" y="914400"/>
            <a:ext cx="5024437" cy="1143000"/>
            <a:chOff x="2208" y="1152"/>
            <a:chExt cx="3165" cy="720"/>
          </a:xfrm>
        </p:grpSpPr>
        <p:sp>
          <p:nvSpPr>
            <p:cNvPr id="117769" name="Text Box 13">
              <a:extLst>
                <a:ext uri="{FF2B5EF4-FFF2-40B4-BE49-F238E27FC236}">
                  <a16:creationId xmlns:a16="http://schemas.microsoft.com/office/drawing/2014/main" id="{BC423A68-F285-B6C0-9379-83F18E324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15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17770" name="Text Box 14">
              <a:extLst>
                <a:ext uri="{FF2B5EF4-FFF2-40B4-BE49-F238E27FC236}">
                  <a16:creationId xmlns:a16="http://schemas.microsoft.com/office/drawing/2014/main" id="{B351CC98-1B07-F990-C715-31114A21A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96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17771" name="Text Box 15">
              <a:extLst>
                <a:ext uri="{FF2B5EF4-FFF2-40B4-BE49-F238E27FC236}">
                  <a16:creationId xmlns:a16="http://schemas.microsoft.com/office/drawing/2014/main" id="{3CE265C1-8046-8064-5B61-79D1F733B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7" y="1278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17772" name="Line 16">
              <a:extLst>
                <a:ext uri="{FF2B5EF4-FFF2-40B4-BE49-F238E27FC236}">
                  <a16:creationId xmlns:a16="http://schemas.microsoft.com/office/drawing/2014/main" id="{F83BA8AE-43FE-87CC-EBFB-2067248CB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49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73" name="Line 17">
              <a:extLst>
                <a:ext uri="{FF2B5EF4-FFF2-40B4-BE49-F238E27FC236}">
                  <a16:creationId xmlns:a16="http://schemas.microsoft.com/office/drawing/2014/main" id="{1B7C0613-6AB5-BB7E-AED5-ED4B80CDB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1" y="1431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74" name="Group 18">
              <a:extLst>
                <a:ext uri="{FF2B5EF4-FFF2-40B4-BE49-F238E27FC236}">
                  <a16:creationId xmlns:a16="http://schemas.microsoft.com/office/drawing/2014/main" id="{78626D8D-351E-A1CA-4C81-73DC2D4E54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248"/>
              <a:ext cx="408" cy="384"/>
              <a:chOff x="2100" y="1701"/>
              <a:chExt cx="408" cy="384"/>
            </a:xfrm>
          </p:grpSpPr>
          <p:sp>
            <p:nvSpPr>
              <p:cNvPr id="117778" name="Oval 19">
                <a:extLst>
                  <a:ext uri="{FF2B5EF4-FFF2-40B4-BE49-F238E27FC236}">
                    <a16:creationId xmlns:a16="http://schemas.microsoft.com/office/drawing/2014/main" id="{FE1BAC37-08B0-5BBF-72C3-F2C40C408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779" name="Text Box 20">
                <a:extLst>
                  <a:ext uri="{FF2B5EF4-FFF2-40B4-BE49-F238E27FC236}">
                    <a16:creationId xmlns:a16="http://schemas.microsoft.com/office/drawing/2014/main" id="{F820A3BA-7C92-C50E-47C7-FF3F198874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+</a:t>
                </a:r>
              </a:p>
            </p:txBody>
          </p:sp>
        </p:grpSp>
        <p:sp>
          <p:nvSpPr>
            <p:cNvPr id="117775" name="Line 21">
              <a:extLst>
                <a:ext uri="{FF2B5EF4-FFF2-40B4-BE49-F238E27FC236}">
                  <a16:creationId xmlns:a16="http://schemas.microsoft.com/office/drawing/2014/main" id="{00AADB0E-8C38-9515-93E4-6D000EBF5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7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76" name="Line 22">
              <a:extLst>
                <a:ext uri="{FF2B5EF4-FFF2-40B4-BE49-F238E27FC236}">
                  <a16:creationId xmlns:a16="http://schemas.microsoft.com/office/drawing/2014/main" id="{C9EE21E0-1B94-F781-A035-6F4B4D8F8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77" name="Freeform 23">
              <a:extLst>
                <a:ext uri="{FF2B5EF4-FFF2-40B4-BE49-F238E27FC236}">
                  <a16:creationId xmlns:a16="http://schemas.microsoft.com/office/drawing/2014/main" id="{A81969A1-03E1-DF1F-8008-23CEC3626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440"/>
              <a:ext cx="2640" cy="432"/>
            </a:xfrm>
            <a:custGeom>
              <a:avLst/>
              <a:gdLst>
                <a:gd name="T0" fmla="*/ 0 w 2640"/>
                <a:gd name="T1" fmla="*/ 0 h 432"/>
                <a:gd name="T2" fmla="*/ 0 w 2640"/>
                <a:gd name="T3" fmla="*/ 432 h 432"/>
                <a:gd name="T4" fmla="*/ 2640 w 2640"/>
                <a:gd name="T5" fmla="*/ 432 h 432"/>
                <a:gd name="T6" fmla="*/ 2640 w 264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40" h="432">
                  <a:moveTo>
                    <a:pt x="0" y="0"/>
                  </a:moveTo>
                  <a:lnTo>
                    <a:pt x="0" y="432"/>
                  </a:lnTo>
                  <a:lnTo>
                    <a:pt x="2640" y="432"/>
                  </a:lnTo>
                  <a:lnTo>
                    <a:pt x="264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7400" name="Rectangle 24">
            <a:extLst>
              <a:ext uri="{FF2B5EF4-FFF2-40B4-BE49-F238E27FC236}">
                <a16:creationId xmlns:a16="http://schemas.microsoft.com/office/drawing/2014/main" id="{E7F2E866-AEFB-A413-1778-516813F26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514600"/>
            <a:ext cx="3200400" cy="4038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void A(){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   if( Ch==‘+’) {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	nextCh();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  	B();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	A();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}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3737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3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63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63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37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63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3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7379" grpId="0" build="p" animBg="1"/>
      <p:bldP spid="1637400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4">
            <a:extLst>
              <a:ext uri="{FF2B5EF4-FFF2-40B4-BE49-F238E27FC236}">
                <a16:creationId xmlns:a16="http://schemas.microsoft.com/office/drawing/2014/main" id="{0FA84CA9-BA7B-1C72-51A6-E424CDB876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6D3EBD-8AE0-42C5-8FBB-3ADB604BE34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2B6AA5BF-A49C-80C3-BC72-C770C86C3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Xây dựng chương trình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  <a:endParaRPr lang="en-US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55811" name="Rectangle 3">
            <a:extLst>
              <a:ext uri="{FF2B5EF4-FFF2-40B4-BE49-F238E27FC236}">
                <a16:creationId xmlns:a16="http://schemas.microsoft.com/office/drawing/2014/main" id="{BC2AE8D6-265A-A094-8B22-0358433CA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5400" y="3886200"/>
            <a:ext cx="3657600" cy="22098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void B(){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D();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C();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 }</a:t>
            </a:r>
          </a:p>
        </p:txBody>
      </p:sp>
      <p:sp>
        <p:nvSpPr>
          <p:cNvPr id="118789" name="Text Box 4">
            <a:extLst>
              <a:ext uri="{FF2B5EF4-FFF2-40B4-BE49-F238E27FC236}">
                <a16:creationId xmlns:a16="http://schemas.microsoft.com/office/drawing/2014/main" id="{6E37470C-20E7-F2D8-8FA3-EB5228E26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18790" name="Group 5">
            <a:extLst>
              <a:ext uri="{FF2B5EF4-FFF2-40B4-BE49-F238E27FC236}">
                <a16:creationId xmlns:a16="http://schemas.microsoft.com/office/drawing/2014/main" id="{974C20BA-9D76-9215-76E6-909A94B15A3A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667000"/>
            <a:ext cx="4038600" cy="757238"/>
            <a:chOff x="528" y="1488"/>
            <a:chExt cx="2544" cy="477"/>
          </a:xfrm>
        </p:grpSpPr>
        <p:sp>
          <p:nvSpPr>
            <p:cNvPr id="118804" name="Text Box 6">
              <a:extLst>
                <a:ext uri="{FF2B5EF4-FFF2-40B4-BE49-F238E27FC236}">
                  <a16:creationId xmlns:a16="http://schemas.microsoft.com/office/drawing/2014/main" id="{3F1C53FD-D82D-6913-D14B-8A2059FC4D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8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18805" name="Text Box 7">
              <a:extLst>
                <a:ext uri="{FF2B5EF4-FFF2-40B4-BE49-F238E27FC236}">
                  <a16:creationId xmlns:a16="http://schemas.microsoft.com/office/drawing/2014/main" id="{D861BA58-7448-1962-B561-5DBEF1CA0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32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D</a:t>
              </a:r>
            </a:p>
          </p:txBody>
        </p:sp>
        <p:sp>
          <p:nvSpPr>
            <p:cNvPr id="118806" name="Text Box 8">
              <a:extLst>
                <a:ext uri="{FF2B5EF4-FFF2-40B4-BE49-F238E27FC236}">
                  <a16:creationId xmlns:a16="http://schemas.microsoft.com/office/drawing/2014/main" id="{D4C7CBE7-1E34-07B8-A752-4EABCD06D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632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C</a:t>
              </a:r>
            </a:p>
          </p:txBody>
        </p:sp>
        <p:sp>
          <p:nvSpPr>
            <p:cNvPr id="118807" name="Line 9">
              <a:extLst>
                <a:ext uri="{FF2B5EF4-FFF2-40B4-BE49-F238E27FC236}">
                  <a16:creationId xmlns:a16="http://schemas.microsoft.com/office/drawing/2014/main" id="{5C077261-8098-F373-078E-471597B7D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785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8" name="Line 10">
              <a:extLst>
                <a:ext uri="{FF2B5EF4-FFF2-40B4-BE49-F238E27FC236}">
                  <a16:creationId xmlns:a16="http://schemas.microsoft.com/office/drawing/2014/main" id="{9B2897FE-C7A6-59A1-4B4B-51B263337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76"/>
              <a:ext cx="76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9" name="Line 11">
              <a:extLst>
                <a:ext uri="{FF2B5EF4-FFF2-40B4-BE49-F238E27FC236}">
                  <a16:creationId xmlns:a16="http://schemas.microsoft.com/office/drawing/2014/main" id="{53DE1F4C-85AB-F9CF-F42A-2E865A4AA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776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55820" name="Group 12">
            <a:extLst>
              <a:ext uri="{FF2B5EF4-FFF2-40B4-BE49-F238E27FC236}">
                <a16:creationId xmlns:a16="http://schemas.microsoft.com/office/drawing/2014/main" id="{6ABDE429-130F-8E0F-0CA0-9707A9AAE83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990600"/>
            <a:ext cx="5024438" cy="1143000"/>
            <a:chOff x="2208" y="1152"/>
            <a:chExt cx="3165" cy="720"/>
          </a:xfrm>
        </p:grpSpPr>
        <p:sp>
          <p:nvSpPr>
            <p:cNvPr id="118793" name="Text Box 13">
              <a:extLst>
                <a:ext uri="{FF2B5EF4-FFF2-40B4-BE49-F238E27FC236}">
                  <a16:creationId xmlns:a16="http://schemas.microsoft.com/office/drawing/2014/main" id="{D51C9250-C6A0-4B56-CDDE-876EB3E2D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15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C</a:t>
              </a:r>
            </a:p>
          </p:txBody>
        </p:sp>
        <p:sp>
          <p:nvSpPr>
            <p:cNvPr id="118794" name="Text Box 14">
              <a:extLst>
                <a:ext uri="{FF2B5EF4-FFF2-40B4-BE49-F238E27FC236}">
                  <a16:creationId xmlns:a16="http://schemas.microsoft.com/office/drawing/2014/main" id="{A1158278-959A-6167-D3DB-E5B823854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96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D</a:t>
              </a:r>
            </a:p>
          </p:txBody>
        </p:sp>
        <p:sp>
          <p:nvSpPr>
            <p:cNvPr id="118795" name="Text Box 15">
              <a:extLst>
                <a:ext uri="{FF2B5EF4-FFF2-40B4-BE49-F238E27FC236}">
                  <a16:creationId xmlns:a16="http://schemas.microsoft.com/office/drawing/2014/main" id="{A2AF9ACE-05EC-3550-7AB2-1812FF983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7" y="1278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C</a:t>
              </a:r>
            </a:p>
          </p:txBody>
        </p:sp>
        <p:sp>
          <p:nvSpPr>
            <p:cNvPr id="118796" name="Line 16">
              <a:extLst>
                <a:ext uri="{FF2B5EF4-FFF2-40B4-BE49-F238E27FC236}">
                  <a16:creationId xmlns:a16="http://schemas.microsoft.com/office/drawing/2014/main" id="{E98F4088-6153-44E7-2A6B-CC1CC424B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49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97" name="Line 17">
              <a:extLst>
                <a:ext uri="{FF2B5EF4-FFF2-40B4-BE49-F238E27FC236}">
                  <a16:creationId xmlns:a16="http://schemas.microsoft.com/office/drawing/2014/main" id="{9EA980A6-8148-D9A8-6F4C-6CB185391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1" y="1431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798" name="Group 18">
              <a:extLst>
                <a:ext uri="{FF2B5EF4-FFF2-40B4-BE49-F238E27FC236}">
                  <a16:creationId xmlns:a16="http://schemas.microsoft.com/office/drawing/2014/main" id="{1585C048-0DE5-8AF9-120F-7C494E1319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248"/>
              <a:ext cx="408" cy="384"/>
              <a:chOff x="2100" y="1701"/>
              <a:chExt cx="408" cy="384"/>
            </a:xfrm>
          </p:grpSpPr>
          <p:sp>
            <p:nvSpPr>
              <p:cNvPr id="118802" name="Oval 19">
                <a:extLst>
                  <a:ext uri="{FF2B5EF4-FFF2-40B4-BE49-F238E27FC236}">
                    <a16:creationId xmlns:a16="http://schemas.microsoft.com/office/drawing/2014/main" id="{E9C192C4-A23F-EB2A-8E7F-C6A660A10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803" name="Text Box 20">
                <a:extLst>
                  <a:ext uri="{FF2B5EF4-FFF2-40B4-BE49-F238E27FC236}">
                    <a16:creationId xmlns:a16="http://schemas.microsoft.com/office/drawing/2014/main" id="{42EEDDE5-59D4-41E6-1B75-5B5CA364C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*</a:t>
                </a:r>
              </a:p>
            </p:txBody>
          </p:sp>
        </p:grpSp>
        <p:sp>
          <p:nvSpPr>
            <p:cNvPr id="118799" name="Line 21">
              <a:extLst>
                <a:ext uri="{FF2B5EF4-FFF2-40B4-BE49-F238E27FC236}">
                  <a16:creationId xmlns:a16="http://schemas.microsoft.com/office/drawing/2014/main" id="{D34A1C43-5A98-E0D9-BBAE-6DE445D60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7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0" name="Line 22">
              <a:extLst>
                <a:ext uri="{FF2B5EF4-FFF2-40B4-BE49-F238E27FC236}">
                  <a16:creationId xmlns:a16="http://schemas.microsoft.com/office/drawing/2014/main" id="{288122FC-073C-B3CD-7344-66A1D3070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" y="1440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1" name="Freeform 23">
              <a:extLst>
                <a:ext uri="{FF2B5EF4-FFF2-40B4-BE49-F238E27FC236}">
                  <a16:creationId xmlns:a16="http://schemas.microsoft.com/office/drawing/2014/main" id="{A336D5A4-AD57-6288-B2E2-DACEABC24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440"/>
              <a:ext cx="2640" cy="432"/>
            </a:xfrm>
            <a:custGeom>
              <a:avLst/>
              <a:gdLst>
                <a:gd name="T0" fmla="*/ 0 w 2640"/>
                <a:gd name="T1" fmla="*/ 0 h 432"/>
                <a:gd name="T2" fmla="*/ 0 w 2640"/>
                <a:gd name="T3" fmla="*/ 432 h 432"/>
                <a:gd name="T4" fmla="*/ 2640 w 2640"/>
                <a:gd name="T5" fmla="*/ 432 h 432"/>
                <a:gd name="T6" fmla="*/ 2640 w 264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40" h="432">
                  <a:moveTo>
                    <a:pt x="0" y="0"/>
                  </a:moveTo>
                  <a:lnTo>
                    <a:pt x="0" y="432"/>
                  </a:lnTo>
                  <a:lnTo>
                    <a:pt x="2640" y="432"/>
                  </a:lnTo>
                  <a:lnTo>
                    <a:pt x="264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55832" name="Rectangle 24">
            <a:extLst>
              <a:ext uri="{FF2B5EF4-FFF2-40B4-BE49-F238E27FC236}">
                <a16:creationId xmlns:a16="http://schemas.microsoft.com/office/drawing/2014/main" id="{D1B3BDBB-C9C7-EDDF-FF87-AEEC0850B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438400"/>
            <a:ext cx="3200400" cy="4038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void C(){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   if( Ch==‘*’) {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	nextCh();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  	D();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	C();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}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58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5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5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5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5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65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65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5811" grpId="0" build="p" animBg="1"/>
      <p:bldP spid="165583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4">
            <a:extLst>
              <a:ext uri="{FF2B5EF4-FFF2-40B4-BE49-F238E27FC236}">
                <a16:creationId xmlns:a16="http://schemas.microsoft.com/office/drawing/2014/main" id="{6F3E836C-17B8-256D-F0AF-9B8B5C3725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BA523D-9F87-4F78-9DE4-8304B7D1FBE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633B9BDD-B9D2-568B-DCC0-563AAABCE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Xây dựng chương trình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  <a:endParaRPr lang="en-US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54787" name="Rectangle 3">
            <a:extLst>
              <a:ext uri="{FF2B5EF4-FFF2-40B4-BE49-F238E27FC236}">
                <a16:creationId xmlns:a16="http://schemas.microsoft.com/office/drawing/2014/main" id="{2A8D8F35-596D-01FD-8F15-6F2B1BCAE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889000"/>
            <a:ext cx="8670925" cy="58928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void D(){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 if(Ch==‘(‘){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 nextCh();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 S();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 if(Ch==‘)‘) nextCh();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else Error(“Thieu đong ngoac”);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} else if(Ch==‘a‘) nextCh();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  else Error(“Thieu toan hang”);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}</a:t>
            </a:r>
          </a:p>
        </p:txBody>
      </p:sp>
      <p:sp>
        <p:nvSpPr>
          <p:cNvPr id="119813" name="Text Box 4">
            <a:extLst>
              <a:ext uri="{FF2B5EF4-FFF2-40B4-BE49-F238E27FC236}">
                <a16:creationId xmlns:a16="http://schemas.microsoft.com/office/drawing/2014/main" id="{DD13B22D-8A4A-F620-6789-6C6404513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19814" name="Group 5">
            <a:extLst>
              <a:ext uri="{FF2B5EF4-FFF2-40B4-BE49-F238E27FC236}">
                <a16:creationId xmlns:a16="http://schemas.microsoft.com/office/drawing/2014/main" id="{8F010833-16A4-FC7A-0A29-D5745896AC0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990600"/>
            <a:ext cx="5024438" cy="1447800"/>
            <a:chOff x="2160" y="3408"/>
            <a:chExt cx="3165" cy="912"/>
          </a:xfrm>
        </p:grpSpPr>
        <p:sp>
          <p:nvSpPr>
            <p:cNvPr id="119815" name="Text Box 6">
              <a:extLst>
                <a:ext uri="{FF2B5EF4-FFF2-40B4-BE49-F238E27FC236}">
                  <a16:creationId xmlns:a16="http://schemas.microsoft.com/office/drawing/2014/main" id="{C3BC6FEF-5405-BEAC-3BB1-512A8623C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0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D</a:t>
              </a:r>
            </a:p>
          </p:txBody>
        </p:sp>
        <p:sp>
          <p:nvSpPr>
            <p:cNvPr id="119816" name="Text Box 7">
              <a:extLst>
                <a:ext uri="{FF2B5EF4-FFF2-40B4-BE49-F238E27FC236}">
                  <a16:creationId xmlns:a16="http://schemas.microsoft.com/office/drawing/2014/main" id="{CCE84ACE-4D65-1DE0-6DB2-64A9C0E97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552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S</a:t>
              </a:r>
            </a:p>
          </p:txBody>
        </p:sp>
        <p:sp>
          <p:nvSpPr>
            <p:cNvPr id="119817" name="Line 8">
              <a:extLst>
                <a:ext uri="{FF2B5EF4-FFF2-40B4-BE49-F238E27FC236}">
                  <a16:creationId xmlns:a16="http://schemas.microsoft.com/office/drawing/2014/main" id="{B0374CDE-E136-EAE8-2DFE-FAEC2C5AD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705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8" name="Line 9">
              <a:extLst>
                <a:ext uri="{FF2B5EF4-FFF2-40B4-BE49-F238E27FC236}">
                  <a16:creationId xmlns:a16="http://schemas.microsoft.com/office/drawing/2014/main" id="{43D8A4B2-A4F9-904D-9562-37A12B0EC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3687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819" name="Group 10">
              <a:extLst>
                <a:ext uri="{FF2B5EF4-FFF2-40B4-BE49-F238E27FC236}">
                  <a16:creationId xmlns:a16="http://schemas.microsoft.com/office/drawing/2014/main" id="{75E6BF1E-8D4D-1758-2008-1D619FBC1A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3504"/>
              <a:ext cx="408" cy="384"/>
              <a:chOff x="2100" y="1701"/>
              <a:chExt cx="408" cy="384"/>
            </a:xfrm>
          </p:grpSpPr>
          <p:sp>
            <p:nvSpPr>
              <p:cNvPr id="119829" name="Oval 11">
                <a:extLst>
                  <a:ext uri="{FF2B5EF4-FFF2-40B4-BE49-F238E27FC236}">
                    <a16:creationId xmlns:a16="http://schemas.microsoft.com/office/drawing/2014/main" id="{F9180048-D8BD-F6EE-EDA1-BFB1284DC3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30" name="Text Box 12">
                <a:extLst>
                  <a:ext uri="{FF2B5EF4-FFF2-40B4-BE49-F238E27FC236}">
                    <a16:creationId xmlns:a16="http://schemas.microsoft.com/office/drawing/2014/main" id="{E888102F-7AC7-3AC7-C603-71B5DEB9F6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(</a:t>
                </a:r>
              </a:p>
            </p:txBody>
          </p:sp>
        </p:grpSp>
        <p:sp>
          <p:nvSpPr>
            <p:cNvPr id="119820" name="Line 13">
              <a:extLst>
                <a:ext uri="{FF2B5EF4-FFF2-40B4-BE49-F238E27FC236}">
                  <a16:creationId xmlns:a16="http://schemas.microsoft.com/office/drawing/2014/main" id="{48B10CB7-1D97-E933-8FFB-58F6CA8CF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9" y="3696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1" name="Line 14">
              <a:extLst>
                <a:ext uri="{FF2B5EF4-FFF2-40B4-BE49-F238E27FC236}">
                  <a16:creationId xmlns:a16="http://schemas.microsoft.com/office/drawing/2014/main" id="{EB636F80-B1EF-222B-99D5-40047F23F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3" y="3696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2" name="Freeform 15">
              <a:extLst>
                <a:ext uri="{FF2B5EF4-FFF2-40B4-BE49-F238E27FC236}">
                  <a16:creationId xmlns:a16="http://schemas.microsoft.com/office/drawing/2014/main" id="{A947C4B6-934B-F718-B95D-A0C84920D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3696"/>
              <a:ext cx="2640" cy="432"/>
            </a:xfrm>
            <a:custGeom>
              <a:avLst/>
              <a:gdLst>
                <a:gd name="T0" fmla="*/ 0 w 2640"/>
                <a:gd name="T1" fmla="*/ 0 h 432"/>
                <a:gd name="T2" fmla="*/ 0 w 2640"/>
                <a:gd name="T3" fmla="*/ 432 h 432"/>
                <a:gd name="T4" fmla="*/ 2640 w 2640"/>
                <a:gd name="T5" fmla="*/ 432 h 432"/>
                <a:gd name="T6" fmla="*/ 2640 w 264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40" h="432">
                  <a:moveTo>
                    <a:pt x="0" y="0"/>
                  </a:moveTo>
                  <a:lnTo>
                    <a:pt x="0" y="432"/>
                  </a:lnTo>
                  <a:lnTo>
                    <a:pt x="2640" y="432"/>
                  </a:lnTo>
                  <a:lnTo>
                    <a:pt x="264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823" name="Group 16">
              <a:extLst>
                <a:ext uri="{FF2B5EF4-FFF2-40B4-BE49-F238E27FC236}">
                  <a16:creationId xmlns:a16="http://schemas.microsoft.com/office/drawing/2014/main" id="{1FA8F3F8-514B-16A8-2C59-7D808FF299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504"/>
              <a:ext cx="408" cy="384"/>
              <a:chOff x="2100" y="1701"/>
              <a:chExt cx="408" cy="384"/>
            </a:xfrm>
          </p:grpSpPr>
          <p:sp>
            <p:nvSpPr>
              <p:cNvPr id="119827" name="Oval 17">
                <a:extLst>
                  <a:ext uri="{FF2B5EF4-FFF2-40B4-BE49-F238E27FC236}">
                    <a16:creationId xmlns:a16="http://schemas.microsoft.com/office/drawing/2014/main" id="{FD8015A6-930D-7912-577D-753677C64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28" name="Text Box 18">
                <a:extLst>
                  <a:ext uri="{FF2B5EF4-FFF2-40B4-BE49-F238E27FC236}">
                    <a16:creationId xmlns:a16="http://schemas.microsoft.com/office/drawing/2014/main" id="{3C86F327-EF77-8F99-6378-3FF2FDBF95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)</a:t>
                </a:r>
              </a:p>
            </p:txBody>
          </p:sp>
        </p:grpSp>
        <p:grpSp>
          <p:nvGrpSpPr>
            <p:cNvPr id="119824" name="Group 19">
              <a:extLst>
                <a:ext uri="{FF2B5EF4-FFF2-40B4-BE49-F238E27FC236}">
                  <a16:creationId xmlns:a16="http://schemas.microsoft.com/office/drawing/2014/main" id="{C8A304FA-C1A7-60FD-9D1D-4B286876B7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936"/>
              <a:ext cx="408" cy="384"/>
              <a:chOff x="2100" y="1701"/>
              <a:chExt cx="408" cy="384"/>
            </a:xfrm>
          </p:grpSpPr>
          <p:sp>
            <p:nvSpPr>
              <p:cNvPr id="119825" name="Oval 20">
                <a:extLst>
                  <a:ext uri="{FF2B5EF4-FFF2-40B4-BE49-F238E27FC236}">
                    <a16:creationId xmlns:a16="http://schemas.microsoft.com/office/drawing/2014/main" id="{932F0209-F8E0-BCDE-EFF6-40A25D9E9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26" name="Text Box 21">
                <a:extLst>
                  <a:ext uri="{FF2B5EF4-FFF2-40B4-BE49-F238E27FC236}">
                    <a16:creationId xmlns:a16="http://schemas.microsoft.com/office/drawing/2014/main" id="{D5019C41-DF38-4177-8A17-7EBE75B855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47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5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54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5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54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54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5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5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54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654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4787" grpId="0" build="p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4">
            <a:extLst>
              <a:ext uri="{FF2B5EF4-FFF2-40B4-BE49-F238E27FC236}">
                <a16:creationId xmlns:a16="http://schemas.microsoft.com/office/drawing/2014/main" id="{4F510596-E00D-B670-1346-EB49D369C4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A785EE-E79D-4EAC-8B86-9105338C512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D30C4225-4C84-8785-64FC-60D33EC82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Xây dựng chương trình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  <a:endParaRPr lang="en-US" altLang="en-US" sz="28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5DAD8C84-0C5C-C723-C4BE-F6C826D72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889000"/>
            <a:ext cx="8670925" cy="39878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void main(){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gets(Str);	//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nhập xâu cần phân tích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nextCh();	//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đọc trước một ký hiệu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S();		//</a:t>
            </a:r>
            <a:r>
              <a:rPr lang="en-US" altLang="en-US">
                <a:solidFill>
                  <a:schemeClr val="bg2"/>
                </a:solidFill>
                <a:sym typeface="Symbol" panose="05050102010706020507" pitchFamily="18" charset="2"/>
              </a:rPr>
              <a:t>bắt đầu phân tích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fr-FR" altLang="en-US" sz="2800">
                <a:sym typeface="Symbol" panose="05050102010706020507" pitchFamily="18" charset="2"/>
              </a:rPr>
              <a:t>	printf("Bieu thuc hop le...\n");</a:t>
            </a:r>
            <a:endParaRPr lang="en-US" altLang="en-US">
              <a:sym typeface="Symbol" panose="05050102010706020507" pitchFamily="18" charset="2"/>
            </a:endParaRPr>
          </a:p>
          <a:p>
            <a:pPr marL="406400" indent="-4064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20837" name="Text Box 4">
            <a:extLst>
              <a:ext uri="{FF2B5EF4-FFF2-40B4-BE49-F238E27FC236}">
                <a16:creationId xmlns:a16="http://schemas.microsoft.com/office/drawing/2014/main" id="{C84B1F0A-5B94-B3B2-AA67-AF93BB6CC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658902" name="Text Box 22">
            <a:extLst>
              <a:ext uri="{FF2B5EF4-FFF2-40B4-BE49-F238E27FC236}">
                <a16:creationId xmlns:a16="http://schemas.microsoft.com/office/drawing/2014/main" id="{184CBC72-636A-480E-2272-F97497C5C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267200"/>
            <a:ext cx="5486400" cy="24511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800" b="0"/>
              <a:t> (a+a)*a	</a:t>
            </a:r>
            <a:r>
              <a:rPr lang="en-US" altLang="en-US" sz="2800" b="0">
                <a:sym typeface="Symbol" panose="05050102010706020507" pitchFamily="18" charset="2"/>
              </a:rPr>
              <a:t> Bieu thuc hơp le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800" b="0"/>
              <a:t> a*a+		</a:t>
            </a:r>
            <a:r>
              <a:rPr lang="en-US" altLang="en-US" sz="2800" b="0">
                <a:sym typeface="Symbol" panose="05050102010706020507" pitchFamily="18" charset="2"/>
              </a:rPr>
              <a:t> Thieu toan hang</a:t>
            </a:r>
            <a:endParaRPr lang="en-US" altLang="en-US" sz="2800" b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800" b="0"/>
              <a:t> a+*a 	</a:t>
            </a:r>
            <a:r>
              <a:rPr lang="en-US" altLang="en-US" sz="2800" b="0">
                <a:sym typeface="Symbol" panose="05050102010706020507" pitchFamily="18" charset="2"/>
              </a:rPr>
              <a:t> Thieu toan hang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800" b="0">
                <a:sym typeface="Symbol" panose="05050102010706020507" pitchFamily="18" charset="2"/>
              </a:rPr>
              <a:t> a*(a+a 	 Thieu dong ngoac</a:t>
            </a:r>
            <a:endParaRPr lang="en-US" altLang="en-US" sz="2800" b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800" b="0"/>
              <a:t> a+aa 	</a:t>
            </a:r>
            <a:r>
              <a:rPr lang="en-US" altLang="en-US" sz="2800" b="0">
                <a:sym typeface="Symbol" panose="05050102010706020507" pitchFamily="18" charset="2"/>
              </a:rPr>
              <a:t> Bieu thuc hơp 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Number Placeholder 4">
            <a:extLst>
              <a:ext uri="{FF2B5EF4-FFF2-40B4-BE49-F238E27FC236}">
                <a16:creationId xmlns:a16="http://schemas.microsoft.com/office/drawing/2014/main" id="{01F9D63D-BD84-3D7C-8432-81E316ED04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419D30-94C5-417B-8FA3-C98FEEBA03D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C924ABAE-1EF3-0490-4379-97A722E8B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Tìm danh sách sản xuất sử dụng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4849D63C-8F94-CEDC-01DB-FB8B40ECB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572500" cy="2362200"/>
          </a:xfrm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</a:pPr>
            <a:r>
              <a:rPr lang="en-US" altLang="en-US"/>
              <a:t>Các nhánh trên sơ đồ được đánh số</a:t>
            </a:r>
          </a:p>
          <a:p>
            <a:pPr marL="1030288" lvl="1" indent="-347663" eaLnBrk="1" hangingPunct="1">
              <a:lnSpc>
                <a:spcPct val="110000"/>
              </a:lnSpc>
            </a:pPr>
            <a:r>
              <a:rPr lang="en-US" altLang="en-US"/>
              <a:t>Nhánh sơ đồ ứng với số hiệu sản xuất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/>
              <a:t>Khi đi theo một nhánh, cần viết ra số hiệu nhánh trước khi thực hiện câu lệnh diễn giải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121861" name="Text Box 4">
            <a:extLst>
              <a:ext uri="{FF2B5EF4-FFF2-40B4-BE49-F238E27FC236}">
                <a16:creationId xmlns:a16="http://schemas.microsoft.com/office/drawing/2014/main" id="{823937A0-1759-3B1A-6C63-821B93C10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21862" name="Group 35">
            <a:extLst>
              <a:ext uri="{FF2B5EF4-FFF2-40B4-BE49-F238E27FC236}">
                <a16:creationId xmlns:a16="http://schemas.microsoft.com/office/drawing/2014/main" id="{CFEE26E1-59B5-FDE8-73BB-E4FC05A0F62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581400"/>
            <a:ext cx="8153400" cy="2819400"/>
            <a:chOff x="240" y="2256"/>
            <a:chExt cx="5136" cy="1776"/>
          </a:xfrm>
        </p:grpSpPr>
        <p:sp>
          <p:nvSpPr>
            <p:cNvPr id="121863" name="Rectangle 5">
              <a:extLst>
                <a:ext uri="{FF2B5EF4-FFF2-40B4-BE49-F238E27FC236}">
                  <a16:creationId xmlns:a16="http://schemas.microsoft.com/office/drawing/2014/main" id="{0FCB0ED8-F3B8-AA11-9A65-493B5495D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256"/>
              <a:ext cx="3072" cy="1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1030288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73188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716088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8988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61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33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305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7788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800" b="0">
                  <a:solidFill>
                    <a:srgbClr val="3539EB"/>
                  </a:solidFill>
                  <a:sym typeface="Symbol" panose="05050102010706020507" pitchFamily="18" charset="2"/>
                </a:rPr>
                <a:t>If</a:t>
              </a:r>
              <a:r>
                <a:rPr lang="en-US" altLang="en-US" sz="2800" b="0">
                  <a:sym typeface="Symbol" panose="05050102010706020507" pitchFamily="18" charset="2"/>
                </a:rPr>
                <a:t> Ch in FIRST(</a:t>
              </a:r>
              <a:r>
                <a:rPr lang="el-GR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sz="2800" b="0" baseline="-25000"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) </a:t>
              </a:r>
              <a:r>
                <a:rPr lang="en-US" altLang="en-US" sz="2800" b="0">
                  <a:solidFill>
                    <a:srgbClr val="3539EB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Then</a:t>
              </a:r>
              <a:r>
                <a:rPr lang="en-US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 </a:t>
              </a:r>
            </a:p>
            <a:p>
              <a:pPr eaLnBrk="1" hangingPunct="1">
                <a:buFontTx/>
                <a:buNone/>
              </a:pPr>
              <a:r>
                <a:rPr lang="en-US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	Print(“1”); T(</a:t>
              </a:r>
              <a:r>
                <a:rPr lang="el-GR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sz="2800" b="0" baseline="-25000"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)</a:t>
              </a:r>
            </a:p>
            <a:p>
              <a:pPr eaLnBrk="1" hangingPunct="1">
                <a:buFontTx/>
                <a:buNone/>
              </a:pPr>
              <a:r>
                <a:rPr lang="en-US" altLang="en-US" sz="2800" b="0">
                  <a:solidFill>
                    <a:srgbClr val="3539EB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Else If…</a:t>
              </a:r>
            </a:p>
            <a:p>
              <a:pPr eaLnBrk="1" hangingPunct="1">
                <a:buFontTx/>
                <a:buNone/>
              </a:pPr>
              <a:r>
                <a:rPr lang="en-US" altLang="en-US" sz="2800" b="0">
                  <a:solidFill>
                    <a:srgbClr val="3539EB"/>
                  </a:solidFill>
                  <a:sym typeface="Symbol" panose="05050102010706020507" pitchFamily="18" charset="2"/>
                </a:rPr>
                <a:t>Else If</a:t>
              </a:r>
              <a:r>
                <a:rPr lang="en-US" altLang="en-US" sz="2800" b="0">
                  <a:sym typeface="Symbol" panose="05050102010706020507" pitchFamily="18" charset="2"/>
                </a:rPr>
                <a:t> Ch in FIRST(</a:t>
              </a:r>
              <a:r>
                <a:rPr lang="el-GR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en-US" altLang="en-US" sz="2800" b="0" baseline="-25000">
                  <a:cs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n-US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) </a:t>
              </a:r>
              <a:r>
                <a:rPr lang="en-US" altLang="en-US" sz="2800" b="0">
                  <a:solidFill>
                    <a:srgbClr val="3539EB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Then</a:t>
              </a:r>
            </a:p>
            <a:p>
              <a:pPr eaLnBrk="1" hangingPunct="1">
                <a:buFontTx/>
                <a:buNone/>
              </a:pPr>
              <a:r>
                <a:rPr lang="en-US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Print(“n”); T(</a:t>
              </a:r>
              <a:r>
                <a:rPr lang="el-GR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α</a:t>
              </a:r>
              <a:r>
                <a:rPr lang="fr-FR" altLang="en-US" sz="2800" b="0" baseline="-25000">
                  <a:cs typeface="Arial" panose="020B0604020202020204" pitchFamily="34" charset="0"/>
                  <a:sym typeface="Symbol" panose="05050102010706020507" pitchFamily="18" charset="2"/>
                </a:rPr>
                <a:t>n</a:t>
              </a:r>
              <a:r>
                <a:rPr lang="en-US" altLang="en-US" sz="2800" b="0">
                  <a:cs typeface="Arial" panose="020B0604020202020204" pitchFamily="34" charset="0"/>
                  <a:sym typeface="Symbol" panose="05050102010706020507" pitchFamily="18" charset="2"/>
                </a:rPr>
                <a:t>)</a:t>
              </a:r>
              <a:endParaRPr lang="el-GR" altLang="en-US" sz="2800" b="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grpSp>
          <p:nvGrpSpPr>
            <p:cNvPr id="121864" name="Group 34">
              <a:extLst>
                <a:ext uri="{FF2B5EF4-FFF2-40B4-BE49-F238E27FC236}">
                  <a16:creationId xmlns:a16="http://schemas.microsoft.com/office/drawing/2014/main" id="{FF0989AD-7425-510B-9955-E2CFB97EE1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400"/>
              <a:ext cx="1872" cy="1200"/>
              <a:chOff x="240" y="2400"/>
              <a:chExt cx="1872" cy="1200"/>
            </a:xfrm>
          </p:grpSpPr>
          <p:sp>
            <p:nvSpPr>
              <p:cNvPr id="121865" name="Text Box 20">
                <a:extLst>
                  <a:ext uri="{FF2B5EF4-FFF2-40B4-BE49-F238E27FC236}">
                    <a16:creationId xmlns:a16="http://schemas.microsoft.com/office/drawing/2014/main" id="{E5BADB86-438A-10DC-F4F9-60D19BF48F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2400"/>
                <a:ext cx="480" cy="5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Sơ đồ</a:t>
                </a:r>
              </a:p>
            </p:txBody>
          </p:sp>
          <p:sp>
            <p:nvSpPr>
              <p:cNvPr id="121866" name="Text Box 8">
                <a:extLst>
                  <a:ext uri="{FF2B5EF4-FFF2-40B4-BE49-F238E27FC236}">
                    <a16:creationId xmlns:a16="http://schemas.microsoft.com/office/drawing/2014/main" id="{F59436F3-207E-635F-45B5-7EC0EF8677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496"/>
                <a:ext cx="528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l-GR" altLang="en-US" sz="2800" b="0">
                    <a:sym typeface="Symbol" panose="05050102010706020507" pitchFamily="18" charset="2"/>
                  </a:rPr>
                  <a:t>α</a:t>
                </a:r>
                <a:r>
                  <a:rPr lang="en-US" altLang="en-US" sz="2800" b="0" baseline="-25000"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121867" name="Text Box 9">
                <a:extLst>
                  <a:ext uri="{FF2B5EF4-FFF2-40B4-BE49-F238E27FC236}">
                    <a16:creationId xmlns:a16="http://schemas.microsoft.com/office/drawing/2014/main" id="{CE96A3B3-0030-DDC5-7B4E-EECDD12158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3216"/>
                <a:ext cx="528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l-GR" altLang="en-US" sz="2800" b="0">
                    <a:sym typeface="Symbol" panose="05050102010706020507" pitchFamily="18" charset="2"/>
                  </a:rPr>
                  <a:t>α</a:t>
                </a:r>
                <a:r>
                  <a:rPr lang="en-US" altLang="en-US" sz="2800" b="0" baseline="-25000">
                    <a:sym typeface="Symbol" panose="05050102010706020507" pitchFamily="18" charset="2"/>
                  </a:rPr>
                  <a:t>n</a:t>
                </a:r>
              </a:p>
            </p:txBody>
          </p:sp>
          <p:sp>
            <p:nvSpPr>
              <p:cNvPr id="121868" name="Line 10">
                <a:extLst>
                  <a:ext uri="{FF2B5EF4-FFF2-40B4-BE49-F238E27FC236}">
                    <a16:creationId xmlns:a16="http://schemas.microsoft.com/office/drawing/2014/main" id="{25FC7CC6-1257-2834-2308-79C06DABF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64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69" name="Line 11">
                <a:extLst>
                  <a:ext uri="{FF2B5EF4-FFF2-40B4-BE49-F238E27FC236}">
                    <a16:creationId xmlns:a16="http://schemas.microsoft.com/office/drawing/2014/main" id="{45452E99-8FF2-0746-13D4-D6DE4C3C5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3024"/>
                <a:ext cx="384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0" name="Line 12">
                <a:extLst>
                  <a:ext uri="{FF2B5EF4-FFF2-40B4-BE49-F238E27FC236}">
                    <a16:creationId xmlns:a16="http://schemas.microsoft.com/office/drawing/2014/main" id="{C5889E01-5ED7-5C8B-050B-1942F87E5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1" name="Line 13">
                <a:extLst>
                  <a:ext uri="{FF2B5EF4-FFF2-40B4-BE49-F238E27FC236}">
                    <a16:creationId xmlns:a16="http://schemas.microsoft.com/office/drawing/2014/main" id="{4DDD8E20-5BB2-743F-411B-7B36C5CFC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264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2" name="Line 14">
                <a:extLst>
                  <a:ext uri="{FF2B5EF4-FFF2-40B4-BE49-F238E27FC236}">
                    <a16:creationId xmlns:a16="http://schemas.microsoft.com/office/drawing/2014/main" id="{B4F22E7B-B4E6-2B73-930D-4930D94571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2880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3" name="Line 15">
                <a:extLst>
                  <a:ext uri="{FF2B5EF4-FFF2-40B4-BE49-F238E27FC236}">
                    <a16:creationId xmlns:a16="http://schemas.microsoft.com/office/drawing/2014/main" id="{23C71752-4947-7967-4A80-689BEDEA7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3024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4" name="Line 16">
                <a:extLst>
                  <a:ext uri="{FF2B5EF4-FFF2-40B4-BE49-F238E27FC236}">
                    <a16:creationId xmlns:a16="http://schemas.microsoft.com/office/drawing/2014/main" id="{79F2F834-E8E2-D2E5-A535-37650C4840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38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5" name="Line 17">
                <a:extLst>
                  <a:ext uri="{FF2B5EF4-FFF2-40B4-BE49-F238E27FC236}">
                    <a16:creationId xmlns:a16="http://schemas.microsoft.com/office/drawing/2014/main" id="{3604A233-CD2F-C67D-2E75-6A445FF4E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4" y="3024"/>
                <a:ext cx="33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6" name="Line 18">
                <a:extLst>
                  <a:ext uri="{FF2B5EF4-FFF2-40B4-BE49-F238E27FC236}">
                    <a16:creationId xmlns:a16="http://schemas.microsoft.com/office/drawing/2014/main" id="{5204B345-2D61-F4E6-9906-1719310DD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" y="3021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7" name="Line 19">
                <a:extLst>
                  <a:ext uri="{FF2B5EF4-FFF2-40B4-BE49-F238E27FC236}">
                    <a16:creationId xmlns:a16="http://schemas.microsoft.com/office/drawing/2014/main" id="{DC3A5C7F-7EDB-1475-10C0-330288CE7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3021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78" name="Oval 22">
                <a:extLst>
                  <a:ext uri="{FF2B5EF4-FFF2-40B4-BE49-F238E27FC236}">
                    <a16:creationId xmlns:a16="http://schemas.microsoft.com/office/drawing/2014/main" id="{EB940493-DBD1-7951-AAB7-27710B111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448"/>
                <a:ext cx="240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21879" name="Text Box 21">
                <a:extLst>
                  <a:ext uri="{FF2B5EF4-FFF2-40B4-BE49-F238E27FC236}">
                    <a16:creationId xmlns:a16="http://schemas.microsoft.com/office/drawing/2014/main" id="{AFAEC109-B180-74FB-67CA-1A102782E0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1" y="2469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000" b="0">
                    <a:solidFill>
                      <a:schemeClr val="tx1"/>
                    </a:solidFill>
                  </a:rPr>
                  <a:t>1</a:t>
                </a:r>
              </a:p>
            </p:txBody>
          </p:sp>
          <p:grpSp>
            <p:nvGrpSpPr>
              <p:cNvPr id="121880" name="Group 33">
                <a:extLst>
                  <a:ext uri="{FF2B5EF4-FFF2-40B4-BE49-F238E27FC236}">
                    <a16:creationId xmlns:a16="http://schemas.microsoft.com/office/drawing/2014/main" id="{4D47DAFE-1670-B820-F269-EF4B028ACF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3312"/>
                <a:ext cx="240" cy="288"/>
                <a:chOff x="720" y="3264"/>
                <a:chExt cx="240" cy="288"/>
              </a:xfrm>
            </p:grpSpPr>
            <p:sp>
              <p:nvSpPr>
                <p:cNvPr id="121881" name="Oval 25">
                  <a:extLst>
                    <a:ext uri="{FF2B5EF4-FFF2-40B4-BE49-F238E27FC236}">
                      <a16:creationId xmlns:a16="http://schemas.microsoft.com/office/drawing/2014/main" id="{3FBDB346-59A8-F60F-EE2E-87A75A5AA8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3264"/>
                  <a:ext cx="240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882" name="Text Box 26">
                  <a:extLst>
                    <a:ext uri="{FF2B5EF4-FFF2-40B4-BE49-F238E27FC236}">
                      <a16:creationId xmlns:a16="http://schemas.microsoft.com/office/drawing/2014/main" id="{241015F3-B069-A780-975B-F334813BEE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1" y="3285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270076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000" b="0">
                      <a:solidFill>
                        <a:schemeClr val="tx1"/>
                      </a:solidFill>
                    </a:rPr>
                    <a:t>n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4">
            <a:extLst>
              <a:ext uri="{FF2B5EF4-FFF2-40B4-BE49-F238E27FC236}">
                <a16:creationId xmlns:a16="http://schemas.microsoft.com/office/drawing/2014/main" id="{358A2ED7-785F-B343-EEFB-29B595615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4858DD-6EF5-414E-9E07-1D975031572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332EC967-B963-7D74-EF4E-4A4CA0F1F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Tìm danh sách sản xuất sử dụng 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677315" name="Rectangle 3">
            <a:extLst>
              <a:ext uri="{FF2B5EF4-FFF2-40B4-BE49-F238E27FC236}">
                <a16:creationId xmlns:a16="http://schemas.microsoft.com/office/drawing/2014/main" id="{C5EA02C2-D09E-2B9A-0AC9-1BE061720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3657600"/>
            <a:ext cx="3657600" cy="28194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void S(){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rgbClr val="3539EB"/>
                </a:solidFill>
                <a:sym typeface="Symbol" panose="05050102010706020507" pitchFamily="18" charset="2"/>
              </a:rPr>
              <a:t>sx[n++]=‘1’;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B();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A();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  }</a:t>
            </a:r>
          </a:p>
        </p:txBody>
      </p:sp>
      <p:sp>
        <p:nvSpPr>
          <p:cNvPr id="122885" name="Text Box 4">
            <a:extLst>
              <a:ext uri="{FF2B5EF4-FFF2-40B4-BE49-F238E27FC236}">
                <a16:creationId xmlns:a16="http://schemas.microsoft.com/office/drawing/2014/main" id="{CA0334A5-3765-B776-6D5D-64D6544B9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sp>
        <p:nvSpPr>
          <p:cNvPr id="1677336" name="Rectangle 24">
            <a:extLst>
              <a:ext uri="{FF2B5EF4-FFF2-40B4-BE49-F238E27FC236}">
                <a16:creationId xmlns:a16="http://schemas.microsoft.com/office/drawing/2014/main" id="{7AC0FECA-5CD3-1911-D4AE-AA1E295BB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514600"/>
            <a:ext cx="4038600" cy="4038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1030288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373188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716088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8988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61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33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305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778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void A(){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   if( Ch==‘+’) {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	sx[n++]=‘2’;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	nextCh();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  	B();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	A();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	}</a:t>
            </a:r>
            <a:r>
              <a:rPr lang="en-US" altLang="en-US" b="0">
                <a:solidFill>
                  <a:srgbClr val="3539EB"/>
                </a:solidFill>
                <a:sym typeface="Symbol" panose="05050102010706020507" pitchFamily="18" charset="2"/>
              </a:rPr>
              <a:t>else sx[n++]=‘3’;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ym typeface="Symbol" panose="05050102010706020507" pitchFamily="18" charset="2"/>
              </a:rPr>
              <a:t>  }</a:t>
            </a:r>
          </a:p>
        </p:txBody>
      </p:sp>
      <p:grpSp>
        <p:nvGrpSpPr>
          <p:cNvPr id="122887" name="Group 27">
            <a:extLst>
              <a:ext uri="{FF2B5EF4-FFF2-40B4-BE49-F238E27FC236}">
                <a16:creationId xmlns:a16="http://schemas.microsoft.com/office/drawing/2014/main" id="{AA8D45A8-A9D4-8983-D66C-D74B0D3AD0F3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838200"/>
            <a:ext cx="533400" cy="533400"/>
            <a:chOff x="864" y="1248"/>
            <a:chExt cx="336" cy="336"/>
          </a:xfrm>
        </p:grpSpPr>
        <p:sp>
          <p:nvSpPr>
            <p:cNvPr id="122913" name="Oval 25">
              <a:extLst>
                <a:ext uri="{FF2B5EF4-FFF2-40B4-BE49-F238E27FC236}">
                  <a16:creationId xmlns:a16="http://schemas.microsoft.com/office/drawing/2014/main" id="{E0FB8D2C-2166-127C-19FC-C6955E299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48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22914" name="Text Box 26">
              <a:extLst>
                <a:ext uri="{FF2B5EF4-FFF2-40B4-BE49-F238E27FC236}">
                  <a16:creationId xmlns:a16="http://schemas.microsoft.com/office/drawing/2014/main" id="{DBDD648F-3134-2400-853F-100B9D971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" y="126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22888" name="Group 31">
            <a:extLst>
              <a:ext uri="{FF2B5EF4-FFF2-40B4-BE49-F238E27FC236}">
                <a16:creationId xmlns:a16="http://schemas.microsoft.com/office/drawing/2014/main" id="{AF81DB37-D070-BE88-C2D5-EF07D407603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981200"/>
            <a:ext cx="4038600" cy="1214438"/>
            <a:chOff x="384" y="1248"/>
            <a:chExt cx="2544" cy="765"/>
          </a:xfrm>
        </p:grpSpPr>
        <p:sp>
          <p:nvSpPr>
            <p:cNvPr id="122904" name="Text Box 6">
              <a:extLst>
                <a:ext uri="{FF2B5EF4-FFF2-40B4-BE49-F238E27FC236}">
                  <a16:creationId xmlns:a16="http://schemas.microsoft.com/office/drawing/2014/main" id="{F57B5548-0633-B4D7-A525-4395777D6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53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S</a:t>
              </a:r>
            </a:p>
          </p:txBody>
        </p:sp>
        <p:sp>
          <p:nvSpPr>
            <p:cNvPr id="122905" name="Text Box 7">
              <a:extLst>
                <a:ext uri="{FF2B5EF4-FFF2-40B4-BE49-F238E27FC236}">
                  <a16:creationId xmlns:a16="http://schemas.microsoft.com/office/drawing/2014/main" id="{F52E1DE3-2723-A068-BC1D-9CBC84CCC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80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22906" name="Text Box 8">
              <a:extLst>
                <a:ext uri="{FF2B5EF4-FFF2-40B4-BE49-F238E27FC236}">
                  <a16:creationId xmlns:a16="http://schemas.microsoft.com/office/drawing/2014/main" id="{F9A25BDE-5036-70DB-E1FA-33CF0A2DB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680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22907" name="Line 9">
              <a:extLst>
                <a:ext uri="{FF2B5EF4-FFF2-40B4-BE49-F238E27FC236}">
                  <a16:creationId xmlns:a16="http://schemas.microsoft.com/office/drawing/2014/main" id="{BBD65519-4642-E3F3-6A59-074FC4122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833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8" name="Line 10">
              <a:extLst>
                <a:ext uri="{FF2B5EF4-FFF2-40B4-BE49-F238E27FC236}">
                  <a16:creationId xmlns:a16="http://schemas.microsoft.com/office/drawing/2014/main" id="{24538073-05CF-D537-268B-6052BC15D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824"/>
              <a:ext cx="76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9" name="Line 11">
              <a:extLst>
                <a:ext uri="{FF2B5EF4-FFF2-40B4-BE49-F238E27FC236}">
                  <a16:creationId xmlns:a16="http://schemas.microsoft.com/office/drawing/2014/main" id="{638A72E0-710A-4F86-39B8-90837B2B9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824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910" name="Group 28">
              <a:extLst>
                <a:ext uri="{FF2B5EF4-FFF2-40B4-BE49-F238E27FC236}">
                  <a16:creationId xmlns:a16="http://schemas.microsoft.com/office/drawing/2014/main" id="{5D032B94-8775-018E-1F35-A227E9D884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336" cy="336"/>
              <a:chOff x="864" y="1248"/>
              <a:chExt cx="336" cy="336"/>
            </a:xfrm>
          </p:grpSpPr>
          <p:sp>
            <p:nvSpPr>
              <p:cNvPr id="122911" name="Oval 29">
                <a:extLst>
                  <a:ext uri="{FF2B5EF4-FFF2-40B4-BE49-F238E27FC236}">
                    <a16:creationId xmlns:a16="http://schemas.microsoft.com/office/drawing/2014/main" id="{06C47038-E91C-A9A0-2A04-CED8C27B7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248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22912" name="Text Box 30">
                <a:extLst>
                  <a:ext uri="{FF2B5EF4-FFF2-40B4-BE49-F238E27FC236}">
                    <a16:creationId xmlns:a16="http://schemas.microsoft.com/office/drawing/2014/main" id="{A70FE186-1C7C-67DE-FD05-0213514189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" y="1266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22889" name="Group 35">
            <a:extLst>
              <a:ext uri="{FF2B5EF4-FFF2-40B4-BE49-F238E27FC236}">
                <a16:creationId xmlns:a16="http://schemas.microsoft.com/office/drawing/2014/main" id="{2AEAAC81-7073-ED84-6EC8-A4692B4A4247}"/>
              </a:ext>
            </a:extLst>
          </p:cNvPr>
          <p:cNvGrpSpPr>
            <a:grpSpLocks/>
          </p:cNvGrpSpPr>
          <p:nvPr/>
        </p:nvGrpSpPr>
        <p:grpSpPr bwMode="auto">
          <a:xfrm>
            <a:off x="4119563" y="914400"/>
            <a:ext cx="5024437" cy="1219200"/>
            <a:chOff x="2595" y="576"/>
            <a:chExt cx="3165" cy="768"/>
          </a:xfrm>
        </p:grpSpPr>
        <p:sp>
          <p:nvSpPr>
            <p:cNvPr id="122890" name="Text Box 13">
              <a:extLst>
                <a:ext uri="{FF2B5EF4-FFF2-40B4-BE49-F238E27FC236}">
                  <a16:creationId xmlns:a16="http://schemas.microsoft.com/office/drawing/2014/main" id="{C30CD94B-05AE-97EB-34C2-9F81DE7CBD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" y="576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22891" name="Text Box 14">
              <a:extLst>
                <a:ext uri="{FF2B5EF4-FFF2-40B4-BE49-F238E27FC236}">
                  <a16:creationId xmlns:a16="http://schemas.microsoft.com/office/drawing/2014/main" id="{EB7BC2BF-5EB0-6927-8A6C-0B2A2DB23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" y="720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B</a:t>
              </a:r>
            </a:p>
          </p:txBody>
        </p:sp>
        <p:sp>
          <p:nvSpPr>
            <p:cNvPr id="122892" name="Text Box 15">
              <a:extLst>
                <a:ext uri="{FF2B5EF4-FFF2-40B4-BE49-F238E27FC236}">
                  <a16:creationId xmlns:a16="http://schemas.microsoft.com/office/drawing/2014/main" id="{FD3E1FF6-EB12-8628-BB78-DF0438C54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702"/>
              <a:ext cx="384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A</a:t>
              </a:r>
            </a:p>
          </p:txBody>
        </p:sp>
        <p:sp>
          <p:nvSpPr>
            <p:cNvPr id="122893" name="Line 16">
              <a:extLst>
                <a:ext uri="{FF2B5EF4-FFF2-40B4-BE49-F238E27FC236}">
                  <a16:creationId xmlns:a16="http://schemas.microsoft.com/office/drawing/2014/main" id="{75B6F143-7244-B806-5824-5CEA3B031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873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4" name="Line 17">
              <a:extLst>
                <a:ext uri="{FF2B5EF4-FFF2-40B4-BE49-F238E27FC236}">
                  <a16:creationId xmlns:a16="http://schemas.microsoft.com/office/drawing/2014/main" id="{4FFDC8E9-7546-EA5F-D89F-C3137C41E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855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895" name="Group 18">
              <a:extLst>
                <a:ext uri="{FF2B5EF4-FFF2-40B4-BE49-F238E27FC236}">
                  <a16:creationId xmlns:a16="http://schemas.microsoft.com/office/drawing/2014/main" id="{392439CE-BE57-D8B7-25A1-3FAC84C358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1" y="672"/>
              <a:ext cx="408" cy="384"/>
              <a:chOff x="2100" y="1701"/>
              <a:chExt cx="408" cy="384"/>
            </a:xfrm>
          </p:grpSpPr>
          <p:sp>
            <p:nvSpPr>
              <p:cNvPr id="122902" name="Oval 19">
                <a:extLst>
                  <a:ext uri="{FF2B5EF4-FFF2-40B4-BE49-F238E27FC236}">
                    <a16:creationId xmlns:a16="http://schemas.microsoft.com/office/drawing/2014/main" id="{934C7B29-60ED-38B7-C37F-48BFE8048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1701"/>
                <a:ext cx="408" cy="38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22903" name="Text Box 20">
                <a:extLst>
                  <a:ext uri="{FF2B5EF4-FFF2-40B4-BE49-F238E27FC236}">
                    <a16:creationId xmlns:a16="http://schemas.microsoft.com/office/drawing/2014/main" id="{15517169-F5E6-A564-3273-A93D1844CF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172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+</a:t>
                </a:r>
              </a:p>
            </p:txBody>
          </p:sp>
        </p:grpSp>
        <p:sp>
          <p:nvSpPr>
            <p:cNvPr id="122896" name="Line 21">
              <a:extLst>
                <a:ext uri="{FF2B5EF4-FFF2-40B4-BE49-F238E27FC236}">
                  <a16:creationId xmlns:a16="http://schemas.microsoft.com/office/drawing/2014/main" id="{57BB5E36-1FF2-7789-2BEC-9F2EBBC99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4" y="864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7" name="Line 22">
              <a:extLst>
                <a:ext uri="{FF2B5EF4-FFF2-40B4-BE49-F238E27FC236}">
                  <a16:creationId xmlns:a16="http://schemas.microsoft.com/office/drawing/2014/main" id="{C0B29293-FE12-80DC-91C3-D55698EC8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8" y="864"/>
              <a:ext cx="48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8" name="Freeform 23">
              <a:extLst>
                <a:ext uri="{FF2B5EF4-FFF2-40B4-BE49-F238E27FC236}">
                  <a16:creationId xmlns:a16="http://schemas.microsoft.com/office/drawing/2014/main" id="{A1D2FC24-B43E-256C-5CE9-2C4B89A41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864"/>
              <a:ext cx="2640" cy="432"/>
            </a:xfrm>
            <a:custGeom>
              <a:avLst/>
              <a:gdLst>
                <a:gd name="T0" fmla="*/ 0 w 2640"/>
                <a:gd name="T1" fmla="*/ 0 h 432"/>
                <a:gd name="T2" fmla="*/ 0 w 2640"/>
                <a:gd name="T3" fmla="*/ 432 h 432"/>
                <a:gd name="T4" fmla="*/ 2640 w 2640"/>
                <a:gd name="T5" fmla="*/ 432 h 432"/>
                <a:gd name="T6" fmla="*/ 2640 w 264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40" h="432">
                  <a:moveTo>
                    <a:pt x="0" y="0"/>
                  </a:moveTo>
                  <a:lnTo>
                    <a:pt x="0" y="432"/>
                  </a:lnTo>
                  <a:lnTo>
                    <a:pt x="2640" y="432"/>
                  </a:lnTo>
                  <a:lnTo>
                    <a:pt x="2640" y="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899" name="Group 32">
              <a:extLst>
                <a:ext uri="{FF2B5EF4-FFF2-40B4-BE49-F238E27FC236}">
                  <a16:creationId xmlns:a16="http://schemas.microsoft.com/office/drawing/2014/main" id="{AD29E4E7-7B27-A52D-1EE9-3CF28191F4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008"/>
              <a:ext cx="336" cy="336"/>
              <a:chOff x="864" y="1248"/>
              <a:chExt cx="336" cy="336"/>
            </a:xfrm>
          </p:grpSpPr>
          <p:sp>
            <p:nvSpPr>
              <p:cNvPr id="122900" name="Oval 33">
                <a:extLst>
                  <a:ext uri="{FF2B5EF4-FFF2-40B4-BE49-F238E27FC236}">
                    <a16:creationId xmlns:a16="http://schemas.microsoft.com/office/drawing/2014/main" id="{812A0B3A-21A8-29C0-1CCC-15883554A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248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22901" name="Text Box 34">
                <a:extLst>
                  <a:ext uri="{FF2B5EF4-FFF2-40B4-BE49-F238E27FC236}">
                    <a16:creationId xmlns:a16="http://schemas.microsoft.com/office/drawing/2014/main" id="{A16B8886-FD4B-0974-9463-34B390397D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" y="1266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773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7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67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67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67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67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7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7315" grpId="0" build="p" animBg="1"/>
      <p:bldP spid="1677336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Number Placeholder 4">
            <a:extLst>
              <a:ext uri="{FF2B5EF4-FFF2-40B4-BE49-F238E27FC236}">
                <a16:creationId xmlns:a16="http://schemas.microsoft.com/office/drawing/2014/main" id="{24A86908-F1DE-2623-09C7-3BD076E993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B4016B-16FA-46EC-8CAF-0C56159E612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717250" name="Rectangle 2">
            <a:extLst>
              <a:ext uri="{FF2B5EF4-FFF2-40B4-BE49-F238E27FC236}">
                <a16:creationId xmlns:a16="http://schemas.microsoft.com/office/drawing/2014/main" id="{7DA73C02-4D8C-469E-01D6-4C9FDDE4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57775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34FF5F72-F040-AC04-3712-7FA7632E0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3: Phân tích cú pháp</a:t>
            </a:r>
          </a:p>
        </p:txBody>
      </p:sp>
      <p:sp>
        <p:nvSpPr>
          <p:cNvPr id="123909" name="Rectangle 4">
            <a:extLst>
              <a:ext uri="{FF2B5EF4-FFF2-40B4-BE49-F238E27FC236}">
                <a16:creationId xmlns:a16="http://schemas.microsoft.com/office/drawing/2014/main" id="{6A75F24D-3B0C-5C36-3B8F-59DF0BE87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219200"/>
            <a:ext cx="8724900" cy="4648200"/>
          </a:xfrm>
        </p:spPr>
        <p:txBody>
          <a:bodyPr/>
          <a:lstStyle/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Phương pháp phân tích cú pháp quay lui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bảng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/>
              <a:t>Phương pháp phân tích cú pháp tất định</a:t>
            </a:r>
          </a:p>
          <a:p>
            <a:pPr marL="609600" indent="-609600" eaLnBrk="1" hangingPunct="1">
              <a:spcBef>
                <a:spcPct val="10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Xây dựng bộ phân tích cú pháp cho PL/0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7250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4">
            <a:extLst>
              <a:ext uri="{FF2B5EF4-FFF2-40B4-BE49-F238E27FC236}">
                <a16:creationId xmlns:a16="http://schemas.microsoft.com/office/drawing/2014/main" id="{08D27061-5D7C-236C-8E75-05FB3C7592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09438E-4F00-4A53-8C4E-44B3FB94F03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8C43ADE0-08D0-1AB0-6E53-388C6C26E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Nguyên tắc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AD848AE-336A-E277-9971-F2D1D30AB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42363" cy="5638800"/>
          </a:xfrm>
        </p:spPr>
        <p:txBody>
          <a:bodyPr/>
          <a:lstStyle/>
          <a:p>
            <a:pPr marL="406400" indent="-406400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>
                <a:sym typeface="Symbol" panose="05050102010706020507" pitchFamily="18" charset="2"/>
              </a:rPr>
              <a:t>Văn phạm của PL/0 là LL(1)</a:t>
            </a:r>
          </a:p>
          <a:p>
            <a:pPr marL="1030288" lvl="1" indent="-3476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>
                <a:sym typeface="Symbol" panose="05050102010706020507" pitchFamily="18" charset="2"/>
              </a:rPr>
              <a:t>Sử dụng phương pháp phân tích xem trước</a:t>
            </a:r>
          </a:p>
          <a:p>
            <a:pPr marL="1373188" lvl="2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>
                <a:sym typeface="Symbol" panose="05050102010706020507" pitchFamily="18" charset="2"/>
              </a:rPr>
              <a:t>Bảng phân tích lớn</a:t>
            </a:r>
          </a:p>
          <a:p>
            <a:pPr marL="1030288" lvl="1" indent="-3476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>
                <a:sym typeface="Symbol" panose="05050102010706020507" pitchFamily="18" charset="2"/>
              </a:rPr>
              <a:t>Dùng phương pháp đệ quy trên xuống</a:t>
            </a:r>
          </a:p>
          <a:p>
            <a:pPr marL="406400" indent="-406400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>
                <a:sym typeface="Symbol" panose="05050102010706020507" pitchFamily="18" charset="2"/>
              </a:rPr>
              <a:t>Bộ phân tích cú pháp</a:t>
            </a:r>
          </a:p>
          <a:p>
            <a:pPr marL="1030288" lvl="1" indent="-3476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>
                <a:sym typeface="Symbol" panose="05050102010706020507" pitchFamily="18" charset="2"/>
              </a:rPr>
              <a:t>Gồm tập thủ tục, mỗi thủ tục ứng với một sơ đồ</a:t>
            </a:r>
          </a:p>
          <a:p>
            <a:pPr marL="1030288" lvl="1" indent="-3476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>
                <a:sym typeface="Symbol" panose="05050102010706020507" pitchFamily="18" charset="2"/>
              </a:rPr>
              <a:t>Luôn đọc trước một ký hiệu/từ tố</a:t>
            </a:r>
          </a:p>
          <a:p>
            <a:pPr marL="1373188" lvl="2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Xem trước một từ tố sẽ cho phép chọn đúng đường đi khi gặp điểm rẽ nhánh trên sơ đồ cú pháp</a:t>
            </a:r>
          </a:p>
          <a:p>
            <a:pPr marL="1030288" lvl="1" indent="-3476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Khi thoát khỏi thủ tục triển khai một đích, luôn có một từ tố đã được đọc dôi ra</a:t>
            </a:r>
            <a:endParaRPr lang="en-US" altLang="en-US" sz="3200">
              <a:sym typeface="Symbol" panose="05050102010706020507" pitchFamily="18" charset="2"/>
            </a:endParaRPr>
          </a:p>
        </p:txBody>
      </p:sp>
      <p:sp>
        <p:nvSpPr>
          <p:cNvPr id="124933" name="Text Box 4">
            <a:extLst>
              <a:ext uri="{FF2B5EF4-FFF2-40B4-BE49-F238E27FC236}">
                <a16:creationId xmlns:a16="http://schemas.microsoft.com/office/drawing/2014/main" id="{91793D2B-B68E-1FEC-E949-FC9B49A92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Number Placeholder 4">
            <a:extLst>
              <a:ext uri="{FF2B5EF4-FFF2-40B4-BE49-F238E27FC236}">
                <a16:creationId xmlns:a16="http://schemas.microsoft.com/office/drawing/2014/main" id="{F855C0AD-FE25-A0FF-C8B5-00F49E9B31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1C47B2-BC68-4D10-A329-461BEE5D1B0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DBFD7F5-2DB2-CA0C-BE4D-9B469D8E0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Các thủ tục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039753F-CA32-9808-F0A9-57113DE48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742363" cy="5638800"/>
          </a:xfrm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Token * getToken()	//</a:t>
            </a:r>
            <a:r>
              <a:rPr lang="en-US" altLang="en-US" sz="2800">
                <a:solidFill>
                  <a:schemeClr val="bg2"/>
                </a:solidFill>
              </a:rPr>
              <a:t>phân tích từ vựng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error (const char msg[]);//</a:t>
            </a:r>
            <a:r>
              <a:rPr lang="en-US" altLang="en-US" sz="2800">
                <a:solidFill>
                  <a:schemeClr val="bg2"/>
                </a:solidFill>
              </a:rPr>
              <a:t>Báo lỗi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factor(void);//</a:t>
            </a:r>
            <a:r>
              <a:rPr lang="en-US" altLang="en-US" sz="2800">
                <a:solidFill>
                  <a:schemeClr val="bg2"/>
                </a:solidFill>
              </a:rPr>
              <a:t>phân tích nhân tử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term(void);//</a:t>
            </a:r>
            <a:r>
              <a:rPr lang="en-US" altLang="en-US" sz="2800">
                <a:solidFill>
                  <a:schemeClr val="bg2"/>
                </a:solidFill>
              </a:rPr>
              <a:t>phân tích số hạng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expression(void); // </a:t>
            </a:r>
            <a:r>
              <a:rPr lang="en-US" altLang="en-US" sz="2800">
                <a:solidFill>
                  <a:schemeClr val="bg2"/>
                </a:solidFill>
              </a:rPr>
              <a:t>phân tích biểu thức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condition(void); // </a:t>
            </a:r>
            <a:r>
              <a:rPr lang="en-US" altLang="en-US" sz="2800">
                <a:solidFill>
                  <a:schemeClr val="bg2"/>
                </a:solidFill>
              </a:rPr>
              <a:t>phân tích điều kiện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statement(void); // </a:t>
            </a:r>
            <a:r>
              <a:rPr lang="en-US" altLang="en-US" sz="2800">
                <a:solidFill>
                  <a:schemeClr val="bg2"/>
                </a:solidFill>
              </a:rPr>
              <a:t>phân tích câu lệnh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block(void); // </a:t>
            </a:r>
            <a:r>
              <a:rPr lang="en-US" altLang="en-US" sz="2800">
                <a:solidFill>
                  <a:schemeClr val="bg2"/>
                </a:solidFill>
              </a:rPr>
              <a:t>phân tích các khối câu lệnh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sz="2800"/>
              <a:t>void program();	//</a:t>
            </a:r>
            <a:r>
              <a:rPr lang="en-US" altLang="en-US" sz="2800">
                <a:solidFill>
                  <a:schemeClr val="bg2"/>
                </a:solidFill>
              </a:rPr>
              <a:t>Phân tích chương trình</a:t>
            </a:r>
            <a:endParaRPr lang="en-US" altLang="en-US" sz="2800">
              <a:solidFill>
                <a:schemeClr val="bg2"/>
              </a:solidFill>
              <a:sym typeface="Symbol" panose="05050102010706020507" pitchFamily="18" charset="2"/>
            </a:endParaRPr>
          </a:p>
        </p:txBody>
      </p:sp>
      <p:sp>
        <p:nvSpPr>
          <p:cNvPr id="125957" name="Text Box 4">
            <a:extLst>
              <a:ext uri="{FF2B5EF4-FFF2-40B4-BE49-F238E27FC236}">
                <a16:creationId xmlns:a16="http://schemas.microsoft.com/office/drawing/2014/main" id="{B188EBA7-DEED-3257-2A67-2A2D51B4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Number Placeholder 4">
            <a:extLst>
              <a:ext uri="{FF2B5EF4-FFF2-40B4-BE49-F238E27FC236}">
                <a16:creationId xmlns:a16="http://schemas.microsoft.com/office/drawing/2014/main" id="{F0B40C56-3368-37E3-5F12-1AB700E380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8339D0-2592-40CD-98A8-5C26D4D0029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18F3DDF0-C7CC-E3F6-4ACC-D419ECC3E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Term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2DC322B1-A2A1-AC0B-64F0-E463B06F2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4800600"/>
          </a:xfrm>
        </p:spPr>
        <p:txBody>
          <a:bodyPr/>
          <a:lstStyle/>
          <a:p>
            <a:pPr marL="406400" indent="-406400" eaLnBrk="1" hangingPunct="1">
              <a:buFontTx/>
              <a:buNone/>
            </a:pPr>
            <a:r>
              <a:rPr lang="en-US" altLang="en-US" sz="2800"/>
              <a:t>void term()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factor();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while(Token == TIMES || Token == SLASH)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Token 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factor();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}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}</a:t>
            </a:r>
            <a:endParaRPr lang="en-US" altLang="en-US" sz="2800">
              <a:solidFill>
                <a:schemeClr val="bg2"/>
              </a:solidFill>
              <a:sym typeface="Symbol" panose="05050102010706020507" pitchFamily="18" charset="2"/>
            </a:endParaRPr>
          </a:p>
        </p:txBody>
      </p:sp>
      <p:sp>
        <p:nvSpPr>
          <p:cNvPr id="126981" name="Text Box 4">
            <a:extLst>
              <a:ext uri="{FF2B5EF4-FFF2-40B4-BE49-F238E27FC236}">
                <a16:creationId xmlns:a16="http://schemas.microsoft.com/office/drawing/2014/main" id="{2077D763-138D-51F6-2BDF-4DD6FB342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pic>
        <p:nvPicPr>
          <p:cNvPr id="126982" name="Picture 5">
            <a:extLst>
              <a:ext uri="{FF2B5EF4-FFF2-40B4-BE49-F238E27FC236}">
                <a16:creationId xmlns:a16="http://schemas.microsoft.com/office/drawing/2014/main" id="{B1A2DE18-9F9C-8DB5-8E09-765BEFE58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895350"/>
            <a:ext cx="5562600" cy="1390650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Number Placeholder 4">
            <a:extLst>
              <a:ext uri="{FF2B5EF4-FFF2-40B4-BE49-F238E27FC236}">
                <a16:creationId xmlns:a16="http://schemas.microsoft.com/office/drawing/2014/main" id="{8115CDFC-8340-E421-5F19-EC8B7D7BF5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83C82E-7C8C-41A9-B7CC-D094DF0E354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56113FA5-539E-A031-336C-ADF9BD44C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Expression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C42C421-41C5-D0A0-796F-2033CC034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4724400"/>
          </a:xfrm>
        </p:spPr>
        <p:txBody>
          <a:bodyPr/>
          <a:lstStyle/>
          <a:p>
            <a:pPr marL="406400" indent="-406400" eaLnBrk="1" hangingPunct="1">
              <a:buFontTx/>
              <a:buNone/>
            </a:pPr>
            <a:r>
              <a:rPr lang="en-US" altLang="en-US" sz="2800"/>
              <a:t>void expression() 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if(Token== plus || Token == minus)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Token 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term();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while(Token == plus || Token == minus){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Token 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term();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}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}</a:t>
            </a:r>
          </a:p>
        </p:txBody>
      </p:sp>
      <p:sp>
        <p:nvSpPr>
          <p:cNvPr id="128005" name="Text Box 4">
            <a:extLst>
              <a:ext uri="{FF2B5EF4-FFF2-40B4-BE49-F238E27FC236}">
                <a16:creationId xmlns:a16="http://schemas.microsoft.com/office/drawing/2014/main" id="{F21C3D4F-E39E-FCAB-EE2A-36B61B982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pic>
        <p:nvPicPr>
          <p:cNvPr id="128006" name="Picture 5">
            <a:extLst>
              <a:ext uri="{FF2B5EF4-FFF2-40B4-BE49-F238E27FC236}">
                <a16:creationId xmlns:a16="http://schemas.microsoft.com/office/drawing/2014/main" id="{0D58C341-7617-7C37-2CEF-05A8B09F7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822825"/>
            <a:ext cx="6629400" cy="1882775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Number Placeholder 4">
            <a:extLst>
              <a:ext uri="{FF2B5EF4-FFF2-40B4-BE49-F238E27FC236}">
                <a16:creationId xmlns:a16="http://schemas.microsoft.com/office/drawing/2014/main" id="{018FD551-5D30-C633-AD6C-C21CEE86B6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55999B-3D71-4427-84FB-7EEC7DA5BAC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29B3CEA5-4D6D-E824-C61B-6038C47EC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Condition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5BD99D07-2953-C900-A20F-CA8BFD161C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4724400"/>
          </a:xfrm>
        </p:spPr>
        <p:txBody>
          <a:bodyPr/>
          <a:lstStyle/>
          <a:p>
            <a:pPr marL="406400" indent="-406400" eaLnBrk="1" hangingPunct="1">
              <a:buFontTx/>
              <a:buNone/>
            </a:pPr>
            <a:r>
              <a:rPr lang="en-US" altLang="en-US" sz="2800"/>
              <a:t>void condition() 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expression();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if(Token == eql || Token == neq || Token == lss ||   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       Token == leq || Token == grt || Token == geq){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Token 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expression();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}else	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error("condition: syntax error");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}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}</a:t>
            </a:r>
          </a:p>
        </p:txBody>
      </p:sp>
      <p:sp>
        <p:nvSpPr>
          <p:cNvPr id="129029" name="Text Box 4">
            <a:extLst>
              <a:ext uri="{FF2B5EF4-FFF2-40B4-BE49-F238E27FC236}">
                <a16:creationId xmlns:a16="http://schemas.microsoft.com/office/drawing/2014/main" id="{A33C5166-0E1D-7F71-49BE-F8E059F13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pic>
        <p:nvPicPr>
          <p:cNvPr id="129030" name="Picture 5">
            <a:extLst>
              <a:ext uri="{FF2B5EF4-FFF2-40B4-BE49-F238E27FC236}">
                <a16:creationId xmlns:a16="http://schemas.microsoft.com/office/drawing/2014/main" id="{D207AEB1-C56F-5A7B-210C-7002F483F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334000"/>
            <a:ext cx="7696200" cy="1417638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Number Placeholder 4">
            <a:extLst>
              <a:ext uri="{FF2B5EF4-FFF2-40B4-BE49-F238E27FC236}">
                <a16:creationId xmlns:a16="http://schemas.microsoft.com/office/drawing/2014/main" id="{9FBFBCB0-9EF5-DEAE-363C-92AEAC4834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E7E15B-A0D5-4536-8EE3-EF89C6FC237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7F5B9130-7701-70E0-E2DF-DC1722E7E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Statement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30052" name="Text Box 4">
            <a:extLst>
              <a:ext uri="{FF2B5EF4-FFF2-40B4-BE49-F238E27FC236}">
                <a16:creationId xmlns:a16="http://schemas.microsoft.com/office/drawing/2014/main" id="{10D98BBD-2B06-DBEF-D57A-D1B4E28D7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  <p:grpSp>
        <p:nvGrpSpPr>
          <p:cNvPr id="130053" name="Group 138">
            <a:extLst>
              <a:ext uri="{FF2B5EF4-FFF2-40B4-BE49-F238E27FC236}">
                <a16:creationId xmlns:a16="http://schemas.microsoft.com/office/drawing/2014/main" id="{6FF11411-E99A-D485-E72F-6BE682DF84A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8200"/>
            <a:ext cx="8382000" cy="5791200"/>
            <a:chOff x="354" y="629"/>
            <a:chExt cx="5280" cy="3547"/>
          </a:xfrm>
        </p:grpSpPr>
        <p:grpSp>
          <p:nvGrpSpPr>
            <p:cNvPr id="130054" name="Group 12">
              <a:extLst>
                <a:ext uri="{FF2B5EF4-FFF2-40B4-BE49-F238E27FC236}">
                  <a16:creationId xmlns:a16="http://schemas.microsoft.com/office/drawing/2014/main" id="{7A625AAD-FABE-A522-526B-7944306068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" y="1394"/>
              <a:ext cx="585" cy="217"/>
              <a:chOff x="5967" y="3883"/>
              <a:chExt cx="954" cy="525"/>
            </a:xfrm>
          </p:grpSpPr>
          <p:sp>
            <p:nvSpPr>
              <p:cNvPr id="130178" name="AutoShape 13">
                <a:extLst>
                  <a:ext uri="{FF2B5EF4-FFF2-40B4-BE49-F238E27FC236}">
                    <a16:creationId xmlns:a16="http://schemas.microsoft.com/office/drawing/2014/main" id="{2124156C-79AB-CF47-B12E-766ACAB40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67" y="38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79" name="Text Box 14">
                <a:extLst>
                  <a:ext uri="{FF2B5EF4-FFF2-40B4-BE49-F238E27FC236}">
                    <a16:creationId xmlns:a16="http://schemas.microsoft.com/office/drawing/2014/main" id="{52DD5C65-93FE-BA2F-ED69-3B346DDFA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21" y="39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CALL</a:t>
                </a:r>
              </a:p>
            </p:txBody>
          </p:sp>
        </p:grpSp>
        <p:grpSp>
          <p:nvGrpSpPr>
            <p:cNvPr id="130055" name="Group 15">
              <a:extLst>
                <a:ext uri="{FF2B5EF4-FFF2-40B4-BE49-F238E27FC236}">
                  <a16:creationId xmlns:a16="http://schemas.microsoft.com/office/drawing/2014/main" id="{7F25BB0D-502B-F7CE-DB2C-AB2AB7EC6A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" y="3027"/>
              <a:ext cx="774" cy="216"/>
              <a:chOff x="8667" y="3883"/>
              <a:chExt cx="1260" cy="525"/>
            </a:xfrm>
          </p:grpSpPr>
          <p:sp>
            <p:nvSpPr>
              <p:cNvPr id="130176" name="AutoShape 16">
                <a:extLst>
                  <a:ext uri="{FF2B5EF4-FFF2-40B4-BE49-F238E27FC236}">
                    <a16:creationId xmlns:a16="http://schemas.microsoft.com/office/drawing/2014/main" id="{92EA23ED-0D33-7F78-763C-3DA41A68F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7" y="3883"/>
                <a:ext cx="126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77" name="Text Box 17">
                <a:extLst>
                  <a:ext uri="{FF2B5EF4-FFF2-40B4-BE49-F238E27FC236}">
                    <a16:creationId xmlns:a16="http://schemas.microsoft.com/office/drawing/2014/main" id="{1D43FD2B-62E1-C2F5-531A-2B73BBF814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1" y="3964"/>
                <a:ext cx="1161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WHILE</a:t>
                </a:r>
              </a:p>
            </p:txBody>
          </p:sp>
        </p:grpSp>
        <p:grpSp>
          <p:nvGrpSpPr>
            <p:cNvPr id="130056" name="Group 18">
              <a:extLst>
                <a:ext uri="{FF2B5EF4-FFF2-40B4-BE49-F238E27FC236}">
                  <a16:creationId xmlns:a16="http://schemas.microsoft.com/office/drawing/2014/main" id="{C9E07950-6470-5D06-14EA-7DD1A732A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0" y="2697"/>
              <a:ext cx="585" cy="217"/>
              <a:chOff x="8487" y="2983"/>
              <a:chExt cx="954" cy="525"/>
            </a:xfrm>
          </p:grpSpPr>
          <p:sp>
            <p:nvSpPr>
              <p:cNvPr id="130174" name="AutoShape 19">
                <a:extLst>
                  <a:ext uri="{FF2B5EF4-FFF2-40B4-BE49-F238E27FC236}">
                    <a16:creationId xmlns:a16="http://schemas.microsoft.com/office/drawing/2014/main" id="{06F729FE-E45A-BA40-E0E6-F7F6D00D4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87" y="29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75" name="Text Box 20">
                <a:extLst>
                  <a:ext uri="{FF2B5EF4-FFF2-40B4-BE49-F238E27FC236}">
                    <a16:creationId xmlns:a16="http://schemas.microsoft.com/office/drawing/2014/main" id="{C6FF28A3-588E-DD2F-7D89-90C05EC163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41" y="30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THEN</a:t>
                </a:r>
              </a:p>
            </p:txBody>
          </p:sp>
        </p:grpSp>
        <p:grpSp>
          <p:nvGrpSpPr>
            <p:cNvPr id="130057" name="Group 21">
              <a:extLst>
                <a:ext uri="{FF2B5EF4-FFF2-40B4-BE49-F238E27FC236}">
                  <a16:creationId xmlns:a16="http://schemas.microsoft.com/office/drawing/2014/main" id="{6C60D37F-E8A2-4C90-4FD5-83B41BDC12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" y="3476"/>
              <a:ext cx="585" cy="216"/>
              <a:chOff x="4887" y="4963"/>
              <a:chExt cx="954" cy="525"/>
            </a:xfrm>
          </p:grpSpPr>
          <p:sp>
            <p:nvSpPr>
              <p:cNvPr id="130172" name="AutoShape 22">
                <a:extLst>
                  <a:ext uri="{FF2B5EF4-FFF2-40B4-BE49-F238E27FC236}">
                    <a16:creationId xmlns:a16="http://schemas.microsoft.com/office/drawing/2014/main" id="{28039114-BEBB-AE9D-A00E-519D356F8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7" y="496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73" name="Text Box 23">
                <a:extLst>
                  <a:ext uri="{FF2B5EF4-FFF2-40B4-BE49-F238E27FC236}">
                    <a16:creationId xmlns:a16="http://schemas.microsoft.com/office/drawing/2014/main" id="{A825E281-FF60-51E2-8CC6-50B914672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1" y="504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FOR</a:t>
                </a:r>
              </a:p>
            </p:txBody>
          </p:sp>
        </p:grpSp>
        <p:grpSp>
          <p:nvGrpSpPr>
            <p:cNvPr id="130058" name="Group 24">
              <a:extLst>
                <a:ext uri="{FF2B5EF4-FFF2-40B4-BE49-F238E27FC236}">
                  <a16:creationId xmlns:a16="http://schemas.microsoft.com/office/drawing/2014/main" id="{4DC47A70-CB2B-574F-727A-C573B2960E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3" y="3864"/>
              <a:ext cx="474" cy="216"/>
              <a:chOff x="7977" y="4963"/>
              <a:chExt cx="774" cy="525"/>
            </a:xfrm>
          </p:grpSpPr>
          <p:sp>
            <p:nvSpPr>
              <p:cNvPr id="130170" name="AutoShape 25">
                <a:extLst>
                  <a:ext uri="{FF2B5EF4-FFF2-40B4-BE49-F238E27FC236}">
                    <a16:creationId xmlns:a16="http://schemas.microsoft.com/office/drawing/2014/main" id="{061F56CA-A18A-4237-C041-68CB8F615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7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71" name="Text Box 26">
                <a:extLst>
                  <a:ext uri="{FF2B5EF4-FFF2-40B4-BE49-F238E27FC236}">
                    <a16:creationId xmlns:a16="http://schemas.microsoft.com/office/drawing/2014/main" id="{57005395-98A1-8FDA-FE72-4D7A9F563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0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DO</a:t>
                </a:r>
              </a:p>
            </p:txBody>
          </p:sp>
        </p:grpSp>
        <p:grpSp>
          <p:nvGrpSpPr>
            <p:cNvPr id="130059" name="Group 27">
              <a:extLst>
                <a:ext uri="{FF2B5EF4-FFF2-40B4-BE49-F238E27FC236}">
                  <a16:creationId xmlns:a16="http://schemas.microsoft.com/office/drawing/2014/main" id="{74F2B4F8-72A8-B2F5-1774-42BF9DC40E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" y="2705"/>
              <a:ext cx="474" cy="217"/>
              <a:chOff x="9237" y="4963"/>
              <a:chExt cx="774" cy="525"/>
            </a:xfrm>
          </p:grpSpPr>
          <p:sp>
            <p:nvSpPr>
              <p:cNvPr id="130168" name="AutoShape 28">
                <a:extLst>
                  <a:ext uri="{FF2B5EF4-FFF2-40B4-BE49-F238E27FC236}">
                    <a16:creationId xmlns:a16="http://schemas.microsoft.com/office/drawing/2014/main" id="{FCB03B56-F8CB-7CF0-579A-3B4F556F3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69" name="Text Box 29">
                <a:extLst>
                  <a:ext uri="{FF2B5EF4-FFF2-40B4-BE49-F238E27FC236}">
                    <a16:creationId xmlns:a16="http://schemas.microsoft.com/office/drawing/2014/main" id="{335FBFB2-728A-35DE-42F1-C807C20DB9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6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IF</a:t>
                </a:r>
              </a:p>
            </p:txBody>
          </p:sp>
        </p:grpSp>
        <p:grpSp>
          <p:nvGrpSpPr>
            <p:cNvPr id="130060" name="Group 30">
              <a:extLst>
                <a:ext uri="{FF2B5EF4-FFF2-40B4-BE49-F238E27FC236}">
                  <a16:creationId xmlns:a16="http://schemas.microsoft.com/office/drawing/2014/main" id="{115B16FF-5A6B-4C13-41B8-07E1F27D37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" y="715"/>
              <a:ext cx="528" cy="205"/>
              <a:chOff x="2256" y="2064"/>
              <a:chExt cx="528" cy="227"/>
            </a:xfrm>
          </p:grpSpPr>
          <p:sp>
            <p:nvSpPr>
              <p:cNvPr id="130166" name="AutoShape 31">
                <a:extLst>
                  <a:ext uri="{FF2B5EF4-FFF2-40B4-BE49-F238E27FC236}">
                    <a16:creationId xmlns:a16="http://schemas.microsoft.com/office/drawing/2014/main" id="{FD1EE290-DD4F-7D0A-D556-D78ABC68C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67" name="Text Box 32">
                <a:extLst>
                  <a:ext uri="{FF2B5EF4-FFF2-40B4-BE49-F238E27FC236}">
                    <a16:creationId xmlns:a16="http://schemas.microsoft.com/office/drawing/2014/main" id="{B058DBE0-59CA-E6B4-D37B-2A92ECABC9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3" y="2084"/>
                <a:ext cx="479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0061" name="Group 33">
              <a:extLst>
                <a:ext uri="{FF2B5EF4-FFF2-40B4-BE49-F238E27FC236}">
                  <a16:creationId xmlns:a16="http://schemas.microsoft.com/office/drawing/2014/main" id="{FB8ED9E3-340A-5C64-B1FA-9FD02BBDC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8" y="3484"/>
              <a:ext cx="474" cy="216"/>
              <a:chOff x="6687" y="4963"/>
              <a:chExt cx="774" cy="525"/>
            </a:xfrm>
          </p:grpSpPr>
          <p:sp>
            <p:nvSpPr>
              <p:cNvPr id="130164" name="AutoShape 34">
                <a:extLst>
                  <a:ext uri="{FF2B5EF4-FFF2-40B4-BE49-F238E27FC236}">
                    <a16:creationId xmlns:a16="http://schemas.microsoft.com/office/drawing/2014/main" id="{402E2AD0-0A25-A674-D634-C7890ACF2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65" name="Text Box 35">
                <a:extLst>
                  <a:ext uri="{FF2B5EF4-FFF2-40B4-BE49-F238E27FC236}">
                    <a16:creationId xmlns:a16="http://schemas.microsoft.com/office/drawing/2014/main" id="{8C38BF2F-FD89-4958-C636-42D862EFCA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TO</a:t>
                </a:r>
              </a:p>
            </p:txBody>
          </p:sp>
        </p:grpSp>
        <p:sp>
          <p:nvSpPr>
            <p:cNvPr id="130062" name="Text Box 36">
              <a:extLst>
                <a:ext uri="{FF2B5EF4-FFF2-40B4-BE49-F238E27FC236}">
                  <a16:creationId xmlns:a16="http://schemas.microsoft.com/office/drawing/2014/main" id="{998D5011-8482-343C-21AE-3E94692C3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" y="3027"/>
              <a:ext cx="1008" cy="2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Condition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063" name="Text Box 37">
              <a:extLst>
                <a:ext uri="{FF2B5EF4-FFF2-40B4-BE49-F238E27FC236}">
                  <a16:creationId xmlns:a16="http://schemas.microsoft.com/office/drawing/2014/main" id="{C4C00DA8-FB30-C587-F9DF-278FCA17B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4" y="3008"/>
              <a:ext cx="1008" cy="2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064" name="Text Box 38">
              <a:extLst>
                <a:ext uri="{FF2B5EF4-FFF2-40B4-BE49-F238E27FC236}">
                  <a16:creationId xmlns:a16="http://schemas.microsoft.com/office/drawing/2014/main" id="{455B3B0C-C5E9-805A-1286-8B603F83D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9" y="978"/>
              <a:ext cx="1008" cy="2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VNtimes new roman" charset="0"/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30065" name="Group 39">
              <a:extLst>
                <a:ext uri="{FF2B5EF4-FFF2-40B4-BE49-F238E27FC236}">
                  <a16:creationId xmlns:a16="http://schemas.microsoft.com/office/drawing/2014/main" id="{324C9DC9-5D90-2A8E-93E2-4BC5BC99FF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0" y="3468"/>
              <a:ext cx="528" cy="205"/>
              <a:chOff x="2256" y="2064"/>
              <a:chExt cx="528" cy="227"/>
            </a:xfrm>
          </p:grpSpPr>
          <p:sp>
            <p:nvSpPr>
              <p:cNvPr id="130162" name="AutoShape 40">
                <a:extLst>
                  <a:ext uri="{FF2B5EF4-FFF2-40B4-BE49-F238E27FC236}">
                    <a16:creationId xmlns:a16="http://schemas.microsoft.com/office/drawing/2014/main" id="{4D818698-1F6A-633B-3922-7C90D0E4C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63" name="Text Box 41">
                <a:extLst>
                  <a:ext uri="{FF2B5EF4-FFF2-40B4-BE49-F238E27FC236}">
                    <a16:creationId xmlns:a16="http://schemas.microsoft.com/office/drawing/2014/main" id="{C0615919-79D6-0934-BCE4-5DD30B8755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3" y="2084"/>
                <a:ext cx="479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0066" name="Line 42">
              <a:extLst>
                <a:ext uri="{FF2B5EF4-FFF2-40B4-BE49-F238E27FC236}">
                  <a16:creationId xmlns:a16="http://schemas.microsoft.com/office/drawing/2014/main" id="{87715129-CF05-1254-1362-2C6B20E7E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8" y="357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0067" name="Group 43">
              <a:extLst>
                <a:ext uri="{FF2B5EF4-FFF2-40B4-BE49-F238E27FC236}">
                  <a16:creationId xmlns:a16="http://schemas.microsoft.com/office/drawing/2014/main" id="{BAF74D9E-AA5C-C99D-4080-7DF7155204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2" y="3465"/>
              <a:ext cx="296" cy="216"/>
              <a:chOff x="2248" y="1680"/>
              <a:chExt cx="296" cy="240"/>
            </a:xfrm>
          </p:grpSpPr>
          <p:sp>
            <p:nvSpPr>
              <p:cNvPr id="130160" name="Text Box 44">
                <a:extLst>
                  <a:ext uri="{FF2B5EF4-FFF2-40B4-BE49-F238E27FC236}">
                    <a16:creationId xmlns:a16="http://schemas.microsoft.com/office/drawing/2014/main" id="{16DEBE43-28AA-83AC-E8BA-CE796A70D4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8" y="1680"/>
                <a:ext cx="2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:=</a:t>
                </a:r>
              </a:p>
            </p:txBody>
          </p:sp>
          <p:sp>
            <p:nvSpPr>
              <p:cNvPr id="130161" name="Oval 45">
                <a:extLst>
                  <a:ext uri="{FF2B5EF4-FFF2-40B4-BE49-F238E27FC236}">
                    <a16:creationId xmlns:a16="http://schemas.microsoft.com/office/drawing/2014/main" id="{2083F252-DE44-4EC9-94F4-1F58C0F5F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686"/>
                <a:ext cx="288" cy="234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0068" name="Text Box 46">
              <a:extLst>
                <a:ext uri="{FF2B5EF4-FFF2-40B4-BE49-F238E27FC236}">
                  <a16:creationId xmlns:a16="http://schemas.microsoft.com/office/drawing/2014/main" id="{F32044EB-80AF-2C42-1ED4-AAAB691B6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469"/>
              <a:ext cx="1008" cy="2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069" name="Text Box 47">
              <a:extLst>
                <a:ext uri="{FF2B5EF4-FFF2-40B4-BE49-F238E27FC236}">
                  <a16:creationId xmlns:a16="http://schemas.microsoft.com/office/drawing/2014/main" id="{A1199A6E-0076-6E1A-FDBC-0731A3000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3869"/>
              <a:ext cx="1008" cy="2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070" name="Text Box 48">
              <a:extLst>
                <a:ext uri="{FF2B5EF4-FFF2-40B4-BE49-F238E27FC236}">
                  <a16:creationId xmlns:a16="http://schemas.microsoft.com/office/drawing/2014/main" id="{FAE8B3AB-3892-4093-C4D7-BC2599A78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" y="3853"/>
              <a:ext cx="1008" cy="2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071" name="Line 49">
              <a:extLst>
                <a:ext uri="{FF2B5EF4-FFF2-40B4-BE49-F238E27FC236}">
                  <a16:creationId xmlns:a16="http://schemas.microsoft.com/office/drawing/2014/main" id="{A6E9291C-ABE2-B81C-0AC5-EE8278BB6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357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72" name="Line 50">
              <a:extLst>
                <a:ext uri="{FF2B5EF4-FFF2-40B4-BE49-F238E27FC236}">
                  <a16:creationId xmlns:a16="http://schemas.microsoft.com/office/drawing/2014/main" id="{210A9493-68DC-249B-949F-AA5F6EB00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7" y="357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73" name="Line 51">
              <a:extLst>
                <a:ext uri="{FF2B5EF4-FFF2-40B4-BE49-F238E27FC236}">
                  <a16:creationId xmlns:a16="http://schemas.microsoft.com/office/drawing/2014/main" id="{286EFF76-6976-4121-1E3B-AF15ACC82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" y="3581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74" name="Line 52">
              <a:extLst>
                <a:ext uri="{FF2B5EF4-FFF2-40B4-BE49-F238E27FC236}">
                  <a16:creationId xmlns:a16="http://schemas.microsoft.com/office/drawing/2014/main" id="{DF8E0304-6048-8F0E-A160-D8ADD72BE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3" y="3963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75" name="Line 53">
              <a:extLst>
                <a:ext uri="{FF2B5EF4-FFF2-40B4-BE49-F238E27FC236}">
                  <a16:creationId xmlns:a16="http://schemas.microsoft.com/office/drawing/2014/main" id="{0D0F0378-59D7-8166-3436-6D39DB01A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3971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76" name="Freeform 54">
              <a:extLst>
                <a:ext uri="{FF2B5EF4-FFF2-40B4-BE49-F238E27FC236}">
                  <a16:creationId xmlns:a16="http://schemas.microsoft.com/office/drawing/2014/main" id="{4E67F722-3C9C-5AB8-FBF6-ED848286A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3570"/>
              <a:ext cx="2736" cy="390"/>
            </a:xfrm>
            <a:custGeom>
              <a:avLst/>
              <a:gdLst>
                <a:gd name="T0" fmla="*/ 2448 w 2736"/>
                <a:gd name="T1" fmla="*/ 0 h 432"/>
                <a:gd name="T2" fmla="*/ 2736 w 2736"/>
                <a:gd name="T3" fmla="*/ 0 h 432"/>
                <a:gd name="T4" fmla="*/ 2736 w 2736"/>
                <a:gd name="T5" fmla="*/ 130 h 432"/>
                <a:gd name="T6" fmla="*/ 0 w 2736"/>
                <a:gd name="T7" fmla="*/ 130 h 432"/>
                <a:gd name="T8" fmla="*/ 0 w 2736"/>
                <a:gd name="T9" fmla="*/ 234 h 432"/>
                <a:gd name="T10" fmla="*/ 192 w 2736"/>
                <a:gd name="T11" fmla="*/ 234 h 4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36" h="432">
                  <a:moveTo>
                    <a:pt x="2448" y="0"/>
                  </a:moveTo>
                  <a:lnTo>
                    <a:pt x="2736" y="0"/>
                  </a:lnTo>
                  <a:lnTo>
                    <a:pt x="2736" y="240"/>
                  </a:lnTo>
                  <a:lnTo>
                    <a:pt x="0" y="240"/>
                  </a:lnTo>
                  <a:lnTo>
                    <a:pt x="0" y="432"/>
                  </a:lnTo>
                  <a:lnTo>
                    <a:pt x="192" y="43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0077" name="Group 55">
              <a:extLst>
                <a:ext uri="{FF2B5EF4-FFF2-40B4-BE49-F238E27FC236}">
                  <a16:creationId xmlns:a16="http://schemas.microsoft.com/office/drawing/2014/main" id="{DB110A93-4516-EDCC-4A18-CD9CF5A3FE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3027"/>
              <a:ext cx="474" cy="216"/>
              <a:chOff x="7977" y="4963"/>
              <a:chExt cx="774" cy="525"/>
            </a:xfrm>
          </p:grpSpPr>
          <p:sp>
            <p:nvSpPr>
              <p:cNvPr id="130158" name="AutoShape 56">
                <a:extLst>
                  <a:ext uri="{FF2B5EF4-FFF2-40B4-BE49-F238E27FC236}">
                    <a16:creationId xmlns:a16="http://schemas.microsoft.com/office/drawing/2014/main" id="{AD263A34-649D-5886-DB56-230726C87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7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59" name="Text Box 57">
                <a:extLst>
                  <a:ext uri="{FF2B5EF4-FFF2-40B4-BE49-F238E27FC236}">
                    <a16:creationId xmlns:a16="http://schemas.microsoft.com/office/drawing/2014/main" id="{86E6892B-C93F-328A-9BB6-F6455A845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0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DO</a:t>
                </a:r>
              </a:p>
            </p:txBody>
          </p:sp>
        </p:grpSp>
        <p:sp>
          <p:nvSpPr>
            <p:cNvPr id="130078" name="Line 58">
              <a:extLst>
                <a:ext uri="{FF2B5EF4-FFF2-40B4-BE49-F238E27FC236}">
                  <a16:creationId xmlns:a16="http://schemas.microsoft.com/office/drawing/2014/main" id="{4FC92F67-714F-CDDC-E094-246C6EE3B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" y="312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79" name="Line 59">
              <a:extLst>
                <a:ext uri="{FF2B5EF4-FFF2-40B4-BE49-F238E27FC236}">
                  <a16:creationId xmlns:a16="http://schemas.microsoft.com/office/drawing/2014/main" id="{0258DCB2-CAA2-23EB-A9DE-7C9349C55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8" y="313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0" name="Line 60">
              <a:extLst>
                <a:ext uri="{FF2B5EF4-FFF2-40B4-BE49-F238E27FC236}">
                  <a16:creationId xmlns:a16="http://schemas.microsoft.com/office/drawing/2014/main" id="{A16DC671-1371-A0F1-C5C7-42F41F2D6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311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1" name="Text Box 61">
              <a:extLst>
                <a:ext uri="{FF2B5EF4-FFF2-40B4-BE49-F238E27FC236}">
                  <a16:creationId xmlns:a16="http://schemas.microsoft.com/office/drawing/2014/main" id="{D4574E79-1103-27AD-EE00-DC5A33B15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2705"/>
              <a:ext cx="1008" cy="2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Condition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082" name="Line 62">
              <a:extLst>
                <a:ext uri="{FF2B5EF4-FFF2-40B4-BE49-F238E27FC236}">
                  <a16:creationId xmlns:a16="http://schemas.microsoft.com/office/drawing/2014/main" id="{BAD9BEC8-CA69-5171-6BB8-54D7048C9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4" y="2800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3" name="Line 63">
              <a:extLst>
                <a:ext uri="{FF2B5EF4-FFF2-40B4-BE49-F238E27FC236}">
                  <a16:creationId xmlns:a16="http://schemas.microsoft.com/office/drawing/2014/main" id="{F7D6558D-9BFD-5723-3F4A-153E3A30B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279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4" name="Text Box 64">
              <a:extLst>
                <a:ext uri="{FF2B5EF4-FFF2-40B4-BE49-F238E27FC236}">
                  <a16:creationId xmlns:a16="http://schemas.microsoft.com/office/drawing/2014/main" id="{755074C4-F90D-B0A8-67AF-08FE00997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3" y="2705"/>
              <a:ext cx="1008" cy="2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085" name="Line 65">
              <a:extLst>
                <a:ext uri="{FF2B5EF4-FFF2-40B4-BE49-F238E27FC236}">
                  <a16:creationId xmlns:a16="http://schemas.microsoft.com/office/drawing/2014/main" id="{D0BE4400-FC23-D4D3-5D1B-A1F200F64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2811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6" name="Text Box 66">
              <a:extLst>
                <a:ext uri="{FF2B5EF4-FFF2-40B4-BE49-F238E27FC236}">
                  <a16:creationId xmlns:a16="http://schemas.microsoft.com/office/drawing/2014/main" id="{B4318C99-8E0D-ED99-C191-11728DF05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" y="1824"/>
              <a:ext cx="1008" cy="2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30087" name="Group 67">
              <a:extLst>
                <a:ext uri="{FF2B5EF4-FFF2-40B4-BE49-F238E27FC236}">
                  <a16:creationId xmlns:a16="http://schemas.microsoft.com/office/drawing/2014/main" id="{C0B93552-60C9-FF31-2DD0-FF607FB3D3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8" y="1858"/>
              <a:ext cx="558" cy="217"/>
              <a:chOff x="3087" y="4963"/>
              <a:chExt cx="954" cy="525"/>
            </a:xfrm>
          </p:grpSpPr>
          <p:sp>
            <p:nvSpPr>
              <p:cNvPr id="130156" name="AutoShape 68">
                <a:extLst>
                  <a:ext uri="{FF2B5EF4-FFF2-40B4-BE49-F238E27FC236}">
                    <a16:creationId xmlns:a16="http://schemas.microsoft.com/office/drawing/2014/main" id="{3C8A0C2B-A623-5799-CC8F-880D3BAC5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7" y="496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57" name="Text Box 69">
                <a:extLst>
                  <a:ext uri="{FF2B5EF4-FFF2-40B4-BE49-F238E27FC236}">
                    <a16:creationId xmlns:a16="http://schemas.microsoft.com/office/drawing/2014/main" id="{3E5CD56C-0421-1361-3DC9-27627F54F2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1" y="504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END</a:t>
                </a:r>
              </a:p>
            </p:txBody>
          </p:sp>
        </p:grpSp>
        <p:grpSp>
          <p:nvGrpSpPr>
            <p:cNvPr id="130088" name="Group 70">
              <a:extLst>
                <a:ext uri="{FF2B5EF4-FFF2-40B4-BE49-F238E27FC236}">
                  <a16:creationId xmlns:a16="http://schemas.microsoft.com/office/drawing/2014/main" id="{829C6921-2650-4264-0991-9C1E71BA35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" y="1834"/>
              <a:ext cx="774" cy="216"/>
              <a:chOff x="5967" y="2983"/>
              <a:chExt cx="1260" cy="525"/>
            </a:xfrm>
          </p:grpSpPr>
          <p:sp>
            <p:nvSpPr>
              <p:cNvPr id="130154" name="AutoShape 71">
                <a:extLst>
                  <a:ext uri="{FF2B5EF4-FFF2-40B4-BE49-F238E27FC236}">
                    <a16:creationId xmlns:a16="http://schemas.microsoft.com/office/drawing/2014/main" id="{2635A857-ABB3-416E-870B-F30A78766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67" y="2983"/>
                <a:ext cx="126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55" name="Text Box 72">
                <a:extLst>
                  <a:ext uri="{FF2B5EF4-FFF2-40B4-BE49-F238E27FC236}">
                    <a16:creationId xmlns:a16="http://schemas.microsoft.com/office/drawing/2014/main" id="{0072439C-A94C-5CDF-81D4-2F97A8D5E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21" y="3064"/>
                <a:ext cx="1161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BEGIN</a:t>
                </a:r>
              </a:p>
            </p:txBody>
          </p:sp>
        </p:grpSp>
        <p:grpSp>
          <p:nvGrpSpPr>
            <p:cNvPr id="130089" name="Group 73">
              <a:extLst>
                <a:ext uri="{FF2B5EF4-FFF2-40B4-BE49-F238E27FC236}">
                  <a16:creationId xmlns:a16="http://schemas.microsoft.com/office/drawing/2014/main" id="{ECB49AFF-A0BA-DF1B-2B28-2E47D8F51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7" y="2118"/>
              <a:ext cx="232" cy="216"/>
              <a:chOff x="2016" y="2334"/>
              <a:chExt cx="232" cy="240"/>
            </a:xfrm>
          </p:grpSpPr>
          <p:sp>
            <p:nvSpPr>
              <p:cNvPr id="130152" name="Text Box 74">
                <a:extLst>
                  <a:ext uri="{FF2B5EF4-FFF2-40B4-BE49-F238E27FC236}">
                    <a16:creationId xmlns:a16="http://schemas.microsoft.com/office/drawing/2014/main" id="{BA8F58BB-4AE3-3079-E756-A410B9A9AE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30153" name="Oval 75">
                <a:extLst>
                  <a:ext uri="{FF2B5EF4-FFF2-40B4-BE49-F238E27FC236}">
                    <a16:creationId xmlns:a16="http://schemas.microsoft.com/office/drawing/2014/main" id="{4E6D95BB-4D33-DA7F-0307-35136FC92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0090" name="Text Box 76">
              <a:extLst>
                <a:ext uri="{FF2B5EF4-FFF2-40B4-BE49-F238E27FC236}">
                  <a16:creationId xmlns:a16="http://schemas.microsoft.com/office/drawing/2014/main" id="{FDBE4C38-1996-FC87-FD93-FB9036C58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" y="2116"/>
              <a:ext cx="1008" cy="2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0091" name="Line 77">
              <a:extLst>
                <a:ext uri="{FF2B5EF4-FFF2-40B4-BE49-F238E27FC236}">
                  <a16:creationId xmlns:a16="http://schemas.microsoft.com/office/drawing/2014/main" id="{A30346D2-0484-1545-8509-32AEFB6E0A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4" y="22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2" name="Freeform 78">
              <a:extLst>
                <a:ext uri="{FF2B5EF4-FFF2-40B4-BE49-F238E27FC236}">
                  <a16:creationId xmlns:a16="http://schemas.microsoft.com/office/drawing/2014/main" id="{841DECF0-A51F-47D4-6ECB-54D5C0157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1945"/>
              <a:ext cx="144" cy="303"/>
            </a:xfrm>
            <a:custGeom>
              <a:avLst/>
              <a:gdLst>
                <a:gd name="T0" fmla="*/ 11 w 240"/>
                <a:gd name="T1" fmla="*/ 180 h 336"/>
                <a:gd name="T2" fmla="*/ 0 w 240"/>
                <a:gd name="T3" fmla="*/ 180 h 336"/>
                <a:gd name="T4" fmla="*/ 0 w 240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336">
                  <a:moveTo>
                    <a:pt x="240" y="336"/>
                  </a:move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3" name="Line 79">
              <a:extLst>
                <a:ext uri="{FF2B5EF4-FFF2-40B4-BE49-F238E27FC236}">
                  <a16:creationId xmlns:a16="http://schemas.microsoft.com/office/drawing/2014/main" id="{E2CAF2FF-2133-8915-1A56-6FB2C57CC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8" y="1945"/>
              <a:ext cx="19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4" name="Freeform 80">
              <a:extLst>
                <a:ext uri="{FF2B5EF4-FFF2-40B4-BE49-F238E27FC236}">
                  <a16:creationId xmlns:a16="http://schemas.microsoft.com/office/drawing/2014/main" id="{66B8BB38-17A8-7BCA-9909-869BE32F8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1945"/>
              <a:ext cx="144" cy="303"/>
            </a:xfrm>
            <a:custGeom>
              <a:avLst/>
              <a:gdLst>
                <a:gd name="T0" fmla="*/ 144 w 144"/>
                <a:gd name="T1" fmla="*/ 0 h 336"/>
                <a:gd name="T2" fmla="*/ 144 w 144"/>
                <a:gd name="T3" fmla="*/ 180 h 336"/>
                <a:gd name="T4" fmla="*/ 0 w 144"/>
                <a:gd name="T5" fmla="*/ 18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336">
                  <a:moveTo>
                    <a:pt x="144" y="0"/>
                  </a:moveTo>
                  <a:lnTo>
                    <a:pt x="144" y="336"/>
                  </a:lnTo>
                  <a:lnTo>
                    <a:pt x="0" y="3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5" name="Line 81">
              <a:extLst>
                <a:ext uri="{FF2B5EF4-FFF2-40B4-BE49-F238E27FC236}">
                  <a16:creationId xmlns:a16="http://schemas.microsoft.com/office/drawing/2014/main" id="{30F3882F-6F14-A38A-83DB-004145DA5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0" y="1945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0096" name="Group 82">
              <a:extLst>
                <a:ext uri="{FF2B5EF4-FFF2-40B4-BE49-F238E27FC236}">
                  <a16:creationId xmlns:a16="http://schemas.microsoft.com/office/drawing/2014/main" id="{5E8669C1-ACF0-B935-C774-18AB3301DE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0" y="1408"/>
              <a:ext cx="528" cy="205"/>
              <a:chOff x="2256" y="2064"/>
              <a:chExt cx="528" cy="227"/>
            </a:xfrm>
          </p:grpSpPr>
          <p:sp>
            <p:nvSpPr>
              <p:cNvPr id="130150" name="AutoShape 83">
                <a:extLst>
                  <a:ext uri="{FF2B5EF4-FFF2-40B4-BE49-F238E27FC236}">
                    <a16:creationId xmlns:a16="http://schemas.microsoft.com/office/drawing/2014/main" id="{E4B2027F-9F45-2125-9E9E-306D7D0E1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51" name="Text Box 84">
                <a:extLst>
                  <a:ext uri="{FF2B5EF4-FFF2-40B4-BE49-F238E27FC236}">
                    <a16:creationId xmlns:a16="http://schemas.microsoft.com/office/drawing/2014/main" id="{E0B43491-CE6F-FF76-4986-B60D582FC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3" y="2084"/>
                <a:ext cx="479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0097" name="Text Box 85">
              <a:extLst>
                <a:ext uri="{FF2B5EF4-FFF2-40B4-BE49-F238E27FC236}">
                  <a16:creationId xmlns:a16="http://schemas.microsoft.com/office/drawing/2014/main" id="{CD5C798C-6CF0-5AB7-9849-9911A5B35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" y="1400"/>
              <a:ext cx="1008" cy="2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30098" name="Group 86">
              <a:extLst>
                <a:ext uri="{FF2B5EF4-FFF2-40B4-BE49-F238E27FC236}">
                  <a16:creationId xmlns:a16="http://schemas.microsoft.com/office/drawing/2014/main" id="{76B11979-F7A2-9B09-6D3C-5937778E29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4" y="1375"/>
              <a:ext cx="232" cy="217"/>
              <a:chOff x="2016" y="2334"/>
              <a:chExt cx="232" cy="240"/>
            </a:xfrm>
          </p:grpSpPr>
          <p:sp>
            <p:nvSpPr>
              <p:cNvPr id="130148" name="Text Box 87">
                <a:extLst>
                  <a:ext uri="{FF2B5EF4-FFF2-40B4-BE49-F238E27FC236}">
                    <a16:creationId xmlns:a16="http://schemas.microsoft.com/office/drawing/2014/main" id="{6CE31DFC-93CC-3D11-5F29-A921BE3741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(</a:t>
                </a:r>
              </a:p>
            </p:txBody>
          </p:sp>
          <p:sp>
            <p:nvSpPr>
              <p:cNvPr id="130149" name="Oval 88">
                <a:extLst>
                  <a:ext uri="{FF2B5EF4-FFF2-40B4-BE49-F238E27FC236}">
                    <a16:creationId xmlns:a16="http://schemas.microsoft.com/office/drawing/2014/main" id="{5EA100FB-46C2-40E0-84A9-A185173F4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0099" name="Group 89">
              <a:extLst>
                <a:ext uri="{FF2B5EF4-FFF2-40B4-BE49-F238E27FC236}">
                  <a16:creationId xmlns:a16="http://schemas.microsoft.com/office/drawing/2014/main" id="{DEF7023A-3621-DE45-CD72-B7A9893D2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8" y="1373"/>
              <a:ext cx="232" cy="216"/>
              <a:chOff x="2016" y="2334"/>
              <a:chExt cx="232" cy="240"/>
            </a:xfrm>
          </p:grpSpPr>
          <p:sp>
            <p:nvSpPr>
              <p:cNvPr id="130146" name="Text Box 90">
                <a:extLst>
                  <a:ext uri="{FF2B5EF4-FFF2-40B4-BE49-F238E27FC236}">
                    <a16:creationId xmlns:a16="http://schemas.microsoft.com/office/drawing/2014/main" id="{C05E7328-269C-71D0-35BB-3C77507051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130147" name="Oval 91">
                <a:extLst>
                  <a:ext uri="{FF2B5EF4-FFF2-40B4-BE49-F238E27FC236}">
                    <a16:creationId xmlns:a16="http://schemas.microsoft.com/office/drawing/2014/main" id="{00F8B565-C174-3E3C-43C3-23C82A9EA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0100" name="Group 92">
              <a:extLst>
                <a:ext uri="{FF2B5EF4-FFF2-40B4-BE49-F238E27FC236}">
                  <a16:creationId xmlns:a16="http://schemas.microsoft.com/office/drawing/2014/main" id="{E1883CA6-591F-23A6-411D-6E1F013573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4" y="1627"/>
              <a:ext cx="232" cy="216"/>
              <a:chOff x="2016" y="2334"/>
              <a:chExt cx="232" cy="240"/>
            </a:xfrm>
          </p:grpSpPr>
          <p:sp>
            <p:nvSpPr>
              <p:cNvPr id="130144" name="Text Box 93">
                <a:extLst>
                  <a:ext uri="{FF2B5EF4-FFF2-40B4-BE49-F238E27FC236}">
                    <a16:creationId xmlns:a16="http://schemas.microsoft.com/office/drawing/2014/main" id="{082D0926-94B7-829D-5909-63650CFD8A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,</a:t>
                </a:r>
              </a:p>
            </p:txBody>
          </p:sp>
          <p:sp>
            <p:nvSpPr>
              <p:cNvPr id="130145" name="Oval 94">
                <a:extLst>
                  <a:ext uri="{FF2B5EF4-FFF2-40B4-BE49-F238E27FC236}">
                    <a16:creationId xmlns:a16="http://schemas.microsoft.com/office/drawing/2014/main" id="{3B585A39-C268-D640-8CB0-94380E0DB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0101" name="Freeform 95">
              <a:extLst>
                <a:ext uri="{FF2B5EF4-FFF2-40B4-BE49-F238E27FC236}">
                  <a16:creationId xmlns:a16="http://schemas.microsoft.com/office/drawing/2014/main" id="{001EDB7F-FA85-F709-C385-13ED7E056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486"/>
              <a:ext cx="432" cy="260"/>
            </a:xfrm>
            <a:custGeom>
              <a:avLst/>
              <a:gdLst>
                <a:gd name="T0" fmla="*/ 69 w 624"/>
                <a:gd name="T1" fmla="*/ 0 h 288"/>
                <a:gd name="T2" fmla="*/ 69 w 624"/>
                <a:gd name="T3" fmla="*/ 155 h 288"/>
                <a:gd name="T4" fmla="*/ 0 w 624"/>
                <a:gd name="T5" fmla="*/ 155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4" h="288">
                  <a:moveTo>
                    <a:pt x="624" y="0"/>
                  </a:moveTo>
                  <a:lnTo>
                    <a:pt x="624" y="288"/>
                  </a:lnTo>
                  <a:lnTo>
                    <a:pt x="0" y="2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02" name="Freeform 96">
              <a:extLst>
                <a:ext uri="{FF2B5EF4-FFF2-40B4-BE49-F238E27FC236}">
                  <a16:creationId xmlns:a16="http://schemas.microsoft.com/office/drawing/2014/main" id="{C2B9C427-BBF8-D80C-2695-C20D57C2E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486"/>
              <a:ext cx="624" cy="260"/>
            </a:xfrm>
            <a:custGeom>
              <a:avLst/>
              <a:gdLst>
                <a:gd name="T0" fmla="*/ 221 w 768"/>
                <a:gd name="T1" fmla="*/ 155 h 288"/>
                <a:gd name="T2" fmla="*/ 0 w 768"/>
                <a:gd name="T3" fmla="*/ 155 h 288"/>
                <a:gd name="T4" fmla="*/ 0 w 768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288">
                  <a:moveTo>
                    <a:pt x="768" y="288"/>
                  </a:move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03" name="Line 97">
              <a:extLst>
                <a:ext uri="{FF2B5EF4-FFF2-40B4-BE49-F238E27FC236}">
                  <a16:creationId xmlns:a16="http://schemas.microsoft.com/office/drawing/2014/main" id="{9739FECD-ACA9-5C42-7084-2539D8902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4" y="149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04" name="Line 98">
              <a:extLst>
                <a:ext uri="{FF2B5EF4-FFF2-40B4-BE49-F238E27FC236}">
                  <a16:creationId xmlns:a16="http://schemas.microsoft.com/office/drawing/2014/main" id="{2B767FCF-A3FE-36B5-D604-7D1C9A477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9" y="148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05" name="Line 99">
              <a:extLst>
                <a:ext uri="{FF2B5EF4-FFF2-40B4-BE49-F238E27FC236}">
                  <a16:creationId xmlns:a16="http://schemas.microsoft.com/office/drawing/2014/main" id="{60A279B6-5721-6BE5-53A2-9AF349DEF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8" y="149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06" name="Freeform 100">
              <a:extLst>
                <a:ext uri="{FF2B5EF4-FFF2-40B4-BE49-F238E27FC236}">
                  <a16:creationId xmlns:a16="http://schemas.microsoft.com/office/drawing/2014/main" id="{0596B208-8B07-F2A8-2F91-018CAC294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278"/>
              <a:ext cx="2448" cy="216"/>
            </a:xfrm>
            <a:custGeom>
              <a:avLst/>
              <a:gdLst>
                <a:gd name="T0" fmla="*/ 0 w 2448"/>
                <a:gd name="T1" fmla="*/ 128 h 240"/>
                <a:gd name="T2" fmla="*/ 0 w 2448"/>
                <a:gd name="T3" fmla="*/ 0 h 240"/>
                <a:gd name="T4" fmla="*/ 2448 w 2448"/>
                <a:gd name="T5" fmla="*/ 0 h 240"/>
                <a:gd name="T6" fmla="*/ 2448 w 2448"/>
                <a:gd name="T7" fmla="*/ 128 h 2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48" h="240">
                  <a:moveTo>
                    <a:pt x="0" y="240"/>
                  </a:moveTo>
                  <a:lnTo>
                    <a:pt x="0" y="0"/>
                  </a:lnTo>
                  <a:lnTo>
                    <a:pt x="2448" y="0"/>
                  </a:lnTo>
                  <a:lnTo>
                    <a:pt x="2448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07" name="Line 101">
              <a:extLst>
                <a:ext uri="{FF2B5EF4-FFF2-40B4-BE49-F238E27FC236}">
                  <a16:creationId xmlns:a16="http://schemas.microsoft.com/office/drawing/2014/main" id="{8A172405-9DB5-7706-DC4D-0DCAB4656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1497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0108" name="Group 102">
              <a:extLst>
                <a:ext uri="{FF2B5EF4-FFF2-40B4-BE49-F238E27FC236}">
                  <a16:creationId xmlns:a16="http://schemas.microsoft.com/office/drawing/2014/main" id="{F5815E6F-FC0B-6EFC-D337-2E25E67593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0" y="715"/>
              <a:ext cx="296" cy="216"/>
              <a:chOff x="2248" y="1680"/>
              <a:chExt cx="296" cy="240"/>
            </a:xfrm>
          </p:grpSpPr>
          <p:sp>
            <p:nvSpPr>
              <p:cNvPr id="130142" name="Text Box 103">
                <a:extLst>
                  <a:ext uri="{FF2B5EF4-FFF2-40B4-BE49-F238E27FC236}">
                    <a16:creationId xmlns:a16="http://schemas.microsoft.com/office/drawing/2014/main" id="{47B335EB-7CCC-E5FB-D5DD-EEBEE7ADD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8" y="1680"/>
                <a:ext cx="2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:=</a:t>
                </a:r>
              </a:p>
            </p:txBody>
          </p:sp>
          <p:sp>
            <p:nvSpPr>
              <p:cNvPr id="130143" name="Oval 104">
                <a:extLst>
                  <a:ext uri="{FF2B5EF4-FFF2-40B4-BE49-F238E27FC236}">
                    <a16:creationId xmlns:a16="http://schemas.microsoft.com/office/drawing/2014/main" id="{BF3B0464-3E05-59A4-26DE-4994D598E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686"/>
                <a:ext cx="288" cy="234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0109" name="Group 105">
              <a:extLst>
                <a:ext uri="{FF2B5EF4-FFF2-40B4-BE49-F238E27FC236}">
                  <a16:creationId xmlns:a16="http://schemas.microsoft.com/office/drawing/2014/main" id="{20EF7C5D-E67A-C82E-44B1-A82DFAF1B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8" y="970"/>
              <a:ext cx="232" cy="216"/>
              <a:chOff x="2016" y="2334"/>
              <a:chExt cx="232" cy="240"/>
            </a:xfrm>
          </p:grpSpPr>
          <p:sp>
            <p:nvSpPr>
              <p:cNvPr id="130140" name="Text Box 106">
                <a:extLst>
                  <a:ext uri="{FF2B5EF4-FFF2-40B4-BE49-F238E27FC236}">
                    <a16:creationId xmlns:a16="http://schemas.microsoft.com/office/drawing/2014/main" id="{20FBA157-23D9-27D3-9478-9AD1C9A712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[</a:t>
                </a:r>
              </a:p>
            </p:txBody>
          </p:sp>
          <p:sp>
            <p:nvSpPr>
              <p:cNvPr id="130141" name="Oval 107">
                <a:extLst>
                  <a:ext uri="{FF2B5EF4-FFF2-40B4-BE49-F238E27FC236}">
                    <a16:creationId xmlns:a16="http://schemas.microsoft.com/office/drawing/2014/main" id="{BBB6B319-3C99-F10D-FDBB-CDDAA94139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0110" name="Group 108">
              <a:extLst>
                <a:ext uri="{FF2B5EF4-FFF2-40B4-BE49-F238E27FC236}">
                  <a16:creationId xmlns:a16="http://schemas.microsoft.com/office/drawing/2014/main" id="{605FF1C8-0BB5-C866-6B7D-A1DC010E1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4" y="975"/>
              <a:ext cx="232" cy="217"/>
              <a:chOff x="2016" y="2334"/>
              <a:chExt cx="232" cy="240"/>
            </a:xfrm>
          </p:grpSpPr>
          <p:sp>
            <p:nvSpPr>
              <p:cNvPr id="130138" name="Text Box 109">
                <a:extLst>
                  <a:ext uri="{FF2B5EF4-FFF2-40B4-BE49-F238E27FC236}">
                    <a16:creationId xmlns:a16="http://schemas.microsoft.com/office/drawing/2014/main" id="{5EF08C86-93B9-33CE-8728-EECF9E07F9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]</a:t>
                </a:r>
              </a:p>
            </p:txBody>
          </p:sp>
          <p:sp>
            <p:nvSpPr>
              <p:cNvPr id="130139" name="Oval 110">
                <a:extLst>
                  <a:ext uri="{FF2B5EF4-FFF2-40B4-BE49-F238E27FC236}">
                    <a16:creationId xmlns:a16="http://schemas.microsoft.com/office/drawing/2014/main" id="{538AA9FA-0217-324F-FBD5-8910E3A79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0111" name="Line 111">
              <a:extLst>
                <a:ext uri="{FF2B5EF4-FFF2-40B4-BE49-F238E27FC236}">
                  <a16:creationId xmlns:a16="http://schemas.microsoft.com/office/drawing/2014/main" id="{97E1F26A-E263-2B73-88DC-49E2479D9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2" y="1089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12" name="Line 112">
              <a:extLst>
                <a:ext uri="{FF2B5EF4-FFF2-40B4-BE49-F238E27FC236}">
                  <a16:creationId xmlns:a16="http://schemas.microsoft.com/office/drawing/2014/main" id="{03022169-8157-417F-FC97-463AC593E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6" y="1089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13" name="Text Box 113">
              <a:extLst>
                <a:ext uri="{FF2B5EF4-FFF2-40B4-BE49-F238E27FC236}">
                  <a16:creationId xmlns:a16="http://schemas.microsoft.com/office/drawing/2014/main" id="{70806876-0E97-6DC5-15D0-0EBF017D7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5" y="700"/>
              <a:ext cx="1008" cy="2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114" name="Freeform 114">
              <a:extLst>
                <a:ext uri="{FF2B5EF4-FFF2-40B4-BE49-F238E27FC236}">
                  <a16:creationId xmlns:a16="http://schemas.microsoft.com/office/drawing/2014/main" id="{754FFE8F-F8CB-8C4D-75E5-45B148600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826"/>
              <a:ext cx="144" cy="259"/>
            </a:xfrm>
            <a:custGeom>
              <a:avLst/>
              <a:gdLst>
                <a:gd name="T0" fmla="*/ 0 w 144"/>
                <a:gd name="T1" fmla="*/ 0 h 288"/>
                <a:gd name="T2" fmla="*/ 0 w 144"/>
                <a:gd name="T3" fmla="*/ 153 h 288"/>
                <a:gd name="T4" fmla="*/ 144 w 144"/>
                <a:gd name="T5" fmla="*/ 153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88">
                  <a:moveTo>
                    <a:pt x="0" y="0"/>
                  </a:move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15" name="Freeform 115">
              <a:extLst>
                <a:ext uri="{FF2B5EF4-FFF2-40B4-BE49-F238E27FC236}">
                  <a16:creationId xmlns:a16="http://schemas.microsoft.com/office/drawing/2014/main" id="{499404E8-F0A6-F3E9-2F4F-BE70A6C7F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834"/>
              <a:ext cx="144" cy="259"/>
            </a:xfrm>
            <a:custGeom>
              <a:avLst/>
              <a:gdLst>
                <a:gd name="T0" fmla="*/ 0 w 144"/>
                <a:gd name="T1" fmla="*/ 153 h 288"/>
                <a:gd name="T2" fmla="*/ 144 w 144"/>
                <a:gd name="T3" fmla="*/ 153 h 288"/>
                <a:gd name="T4" fmla="*/ 144 w 144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88">
                  <a:moveTo>
                    <a:pt x="0" y="288"/>
                  </a:moveTo>
                  <a:lnTo>
                    <a:pt x="144" y="288"/>
                  </a:lnTo>
                  <a:lnTo>
                    <a:pt x="14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16" name="Line 116">
              <a:extLst>
                <a:ext uri="{FF2B5EF4-FFF2-40B4-BE49-F238E27FC236}">
                  <a16:creationId xmlns:a16="http://schemas.microsoft.com/office/drawing/2014/main" id="{BD2E810C-0BF6-AC11-D37D-5F6E77097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4" y="826"/>
              <a:ext cx="25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17" name="Line 117">
              <a:extLst>
                <a:ext uri="{FF2B5EF4-FFF2-40B4-BE49-F238E27FC236}">
                  <a16:creationId xmlns:a16="http://schemas.microsoft.com/office/drawing/2014/main" id="{B3F4DDD5-AB5B-A097-1D10-ECC0BEBE9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82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18" name="Freeform 118">
              <a:extLst>
                <a:ext uri="{FF2B5EF4-FFF2-40B4-BE49-F238E27FC236}">
                  <a16:creationId xmlns:a16="http://schemas.microsoft.com/office/drawing/2014/main" id="{8796BBF6-9919-A473-6B70-115D0D41D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" y="629"/>
              <a:ext cx="5136" cy="3547"/>
            </a:xfrm>
            <a:custGeom>
              <a:avLst/>
              <a:gdLst>
                <a:gd name="T0" fmla="*/ 0 w 5136"/>
                <a:gd name="T1" fmla="*/ 0 h 3936"/>
                <a:gd name="T2" fmla="*/ 0 w 5136"/>
                <a:gd name="T3" fmla="*/ 2108 h 3936"/>
                <a:gd name="T4" fmla="*/ 5136 w 5136"/>
                <a:gd name="T5" fmla="*/ 2108 h 3936"/>
                <a:gd name="T6" fmla="*/ 5136 w 5136"/>
                <a:gd name="T7" fmla="*/ 103 h 39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36" h="3936">
                  <a:moveTo>
                    <a:pt x="0" y="0"/>
                  </a:moveTo>
                  <a:lnTo>
                    <a:pt x="0" y="3936"/>
                  </a:lnTo>
                  <a:lnTo>
                    <a:pt x="5136" y="3936"/>
                  </a:lnTo>
                  <a:lnTo>
                    <a:pt x="513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19" name="Line 119">
              <a:extLst>
                <a:ext uri="{FF2B5EF4-FFF2-40B4-BE49-F238E27FC236}">
                  <a16:creationId xmlns:a16="http://schemas.microsoft.com/office/drawing/2014/main" id="{52A818C3-4CEA-8B95-9744-B55CF02D5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4" y="80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0" name="Line 120">
              <a:extLst>
                <a:ext uri="{FF2B5EF4-FFF2-40B4-BE49-F238E27FC236}">
                  <a16:creationId xmlns:a16="http://schemas.microsoft.com/office/drawing/2014/main" id="{AAA500F9-39E8-1857-4B4D-4555230B5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" y="80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1" name="Line 121">
              <a:extLst>
                <a:ext uri="{FF2B5EF4-FFF2-40B4-BE49-F238E27FC236}">
                  <a16:creationId xmlns:a16="http://schemas.microsoft.com/office/drawing/2014/main" id="{01506AF6-8CD7-7CC3-E8D5-BBC37FD9F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0" y="1497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2" name="Line 122">
              <a:extLst>
                <a:ext uri="{FF2B5EF4-FFF2-40B4-BE49-F238E27FC236}">
                  <a16:creationId xmlns:a16="http://schemas.microsoft.com/office/drawing/2014/main" id="{D4A7C886-EEF6-D391-2B6D-E0ABA9A3D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" y="149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3" name="Line 123">
              <a:extLst>
                <a:ext uri="{FF2B5EF4-FFF2-40B4-BE49-F238E27FC236}">
                  <a16:creationId xmlns:a16="http://schemas.microsoft.com/office/drawing/2014/main" id="{722F56AD-B5D8-15E1-2DC3-4B360013D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" y="1927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4" name="Line 124">
              <a:extLst>
                <a:ext uri="{FF2B5EF4-FFF2-40B4-BE49-F238E27FC236}">
                  <a16:creationId xmlns:a16="http://schemas.microsoft.com/office/drawing/2014/main" id="{F39CCEC2-275A-3EF4-32BE-AA839C679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5" y="1951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5" name="Line 125">
              <a:extLst>
                <a:ext uri="{FF2B5EF4-FFF2-40B4-BE49-F238E27FC236}">
                  <a16:creationId xmlns:a16="http://schemas.microsoft.com/office/drawing/2014/main" id="{5353BC0D-32D1-9BD9-A8B0-67508704F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" y="279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6" name="Line 126">
              <a:extLst>
                <a:ext uri="{FF2B5EF4-FFF2-40B4-BE49-F238E27FC236}">
                  <a16:creationId xmlns:a16="http://schemas.microsoft.com/office/drawing/2014/main" id="{25C5ED80-4DA0-7550-035C-FB939ACFE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" y="313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7" name="Line 127">
              <a:extLst>
                <a:ext uri="{FF2B5EF4-FFF2-40B4-BE49-F238E27FC236}">
                  <a16:creationId xmlns:a16="http://schemas.microsoft.com/office/drawing/2014/main" id="{D533F776-DC26-8AF3-2100-F38E8ACBE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" y="357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8" name="Line 128">
              <a:extLst>
                <a:ext uri="{FF2B5EF4-FFF2-40B4-BE49-F238E27FC236}">
                  <a16:creationId xmlns:a16="http://schemas.microsoft.com/office/drawing/2014/main" id="{1D665693-A92D-F8A6-F25A-8B4835DD3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3957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29" name="Line 129">
              <a:extLst>
                <a:ext uri="{FF2B5EF4-FFF2-40B4-BE49-F238E27FC236}">
                  <a16:creationId xmlns:a16="http://schemas.microsoft.com/office/drawing/2014/main" id="{361AE69A-C3B3-23CE-8133-D1ADCD1B0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2" y="309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30" name="Line 130">
              <a:extLst>
                <a:ext uri="{FF2B5EF4-FFF2-40B4-BE49-F238E27FC236}">
                  <a16:creationId xmlns:a16="http://schemas.microsoft.com/office/drawing/2014/main" id="{64168882-D46C-AF43-131D-43C423EB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2" y="2800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31" name="Text Box 131">
              <a:extLst>
                <a:ext uri="{FF2B5EF4-FFF2-40B4-BE49-F238E27FC236}">
                  <a16:creationId xmlns:a16="http://schemas.microsoft.com/office/drawing/2014/main" id="{8F0546B9-221D-274E-0552-1C79784B8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2" y="2359"/>
              <a:ext cx="1008" cy="2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30132" name="Line 132">
              <a:extLst>
                <a:ext uri="{FF2B5EF4-FFF2-40B4-BE49-F238E27FC236}">
                  <a16:creationId xmlns:a16="http://schemas.microsoft.com/office/drawing/2014/main" id="{0D583788-7B33-435F-4567-BB18D66A1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2470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133" name="Line 133">
              <a:extLst>
                <a:ext uri="{FF2B5EF4-FFF2-40B4-BE49-F238E27FC236}">
                  <a16:creationId xmlns:a16="http://schemas.microsoft.com/office/drawing/2014/main" id="{553C0FE8-0D49-4C83-1604-47F690BC4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470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0134" name="Group 134">
              <a:extLst>
                <a:ext uri="{FF2B5EF4-FFF2-40B4-BE49-F238E27FC236}">
                  <a16:creationId xmlns:a16="http://schemas.microsoft.com/office/drawing/2014/main" id="{4AB731F2-3517-9824-9A6E-50AB7CF25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8" y="2376"/>
              <a:ext cx="587" cy="216"/>
              <a:chOff x="5967" y="3883"/>
              <a:chExt cx="954" cy="525"/>
            </a:xfrm>
          </p:grpSpPr>
          <p:sp>
            <p:nvSpPr>
              <p:cNvPr id="130136" name="AutoShape 135">
                <a:extLst>
                  <a:ext uri="{FF2B5EF4-FFF2-40B4-BE49-F238E27FC236}">
                    <a16:creationId xmlns:a16="http://schemas.microsoft.com/office/drawing/2014/main" id="{F9F46525-787E-8A8F-F6BE-92D733A2A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67" y="38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137" name="Text Box 136">
                <a:extLst>
                  <a:ext uri="{FF2B5EF4-FFF2-40B4-BE49-F238E27FC236}">
                    <a16:creationId xmlns:a16="http://schemas.microsoft.com/office/drawing/2014/main" id="{A6E202F5-0E00-B054-2B52-8A5851E46C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21" y="39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ELSE</a:t>
                </a:r>
              </a:p>
            </p:txBody>
          </p:sp>
        </p:grpSp>
        <p:sp>
          <p:nvSpPr>
            <p:cNvPr id="130135" name="Freeform 137">
              <a:extLst>
                <a:ext uri="{FF2B5EF4-FFF2-40B4-BE49-F238E27FC236}">
                  <a16:creationId xmlns:a16="http://schemas.microsoft.com/office/drawing/2014/main" id="{BC74110D-5C28-66C1-4EAD-2F3049A6B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2446"/>
              <a:ext cx="2544" cy="346"/>
            </a:xfrm>
            <a:custGeom>
              <a:avLst/>
              <a:gdLst>
                <a:gd name="T0" fmla="*/ 2544 w 2544"/>
                <a:gd name="T1" fmla="*/ 401 h 336"/>
                <a:gd name="T2" fmla="*/ 2544 w 2544"/>
                <a:gd name="T3" fmla="*/ 229 h 336"/>
                <a:gd name="T4" fmla="*/ 0 w 2544"/>
                <a:gd name="T5" fmla="*/ 229 h 336"/>
                <a:gd name="T6" fmla="*/ 0 w 2544"/>
                <a:gd name="T7" fmla="*/ 0 h 336"/>
                <a:gd name="T8" fmla="*/ 528 w 2544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44" h="336">
                  <a:moveTo>
                    <a:pt x="2544" y="336"/>
                  </a:moveTo>
                  <a:lnTo>
                    <a:pt x="2544" y="192"/>
                  </a:lnTo>
                  <a:lnTo>
                    <a:pt x="0" y="192"/>
                  </a:lnTo>
                  <a:lnTo>
                    <a:pt x="0" y="0"/>
                  </a:lnTo>
                  <a:lnTo>
                    <a:pt x="52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Number Placeholder 4">
            <a:extLst>
              <a:ext uri="{FF2B5EF4-FFF2-40B4-BE49-F238E27FC236}">
                <a16:creationId xmlns:a16="http://schemas.microsoft.com/office/drawing/2014/main" id="{949C0151-0CA0-93B4-6172-7FE0471A00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0A73BB-F89B-41B0-BFC4-9EC91F94FFE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7A5C691B-9EEA-23BE-CC88-98049C189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Statement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984884A4-776D-6350-0FFF-AC5FDBB3C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5334000"/>
          </a:xfrm>
        </p:spPr>
        <p:txBody>
          <a:bodyPr/>
          <a:lstStyle/>
          <a:p>
            <a:pPr marL="406400" indent="-406400" eaLnBrk="1" hangingPunct="1">
              <a:buFontTx/>
              <a:buNone/>
            </a:pPr>
            <a:r>
              <a:rPr lang="en-US" altLang="en-US" sz="2800"/>
              <a:t>void statement() 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if(Token==Ident){	//</a:t>
            </a:r>
            <a:r>
              <a:rPr lang="en-US" altLang="en-US" sz="2800">
                <a:solidFill>
                  <a:schemeClr val="bg2"/>
                </a:solidFill>
              </a:rPr>
              <a:t>variable := &lt;expression&gt;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Token =getToken();	//</a:t>
            </a:r>
            <a:r>
              <a:rPr lang="en-US" altLang="en-US" sz="2800">
                <a:solidFill>
                  <a:schemeClr val="bg2"/>
                </a:solidFill>
              </a:rPr>
              <a:t>array variable ?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if(Token==assign){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	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	Expresion();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}else Error(“Thieu toan tu gan”)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} 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else…..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>
                <a:solidFill>
                  <a:schemeClr val="bg2"/>
                </a:solidFill>
              </a:rPr>
              <a:t>}</a:t>
            </a:r>
          </a:p>
        </p:txBody>
      </p:sp>
      <p:sp>
        <p:nvSpPr>
          <p:cNvPr id="131077" name="Text Box 4">
            <a:extLst>
              <a:ext uri="{FF2B5EF4-FFF2-40B4-BE49-F238E27FC236}">
                <a16:creationId xmlns:a16="http://schemas.microsoft.com/office/drawing/2014/main" id="{F142D491-53B0-31B9-3FF9-EF12655C1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Number Placeholder 4">
            <a:extLst>
              <a:ext uri="{FF2B5EF4-FFF2-40B4-BE49-F238E27FC236}">
                <a16:creationId xmlns:a16="http://schemas.microsoft.com/office/drawing/2014/main" id="{7727C997-1B0B-06B8-E7DA-4DDF95AED4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7BAA23-EE3E-4D58-8146-2A5687F9AED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4316F447-D2E5-010E-FAD2-A54C45CAC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Statement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8E79C555-8BC1-C299-1B73-8B45C5F6B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382000" cy="5715000"/>
          </a:xfrm>
        </p:spPr>
        <p:txBody>
          <a:bodyPr/>
          <a:lstStyle/>
          <a:p>
            <a:pPr marL="406400" indent="-406400" eaLnBrk="1" hangingPunct="1">
              <a:buFontTx/>
              <a:buNone/>
            </a:pPr>
            <a:r>
              <a:rPr lang="en-US" altLang="en-US" sz="2000"/>
              <a:t>if (Token == CALL){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Token=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if(Token == IDENT){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if(Token == LPAREN){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Token 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Expression();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while(Token==COMMA){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	Token 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	Expression();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}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if(Token = RPAREN) getToken()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	else Error(“Thiếu dấu đóng ngoặc);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	}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	}else Error(“Thiếu tên thủ tục/hàm”);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000"/>
              <a:t>}else…</a:t>
            </a:r>
          </a:p>
        </p:txBody>
      </p:sp>
      <p:sp>
        <p:nvSpPr>
          <p:cNvPr id="132101" name="Text Box 4">
            <a:extLst>
              <a:ext uri="{FF2B5EF4-FFF2-40B4-BE49-F238E27FC236}">
                <a16:creationId xmlns:a16="http://schemas.microsoft.com/office/drawing/2014/main" id="{D5DDA684-C5FE-33A5-9F5E-7FCDA82CA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Number Placeholder 4">
            <a:extLst>
              <a:ext uri="{FF2B5EF4-FFF2-40B4-BE49-F238E27FC236}">
                <a16:creationId xmlns:a16="http://schemas.microsoft.com/office/drawing/2014/main" id="{2926B24F-EFED-69FC-36DE-BD0F050F9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F30B57-9AF0-4E40-A66B-0F029C3ADCE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C3EBFAF0-F209-3D48-A817-1DB76AC16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Statement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205CB160-B9FA-A5D0-5ACA-1E0B718F7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382000" cy="5715000"/>
          </a:xfrm>
        </p:spPr>
        <p:txBody>
          <a:bodyPr/>
          <a:lstStyle/>
          <a:p>
            <a:pPr marL="406400" indent="-406400" eaLnBrk="1" hangingPunct="1">
              <a:buFontTx/>
              <a:buNone/>
            </a:pPr>
            <a:r>
              <a:rPr lang="en-US" altLang="en-US" sz="2800"/>
              <a:t>if (Token == BEGIN){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Token = getToken()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Statement();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while (Token == SEMICOLON) {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Token = getToken();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	Statement();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}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if(Token==END) Token = getToken()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	else Error(“Thiếu từ khóa End”);</a:t>
            </a:r>
          </a:p>
          <a:p>
            <a:pPr marL="406400" indent="-406400" eaLnBrk="1" hangingPunct="1">
              <a:buFontTx/>
              <a:buNone/>
            </a:pPr>
            <a:r>
              <a:rPr lang="en-US" altLang="en-US" sz="2800"/>
              <a:t>}else…</a:t>
            </a:r>
          </a:p>
        </p:txBody>
      </p:sp>
      <p:sp>
        <p:nvSpPr>
          <p:cNvPr id="133125" name="Text Box 4">
            <a:extLst>
              <a:ext uri="{FF2B5EF4-FFF2-40B4-BE49-F238E27FC236}">
                <a16:creationId xmlns:a16="http://schemas.microsoft.com/office/drawing/2014/main" id="{23691534-9918-1A83-EB4C-128A82389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Number Placeholder 4">
            <a:extLst>
              <a:ext uri="{FF2B5EF4-FFF2-40B4-BE49-F238E27FC236}">
                <a16:creationId xmlns:a16="http://schemas.microsoft.com/office/drawing/2014/main" id="{B4579132-EBE0-A8F4-7CA1-2F3EA21AE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B26441-E596-4566-BAA4-1A282949AB7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EAB50B35-1DBE-22D0-1599-16D273437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Program</a:t>
            </a:r>
            <a:endParaRPr lang="el-GR" altLang="en-US" sz="2800">
              <a:cs typeface="Arial" panose="020B0604020202020204" pitchFamily="34" charset="0"/>
            </a:endParaRPr>
          </a:p>
        </p:txBody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18F1D7CE-6021-2317-84D0-276E1421B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762000"/>
            <a:ext cx="8153400" cy="5943600"/>
          </a:xfrm>
        </p:spPr>
        <p:txBody>
          <a:bodyPr/>
          <a:lstStyle/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void Program(){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if(Token=PROGRAM){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Token = getToken();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if (Token==IDENT){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getToken();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if(Token==SEMICOLON){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	getToken();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	Block();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	if(Token==PERIOD)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		printf(“Thành công”);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	else Error(“Thiếu dấu .”);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	}else Error(“Thiếu dấu chấm phẩy”);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	}else Error(“Thiếu tên chương trình”);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	}else Error(Thiếu từ khóa Program)</a:t>
            </a:r>
          </a:p>
          <a:p>
            <a:pPr marL="406400" indent="-406400" eaLnBrk="1" hangingPunct="1">
              <a:spcBef>
                <a:spcPct val="10000"/>
              </a:spcBef>
              <a:buFontTx/>
              <a:buNone/>
            </a:pPr>
            <a:r>
              <a:rPr lang="en-US" altLang="en-US" sz="2400"/>
              <a:t>}</a:t>
            </a:r>
          </a:p>
        </p:txBody>
      </p:sp>
      <p:sp>
        <p:nvSpPr>
          <p:cNvPr id="134149" name="Text Box 4">
            <a:extLst>
              <a:ext uri="{FF2B5EF4-FFF2-40B4-BE49-F238E27FC236}">
                <a16:creationId xmlns:a16="http://schemas.microsoft.com/office/drawing/2014/main" id="{4536E056-67EF-55E7-6572-13B61AA1B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Phương pháp phân tích tất định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0FFAE7D4D9384F863C0EA8EC5E66A5" ma:contentTypeVersion="3" ma:contentTypeDescription="Create a new document." ma:contentTypeScope="" ma:versionID="2e0647a6082c202b25e2cd11cc8c0fc7">
  <xsd:schema xmlns:xsd="http://www.w3.org/2001/XMLSchema" xmlns:xs="http://www.w3.org/2001/XMLSchema" xmlns:p="http://schemas.microsoft.com/office/2006/metadata/properties" xmlns:ns2="f7664130-3e34-4c09-8170-b6a4a2db0e32" targetNamespace="http://schemas.microsoft.com/office/2006/metadata/properties" ma:root="true" ma:fieldsID="9e7f8bfd8c845b8e363ded0c76629374" ns2:_="">
    <xsd:import namespace="f7664130-3e34-4c09-8170-b6a4a2db0e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664130-3e34-4c09-8170-b6a4a2db0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25F364-9ED0-4B3A-AE7E-12A857CF9A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B47C87-5F7C-4E02-B79C-C9768AF2D119}"/>
</file>

<file path=customXml/itemProps3.xml><?xml version="1.0" encoding="utf-8"?>
<ds:datastoreItem xmlns:ds="http://schemas.openxmlformats.org/officeDocument/2006/customXml" ds:itemID="{ED470484-9047-48BB-BCB4-A5F4C17DE27E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6D091F6E-E836-4DBD-B3A5-DF688B28388F}"/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26827</TotalTime>
  <Words>12654</Words>
  <Application>Microsoft Office PowerPoint</Application>
  <PresentationFormat>On-screen Show (4:3)</PresentationFormat>
  <Paragraphs>1874</Paragraphs>
  <Slides>126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27" baseType="lpstr">
      <vt:lpstr>Default Design</vt:lpstr>
      <vt:lpstr>IT4079:NGÔN NGỮ và  PHƯƠNG PHÁP DỊCH</vt:lpstr>
      <vt:lpstr>Chương 3: Phân tích cú pháp</vt:lpstr>
      <vt:lpstr>Bài toán đặt ra</vt:lpstr>
      <vt:lpstr>Phương pháp phân tích</vt:lpstr>
      <vt:lpstr>Phân tích trái</vt:lpstr>
      <vt:lpstr>Phân tích phải</vt:lpstr>
      <vt:lpstr>Chương 3: Phân tích cú pháp</vt:lpstr>
      <vt:lpstr>Giới thiệu</vt:lpstr>
      <vt:lpstr>Phân tích Top-down</vt:lpstr>
      <vt:lpstr>Phân tích Top-down</vt:lpstr>
      <vt:lpstr>Phân tích Top-down</vt:lpstr>
      <vt:lpstr>Phân tích Top-down</vt:lpstr>
      <vt:lpstr>Phân tích Top-down</vt:lpstr>
      <vt:lpstr>Phân tích Top-down  Ví dụ</vt:lpstr>
      <vt:lpstr>Phân tích Top-down  Ví dụ</vt:lpstr>
      <vt:lpstr>Phân tích Top-down  Bài tập</vt:lpstr>
      <vt:lpstr>Giải thuật phân tích Top-down quay lui (1/8)</vt:lpstr>
      <vt:lpstr>Giải thuật phân tích Top-down quay lui (2/8)</vt:lpstr>
      <vt:lpstr>Giải thuật phân tích Top-down quay lui (3/8)</vt:lpstr>
      <vt:lpstr>Giải thuật phân tích Top-down quay lui (4/8)</vt:lpstr>
      <vt:lpstr>Giải thuật phân tích Top-down quay lui (5/8)</vt:lpstr>
      <vt:lpstr>Giải thuật phân tích Top-down quay lui (6/8)</vt:lpstr>
      <vt:lpstr>Giải thuật phân tích Top-down quay lui (7/8)</vt:lpstr>
      <vt:lpstr>Giải thuật phân tích Top-down quay lui (8/8)</vt:lpstr>
      <vt:lpstr>Phân tích Bottom-up</vt:lpstr>
      <vt:lpstr>Phân tích Bottom-up</vt:lpstr>
      <vt:lpstr>Phân tích Bottom-up  Ví dụ</vt:lpstr>
      <vt:lpstr>Phân tích Bottom-up</vt:lpstr>
      <vt:lpstr>Phân tích Bottom-up  Ví dụ</vt:lpstr>
      <vt:lpstr>Giải thuật phân tích Bottom-Up quay lui</vt:lpstr>
      <vt:lpstr>Giải thuật phân tích Bottom-Up quay lui</vt:lpstr>
      <vt:lpstr>Giải thuật phân tích Bottom-Up quay lui</vt:lpstr>
      <vt:lpstr>Giải thuật phân tích Bottom-Up quay lui</vt:lpstr>
      <vt:lpstr>Giải thuật phân tích Bottom-Up quay lui</vt:lpstr>
      <vt:lpstr>Phân tích Bottom-Up quay lui Ví dụ</vt:lpstr>
      <vt:lpstr>Phân tích quay lui với PL/0</vt:lpstr>
      <vt:lpstr>Chương 3: Phân tích cú pháp</vt:lpstr>
      <vt:lpstr>Giới thiệu</vt:lpstr>
      <vt:lpstr>Giải thuật CYK</vt:lpstr>
      <vt:lpstr>Dạng chuẩn Chomsky</vt:lpstr>
      <vt:lpstr>Chuyển VPPNC sang dạng chuẩn Chomsky</vt:lpstr>
      <vt:lpstr>Dạng chuẩn ChomskyVí dụ</vt:lpstr>
      <vt:lpstr>Giải thuật CYKMô tả bảng</vt:lpstr>
      <vt:lpstr>Giải thuật CYKXây dựng bảng</vt:lpstr>
      <vt:lpstr>Giải thuật CYKXây dựng bảngVí dụ</vt:lpstr>
      <vt:lpstr>Giải thuật CYKTìm cây phân tích</vt:lpstr>
      <vt:lpstr>Giải thuật CYKTìm cây phân tíchVí dụ</vt:lpstr>
      <vt:lpstr>Giải thuật CYKTìm cây phân tích</vt:lpstr>
      <vt:lpstr>Giải thuật CYKBài tập</vt:lpstr>
      <vt:lpstr>Giải thuật CYKBài tập</vt:lpstr>
      <vt:lpstr>Chương 3: Phân tích cú pháp</vt:lpstr>
      <vt:lpstr>Nội dung</vt:lpstr>
      <vt:lpstr>Giới thiệu</vt:lpstr>
      <vt:lpstr>Ví dụ 1</vt:lpstr>
      <vt:lpstr>Ví dụ 2</vt:lpstr>
      <vt:lpstr>Phân cấp các ngôn ngữ phi ngữ cảnh</vt:lpstr>
      <vt:lpstr>Phân tích Top-Down</vt:lpstr>
      <vt:lpstr>Ngôn ngữ LL(k)</vt:lpstr>
      <vt:lpstr>FIRSTk(α)</vt:lpstr>
      <vt:lpstr>FOLLOWk(α)</vt:lpstr>
      <vt:lpstr>Ví dụ</vt:lpstr>
      <vt:lpstr>Sản xuất LL(k)</vt:lpstr>
      <vt:lpstr>Văn phạm LL(k)</vt:lpstr>
      <vt:lpstr>Ví dụ</vt:lpstr>
      <vt:lpstr>Ví dụ</vt:lpstr>
      <vt:lpstr>Điều kiện để văn phạm là LL(k)</vt:lpstr>
      <vt:lpstr>Văn phạm LL(1)</vt:lpstr>
      <vt:lpstr>FIRST(α)</vt:lpstr>
      <vt:lpstr>FIRST(α) Tính chất</vt:lpstr>
      <vt:lpstr>FOLLOW(A)</vt:lpstr>
      <vt:lpstr>FOLLOW(A) Tính chất</vt:lpstr>
      <vt:lpstr>Ví dụ</vt:lpstr>
      <vt:lpstr>Toán tử </vt:lpstr>
      <vt:lpstr>Bổ đề</vt:lpstr>
      <vt:lpstr>Tính toán FIRST(α)</vt:lpstr>
      <vt:lpstr>Thuật toán tính FIRST(A), A VN</vt:lpstr>
      <vt:lpstr>Ví dụ tính FIRST</vt:lpstr>
      <vt:lpstr>Thuật toán tính FOLLOW(A)</vt:lpstr>
      <vt:lpstr>Ví dụ tính FOLLOW</vt:lpstr>
      <vt:lpstr>Ví dụ</vt:lpstr>
      <vt:lpstr>Ví dụ tính FIRST</vt:lpstr>
      <vt:lpstr>Ví dụ tính FOLLOW</vt:lpstr>
      <vt:lpstr>Điều kiện để văn phạm là LL(1)</vt:lpstr>
      <vt:lpstr>Văn phạm là LL(1) đơn giản</vt:lpstr>
      <vt:lpstr>Ví dụ về văn phạm  LL(1)</vt:lpstr>
      <vt:lpstr>Ví dụ về văn phạm  LL(1)</vt:lpstr>
      <vt:lpstr>Khử đệ quy trái</vt:lpstr>
      <vt:lpstr>Khử đệ quy trái</vt:lpstr>
      <vt:lpstr>Khử đệ quy tráiVí dụ</vt:lpstr>
      <vt:lpstr>Văn phạm là LL(1) trên sơ đồ cú pháp</vt:lpstr>
      <vt:lpstr>Văn phạm PL/0 là LL(1) ?</vt:lpstr>
      <vt:lpstr>Văn phạm PL/0 là LL(1) ?</vt:lpstr>
      <vt:lpstr>Văn phạm PL/0 là LL(1) ?</vt:lpstr>
      <vt:lpstr>Thuật toán phân tích xem trước</vt:lpstr>
      <vt:lpstr>Xây dựng ma trận phân tích</vt:lpstr>
      <vt:lpstr>Xây dựng ma trận phân tích Ví dụ</vt:lpstr>
      <vt:lpstr>Phân tích xem trước  Mô tả</vt:lpstr>
      <vt:lpstr>Phân tích xem trước  Hoạt động</vt:lpstr>
      <vt:lpstr>Phân tích xem trước Ví dụ</vt:lpstr>
      <vt:lpstr>Phân tích xem trước Hình trạng thuật toán</vt:lpstr>
      <vt:lpstr>Phân tích xem trước  Ví dụ</vt:lpstr>
      <vt:lpstr>Phân tích xem trước  Ví dụ 2</vt:lpstr>
      <vt:lpstr>Ví dụ 2Ma trân phân tích</vt:lpstr>
      <vt:lpstr>Ví dụ 2Phân tích xâu (a*a)</vt:lpstr>
      <vt:lpstr>Phương pháp đệ quy trên xuống</vt:lpstr>
      <vt:lpstr>Phương pháp đệ quy trên xuống</vt:lpstr>
      <vt:lpstr>Xây dựng sơ đồ cú pháp cho các sản xuất EBNF</vt:lpstr>
      <vt:lpstr>Xây dựng sơ đồ cú pháp Ví dụ</vt:lpstr>
      <vt:lpstr>Xây dựng chương trình</vt:lpstr>
      <vt:lpstr>Xây dựng chương trìnhVí dụ</vt:lpstr>
      <vt:lpstr>Xây dựng chương trìnhVí dụ</vt:lpstr>
      <vt:lpstr>Xây dựng chương trìnhVí dụ</vt:lpstr>
      <vt:lpstr>Xây dựng chương trìnhVí dụ</vt:lpstr>
      <vt:lpstr>Tìm danh sách sản xuất sử dụng</vt:lpstr>
      <vt:lpstr>Tìm danh sách sản xuất sử dụng Ví dụ</vt:lpstr>
      <vt:lpstr>Chương 3: Phân tích cú pháp</vt:lpstr>
      <vt:lpstr>Nguyên tắc</vt:lpstr>
      <vt:lpstr>Các thủ tục</vt:lpstr>
      <vt:lpstr>Term</vt:lpstr>
      <vt:lpstr>Expression</vt:lpstr>
      <vt:lpstr>Condition</vt:lpstr>
      <vt:lpstr>Statement</vt:lpstr>
      <vt:lpstr>Statement</vt:lpstr>
      <vt:lpstr>Statement</vt:lpstr>
      <vt:lpstr>Statement</vt:lpstr>
      <vt:lpstr>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Pham Dang Hai</cp:lastModifiedBy>
  <cp:revision>295</cp:revision>
  <dcterms:created xsi:type="dcterms:W3CDTF">2011-09-29T02:04:50Z</dcterms:created>
  <dcterms:modified xsi:type="dcterms:W3CDTF">2026-04-21T02:19:39Z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Phạm Đăng Hải</vt:lpwstr>
  </property>
  <property fmtid="{D5CDD505-2E9C-101B-9397-08002B2CF9AE}" pid="4" name="Order">
    <vt:lpwstr>700.000000000000</vt:lpwstr>
  </property>
  <property fmtid="{D5CDD505-2E9C-101B-9397-08002B2CF9AE}" pid="5" name="display_urn:schemas-microsoft-com:office:office#Author">
    <vt:lpwstr>Phạm Đăng Hải</vt:lpwstr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ContentTypeId">
    <vt:lpwstr>0x010100130FFAE7D4D9384F863C0EA8EC5E66A5</vt:lpwstr>
  </property>
  <property fmtid="{D5CDD505-2E9C-101B-9397-08002B2CF9AE}" pid="11" name="TriggerFlowInfo">
    <vt:lpwstr/>
  </property>
  <property fmtid="{D5CDD505-2E9C-101B-9397-08002B2CF9AE}" pid="12" name="_SourceUrl">
    <vt:lpwstr/>
  </property>
  <property fmtid="{D5CDD505-2E9C-101B-9397-08002B2CF9AE}" pid="13" name="_SharedFileIndex">
    <vt:lpwstr/>
  </property>
</Properties>
</file>