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79"/>
  </p:notesMasterIdLst>
  <p:handoutMasterIdLst>
    <p:handoutMasterId r:id="rId80"/>
  </p:handoutMasterIdLst>
  <p:sldIdLst>
    <p:sldId id="256" r:id="rId5"/>
    <p:sldId id="257" r:id="rId6"/>
    <p:sldId id="284" r:id="rId7"/>
    <p:sldId id="278" r:id="rId8"/>
    <p:sldId id="279" r:id="rId9"/>
    <p:sldId id="280" r:id="rId10"/>
    <p:sldId id="281" r:id="rId11"/>
    <p:sldId id="282" r:id="rId12"/>
    <p:sldId id="283" r:id="rId13"/>
    <p:sldId id="272" r:id="rId14"/>
    <p:sldId id="287" r:id="rId15"/>
    <p:sldId id="288" r:id="rId16"/>
    <p:sldId id="285" r:id="rId17"/>
    <p:sldId id="286" r:id="rId18"/>
    <p:sldId id="290" r:id="rId19"/>
    <p:sldId id="292" r:id="rId20"/>
    <p:sldId id="291" r:id="rId21"/>
    <p:sldId id="295" r:id="rId22"/>
    <p:sldId id="289" r:id="rId23"/>
    <p:sldId id="294" r:id="rId24"/>
    <p:sldId id="343" r:id="rId25"/>
    <p:sldId id="296" r:id="rId26"/>
    <p:sldId id="293" r:id="rId27"/>
    <p:sldId id="297" r:id="rId28"/>
    <p:sldId id="298" r:id="rId29"/>
    <p:sldId id="299" r:id="rId30"/>
    <p:sldId id="333" r:id="rId31"/>
    <p:sldId id="301" r:id="rId32"/>
    <p:sldId id="300" r:id="rId33"/>
    <p:sldId id="310" r:id="rId34"/>
    <p:sldId id="313" r:id="rId35"/>
    <p:sldId id="312" r:id="rId36"/>
    <p:sldId id="314" r:id="rId37"/>
    <p:sldId id="315" r:id="rId38"/>
    <p:sldId id="316" r:id="rId39"/>
    <p:sldId id="317" r:id="rId40"/>
    <p:sldId id="335" r:id="rId41"/>
    <p:sldId id="342" r:id="rId42"/>
    <p:sldId id="336" r:id="rId43"/>
    <p:sldId id="337" r:id="rId44"/>
    <p:sldId id="338" r:id="rId45"/>
    <p:sldId id="339" r:id="rId46"/>
    <p:sldId id="340" r:id="rId47"/>
    <p:sldId id="350" r:id="rId48"/>
    <p:sldId id="341" r:id="rId49"/>
    <p:sldId id="334" r:id="rId50"/>
    <p:sldId id="328" r:id="rId51"/>
    <p:sldId id="311" r:id="rId52"/>
    <p:sldId id="325" r:id="rId53"/>
    <p:sldId id="327" r:id="rId54"/>
    <p:sldId id="326" r:id="rId55"/>
    <p:sldId id="329" r:id="rId56"/>
    <p:sldId id="330" r:id="rId57"/>
    <p:sldId id="344" r:id="rId58"/>
    <p:sldId id="318" r:id="rId59"/>
    <p:sldId id="345" r:id="rId60"/>
    <p:sldId id="319" r:id="rId61"/>
    <p:sldId id="346" r:id="rId62"/>
    <p:sldId id="347" r:id="rId63"/>
    <p:sldId id="349" r:id="rId64"/>
    <p:sldId id="320" r:id="rId65"/>
    <p:sldId id="348" r:id="rId66"/>
    <p:sldId id="321" r:id="rId67"/>
    <p:sldId id="351" r:id="rId68"/>
    <p:sldId id="323" r:id="rId69"/>
    <p:sldId id="324" r:id="rId70"/>
    <p:sldId id="302" r:id="rId71"/>
    <p:sldId id="303" r:id="rId72"/>
    <p:sldId id="304" r:id="rId73"/>
    <p:sldId id="307" r:id="rId74"/>
    <p:sldId id="308" r:id="rId75"/>
    <p:sldId id="309" r:id="rId76"/>
    <p:sldId id="305" r:id="rId77"/>
    <p:sldId id="306" r:id="rId78"/>
  </p:sldIdLst>
  <p:sldSz cx="9144000" cy="6858000" type="screen4x3"/>
  <p:notesSz cx="7315200" cy="9601200"/>
  <p:defaultTextStyle>
    <a:defPPr>
      <a:defRPr lang="en-US"/>
    </a:defPPr>
    <a:lvl1pPr algn="l" rtl="0" eaLnBrk="0" fontAlgn="base" hangingPunct="0">
      <a:spcBef>
        <a:spcPct val="0"/>
      </a:spcBef>
      <a:spcAft>
        <a:spcPct val="0"/>
      </a:spcAft>
      <a:defRPr sz="10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000" b="1" kern="1200">
        <a:solidFill>
          <a:schemeClr val="tx1"/>
        </a:solidFill>
        <a:latin typeface="Arial" panose="020B0604020202020204" pitchFamily="34" charset="0"/>
        <a:ea typeface="+mn-ea"/>
        <a:cs typeface="+mn-cs"/>
      </a:defRPr>
    </a:lvl5pPr>
    <a:lvl6pPr marL="2286000" algn="l" defTabSz="914400" rtl="0" eaLnBrk="1" latinLnBrk="0" hangingPunct="1">
      <a:defRPr sz="1000" b="1" kern="1200">
        <a:solidFill>
          <a:schemeClr val="tx1"/>
        </a:solidFill>
        <a:latin typeface="Arial" panose="020B0604020202020204" pitchFamily="34" charset="0"/>
        <a:ea typeface="+mn-ea"/>
        <a:cs typeface="+mn-cs"/>
      </a:defRPr>
    </a:lvl6pPr>
    <a:lvl7pPr marL="2743200" algn="l" defTabSz="914400" rtl="0" eaLnBrk="1" latinLnBrk="0" hangingPunct="1">
      <a:defRPr sz="1000" b="1" kern="1200">
        <a:solidFill>
          <a:schemeClr val="tx1"/>
        </a:solidFill>
        <a:latin typeface="Arial" panose="020B0604020202020204" pitchFamily="34" charset="0"/>
        <a:ea typeface="+mn-ea"/>
        <a:cs typeface="+mn-cs"/>
      </a:defRPr>
    </a:lvl7pPr>
    <a:lvl8pPr marL="3200400" algn="l" defTabSz="914400" rtl="0" eaLnBrk="1" latinLnBrk="0" hangingPunct="1">
      <a:defRPr sz="1000" b="1" kern="1200">
        <a:solidFill>
          <a:schemeClr val="tx1"/>
        </a:solidFill>
        <a:latin typeface="Arial" panose="020B0604020202020204" pitchFamily="34" charset="0"/>
        <a:ea typeface="+mn-ea"/>
        <a:cs typeface="+mn-cs"/>
      </a:defRPr>
    </a:lvl8pPr>
    <a:lvl9pPr marL="3657600" algn="l" defTabSz="914400" rtl="0" eaLnBrk="1" latinLnBrk="0" hangingPunct="1">
      <a:defRPr sz="10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05FF"/>
    <a:srgbClr val="3539EB"/>
    <a:srgbClr val="270076"/>
    <a:srgbClr val="FFFC5A"/>
    <a:srgbClr val="D0ACEE"/>
    <a:srgbClr val="6B7AEB"/>
    <a:srgbClr val="A2B8FE"/>
    <a:srgbClr val="FA06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95" autoAdjust="0"/>
    <p:restoredTop sz="84188" autoAdjust="0"/>
  </p:normalViewPr>
  <p:slideViewPr>
    <p:cSldViewPr>
      <p:cViewPr varScale="1">
        <p:scale>
          <a:sx n="53" d="100"/>
          <a:sy n="53" d="100"/>
        </p:scale>
        <p:origin x="1852" y="36"/>
      </p:cViewPr>
      <p:guideLst>
        <p:guide orient="horz" pos="2160"/>
        <p:guide pos="2880"/>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56" d="100"/>
          <a:sy n="56" d="100"/>
        </p:scale>
        <p:origin x="-1236"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handoutMaster" Target="handoutMasters/handoutMaster1.xml"/><Relationship Id="rId85"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am Dang Hai" userId="a8d09f39-d0e0-4499-83a6-2a14839d98ac" providerId="ADAL" clId="{B8DB6BAA-4F84-4C3B-AD8B-E76CC42D01E4}"/>
    <pc:docChg chg="modSld">
      <pc:chgData name="Pham Dang Hai" userId="a8d09f39-d0e0-4499-83a6-2a14839d98ac" providerId="ADAL" clId="{B8DB6BAA-4F84-4C3B-AD8B-E76CC42D01E4}" dt="2024-02-19T13:12:55.572" v="0" actId="6549"/>
      <pc:docMkLst>
        <pc:docMk/>
      </pc:docMkLst>
      <pc:sldChg chg="modNotesTx">
        <pc:chgData name="Pham Dang Hai" userId="a8d09f39-d0e0-4499-83a6-2a14839d98ac" providerId="ADAL" clId="{B8DB6BAA-4F84-4C3B-AD8B-E76CC42D01E4}" dt="2024-02-19T13:12:55.572" v="0" actId="6549"/>
        <pc:sldMkLst>
          <pc:docMk/>
          <pc:sldMk cId="0" sldId="31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defTabSz="966788" eaLnBrk="1" hangingPunct="1">
              <a:defRPr sz="1300" b="0" smtClean="0"/>
            </a:lvl1pPr>
          </a:lstStyle>
          <a:p>
            <a:pPr>
              <a:defRPr/>
            </a:pPr>
            <a:endParaRPr lang="en-US" altLang="en-US"/>
          </a:p>
        </p:txBody>
      </p:sp>
      <p:sp>
        <p:nvSpPr>
          <p:cNvPr id="25603" name="Rectangle 3"/>
          <p:cNvSpPr>
            <a:spLocks noGrp="1" noChangeArrowheads="1"/>
          </p:cNvSpPr>
          <p:nvPr>
            <p:ph type="dt" sz="quarter"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eaLnBrk="1" hangingPunct="1">
              <a:defRPr sz="1300" b="0" smtClean="0"/>
            </a:lvl1pPr>
          </a:lstStyle>
          <a:p>
            <a:pPr>
              <a:defRPr/>
            </a:pPr>
            <a:endParaRPr lang="en-US" altLang="en-US"/>
          </a:p>
        </p:txBody>
      </p:sp>
      <p:sp>
        <p:nvSpPr>
          <p:cNvPr id="25604" name="Rectangle 4"/>
          <p:cNvSpPr>
            <a:spLocks noGrp="1" noChangeArrowheads="1"/>
          </p:cNvSpPr>
          <p:nvPr>
            <p:ph type="ftr" sz="quarter" idx="2"/>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eaLnBrk="1" hangingPunct="1">
              <a:defRPr sz="1300" b="0" smtClean="0"/>
            </a:lvl1pPr>
          </a:lstStyle>
          <a:p>
            <a:pPr>
              <a:defRPr/>
            </a:pPr>
            <a:endParaRPr lang="en-US" altLang="en-US"/>
          </a:p>
        </p:txBody>
      </p:sp>
      <p:sp>
        <p:nvSpPr>
          <p:cNvPr id="25605" name="Rectangle 5"/>
          <p:cNvSpPr>
            <a:spLocks noGrp="1" noChangeArrowheads="1"/>
          </p:cNvSpPr>
          <p:nvPr>
            <p:ph type="sldNum" sz="quarter" idx="3"/>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eaLnBrk="1" hangingPunct="1">
              <a:defRPr sz="1300" b="0" smtClean="0"/>
            </a:lvl1pPr>
          </a:lstStyle>
          <a:p>
            <a:pPr>
              <a:defRPr/>
            </a:pPr>
            <a:fld id="{CD1710C0-13A2-4B4E-856E-9F62E6F81010}" type="slidenum">
              <a:rPr lang="en-US" altLang="en-US"/>
              <a:pPr>
                <a:defRPr/>
              </a:pPr>
              <a:t>‹#›</a:t>
            </a:fld>
            <a:endParaRPr lang="en-US" altLang="en-US"/>
          </a:p>
        </p:txBody>
      </p:sp>
    </p:spTree>
    <p:extLst>
      <p:ext uri="{BB962C8B-B14F-4D97-AF65-F5344CB8AC3E}">
        <p14:creationId xmlns:p14="http://schemas.microsoft.com/office/powerpoint/2010/main" val="38914743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5458"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defTabSz="966788" eaLnBrk="1" hangingPunct="1">
              <a:defRPr sz="1300" b="0" smtClean="0"/>
            </a:lvl1pPr>
          </a:lstStyle>
          <a:p>
            <a:pPr>
              <a:defRPr/>
            </a:pPr>
            <a:endParaRPr lang="en-US" altLang="en-US"/>
          </a:p>
        </p:txBody>
      </p:sp>
      <p:sp>
        <p:nvSpPr>
          <p:cNvPr id="275459" name="Rectangle 3"/>
          <p:cNvSpPr>
            <a:spLocks noGrp="1" noChangeArrowheads="1"/>
          </p:cNvSpPr>
          <p:nvPr>
            <p:ph type="dt"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eaLnBrk="1" hangingPunct="1">
              <a:defRPr sz="1300" b="0" smtClean="0"/>
            </a:lvl1pPr>
          </a:lstStyle>
          <a:p>
            <a:pPr>
              <a:defRPr/>
            </a:pPr>
            <a:endParaRPr lang="en-US" altLang="en-US"/>
          </a:p>
        </p:txBody>
      </p:sp>
      <p:sp>
        <p:nvSpPr>
          <p:cNvPr id="307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75461" name="Rectangle 5"/>
          <p:cNvSpPr>
            <a:spLocks noGrp="1" noChangeArrowheads="1"/>
          </p:cNvSpPr>
          <p:nvPr>
            <p:ph type="body" sz="quarter" idx="3"/>
          </p:nvPr>
        </p:nvSpPr>
        <p:spPr bwMode="auto">
          <a:xfrm>
            <a:off x="731838" y="4560888"/>
            <a:ext cx="5851525"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75462" name="Rectangle 6"/>
          <p:cNvSpPr>
            <a:spLocks noGrp="1" noChangeArrowheads="1"/>
          </p:cNvSpPr>
          <p:nvPr>
            <p:ph type="ftr" sz="quarter" idx="4"/>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eaLnBrk="1" hangingPunct="1">
              <a:defRPr sz="1300" b="0" smtClean="0"/>
            </a:lvl1pPr>
          </a:lstStyle>
          <a:p>
            <a:pPr>
              <a:defRPr/>
            </a:pPr>
            <a:endParaRPr lang="en-US" altLang="en-US"/>
          </a:p>
        </p:txBody>
      </p:sp>
      <p:sp>
        <p:nvSpPr>
          <p:cNvPr id="275463" name="Rectangle 7"/>
          <p:cNvSpPr>
            <a:spLocks noGrp="1" noChangeArrowheads="1"/>
          </p:cNvSpPr>
          <p:nvPr>
            <p:ph type="sldNum" sz="quarter" idx="5"/>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eaLnBrk="1" hangingPunct="1">
              <a:defRPr sz="1300" b="0" smtClean="0"/>
            </a:lvl1pPr>
          </a:lstStyle>
          <a:p>
            <a:pPr>
              <a:defRPr/>
            </a:pPr>
            <a:fld id="{79D601E4-9BB9-4C4C-9EE8-8CB7563C0CFB}" type="slidenum">
              <a:rPr lang="en-US" altLang="en-US"/>
              <a:pPr>
                <a:defRPr/>
              </a:pPr>
              <a:t>‹#›</a:t>
            </a:fld>
            <a:endParaRPr lang="en-US" altLang="en-US"/>
          </a:p>
        </p:txBody>
      </p:sp>
    </p:spTree>
    <p:extLst>
      <p:ext uri="{BB962C8B-B14F-4D97-AF65-F5344CB8AC3E}">
        <p14:creationId xmlns:p14="http://schemas.microsoft.com/office/powerpoint/2010/main" val="1864402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66788">
              <a:defRPr sz="1000" b="1">
                <a:solidFill>
                  <a:schemeClr val="tx1"/>
                </a:solidFill>
                <a:latin typeface="Arial" panose="020B0604020202020204" pitchFamily="34" charset="0"/>
              </a:defRPr>
            </a:lvl1pPr>
            <a:lvl2pPr marL="742950" indent="-285750" defTabSz="966788">
              <a:defRPr sz="1000" b="1">
                <a:solidFill>
                  <a:schemeClr val="tx1"/>
                </a:solidFill>
                <a:latin typeface="Arial" panose="020B0604020202020204" pitchFamily="34" charset="0"/>
              </a:defRPr>
            </a:lvl2pPr>
            <a:lvl3pPr marL="1143000" indent="-228600" defTabSz="966788">
              <a:defRPr sz="1000" b="1">
                <a:solidFill>
                  <a:schemeClr val="tx1"/>
                </a:solidFill>
                <a:latin typeface="Arial" panose="020B0604020202020204" pitchFamily="34" charset="0"/>
              </a:defRPr>
            </a:lvl3pPr>
            <a:lvl4pPr marL="1600200" indent="-228600" defTabSz="966788">
              <a:defRPr sz="1000" b="1">
                <a:solidFill>
                  <a:schemeClr val="tx1"/>
                </a:solidFill>
                <a:latin typeface="Arial" panose="020B0604020202020204" pitchFamily="34" charset="0"/>
              </a:defRPr>
            </a:lvl4pPr>
            <a:lvl5pPr marL="2057400" indent="-228600" defTabSz="966788">
              <a:defRPr sz="1000" b="1">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sz="1000" b="1">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sz="1000" b="1">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sz="1000" b="1">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sz="1000" b="1">
                <a:solidFill>
                  <a:schemeClr val="tx1"/>
                </a:solidFill>
                <a:latin typeface="Arial" panose="020B0604020202020204" pitchFamily="34" charset="0"/>
              </a:defRPr>
            </a:lvl9pPr>
          </a:lstStyle>
          <a:p>
            <a:fld id="{DB5B8667-4277-4854-B321-15F9B4B581A1}" type="slidenum">
              <a:rPr lang="en-US" altLang="en-US" sz="1300" b="0"/>
              <a:pPr/>
              <a:t>1</a:t>
            </a:fld>
            <a:endParaRPr lang="en-US" altLang="en-US" sz="1300" b="0"/>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pPr eaLnBrk="1" hangingPunct="1"/>
            <a:endParaRPr lang="fr-FR" altLang="en-US" dirty="0"/>
          </a:p>
        </p:txBody>
      </p:sp>
    </p:spTree>
    <p:extLst>
      <p:ext uri="{BB962C8B-B14F-4D97-AF65-F5344CB8AC3E}">
        <p14:creationId xmlns:p14="http://schemas.microsoft.com/office/powerpoint/2010/main" val="2197769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9D601E4-9BB9-4C4C-9EE8-8CB7563C0CFB}" type="slidenum">
              <a:rPr lang="en-US" altLang="en-US" smtClean="0"/>
              <a:pPr>
                <a:defRPr/>
              </a:pPr>
              <a:t>34</a:t>
            </a:fld>
            <a:endParaRPr lang="en-US" altLang="en-US"/>
          </a:p>
        </p:txBody>
      </p:sp>
    </p:spTree>
    <p:extLst>
      <p:ext uri="{BB962C8B-B14F-4D97-AF65-F5344CB8AC3E}">
        <p14:creationId xmlns:p14="http://schemas.microsoft.com/office/powerpoint/2010/main" val="1957785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9D601E4-9BB9-4C4C-9EE8-8CB7563C0CFB}" type="slidenum">
              <a:rPr lang="en-US" altLang="en-US" smtClean="0"/>
              <a:pPr>
                <a:defRPr/>
              </a:pPr>
              <a:t>36</a:t>
            </a:fld>
            <a:endParaRPr lang="en-US" altLang="en-US"/>
          </a:p>
        </p:txBody>
      </p:sp>
    </p:spTree>
    <p:extLst>
      <p:ext uri="{BB962C8B-B14F-4D97-AF65-F5344CB8AC3E}">
        <p14:creationId xmlns:p14="http://schemas.microsoft.com/office/powerpoint/2010/main" val="3599302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9D601E4-9BB9-4C4C-9EE8-8CB7563C0CFB}" type="slidenum">
              <a:rPr lang="en-US" altLang="en-US" smtClean="0"/>
              <a:pPr>
                <a:defRPr/>
              </a:pPr>
              <a:t>41</a:t>
            </a:fld>
            <a:endParaRPr lang="en-US" altLang="en-US"/>
          </a:p>
        </p:txBody>
      </p:sp>
    </p:spTree>
    <p:extLst>
      <p:ext uri="{BB962C8B-B14F-4D97-AF65-F5344CB8AC3E}">
        <p14:creationId xmlns:p14="http://schemas.microsoft.com/office/powerpoint/2010/main" val="1313827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defTabSz="966788">
              <a:defRPr sz="1000" b="1">
                <a:solidFill>
                  <a:schemeClr val="tx1"/>
                </a:solidFill>
                <a:latin typeface="Arial" panose="020B0604020202020204" pitchFamily="34" charset="0"/>
              </a:defRPr>
            </a:lvl1pPr>
            <a:lvl2pPr marL="742950" indent="-285750" defTabSz="966788">
              <a:defRPr sz="1000" b="1">
                <a:solidFill>
                  <a:schemeClr val="tx1"/>
                </a:solidFill>
                <a:latin typeface="Arial" panose="020B0604020202020204" pitchFamily="34" charset="0"/>
              </a:defRPr>
            </a:lvl2pPr>
            <a:lvl3pPr marL="1143000" indent="-228600" defTabSz="966788">
              <a:defRPr sz="1000" b="1">
                <a:solidFill>
                  <a:schemeClr val="tx1"/>
                </a:solidFill>
                <a:latin typeface="Arial" panose="020B0604020202020204" pitchFamily="34" charset="0"/>
              </a:defRPr>
            </a:lvl3pPr>
            <a:lvl4pPr marL="1600200" indent="-228600" defTabSz="966788">
              <a:defRPr sz="1000" b="1">
                <a:solidFill>
                  <a:schemeClr val="tx1"/>
                </a:solidFill>
                <a:latin typeface="Arial" panose="020B0604020202020204" pitchFamily="34" charset="0"/>
              </a:defRPr>
            </a:lvl4pPr>
            <a:lvl5pPr marL="2057400" indent="-228600" defTabSz="966788">
              <a:defRPr sz="1000" b="1">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sz="1000" b="1">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sz="1000" b="1">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sz="1000" b="1">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sz="1000" b="1">
                <a:solidFill>
                  <a:schemeClr val="tx1"/>
                </a:solidFill>
                <a:latin typeface="Arial" panose="020B0604020202020204" pitchFamily="34" charset="0"/>
              </a:defRPr>
            </a:lvl9pPr>
          </a:lstStyle>
          <a:p>
            <a:fld id="{A4777CAD-3FE3-472A-A555-E97AC8E21513}" type="slidenum">
              <a:rPr lang="en-US" altLang="en-US" sz="1300" b="0"/>
              <a:pPr/>
              <a:t>42</a:t>
            </a:fld>
            <a:endParaRPr lang="en-US" altLang="en-US" sz="1300" b="0"/>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p:spPr>
        <p:txBody>
          <a:bodyPr/>
          <a:lstStyle/>
          <a:p>
            <a:pPr eaLnBrk="1" hangingPunct="1"/>
            <a:endParaRPr lang="fr-FR" altLang="en-US" dirty="0"/>
          </a:p>
        </p:txBody>
      </p:sp>
    </p:spTree>
    <p:extLst>
      <p:ext uri="{BB962C8B-B14F-4D97-AF65-F5344CB8AC3E}">
        <p14:creationId xmlns:p14="http://schemas.microsoft.com/office/powerpoint/2010/main" val="413130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9D601E4-9BB9-4C4C-9EE8-8CB7563C0CFB}" type="slidenum">
              <a:rPr lang="en-US" altLang="en-US" smtClean="0"/>
              <a:pPr>
                <a:defRPr/>
              </a:pPr>
              <a:t>45</a:t>
            </a:fld>
            <a:endParaRPr lang="en-US" altLang="en-US"/>
          </a:p>
        </p:txBody>
      </p:sp>
    </p:spTree>
    <p:extLst>
      <p:ext uri="{BB962C8B-B14F-4D97-AF65-F5344CB8AC3E}">
        <p14:creationId xmlns:p14="http://schemas.microsoft.com/office/powerpoint/2010/main" val="1433102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9D601E4-9BB9-4C4C-9EE8-8CB7563C0CFB}" type="slidenum">
              <a:rPr lang="en-US" altLang="en-US" smtClean="0"/>
              <a:pPr>
                <a:defRPr/>
              </a:pPr>
              <a:t>57</a:t>
            </a:fld>
            <a:endParaRPr lang="en-US" altLang="en-US"/>
          </a:p>
        </p:txBody>
      </p:sp>
    </p:spTree>
    <p:extLst>
      <p:ext uri="{BB962C8B-B14F-4D97-AF65-F5344CB8AC3E}">
        <p14:creationId xmlns:p14="http://schemas.microsoft.com/office/powerpoint/2010/main" val="2425301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a:xfrm>
            <a:off x="685800" y="2130425"/>
            <a:ext cx="7772400" cy="1470025"/>
          </a:xfrm>
          <a:noFill/>
          <a:extLst>
            <a:ext uri="{909E8E84-426E-40DD-AFC4-6F175D3DCCD1}">
              <a14:hiddenFill xmlns:a14="http://schemas.microsoft.com/office/drawing/2010/main">
                <a:solidFill>
                  <a:schemeClr val="accent1"/>
                </a:solidFill>
              </a14:hiddenFill>
            </a:ext>
          </a:extLst>
        </p:spPr>
        <p:txBody>
          <a:bodyPr lIns="91440" tIns="45720" bIns="45720"/>
          <a:lstStyle>
            <a:lvl1pPr>
              <a:defRPr sz="5400"/>
            </a:lvl1pPr>
          </a:lstStyle>
          <a:p>
            <a:pPr lvl="0"/>
            <a:r>
              <a:rPr lang="en-US" altLang="en-US" noProof="0"/>
              <a:t>Click to edit Master title style</a:t>
            </a:r>
          </a:p>
        </p:txBody>
      </p:sp>
      <p:sp>
        <p:nvSpPr>
          <p:cNvPr id="17411"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endParaRPr lang="fr-FR" altLang="en-US" noProof="0"/>
          </a:p>
        </p:txBody>
      </p:sp>
      <p:sp>
        <p:nvSpPr>
          <p:cNvPr id="4" name="Rectangle 4"/>
          <p:cNvSpPr>
            <a:spLocks noGrp="1" noChangeArrowheads="1"/>
          </p:cNvSpPr>
          <p:nvPr>
            <p:ph type="dt" sz="half" idx="10"/>
          </p:nvPr>
        </p:nvSpPr>
        <p:spPr bwMode="auto">
          <a:xfrm>
            <a:off x="304800" y="6248400"/>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b="0" smtClean="0"/>
            </a:lvl1pPr>
          </a:lstStyle>
          <a:p>
            <a:pPr>
              <a:defRPr/>
            </a:pPr>
            <a:fld id="{37F8FE71-F369-415E-9894-A14D5BC4FE85}" type="datetime1">
              <a:rPr lang="en-US" altLang="en-US"/>
              <a:pPr>
                <a:defRPr/>
              </a:pPr>
              <a:t>2/19/2024</a:t>
            </a:fld>
            <a:endParaRPr lang="en-US" altLang="en-US"/>
          </a:p>
        </p:txBody>
      </p:sp>
      <p:sp>
        <p:nvSpPr>
          <p:cNvPr id="5" name="Rectangle 5"/>
          <p:cNvSpPr>
            <a:spLocks noGrp="1" noChangeArrowheads="1"/>
          </p:cNvSpPr>
          <p:nvPr>
            <p:ph type="ftr" sz="quarter" idx="11"/>
          </p:nvPr>
        </p:nvSpPr>
        <p:spPr>
          <a:xfrm>
            <a:off x="3124200" y="6245225"/>
            <a:ext cx="2895600" cy="476250"/>
          </a:xfrm>
        </p:spPr>
        <p:txBody>
          <a:bodyPr/>
          <a:lstStyle>
            <a:lvl1pPr>
              <a:defRPr smtClean="0"/>
            </a:lvl1pPr>
          </a:lstStyle>
          <a:p>
            <a:pPr>
              <a:defRPr/>
            </a:pPr>
            <a:endParaRPr lang="en-US" altLang="en-US"/>
          </a:p>
        </p:txBody>
      </p:sp>
      <p:sp>
        <p:nvSpPr>
          <p:cNvPr id="6" name="Rectangle 6"/>
          <p:cNvSpPr>
            <a:spLocks noGrp="1" noChangeArrowheads="1"/>
          </p:cNvSpPr>
          <p:nvPr>
            <p:ph type="sldNum" sz="quarter" idx="12"/>
          </p:nvPr>
        </p:nvSpPr>
        <p:spPr>
          <a:xfrm>
            <a:off x="6553200" y="6245225"/>
            <a:ext cx="2133600" cy="476250"/>
          </a:xfrm>
        </p:spPr>
        <p:txBody>
          <a:bodyPr/>
          <a:lstStyle>
            <a:lvl1pPr>
              <a:defRPr smtClean="0"/>
            </a:lvl1pPr>
          </a:lstStyle>
          <a:p>
            <a:pPr>
              <a:defRPr/>
            </a:pPr>
            <a:fld id="{2CD6EC89-7651-4C81-826D-F0A8D481874D}" type="slidenum">
              <a:rPr lang="en-US" altLang="en-US"/>
              <a:pPr>
                <a:defRPr/>
              </a:pPr>
              <a:t>‹#›</a:t>
            </a:fld>
            <a:endParaRPr lang="en-US" altLang="en-US"/>
          </a:p>
        </p:txBody>
      </p:sp>
    </p:spTree>
    <p:extLst>
      <p:ext uri="{BB962C8B-B14F-4D97-AF65-F5344CB8AC3E}">
        <p14:creationId xmlns:p14="http://schemas.microsoft.com/office/powerpoint/2010/main" val="1235409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5C669D06-B365-4207-961A-C82B1C909A22}" type="slidenum">
              <a:rPr lang="en-US" altLang="en-US"/>
              <a:pPr>
                <a:defRPr/>
              </a:pPr>
              <a:t>‹#›</a:t>
            </a:fld>
            <a:endParaRPr lang="en-US" altLang="en-US"/>
          </a:p>
        </p:txBody>
      </p:sp>
    </p:spTree>
    <p:extLst>
      <p:ext uri="{BB962C8B-B14F-4D97-AF65-F5344CB8AC3E}">
        <p14:creationId xmlns:p14="http://schemas.microsoft.com/office/powerpoint/2010/main" val="3537142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CB61E554-289D-4337-A501-4DA5ECF0D4A9}" type="slidenum">
              <a:rPr lang="en-US" altLang="en-US"/>
              <a:pPr>
                <a:defRPr/>
              </a:pPr>
              <a:t>‹#›</a:t>
            </a:fld>
            <a:endParaRPr lang="en-US" altLang="en-US"/>
          </a:p>
        </p:txBody>
      </p:sp>
    </p:spTree>
    <p:extLst>
      <p:ext uri="{BB962C8B-B14F-4D97-AF65-F5344CB8AC3E}">
        <p14:creationId xmlns:p14="http://schemas.microsoft.com/office/powerpoint/2010/main" val="4036672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66700" y="1066800"/>
            <a:ext cx="4286250" cy="533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5350" y="1066800"/>
            <a:ext cx="4286250" cy="533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9A4FE04A-54B7-4560-9287-86B063DDF3B5}" type="slidenum">
              <a:rPr lang="en-US" altLang="en-US"/>
              <a:pPr>
                <a:defRPr/>
              </a:pPr>
              <a:t>‹#›</a:t>
            </a:fld>
            <a:endParaRPr lang="en-US" altLang="en-US"/>
          </a:p>
        </p:txBody>
      </p:sp>
    </p:spTree>
    <p:extLst>
      <p:ext uri="{BB962C8B-B14F-4D97-AF65-F5344CB8AC3E}">
        <p14:creationId xmlns:p14="http://schemas.microsoft.com/office/powerpoint/2010/main" val="1847018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6"/>
          <p:cNvSpPr>
            <a:spLocks noGrp="1" noChangeArrowheads="1"/>
          </p:cNvSpPr>
          <p:nvPr>
            <p:ph type="sldNum" sz="quarter" idx="11"/>
          </p:nvPr>
        </p:nvSpPr>
        <p:spPr>
          <a:ln/>
        </p:spPr>
        <p:txBody>
          <a:bodyPr/>
          <a:lstStyle>
            <a:lvl1pPr>
              <a:defRPr/>
            </a:lvl1pPr>
          </a:lstStyle>
          <a:p>
            <a:pPr>
              <a:defRPr/>
            </a:pPr>
            <a:fld id="{408D29C6-761B-4D4F-BA1C-6B06F7D87B4E}" type="slidenum">
              <a:rPr lang="en-US" altLang="en-US"/>
              <a:pPr>
                <a:defRPr/>
              </a:pPr>
              <a:t>‹#›</a:t>
            </a:fld>
            <a:endParaRPr lang="en-US" altLang="en-US"/>
          </a:p>
        </p:txBody>
      </p:sp>
    </p:spTree>
    <p:extLst>
      <p:ext uri="{BB962C8B-B14F-4D97-AF65-F5344CB8AC3E}">
        <p14:creationId xmlns:p14="http://schemas.microsoft.com/office/powerpoint/2010/main" val="1165078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1"/>
          </p:nvPr>
        </p:nvSpPr>
        <p:spPr>
          <a:ln/>
        </p:spPr>
        <p:txBody>
          <a:bodyPr/>
          <a:lstStyle>
            <a:lvl1pPr>
              <a:defRPr/>
            </a:lvl1pPr>
          </a:lstStyle>
          <a:p>
            <a:pPr>
              <a:defRPr/>
            </a:pPr>
            <a:fld id="{5AB9ABCD-32C4-49FF-8384-EBD5DB0D9042}" type="slidenum">
              <a:rPr lang="en-US" altLang="en-US"/>
              <a:pPr>
                <a:defRPr/>
              </a:pPr>
              <a:t>‹#›</a:t>
            </a:fld>
            <a:endParaRPr lang="en-US" altLang="en-US"/>
          </a:p>
        </p:txBody>
      </p:sp>
    </p:spTree>
    <p:extLst>
      <p:ext uri="{BB962C8B-B14F-4D97-AF65-F5344CB8AC3E}">
        <p14:creationId xmlns:p14="http://schemas.microsoft.com/office/powerpoint/2010/main" val="1511853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6"/>
          <p:cNvSpPr>
            <a:spLocks noGrp="1" noChangeArrowheads="1"/>
          </p:cNvSpPr>
          <p:nvPr>
            <p:ph type="sldNum" sz="quarter" idx="11"/>
          </p:nvPr>
        </p:nvSpPr>
        <p:spPr>
          <a:ln/>
        </p:spPr>
        <p:txBody>
          <a:bodyPr/>
          <a:lstStyle>
            <a:lvl1pPr>
              <a:defRPr/>
            </a:lvl1pPr>
          </a:lstStyle>
          <a:p>
            <a:pPr>
              <a:defRPr/>
            </a:pPr>
            <a:fld id="{6F550521-099F-4298-AC98-24318F2E41A8}" type="slidenum">
              <a:rPr lang="en-US" altLang="en-US"/>
              <a:pPr>
                <a:defRPr/>
              </a:pPr>
              <a:t>‹#›</a:t>
            </a:fld>
            <a:endParaRPr lang="en-US" altLang="en-US"/>
          </a:p>
        </p:txBody>
      </p:sp>
    </p:spTree>
    <p:extLst>
      <p:ext uri="{BB962C8B-B14F-4D97-AF65-F5344CB8AC3E}">
        <p14:creationId xmlns:p14="http://schemas.microsoft.com/office/powerpoint/2010/main" val="3358193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D32BA490-051F-496E-9ABA-002CBEDA4DDC}" type="slidenum">
              <a:rPr lang="en-US" altLang="en-US"/>
              <a:pPr>
                <a:defRPr/>
              </a:pPr>
              <a:t>‹#›</a:t>
            </a:fld>
            <a:endParaRPr lang="en-US" altLang="en-US"/>
          </a:p>
        </p:txBody>
      </p:sp>
    </p:spTree>
    <p:extLst>
      <p:ext uri="{BB962C8B-B14F-4D97-AF65-F5344CB8AC3E}">
        <p14:creationId xmlns:p14="http://schemas.microsoft.com/office/powerpoint/2010/main" val="2526550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2E31A469-8B8A-455C-AAC1-3FE6F0BE278E}" type="slidenum">
              <a:rPr lang="en-US" altLang="en-US"/>
              <a:pPr>
                <a:defRPr/>
              </a:pPr>
              <a:t>‹#›</a:t>
            </a:fld>
            <a:endParaRPr lang="en-US" altLang="en-US"/>
          </a:p>
        </p:txBody>
      </p:sp>
    </p:spTree>
    <p:extLst>
      <p:ext uri="{BB962C8B-B14F-4D97-AF65-F5344CB8AC3E}">
        <p14:creationId xmlns:p14="http://schemas.microsoft.com/office/powerpoint/2010/main" val="2622772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A3F2C218-A1AF-4DD1-A444-66211612CA71}" type="slidenum">
              <a:rPr lang="en-US" altLang="en-US"/>
              <a:pPr>
                <a:defRPr/>
              </a:pPr>
              <a:t>‹#›</a:t>
            </a:fld>
            <a:endParaRPr lang="en-US" altLang="en-US"/>
          </a:p>
        </p:txBody>
      </p:sp>
    </p:spTree>
    <p:extLst>
      <p:ext uri="{BB962C8B-B14F-4D97-AF65-F5344CB8AC3E}">
        <p14:creationId xmlns:p14="http://schemas.microsoft.com/office/powerpoint/2010/main" val="1880087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90513"/>
            <a:ext cx="2286000" cy="61102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290513"/>
            <a:ext cx="6705600" cy="61102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DE5D23BD-80E1-4BF0-9F08-4AC4F66892AC}" type="slidenum">
              <a:rPr lang="en-US" altLang="en-US"/>
              <a:pPr>
                <a:defRPr/>
              </a:pPr>
              <a:t>‹#›</a:t>
            </a:fld>
            <a:endParaRPr lang="en-US" altLang="en-US"/>
          </a:p>
        </p:txBody>
      </p:sp>
    </p:spTree>
    <p:extLst>
      <p:ext uri="{BB962C8B-B14F-4D97-AF65-F5344CB8AC3E}">
        <p14:creationId xmlns:p14="http://schemas.microsoft.com/office/powerpoint/2010/main" val="14044187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290513"/>
            <a:ext cx="9144000" cy="471487"/>
          </a:xfrm>
        </p:spPr>
        <p:txBody>
          <a:bodyPr/>
          <a:lstStyle/>
          <a:p>
            <a:r>
              <a:rPr lang="en-US"/>
              <a:t>Click to edit Master title style</a:t>
            </a:r>
          </a:p>
        </p:txBody>
      </p:sp>
      <p:sp>
        <p:nvSpPr>
          <p:cNvPr id="3" name="Table Placeholder 2"/>
          <p:cNvSpPr>
            <a:spLocks noGrp="1"/>
          </p:cNvSpPr>
          <p:nvPr>
            <p:ph type="tbl" idx="1"/>
          </p:nvPr>
        </p:nvSpPr>
        <p:spPr>
          <a:xfrm>
            <a:off x="266700" y="1066800"/>
            <a:ext cx="8724900" cy="5334000"/>
          </a:xfrm>
        </p:spPr>
        <p:txBody>
          <a:bodyPr/>
          <a:lstStyle/>
          <a:p>
            <a:pPr lvl="0"/>
            <a:endParaRPr lang="en-US" noProof="0"/>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1C5AF1B4-CECC-44D2-B028-2B2DE6BAB8C0}" type="slidenum">
              <a:rPr lang="en-US" altLang="en-US"/>
              <a:pPr>
                <a:defRPr/>
              </a:pPr>
              <a:t>‹#›</a:t>
            </a:fld>
            <a:endParaRPr lang="en-US" altLang="en-US"/>
          </a:p>
        </p:txBody>
      </p:sp>
    </p:spTree>
    <p:extLst>
      <p:ext uri="{BB962C8B-B14F-4D97-AF65-F5344CB8AC3E}">
        <p14:creationId xmlns:p14="http://schemas.microsoft.com/office/powerpoint/2010/main" val="638153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90513"/>
            <a:ext cx="9144000" cy="471487"/>
          </a:xfrm>
        </p:spPr>
        <p:txBody>
          <a:bodyPr/>
          <a:lstStyle/>
          <a:p>
            <a:r>
              <a:rPr lang="en-US"/>
              <a:t>Click to edit Master title style</a:t>
            </a:r>
          </a:p>
        </p:txBody>
      </p:sp>
      <p:sp>
        <p:nvSpPr>
          <p:cNvPr id="3" name="Text Placeholder 2"/>
          <p:cNvSpPr>
            <a:spLocks noGrp="1"/>
          </p:cNvSpPr>
          <p:nvPr>
            <p:ph type="body" sz="half" idx="1"/>
          </p:nvPr>
        </p:nvSpPr>
        <p:spPr>
          <a:xfrm>
            <a:off x="266700" y="1066800"/>
            <a:ext cx="4286250" cy="533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5350" y="1066800"/>
            <a:ext cx="4286250" cy="533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E7EFC9F4-5826-4883-96FF-6246C2352157}" type="slidenum">
              <a:rPr lang="en-US" altLang="en-US"/>
              <a:pPr>
                <a:defRPr/>
              </a:pPr>
              <a:t>‹#›</a:t>
            </a:fld>
            <a:endParaRPr lang="en-US" altLang="en-US"/>
          </a:p>
        </p:txBody>
      </p:sp>
    </p:spTree>
    <p:extLst>
      <p:ext uri="{BB962C8B-B14F-4D97-AF65-F5344CB8AC3E}">
        <p14:creationId xmlns:p14="http://schemas.microsoft.com/office/powerpoint/2010/main" val="2564857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290513"/>
            <a:ext cx="9144000" cy="471487"/>
          </a:xfrm>
          <a:prstGeom prst="rect">
            <a:avLst/>
          </a:prstGeom>
          <a:solidFill>
            <a:srgbClr val="27007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0" tIns="0" rIns="91440" bIns="0" numCol="1" anchor="ctr" anchorCtr="0" compatLnSpc="1">
            <a:prstTxWarp prst="textNoShape">
              <a:avLst/>
            </a:prstTxWarp>
          </a:bodyPr>
          <a:lstStyle/>
          <a:p>
            <a:pPr lvl="0"/>
            <a:endParaRPr lang="fr-FR" altLang="en-US"/>
          </a:p>
        </p:txBody>
      </p:sp>
      <p:sp>
        <p:nvSpPr>
          <p:cNvPr id="1027" name="Rectangle 3"/>
          <p:cNvSpPr>
            <a:spLocks noGrp="1" noChangeArrowheads="1"/>
          </p:cNvSpPr>
          <p:nvPr>
            <p:ph type="body" idx="1"/>
          </p:nvPr>
        </p:nvSpPr>
        <p:spPr bwMode="auto">
          <a:xfrm>
            <a:off x="266700" y="1066800"/>
            <a:ext cx="87249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p:cNvSpPr>
            <a:spLocks noGrp="1" noChangeArrowheads="1"/>
          </p:cNvSpPr>
          <p:nvPr>
            <p:ph type="ftr" sz="quarter" idx="3"/>
          </p:nvPr>
        </p:nvSpPr>
        <p:spPr bwMode="auto">
          <a:xfrm>
            <a:off x="3124200" y="6553200"/>
            <a:ext cx="2895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b="0" smtClean="0"/>
            </a:lvl1pPr>
          </a:lstStyle>
          <a:p>
            <a:pPr>
              <a:defRPr/>
            </a:pPr>
            <a:endParaRPr lang="en-US" altLang="en-US"/>
          </a:p>
        </p:txBody>
      </p:sp>
      <p:sp>
        <p:nvSpPr>
          <p:cNvPr id="1030" name="Rectangle 6"/>
          <p:cNvSpPr>
            <a:spLocks noGrp="1" noChangeArrowheads="1"/>
          </p:cNvSpPr>
          <p:nvPr>
            <p:ph type="sldNum" sz="quarter" idx="4"/>
          </p:nvPr>
        </p:nvSpPr>
        <p:spPr bwMode="auto">
          <a:xfrm>
            <a:off x="7086600" y="6553200"/>
            <a:ext cx="1905000" cy="22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b="0" smtClean="0"/>
            </a:lvl1pPr>
          </a:lstStyle>
          <a:p>
            <a:pPr>
              <a:defRPr/>
            </a:pPr>
            <a:fld id="{4F8C125D-FE2B-4E4B-9056-320AA76C029A}" type="slidenum">
              <a:rPr lang="en-US" altLang="en-US"/>
              <a:pPr>
                <a:defRPr/>
              </a:pPr>
              <a:t>‹#›</a:t>
            </a:fld>
            <a:endParaRPr lang="en-US" altLang="en-US"/>
          </a:p>
        </p:txBody>
      </p:sp>
      <p:sp>
        <p:nvSpPr>
          <p:cNvPr id="2" name="Rectangle 15"/>
          <p:cNvSpPr>
            <a:spLocks noChangeArrowheads="1"/>
          </p:cNvSpPr>
          <p:nvPr/>
        </p:nvSpPr>
        <p:spPr bwMode="auto">
          <a:xfrm>
            <a:off x="228600" y="6553200"/>
            <a:ext cx="1752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fld id="{EF6348B1-3FDD-497A-B000-1273896F5247}" type="datetime1">
              <a:rPr lang="en-US" altLang="en-US" sz="1400" b="0"/>
              <a:pPr eaLnBrk="1" hangingPunct="1"/>
              <a:t>2/19/2024</a:t>
            </a:fld>
            <a:endParaRPr lang="en-US" altLang="en-US" sz="1400" b="0"/>
          </a:p>
        </p:txBody>
      </p:sp>
    </p:spTree>
  </p:cSld>
  <p:clrMap bg1="lt1" tx1="dk1" bg2="lt2" tx2="dk2" accent1="accent1" accent2="accent2" accent3="accent3" accent4="accent4" accent5="accent5" accent6="accent6" hlink="hlink" folHlink="folHlink"/>
  <p:sldLayoutIdLst>
    <p:sldLayoutId id="2147483677"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hdr="0" ftr="0" dt="0"/>
  <p:txStyles>
    <p:titleStyle>
      <a:lvl1pPr algn="l" rtl="0" eaLnBrk="0" fontAlgn="base" hangingPunct="0">
        <a:spcBef>
          <a:spcPct val="0"/>
        </a:spcBef>
        <a:spcAft>
          <a:spcPct val="0"/>
        </a:spcAft>
        <a:defRPr sz="3200" kern="1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Arial" panose="020B0604020202020204" pitchFamily="34" charset="0"/>
        </a:defRPr>
      </a:lvl2pPr>
      <a:lvl3pPr algn="l" rtl="0" eaLnBrk="0" fontAlgn="base" hangingPunct="0">
        <a:spcBef>
          <a:spcPct val="0"/>
        </a:spcBef>
        <a:spcAft>
          <a:spcPct val="0"/>
        </a:spcAft>
        <a:defRPr sz="3200">
          <a:solidFill>
            <a:schemeClr val="bg1"/>
          </a:solidFill>
          <a:latin typeface="Arial" panose="020B0604020202020204" pitchFamily="34" charset="0"/>
        </a:defRPr>
      </a:lvl3pPr>
      <a:lvl4pPr algn="l" rtl="0" eaLnBrk="0" fontAlgn="base" hangingPunct="0">
        <a:spcBef>
          <a:spcPct val="0"/>
        </a:spcBef>
        <a:spcAft>
          <a:spcPct val="0"/>
        </a:spcAft>
        <a:defRPr sz="3200">
          <a:solidFill>
            <a:schemeClr val="bg1"/>
          </a:solidFill>
          <a:latin typeface="Arial" panose="020B0604020202020204" pitchFamily="34" charset="0"/>
        </a:defRPr>
      </a:lvl4pPr>
      <a:lvl5pPr algn="l" rtl="0" eaLnBrk="0" fontAlgn="base" hangingPunct="0">
        <a:spcBef>
          <a:spcPct val="0"/>
        </a:spcBef>
        <a:spcAft>
          <a:spcPct val="0"/>
        </a:spcAft>
        <a:defRPr sz="3200">
          <a:solidFill>
            <a:schemeClr val="bg1"/>
          </a:solidFill>
          <a:latin typeface="Arial" panose="020B0604020202020204" pitchFamily="34" charset="0"/>
        </a:defRPr>
      </a:lvl5pPr>
      <a:lvl6pPr marL="457200" algn="l" rtl="0" fontAlgn="base">
        <a:spcBef>
          <a:spcPct val="0"/>
        </a:spcBef>
        <a:spcAft>
          <a:spcPct val="0"/>
        </a:spcAft>
        <a:defRPr sz="3200">
          <a:solidFill>
            <a:schemeClr val="bg1"/>
          </a:solidFill>
          <a:latin typeface="Arial" panose="020B0604020202020204" pitchFamily="34" charset="0"/>
        </a:defRPr>
      </a:lvl6pPr>
      <a:lvl7pPr marL="914400" algn="l" rtl="0" fontAlgn="base">
        <a:spcBef>
          <a:spcPct val="0"/>
        </a:spcBef>
        <a:spcAft>
          <a:spcPct val="0"/>
        </a:spcAft>
        <a:defRPr sz="3200">
          <a:solidFill>
            <a:schemeClr val="bg1"/>
          </a:solidFill>
          <a:latin typeface="Arial" panose="020B0604020202020204" pitchFamily="34" charset="0"/>
        </a:defRPr>
      </a:lvl7pPr>
      <a:lvl8pPr marL="1371600" algn="l" rtl="0" fontAlgn="base">
        <a:spcBef>
          <a:spcPct val="0"/>
        </a:spcBef>
        <a:spcAft>
          <a:spcPct val="0"/>
        </a:spcAft>
        <a:defRPr sz="3200">
          <a:solidFill>
            <a:schemeClr val="bg1"/>
          </a:solidFill>
          <a:latin typeface="Arial" panose="020B0604020202020204" pitchFamily="34" charset="0"/>
        </a:defRPr>
      </a:lvl8pPr>
      <a:lvl9pPr marL="1828800" algn="l" rtl="0" fontAlgn="base">
        <a:spcBef>
          <a:spcPct val="0"/>
        </a:spcBef>
        <a:spcAft>
          <a:spcPct val="0"/>
        </a:spcAft>
        <a:defRPr sz="3200">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rgbClr val="270076"/>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270076"/>
          </a:solidFill>
          <a:latin typeface="+mn-lt"/>
          <a:ea typeface="+mn-ea"/>
          <a:cs typeface="+mn-cs"/>
        </a:defRPr>
      </a:lvl2pPr>
      <a:lvl3pPr marL="1143000" indent="-228600" algn="l" rtl="0" eaLnBrk="0" fontAlgn="base" hangingPunct="0">
        <a:spcBef>
          <a:spcPct val="20000"/>
        </a:spcBef>
        <a:spcAft>
          <a:spcPct val="0"/>
        </a:spcAft>
        <a:buChar char="•"/>
        <a:defRPr sz="2400" kern="1200">
          <a:solidFill>
            <a:srgbClr val="270076"/>
          </a:solidFill>
          <a:latin typeface="+mn-lt"/>
          <a:ea typeface="+mn-ea"/>
          <a:cs typeface="+mn-cs"/>
        </a:defRPr>
      </a:lvl3pPr>
      <a:lvl4pPr marL="1600200" indent="-228600" algn="l" rtl="0" eaLnBrk="0" fontAlgn="base" hangingPunct="0">
        <a:spcBef>
          <a:spcPct val="20000"/>
        </a:spcBef>
        <a:spcAft>
          <a:spcPct val="0"/>
        </a:spcAft>
        <a:buChar char="–"/>
        <a:defRPr sz="2000" kern="1200">
          <a:solidFill>
            <a:srgbClr val="270076"/>
          </a:solidFill>
          <a:latin typeface="+mn-lt"/>
          <a:ea typeface="+mn-ea"/>
          <a:cs typeface="+mn-cs"/>
        </a:defRPr>
      </a:lvl4pPr>
      <a:lvl5pPr marL="2057400" indent="-228600" algn="l" rtl="0" eaLnBrk="0" fontAlgn="base" hangingPunct="0">
        <a:spcBef>
          <a:spcPct val="20000"/>
        </a:spcBef>
        <a:spcAft>
          <a:spcPct val="0"/>
        </a:spcAft>
        <a:buChar char="»"/>
        <a:defRPr sz="2000" kern="1200">
          <a:solidFill>
            <a:srgbClr val="27007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81000" y="1371600"/>
            <a:ext cx="8382000" cy="2590800"/>
          </a:xfrm>
          <a:noFill/>
        </p:spPr>
        <p:txBody>
          <a:bodyPr/>
          <a:lstStyle/>
          <a:p>
            <a:pPr algn="ctr" eaLnBrk="1" hangingPunct="1">
              <a:lnSpc>
                <a:spcPct val="120000"/>
              </a:lnSpc>
            </a:pPr>
            <a:r>
              <a:rPr lang="en-US" altLang="en-US" sz="6000" b="1" dirty="0">
                <a:solidFill>
                  <a:srgbClr val="220076"/>
                </a:solidFill>
              </a:rPr>
              <a:t>IT4079:</a:t>
            </a:r>
            <a:r>
              <a:rPr lang="en-US" altLang="en-US" sz="6000" dirty="0">
                <a:solidFill>
                  <a:srgbClr val="220076"/>
                </a:solidFill>
              </a:rPr>
              <a:t>NGÔN NGỮ </a:t>
            </a:r>
            <a:r>
              <a:rPr lang="en-US" altLang="en-US" sz="6000" dirty="0" err="1">
                <a:solidFill>
                  <a:srgbClr val="220076"/>
                </a:solidFill>
              </a:rPr>
              <a:t>và</a:t>
            </a:r>
            <a:r>
              <a:rPr lang="en-US" altLang="en-US" sz="6000" dirty="0">
                <a:solidFill>
                  <a:srgbClr val="220076"/>
                </a:solidFill>
              </a:rPr>
              <a:t> </a:t>
            </a:r>
            <a:br>
              <a:rPr lang="en-US" altLang="en-US" sz="6000" dirty="0">
                <a:solidFill>
                  <a:srgbClr val="220076"/>
                </a:solidFill>
              </a:rPr>
            </a:br>
            <a:r>
              <a:rPr lang="en-US" altLang="en-US" sz="6000" dirty="0">
                <a:solidFill>
                  <a:srgbClr val="220076"/>
                </a:solidFill>
              </a:rPr>
              <a:t>PHƯƠNG PHÁP DỊCH</a:t>
            </a:r>
          </a:p>
        </p:txBody>
      </p:sp>
      <p:sp>
        <p:nvSpPr>
          <p:cNvPr id="5123" name="Rectangle 3"/>
          <p:cNvSpPr>
            <a:spLocks noGrp="1" noChangeArrowheads="1"/>
          </p:cNvSpPr>
          <p:nvPr>
            <p:ph type="subTitle" idx="1"/>
          </p:nvPr>
        </p:nvSpPr>
        <p:spPr>
          <a:xfrm>
            <a:off x="1371600" y="4191000"/>
            <a:ext cx="6400800" cy="1676400"/>
          </a:xfrm>
        </p:spPr>
        <p:txBody>
          <a:bodyPr/>
          <a:lstStyle/>
          <a:p>
            <a:pPr eaLnBrk="1" hangingPunct="1"/>
            <a:r>
              <a:rPr lang="en-US" altLang="en-US" dirty="0" err="1">
                <a:solidFill>
                  <a:srgbClr val="003399"/>
                </a:solidFill>
              </a:rPr>
              <a:t>Phạm</a:t>
            </a:r>
            <a:r>
              <a:rPr lang="en-US" altLang="en-US" dirty="0">
                <a:solidFill>
                  <a:srgbClr val="003399"/>
                </a:solidFill>
              </a:rPr>
              <a:t> </a:t>
            </a:r>
            <a:r>
              <a:rPr lang="en-US" altLang="en-US" dirty="0" err="1">
                <a:solidFill>
                  <a:srgbClr val="003399"/>
                </a:solidFill>
              </a:rPr>
              <a:t>Đăng</a:t>
            </a:r>
            <a:r>
              <a:rPr lang="en-US" altLang="en-US" dirty="0">
                <a:solidFill>
                  <a:srgbClr val="003399"/>
                </a:solidFill>
              </a:rPr>
              <a:t> </a:t>
            </a:r>
            <a:r>
              <a:rPr lang="en-US" altLang="en-US" dirty="0" err="1">
                <a:solidFill>
                  <a:srgbClr val="003399"/>
                </a:solidFill>
              </a:rPr>
              <a:t>Hải</a:t>
            </a:r>
            <a:endParaRPr lang="en-US" altLang="en-US" dirty="0">
              <a:solidFill>
                <a:srgbClr val="003399"/>
              </a:solidFill>
            </a:endParaRPr>
          </a:p>
          <a:p>
            <a:pPr eaLnBrk="1" hangingPunct="1"/>
            <a:r>
              <a:rPr lang="en-US" altLang="en-US" dirty="0">
                <a:solidFill>
                  <a:srgbClr val="003399"/>
                </a:solidFill>
              </a:rPr>
              <a:t>haipd@soict.hust.edu.vn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5A0D4170-0F52-441C-BBC8-DA269C977189}" type="slidenum">
              <a:rPr lang="en-US" altLang="en-US" sz="1400" b="0"/>
              <a:pPr/>
              <a:t>2</a:t>
            </a:fld>
            <a:endParaRPr lang="en-US" altLang="en-US" sz="1400" b="0"/>
          </a:p>
        </p:txBody>
      </p:sp>
      <p:sp>
        <p:nvSpPr>
          <p:cNvPr id="1377298" name="Rectangle 18"/>
          <p:cNvSpPr>
            <a:spLocks noChangeArrowheads="1"/>
          </p:cNvSpPr>
          <p:nvPr/>
        </p:nvSpPr>
        <p:spPr bwMode="auto">
          <a:xfrm>
            <a:off x="0" y="1447800"/>
            <a:ext cx="9144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7172" name="Rectangle 16"/>
          <p:cNvSpPr>
            <a:spLocks noGrp="1" noChangeArrowheads="1"/>
          </p:cNvSpPr>
          <p:nvPr>
            <p:ph type="title"/>
          </p:nvPr>
        </p:nvSpPr>
        <p:spPr>
          <a:xfrm>
            <a:off x="0" y="0"/>
            <a:ext cx="9144000" cy="800100"/>
          </a:xfrm>
        </p:spPr>
        <p:txBody>
          <a:bodyPr/>
          <a:lstStyle/>
          <a:p>
            <a:pPr eaLnBrk="1" hangingPunct="1"/>
            <a:r>
              <a:rPr lang="en-US" altLang="en-US" sz="4000"/>
              <a:t>Chương 4: Phân tích ngữ nghĩa</a:t>
            </a:r>
          </a:p>
        </p:txBody>
      </p:sp>
      <p:sp>
        <p:nvSpPr>
          <p:cNvPr id="7173" name="Rectangle 17"/>
          <p:cNvSpPr>
            <a:spLocks noGrp="1" noChangeArrowheads="1"/>
          </p:cNvSpPr>
          <p:nvPr>
            <p:ph type="body" idx="1"/>
          </p:nvPr>
        </p:nvSpPr>
        <p:spPr>
          <a:xfrm>
            <a:off x="266700" y="1447800"/>
            <a:ext cx="8724900" cy="4868863"/>
          </a:xfrm>
        </p:spPr>
        <p:txBody>
          <a:bodyPr/>
          <a:lstStyle/>
          <a:p>
            <a:pPr marL="609600" indent="-609600" eaLnBrk="1" hangingPunct="1">
              <a:spcBef>
                <a:spcPct val="100000"/>
              </a:spcBef>
              <a:buFontTx/>
              <a:buAutoNum type="arabicPeriod"/>
            </a:pPr>
            <a:r>
              <a:rPr lang="en-US" altLang="en-US">
                <a:solidFill>
                  <a:srgbClr val="1E0068"/>
                </a:solidFill>
              </a:rPr>
              <a:t>Giới thiệu</a:t>
            </a:r>
          </a:p>
          <a:p>
            <a:pPr marL="609600" indent="-609600" eaLnBrk="1" hangingPunct="1">
              <a:spcBef>
                <a:spcPct val="100000"/>
              </a:spcBef>
              <a:buFontTx/>
              <a:buAutoNum type="arabicPeriod"/>
            </a:pPr>
            <a:r>
              <a:rPr lang="en-US" altLang="en-US">
                <a:solidFill>
                  <a:srgbClr val="1E0068"/>
                </a:solidFill>
              </a:rPr>
              <a:t>Bảng ký hiệu</a:t>
            </a:r>
          </a:p>
          <a:p>
            <a:pPr marL="609600" indent="-609600" eaLnBrk="1" hangingPunct="1">
              <a:spcBef>
                <a:spcPct val="100000"/>
              </a:spcBef>
              <a:buFontTx/>
              <a:buAutoNum type="arabicPeriod"/>
            </a:pPr>
            <a:r>
              <a:rPr lang="fr-FR" altLang="en-US"/>
              <a:t>Chương trình dịch định hướng cú pháp</a:t>
            </a:r>
          </a:p>
          <a:p>
            <a:pPr marL="609600" indent="-609600" eaLnBrk="1" hangingPunct="1">
              <a:spcBef>
                <a:spcPct val="100000"/>
              </a:spcBef>
              <a:buFontTx/>
              <a:buAutoNum type="arabicPeriod"/>
            </a:pPr>
            <a:r>
              <a:rPr lang="fr-FR" altLang="en-US"/>
              <a:t>Kiểm tra kiểu</a:t>
            </a:r>
          </a:p>
          <a:p>
            <a:pPr marL="609600" indent="-609600" eaLnBrk="1" hangingPunct="1">
              <a:spcBef>
                <a:spcPct val="100000"/>
              </a:spcBef>
              <a:buFontTx/>
              <a:buAutoNum type="arabicPeriod"/>
            </a:pPr>
            <a:r>
              <a:rPr lang="en-US" altLang="en-US">
                <a:solidFill>
                  <a:srgbClr val="1E0068"/>
                </a:solidFill>
              </a:rPr>
              <a:t>Xử lý sai sót</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77298"/>
                                        </p:tgtEl>
                                        <p:attrNameLst>
                                          <p:attrName>style.visibility</p:attrName>
                                        </p:attrNameLst>
                                      </p:cBhvr>
                                      <p:to>
                                        <p:strVal val="visible"/>
                                      </p:to>
                                    </p:set>
                                    <p:animEffect transition="in" filter="dissolve">
                                      <p:cBhvr>
                                        <p:cTn id="7" dur="500"/>
                                        <p:tgtEl>
                                          <p:spTgt spid="1377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729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38589191-A849-4F07-BC2A-2D79E87B98B5}" type="slidenum">
              <a:rPr lang="en-US" altLang="en-US" sz="1400" b="0"/>
              <a:pPr/>
              <a:t>3</a:t>
            </a:fld>
            <a:endParaRPr lang="en-US" altLang="en-US" sz="1400" b="0"/>
          </a:p>
        </p:txBody>
      </p:sp>
      <p:sp>
        <p:nvSpPr>
          <p:cNvPr id="8195" name="Rectangle 2"/>
          <p:cNvSpPr>
            <a:spLocks noGrp="1" noChangeArrowheads="1"/>
          </p:cNvSpPr>
          <p:nvPr>
            <p:ph type="title"/>
          </p:nvPr>
        </p:nvSpPr>
        <p:spPr/>
        <p:txBody>
          <a:bodyPr/>
          <a:lstStyle/>
          <a:p>
            <a:pPr eaLnBrk="1" hangingPunct="1"/>
            <a:r>
              <a:rPr lang="en-US" altLang="en-US"/>
              <a:t>Ví dụ 1</a:t>
            </a:r>
          </a:p>
        </p:txBody>
      </p:sp>
      <p:sp>
        <p:nvSpPr>
          <p:cNvPr id="8196" name="Rectangle 3"/>
          <p:cNvSpPr>
            <a:spLocks noGrp="1" noChangeArrowheads="1"/>
          </p:cNvSpPr>
          <p:nvPr>
            <p:ph type="body" idx="1"/>
          </p:nvPr>
        </p:nvSpPr>
        <p:spPr>
          <a:xfrm>
            <a:off x="142875" y="866775"/>
            <a:ext cx="8813800" cy="5762625"/>
          </a:xfrm>
        </p:spPr>
        <p:txBody>
          <a:bodyPr/>
          <a:lstStyle/>
          <a:p>
            <a:pPr marL="0" indent="0" algn="just" eaLnBrk="1" hangingPunct="1">
              <a:lnSpc>
                <a:spcPct val="105000"/>
              </a:lnSpc>
              <a:buFontTx/>
              <a:buNone/>
            </a:pPr>
            <a:r>
              <a:rPr lang="en-US" altLang="en-US" dirty="0"/>
              <a:t>Cho </a:t>
            </a:r>
            <a:r>
              <a:rPr lang="en-US" altLang="en-US" dirty="0" err="1"/>
              <a:t>văn</a:t>
            </a:r>
            <a:r>
              <a:rPr lang="en-US" altLang="en-US" dirty="0"/>
              <a:t> </a:t>
            </a:r>
            <a:r>
              <a:rPr lang="en-US" altLang="en-US" dirty="0" err="1"/>
              <a:t>phạm</a:t>
            </a:r>
            <a:r>
              <a:rPr lang="en-US" altLang="en-US" dirty="0"/>
              <a:t> G = (V</a:t>
            </a:r>
            <a:r>
              <a:rPr lang="en-US" altLang="en-US" baseline="-25000" dirty="0"/>
              <a:t>T</a:t>
            </a:r>
            <a:r>
              <a:rPr lang="en-US" altLang="en-US" dirty="0"/>
              <a:t>, V</a:t>
            </a:r>
            <a:r>
              <a:rPr lang="en-US" altLang="en-US" baseline="-25000" dirty="0"/>
              <a:t>N</a:t>
            </a:r>
            <a:r>
              <a:rPr lang="en-US" altLang="en-US" dirty="0"/>
              <a:t>, P, S)</a:t>
            </a:r>
          </a:p>
          <a:p>
            <a:pPr marL="682625" lvl="1" indent="-450850" algn="just" eaLnBrk="1" hangingPunct="1">
              <a:lnSpc>
                <a:spcPct val="105000"/>
              </a:lnSpc>
              <a:buFontTx/>
              <a:buNone/>
            </a:pPr>
            <a:r>
              <a:rPr lang="fr-FR" altLang="en-US" dirty="0"/>
              <a:t>P: {	&lt;</a:t>
            </a:r>
            <a:r>
              <a:rPr lang="fr-FR" altLang="en-US" dirty="0" err="1"/>
              <a:t>Câu</a:t>
            </a:r>
            <a:r>
              <a:rPr lang="fr-FR" altLang="en-US" dirty="0"/>
              <a:t>&gt; </a:t>
            </a:r>
            <a:r>
              <a:rPr lang="fr-FR" altLang="en-US" dirty="0">
                <a:sym typeface="Symbol" panose="05050102010706020507" pitchFamily="18" charset="2"/>
              </a:rPr>
              <a:t> &lt;</a:t>
            </a:r>
            <a:r>
              <a:rPr lang="fr-FR" altLang="en-US" dirty="0" err="1">
                <a:sym typeface="Symbol" panose="05050102010706020507" pitchFamily="18" charset="2"/>
              </a:rPr>
              <a:t>Chủ</a:t>
            </a:r>
            <a:r>
              <a:rPr lang="fr-FR" altLang="en-US" dirty="0">
                <a:sym typeface="Symbol" panose="05050102010706020507" pitchFamily="18" charset="2"/>
              </a:rPr>
              <a:t> </a:t>
            </a:r>
            <a:r>
              <a:rPr lang="fr-FR" altLang="en-US" dirty="0" err="1">
                <a:sym typeface="Symbol" panose="05050102010706020507" pitchFamily="18" charset="2"/>
              </a:rPr>
              <a:t>ngữ</a:t>
            </a:r>
            <a:r>
              <a:rPr lang="fr-FR" altLang="en-US" dirty="0">
                <a:sym typeface="Symbol" panose="05050102010706020507" pitchFamily="18" charset="2"/>
              </a:rPr>
              <a:t>&gt; &lt;</a:t>
            </a:r>
            <a:r>
              <a:rPr lang="fr-FR" altLang="en-US" dirty="0" err="1">
                <a:sym typeface="Symbol" panose="05050102010706020507" pitchFamily="18" charset="2"/>
              </a:rPr>
              <a:t>Vị</a:t>
            </a:r>
            <a:r>
              <a:rPr lang="fr-FR" altLang="en-US" dirty="0">
                <a:sym typeface="Symbol" panose="05050102010706020507" pitchFamily="18" charset="2"/>
              </a:rPr>
              <a:t> </a:t>
            </a:r>
            <a:r>
              <a:rPr lang="fr-FR" altLang="en-US" dirty="0" err="1">
                <a:sym typeface="Symbol" panose="05050102010706020507" pitchFamily="18" charset="2"/>
              </a:rPr>
              <a:t>ngữ</a:t>
            </a:r>
            <a:r>
              <a:rPr lang="fr-FR" altLang="en-US" dirty="0">
                <a:sym typeface="Symbol" panose="05050102010706020507" pitchFamily="18" charset="2"/>
              </a:rPr>
              <a:t>&gt;</a:t>
            </a:r>
          </a:p>
          <a:p>
            <a:pPr marL="682625" lvl="1" indent="-450850" algn="just" eaLnBrk="1" hangingPunct="1">
              <a:lnSpc>
                <a:spcPct val="105000"/>
              </a:lnSpc>
              <a:buFontTx/>
              <a:buNone/>
            </a:pPr>
            <a:r>
              <a:rPr lang="fr-FR" altLang="en-US" dirty="0">
                <a:sym typeface="Symbol" panose="05050102010706020507" pitchFamily="18" charset="2"/>
              </a:rPr>
              <a:t>		&lt;</a:t>
            </a:r>
            <a:r>
              <a:rPr lang="fr-FR" altLang="en-US" dirty="0" err="1">
                <a:sym typeface="Symbol" panose="05050102010706020507" pitchFamily="18" charset="2"/>
              </a:rPr>
              <a:t>Chủ</a:t>
            </a:r>
            <a:r>
              <a:rPr lang="fr-FR" altLang="en-US" dirty="0">
                <a:sym typeface="Symbol" panose="05050102010706020507" pitchFamily="18" charset="2"/>
              </a:rPr>
              <a:t> </a:t>
            </a:r>
            <a:r>
              <a:rPr lang="fr-FR" altLang="en-US" dirty="0" err="1">
                <a:sym typeface="Symbol" panose="05050102010706020507" pitchFamily="18" charset="2"/>
              </a:rPr>
              <a:t>ngữ</a:t>
            </a:r>
            <a:r>
              <a:rPr lang="fr-FR" altLang="en-US" dirty="0">
                <a:sym typeface="Symbol" panose="05050102010706020507" pitchFamily="18" charset="2"/>
              </a:rPr>
              <a:t>&gt;   &lt;</a:t>
            </a:r>
            <a:r>
              <a:rPr lang="fr-FR" altLang="en-US" dirty="0" err="1">
                <a:sym typeface="Symbol" panose="05050102010706020507" pitchFamily="18" charset="2"/>
              </a:rPr>
              <a:t>Danh</a:t>
            </a:r>
            <a:r>
              <a:rPr lang="fr-FR" altLang="en-US" dirty="0">
                <a:sym typeface="Symbol" panose="05050102010706020507" pitchFamily="18" charset="2"/>
              </a:rPr>
              <a:t> </a:t>
            </a:r>
            <a:r>
              <a:rPr lang="fr-FR" altLang="en-US" dirty="0" err="1">
                <a:sym typeface="Symbol" panose="05050102010706020507" pitchFamily="18" charset="2"/>
              </a:rPr>
              <a:t>ngữ</a:t>
            </a:r>
            <a:r>
              <a:rPr lang="fr-FR" altLang="en-US" dirty="0">
                <a:sym typeface="Symbol" panose="05050102010706020507" pitchFamily="18" charset="2"/>
              </a:rPr>
              <a:t>&gt;|&lt;</a:t>
            </a:r>
            <a:r>
              <a:rPr lang="fr-FR" altLang="en-US" dirty="0" err="1">
                <a:sym typeface="Symbol" panose="05050102010706020507" pitchFamily="18" charset="2"/>
              </a:rPr>
              <a:t>Danh</a:t>
            </a:r>
            <a:r>
              <a:rPr lang="fr-FR" altLang="en-US" dirty="0">
                <a:sym typeface="Symbol" panose="05050102010706020507" pitchFamily="18" charset="2"/>
              </a:rPr>
              <a:t> </a:t>
            </a:r>
            <a:r>
              <a:rPr lang="fr-FR" altLang="en-US" dirty="0" err="1">
                <a:sym typeface="Symbol" panose="05050102010706020507" pitchFamily="18" charset="2"/>
              </a:rPr>
              <a:t>từ</a:t>
            </a:r>
            <a:r>
              <a:rPr lang="fr-FR" altLang="en-US" dirty="0">
                <a:sym typeface="Symbol" panose="05050102010706020507" pitchFamily="18" charset="2"/>
              </a:rPr>
              <a:t>&gt;</a:t>
            </a:r>
          </a:p>
          <a:p>
            <a:pPr marL="682625" lvl="1" indent="-450850" algn="just" eaLnBrk="1" hangingPunct="1">
              <a:lnSpc>
                <a:spcPct val="105000"/>
              </a:lnSpc>
              <a:buFontTx/>
              <a:buNone/>
            </a:pPr>
            <a:r>
              <a:rPr lang="fr-FR" altLang="en-US" dirty="0">
                <a:sym typeface="Symbol" panose="05050102010706020507" pitchFamily="18" charset="2"/>
              </a:rPr>
              <a:t>		&lt;</a:t>
            </a:r>
            <a:r>
              <a:rPr lang="fr-FR" altLang="en-US" dirty="0" err="1">
                <a:sym typeface="Symbol" panose="05050102010706020507" pitchFamily="18" charset="2"/>
              </a:rPr>
              <a:t>Chủ</a:t>
            </a:r>
            <a:r>
              <a:rPr lang="fr-FR" altLang="en-US" dirty="0">
                <a:sym typeface="Symbol" panose="05050102010706020507" pitchFamily="18" charset="2"/>
              </a:rPr>
              <a:t> </a:t>
            </a:r>
            <a:r>
              <a:rPr lang="fr-FR" altLang="en-US" dirty="0" err="1">
                <a:sym typeface="Symbol" panose="05050102010706020507" pitchFamily="18" charset="2"/>
              </a:rPr>
              <a:t>ngữ</a:t>
            </a:r>
            <a:r>
              <a:rPr lang="fr-FR" altLang="en-US" dirty="0">
                <a:sym typeface="Symbol" panose="05050102010706020507" pitchFamily="18" charset="2"/>
              </a:rPr>
              <a:t>&gt;   &lt;</a:t>
            </a:r>
            <a:r>
              <a:rPr lang="fr-FR" altLang="en-US" dirty="0" err="1">
                <a:sym typeface="Symbol" panose="05050102010706020507" pitchFamily="18" charset="2"/>
              </a:rPr>
              <a:t>Danh</a:t>
            </a:r>
            <a:r>
              <a:rPr lang="fr-FR" altLang="en-US" dirty="0">
                <a:sym typeface="Symbol" panose="05050102010706020507" pitchFamily="18" charset="2"/>
              </a:rPr>
              <a:t> </a:t>
            </a:r>
            <a:r>
              <a:rPr lang="fr-FR" altLang="en-US" dirty="0" err="1">
                <a:sym typeface="Symbol" panose="05050102010706020507" pitchFamily="18" charset="2"/>
              </a:rPr>
              <a:t>ngữ</a:t>
            </a:r>
            <a:r>
              <a:rPr lang="fr-FR" altLang="en-US" dirty="0">
                <a:sym typeface="Symbol" panose="05050102010706020507" pitchFamily="18" charset="2"/>
              </a:rPr>
              <a:t>&gt;|&lt;</a:t>
            </a:r>
            <a:r>
              <a:rPr lang="fr-FR" altLang="en-US" dirty="0" err="1">
                <a:sym typeface="Symbol" panose="05050102010706020507" pitchFamily="18" charset="2"/>
              </a:rPr>
              <a:t>Danh</a:t>
            </a:r>
            <a:r>
              <a:rPr lang="fr-FR" altLang="en-US" dirty="0">
                <a:sym typeface="Symbol" panose="05050102010706020507" pitchFamily="18" charset="2"/>
              </a:rPr>
              <a:t> </a:t>
            </a:r>
            <a:r>
              <a:rPr lang="fr-FR" altLang="en-US" dirty="0" err="1">
                <a:sym typeface="Symbol" panose="05050102010706020507" pitchFamily="18" charset="2"/>
              </a:rPr>
              <a:t>từ</a:t>
            </a:r>
            <a:r>
              <a:rPr lang="fr-FR" altLang="en-US" dirty="0">
                <a:sym typeface="Symbol" panose="05050102010706020507" pitchFamily="18" charset="2"/>
              </a:rPr>
              <a:t>&gt;</a:t>
            </a:r>
          </a:p>
          <a:p>
            <a:pPr marL="682625" lvl="1" indent="-450850" algn="just" eaLnBrk="1" hangingPunct="1">
              <a:lnSpc>
                <a:spcPct val="105000"/>
              </a:lnSpc>
              <a:buFontTx/>
              <a:buNone/>
            </a:pPr>
            <a:r>
              <a:rPr lang="fr-FR" altLang="en-US" dirty="0">
                <a:sym typeface="Symbol" panose="05050102010706020507" pitchFamily="18" charset="2"/>
              </a:rPr>
              <a:t>		&lt;</a:t>
            </a:r>
            <a:r>
              <a:rPr lang="fr-FR" altLang="en-US" dirty="0" err="1">
                <a:sym typeface="Symbol" panose="05050102010706020507" pitchFamily="18" charset="2"/>
              </a:rPr>
              <a:t>Danh</a:t>
            </a:r>
            <a:r>
              <a:rPr lang="fr-FR" altLang="en-US" dirty="0">
                <a:sym typeface="Symbol" panose="05050102010706020507" pitchFamily="18" charset="2"/>
              </a:rPr>
              <a:t> </a:t>
            </a:r>
            <a:r>
              <a:rPr lang="fr-FR" altLang="en-US" dirty="0" err="1">
                <a:sym typeface="Symbol" panose="05050102010706020507" pitchFamily="18" charset="2"/>
              </a:rPr>
              <a:t>ngữ</a:t>
            </a:r>
            <a:r>
              <a:rPr lang="fr-FR" altLang="en-US" dirty="0">
                <a:sym typeface="Symbol" panose="05050102010706020507" pitchFamily="18" charset="2"/>
              </a:rPr>
              <a:t>&gt; &lt;</a:t>
            </a:r>
            <a:r>
              <a:rPr lang="fr-FR" altLang="en-US" dirty="0" err="1">
                <a:sym typeface="Symbol" panose="05050102010706020507" pitchFamily="18" charset="2"/>
              </a:rPr>
              <a:t>Danh</a:t>
            </a:r>
            <a:r>
              <a:rPr lang="fr-FR" altLang="en-US" dirty="0">
                <a:sym typeface="Symbol" panose="05050102010706020507" pitchFamily="18" charset="2"/>
              </a:rPr>
              <a:t> </a:t>
            </a:r>
            <a:r>
              <a:rPr lang="fr-FR" altLang="en-US" dirty="0" err="1">
                <a:sym typeface="Symbol" panose="05050102010706020507" pitchFamily="18" charset="2"/>
              </a:rPr>
              <a:t>từ</a:t>
            </a:r>
            <a:r>
              <a:rPr lang="fr-FR" altLang="en-US" dirty="0">
                <a:sym typeface="Symbol" panose="05050102010706020507" pitchFamily="18" charset="2"/>
              </a:rPr>
              <a:t>&gt; &lt;</a:t>
            </a:r>
            <a:r>
              <a:rPr lang="fr-FR" altLang="en-US" dirty="0" err="1">
                <a:sym typeface="Symbol" panose="05050102010706020507" pitchFamily="18" charset="2"/>
              </a:rPr>
              <a:t>Tính</a:t>
            </a:r>
            <a:r>
              <a:rPr lang="fr-FR" altLang="en-US" dirty="0">
                <a:sym typeface="Symbol" panose="05050102010706020507" pitchFamily="18" charset="2"/>
              </a:rPr>
              <a:t> </a:t>
            </a:r>
            <a:r>
              <a:rPr lang="fr-FR" altLang="en-US" dirty="0" err="1">
                <a:sym typeface="Symbol" panose="05050102010706020507" pitchFamily="18" charset="2"/>
              </a:rPr>
              <a:t>từ</a:t>
            </a:r>
            <a:r>
              <a:rPr lang="fr-FR" altLang="en-US" dirty="0">
                <a:sym typeface="Symbol" panose="05050102010706020507" pitchFamily="18" charset="2"/>
              </a:rPr>
              <a:t>&gt;</a:t>
            </a:r>
          </a:p>
          <a:p>
            <a:pPr marL="682625" lvl="1" indent="-450850" algn="just" eaLnBrk="1" hangingPunct="1">
              <a:lnSpc>
                <a:spcPct val="105000"/>
              </a:lnSpc>
              <a:buFontTx/>
              <a:buNone/>
            </a:pPr>
            <a:r>
              <a:rPr lang="fr-FR" altLang="en-US" dirty="0">
                <a:sym typeface="Symbol" panose="05050102010706020507" pitchFamily="18" charset="2"/>
              </a:rPr>
              <a:t>		&lt;</a:t>
            </a:r>
            <a:r>
              <a:rPr lang="fr-FR" altLang="en-US" dirty="0" err="1">
                <a:sym typeface="Symbol" panose="05050102010706020507" pitchFamily="18" charset="2"/>
              </a:rPr>
              <a:t>Vị</a:t>
            </a:r>
            <a:r>
              <a:rPr lang="fr-FR" altLang="en-US" dirty="0">
                <a:sym typeface="Symbol" panose="05050102010706020507" pitchFamily="18" charset="2"/>
              </a:rPr>
              <a:t> </a:t>
            </a:r>
            <a:r>
              <a:rPr lang="fr-FR" altLang="en-US" dirty="0" err="1">
                <a:sym typeface="Symbol" panose="05050102010706020507" pitchFamily="18" charset="2"/>
              </a:rPr>
              <a:t>ngữ</a:t>
            </a:r>
            <a:r>
              <a:rPr lang="fr-FR" altLang="en-US" dirty="0">
                <a:sym typeface="Symbol" panose="05050102010706020507" pitchFamily="18" charset="2"/>
              </a:rPr>
              <a:t>&gt;	  &lt;</a:t>
            </a:r>
            <a:r>
              <a:rPr lang="fr-FR" altLang="en-US" dirty="0" err="1">
                <a:sym typeface="Symbol" panose="05050102010706020507" pitchFamily="18" charset="2"/>
              </a:rPr>
              <a:t>Động</a:t>
            </a:r>
            <a:r>
              <a:rPr lang="fr-FR" altLang="en-US" dirty="0">
                <a:sym typeface="Symbol" panose="05050102010706020507" pitchFamily="18" charset="2"/>
              </a:rPr>
              <a:t> </a:t>
            </a:r>
            <a:r>
              <a:rPr lang="fr-FR" altLang="en-US" dirty="0" err="1">
                <a:sym typeface="Symbol" panose="05050102010706020507" pitchFamily="18" charset="2"/>
              </a:rPr>
              <a:t>từ</a:t>
            </a:r>
            <a:r>
              <a:rPr lang="fr-FR" altLang="en-US" dirty="0">
                <a:sym typeface="Symbol" panose="05050102010706020507" pitchFamily="18" charset="2"/>
              </a:rPr>
              <a:t>&gt;|&lt;</a:t>
            </a:r>
            <a:r>
              <a:rPr lang="fr-FR" altLang="en-US" dirty="0" err="1">
                <a:sym typeface="Symbol" panose="05050102010706020507" pitchFamily="18" charset="2"/>
              </a:rPr>
              <a:t>Động</a:t>
            </a:r>
            <a:r>
              <a:rPr lang="fr-FR" altLang="en-US" dirty="0">
                <a:sym typeface="Symbol" panose="05050102010706020507" pitchFamily="18" charset="2"/>
              </a:rPr>
              <a:t> </a:t>
            </a:r>
            <a:r>
              <a:rPr lang="fr-FR" altLang="en-US" dirty="0" err="1">
                <a:sym typeface="Symbol" panose="05050102010706020507" pitchFamily="18" charset="2"/>
              </a:rPr>
              <a:t>từ</a:t>
            </a:r>
            <a:r>
              <a:rPr lang="fr-FR" altLang="en-US" dirty="0">
                <a:sym typeface="Symbol" panose="05050102010706020507" pitchFamily="18" charset="2"/>
              </a:rPr>
              <a:t>&gt;&lt;</a:t>
            </a:r>
            <a:r>
              <a:rPr lang="fr-FR" altLang="en-US" dirty="0" err="1">
                <a:sym typeface="Symbol" panose="05050102010706020507" pitchFamily="18" charset="2"/>
              </a:rPr>
              <a:t>Bổ</a:t>
            </a:r>
            <a:r>
              <a:rPr lang="fr-FR" altLang="en-US" dirty="0">
                <a:sym typeface="Symbol" panose="05050102010706020507" pitchFamily="18" charset="2"/>
              </a:rPr>
              <a:t> </a:t>
            </a:r>
            <a:r>
              <a:rPr lang="fr-FR" altLang="en-US" dirty="0" err="1">
                <a:sym typeface="Symbol" panose="05050102010706020507" pitchFamily="18" charset="2"/>
              </a:rPr>
              <a:t>ngữ</a:t>
            </a:r>
            <a:r>
              <a:rPr lang="fr-FR" altLang="en-US" dirty="0">
                <a:sym typeface="Symbol" panose="05050102010706020507" pitchFamily="18" charset="2"/>
              </a:rPr>
              <a:t>&gt;</a:t>
            </a:r>
          </a:p>
          <a:p>
            <a:pPr marL="682625" lvl="1" indent="-450850" algn="just" eaLnBrk="1" hangingPunct="1">
              <a:lnSpc>
                <a:spcPct val="105000"/>
              </a:lnSpc>
              <a:buFontTx/>
              <a:buNone/>
            </a:pPr>
            <a:r>
              <a:rPr lang="fr-FR" altLang="en-US" dirty="0">
                <a:sym typeface="Symbol" panose="05050102010706020507" pitchFamily="18" charset="2"/>
              </a:rPr>
              <a:t>		&lt;</a:t>
            </a:r>
            <a:r>
              <a:rPr lang="fr-FR" altLang="en-US" dirty="0" err="1">
                <a:sym typeface="Symbol" panose="05050102010706020507" pitchFamily="18" charset="2"/>
              </a:rPr>
              <a:t>Bổ</a:t>
            </a:r>
            <a:r>
              <a:rPr lang="fr-FR" altLang="en-US" dirty="0">
                <a:sym typeface="Symbol" panose="05050102010706020507" pitchFamily="18" charset="2"/>
              </a:rPr>
              <a:t> </a:t>
            </a:r>
            <a:r>
              <a:rPr lang="fr-FR" altLang="en-US" dirty="0" err="1">
                <a:sym typeface="Symbol" panose="05050102010706020507" pitchFamily="18" charset="2"/>
              </a:rPr>
              <a:t>ngữ</a:t>
            </a:r>
            <a:r>
              <a:rPr lang="fr-FR" altLang="en-US" dirty="0">
                <a:sym typeface="Symbol" panose="05050102010706020507" pitchFamily="18" charset="2"/>
              </a:rPr>
              <a:t>&gt; 	   &lt;</a:t>
            </a:r>
            <a:r>
              <a:rPr lang="fr-FR" altLang="en-US" dirty="0" err="1">
                <a:sym typeface="Symbol" panose="05050102010706020507" pitchFamily="18" charset="2"/>
              </a:rPr>
              <a:t>Danh</a:t>
            </a:r>
            <a:r>
              <a:rPr lang="fr-FR" altLang="en-US" dirty="0">
                <a:sym typeface="Symbol" panose="05050102010706020507" pitchFamily="18" charset="2"/>
              </a:rPr>
              <a:t> </a:t>
            </a:r>
            <a:r>
              <a:rPr lang="fr-FR" altLang="en-US" dirty="0" err="1">
                <a:sym typeface="Symbol" panose="05050102010706020507" pitchFamily="18" charset="2"/>
              </a:rPr>
              <a:t>ngữ</a:t>
            </a:r>
            <a:r>
              <a:rPr lang="fr-FR" altLang="en-US" dirty="0">
                <a:sym typeface="Symbol" panose="05050102010706020507" pitchFamily="18" charset="2"/>
              </a:rPr>
              <a:t>&gt;</a:t>
            </a:r>
          </a:p>
          <a:p>
            <a:pPr marL="682625" lvl="1" indent="-450850" algn="just" eaLnBrk="1" hangingPunct="1">
              <a:lnSpc>
                <a:spcPct val="105000"/>
              </a:lnSpc>
              <a:buFontTx/>
              <a:buNone/>
            </a:pPr>
            <a:r>
              <a:rPr lang="fr-FR" altLang="en-US" dirty="0">
                <a:sym typeface="Symbol" panose="05050102010706020507" pitchFamily="18" charset="2"/>
              </a:rPr>
              <a:t>		&lt;</a:t>
            </a:r>
            <a:r>
              <a:rPr lang="fr-FR" altLang="en-US" dirty="0" err="1">
                <a:sym typeface="Symbol" panose="05050102010706020507" pitchFamily="18" charset="2"/>
              </a:rPr>
              <a:t>Danh</a:t>
            </a:r>
            <a:r>
              <a:rPr lang="fr-FR" altLang="en-US" dirty="0">
                <a:sym typeface="Symbol" panose="05050102010706020507" pitchFamily="18" charset="2"/>
              </a:rPr>
              <a:t> </a:t>
            </a:r>
            <a:r>
              <a:rPr lang="fr-FR" altLang="en-US" dirty="0" err="1">
                <a:sym typeface="Symbol" panose="05050102010706020507" pitchFamily="18" charset="2"/>
              </a:rPr>
              <a:t>từ</a:t>
            </a:r>
            <a:r>
              <a:rPr lang="fr-FR" altLang="en-US" dirty="0">
                <a:sym typeface="Symbol" panose="05050102010706020507" pitchFamily="18" charset="2"/>
              </a:rPr>
              <a:t>&gt;  « </a:t>
            </a:r>
            <a:r>
              <a:rPr lang="fr-FR" altLang="en-US" dirty="0" err="1">
                <a:sym typeface="Symbol" panose="05050102010706020507" pitchFamily="18" charset="2"/>
              </a:rPr>
              <a:t>Bò</a:t>
            </a:r>
            <a:r>
              <a:rPr lang="fr-FR" altLang="en-US" dirty="0">
                <a:sym typeface="Symbol" panose="05050102010706020507" pitchFamily="18" charset="2"/>
              </a:rPr>
              <a:t> »|   « </a:t>
            </a:r>
            <a:r>
              <a:rPr lang="fr-FR" altLang="en-US" dirty="0" err="1">
                <a:sym typeface="Symbol" panose="05050102010706020507" pitchFamily="18" charset="2"/>
              </a:rPr>
              <a:t>Cỏ</a:t>
            </a:r>
            <a:r>
              <a:rPr lang="fr-FR" altLang="en-US" dirty="0">
                <a:sym typeface="Symbol" panose="05050102010706020507" pitchFamily="18" charset="2"/>
              </a:rPr>
              <a:t> »|</a:t>
            </a:r>
          </a:p>
          <a:p>
            <a:pPr marL="682625" lvl="1" indent="-450850" algn="just" eaLnBrk="1" hangingPunct="1">
              <a:lnSpc>
                <a:spcPct val="105000"/>
              </a:lnSpc>
              <a:buFontTx/>
              <a:buNone/>
            </a:pPr>
            <a:r>
              <a:rPr lang="fr-FR" altLang="en-US" dirty="0">
                <a:sym typeface="Symbol" panose="05050102010706020507" pitchFamily="18" charset="2"/>
              </a:rPr>
              <a:t>		&lt;</a:t>
            </a:r>
            <a:r>
              <a:rPr lang="fr-FR" altLang="en-US" dirty="0" err="1">
                <a:sym typeface="Symbol" panose="05050102010706020507" pitchFamily="18" charset="2"/>
              </a:rPr>
              <a:t>Tính</a:t>
            </a:r>
            <a:r>
              <a:rPr lang="fr-FR" altLang="en-US" dirty="0">
                <a:sym typeface="Symbol" panose="05050102010706020507" pitchFamily="18" charset="2"/>
              </a:rPr>
              <a:t> </a:t>
            </a:r>
            <a:r>
              <a:rPr lang="fr-FR" altLang="en-US" dirty="0" err="1">
                <a:sym typeface="Symbol" panose="05050102010706020507" pitchFamily="18" charset="2"/>
              </a:rPr>
              <a:t>từ</a:t>
            </a:r>
            <a:r>
              <a:rPr lang="fr-FR" altLang="en-US" dirty="0">
                <a:sym typeface="Symbol" panose="05050102010706020507" pitchFamily="18" charset="2"/>
              </a:rPr>
              <a:t>&gt;	 « </a:t>
            </a:r>
            <a:r>
              <a:rPr lang="fr-FR" altLang="en-US" dirty="0" err="1">
                <a:sym typeface="Symbol" panose="05050102010706020507" pitchFamily="18" charset="2"/>
              </a:rPr>
              <a:t>Vàng</a:t>
            </a:r>
            <a:r>
              <a:rPr lang="fr-FR" altLang="en-US" dirty="0">
                <a:sym typeface="Symbol" panose="05050102010706020507" pitchFamily="18" charset="2"/>
              </a:rPr>
              <a:t> »| « Non »</a:t>
            </a:r>
          </a:p>
          <a:p>
            <a:pPr marL="682625" lvl="1" indent="-450850" algn="just" eaLnBrk="1" hangingPunct="1">
              <a:lnSpc>
                <a:spcPct val="105000"/>
              </a:lnSpc>
              <a:buFontTx/>
              <a:buNone/>
            </a:pPr>
            <a:r>
              <a:rPr lang="fr-FR" altLang="en-US" dirty="0">
                <a:sym typeface="Symbol" panose="05050102010706020507" pitchFamily="18" charset="2"/>
              </a:rPr>
              <a:t>		&lt;</a:t>
            </a:r>
            <a:r>
              <a:rPr lang="fr-FR" altLang="en-US" dirty="0" err="1">
                <a:sym typeface="Symbol" panose="05050102010706020507" pitchFamily="18" charset="2"/>
              </a:rPr>
              <a:t>Động</a:t>
            </a:r>
            <a:r>
              <a:rPr lang="fr-FR" altLang="en-US" dirty="0">
                <a:sym typeface="Symbol" panose="05050102010706020507" pitchFamily="18" charset="2"/>
              </a:rPr>
              <a:t> </a:t>
            </a:r>
            <a:r>
              <a:rPr lang="fr-FR" altLang="en-US" dirty="0" err="1">
                <a:sym typeface="Symbol" panose="05050102010706020507" pitchFamily="18" charset="2"/>
              </a:rPr>
              <a:t>từ</a:t>
            </a:r>
            <a:r>
              <a:rPr lang="fr-FR" altLang="en-US" dirty="0">
                <a:sym typeface="Symbol" panose="05050102010706020507" pitchFamily="18" charset="2"/>
              </a:rPr>
              <a:t>&gt;   «  </a:t>
            </a:r>
            <a:r>
              <a:rPr lang="fr-FR" altLang="en-US" dirty="0" err="1">
                <a:sym typeface="Symbol" panose="05050102010706020507" pitchFamily="18" charset="2"/>
              </a:rPr>
              <a:t>gặm</a:t>
            </a:r>
            <a:r>
              <a:rPr lang="fr-FR" altLang="en-US" dirty="0">
                <a:sym typeface="Symbol" panose="05050102010706020507" pitchFamily="18" charset="2"/>
              </a:rPr>
              <a:t>» }</a:t>
            </a:r>
          </a:p>
          <a:p>
            <a:pPr marL="682625" lvl="1" indent="-450850" algn="just" eaLnBrk="1" hangingPunct="1">
              <a:lnSpc>
                <a:spcPct val="105000"/>
              </a:lnSpc>
              <a:buFontTx/>
              <a:buNone/>
            </a:pPr>
            <a:endParaRPr lang="fr-FR" altLang="en-US" dirty="0">
              <a:sym typeface="Symbol" panose="05050102010706020507" pitchFamily="18" charset="2"/>
            </a:endParaRPr>
          </a:p>
        </p:txBody>
      </p:sp>
      <p:sp>
        <p:nvSpPr>
          <p:cNvPr id="8197"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1. Giới thiệu</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C2E962A7-5997-4A50-80EF-1BF12B578813}" type="slidenum">
              <a:rPr lang="en-US" altLang="en-US" sz="1400" b="0"/>
              <a:pPr/>
              <a:t>4</a:t>
            </a:fld>
            <a:endParaRPr lang="en-US" altLang="en-US" sz="1400" b="0"/>
          </a:p>
        </p:txBody>
      </p:sp>
      <p:sp>
        <p:nvSpPr>
          <p:cNvPr id="9219" name="Rectangle 2"/>
          <p:cNvSpPr>
            <a:spLocks noGrp="1" noChangeArrowheads="1"/>
          </p:cNvSpPr>
          <p:nvPr>
            <p:ph type="title"/>
          </p:nvPr>
        </p:nvSpPr>
        <p:spPr/>
        <p:txBody>
          <a:bodyPr/>
          <a:lstStyle/>
          <a:p>
            <a:pPr eaLnBrk="1" hangingPunct="1"/>
            <a:r>
              <a:rPr lang="en-US" altLang="en-US"/>
              <a:t>Ví dụ 1</a:t>
            </a:r>
          </a:p>
        </p:txBody>
      </p:sp>
      <p:sp>
        <p:nvSpPr>
          <p:cNvPr id="9220" name="Rectangle 3"/>
          <p:cNvSpPr>
            <a:spLocks noGrp="1" noChangeArrowheads="1"/>
          </p:cNvSpPr>
          <p:nvPr>
            <p:ph type="body" idx="1"/>
          </p:nvPr>
        </p:nvSpPr>
        <p:spPr>
          <a:xfrm>
            <a:off x="142875" y="914400"/>
            <a:ext cx="8813800" cy="4619625"/>
          </a:xfrm>
        </p:spPr>
        <p:txBody>
          <a:bodyPr/>
          <a:lstStyle/>
          <a:p>
            <a:pPr marL="0" indent="0" algn="just" eaLnBrk="1" hangingPunct="1">
              <a:lnSpc>
                <a:spcPct val="105000"/>
              </a:lnSpc>
              <a:buFontTx/>
              <a:buNone/>
            </a:pPr>
            <a:r>
              <a:rPr lang="en-US" altLang="en-US"/>
              <a:t>L(G) =</a:t>
            </a:r>
          </a:p>
          <a:p>
            <a:pPr marL="0" indent="0" algn="just" eaLnBrk="1" hangingPunct="1">
              <a:lnSpc>
                <a:spcPct val="105000"/>
              </a:lnSpc>
              <a:buFontTx/>
              <a:buNone/>
            </a:pPr>
            <a:r>
              <a:rPr lang="fr-FR" altLang="en-US"/>
              <a:t>	« Bò vàng gặm cỏ non »</a:t>
            </a:r>
          </a:p>
          <a:p>
            <a:pPr marL="0" indent="0" algn="just" eaLnBrk="1" hangingPunct="1">
              <a:lnSpc>
                <a:spcPct val="105000"/>
              </a:lnSpc>
              <a:buFontTx/>
              <a:buNone/>
            </a:pPr>
            <a:r>
              <a:rPr lang="fr-FR" altLang="en-US"/>
              <a:t>	« Bò vàng gặm cỏ vàng »</a:t>
            </a:r>
            <a:endParaRPr lang="fr-FR" altLang="en-US">
              <a:sym typeface="Symbol" panose="05050102010706020507" pitchFamily="18" charset="2"/>
            </a:endParaRPr>
          </a:p>
          <a:p>
            <a:pPr marL="0" indent="0" algn="just" eaLnBrk="1" hangingPunct="1">
              <a:lnSpc>
                <a:spcPct val="105000"/>
              </a:lnSpc>
              <a:buFontTx/>
              <a:buNone/>
            </a:pPr>
            <a:r>
              <a:rPr lang="fr-FR" altLang="en-US">
                <a:sym typeface="Symbol" panose="05050102010706020507" pitchFamily="18" charset="2"/>
              </a:rPr>
              <a:t>	</a:t>
            </a:r>
            <a:r>
              <a:rPr lang="fr-FR" altLang="en-US"/>
              <a:t>« Bò non gặm cỏ non »</a:t>
            </a:r>
            <a:endParaRPr lang="fr-FR" altLang="en-US">
              <a:sym typeface="Symbol" panose="05050102010706020507" pitchFamily="18" charset="2"/>
            </a:endParaRPr>
          </a:p>
          <a:p>
            <a:pPr marL="0" indent="0" algn="just" eaLnBrk="1" hangingPunct="1">
              <a:lnSpc>
                <a:spcPct val="105000"/>
              </a:lnSpc>
              <a:buFontTx/>
              <a:buNone/>
            </a:pPr>
            <a:r>
              <a:rPr lang="fr-FR" altLang="en-US">
                <a:sym typeface="Symbol" panose="05050102010706020507" pitchFamily="18" charset="2"/>
              </a:rPr>
              <a:t>	</a:t>
            </a:r>
            <a:r>
              <a:rPr lang="fr-FR" altLang="en-US"/>
              <a:t>« </a:t>
            </a:r>
            <a:r>
              <a:rPr lang="fr-FR" altLang="en-US">
                <a:solidFill>
                  <a:srgbClr val="FA0617"/>
                </a:solidFill>
              </a:rPr>
              <a:t>Bò vàng gặm bò non »</a:t>
            </a:r>
            <a:endParaRPr lang="fr-FR" altLang="en-US">
              <a:solidFill>
                <a:srgbClr val="FA0617"/>
              </a:solidFill>
              <a:sym typeface="Symbol" panose="05050102010706020507" pitchFamily="18" charset="2"/>
            </a:endParaRPr>
          </a:p>
          <a:p>
            <a:pPr marL="0" indent="0" algn="just" eaLnBrk="1" hangingPunct="1">
              <a:lnSpc>
                <a:spcPct val="105000"/>
              </a:lnSpc>
              <a:buFontTx/>
              <a:buNone/>
            </a:pPr>
            <a:r>
              <a:rPr lang="fr-FR" altLang="en-US">
                <a:solidFill>
                  <a:srgbClr val="FA0617"/>
                </a:solidFill>
                <a:sym typeface="Symbol" panose="05050102010706020507" pitchFamily="18" charset="2"/>
              </a:rPr>
              <a:t>	</a:t>
            </a:r>
            <a:r>
              <a:rPr lang="fr-FR" altLang="en-US">
                <a:solidFill>
                  <a:srgbClr val="FA0617"/>
                </a:solidFill>
              </a:rPr>
              <a:t>« Cỏ non gặm bò vàng »</a:t>
            </a:r>
            <a:endParaRPr lang="fr-FR" altLang="en-US">
              <a:solidFill>
                <a:srgbClr val="FA0617"/>
              </a:solidFill>
              <a:sym typeface="Symbol" panose="05050102010706020507" pitchFamily="18" charset="2"/>
            </a:endParaRPr>
          </a:p>
          <a:p>
            <a:pPr marL="0" indent="0" algn="just" eaLnBrk="1" hangingPunct="1">
              <a:lnSpc>
                <a:spcPct val="105000"/>
              </a:lnSpc>
              <a:buFontTx/>
              <a:buNone/>
            </a:pPr>
            <a:r>
              <a:rPr lang="fr-FR" altLang="en-US">
                <a:sym typeface="Symbol" panose="05050102010706020507" pitchFamily="18" charset="2"/>
              </a:rPr>
              <a:t>	…..</a:t>
            </a:r>
          </a:p>
        </p:txBody>
      </p:sp>
      <p:sp>
        <p:nvSpPr>
          <p:cNvPr id="9221"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1. Giới thiệu</a:t>
            </a:r>
          </a:p>
        </p:txBody>
      </p:sp>
      <p:grpSp>
        <p:nvGrpSpPr>
          <p:cNvPr id="1678343" name="Group 7"/>
          <p:cNvGrpSpPr>
            <a:grpSpLocks/>
          </p:cNvGrpSpPr>
          <p:nvPr/>
        </p:nvGrpSpPr>
        <p:grpSpPr bwMode="auto">
          <a:xfrm>
            <a:off x="5791200" y="1490663"/>
            <a:ext cx="3124200" cy="3381375"/>
            <a:chOff x="3648" y="912"/>
            <a:chExt cx="1968" cy="2130"/>
          </a:xfrm>
        </p:grpSpPr>
        <p:sp>
          <p:nvSpPr>
            <p:cNvPr id="9223" name="AutoShape 5"/>
            <p:cNvSpPr>
              <a:spLocks/>
            </p:cNvSpPr>
            <p:nvPr/>
          </p:nvSpPr>
          <p:spPr bwMode="auto">
            <a:xfrm>
              <a:off x="3648" y="1056"/>
              <a:ext cx="240" cy="1728"/>
            </a:xfrm>
            <a:prstGeom prst="rightBrace">
              <a:avLst>
                <a:gd name="adj1" fmla="val 6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9224" name="Text Box 6"/>
            <p:cNvSpPr txBox="1">
              <a:spLocks noChangeArrowheads="1"/>
            </p:cNvSpPr>
            <p:nvPr/>
          </p:nvSpPr>
          <p:spPr bwMode="auto">
            <a:xfrm>
              <a:off x="3888" y="912"/>
              <a:ext cx="1728" cy="2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lnSpc>
                  <a:spcPct val="110000"/>
                </a:lnSpc>
                <a:spcBef>
                  <a:spcPct val="50000"/>
                </a:spcBef>
              </a:pPr>
              <a:r>
                <a:rPr lang="fr-FR" altLang="en-US" sz="2800" b="0">
                  <a:solidFill>
                    <a:srgbClr val="270076"/>
                  </a:solidFill>
                </a:rPr>
                <a:t>Các câu đều đúng ngữ pháp, nhưng không phải câu nào cũng đúng ngữ nghĩa (có ý nghĩa)</a:t>
              </a:r>
              <a:endParaRPr lang="en-US" altLang="en-US" sz="2800" b="0">
                <a:solidFill>
                  <a:srgbClr val="270076"/>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678343"/>
                                        </p:tgtEl>
                                        <p:attrNameLst>
                                          <p:attrName>style.visibility</p:attrName>
                                        </p:attrNameLst>
                                      </p:cBhvr>
                                      <p:to>
                                        <p:strVal val="visible"/>
                                      </p:to>
                                    </p:set>
                                    <p:anim calcmode="lin" valueType="num">
                                      <p:cBhvr additive="base">
                                        <p:cTn id="7" dur="500" fill="hold"/>
                                        <p:tgtEl>
                                          <p:spTgt spid="1678343"/>
                                        </p:tgtEl>
                                        <p:attrNameLst>
                                          <p:attrName>ppt_x</p:attrName>
                                        </p:attrNameLst>
                                      </p:cBhvr>
                                      <p:tavLst>
                                        <p:tav tm="0">
                                          <p:val>
                                            <p:strVal val="1+#ppt_w/2"/>
                                          </p:val>
                                        </p:tav>
                                        <p:tav tm="100000">
                                          <p:val>
                                            <p:strVal val="#ppt_x"/>
                                          </p:val>
                                        </p:tav>
                                      </p:tavLst>
                                    </p:anim>
                                    <p:anim calcmode="lin" valueType="num">
                                      <p:cBhvr additive="base">
                                        <p:cTn id="8" dur="500" fill="hold"/>
                                        <p:tgtEl>
                                          <p:spTgt spid="16783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96ACCF8F-B27E-438E-9ABD-AD40D55226C3}" type="slidenum">
              <a:rPr lang="en-US" altLang="en-US" sz="1400" b="0"/>
              <a:pPr/>
              <a:t>5</a:t>
            </a:fld>
            <a:endParaRPr lang="en-US" altLang="en-US" sz="1400" b="0"/>
          </a:p>
        </p:txBody>
      </p:sp>
      <p:grpSp>
        <p:nvGrpSpPr>
          <p:cNvPr id="1679373" name="Group 13"/>
          <p:cNvGrpSpPr>
            <a:grpSpLocks/>
          </p:cNvGrpSpPr>
          <p:nvPr/>
        </p:nvGrpSpPr>
        <p:grpSpPr bwMode="auto">
          <a:xfrm>
            <a:off x="214313" y="2147888"/>
            <a:ext cx="6034087" cy="4100512"/>
            <a:chOff x="135" y="1353"/>
            <a:chExt cx="3801" cy="2583"/>
          </a:xfrm>
        </p:grpSpPr>
        <p:sp>
          <p:nvSpPr>
            <p:cNvPr id="10251" name="Oval 7"/>
            <p:cNvSpPr>
              <a:spLocks noChangeArrowheads="1"/>
            </p:cNvSpPr>
            <p:nvPr/>
          </p:nvSpPr>
          <p:spPr bwMode="auto">
            <a:xfrm>
              <a:off x="135" y="1353"/>
              <a:ext cx="1584" cy="384"/>
            </a:xfrm>
            <a:prstGeom prst="ellipse">
              <a:avLst/>
            </a:prstGeom>
            <a:solidFill>
              <a:schemeClr val="accent1"/>
            </a:solidFill>
            <a:ln w="9525">
              <a:solidFill>
                <a:srgbClr val="FA0617"/>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10252" name="Text Box 9"/>
            <p:cNvSpPr txBox="1">
              <a:spLocks noChangeArrowheads="1"/>
            </p:cNvSpPr>
            <p:nvPr/>
          </p:nvSpPr>
          <p:spPr bwMode="auto">
            <a:xfrm>
              <a:off x="336" y="3648"/>
              <a:ext cx="36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2400" b="0">
                  <a:solidFill>
                    <a:schemeClr val="accent2"/>
                  </a:solidFill>
                </a:rPr>
                <a:t>Sử dụng sai ý nghĩa ban đầu (Hằng số)</a:t>
              </a:r>
              <a:endParaRPr lang="en-US" altLang="en-US" sz="2400" b="0">
                <a:solidFill>
                  <a:schemeClr val="accent2"/>
                </a:solidFill>
              </a:endParaRPr>
            </a:p>
          </p:txBody>
        </p:sp>
        <p:sp>
          <p:nvSpPr>
            <p:cNvPr id="10253" name="Line 11"/>
            <p:cNvSpPr>
              <a:spLocks noChangeShapeType="1"/>
            </p:cNvSpPr>
            <p:nvPr/>
          </p:nvSpPr>
          <p:spPr bwMode="auto">
            <a:xfrm>
              <a:off x="1008" y="1728"/>
              <a:ext cx="768" cy="192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4" name="Line 12"/>
            <p:cNvSpPr>
              <a:spLocks noChangeShapeType="1"/>
            </p:cNvSpPr>
            <p:nvPr/>
          </p:nvSpPr>
          <p:spPr bwMode="auto">
            <a:xfrm flipV="1">
              <a:off x="1776" y="3120"/>
              <a:ext cx="672"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679370" name="Group 10"/>
          <p:cNvGrpSpPr>
            <a:grpSpLocks/>
          </p:cNvGrpSpPr>
          <p:nvPr/>
        </p:nvGrpSpPr>
        <p:grpSpPr bwMode="auto">
          <a:xfrm>
            <a:off x="3629025" y="4391025"/>
            <a:ext cx="5362575" cy="1019175"/>
            <a:chOff x="2286" y="2766"/>
            <a:chExt cx="3378" cy="642"/>
          </a:xfrm>
        </p:grpSpPr>
        <p:sp>
          <p:nvSpPr>
            <p:cNvPr id="10249" name="Oval 6"/>
            <p:cNvSpPr>
              <a:spLocks noChangeArrowheads="1"/>
            </p:cNvSpPr>
            <p:nvPr/>
          </p:nvSpPr>
          <p:spPr bwMode="auto">
            <a:xfrm>
              <a:off x="2286" y="2766"/>
              <a:ext cx="912" cy="384"/>
            </a:xfrm>
            <a:prstGeom prst="ellipse">
              <a:avLst/>
            </a:prstGeom>
            <a:solidFill>
              <a:schemeClr val="accent1"/>
            </a:solidFill>
            <a:ln w="9525">
              <a:solidFill>
                <a:srgbClr val="FA0617"/>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10250" name="Text Box 8"/>
            <p:cNvSpPr txBox="1">
              <a:spLocks noChangeArrowheads="1"/>
            </p:cNvSpPr>
            <p:nvPr/>
          </p:nvSpPr>
          <p:spPr bwMode="auto">
            <a:xfrm>
              <a:off x="2640" y="3120"/>
              <a:ext cx="30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2400" b="0">
                  <a:solidFill>
                    <a:schemeClr val="accent2"/>
                  </a:solidFill>
                </a:rPr>
                <a:t>Hoàn toàn đúng cú pháp của KPL</a:t>
              </a:r>
            </a:p>
          </p:txBody>
        </p:sp>
      </p:grpSp>
      <p:sp>
        <p:nvSpPr>
          <p:cNvPr id="10245" name="Rectangle 2"/>
          <p:cNvSpPr>
            <a:spLocks noGrp="1" noChangeArrowheads="1"/>
          </p:cNvSpPr>
          <p:nvPr>
            <p:ph type="title"/>
          </p:nvPr>
        </p:nvSpPr>
        <p:spPr/>
        <p:txBody>
          <a:bodyPr/>
          <a:lstStyle/>
          <a:p>
            <a:pPr eaLnBrk="1" hangingPunct="1"/>
            <a:r>
              <a:rPr lang="en-US" altLang="en-US"/>
              <a:t>Ví dụ 2</a:t>
            </a:r>
          </a:p>
        </p:txBody>
      </p:sp>
      <p:sp>
        <p:nvSpPr>
          <p:cNvPr id="10246" name="Rectangle 3"/>
          <p:cNvSpPr>
            <a:spLocks noGrp="1" noChangeArrowheads="1"/>
          </p:cNvSpPr>
          <p:nvPr>
            <p:ph type="body" idx="1"/>
          </p:nvPr>
        </p:nvSpPr>
        <p:spPr>
          <a:xfrm>
            <a:off x="228600" y="1676400"/>
            <a:ext cx="2971800" cy="2667000"/>
          </a:xfrm>
          <a:ln>
            <a:solidFill>
              <a:schemeClr val="accent2"/>
            </a:solidFill>
            <a:miter lim="800000"/>
            <a:headEnd/>
            <a:tailEnd/>
          </a:ln>
        </p:spPr>
        <p:txBody>
          <a:bodyPr/>
          <a:lstStyle/>
          <a:p>
            <a:pPr marL="0" indent="0" eaLnBrk="1" hangingPunct="1">
              <a:lnSpc>
                <a:spcPct val="90000"/>
              </a:lnSpc>
              <a:buFontTx/>
              <a:buNone/>
            </a:pPr>
            <a:r>
              <a:rPr lang="en-US" altLang="en-US">
                <a:sym typeface="Symbol" panose="05050102010706020507" pitchFamily="18" charset="2"/>
              </a:rPr>
              <a:t>Program Toto; </a:t>
            </a:r>
          </a:p>
          <a:p>
            <a:pPr marL="0" indent="0" eaLnBrk="1" hangingPunct="1">
              <a:lnSpc>
                <a:spcPct val="90000"/>
              </a:lnSpc>
              <a:buFontTx/>
              <a:buNone/>
            </a:pPr>
            <a:r>
              <a:rPr lang="en-US" altLang="en-US">
                <a:sym typeface="Symbol" panose="05050102010706020507" pitchFamily="18" charset="2"/>
              </a:rPr>
              <a:t>Const N = 0;</a:t>
            </a:r>
          </a:p>
          <a:p>
            <a:pPr marL="0" indent="0" eaLnBrk="1" hangingPunct="1">
              <a:lnSpc>
                <a:spcPct val="90000"/>
              </a:lnSpc>
              <a:buFontTx/>
              <a:buNone/>
            </a:pPr>
            <a:r>
              <a:rPr lang="en-US" altLang="en-US">
                <a:sym typeface="Symbol" panose="05050102010706020507" pitchFamily="18" charset="2"/>
              </a:rPr>
              <a:t>Begin</a:t>
            </a:r>
          </a:p>
          <a:p>
            <a:pPr marL="0" indent="0" eaLnBrk="1" hangingPunct="1">
              <a:lnSpc>
                <a:spcPct val="90000"/>
              </a:lnSpc>
              <a:buFontTx/>
              <a:buNone/>
            </a:pPr>
            <a:r>
              <a:rPr lang="en-US" altLang="en-US">
                <a:sym typeface="Symbol" panose="05050102010706020507" pitchFamily="18" charset="2"/>
              </a:rPr>
              <a:t>	</a:t>
            </a:r>
            <a:r>
              <a:rPr lang="en-US" altLang="en-US" b="1">
                <a:solidFill>
                  <a:schemeClr val="accent2"/>
                </a:solidFill>
                <a:sym typeface="Symbol" panose="05050102010706020507" pitchFamily="18" charset="2"/>
              </a:rPr>
              <a:t>N :=10</a:t>
            </a:r>
            <a:r>
              <a:rPr lang="en-US" altLang="en-US">
                <a:sym typeface="Symbol" panose="05050102010706020507" pitchFamily="18" charset="2"/>
              </a:rPr>
              <a:t>;</a:t>
            </a:r>
          </a:p>
          <a:p>
            <a:pPr marL="0" indent="0" eaLnBrk="1" hangingPunct="1">
              <a:lnSpc>
                <a:spcPct val="90000"/>
              </a:lnSpc>
              <a:buFontTx/>
              <a:buNone/>
            </a:pPr>
            <a:r>
              <a:rPr lang="en-US" altLang="en-US">
                <a:sym typeface="Symbol" panose="05050102010706020507" pitchFamily="18" charset="2"/>
              </a:rPr>
              <a:t>End.</a:t>
            </a:r>
            <a:r>
              <a:rPr lang="en-US" altLang="en-US" sz="3600">
                <a:sym typeface="Symbol" panose="05050102010706020507" pitchFamily="18" charset="2"/>
              </a:rPr>
              <a:t> </a:t>
            </a:r>
            <a:endParaRPr lang="fr-FR" altLang="en-US" sz="3600">
              <a:sym typeface="Symbol" panose="05050102010706020507" pitchFamily="18" charset="2"/>
            </a:endParaRPr>
          </a:p>
        </p:txBody>
      </p:sp>
      <p:sp>
        <p:nvSpPr>
          <p:cNvPr id="10247"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1. Giới thiệu</a:t>
            </a:r>
          </a:p>
        </p:txBody>
      </p:sp>
      <p:sp>
        <p:nvSpPr>
          <p:cNvPr id="1679365" name="Rectangle 5"/>
          <p:cNvSpPr>
            <a:spLocks noChangeArrowheads="1"/>
          </p:cNvSpPr>
          <p:nvPr/>
        </p:nvSpPr>
        <p:spPr bwMode="auto">
          <a:xfrm>
            <a:off x="3124200" y="990600"/>
            <a:ext cx="5562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rgbClr val="270076"/>
                </a:solidFill>
                <a:latin typeface="Arial" panose="020B0604020202020204" pitchFamily="34" charset="0"/>
              </a:defRPr>
            </a:lvl1pPr>
            <a:lvl2pPr marL="682625" indent="-450850">
              <a:spcBef>
                <a:spcPct val="20000"/>
              </a:spcBef>
              <a:buChar char="–"/>
              <a:defRPr sz="2800">
                <a:solidFill>
                  <a:srgbClr val="270076"/>
                </a:solidFill>
                <a:latin typeface="Arial" panose="020B0604020202020204" pitchFamily="34" charset="0"/>
              </a:defRPr>
            </a:lvl2pPr>
            <a:lvl3pPr marL="1485900" indent="-457200">
              <a:spcBef>
                <a:spcPct val="20000"/>
              </a:spcBef>
              <a:buChar char="•"/>
              <a:defRPr sz="2400">
                <a:solidFill>
                  <a:srgbClr val="270076"/>
                </a:solidFill>
                <a:latin typeface="Arial" panose="020B0604020202020204" pitchFamily="34" charset="0"/>
              </a:defRPr>
            </a:lvl3pPr>
            <a:lvl4pPr marL="1752600" indent="-381000">
              <a:spcBef>
                <a:spcPct val="20000"/>
              </a:spcBef>
              <a:buChar char="–"/>
              <a:defRPr sz="2000">
                <a:solidFill>
                  <a:srgbClr val="270076"/>
                </a:solidFill>
                <a:latin typeface="Arial" panose="020B0604020202020204" pitchFamily="34" charset="0"/>
              </a:defRPr>
            </a:lvl4pPr>
            <a:lvl5pPr marL="2244725" indent="-381000">
              <a:spcBef>
                <a:spcPct val="20000"/>
              </a:spcBef>
              <a:buChar char="»"/>
              <a:defRPr sz="2000">
                <a:solidFill>
                  <a:srgbClr val="270076"/>
                </a:solidFill>
                <a:latin typeface="Arial" panose="020B0604020202020204" pitchFamily="34" charset="0"/>
              </a:defRPr>
            </a:lvl5pPr>
            <a:lvl6pPr marL="2701925" indent="-381000" eaLnBrk="0" fontAlgn="base" hangingPunct="0">
              <a:spcBef>
                <a:spcPct val="20000"/>
              </a:spcBef>
              <a:spcAft>
                <a:spcPct val="0"/>
              </a:spcAft>
              <a:buChar char="»"/>
              <a:defRPr sz="2000">
                <a:solidFill>
                  <a:srgbClr val="270076"/>
                </a:solidFill>
                <a:latin typeface="Arial" panose="020B0604020202020204" pitchFamily="34" charset="0"/>
              </a:defRPr>
            </a:lvl6pPr>
            <a:lvl7pPr marL="3159125" indent="-381000" eaLnBrk="0" fontAlgn="base" hangingPunct="0">
              <a:spcBef>
                <a:spcPct val="20000"/>
              </a:spcBef>
              <a:spcAft>
                <a:spcPct val="0"/>
              </a:spcAft>
              <a:buChar char="»"/>
              <a:defRPr sz="2000">
                <a:solidFill>
                  <a:srgbClr val="270076"/>
                </a:solidFill>
                <a:latin typeface="Arial" panose="020B0604020202020204" pitchFamily="34" charset="0"/>
              </a:defRPr>
            </a:lvl7pPr>
            <a:lvl8pPr marL="3616325" indent="-381000" eaLnBrk="0" fontAlgn="base" hangingPunct="0">
              <a:spcBef>
                <a:spcPct val="20000"/>
              </a:spcBef>
              <a:spcAft>
                <a:spcPct val="0"/>
              </a:spcAft>
              <a:buChar char="»"/>
              <a:defRPr sz="2000">
                <a:solidFill>
                  <a:srgbClr val="270076"/>
                </a:solidFill>
                <a:latin typeface="Arial" panose="020B0604020202020204" pitchFamily="34" charset="0"/>
              </a:defRPr>
            </a:lvl8pPr>
            <a:lvl9pPr marL="4073525" indent="-381000" eaLnBrk="0" fontAlgn="base" hangingPunct="0">
              <a:spcBef>
                <a:spcPct val="20000"/>
              </a:spcBef>
              <a:spcAft>
                <a:spcPct val="0"/>
              </a:spcAft>
              <a:buChar char="»"/>
              <a:defRPr sz="2000">
                <a:solidFill>
                  <a:srgbClr val="270076"/>
                </a:solidFill>
                <a:latin typeface="Arial" panose="020B0604020202020204" pitchFamily="34" charset="0"/>
              </a:defRPr>
            </a:lvl9pPr>
          </a:lstStyle>
          <a:p>
            <a:pPr eaLnBrk="1" hangingPunct="1">
              <a:lnSpc>
                <a:spcPct val="90000"/>
              </a:lnSpc>
              <a:buFontTx/>
              <a:buNone/>
            </a:pPr>
            <a:r>
              <a:rPr lang="fr-FR" altLang="en-US" sz="2400" b="0">
                <a:sym typeface="Symbol" panose="05050102010706020507" pitchFamily="18" charset="2"/>
              </a:rPr>
              <a:t>&lt;Statement&gt; </a:t>
            </a:r>
          </a:p>
          <a:p>
            <a:pPr lvl="1" eaLnBrk="1" hangingPunct="1">
              <a:lnSpc>
                <a:spcPct val="90000"/>
              </a:lnSpc>
              <a:buFontTx/>
              <a:buNone/>
            </a:pPr>
            <a:r>
              <a:rPr lang="fr-FR" altLang="en-US" sz="2400" b="0">
                <a:sym typeface="Symbol" panose="05050102010706020507" pitchFamily="18" charset="2"/>
              </a:rPr>
              <a:t> </a:t>
            </a:r>
            <a:r>
              <a:rPr lang="en-US" altLang="en-US" sz="2400" b="0">
                <a:sym typeface="Symbol" panose="05050102010706020507" pitchFamily="18" charset="2"/>
              </a:rPr>
              <a:t>&lt;Variable&gt; := &lt;Expression&gt; </a:t>
            </a:r>
          </a:p>
          <a:p>
            <a:pPr lvl="1" eaLnBrk="1" hangingPunct="1">
              <a:buFont typeface="Symbol" panose="05050102010706020507" pitchFamily="18" charset="2"/>
              <a:buNone/>
            </a:pPr>
            <a:r>
              <a:rPr lang="fr-FR" altLang="en-US" sz="2400" b="0">
                <a:sym typeface="Symbol" panose="05050102010706020507" pitchFamily="18" charset="2"/>
              </a:rPr>
              <a:t></a:t>
            </a:r>
            <a:r>
              <a:rPr lang="en-US" altLang="en-US" sz="2400" b="0">
                <a:sym typeface="Symbol" panose="05050102010706020507" pitchFamily="18" charset="2"/>
              </a:rPr>
              <a:t> &lt;Variableidentifier&gt;:=&lt;Expression&gt;</a:t>
            </a:r>
          </a:p>
          <a:p>
            <a:pPr lvl="1" eaLnBrk="1" hangingPunct="1">
              <a:buFont typeface="Symbol" panose="05050102010706020507" pitchFamily="18" charset="2"/>
              <a:buNone/>
            </a:pPr>
            <a:r>
              <a:rPr lang="fr-FR" altLang="en-US" sz="2400" b="0">
                <a:sym typeface="Symbol" panose="05050102010706020507" pitchFamily="18" charset="2"/>
              </a:rPr>
              <a:t></a:t>
            </a:r>
            <a:r>
              <a:rPr lang="en-US" altLang="en-US" sz="2400" b="0">
                <a:sym typeface="Symbol" panose="05050102010706020507" pitchFamily="18" charset="2"/>
              </a:rPr>
              <a:t> N:= &lt;Expression&gt; </a:t>
            </a:r>
          </a:p>
          <a:p>
            <a:pPr lvl="1" eaLnBrk="1" hangingPunct="1">
              <a:buFont typeface="Symbol" panose="05050102010706020507" pitchFamily="18" charset="2"/>
              <a:buNone/>
            </a:pPr>
            <a:r>
              <a:rPr lang="fr-FR" altLang="en-US" sz="2400" b="0">
                <a:sym typeface="Symbol" panose="05050102010706020507" pitchFamily="18" charset="2"/>
              </a:rPr>
              <a:t></a:t>
            </a:r>
            <a:r>
              <a:rPr lang="en-US" altLang="en-US" sz="2400" b="0">
                <a:sym typeface="Symbol" panose="05050102010706020507" pitchFamily="18" charset="2"/>
              </a:rPr>
              <a:t> N:=&lt;Term&gt; </a:t>
            </a:r>
          </a:p>
          <a:p>
            <a:pPr lvl="1" eaLnBrk="1" hangingPunct="1">
              <a:buFont typeface="Symbol" panose="05050102010706020507" pitchFamily="18" charset="2"/>
              <a:buNone/>
            </a:pPr>
            <a:r>
              <a:rPr lang="fr-FR" altLang="en-US" sz="2400" b="0">
                <a:sym typeface="Symbol" panose="05050102010706020507" pitchFamily="18" charset="2"/>
              </a:rPr>
              <a:t></a:t>
            </a:r>
            <a:r>
              <a:rPr lang="en-US" altLang="en-US" sz="2400" b="0">
                <a:sym typeface="Symbol" panose="05050102010706020507" pitchFamily="18" charset="2"/>
              </a:rPr>
              <a:t> N:=&lt;Factor&gt;</a:t>
            </a:r>
          </a:p>
          <a:p>
            <a:pPr lvl="1" eaLnBrk="1" hangingPunct="1">
              <a:buFont typeface="Symbol" panose="05050102010706020507" pitchFamily="18" charset="2"/>
              <a:buNone/>
            </a:pPr>
            <a:r>
              <a:rPr lang="fr-FR" altLang="en-US" sz="2400" b="0">
                <a:sym typeface="Symbol" panose="05050102010706020507" pitchFamily="18" charset="2"/>
              </a:rPr>
              <a:t></a:t>
            </a:r>
            <a:r>
              <a:rPr lang="en-US" altLang="en-US" sz="2400" b="0">
                <a:sym typeface="Symbol" panose="05050102010706020507" pitchFamily="18" charset="2"/>
              </a:rPr>
              <a:t> N:=&lt;Unsignedconstant&gt;</a:t>
            </a:r>
          </a:p>
          <a:p>
            <a:pPr lvl="1" eaLnBrk="1" hangingPunct="1">
              <a:buFont typeface="Symbol" panose="05050102010706020507" pitchFamily="18" charset="2"/>
              <a:buNone/>
            </a:pPr>
            <a:r>
              <a:rPr lang="fr-FR" altLang="en-US" sz="2400" b="0">
                <a:sym typeface="Symbol" panose="05050102010706020507" pitchFamily="18" charset="2"/>
              </a:rPr>
              <a:t></a:t>
            </a:r>
            <a:r>
              <a:rPr lang="en-US" altLang="en-US" sz="2400" b="0">
                <a:sym typeface="Symbol" panose="05050102010706020507" pitchFamily="18" charset="2"/>
              </a:rPr>
              <a:t> N:=&lt;unsignedinteger&gt; </a:t>
            </a:r>
          </a:p>
          <a:p>
            <a:pPr lvl="1" eaLnBrk="1" hangingPunct="1">
              <a:buFont typeface="Symbol" panose="05050102010706020507" pitchFamily="18" charset="2"/>
              <a:buNone/>
            </a:pPr>
            <a:r>
              <a:rPr lang="fr-FR" altLang="en-US" sz="2400" b="0">
                <a:sym typeface="Symbol" panose="05050102010706020507" pitchFamily="18" charset="2"/>
              </a:rPr>
              <a:t></a:t>
            </a:r>
            <a:r>
              <a:rPr lang="en-US" altLang="en-US" sz="2400" b="0">
                <a:sym typeface="Symbol" panose="05050102010706020507" pitchFamily="18" charset="2"/>
              </a:rPr>
              <a:t> N:=10</a:t>
            </a:r>
            <a:endParaRPr lang="fr-FR" altLang="en-US" sz="2400" b="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79365"/>
                                        </p:tgtEl>
                                        <p:attrNameLst>
                                          <p:attrName>style.visibility</p:attrName>
                                        </p:attrNameLst>
                                      </p:cBhvr>
                                      <p:to>
                                        <p:strVal val="visible"/>
                                      </p:to>
                                    </p:set>
                                    <p:animEffect transition="in" filter="checkerboard(across)">
                                      <p:cBhvr>
                                        <p:cTn id="7" dur="500"/>
                                        <p:tgtEl>
                                          <p:spTgt spid="16793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1679370"/>
                                        </p:tgtEl>
                                        <p:attrNameLst>
                                          <p:attrName>style.visibility</p:attrName>
                                        </p:attrNameLst>
                                      </p:cBhvr>
                                      <p:to>
                                        <p:strVal val="visible"/>
                                      </p:to>
                                    </p:set>
                                    <p:animEffect transition="in" filter="diamond(in)">
                                      <p:cBhvr>
                                        <p:cTn id="12" dur="500"/>
                                        <p:tgtEl>
                                          <p:spTgt spid="16793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679373"/>
                                        </p:tgtEl>
                                        <p:attrNameLst>
                                          <p:attrName>style.visibility</p:attrName>
                                        </p:attrNameLst>
                                      </p:cBhvr>
                                      <p:to>
                                        <p:strVal val="visible"/>
                                      </p:to>
                                    </p:set>
                                    <p:animEffect transition="in" filter="dissolve">
                                      <p:cBhvr>
                                        <p:cTn id="17" dur="500"/>
                                        <p:tgtEl>
                                          <p:spTgt spid="1679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6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559E9F8E-1CFB-4E47-888C-E43466743A33}" type="slidenum">
              <a:rPr lang="en-US" altLang="en-US" sz="1400" b="0"/>
              <a:pPr/>
              <a:t>6</a:t>
            </a:fld>
            <a:endParaRPr lang="en-US" altLang="en-US" sz="1400" b="0"/>
          </a:p>
        </p:txBody>
      </p:sp>
      <p:sp>
        <p:nvSpPr>
          <p:cNvPr id="11267" name="Rectangle 2"/>
          <p:cNvSpPr>
            <a:spLocks noGrp="1" noChangeArrowheads="1"/>
          </p:cNvSpPr>
          <p:nvPr>
            <p:ph type="title"/>
          </p:nvPr>
        </p:nvSpPr>
        <p:spPr/>
        <p:txBody>
          <a:bodyPr/>
          <a:lstStyle/>
          <a:p>
            <a:pPr eaLnBrk="1" hangingPunct="1"/>
            <a:r>
              <a:rPr lang="en-US" altLang="en-US"/>
              <a:t>Nhận xét</a:t>
            </a:r>
          </a:p>
        </p:txBody>
      </p:sp>
      <p:sp>
        <p:nvSpPr>
          <p:cNvPr id="11268" name="Rectangle 3"/>
          <p:cNvSpPr>
            <a:spLocks noGrp="1" noChangeArrowheads="1"/>
          </p:cNvSpPr>
          <p:nvPr>
            <p:ph type="body" idx="1"/>
          </p:nvPr>
        </p:nvSpPr>
        <p:spPr>
          <a:xfrm>
            <a:off x="142875" y="1247775"/>
            <a:ext cx="8813800" cy="4543425"/>
          </a:xfrm>
        </p:spPr>
        <p:txBody>
          <a:bodyPr/>
          <a:lstStyle/>
          <a:p>
            <a:pPr marL="347663" indent="-347663" eaLnBrk="1" hangingPunct="1">
              <a:lnSpc>
                <a:spcPct val="135000"/>
              </a:lnSpc>
              <a:spcBef>
                <a:spcPct val="40000"/>
              </a:spcBef>
            </a:pPr>
            <a:r>
              <a:rPr lang="en-US" altLang="en-US"/>
              <a:t>Không phải mọi câu văn (</a:t>
            </a:r>
            <a:r>
              <a:rPr lang="en-US" altLang="en-US" b="1">
                <a:solidFill>
                  <a:srgbClr val="3539EB"/>
                </a:solidFill>
              </a:rPr>
              <a:t>NNLT</a:t>
            </a:r>
            <a:r>
              <a:rPr lang="en-US" altLang="en-US">
                <a:solidFill>
                  <a:srgbClr val="3539EB"/>
                </a:solidFill>
              </a:rPr>
              <a:t>: câu lệnh</a:t>
            </a:r>
            <a:r>
              <a:rPr lang="en-US" altLang="en-US"/>
              <a:t>) đúng ngữ pháp (</a:t>
            </a:r>
            <a:r>
              <a:rPr lang="en-US" altLang="en-US" b="1">
                <a:solidFill>
                  <a:srgbClr val="3539EB"/>
                </a:solidFill>
              </a:rPr>
              <a:t>NNLT</a:t>
            </a:r>
            <a:r>
              <a:rPr lang="en-US" altLang="en-US">
                <a:solidFill>
                  <a:srgbClr val="3539EB"/>
                </a:solidFill>
              </a:rPr>
              <a:t>: cú pháp</a:t>
            </a:r>
            <a:r>
              <a:rPr lang="en-US" altLang="en-US"/>
              <a:t>) đều có giá trị sử dụng (</a:t>
            </a:r>
            <a:r>
              <a:rPr lang="en-US" altLang="en-US" b="1">
                <a:solidFill>
                  <a:srgbClr val="3539EB"/>
                </a:solidFill>
              </a:rPr>
              <a:t>NNLT</a:t>
            </a:r>
            <a:r>
              <a:rPr lang="en-US" altLang="en-US">
                <a:solidFill>
                  <a:srgbClr val="3539EB"/>
                </a:solidFill>
              </a:rPr>
              <a:t>: thực hiện được</a:t>
            </a:r>
            <a:r>
              <a:rPr lang="en-US" altLang="en-US"/>
              <a:t>)</a:t>
            </a:r>
          </a:p>
          <a:p>
            <a:pPr marL="347663" indent="-347663" eaLnBrk="1" hangingPunct="1">
              <a:lnSpc>
                <a:spcPct val="135000"/>
              </a:lnSpc>
              <a:spcBef>
                <a:spcPct val="40000"/>
              </a:spcBef>
            </a:pPr>
            <a:r>
              <a:rPr lang="fr-FR" altLang="en-US"/>
              <a:t>Bộ phân tích ngữ nghĩa nhằm mục đích kiểm tra tính đúng đắn về mặt ngữ nghĩa của câu văn (</a:t>
            </a:r>
            <a:r>
              <a:rPr lang="fr-FR" altLang="en-US" b="1">
                <a:solidFill>
                  <a:srgbClr val="3539EB"/>
                </a:solidFill>
              </a:rPr>
              <a:t>NNLT:</a:t>
            </a:r>
            <a:r>
              <a:rPr lang="fr-FR" altLang="en-US"/>
              <a:t> câu lệnh)</a:t>
            </a:r>
            <a:endParaRPr lang="fr-FR" altLang="en-US">
              <a:sym typeface="Symbol" panose="05050102010706020507" pitchFamily="18" charset="2"/>
            </a:endParaRPr>
          </a:p>
        </p:txBody>
      </p:sp>
      <p:sp>
        <p:nvSpPr>
          <p:cNvPr id="11269"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1. Giới thiệu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8539A107-2482-4986-8D3F-A075AAFE31F1}" type="slidenum">
              <a:rPr lang="en-US" altLang="en-US" sz="1400" b="0"/>
              <a:pPr/>
              <a:t>7</a:t>
            </a:fld>
            <a:endParaRPr lang="en-US" altLang="en-US" sz="1400" b="0"/>
          </a:p>
        </p:txBody>
      </p:sp>
      <p:sp>
        <p:nvSpPr>
          <p:cNvPr id="12291" name="Rectangle 2"/>
          <p:cNvSpPr>
            <a:spLocks noGrp="1" noChangeArrowheads="1"/>
          </p:cNvSpPr>
          <p:nvPr>
            <p:ph type="title"/>
          </p:nvPr>
        </p:nvSpPr>
        <p:spPr/>
        <p:txBody>
          <a:bodyPr/>
          <a:lstStyle/>
          <a:p>
            <a:pPr eaLnBrk="1" hangingPunct="1"/>
            <a:r>
              <a:rPr lang="en-US" altLang="en-US"/>
              <a:t>Nhiệm vụ bộ phân tích ngữ nghĩa  trong NNLT</a:t>
            </a:r>
          </a:p>
        </p:txBody>
      </p:sp>
      <p:sp>
        <p:nvSpPr>
          <p:cNvPr id="12292" name="Rectangle 3"/>
          <p:cNvSpPr>
            <a:spLocks noGrp="1" noChangeArrowheads="1"/>
          </p:cNvSpPr>
          <p:nvPr>
            <p:ph type="body" idx="1"/>
          </p:nvPr>
        </p:nvSpPr>
        <p:spPr>
          <a:xfrm>
            <a:off x="142875" y="914400"/>
            <a:ext cx="8813800" cy="5773738"/>
          </a:xfrm>
        </p:spPr>
        <p:txBody>
          <a:bodyPr/>
          <a:lstStyle/>
          <a:p>
            <a:pPr marL="347663" indent="-347663" eaLnBrk="1" hangingPunct="1">
              <a:lnSpc>
                <a:spcPct val="105000"/>
              </a:lnSpc>
            </a:pPr>
            <a:r>
              <a:rPr lang="fr-FR" altLang="en-US">
                <a:sym typeface="Symbol" panose="05050102010706020507" pitchFamily="18" charset="2"/>
              </a:rPr>
              <a:t>Quản lý thông tin về các định danh (tên)</a:t>
            </a:r>
          </a:p>
          <a:p>
            <a:pPr marL="912813" lvl="1" indent="-450850" eaLnBrk="1" hangingPunct="1">
              <a:lnSpc>
                <a:spcPct val="105000"/>
              </a:lnSpc>
            </a:pPr>
            <a:r>
              <a:rPr lang="fr-FR" altLang="en-US">
                <a:sym typeface="Symbol" panose="05050102010706020507" pitchFamily="18" charset="2"/>
              </a:rPr>
              <a:t>Hằng, biến, kiểu tự định nghĩa, chương trình con</a:t>
            </a:r>
          </a:p>
          <a:p>
            <a:pPr marL="347663" indent="-347663" eaLnBrk="1" hangingPunct="1">
              <a:lnSpc>
                <a:spcPct val="105000"/>
              </a:lnSpc>
            </a:pPr>
            <a:r>
              <a:rPr lang="fr-FR" altLang="en-US">
                <a:sym typeface="Symbol" panose="05050102010706020507" pitchFamily="18" charset="2"/>
              </a:rPr>
              <a:t>Kiểm tra việc sử dụng các định danh</a:t>
            </a:r>
          </a:p>
          <a:p>
            <a:pPr marL="912813" lvl="1" indent="-450850" eaLnBrk="1" hangingPunct="1">
              <a:lnSpc>
                <a:spcPct val="105000"/>
              </a:lnSpc>
            </a:pPr>
            <a:r>
              <a:rPr lang="fr-FR" altLang="en-US">
                <a:sym typeface="Symbol" panose="05050102010706020507" pitchFamily="18" charset="2"/>
              </a:rPr>
              <a:t>Phải được khai báo trước khi dùng</a:t>
            </a:r>
          </a:p>
          <a:p>
            <a:pPr marL="912813" lvl="1" indent="-450850" eaLnBrk="1" hangingPunct="1">
              <a:lnSpc>
                <a:spcPct val="105000"/>
              </a:lnSpc>
            </a:pPr>
            <a:r>
              <a:rPr lang="fr-FR" altLang="en-US">
                <a:sym typeface="Symbol" panose="05050102010706020507" pitchFamily="18" charset="2"/>
              </a:rPr>
              <a:t>Phải được sự dụng đúng mục đích</a:t>
            </a:r>
          </a:p>
          <a:p>
            <a:pPr marL="1257300" lvl="2" eaLnBrk="1" hangingPunct="1">
              <a:lnSpc>
                <a:spcPct val="105000"/>
              </a:lnSpc>
            </a:pPr>
            <a:r>
              <a:rPr lang="fr-FR" altLang="en-US">
                <a:sym typeface="Symbol" panose="05050102010706020507" pitchFamily="18" charset="2"/>
              </a:rPr>
              <a:t>Gán giá trị cho hằng, tính toán trên kiểu, thủ tục…</a:t>
            </a:r>
          </a:p>
          <a:p>
            <a:pPr marL="912813" lvl="1" indent="-450850" eaLnBrk="1" hangingPunct="1">
              <a:lnSpc>
                <a:spcPct val="105000"/>
              </a:lnSpc>
            </a:pPr>
            <a:r>
              <a:rPr lang="fr-FR" altLang="en-US">
                <a:sym typeface="Symbol" panose="05050102010706020507" pitchFamily="18" charset="2"/>
              </a:rPr>
              <a:t>Đảm bảo tính nhất quán</a:t>
            </a:r>
          </a:p>
          <a:p>
            <a:pPr marL="1257300" lvl="2" eaLnBrk="1" hangingPunct="1">
              <a:lnSpc>
                <a:spcPct val="105000"/>
              </a:lnSpc>
            </a:pPr>
            <a:r>
              <a:rPr lang="fr-FR" altLang="en-US">
                <a:sym typeface="Symbol" panose="05050102010706020507" pitchFamily="18" charset="2"/>
              </a:rPr>
              <a:t>Tên được khai báo chỉ một lần trong phạm vi</a:t>
            </a:r>
          </a:p>
          <a:p>
            <a:pPr marL="1257300" lvl="2" eaLnBrk="1" hangingPunct="1">
              <a:lnSpc>
                <a:spcPct val="105000"/>
              </a:lnSpc>
            </a:pPr>
            <a:r>
              <a:rPr lang="fr-FR" altLang="en-US">
                <a:sym typeface="Symbol" panose="05050102010706020507" pitchFamily="18" charset="2"/>
              </a:rPr>
              <a:t>Các phần tử trong kiểu liệt kê (</a:t>
            </a:r>
            <a:r>
              <a:rPr lang="fr-FR" altLang="en-US" i="1">
                <a:sym typeface="Symbol" panose="05050102010706020507" pitchFamily="18" charset="2"/>
              </a:rPr>
              <a:t>enum</a:t>
            </a:r>
            <a:r>
              <a:rPr lang="fr-FR" altLang="en-US">
                <a:sym typeface="Symbol" panose="05050102010706020507" pitchFamily="18" charset="2"/>
              </a:rPr>
              <a:t>) là duy nhất</a:t>
            </a:r>
          </a:p>
        </p:txBody>
      </p:sp>
      <p:sp>
        <p:nvSpPr>
          <p:cNvPr id="12293"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1. Giới thiệu</a:t>
            </a:r>
          </a:p>
        </p:txBody>
      </p:sp>
      <p:grpSp>
        <p:nvGrpSpPr>
          <p:cNvPr id="1681418" name="Group 10"/>
          <p:cNvGrpSpPr>
            <a:grpSpLocks/>
          </p:cNvGrpSpPr>
          <p:nvPr/>
        </p:nvGrpSpPr>
        <p:grpSpPr bwMode="auto">
          <a:xfrm>
            <a:off x="457200" y="5334000"/>
            <a:ext cx="8305800" cy="1265238"/>
            <a:chOff x="288" y="3360"/>
            <a:chExt cx="5232" cy="797"/>
          </a:xfrm>
        </p:grpSpPr>
        <p:sp>
          <p:nvSpPr>
            <p:cNvPr id="12295" name="AutoShape 8"/>
            <p:cNvSpPr>
              <a:spLocks/>
            </p:cNvSpPr>
            <p:nvPr/>
          </p:nvSpPr>
          <p:spPr bwMode="auto">
            <a:xfrm rot="5400000">
              <a:off x="2688" y="960"/>
              <a:ext cx="432" cy="5232"/>
            </a:xfrm>
            <a:prstGeom prst="rightBrace">
              <a:avLst>
                <a:gd name="adj1" fmla="val 10092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12296" name="Text Box 9"/>
            <p:cNvSpPr txBox="1">
              <a:spLocks noChangeArrowheads="1"/>
            </p:cNvSpPr>
            <p:nvPr/>
          </p:nvSpPr>
          <p:spPr bwMode="auto">
            <a:xfrm>
              <a:off x="624" y="3792"/>
              <a:ext cx="451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chemeClr val="accent2"/>
                  </a:solidFill>
                </a:rPr>
                <a:t>Bảng ký hiệu</a:t>
              </a:r>
              <a:endParaRPr lang="en-US" altLang="en-US" sz="3200" b="0">
                <a:solidFill>
                  <a:schemeClr val="accent2"/>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681418"/>
                                        </p:tgtEl>
                                        <p:attrNameLst>
                                          <p:attrName>style.visibility</p:attrName>
                                        </p:attrNameLst>
                                      </p:cBhvr>
                                      <p:to>
                                        <p:strVal val="visible"/>
                                      </p:to>
                                    </p:set>
                                    <p:anim calcmode="lin" valueType="num">
                                      <p:cBhvr additive="base">
                                        <p:cTn id="7" dur="500" fill="hold"/>
                                        <p:tgtEl>
                                          <p:spTgt spid="1681418"/>
                                        </p:tgtEl>
                                        <p:attrNameLst>
                                          <p:attrName>ppt_x</p:attrName>
                                        </p:attrNameLst>
                                      </p:cBhvr>
                                      <p:tavLst>
                                        <p:tav tm="0">
                                          <p:val>
                                            <p:strVal val="#ppt_x"/>
                                          </p:val>
                                        </p:tav>
                                        <p:tav tm="100000">
                                          <p:val>
                                            <p:strVal val="#ppt_x"/>
                                          </p:val>
                                        </p:tav>
                                      </p:tavLst>
                                    </p:anim>
                                    <p:anim calcmode="lin" valueType="num">
                                      <p:cBhvr additive="base">
                                        <p:cTn id="8" dur="500" fill="hold"/>
                                        <p:tgtEl>
                                          <p:spTgt spid="16814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A1BB56B1-5171-47B5-A08A-848D69696515}" type="slidenum">
              <a:rPr lang="en-US" altLang="en-US" sz="1400" b="0"/>
              <a:pPr/>
              <a:t>8</a:t>
            </a:fld>
            <a:endParaRPr lang="en-US" altLang="en-US" sz="1400" b="0"/>
          </a:p>
        </p:txBody>
      </p:sp>
      <p:sp>
        <p:nvSpPr>
          <p:cNvPr id="13315" name="Rectangle 2"/>
          <p:cNvSpPr>
            <a:spLocks noGrp="1" noChangeArrowheads="1"/>
          </p:cNvSpPr>
          <p:nvPr>
            <p:ph type="title"/>
          </p:nvPr>
        </p:nvSpPr>
        <p:spPr/>
        <p:txBody>
          <a:bodyPr/>
          <a:lstStyle/>
          <a:p>
            <a:pPr eaLnBrk="1" hangingPunct="1"/>
            <a:r>
              <a:rPr lang="en-US" altLang="en-US"/>
              <a:t>Nhiệm vụ bộ phân tích ngữ nghĩa  trong NNLT</a:t>
            </a:r>
          </a:p>
        </p:txBody>
      </p:sp>
      <p:sp>
        <p:nvSpPr>
          <p:cNvPr id="13316" name="Rectangle 3"/>
          <p:cNvSpPr>
            <a:spLocks noGrp="1" noChangeArrowheads="1"/>
          </p:cNvSpPr>
          <p:nvPr>
            <p:ph type="body" idx="1"/>
          </p:nvPr>
        </p:nvSpPr>
        <p:spPr>
          <a:xfrm>
            <a:off x="142875" y="914400"/>
            <a:ext cx="8813800" cy="5773738"/>
          </a:xfrm>
        </p:spPr>
        <p:txBody>
          <a:bodyPr/>
          <a:lstStyle/>
          <a:p>
            <a:pPr marL="347663" indent="-347663" eaLnBrk="1" hangingPunct="1">
              <a:lnSpc>
                <a:spcPct val="105000"/>
              </a:lnSpc>
            </a:pPr>
            <a:r>
              <a:rPr lang="fr-FR" altLang="en-US">
                <a:sym typeface="Symbol" panose="05050102010706020507" pitchFamily="18" charset="2"/>
              </a:rPr>
              <a:t>Kiểm tra kiểu dữ liệu cho toán tử</a:t>
            </a:r>
          </a:p>
          <a:p>
            <a:pPr marL="912813" lvl="1" indent="-450850" eaLnBrk="1" hangingPunct="1">
              <a:lnSpc>
                <a:spcPct val="105000"/>
              </a:lnSpc>
            </a:pPr>
            <a:r>
              <a:rPr lang="fr-FR" altLang="en-US">
                <a:sym typeface="Symbol" panose="05050102010706020507" pitchFamily="18" charset="2"/>
              </a:rPr>
              <a:t>Toán tử % của C đòi hỏi toán hạng kiểu nguyên</a:t>
            </a:r>
          </a:p>
          <a:p>
            <a:pPr marL="912813" lvl="1" indent="-450850" eaLnBrk="1" hangingPunct="1">
              <a:lnSpc>
                <a:spcPct val="105000"/>
              </a:lnSpc>
            </a:pPr>
            <a:r>
              <a:rPr lang="fr-FR" altLang="en-US">
                <a:sym typeface="Symbol" panose="05050102010706020507" pitchFamily="18" charset="2"/>
              </a:rPr>
              <a:t>Có thể yêu cầu chuyển kiểu bắt buộc (</a:t>
            </a:r>
            <a:r>
              <a:rPr lang="fr-FR" altLang="en-US" i="1">
                <a:solidFill>
                  <a:srgbClr val="3539EB"/>
                </a:solidFill>
                <a:sym typeface="Symbol" panose="05050102010706020507" pitchFamily="18" charset="2"/>
              </a:rPr>
              <a:t>int2real</a:t>
            </a:r>
            <a:r>
              <a:rPr lang="fr-FR" altLang="en-US">
                <a:sym typeface="Symbol" panose="05050102010706020507" pitchFamily="18" charset="2"/>
              </a:rPr>
              <a:t>)</a:t>
            </a:r>
          </a:p>
          <a:p>
            <a:pPr marL="912813" lvl="1" indent="-450850" eaLnBrk="1" hangingPunct="1">
              <a:lnSpc>
                <a:spcPct val="105000"/>
              </a:lnSpc>
            </a:pPr>
            <a:r>
              <a:rPr lang="fr-FR" altLang="en-US">
                <a:sym typeface="Symbol" panose="05050102010706020507" pitchFamily="18" charset="2"/>
              </a:rPr>
              <a:t>Chỉ số của mảng phải nguyên</a:t>
            </a:r>
          </a:p>
          <a:p>
            <a:pPr marL="347663" indent="-347663" eaLnBrk="1" hangingPunct="1">
              <a:lnSpc>
                <a:spcPct val="105000"/>
              </a:lnSpc>
            </a:pPr>
            <a:r>
              <a:rPr lang="fr-FR" altLang="en-US">
                <a:sym typeface="Symbol" panose="05050102010706020507" pitchFamily="18" charset="2"/>
              </a:rPr>
              <a:t>Kiểm tra sự tương ứng giữa tham số thực sự và hình thức</a:t>
            </a:r>
          </a:p>
          <a:p>
            <a:pPr marL="912813" lvl="1" indent="-450850" eaLnBrk="1" hangingPunct="1">
              <a:lnSpc>
                <a:spcPct val="105000"/>
              </a:lnSpc>
            </a:pPr>
            <a:r>
              <a:rPr lang="fr-FR" altLang="en-US">
                <a:sym typeface="Symbol" panose="05050102010706020507" pitchFamily="18" charset="2"/>
              </a:rPr>
              <a:t>Số lượng tham số, tương ứng kiểu</a:t>
            </a:r>
          </a:p>
          <a:p>
            <a:pPr marL="347663" indent="-347663" eaLnBrk="1" hangingPunct="1">
              <a:lnSpc>
                <a:spcPct val="105000"/>
              </a:lnSpc>
            </a:pPr>
            <a:r>
              <a:rPr lang="fr-FR" altLang="en-US">
                <a:sym typeface="Symbol" panose="05050102010706020507" pitchFamily="18" charset="2"/>
              </a:rPr>
              <a:t>Kiểm tra kiểu trả về của hàm..</a:t>
            </a:r>
          </a:p>
        </p:txBody>
      </p:sp>
      <p:sp>
        <p:nvSpPr>
          <p:cNvPr id="13317"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1. Giới thiệu</a:t>
            </a:r>
          </a:p>
        </p:txBody>
      </p:sp>
      <p:grpSp>
        <p:nvGrpSpPr>
          <p:cNvPr id="1682440" name="Group 8"/>
          <p:cNvGrpSpPr>
            <a:grpSpLocks/>
          </p:cNvGrpSpPr>
          <p:nvPr/>
        </p:nvGrpSpPr>
        <p:grpSpPr bwMode="auto">
          <a:xfrm>
            <a:off x="304800" y="5257800"/>
            <a:ext cx="8305800" cy="1479550"/>
            <a:chOff x="192" y="3312"/>
            <a:chExt cx="5232" cy="932"/>
          </a:xfrm>
        </p:grpSpPr>
        <p:sp>
          <p:nvSpPr>
            <p:cNvPr id="13319" name="AutoShape 6"/>
            <p:cNvSpPr>
              <a:spLocks/>
            </p:cNvSpPr>
            <p:nvPr/>
          </p:nvSpPr>
          <p:spPr bwMode="auto">
            <a:xfrm rot="5400000">
              <a:off x="2592" y="912"/>
              <a:ext cx="432" cy="5232"/>
            </a:xfrm>
            <a:prstGeom prst="rightBrace">
              <a:avLst>
                <a:gd name="adj1" fmla="val 10092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13320" name="Text Box 7"/>
            <p:cNvSpPr txBox="1">
              <a:spLocks noChangeArrowheads="1"/>
            </p:cNvSpPr>
            <p:nvPr/>
          </p:nvSpPr>
          <p:spPr bwMode="auto">
            <a:xfrm>
              <a:off x="192" y="3648"/>
              <a:ext cx="5184"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lvl="1" algn="ctr" eaLnBrk="1" hangingPunct="1"/>
              <a:r>
                <a:rPr lang="en-US" altLang="en-US" sz="2800" b="0">
                  <a:solidFill>
                    <a:schemeClr val="accent2"/>
                  </a:solidFill>
                </a:rPr>
                <a:t>Các biểu thức kiểu của ngôn ngữ </a:t>
              </a:r>
            </a:p>
            <a:p>
              <a:pPr lvl="1" algn="ctr" eaLnBrk="1" hangingPunct="1"/>
              <a:r>
                <a:rPr lang="en-US" altLang="en-US" sz="2800" b="0">
                  <a:solidFill>
                    <a:schemeClr val="accent2"/>
                  </a:solidFill>
                </a:rPr>
                <a:t>Bộ luật để định kiểu cho các cấu trúc</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682440"/>
                                        </p:tgtEl>
                                        <p:attrNameLst>
                                          <p:attrName>style.visibility</p:attrName>
                                        </p:attrNameLst>
                                      </p:cBhvr>
                                      <p:to>
                                        <p:strVal val="visible"/>
                                      </p:to>
                                    </p:set>
                                    <p:animEffect transition="in" filter="dissolve">
                                      <p:cBhvr>
                                        <p:cTn id="7" dur="500"/>
                                        <p:tgtEl>
                                          <p:spTgt spid="1682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FB5A4DAA-E0DB-43CB-9CEC-6E8AAFD57C45}" type="slidenum">
              <a:rPr lang="en-US" altLang="en-US" sz="1400" b="0"/>
              <a:pPr/>
              <a:t>9</a:t>
            </a:fld>
            <a:endParaRPr lang="en-US" altLang="en-US" sz="1400" b="0"/>
          </a:p>
        </p:txBody>
      </p:sp>
      <p:sp>
        <p:nvSpPr>
          <p:cNvPr id="1683458" name="Rectangle 2"/>
          <p:cNvSpPr>
            <a:spLocks noChangeArrowheads="1"/>
          </p:cNvSpPr>
          <p:nvPr/>
        </p:nvSpPr>
        <p:spPr bwMode="auto">
          <a:xfrm>
            <a:off x="0" y="2286000"/>
            <a:ext cx="9144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14340" name="Rectangle 3"/>
          <p:cNvSpPr>
            <a:spLocks noGrp="1" noChangeArrowheads="1"/>
          </p:cNvSpPr>
          <p:nvPr>
            <p:ph type="title"/>
          </p:nvPr>
        </p:nvSpPr>
        <p:spPr>
          <a:xfrm>
            <a:off x="0" y="0"/>
            <a:ext cx="9144000" cy="800100"/>
          </a:xfrm>
        </p:spPr>
        <p:txBody>
          <a:bodyPr/>
          <a:lstStyle/>
          <a:p>
            <a:pPr eaLnBrk="1" hangingPunct="1"/>
            <a:r>
              <a:rPr lang="en-US" altLang="en-US" sz="4000"/>
              <a:t>Chương 4: Phân tích ngữ nghĩa</a:t>
            </a:r>
          </a:p>
        </p:txBody>
      </p:sp>
      <p:sp>
        <p:nvSpPr>
          <p:cNvPr id="14341" name="Rectangle 4"/>
          <p:cNvSpPr>
            <a:spLocks noGrp="1" noChangeArrowheads="1"/>
          </p:cNvSpPr>
          <p:nvPr>
            <p:ph type="body" idx="1"/>
          </p:nvPr>
        </p:nvSpPr>
        <p:spPr>
          <a:xfrm>
            <a:off x="266700" y="1295400"/>
            <a:ext cx="8724900" cy="4724400"/>
          </a:xfrm>
        </p:spPr>
        <p:txBody>
          <a:bodyPr/>
          <a:lstStyle/>
          <a:p>
            <a:pPr marL="609600" indent="-609600" eaLnBrk="1" hangingPunct="1">
              <a:spcBef>
                <a:spcPct val="100000"/>
              </a:spcBef>
              <a:buFontTx/>
              <a:buAutoNum type="arabicPeriod"/>
            </a:pPr>
            <a:r>
              <a:rPr lang="en-US" altLang="en-US">
                <a:solidFill>
                  <a:srgbClr val="1E0068"/>
                </a:solidFill>
              </a:rPr>
              <a:t>Giới thiệu</a:t>
            </a:r>
          </a:p>
          <a:p>
            <a:pPr marL="609600" indent="-609600" eaLnBrk="1" hangingPunct="1">
              <a:spcBef>
                <a:spcPct val="100000"/>
              </a:spcBef>
              <a:buFontTx/>
              <a:buAutoNum type="arabicPeriod"/>
            </a:pPr>
            <a:r>
              <a:rPr lang="en-US" altLang="en-US">
                <a:solidFill>
                  <a:srgbClr val="1E0068"/>
                </a:solidFill>
              </a:rPr>
              <a:t>Bảng ký hiệu</a:t>
            </a:r>
          </a:p>
          <a:p>
            <a:pPr marL="609600" indent="-609600" eaLnBrk="1" hangingPunct="1">
              <a:spcBef>
                <a:spcPct val="100000"/>
              </a:spcBef>
              <a:buFontTx/>
              <a:buAutoNum type="arabicPeriod"/>
            </a:pPr>
            <a:r>
              <a:rPr lang="fr-FR" altLang="en-US"/>
              <a:t>Chương trình dịch định hướng cú pháp </a:t>
            </a:r>
          </a:p>
          <a:p>
            <a:pPr marL="609600" indent="-609600" eaLnBrk="1" hangingPunct="1">
              <a:spcBef>
                <a:spcPct val="100000"/>
              </a:spcBef>
              <a:buFontTx/>
              <a:buAutoNum type="arabicPeriod"/>
            </a:pPr>
            <a:r>
              <a:rPr lang="fr-FR" altLang="en-US"/>
              <a:t>Kiểm tra kiểu</a:t>
            </a:r>
          </a:p>
          <a:p>
            <a:pPr marL="609600" indent="-609600" eaLnBrk="1" hangingPunct="1">
              <a:spcBef>
                <a:spcPct val="100000"/>
              </a:spcBef>
              <a:buFontTx/>
              <a:buAutoNum type="arabicPeriod"/>
            </a:pPr>
            <a:r>
              <a:rPr lang="en-US" altLang="en-US">
                <a:solidFill>
                  <a:srgbClr val="1E0068"/>
                </a:solidFill>
              </a:rPr>
              <a:t>Xử lý sai sót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83458"/>
                                        </p:tgtEl>
                                        <p:attrNameLst>
                                          <p:attrName>style.visibility</p:attrName>
                                        </p:attrNameLst>
                                      </p:cBhvr>
                                      <p:to>
                                        <p:strVal val="visible"/>
                                      </p:to>
                                    </p:set>
                                    <p:animEffect transition="in" filter="dissolve">
                                      <p:cBhvr>
                                        <p:cTn id="7" dur="500"/>
                                        <p:tgtEl>
                                          <p:spTgt spid="1683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345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3B85DBE5-E102-4F9D-B8AD-D03AD9B223E8}" type="slidenum">
              <a:rPr lang="en-US" altLang="en-US" sz="1400" b="0"/>
              <a:pPr/>
              <a:t>10</a:t>
            </a:fld>
            <a:endParaRPr lang="en-US" altLang="en-US" sz="1400" b="0"/>
          </a:p>
        </p:txBody>
      </p:sp>
      <p:sp>
        <p:nvSpPr>
          <p:cNvPr id="15363" name="Rectangle 2"/>
          <p:cNvSpPr>
            <a:spLocks noGrp="1" noChangeArrowheads="1"/>
          </p:cNvSpPr>
          <p:nvPr>
            <p:ph type="title"/>
          </p:nvPr>
        </p:nvSpPr>
        <p:spPr/>
        <p:txBody>
          <a:bodyPr/>
          <a:lstStyle/>
          <a:p>
            <a:pPr eaLnBrk="1" hangingPunct="1"/>
            <a:r>
              <a:rPr lang="en-US" altLang="en-US"/>
              <a:t>Mục đích</a:t>
            </a:r>
          </a:p>
        </p:txBody>
      </p:sp>
      <p:sp>
        <p:nvSpPr>
          <p:cNvPr id="15364" name="Rectangle 3"/>
          <p:cNvSpPr>
            <a:spLocks noGrp="1" noChangeArrowheads="1"/>
          </p:cNvSpPr>
          <p:nvPr>
            <p:ph type="body" idx="1"/>
          </p:nvPr>
        </p:nvSpPr>
        <p:spPr>
          <a:xfrm>
            <a:off x="4648200" y="866775"/>
            <a:ext cx="4308475" cy="5881688"/>
          </a:xfrm>
          <a:noFill/>
        </p:spPr>
        <p:txBody>
          <a:bodyPr lIns="0" rIns="0"/>
          <a:lstStyle/>
          <a:p>
            <a:pPr marL="231775" indent="-231775" eaLnBrk="1" hangingPunct="1">
              <a:lnSpc>
                <a:spcPct val="105000"/>
              </a:lnSpc>
            </a:pPr>
            <a:r>
              <a:rPr lang="fr-FR" altLang="en-US" sz="2800">
                <a:sym typeface="Symbol" panose="05050102010706020507" pitchFamily="18" charset="2"/>
              </a:rPr>
              <a:t>Bảng dữ liệu mà các pha của CTD đều s/dụng</a:t>
            </a:r>
          </a:p>
          <a:p>
            <a:pPr marL="231775" indent="-231775" eaLnBrk="1" hangingPunct="1">
              <a:lnSpc>
                <a:spcPct val="105000"/>
              </a:lnSpc>
            </a:pPr>
            <a:r>
              <a:rPr lang="fr-FR" altLang="en-US" sz="2800">
                <a:sym typeface="Symbol" panose="05050102010706020507" pitchFamily="18" charset="2"/>
              </a:rPr>
              <a:t>Dùng chứa thông tin về các danh biểu (</a:t>
            </a:r>
            <a:r>
              <a:rPr lang="fr-FR" altLang="en-US" sz="2800">
                <a:solidFill>
                  <a:srgbClr val="3539EB"/>
                </a:solidFill>
                <a:sym typeface="Symbol" panose="05050102010706020507" pitchFamily="18" charset="2"/>
              </a:rPr>
              <a:t>tên</a:t>
            </a:r>
            <a:r>
              <a:rPr lang="fr-FR" altLang="en-US" sz="2800">
                <a:sym typeface="Symbol" panose="05050102010706020507" pitchFamily="18" charset="2"/>
              </a:rPr>
              <a:t>) xuất hiện trong chương trình nguồn</a:t>
            </a:r>
          </a:p>
          <a:p>
            <a:pPr marL="231775" indent="-231775" eaLnBrk="1" hangingPunct="1">
              <a:lnSpc>
                <a:spcPct val="105000"/>
              </a:lnSpc>
            </a:pPr>
            <a:r>
              <a:rPr lang="fr-FR" altLang="en-US" sz="2800">
                <a:sym typeface="Symbol" panose="05050102010706020507" pitchFamily="18" charset="2"/>
              </a:rPr>
              <a:t>Mỗi phần tử ứng với một tên, gồm 2 trường</a:t>
            </a:r>
          </a:p>
          <a:p>
            <a:pPr marL="738188" lvl="1" indent="-392113" eaLnBrk="1" hangingPunct="1">
              <a:lnSpc>
                <a:spcPct val="105000"/>
              </a:lnSpc>
            </a:pPr>
            <a:r>
              <a:rPr lang="fr-FR" altLang="en-US" sz="2400">
                <a:sym typeface="Symbol" panose="05050102010706020507" pitchFamily="18" charset="2"/>
              </a:rPr>
              <a:t>Trường tên</a:t>
            </a:r>
          </a:p>
          <a:p>
            <a:pPr marL="1257300" lvl="2" eaLnBrk="1" hangingPunct="1">
              <a:lnSpc>
                <a:spcPct val="105000"/>
              </a:lnSpc>
            </a:pPr>
            <a:r>
              <a:rPr lang="fr-FR" altLang="en-US" sz="2000">
                <a:sym typeface="Symbol" panose="05050102010706020507" pitchFamily="18" charset="2"/>
              </a:rPr>
              <a:t>Khóa của bảng</a:t>
            </a:r>
          </a:p>
          <a:p>
            <a:pPr marL="738188" lvl="1" indent="-392113" eaLnBrk="1" hangingPunct="1">
              <a:lnSpc>
                <a:spcPct val="105000"/>
              </a:lnSpc>
              <a:spcBef>
                <a:spcPct val="5000"/>
              </a:spcBef>
            </a:pPr>
            <a:r>
              <a:rPr lang="fr-FR" altLang="en-US" sz="2400">
                <a:sym typeface="Symbol" panose="05050102010706020507" pitchFamily="18" charset="2"/>
              </a:rPr>
              <a:t>Trường thuộc tính</a:t>
            </a:r>
          </a:p>
          <a:p>
            <a:pPr marL="1257300" lvl="2" eaLnBrk="1" hangingPunct="1">
              <a:lnSpc>
                <a:spcPct val="105000"/>
              </a:lnSpc>
            </a:pPr>
            <a:r>
              <a:rPr lang="fr-FR" altLang="en-US" sz="2000">
                <a:sym typeface="Symbol" panose="05050102010706020507" pitchFamily="18" charset="2"/>
              </a:rPr>
              <a:t>Thuộc tính của tên</a:t>
            </a:r>
          </a:p>
          <a:p>
            <a:pPr marL="1481138" lvl="3" indent="-109538" eaLnBrk="1" hangingPunct="1">
              <a:lnSpc>
                <a:spcPct val="105000"/>
              </a:lnSpc>
            </a:pPr>
            <a:r>
              <a:rPr lang="fr-FR" altLang="en-US" sz="1800">
                <a:sym typeface="Symbol" panose="05050102010706020507" pitchFamily="18" charset="2"/>
              </a:rPr>
              <a:t>Biến (kiểu), hằng (giá trị)..</a:t>
            </a:r>
          </a:p>
        </p:txBody>
      </p:sp>
      <p:sp>
        <p:nvSpPr>
          <p:cNvPr id="15365"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grpSp>
        <p:nvGrpSpPr>
          <p:cNvPr id="15366" name="Group 45"/>
          <p:cNvGrpSpPr>
            <a:grpSpLocks/>
          </p:cNvGrpSpPr>
          <p:nvPr/>
        </p:nvGrpSpPr>
        <p:grpSpPr bwMode="auto">
          <a:xfrm>
            <a:off x="152400" y="1373188"/>
            <a:ext cx="4419600" cy="4799012"/>
            <a:chOff x="96" y="865"/>
            <a:chExt cx="2784" cy="3023"/>
          </a:xfrm>
        </p:grpSpPr>
        <p:sp>
          <p:nvSpPr>
            <p:cNvPr id="15367" name="Text Box 33"/>
            <p:cNvSpPr txBox="1">
              <a:spLocks noChangeArrowheads="1"/>
            </p:cNvSpPr>
            <p:nvPr/>
          </p:nvSpPr>
          <p:spPr bwMode="auto">
            <a:xfrm>
              <a:off x="1614" y="865"/>
              <a:ext cx="1218" cy="556"/>
            </a:xfrm>
            <a:prstGeom prst="rect">
              <a:avLst/>
            </a:prstGeom>
            <a:noFill/>
            <a:ln w="9525">
              <a:solidFill>
                <a:srgbClr val="27007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 bIns="9144">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en-US" altLang="en-US" sz="2800" b="0">
                  <a:solidFill>
                    <a:srgbClr val="220076"/>
                  </a:solidFill>
                </a:rPr>
                <a:t>Phân tích từ vựng</a:t>
              </a:r>
            </a:p>
          </p:txBody>
        </p:sp>
        <p:sp>
          <p:nvSpPr>
            <p:cNvPr id="15368" name="Line 34"/>
            <p:cNvSpPr>
              <a:spLocks noChangeShapeType="1"/>
            </p:cNvSpPr>
            <p:nvPr/>
          </p:nvSpPr>
          <p:spPr bwMode="auto">
            <a:xfrm>
              <a:off x="2247" y="1441"/>
              <a:ext cx="0" cy="288"/>
            </a:xfrm>
            <a:prstGeom prst="line">
              <a:avLst/>
            </a:prstGeom>
            <a:noFill/>
            <a:ln w="38100">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9" name="Text Box 35"/>
            <p:cNvSpPr txBox="1">
              <a:spLocks noChangeArrowheads="1"/>
            </p:cNvSpPr>
            <p:nvPr/>
          </p:nvSpPr>
          <p:spPr bwMode="auto">
            <a:xfrm>
              <a:off x="1632" y="1732"/>
              <a:ext cx="1209" cy="556"/>
            </a:xfrm>
            <a:prstGeom prst="rect">
              <a:avLst/>
            </a:prstGeom>
            <a:noFill/>
            <a:ln w="9525">
              <a:solidFill>
                <a:srgbClr val="27007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 bIns="9144">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en-US" altLang="en-US" sz="2800" b="0">
                  <a:solidFill>
                    <a:srgbClr val="220076"/>
                  </a:solidFill>
                </a:rPr>
                <a:t>Phân tích cú pháp</a:t>
              </a:r>
            </a:p>
          </p:txBody>
        </p:sp>
        <p:sp>
          <p:nvSpPr>
            <p:cNvPr id="15370" name="Line 36"/>
            <p:cNvSpPr>
              <a:spLocks noChangeShapeType="1"/>
            </p:cNvSpPr>
            <p:nvPr/>
          </p:nvSpPr>
          <p:spPr bwMode="auto">
            <a:xfrm>
              <a:off x="2256" y="2305"/>
              <a:ext cx="0" cy="336"/>
            </a:xfrm>
            <a:prstGeom prst="line">
              <a:avLst/>
            </a:prstGeom>
            <a:noFill/>
            <a:ln w="38100">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1" name="Text Box 37"/>
            <p:cNvSpPr txBox="1">
              <a:spLocks noChangeArrowheads="1"/>
            </p:cNvSpPr>
            <p:nvPr/>
          </p:nvSpPr>
          <p:spPr bwMode="auto">
            <a:xfrm>
              <a:off x="1632" y="2641"/>
              <a:ext cx="1209" cy="556"/>
            </a:xfrm>
            <a:prstGeom prst="rect">
              <a:avLst/>
            </a:prstGeom>
            <a:noFill/>
            <a:ln w="9525">
              <a:solidFill>
                <a:srgbClr val="27007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 bIns="9144">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en-US" altLang="en-US" sz="2800" b="0">
                  <a:solidFill>
                    <a:srgbClr val="220076"/>
                  </a:solidFill>
                </a:rPr>
                <a:t>Phân tích ngữ nghĩa</a:t>
              </a:r>
              <a:endParaRPr lang="en-US" altLang="en-US" sz="1600" b="0">
                <a:solidFill>
                  <a:srgbClr val="220076"/>
                </a:solidFill>
              </a:endParaRPr>
            </a:p>
          </p:txBody>
        </p:sp>
        <p:sp>
          <p:nvSpPr>
            <p:cNvPr id="15372" name="Line 38"/>
            <p:cNvSpPr>
              <a:spLocks noChangeShapeType="1"/>
            </p:cNvSpPr>
            <p:nvPr/>
          </p:nvSpPr>
          <p:spPr bwMode="auto">
            <a:xfrm>
              <a:off x="2256" y="3217"/>
              <a:ext cx="0" cy="384"/>
            </a:xfrm>
            <a:prstGeom prst="line">
              <a:avLst/>
            </a:prstGeom>
            <a:noFill/>
            <a:ln w="38100">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3" name="Text Box 39"/>
            <p:cNvSpPr txBox="1">
              <a:spLocks noChangeArrowheads="1"/>
            </p:cNvSpPr>
            <p:nvPr/>
          </p:nvSpPr>
          <p:spPr bwMode="auto">
            <a:xfrm>
              <a:off x="1680" y="3601"/>
              <a:ext cx="1200" cy="287"/>
            </a:xfrm>
            <a:prstGeom prst="rect">
              <a:avLst/>
            </a:prstGeom>
            <a:noFill/>
            <a:ln w="9525">
              <a:solidFill>
                <a:srgbClr val="27007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 bIns="9144">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en-US" altLang="en-US" sz="2800" b="0">
                  <a:solidFill>
                    <a:srgbClr val="220076"/>
                  </a:solidFill>
                </a:rPr>
                <a:t>Sinh mã</a:t>
              </a:r>
            </a:p>
          </p:txBody>
        </p:sp>
        <p:sp>
          <p:nvSpPr>
            <p:cNvPr id="15374" name="Text Box 40"/>
            <p:cNvSpPr txBox="1">
              <a:spLocks noChangeArrowheads="1"/>
            </p:cNvSpPr>
            <p:nvPr/>
          </p:nvSpPr>
          <p:spPr bwMode="auto">
            <a:xfrm>
              <a:off x="96" y="2017"/>
              <a:ext cx="768" cy="871"/>
            </a:xfrm>
            <a:prstGeom prst="rect">
              <a:avLst/>
            </a:prstGeom>
            <a:noFill/>
            <a:ln w="9525">
              <a:solidFill>
                <a:srgbClr val="22007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en-US" altLang="en-US" sz="2800">
                  <a:solidFill>
                    <a:srgbClr val="220076"/>
                  </a:solidFill>
                </a:rPr>
                <a:t>Bảng ký hiệu</a:t>
              </a:r>
            </a:p>
          </p:txBody>
        </p:sp>
        <p:sp>
          <p:nvSpPr>
            <p:cNvPr id="15375" name="Line 41"/>
            <p:cNvSpPr>
              <a:spLocks noChangeShapeType="1"/>
            </p:cNvSpPr>
            <p:nvPr/>
          </p:nvSpPr>
          <p:spPr bwMode="auto">
            <a:xfrm flipV="1">
              <a:off x="864" y="1344"/>
              <a:ext cx="720" cy="768"/>
            </a:xfrm>
            <a:prstGeom prst="line">
              <a:avLst/>
            </a:prstGeom>
            <a:noFill/>
            <a:ln w="38100">
              <a:solidFill>
                <a:srgbClr val="22007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6" name="Line 42"/>
            <p:cNvSpPr>
              <a:spLocks noChangeShapeType="1"/>
            </p:cNvSpPr>
            <p:nvPr/>
          </p:nvSpPr>
          <p:spPr bwMode="auto">
            <a:xfrm flipV="1">
              <a:off x="864" y="1921"/>
              <a:ext cx="768" cy="432"/>
            </a:xfrm>
            <a:prstGeom prst="line">
              <a:avLst/>
            </a:prstGeom>
            <a:noFill/>
            <a:ln w="38100">
              <a:solidFill>
                <a:srgbClr val="22007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7" name="Line 43"/>
            <p:cNvSpPr>
              <a:spLocks noChangeShapeType="1"/>
            </p:cNvSpPr>
            <p:nvPr/>
          </p:nvSpPr>
          <p:spPr bwMode="auto">
            <a:xfrm>
              <a:off x="864" y="2593"/>
              <a:ext cx="768" cy="288"/>
            </a:xfrm>
            <a:prstGeom prst="line">
              <a:avLst/>
            </a:prstGeom>
            <a:noFill/>
            <a:ln w="38100">
              <a:solidFill>
                <a:srgbClr val="22007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8" name="Line 44"/>
            <p:cNvSpPr>
              <a:spLocks noChangeShapeType="1"/>
            </p:cNvSpPr>
            <p:nvPr/>
          </p:nvSpPr>
          <p:spPr bwMode="auto">
            <a:xfrm>
              <a:off x="864" y="2785"/>
              <a:ext cx="816" cy="960"/>
            </a:xfrm>
            <a:prstGeom prst="line">
              <a:avLst/>
            </a:prstGeom>
            <a:noFill/>
            <a:ln w="38100">
              <a:solidFill>
                <a:srgbClr val="22007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448A303D-21AA-4EA3-94A6-C289FDC8BE65}" type="slidenum">
              <a:rPr lang="en-US" altLang="en-US" sz="1400" b="0"/>
              <a:pPr/>
              <a:t>11</a:t>
            </a:fld>
            <a:endParaRPr lang="en-US" altLang="en-US" sz="1400" b="0"/>
          </a:p>
        </p:txBody>
      </p:sp>
      <p:sp>
        <p:nvSpPr>
          <p:cNvPr id="16387" name="Rectangle 2"/>
          <p:cNvSpPr>
            <a:spLocks noGrp="1" noChangeArrowheads="1"/>
          </p:cNvSpPr>
          <p:nvPr>
            <p:ph type="title"/>
          </p:nvPr>
        </p:nvSpPr>
        <p:spPr/>
        <p:txBody>
          <a:bodyPr/>
          <a:lstStyle/>
          <a:p>
            <a:pPr eaLnBrk="1" hangingPunct="1"/>
            <a:r>
              <a:rPr lang="en-US" altLang="en-US"/>
              <a:t>Mục đích</a:t>
            </a:r>
          </a:p>
        </p:txBody>
      </p:sp>
      <p:sp>
        <p:nvSpPr>
          <p:cNvPr id="16388" name="Rectangle 3"/>
          <p:cNvSpPr>
            <a:spLocks noGrp="1" noChangeArrowheads="1"/>
          </p:cNvSpPr>
          <p:nvPr>
            <p:ph type="body" idx="1"/>
          </p:nvPr>
        </p:nvSpPr>
        <p:spPr>
          <a:xfrm>
            <a:off x="228600" y="866775"/>
            <a:ext cx="8728075" cy="5762625"/>
          </a:xfrm>
          <a:noFill/>
        </p:spPr>
        <p:txBody>
          <a:bodyPr lIns="0" rIns="0"/>
          <a:lstStyle/>
          <a:p>
            <a:pPr marL="347663" indent="-347663" eaLnBrk="1" hangingPunct="1">
              <a:lnSpc>
                <a:spcPct val="105000"/>
              </a:lnSpc>
              <a:buFontTx/>
              <a:buNone/>
            </a:pPr>
            <a:r>
              <a:rPr lang="fr-FR" altLang="en-US">
                <a:sym typeface="Symbol" panose="05050102010706020507" pitchFamily="18" charset="2"/>
              </a:rPr>
              <a:t>Khi gặp một danh biểu trong chương trình</a:t>
            </a:r>
          </a:p>
          <a:p>
            <a:pPr marL="347663" indent="-347663" eaLnBrk="1" hangingPunct="1">
              <a:lnSpc>
                <a:spcPct val="105000"/>
              </a:lnSpc>
            </a:pPr>
            <a:r>
              <a:rPr lang="fr-FR" altLang="en-US">
                <a:sym typeface="Symbol" panose="05050102010706020507" pitchFamily="18" charset="2"/>
              </a:rPr>
              <a:t>Gặp trong giai đoạn khai báo</a:t>
            </a:r>
          </a:p>
          <a:p>
            <a:pPr marL="854075" lvl="1" indent="-392113" eaLnBrk="1" hangingPunct="1">
              <a:lnSpc>
                <a:spcPct val="105000"/>
              </a:lnSpc>
            </a:pPr>
            <a:r>
              <a:rPr lang="fr-FR" altLang="en-US">
                <a:sym typeface="Symbol" panose="05050102010706020507" pitchFamily="18" charset="2"/>
              </a:rPr>
              <a:t>Đưa tên và các thông tin tương ứng vào bảng</a:t>
            </a:r>
          </a:p>
          <a:p>
            <a:pPr marL="854075" lvl="1" indent="-392113" eaLnBrk="1" hangingPunct="1">
              <a:lnSpc>
                <a:spcPct val="105000"/>
              </a:lnSpc>
            </a:pPr>
            <a:r>
              <a:rPr lang="fr-FR" altLang="en-US">
                <a:sym typeface="Symbol" panose="05050102010706020507" pitchFamily="18" charset="2"/>
              </a:rPr>
              <a:t>Ví dụ: </a:t>
            </a:r>
            <a:r>
              <a:rPr lang="fr-FR" altLang="en-US" b="1">
                <a:solidFill>
                  <a:srgbClr val="3539EB"/>
                </a:solidFill>
                <a:sym typeface="Symbol" panose="05050102010706020507" pitchFamily="18" charset="2"/>
              </a:rPr>
              <a:t>Const Max = 10;</a:t>
            </a:r>
          </a:p>
          <a:p>
            <a:pPr marL="1257300" lvl="2" eaLnBrk="1" hangingPunct="1">
              <a:lnSpc>
                <a:spcPct val="105000"/>
              </a:lnSpc>
            </a:pPr>
            <a:r>
              <a:rPr lang="fr-FR" altLang="en-US">
                <a:solidFill>
                  <a:srgbClr val="3539EB"/>
                </a:solidFill>
                <a:sym typeface="Symbol" panose="05050102010706020507" pitchFamily="18" charset="2"/>
              </a:rPr>
              <a:t>Đưa </a:t>
            </a:r>
            <a:r>
              <a:rPr lang="fr-FR" altLang="en-US" b="1">
                <a:solidFill>
                  <a:srgbClr val="3539EB"/>
                </a:solidFill>
                <a:sym typeface="Symbol" panose="05050102010706020507" pitchFamily="18" charset="2"/>
              </a:rPr>
              <a:t>Max</a:t>
            </a:r>
            <a:r>
              <a:rPr lang="fr-FR" altLang="en-US">
                <a:solidFill>
                  <a:srgbClr val="3539EB"/>
                </a:solidFill>
                <a:sym typeface="Symbol" panose="05050102010706020507" pitchFamily="18" charset="2"/>
              </a:rPr>
              <a:t> vào bảng, với kiểu là </a:t>
            </a:r>
            <a:r>
              <a:rPr lang="fr-FR" altLang="en-US" b="1">
                <a:solidFill>
                  <a:srgbClr val="3539EB"/>
                </a:solidFill>
                <a:sym typeface="Symbol" panose="05050102010706020507" pitchFamily="18" charset="2"/>
              </a:rPr>
              <a:t>constant</a:t>
            </a:r>
            <a:r>
              <a:rPr lang="fr-FR" altLang="en-US">
                <a:solidFill>
                  <a:srgbClr val="3539EB"/>
                </a:solidFill>
                <a:sym typeface="Symbol" panose="05050102010706020507" pitchFamily="18" charset="2"/>
              </a:rPr>
              <a:t>, giá trị là </a:t>
            </a:r>
            <a:r>
              <a:rPr lang="fr-FR" altLang="en-US" b="1">
                <a:solidFill>
                  <a:srgbClr val="3539EB"/>
                </a:solidFill>
                <a:sym typeface="Symbol" panose="05050102010706020507" pitchFamily="18" charset="2"/>
              </a:rPr>
              <a:t>10</a:t>
            </a:r>
            <a:r>
              <a:rPr lang="fr-FR" altLang="en-US">
                <a:sym typeface="Symbol" panose="05050102010706020507" pitchFamily="18" charset="2"/>
              </a:rPr>
              <a:t>;</a:t>
            </a:r>
          </a:p>
          <a:p>
            <a:pPr marL="347663" indent="-347663" eaLnBrk="1" hangingPunct="1">
              <a:lnSpc>
                <a:spcPct val="105000"/>
              </a:lnSpc>
            </a:pPr>
            <a:r>
              <a:rPr lang="fr-FR" altLang="en-US">
                <a:sym typeface="Symbol" panose="05050102010706020507" pitchFamily="18" charset="2"/>
              </a:rPr>
              <a:t>Gặp trong câu lệnh</a:t>
            </a:r>
          </a:p>
          <a:p>
            <a:pPr marL="854075" lvl="1" indent="-392113" eaLnBrk="1" hangingPunct="1">
              <a:lnSpc>
                <a:spcPct val="105000"/>
              </a:lnSpc>
            </a:pPr>
            <a:r>
              <a:rPr lang="fr-FR" altLang="en-US">
                <a:sym typeface="Symbol" panose="05050102010706020507" pitchFamily="18" charset="2"/>
              </a:rPr>
              <a:t>Đọc thông tin ra để sử dụng</a:t>
            </a:r>
          </a:p>
          <a:p>
            <a:pPr marL="1257300" lvl="2" eaLnBrk="1" hangingPunct="1">
              <a:lnSpc>
                <a:spcPct val="105000"/>
              </a:lnSpc>
            </a:pPr>
            <a:r>
              <a:rPr lang="fr-FR" altLang="en-US">
                <a:sym typeface="Symbol" panose="05050102010706020507" pitchFamily="18" charset="2"/>
              </a:rPr>
              <a:t>Phân tích ngữ nghĩa: Sử dụng đúng mục đích không?</a:t>
            </a:r>
          </a:p>
          <a:p>
            <a:pPr lvl="3" eaLnBrk="1" hangingPunct="1">
              <a:lnSpc>
                <a:spcPct val="105000"/>
              </a:lnSpc>
            </a:pPr>
            <a:r>
              <a:rPr lang="fr-FR" altLang="en-US">
                <a:sym typeface="Symbol" panose="05050102010706020507" pitchFamily="18" charset="2"/>
              </a:rPr>
              <a:t>Ví dụ: Max := 20;  Sai mục đích</a:t>
            </a:r>
          </a:p>
          <a:p>
            <a:pPr marL="1257300" lvl="2" eaLnBrk="1" hangingPunct="1">
              <a:lnSpc>
                <a:spcPct val="105000"/>
              </a:lnSpc>
            </a:pPr>
            <a:r>
              <a:rPr lang="fr-FR" altLang="en-US">
                <a:sym typeface="Symbol" panose="05050102010706020507" pitchFamily="18" charset="2"/>
              </a:rPr>
              <a:t>Sinh mã: Kích thước bộ nhớ cấp phát cho tên</a:t>
            </a:r>
          </a:p>
          <a:p>
            <a:pPr lvl="3" eaLnBrk="1" hangingPunct="1">
              <a:lnSpc>
                <a:spcPct val="105000"/>
              </a:lnSpc>
            </a:pPr>
            <a:r>
              <a:rPr lang="fr-FR" altLang="en-US">
                <a:sym typeface="Symbol" panose="05050102010706020507" pitchFamily="18" charset="2"/>
              </a:rPr>
              <a:t>Ví dụ: </a:t>
            </a:r>
            <a:r>
              <a:rPr lang="fr-FR" altLang="en-US">
                <a:solidFill>
                  <a:srgbClr val="3539EB"/>
                </a:solidFill>
                <a:sym typeface="Symbol" panose="05050102010706020507" pitchFamily="18" charset="2"/>
              </a:rPr>
              <a:t>int 2 bytes, float  4 byte</a:t>
            </a:r>
          </a:p>
        </p:txBody>
      </p:sp>
      <p:sp>
        <p:nvSpPr>
          <p:cNvPr id="16389"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3DB010FC-F00E-404D-9E45-4EACB0AD7906}" type="slidenum">
              <a:rPr lang="en-US" altLang="en-US" sz="1400" b="0"/>
              <a:pPr/>
              <a:t>12</a:t>
            </a:fld>
            <a:endParaRPr lang="en-US" altLang="en-US" sz="1400" b="0"/>
          </a:p>
        </p:txBody>
      </p:sp>
      <p:sp>
        <p:nvSpPr>
          <p:cNvPr id="17411" name="Rectangle 2"/>
          <p:cNvSpPr>
            <a:spLocks noGrp="1" noChangeArrowheads="1"/>
          </p:cNvSpPr>
          <p:nvPr>
            <p:ph type="title"/>
          </p:nvPr>
        </p:nvSpPr>
        <p:spPr/>
        <p:txBody>
          <a:bodyPr/>
          <a:lstStyle/>
          <a:p>
            <a:pPr eaLnBrk="1" hangingPunct="1"/>
            <a:r>
              <a:rPr lang="en-US" altLang="en-US"/>
              <a:t>Lưu trữ tên</a:t>
            </a:r>
          </a:p>
        </p:txBody>
      </p:sp>
      <p:sp>
        <p:nvSpPr>
          <p:cNvPr id="17412"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graphicFrame>
        <p:nvGraphicFramePr>
          <p:cNvPr id="1688711" name="Group 135"/>
          <p:cNvGraphicFramePr>
            <a:graphicFrameLocks noGrp="1"/>
          </p:cNvGraphicFramePr>
          <p:nvPr>
            <p:ph idx="1"/>
          </p:nvPr>
        </p:nvGraphicFramePr>
        <p:xfrm>
          <a:off x="304800" y="990600"/>
          <a:ext cx="5867400" cy="1981200"/>
        </p:xfrm>
        <a:graphic>
          <a:graphicData uri="http://schemas.openxmlformats.org/drawingml/2006/table">
            <a:tbl>
              <a:tblPr/>
              <a:tblGrid>
                <a:gridCol w="414338">
                  <a:extLst>
                    <a:ext uri="{9D8B030D-6E8A-4147-A177-3AD203B41FA5}">
                      <a16:colId xmlns:a16="http://schemas.microsoft.com/office/drawing/2014/main" val="20000"/>
                    </a:ext>
                  </a:extLst>
                </a:gridCol>
                <a:gridCol w="414337">
                  <a:extLst>
                    <a:ext uri="{9D8B030D-6E8A-4147-A177-3AD203B41FA5}">
                      <a16:colId xmlns:a16="http://schemas.microsoft.com/office/drawing/2014/main" val="20001"/>
                    </a:ext>
                  </a:extLst>
                </a:gridCol>
                <a:gridCol w="414338">
                  <a:extLst>
                    <a:ext uri="{9D8B030D-6E8A-4147-A177-3AD203B41FA5}">
                      <a16:colId xmlns:a16="http://schemas.microsoft.com/office/drawing/2014/main" val="20002"/>
                    </a:ext>
                  </a:extLst>
                </a:gridCol>
                <a:gridCol w="344487">
                  <a:extLst>
                    <a:ext uri="{9D8B030D-6E8A-4147-A177-3AD203B41FA5}">
                      <a16:colId xmlns:a16="http://schemas.microsoft.com/office/drawing/2014/main" val="20003"/>
                    </a:ext>
                  </a:extLst>
                </a:gridCol>
                <a:gridCol w="414338">
                  <a:extLst>
                    <a:ext uri="{9D8B030D-6E8A-4147-A177-3AD203B41FA5}">
                      <a16:colId xmlns:a16="http://schemas.microsoft.com/office/drawing/2014/main" val="20004"/>
                    </a:ext>
                  </a:extLst>
                </a:gridCol>
                <a:gridCol w="360362">
                  <a:extLst>
                    <a:ext uri="{9D8B030D-6E8A-4147-A177-3AD203B41FA5}">
                      <a16:colId xmlns:a16="http://schemas.microsoft.com/office/drawing/2014/main" val="20005"/>
                    </a:ext>
                  </a:extLst>
                </a:gridCol>
                <a:gridCol w="3810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gridCol w="2590800">
                  <a:extLst>
                    <a:ext uri="{9D8B030D-6E8A-4147-A177-3AD203B41FA5}">
                      <a16:colId xmlns:a16="http://schemas.microsoft.com/office/drawing/2014/main" val="20008"/>
                    </a:ext>
                  </a:extLst>
                </a:gridCol>
              </a:tblGrid>
              <a:tr h="350838">
                <a:tc gridSpan="8">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Tên</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Thuộc tính</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0838">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m</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a</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x</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9250">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n</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0838">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i</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n</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t</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A</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r</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r</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a</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y</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0838">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688777" name="Group 201"/>
          <p:cNvGraphicFramePr>
            <a:graphicFrameLocks noGrp="1"/>
          </p:cNvGraphicFramePr>
          <p:nvPr/>
        </p:nvGraphicFramePr>
        <p:xfrm>
          <a:off x="5410200" y="3414713"/>
          <a:ext cx="3124200" cy="1981200"/>
        </p:xfrm>
        <a:graphic>
          <a:graphicData uri="http://schemas.openxmlformats.org/drawingml/2006/table">
            <a:tbl>
              <a:tblPr/>
              <a:tblGrid>
                <a:gridCol w="6858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tblGrid>
              <a:tr h="350838">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Tên</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Thuộc tính</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0838">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9250">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0838">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0838">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688893" name="Group 317"/>
          <p:cNvGraphicFramePr>
            <a:graphicFrameLocks noGrp="1"/>
          </p:cNvGraphicFramePr>
          <p:nvPr/>
        </p:nvGraphicFramePr>
        <p:xfrm>
          <a:off x="685800" y="5853113"/>
          <a:ext cx="7239000" cy="396875"/>
        </p:xfrm>
        <a:graphic>
          <a:graphicData uri="http://schemas.openxmlformats.org/drawingml/2006/table">
            <a:tbl>
              <a:tblPr/>
              <a:tblGrid>
                <a:gridCol w="427038">
                  <a:extLst>
                    <a:ext uri="{9D8B030D-6E8A-4147-A177-3AD203B41FA5}">
                      <a16:colId xmlns:a16="http://schemas.microsoft.com/office/drawing/2014/main" val="20000"/>
                    </a:ext>
                  </a:extLst>
                </a:gridCol>
                <a:gridCol w="334962">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3810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304800">
                  <a:extLst>
                    <a:ext uri="{9D8B030D-6E8A-4147-A177-3AD203B41FA5}">
                      <a16:colId xmlns:a16="http://schemas.microsoft.com/office/drawing/2014/main" val="20006"/>
                    </a:ext>
                  </a:extLst>
                </a:gridCol>
                <a:gridCol w="381000">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4572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81000">
                  <a:extLst>
                    <a:ext uri="{9D8B030D-6E8A-4147-A177-3AD203B41FA5}">
                      <a16:colId xmlns:a16="http://schemas.microsoft.com/office/drawing/2014/main" val="20011"/>
                    </a:ext>
                  </a:extLst>
                </a:gridCol>
                <a:gridCol w="457200">
                  <a:extLst>
                    <a:ext uri="{9D8B030D-6E8A-4147-A177-3AD203B41FA5}">
                      <a16:colId xmlns:a16="http://schemas.microsoft.com/office/drawing/2014/main" val="20012"/>
                    </a:ext>
                  </a:extLst>
                </a:gridCol>
                <a:gridCol w="304800">
                  <a:extLst>
                    <a:ext uri="{9D8B030D-6E8A-4147-A177-3AD203B41FA5}">
                      <a16:colId xmlns:a16="http://schemas.microsoft.com/office/drawing/2014/main" val="20013"/>
                    </a:ext>
                  </a:extLst>
                </a:gridCol>
                <a:gridCol w="609600">
                  <a:extLst>
                    <a:ext uri="{9D8B030D-6E8A-4147-A177-3AD203B41FA5}">
                      <a16:colId xmlns:a16="http://schemas.microsoft.com/office/drawing/2014/main" val="20014"/>
                    </a:ext>
                  </a:extLst>
                </a:gridCol>
                <a:gridCol w="381000">
                  <a:extLst>
                    <a:ext uri="{9D8B030D-6E8A-4147-A177-3AD203B41FA5}">
                      <a16:colId xmlns:a16="http://schemas.microsoft.com/office/drawing/2014/main" val="20015"/>
                    </a:ext>
                  </a:extLst>
                </a:gridCol>
                <a:gridCol w="457200">
                  <a:extLst>
                    <a:ext uri="{9D8B030D-6E8A-4147-A177-3AD203B41FA5}">
                      <a16:colId xmlns:a16="http://schemas.microsoft.com/office/drawing/2014/main" val="20016"/>
                    </a:ext>
                  </a:extLst>
                </a:gridCol>
              </a:tblGrid>
              <a:tr h="396875">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m</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93" marB="457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a</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x</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eos</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n</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eos</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i</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n</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t</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A</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r</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r</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a</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y</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eos</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marT="45793" marB="45793"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marT="45793" marB="45793" horzOverflow="overflow">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1688899" name="Group 323"/>
          <p:cNvGrpSpPr>
            <a:grpSpLocks/>
          </p:cNvGrpSpPr>
          <p:nvPr/>
        </p:nvGrpSpPr>
        <p:grpSpPr bwMode="auto">
          <a:xfrm>
            <a:off x="838200" y="3719513"/>
            <a:ext cx="5105400" cy="2133600"/>
            <a:chOff x="480" y="2160"/>
            <a:chExt cx="3216" cy="1344"/>
          </a:xfrm>
        </p:grpSpPr>
        <p:sp>
          <p:nvSpPr>
            <p:cNvPr id="17530" name="Freeform 318"/>
            <p:cNvSpPr>
              <a:spLocks/>
            </p:cNvSpPr>
            <p:nvPr/>
          </p:nvSpPr>
          <p:spPr bwMode="auto">
            <a:xfrm>
              <a:off x="480" y="2160"/>
              <a:ext cx="3072" cy="1344"/>
            </a:xfrm>
            <a:custGeom>
              <a:avLst/>
              <a:gdLst>
                <a:gd name="T0" fmla="*/ 3072 w 3072"/>
                <a:gd name="T1" fmla="*/ 192 h 1344"/>
                <a:gd name="T2" fmla="*/ 960 w 3072"/>
                <a:gd name="T3" fmla="*/ 192 h 1344"/>
                <a:gd name="T4" fmla="*/ 0 w 3072"/>
                <a:gd name="T5" fmla="*/ 1344 h 1344"/>
                <a:gd name="T6" fmla="*/ 0 60000 65536"/>
                <a:gd name="T7" fmla="*/ 0 60000 65536"/>
                <a:gd name="T8" fmla="*/ 0 60000 65536"/>
              </a:gdLst>
              <a:ahLst/>
              <a:cxnLst>
                <a:cxn ang="T6">
                  <a:pos x="T0" y="T1"/>
                </a:cxn>
                <a:cxn ang="T7">
                  <a:pos x="T2" y="T3"/>
                </a:cxn>
                <a:cxn ang="T8">
                  <a:pos x="T4" y="T5"/>
                </a:cxn>
              </a:cxnLst>
              <a:rect l="0" t="0" r="r" b="b"/>
              <a:pathLst>
                <a:path w="3072" h="1344">
                  <a:moveTo>
                    <a:pt x="3072" y="192"/>
                  </a:moveTo>
                  <a:cubicBezTo>
                    <a:pt x="2272" y="96"/>
                    <a:pt x="1472" y="0"/>
                    <a:pt x="960" y="192"/>
                  </a:cubicBezTo>
                  <a:cubicBezTo>
                    <a:pt x="448" y="384"/>
                    <a:pt x="224" y="864"/>
                    <a:pt x="0" y="1344"/>
                  </a:cubicBezTo>
                </a:path>
              </a:pathLst>
            </a:custGeom>
            <a:noFill/>
            <a:ln w="28575"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531" name="Freeform 321"/>
            <p:cNvSpPr>
              <a:spLocks/>
            </p:cNvSpPr>
            <p:nvPr/>
          </p:nvSpPr>
          <p:spPr bwMode="auto">
            <a:xfrm>
              <a:off x="1632" y="2392"/>
              <a:ext cx="2064" cy="1112"/>
            </a:xfrm>
            <a:custGeom>
              <a:avLst/>
              <a:gdLst>
                <a:gd name="T0" fmla="*/ 2064 w 2064"/>
                <a:gd name="T1" fmla="*/ 200 h 1112"/>
                <a:gd name="T2" fmla="*/ 672 w 2064"/>
                <a:gd name="T3" fmla="*/ 152 h 1112"/>
                <a:gd name="T4" fmla="*/ 0 w 2064"/>
                <a:gd name="T5" fmla="*/ 1112 h 1112"/>
                <a:gd name="T6" fmla="*/ 0 60000 65536"/>
                <a:gd name="T7" fmla="*/ 0 60000 65536"/>
                <a:gd name="T8" fmla="*/ 0 60000 65536"/>
              </a:gdLst>
              <a:ahLst/>
              <a:cxnLst>
                <a:cxn ang="T6">
                  <a:pos x="T0" y="T1"/>
                </a:cxn>
                <a:cxn ang="T7">
                  <a:pos x="T2" y="T3"/>
                </a:cxn>
                <a:cxn ang="T8">
                  <a:pos x="T4" y="T5"/>
                </a:cxn>
              </a:cxnLst>
              <a:rect l="0" t="0" r="r" b="b"/>
              <a:pathLst>
                <a:path w="2064" h="1112">
                  <a:moveTo>
                    <a:pt x="2064" y="200"/>
                  </a:moveTo>
                  <a:cubicBezTo>
                    <a:pt x="1540" y="100"/>
                    <a:pt x="1016" y="0"/>
                    <a:pt x="672" y="152"/>
                  </a:cubicBezTo>
                  <a:cubicBezTo>
                    <a:pt x="328" y="304"/>
                    <a:pt x="164" y="708"/>
                    <a:pt x="0" y="1112"/>
                  </a:cubicBezTo>
                </a:path>
              </a:pathLst>
            </a:custGeom>
            <a:noFill/>
            <a:ln w="28575"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532" name="Freeform 322"/>
            <p:cNvSpPr>
              <a:spLocks/>
            </p:cNvSpPr>
            <p:nvPr/>
          </p:nvSpPr>
          <p:spPr bwMode="auto">
            <a:xfrm>
              <a:off x="2208" y="2776"/>
              <a:ext cx="1344" cy="728"/>
            </a:xfrm>
            <a:custGeom>
              <a:avLst/>
              <a:gdLst>
                <a:gd name="T0" fmla="*/ 1344 w 1344"/>
                <a:gd name="T1" fmla="*/ 104 h 728"/>
                <a:gd name="T2" fmla="*/ 816 w 1344"/>
                <a:gd name="T3" fmla="*/ 104 h 728"/>
                <a:gd name="T4" fmla="*/ 0 w 1344"/>
                <a:gd name="T5" fmla="*/ 728 h 728"/>
                <a:gd name="T6" fmla="*/ 0 60000 65536"/>
                <a:gd name="T7" fmla="*/ 0 60000 65536"/>
                <a:gd name="T8" fmla="*/ 0 60000 65536"/>
              </a:gdLst>
              <a:ahLst/>
              <a:cxnLst>
                <a:cxn ang="T6">
                  <a:pos x="T0" y="T1"/>
                </a:cxn>
                <a:cxn ang="T7">
                  <a:pos x="T2" y="T3"/>
                </a:cxn>
                <a:cxn ang="T8">
                  <a:pos x="T4" y="T5"/>
                </a:cxn>
              </a:cxnLst>
              <a:rect l="0" t="0" r="r" b="b"/>
              <a:pathLst>
                <a:path w="1344" h="728">
                  <a:moveTo>
                    <a:pt x="1344" y="104"/>
                  </a:moveTo>
                  <a:cubicBezTo>
                    <a:pt x="1192" y="52"/>
                    <a:pt x="1040" y="0"/>
                    <a:pt x="816" y="104"/>
                  </a:cubicBezTo>
                  <a:cubicBezTo>
                    <a:pt x="592" y="208"/>
                    <a:pt x="296" y="468"/>
                    <a:pt x="0" y="728"/>
                  </a:cubicBezTo>
                </a:path>
              </a:pathLst>
            </a:custGeom>
            <a:noFill/>
            <a:ln w="28575"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7527" name="AutoShape 324"/>
          <p:cNvSpPr>
            <a:spLocks/>
          </p:cNvSpPr>
          <p:nvPr/>
        </p:nvSpPr>
        <p:spPr bwMode="auto">
          <a:xfrm>
            <a:off x="6248400" y="914400"/>
            <a:ext cx="152400" cy="2057400"/>
          </a:xfrm>
          <a:prstGeom prst="rightBrace">
            <a:avLst>
              <a:gd name="adj1" fmla="val 1125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1688901" name="Text Box 325"/>
          <p:cNvSpPr txBox="1">
            <a:spLocks noChangeArrowheads="1"/>
          </p:cNvSpPr>
          <p:nvPr/>
        </p:nvSpPr>
        <p:spPr bwMode="auto">
          <a:xfrm>
            <a:off x="6477000" y="762000"/>
            <a:ext cx="2438400" cy="250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31775" indent="-231775">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20000"/>
              </a:spcBef>
              <a:buFontTx/>
              <a:buChar char="•"/>
            </a:pPr>
            <a:r>
              <a:rPr lang="fr-FR" altLang="en-US" sz="2400" b="0">
                <a:solidFill>
                  <a:srgbClr val="270076"/>
                </a:solidFill>
              </a:rPr>
              <a:t>Đơn giản</a:t>
            </a:r>
          </a:p>
          <a:p>
            <a:pPr eaLnBrk="1" hangingPunct="1">
              <a:spcBef>
                <a:spcPct val="20000"/>
              </a:spcBef>
              <a:buFontTx/>
              <a:buChar char="•"/>
            </a:pPr>
            <a:r>
              <a:rPr lang="fr-FR" altLang="en-US" sz="2400" b="0">
                <a:solidFill>
                  <a:srgbClr val="270076"/>
                </a:solidFill>
              </a:rPr>
              <a:t>Nhanh</a:t>
            </a:r>
          </a:p>
          <a:p>
            <a:pPr eaLnBrk="1" hangingPunct="1">
              <a:spcBef>
                <a:spcPct val="20000"/>
              </a:spcBef>
              <a:buFontTx/>
              <a:buChar char="•"/>
            </a:pPr>
            <a:r>
              <a:rPr lang="fr-FR" altLang="en-US" sz="2400" b="0">
                <a:solidFill>
                  <a:srgbClr val="270076"/>
                </a:solidFill>
              </a:rPr>
              <a:t>Độ dài tên bị giới hạn</a:t>
            </a:r>
          </a:p>
          <a:p>
            <a:pPr eaLnBrk="1" hangingPunct="1">
              <a:spcBef>
                <a:spcPct val="20000"/>
              </a:spcBef>
              <a:buFontTx/>
              <a:buChar char="•"/>
            </a:pPr>
            <a:r>
              <a:rPr lang="fr-FR" altLang="en-US" sz="2400" b="0">
                <a:solidFill>
                  <a:srgbClr val="270076"/>
                </a:solidFill>
              </a:rPr>
              <a:t>Lãng phí nhớ (</a:t>
            </a:r>
            <a:r>
              <a:rPr lang="fr-FR" altLang="en-US" sz="2400" b="0">
                <a:solidFill>
                  <a:srgbClr val="270076"/>
                </a:solidFill>
                <a:sym typeface="Symbol" panose="05050102010706020507" pitchFamily="18" charset="2"/>
              </a:rPr>
              <a:t></a:t>
            </a:r>
            <a:r>
              <a:rPr lang="fr-FR" altLang="en-US" sz="2400" b="0">
                <a:solidFill>
                  <a:srgbClr val="270076"/>
                </a:solidFill>
              </a:rPr>
              <a:t>20%)</a:t>
            </a:r>
            <a:endParaRPr lang="en-US" altLang="en-US" sz="2400" b="0">
              <a:solidFill>
                <a:srgbClr val="270076"/>
              </a:solidFill>
            </a:endParaRPr>
          </a:p>
        </p:txBody>
      </p:sp>
      <p:sp>
        <p:nvSpPr>
          <p:cNvPr id="1688902" name="Text Box 326"/>
          <p:cNvSpPr txBox="1">
            <a:spLocks noChangeArrowheads="1"/>
          </p:cNvSpPr>
          <p:nvPr/>
        </p:nvSpPr>
        <p:spPr bwMode="auto">
          <a:xfrm>
            <a:off x="6324600" y="6248400"/>
            <a:ext cx="236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2400" b="0">
                <a:solidFill>
                  <a:srgbClr val="270076"/>
                </a:solidFill>
              </a:rPr>
              <a:t>Hiệu quả hơn</a:t>
            </a:r>
            <a:endParaRPr lang="en-US" altLang="en-US" sz="2400" b="0">
              <a:solidFill>
                <a:srgbClr val="270076"/>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88901"/>
                                        </p:tgtEl>
                                        <p:attrNameLst>
                                          <p:attrName>style.visibility</p:attrName>
                                        </p:attrNameLst>
                                      </p:cBhvr>
                                      <p:to>
                                        <p:strVal val="visible"/>
                                      </p:to>
                                    </p:set>
                                    <p:animEffect transition="in" filter="checkerboard(across)">
                                      <p:cBhvr>
                                        <p:cTn id="7" dur="500"/>
                                        <p:tgtEl>
                                          <p:spTgt spid="16889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688777"/>
                                        </p:tgtEl>
                                        <p:attrNameLst>
                                          <p:attrName>style.visibility</p:attrName>
                                        </p:attrNameLst>
                                      </p:cBhvr>
                                      <p:to>
                                        <p:strVal val="visible"/>
                                      </p:to>
                                    </p:set>
                                    <p:animEffect transition="in" filter="dissolve">
                                      <p:cBhvr>
                                        <p:cTn id="12" dur="500"/>
                                        <p:tgtEl>
                                          <p:spTgt spid="1688777"/>
                                        </p:tgtEl>
                                      </p:cBhvr>
                                    </p:animEffect>
                                  </p:childTnLst>
                                </p:cTn>
                              </p:par>
                              <p:par>
                                <p:cTn id="13" presetID="9" presetClass="entr" presetSubtype="0" fill="hold" nodeType="withEffect">
                                  <p:stCondLst>
                                    <p:cond delay="0"/>
                                  </p:stCondLst>
                                  <p:childTnLst>
                                    <p:set>
                                      <p:cBhvr>
                                        <p:cTn id="14" dur="1" fill="hold">
                                          <p:stCondLst>
                                            <p:cond delay="0"/>
                                          </p:stCondLst>
                                        </p:cTn>
                                        <p:tgtEl>
                                          <p:spTgt spid="1688893"/>
                                        </p:tgtEl>
                                        <p:attrNameLst>
                                          <p:attrName>style.visibility</p:attrName>
                                        </p:attrNameLst>
                                      </p:cBhvr>
                                      <p:to>
                                        <p:strVal val="visible"/>
                                      </p:to>
                                    </p:set>
                                    <p:animEffect transition="in" filter="dissolve">
                                      <p:cBhvr>
                                        <p:cTn id="15" dur="500"/>
                                        <p:tgtEl>
                                          <p:spTgt spid="1688893"/>
                                        </p:tgtEl>
                                      </p:cBhvr>
                                    </p:animEffect>
                                  </p:childTnLst>
                                </p:cTn>
                              </p:par>
                              <p:par>
                                <p:cTn id="16" presetID="9" presetClass="entr" presetSubtype="0" fill="hold" nodeType="withEffect">
                                  <p:stCondLst>
                                    <p:cond delay="0"/>
                                  </p:stCondLst>
                                  <p:childTnLst>
                                    <p:set>
                                      <p:cBhvr>
                                        <p:cTn id="17" dur="1" fill="hold">
                                          <p:stCondLst>
                                            <p:cond delay="0"/>
                                          </p:stCondLst>
                                        </p:cTn>
                                        <p:tgtEl>
                                          <p:spTgt spid="1688899"/>
                                        </p:tgtEl>
                                        <p:attrNameLst>
                                          <p:attrName>style.visibility</p:attrName>
                                        </p:attrNameLst>
                                      </p:cBhvr>
                                      <p:to>
                                        <p:strVal val="visible"/>
                                      </p:to>
                                    </p:set>
                                    <p:animEffect transition="in" filter="dissolve">
                                      <p:cBhvr>
                                        <p:cTn id="18" dur="500"/>
                                        <p:tgtEl>
                                          <p:spTgt spid="1688899"/>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688902"/>
                                        </p:tgtEl>
                                        <p:attrNameLst>
                                          <p:attrName>style.visibility</p:attrName>
                                        </p:attrNameLst>
                                      </p:cBhvr>
                                      <p:to>
                                        <p:strVal val="visible"/>
                                      </p:to>
                                    </p:set>
                                    <p:animEffect transition="in" filter="dissolve">
                                      <p:cBhvr>
                                        <p:cTn id="21" dur="500"/>
                                        <p:tgtEl>
                                          <p:spTgt spid="16889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8901" grpId="0"/>
      <p:bldP spid="168890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5C874529-2EE0-4C8C-AC69-A71BEA1E9B65}" type="slidenum">
              <a:rPr lang="en-US" altLang="en-US" sz="1400" b="0"/>
              <a:pPr/>
              <a:t>13</a:t>
            </a:fld>
            <a:endParaRPr lang="en-US" altLang="en-US" sz="1400" b="0"/>
          </a:p>
        </p:txBody>
      </p:sp>
      <p:sp>
        <p:nvSpPr>
          <p:cNvPr id="18435" name="Rectangle 2"/>
          <p:cNvSpPr>
            <a:spLocks noGrp="1" noChangeArrowheads="1"/>
          </p:cNvSpPr>
          <p:nvPr>
            <p:ph type="title"/>
          </p:nvPr>
        </p:nvSpPr>
        <p:spPr/>
        <p:txBody>
          <a:bodyPr/>
          <a:lstStyle/>
          <a:p>
            <a:pPr eaLnBrk="1" hangingPunct="1"/>
            <a:r>
              <a:rPr lang="en-US" altLang="en-US"/>
              <a:t>Các yêu cầu phải có của bảng ký hiệu</a:t>
            </a:r>
          </a:p>
        </p:txBody>
      </p:sp>
      <p:sp>
        <p:nvSpPr>
          <p:cNvPr id="18436" name="Rectangle 3"/>
          <p:cNvSpPr>
            <a:spLocks noGrp="1" noChangeArrowheads="1"/>
          </p:cNvSpPr>
          <p:nvPr>
            <p:ph type="body" idx="1"/>
          </p:nvPr>
        </p:nvSpPr>
        <p:spPr>
          <a:xfrm>
            <a:off x="177800" y="1143000"/>
            <a:ext cx="8813800" cy="4467225"/>
          </a:xfrm>
        </p:spPr>
        <p:txBody>
          <a:bodyPr/>
          <a:lstStyle/>
          <a:p>
            <a:pPr marL="508000" indent="-508000" algn="just" eaLnBrk="1" hangingPunct="1">
              <a:lnSpc>
                <a:spcPct val="120000"/>
              </a:lnSpc>
              <a:spcBef>
                <a:spcPct val="40000"/>
              </a:spcBef>
            </a:pPr>
            <a:r>
              <a:rPr lang="fr-FR" altLang="en-US">
                <a:sym typeface="Symbol" panose="05050102010706020507" pitchFamily="18" charset="2"/>
              </a:rPr>
              <a:t>Phát hiện một tên cho trước có trong bảng hay không</a:t>
            </a:r>
          </a:p>
          <a:p>
            <a:pPr marL="508000" indent="-508000" algn="just" eaLnBrk="1" hangingPunct="1">
              <a:lnSpc>
                <a:spcPct val="120000"/>
              </a:lnSpc>
              <a:spcBef>
                <a:spcPct val="40000"/>
              </a:spcBef>
            </a:pPr>
            <a:r>
              <a:rPr lang="fr-FR" altLang="en-US">
                <a:sym typeface="Symbol" panose="05050102010706020507" pitchFamily="18" charset="2"/>
              </a:rPr>
              <a:t>Thêm một tên vào bảng</a:t>
            </a:r>
          </a:p>
          <a:p>
            <a:pPr marL="508000" indent="-508000" algn="just" eaLnBrk="1" hangingPunct="1">
              <a:lnSpc>
                <a:spcPct val="120000"/>
              </a:lnSpc>
              <a:spcBef>
                <a:spcPct val="40000"/>
              </a:spcBef>
            </a:pPr>
            <a:r>
              <a:rPr lang="fr-FR" altLang="en-US">
                <a:sym typeface="Symbol" panose="05050102010706020507" pitchFamily="18" charset="2"/>
              </a:rPr>
              <a:t>Lấy thuộc tính tương ứng với một tên</a:t>
            </a:r>
          </a:p>
          <a:p>
            <a:pPr marL="508000" indent="-508000" algn="just" eaLnBrk="1" hangingPunct="1">
              <a:lnSpc>
                <a:spcPct val="120000"/>
              </a:lnSpc>
              <a:spcBef>
                <a:spcPct val="40000"/>
              </a:spcBef>
            </a:pPr>
            <a:r>
              <a:rPr lang="fr-FR" altLang="en-US">
                <a:sym typeface="Symbol" panose="05050102010706020507" pitchFamily="18" charset="2"/>
              </a:rPr>
              <a:t>Thêm các thông tin mới vào một tên</a:t>
            </a:r>
          </a:p>
          <a:p>
            <a:pPr marL="508000" indent="-508000" algn="just" eaLnBrk="1" hangingPunct="1">
              <a:lnSpc>
                <a:spcPct val="120000"/>
              </a:lnSpc>
              <a:spcBef>
                <a:spcPct val="40000"/>
              </a:spcBef>
            </a:pPr>
            <a:r>
              <a:rPr lang="fr-FR" altLang="en-US">
                <a:sym typeface="Symbol" panose="05050102010706020507" pitchFamily="18" charset="2"/>
              </a:rPr>
              <a:t>Xóa một tên, nhóm tên ra khỏi bảng</a:t>
            </a:r>
          </a:p>
        </p:txBody>
      </p:sp>
      <p:sp>
        <p:nvSpPr>
          <p:cNvPr id="18437"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292F9FBE-DE68-4827-81FF-9346DBAE8DF2}" type="slidenum">
              <a:rPr lang="en-US" altLang="en-US" sz="1400" b="0"/>
              <a:pPr/>
              <a:t>14</a:t>
            </a:fld>
            <a:endParaRPr lang="en-US" altLang="en-US" sz="1400" b="0"/>
          </a:p>
        </p:txBody>
      </p:sp>
      <p:sp>
        <p:nvSpPr>
          <p:cNvPr id="19459" name="Rectangle 2"/>
          <p:cNvSpPr>
            <a:spLocks noGrp="1" noChangeArrowheads="1"/>
          </p:cNvSpPr>
          <p:nvPr>
            <p:ph type="title"/>
          </p:nvPr>
        </p:nvSpPr>
        <p:spPr/>
        <p:txBody>
          <a:bodyPr/>
          <a:lstStyle/>
          <a:p>
            <a:pPr eaLnBrk="1" hangingPunct="1"/>
            <a:r>
              <a:rPr lang="en-US" altLang="en-US"/>
              <a:t>Các cấu trúc dữ liệu cho bảng ký hiệu</a:t>
            </a:r>
          </a:p>
        </p:txBody>
      </p:sp>
      <p:sp>
        <p:nvSpPr>
          <p:cNvPr id="19460" name="Rectangle 3"/>
          <p:cNvSpPr>
            <a:spLocks noGrp="1" noChangeArrowheads="1"/>
          </p:cNvSpPr>
          <p:nvPr>
            <p:ph type="body" idx="1"/>
          </p:nvPr>
        </p:nvSpPr>
        <p:spPr>
          <a:xfrm>
            <a:off x="228600" y="866775"/>
            <a:ext cx="8728075" cy="4238625"/>
          </a:xfrm>
        </p:spPr>
        <p:txBody>
          <a:bodyPr/>
          <a:lstStyle/>
          <a:p>
            <a:pPr marL="347663" indent="-347663" algn="just" eaLnBrk="1" hangingPunct="1">
              <a:lnSpc>
                <a:spcPct val="105000"/>
              </a:lnSpc>
              <a:buFontTx/>
              <a:buNone/>
            </a:pPr>
            <a:r>
              <a:rPr lang="fr-FR" altLang="en-US">
                <a:sym typeface="Symbol" panose="05050102010706020507" pitchFamily="18" charset="2"/>
              </a:rPr>
              <a:t>Nhiều cách tổ chức bảng ký hiệu khác nhau</a:t>
            </a:r>
          </a:p>
          <a:p>
            <a:pPr marL="347663" indent="-347663" algn="just" eaLnBrk="1" hangingPunct="1">
              <a:lnSpc>
                <a:spcPct val="105000"/>
              </a:lnSpc>
            </a:pPr>
            <a:r>
              <a:rPr lang="fr-FR" altLang="en-US">
                <a:sym typeface="Symbol" panose="05050102010706020507" pitchFamily="18" charset="2"/>
              </a:rPr>
              <a:t>Danh sách tuyến tính</a:t>
            </a:r>
          </a:p>
          <a:p>
            <a:pPr marL="912813" lvl="1" indent="-450850" algn="just" eaLnBrk="1" hangingPunct="1">
              <a:lnSpc>
                <a:spcPct val="105000"/>
              </a:lnSpc>
            </a:pPr>
            <a:r>
              <a:rPr lang="fr-FR" altLang="en-US">
                <a:sym typeface="Symbol" panose="05050102010706020507" pitchFamily="18" charset="2"/>
              </a:rPr>
              <a:t>Đơn gian, chậm</a:t>
            </a:r>
          </a:p>
          <a:p>
            <a:pPr marL="347663" indent="-347663" algn="just" eaLnBrk="1" hangingPunct="1">
              <a:lnSpc>
                <a:spcPct val="105000"/>
              </a:lnSpc>
            </a:pPr>
            <a:r>
              <a:rPr lang="fr-FR" altLang="en-US">
                <a:sym typeface="Symbol" panose="05050102010706020507" pitchFamily="18" charset="2"/>
              </a:rPr>
              <a:t>Bảng băm</a:t>
            </a:r>
          </a:p>
          <a:p>
            <a:pPr marL="912813" lvl="1" indent="-450850" algn="just" eaLnBrk="1" hangingPunct="1">
              <a:lnSpc>
                <a:spcPct val="105000"/>
              </a:lnSpc>
            </a:pPr>
            <a:r>
              <a:rPr lang="fr-FR" altLang="en-US">
                <a:sym typeface="Symbol" panose="05050102010706020507" pitchFamily="18" charset="2"/>
              </a:rPr>
              <a:t>Nhanh, phức tạp</a:t>
            </a:r>
          </a:p>
          <a:p>
            <a:pPr marL="347663" indent="-347663" algn="just" eaLnBrk="1" hangingPunct="1">
              <a:lnSpc>
                <a:spcPct val="105000"/>
              </a:lnSpc>
            </a:pPr>
            <a:r>
              <a:rPr lang="fr-FR" altLang="en-US">
                <a:sym typeface="Symbol" panose="05050102010706020507" pitchFamily="18" charset="2"/>
              </a:rPr>
              <a:t>Cây nhị phân tìm kiếm</a:t>
            </a:r>
          </a:p>
          <a:p>
            <a:pPr marL="912813" lvl="1" indent="-450850" algn="just" eaLnBrk="1" hangingPunct="1">
              <a:lnSpc>
                <a:spcPct val="105000"/>
              </a:lnSpc>
            </a:pPr>
            <a:r>
              <a:rPr lang="fr-FR" altLang="en-US">
                <a:sym typeface="Symbol" panose="05050102010706020507" pitchFamily="18" charset="2"/>
              </a:rPr>
              <a:t>Mức độ phức tạp và tốc độ vừa phải</a:t>
            </a:r>
          </a:p>
        </p:txBody>
      </p:sp>
      <p:sp>
        <p:nvSpPr>
          <p:cNvPr id="19461"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sp>
        <p:nvSpPr>
          <p:cNvPr id="1686565" name="Rectangle 37"/>
          <p:cNvSpPr>
            <a:spLocks noChangeArrowheads="1"/>
          </p:cNvSpPr>
          <p:nvPr/>
        </p:nvSpPr>
        <p:spPr bwMode="auto">
          <a:xfrm>
            <a:off x="228600" y="5181600"/>
            <a:ext cx="8728075" cy="1190625"/>
          </a:xfrm>
          <a:prstGeom prst="rect">
            <a:avLst/>
          </a:prstGeom>
          <a:noFill/>
          <a:ln w="9525">
            <a:solidFill>
              <a:srgbClr val="FA061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rgbClr val="270076"/>
                </a:solidFill>
                <a:latin typeface="Arial" panose="020B0604020202020204" pitchFamily="34" charset="0"/>
              </a:defRPr>
            </a:lvl1pPr>
            <a:lvl2pPr marL="912813" indent="-450850">
              <a:spcBef>
                <a:spcPct val="20000"/>
              </a:spcBef>
              <a:buChar char="–"/>
              <a:defRPr sz="2800">
                <a:solidFill>
                  <a:srgbClr val="270076"/>
                </a:solidFill>
                <a:latin typeface="Arial" panose="020B0604020202020204" pitchFamily="34" charset="0"/>
              </a:defRPr>
            </a:lvl2pPr>
            <a:lvl3pPr marL="1257300" indent="-228600">
              <a:spcBef>
                <a:spcPct val="20000"/>
              </a:spcBef>
              <a:buChar char="•"/>
              <a:defRPr sz="2400">
                <a:solidFill>
                  <a:srgbClr val="270076"/>
                </a:solidFill>
                <a:latin typeface="Arial" panose="020B0604020202020204" pitchFamily="34" charset="0"/>
              </a:defRPr>
            </a:lvl3pPr>
            <a:lvl4pPr marL="1600200" indent="-228600">
              <a:spcBef>
                <a:spcPct val="20000"/>
              </a:spcBef>
              <a:buChar char="–"/>
              <a:defRPr sz="2000">
                <a:solidFill>
                  <a:srgbClr val="270076"/>
                </a:solidFill>
                <a:latin typeface="Arial" panose="020B0604020202020204" pitchFamily="34" charset="0"/>
              </a:defRPr>
            </a:lvl4pPr>
            <a:lvl5pPr marL="2057400" indent="-228600">
              <a:spcBef>
                <a:spcPct val="20000"/>
              </a:spcBef>
              <a:buChar char="»"/>
              <a:defRPr sz="2000">
                <a:solidFill>
                  <a:srgbClr val="270076"/>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270076"/>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270076"/>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270076"/>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270076"/>
                </a:solidFill>
                <a:latin typeface="Arial" panose="020B0604020202020204" pitchFamily="34" charset="0"/>
              </a:defRPr>
            </a:lvl9pPr>
          </a:lstStyle>
          <a:p>
            <a:pPr algn="ctr" eaLnBrk="1" hangingPunct="1">
              <a:lnSpc>
                <a:spcPct val="120000"/>
              </a:lnSpc>
              <a:buFontTx/>
              <a:buNone/>
            </a:pPr>
            <a:r>
              <a:rPr lang="fr-FR" altLang="en-US" sz="2800" b="0">
                <a:sym typeface="Symbol" panose="05050102010706020507" pitchFamily="18" charset="2"/>
              </a:rPr>
              <a:t>Bảng ký hiệu ảnh hưởng tới chất lượng của chương trình dịch vì CTD làm việc liên tục với bảng ký hiệu</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86565"/>
                                        </p:tgtEl>
                                        <p:attrNameLst>
                                          <p:attrName>style.visibility</p:attrName>
                                        </p:attrNameLst>
                                      </p:cBhvr>
                                      <p:to>
                                        <p:strVal val="visible"/>
                                      </p:to>
                                    </p:set>
                                    <p:animEffect transition="in" filter="dissolve">
                                      <p:cBhvr>
                                        <p:cTn id="7" dur="500"/>
                                        <p:tgtEl>
                                          <p:spTgt spid="1686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656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1AAC5FFE-D0B6-4FC6-9D9B-7821CEC1967D}" type="slidenum">
              <a:rPr lang="en-US" altLang="en-US" sz="1400" b="0"/>
              <a:pPr/>
              <a:t>15</a:t>
            </a:fld>
            <a:endParaRPr lang="en-US" altLang="en-US" sz="1400" b="0"/>
          </a:p>
        </p:txBody>
      </p:sp>
      <p:sp>
        <p:nvSpPr>
          <p:cNvPr id="20483" name="Rectangle 2"/>
          <p:cNvSpPr>
            <a:spLocks noGrp="1" noChangeArrowheads="1"/>
          </p:cNvSpPr>
          <p:nvPr>
            <p:ph type="title"/>
          </p:nvPr>
        </p:nvSpPr>
        <p:spPr/>
        <p:txBody>
          <a:bodyPr/>
          <a:lstStyle/>
          <a:p>
            <a:pPr eaLnBrk="1" hangingPunct="1"/>
            <a:r>
              <a:rPr lang="en-US" altLang="en-US"/>
              <a:t>Các CTDL cho bảng ký hiệu</a:t>
            </a:r>
            <a:r>
              <a:rPr lang="en-US" altLang="en-US">
                <a:sym typeface="Symbol" panose="05050102010706020507" pitchFamily="18" charset="2"/>
              </a:rPr>
              <a:t>Danh sách</a:t>
            </a:r>
          </a:p>
        </p:txBody>
      </p:sp>
      <p:sp>
        <p:nvSpPr>
          <p:cNvPr id="20484" name="Rectangle 3"/>
          <p:cNvSpPr>
            <a:spLocks noGrp="1" noChangeArrowheads="1"/>
          </p:cNvSpPr>
          <p:nvPr>
            <p:ph type="body" idx="1"/>
          </p:nvPr>
        </p:nvSpPr>
        <p:spPr>
          <a:xfrm>
            <a:off x="228600" y="866775"/>
            <a:ext cx="8728075" cy="5751513"/>
          </a:xfrm>
        </p:spPr>
        <p:txBody>
          <a:bodyPr/>
          <a:lstStyle/>
          <a:p>
            <a:pPr marL="231775" indent="-231775" algn="just" eaLnBrk="1" hangingPunct="1">
              <a:lnSpc>
                <a:spcPct val="105000"/>
              </a:lnSpc>
            </a:pPr>
            <a:r>
              <a:rPr lang="fr-FR" altLang="en-US" sz="2800">
                <a:sym typeface="Symbol" panose="05050102010706020507" pitchFamily="18" charset="2"/>
              </a:rPr>
              <a:t>Dùng một (</a:t>
            </a:r>
            <a:r>
              <a:rPr lang="fr-FR" altLang="en-US" sz="2800" i="1">
                <a:sym typeface="Symbol" panose="05050102010706020507" pitchFamily="18" charset="2"/>
              </a:rPr>
              <a:t>nhiều</a:t>
            </a:r>
            <a:r>
              <a:rPr lang="fr-FR" altLang="en-US" sz="2800">
                <a:sym typeface="Symbol" panose="05050102010706020507" pitchFamily="18" charset="2"/>
              </a:rPr>
              <a:t>) mảng lưu các tên trong c/trình</a:t>
            </a:r>
          </a:p>
          <a:p>
            <a:pPr marL="855663" lvl="1" indent="-347663" algn="just" eaLnBrk="1" hangingPunct="1">
              <a:lnSpc>
                <a:spcPct val="105000"/>
              </a:lnSpc>
            </a:pPr>
            <a:r>
              <a:rPr lang="fr-FR" altLang="en-US" sz="2400">
                <a:sym typeface="Symbol" panose="05050102010706020507" pitchFamily="18" charset="2"/>
              </a:rPr>
              <a:t>Kích thước cố định (phải lớn </a:t>
            </a:r>
            <a:r>
              <a:rPr lang="en-US" altLang="en-US" sz="2400">
                <a:sym typeface="Symbol" panose="05050102010706020507" pitchFamily="18" charset="2"/>
              </a:rPr>
              <a:t> lãng phí)</a:t>
            </a:r>
          </a:p>
          <a:p>
            <a:pPr marL="855663" lvl="1" indent="-347663" eaLnBrk="1" hangingPunct="1">
              <a:lnSpc>
                <a:spcPct val="105000"/>
              </a:lnSpc>
            </a:pPr>
            <a:r>
              <a:rPr lang="fr-FR" altLang="en-US" sz="2400">
                <a:sym typeface="Symbol" panose="05050102010706020507" pitchFamily="18" charset="2"/>
              </a:rPr>
              <a:t>Giải quyết: danh sách liên kết (hai) chiều</a:t>
            </a:r>
          </a:p>
          <a:p>
            <a:pPr marL="1319213" lvl="2" indent="-290513" eaLnBrk="1" hangingPunct="1">
              <a:lnSpc>
                <a:spcPct val="105000"/>
              </a:lnSpc>
            </a:pPr>
            <a:r>
              <a:rPr lang="fr-FR" altLang="en-US" sz="2000">
                <a:sym typeface="Symbol" panose="05050102010706020507" pitchFamily="18" charset="2"/>
              </a:rPr>
              <a:t>Tiết kiệm bộ nhớ</a:t>
            </a:r>
          </a:p>
          <a:p>
            <a:pPr marL="231775" indent="-231775" algn="just" eaLnBrk="1" hangingPunct="1">
              <a:lnSpc>
                <a:spcPct val="105000"/>
              </a:lnSpc>
            </a:pPr>
            <a:r>
              <a:rPr lang="fr-FR" altLang="en-US" sz="2800">
                <a:sym typeface="Symbol" panose="05050102010706020507" pitchFamily="18" charset="2"/>
              </a:rPr>
              <a:t>Danh sách không sắp xếp</a:t>
            </a:r>
          </a:p>
          <a:p>
            <a:pPr marL="855663" lvl="1" indent="-347663" eaLnBrk="1" hangingPunct="1">
              <a:lnSpc>
                <a:spcPct val="105000"/>
              </a:lnSpc>
            </a:pPr>
            <a:r>
              <a:rPr lang="fr-FR" altLang="en-US" sz="2400">
                <a:sym typeface="Symbol" panose="05050102010706020507" pitchFamily="18" charset="2"/>
              </a:rPr>
              <a:t>Thêm tên vào bảng theo thứ tự gặp trong c/ trình nguồn</a:t>
            </a:r>
          </a:p>
          <a:p>
            <a:pPr marL="855663" lvl="1" indent="-347663" eaLnBrk="1" hangingPunct="1">
              <a:lnSpc>
                <a:spcPct val="105000"/>
              </a:lnSpc>
            </a:pPr>
            <a:r>
              <a:rPr lang="fr-FR" altLang="en-US" sz="2400">
                <a:sym typeface="Symbol" panose="05050102010706020507" pitchFamily="18" charset="2"/>
              </a:rPr>
              <a:t>Tốc độ tìm kiếm chậm (</a:t>
            </a:r>
            <a:r>
              <a:rPr lang="fr-FR" altLang="en-US" sz="2400" i="1">
                <a:solidFill>
                  <a:srgbClr val="3539EB"/>
                </a:solidFill>
                <a:sym typeface="Symbol" panose="05050102010706020507" pitchFamily="18" charset="2"/>
              </a:rPr>
              <a:t>Độ phức tạp:  O(n)</a:t>
            </a:r>
            <a:r>
              <a:rPr lang="fr-FR" altLang="en-US" sz="2400">
                <a:sym typeface="Symbol" panose="05050102010706020507" pitchFamily="18" charset="2"/>
              </a:rPr>
              <a:t> )</a:t>
            </a:r>
          </a:p>
          <a:p>
            <a:pPr marL="855663" lvl="1" indent="-347663" eaLnBrk="1" hangingPunct="1">
              <a:lnSpc>
                <a:spcPct val="105000"/>
              </a:lnSpc>
            </a:pPr>
            <a:r>
              <a:rPr lang="fr-FR" altLang="en-US" sz="2400">
                <a:sym typeface="Symbol" panose="05050102010706020507" pitchFamily="18" charset="2"/>
              </a:rPr>
              <a:t>Thường dùng với các ngôn ngữ nhỏ, có ít danh biểu</a:t>
            </a:r>
          </a:p>
          <a:p>
            <a:pPr marL="231775" indent="-231775" eaLnBrk="1" hangingPunct="1">
              <a:lnSpc>
                <a:spcPct val="105000"/>
              </a:lnSpc>
            </a:pPr>
            <a:r>
              <a:rPr lang="fr-FR" altLang="en-US" sz="2800">
                <a:sym typeface="Symbol" panose="05050102010706020507" pitchFamily="18" charset="2"/>
              </a:rPr>
              <a:t>Danh sách sắp xếp</a:t>
            </a:r>
          </a:p>
          <a:p>
            <a:pPr marL="855663" lvl="1" indent="-347663" eaLnBrk="1" hangingPunct="1">
              <a:lnSpc>
                <a:spcPct val="105000"/>
              </a:lnSpc>
            </a:pPr>
            <a:r>
              <a:rPr lang="fr-FR" altLang="en-US" sz="2400">
                <a:sym typeface="Symbol" panose="05050102010706020507" pitchFamily="18" charset="2"/>
              </a:rPr>
              <a:t>Phức tạp khi thêm tên vào bảng</a:t>
            </a:r>
          </a:p>
          <a:p>
            <a:pPr marL="855663" lvl="1" indent="-347663" eaLnBrk="1" hangingPunct="1">
              <a:lnSpc>
                <a:spcPct val="105000"/>
              </a:lnSpc>
            </a:pPr>
            <a:r>
              <a:rPr lang="fr-FR" altLang="en-US" sz="2400">
                <a:sym typeface="Symbol" panose="05050102010706020507" pitchFamily="18" charset="2"/>
              </a:rPr>
              <a:t>Tốc độ tìm kiếm:  </a:t>
            </a:r>
            <a:r>
              <a:rPr lang="fr-FR" altLang="en-US" sz="2400" i="1">
                <a:solidFill>
                  <a:srgbClr val="3539EB"/>
                </a:solidFill>
                <a:sym typeface="Symbol" panose="05050102010706020507" pitchFamily="18" charset="2"/>
              </a:rPr>
              <a:t>O(log(n))</a:t>
            </a:r>
          </a:p>
          <a:p>
            <a:pPr marL="855663" lvl="1" indent="-347663" eaLnBrk="1" hangingPunct="1">
              <a:lnSpc>
                <a:spcPct val="105000"/>
              </a:lnSpc>
            </a:pPr>
            <a:r>
              <a:rPr lang="fr-FR" altLang="en-US" sz="2400">
                <a:sym typeface="Symbol" panose="05050102010706020507" pitchFamily="18" charset="2"/>
              </a:rPr>
              <a:t>Dùng khi tập danh biểu xác định (</a:t>
            </a:r>
            <a:r>
              <a:rPr lang="fr-FR" altLang="en-US" sz="2400" i="1">
                <a:solidFill>
                  <a:srgbClr val="3539EB"/>
                </a:solidFill>
                <a:sym typeface="Symbol" panose="05050102010706020507" pitchFamily="18" charset="2"/>
              </a:rPr>
              <a:t>VD tập từ khóa</a:t>
            </a:r>
            <a:r>
              <a:rPr lang="fr-FR" altLang="en-US" sz="2400">
                <a:sym typeface="Symbol" panose="05050102010706020507" pitchFamily="18" charset="2"/>
              </a:rPr>
              <a:t>)</a:t>
            </a:r>
          </a:p>
        </p:txBody>
      </p:sp>
      <p:sp>
        <p:nvSpPr>
          <p:cNvPr id="20485"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B91B9F90-130F-42F4-A95A-D9461957DC3A}" type="slidenum">
              <a:rPr lang="en-US" altLang="en-US" sz="1400" b="0"/>
              <a:pPr/>
              <a:t>16</a:t>
            </a:fld>
            <a:endParaRPr lang="en-US" altLang="en-US" sz="1400" b="0"/>
          </a:p>
        </p:txBody>
      </p:sp>
      <p:sp>
        <p:nvSpPr>
          <p:cNvPr id="21507" name="Rectangle 2"/>
          <p:cNvSpPr>
            <a:spLocks noGrp="1" noChangeArrowheads="1"/>
          </p:cNvSpPr>
          <p:nvPr>
            <p:ph type="title"/>
          </p:nvPr>
        </p:nvSpPr>
        <p:spPr/>
        <p:txBody>
          <a:bodyPr/>
          <a:lstStyle/>
          <a:p>
            <a:pPr eaLnBrk="1" hangingPunct="1"/>
            <a:r>
              <a:rPr lang="en-US" altLang="en-US"/>
              <a:t>Các CTDL cho bảng ký hiệu</a:t>
            </a:r>
            <a:r>
              <a:rPr lang="en-US" altLang="en-US">
                <a:sym typeface="Symbol" panose="05050102010706020507" pitchFamily="18" charset="2"/>
              </a:rPr>
              <a:t>Cây tìm kiếm</a:t>
            </a:r>
          </a:p>
        </p:txBody>
      </p:sp>
      <p:sp>
        <p:nvSpPr>
          <p:cNvPr id="21508" name="Rectangle 3"/>
          <p:cNvSpPr>
            <a:spLocks noGrp="1" noChangeArrowheads="1"/>
          </p:cNvSpPr>
          <p:nvPr>
            <p:ph type="body" idx="1"/>
          </p:nvPr>
        </p:nvSpPr>
        <p:spPr>
          <a:xfrm>
            <a:off x="228600" y="838200"/>
            <a:ext cx="6248400" cy="5943600"/>
          </a:xfrm>
        </p:spPr>
        <p:txBody>
          <a:bodyPr/>
          <a:lstStyle/>
          <a:p>
            <a:pPr marL="347663" indent="-347663" eaLnBrk="1" hangingPunct="1">
              <a:lnSpc>
                <a:spcPct val="105000"/>
              </a:lnSpc>
              <a:spcBef>
                <a:spcPct val="15000"/>
              </a:spcBef>
            </a:pPr>
            <a:r>
              <a:rPr lang="fr-FR" altLang="en-US">
                <a:sym typeface="Symbol" panose="05050102010706020507" pitchFamily="18" charset="2"/>
              </a:rPr>
              <a:t>Các nút của cây nhị phân có</a:t>
            </a:r>
          </a:p>
          <a:p>
            <a:pPr marL="912813" lvl="1" indent="-450850" eaLnBrk="1" hangingPunct="1">
              <a:lnSpc>
                <a:spcPct val="105000"/>
              </a:lnSpc>
              <a:spcBef>
                <a:spcPct val="15000"/>
              </a:spcBef>
            </a:pPr>
            <a:r>
              <a:rPr lang="fr-FR" altLang="en-US">
                <a:sym typeface="Symbol" panose="05050102010706020507" pitchFamily="18" charset="2"/>
              </a:rPr>
              <a:t>Khóa là tên của bản ghi </a:t>
            </a:r>
          </a:p>
          <a:p>
            <a:pPr marL="912813" lvl="1" indent="-450850" eaLnBrk="1" hangingPunct="1">
              <a:lnSpc>
                <a:spcPct val="105000"/>
              </a:lnSpc>
              <a:spcBef>
                <a:spcPct val="15000"/>
              </a:spcBef>
            </a:pPr>
            <a:r>
              <a:rPr lang="fr-FR" altLang="en-US">
                <a:sym typeface="Symbol" panose="05050102010706020507" pitchFamily="18" charset="2"/>
              </a:rPr>
              <a:t>2 con trỏ Left và Right</a:t>
            </a:r>
          </a:p>
          <a:p>
            <a:pPr marL="347663" indent="-347663" eaLnBrk="1" hangingPunct="1">
              <a:lnSpc>
                <a:spcPct val="105000"/>
              </a:lnSpc>
              <a:spcBef>
                <a:spcPct val="15000"/>
              </a:spcBef>
            </a:pPr>
            <a:r>
              <a:rPr lang="fr-FR" altLang="en-US">
                <a:sym typeface="Symbol" panose="05050102010706020507" pitchFamily="18" charset="2"/>
              </a:rPr>
              <a:t>Mọi nút phải thỏa mãn</a:t>
            </a:r>
          </a:p>
          <a:p>
            <a:pPr marL="912813" lvl="1" indent="-450850" eaLnBrk="1" hangingPunct="1">
              <a:lnSpc>
                <a:spcPct val="105000"/>
              </a:lnSpc>
              <a:spcBef>
                <a:spcPct val="15000"/>
              </a:spcBef>
            </a:pPr>
            <a:r>
              <a:rPr lang="fr-FR" altLang="en-US">
                <a:sym typeface="Symbol" panose="05050102010706020507" pitchFamily="18" charset="2"/>
              </a:rPr>
              <a:t>Khóa của con trái phải nhỏ hơn</a:t>
            </a:r>
          </a:p>
          <a:p>
            <a:pPr marL="912813" lvl="1" indent="-450850" eaLnBrk="1" hangingPunct="1">
              <a:lnSpc>
                <a:spcPct val="105000"/>
              </a:lnSpc>
              <a:spcBef>
                <a:spcPct val="15000"/>
              </a:spcBef>
            </a:pPr>
            <a:r>
              <a:rPr lang="fr-FR" altLang="en-US">
                <a:sym typeface="Symbol" panose="05050102010706020507" pitchFamily="18" charset="2"/>
              </a:rPr>
              <a:t>Khóa của con phải phải lớn hơn</a:t>
            </a:r>
          </a:p>
          <a:p>
            <a:pPr marL="347663" indent="-347663" eaLnBrk="1" hangingPunct="1">
              <a:lnSpc>
                <a:spcPct val="105000"/>
              </a:lnSpc>
              <a:spcBef>
                <a:spcPct val="15000"/>
              </a:spcBef>
            </a:pPr>
            <a:r>
              <a:rPr lang="fr-FR" altLang="en-US">
                <a:sym typeface="Symbol" panose="05050102010706020507" pitchFamily="18" charset="2"/>
              </a:rPr>
              <a:t>Thời gian tìm kiếm O(Log</a:t>
            </a:r>
            <a:r>
              <a:rPr lang="fr-FR" altLang="en-US" baseline="-25000">
                <a:sym typeface="Symbol" panose="05050102010706020507" pitchFamily="18" charset="2"/>
              </a:rPr>
              <a:t>2</a:t>
            </a:r>
            <a:r>
              <a:rPr lang="fr-FR" altLang="en-US">
                <a:sym typeface="Symbol" panose="05050102010706020507" pitchFamily="18" charset="2"/>
              </a:rPr>
              <a:t>(n))</a:t>
            </a:r>
          </a:p>
          <a:p>
            <a:pPr marL="912813" lvl="1" indent="-450850" eaLnBrk="1" hangingPunct="1">
              <a:lnSpc>
                <a:spcPct val="105000"/>
              </a:lnSpc>
              <a:spcBef>
                <a:spcPct val="15000"/>
              </a:spcBef>
            </a:pPr>
            <a:r>
              <a:rPr lang="fr-FR" altLang="en-US">
                <a:sym typeface="Symbol" panose="05050102010706020507" pitchFamily="18" charset="2"/>
              </a:rPr>
              <a:t>Gốc rỗng không tồn tại</a:t>
            </a:r>
          </a:p>
          <a:p>
            <a:pPr marL="912813" lvl="1" indent="-450850" eaLnBrk="1" hangingPunct="1">
              <a:lnSpc>
                <a:spcPct val="105000"/>
              </a:lnSpc>
              <a:spcBef>
                <a:spcPct val="15000"/>
              </a:spcBef>
            </a:pPr>
            <a:r>
              <a:rPr lang="fr-FR" altLang="en-US">
                <a:sym typeface="Symbol" panose="05050102010706020507" pitchFamily="18" charset="2"/>
              </a:rPr>
              <a:t>Trùng khóa gốc  thỏa mãn</a:t>
            </a:r>
          </a:p>
          <a:p>
            <a:pPr marL="912813" lvl="1" indent="-450850" eaLnBrk="1" hangingPunct="1">
              <a:lnSpc>
                <a:spcPct val="105000"/>
              </a:lnSpc>
              <a:spcBef>
                <a:spcPct val="15000"/>
              </a:spcBef>
            </a:pPr>
            <a:r>
              <a:rPr lang="fr-FR" altLang="en-US">
                <a:sym typeface="Symbol" panose="05050102010706020507" pitchFamily="18" charset="2"/>
              </a:rPr>
              <a:t>Nhỏ hơn  Tìm tại con trái</a:t>
            </a:r>
          </a:p>
          <a:p>
            <a:pPr marL="912813" lvl="1" indent="-450850" eaLnBrk="1" hangingPunct="1">
              <a:lnSpc>
                <a:spcPct val="105000"/>
              </a:lnSpc>
              <a:spcBef>
                <a:spcPct val="15000"/>
              </a:spcBef>
            </a:pPr>
            <a:r>
              <a:rPr lang="fr-FR" altLang="en-US">
                <a:sym typeface="Symbol" panose="05050102010706020507" pitchFamily="18" charset="2"/>
              </a:rPr>
              <a:t>Lớn hơn  Tìm tại con phải</a:t>
            </a:r>
          </a:p>
        </p:txBody>
      </p:sp>
      <p:sp>
        <p:nvSpPr>
          <p:cNvPr id="21509"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grpSp>
        <p:nvGrpSpPr>
          <p:cNvPr id="21510" name="Group 22"/>
          <p:cNvGrpSpPr>
            <a:grpSpLocks/>
          </p:cNvGrpSpPr>
          <p:nvPr/>
        </p:nvGrpSpPr>
        <p:grpSpPr bwMode="auto">
          <a:xfrm>
            <a:off x="5943600" y="1219200"/>
            <a:ext cx="3124200" cy="4724400"/>
            <a:chOff x="3744" y="768"/>
            <a:chExt cx="1968" cy="2976"/>
          </a:xfrm>
        </p:grpSpPr>
        <p:sp>
          <p:nvSpPr>
            <p:cNvPr id="21511" name="Oval 5"/>
            <p:cNvSpPr>
              <a:spLocks noChangeArrowheads="1"/>
            </p:cNvSpPr>
            <p:nvPr/>
          </p:nvSpPr>
          <p:spPr bwMode="auto">
            <a:xfrm>
              <a:off x="4224" y="768"/>
              <a:ext cx="480" cy="48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21512" name="Oval 7"/>
            <p:cNvSpPr>
              <a:spLocks noChangeArrowheads="1"/>
            </p:cNvSpPr>
            <p:nvPr/>
          </p:nvSpPr>
          <p:spPr bwMode="auto">
            <a:xfrm>
              <a:off x="3744" y="1440"/>
              <a:ext cx="480" cy="48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21513" name="Text Box 8"/>
            <p:cNvSpPr txBox="1">
              <a:spLocks noChangeArrowheads="1"/>
            </p:cNvSpPr>
            <p:nvPr/>
          </p:nvSpPr>
          <p:spPr bwMode="auto">
            <a:xfrm>
              <a:off x="3822" y="1488"/>
              <a:ext cx="3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2800" b="0"/>
                <a:t>a</a:t>
              </a:r>
              <a:endParaRPr lang="en-US" altLang="en-US" sz="2800" b="0"/>
            </a:p>
          </p:txBody>
        </p:sp>
        <p:sp>
          <p:nvSpPr>
            <p:cNvPr id="21514" name="Oval 9"/>
            <p:cNvSpPr>
              <a:spLocks noChangeArrowheads="1"/>
            </p:cNvSpPr>
            <p:nvPr/>
          </p:nvSpPr>
          <p:spPr bwMode="auto">
            <a:xfrm>
              <a:off x="4800" y="1440"/>
              <a:ext cx="480" cy="48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21515" name="Text Box 10"/>
            <p:cNvSpPr txBox="1">
              <a:spLocks noChangeArrowheads="1"/>
            </p:cNvSpPr>
            <p:nvPr/>
          </p:nvSpPr>
          <p:spPr bwMode="auto">
            <a:xfrm>
              <a:off x="4311" y="846"/>
              <a:ext cx="3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800" b="0"/>
                <a:t>f</a:t>
              </a:r>
              <a:endParaRPr lang="en-US" altLang="en-US" sz="2800" b="0"/>
            </a:p>
          </p:txBody>
        </p:sp>
        <p:sp>
          <p:nvSpPr>
            <p:cNvPr id="21516" name="Oval 11"/>
            <p:cNvSpPr>
              <a:spLocks noChangeArrowheads="1"/>
            </p:cNvSpPr>
            <p:nvPr/>
          </p:nvSpPr>
          <p:spPr bwMode="auto">
            <a:xfrm>
              <a:off x="4146" y="2304"/>
              <a:ext cx="480" cy="48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21517" name="Text Box 12"/>
            <p:cNvSpPr txBox="1">
              <a:spLocks noChangeArrowheads="1"/>
            </p:cNvSpPr>
            <p:nvPr/>
          </p:nvSpPr>
          <p:spPr bwMode="auto">
            <a:xfrm>
              <a:off x="4224" y="2352"/>
              <a:ext cx="3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2800" b="0"/>
                <a:t>m</a:t>
              </a:r>
              <a:endParaRPr lang="en-US" altLang="en-US" sz="2800" b="0"/>
            </a:p>
          </p:txBody>
        </p:sp>
        <p:sp>
          <p:nvSpPr>
            <p:cNvPr id="21518" name="Oval 13"/>
            <p:cNvSpPr>
              <a:spLocks noChangeArrowheads="1"/>
            </p:cNvSpPr>
            <p:nvPr/>
          </p:nvSpPr>
          <p:spPr bwMode="auto">
            <a:xfrm>
              <a:off x="5232" y="2304"/>
              <a:ext cx="480" cy="48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21519" name="Text Box 14"/>
            <p:cNvSpPr txBox="1">
              <a:spLocks noChangeArrowheads="1"/>
            </p:cNvSpPr>
            <p:nvPr/>
          </p:nvSpPr>
          <p:spPr bwMode="auto">
            <a:xfrm>
              <a:off x="5310" y="2352"/>
              <a:ext cx="3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800" b="0"/>
                <a:t>pi</a:t>
              </a:r>
              <a:endParaRPr lang="en-US" altLang="en-US" sz="2800" b="0"/>
            </a:p>
          </p:txBody>
        </p:sp>
        <p:sp>
          <p:nvSpPr>
            <p:cNvPr id="21520" name="Oval 15"/>
            <p:cNvSpPr>
              <a:spLocks noChangeArrowheads="1"/>
            </p:cNvSpPr>
            <p:nvPr/>
          </p:nvSpPr>
          <p:spPr bwMode="auto">
            <a:xfrm>
              <a:off x="4848" y="3264"/>
              <a:ext cx="480" cy="48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21521" name="Text Box 16"/>
            <p:cNvSpPr txBox="1">
              <a:spLocks noChangeArrowheads="1"/>
            </p:cNvSpPr>
            <p:nvPr/>
          </p:nvSpPr>
          <p:spPr bwMode="auto">
            <a:xfrm>
              <a:off x="4926" y="3312"/>
              <a:ext cx="3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800" b="0"/>
                <a:t>n</a:t>
              </a:r>
              <a:endParaRPr lang="en-US" altLang="en-US" sz="2800" b="0"/>
            </a:p>
          </p:txBody>
        </p:sp>
        <p:sp>
          <p:nvSpPr>
            <p:cNvPr id="21522" name="Line 17"/>
            <p:cNvSpPr>
              <a:spLocks noChangeShapeType="1"/>
            </p:cNvSpPr>
            <p:nvPr/>
          </p:nvSpPr>
          <p:spPr bwMode="auto">
            <a:xfrm flipH="1">
              <a:off x="4128" y="1200"/>
              <a:ext cx="192"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3" name="Line 18"/>
            <p:cNvSpPr>
              <a:spLocks noChangeShapeType="1"/>
            </p:cNvSpPr>
            <p:nvPr/>
          </p:nvSpPr>
          <p:spPr bwMode="auto">
            <a:xfrm>
              <a:off x="4608" y="1200"/>
              <a:ext cx="288"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4" name="Line 19"/>
            <p:cNvSpPr>
              <a:spLocks noChangeShapeType="1"/>
            </p:cNvSpPr>
            <p:nvPr/>
          </p:nvSpPr>
          <p:spPr bwMode="auto">
            <a:xfrm flipH="1">
              <a:off x="4512" y="1872"/>
              <a:ext cx="384"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5" name="Line 20"/>
            <p:cNvSpPr>
              <a:spLocks noChangeShapeType="1"/>
            </p:cNvSpPr>
            <p:nvPr/>
          </p:nvSpPr>
          <p:spPr bwMode="auto">
            <a:xfrm>
              <a:off x="5136" y="1920"/>
              <a:ext cx="336"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6" name="Line 21"/>
            <p:cNvSpPr>
              <a:spLocks noChangeShapeType="1"/>
            </p:cNvSpPr>
            <p:nvPr/>
          </p:nvSpPr>
          <p:spPr bwMode="auto">
            <a:xfrm flipH="1">
              <a:off x="5136" y="2784"/>
              <a:ext cx="240"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7" name="Text Box 6"/>
            <p:cNvSpPr txBox="1">
              <a:spLocks noChangeArrowheads="1"/>
            </p:cNvSpPr>
            <p:nvPr/>
          </p:nvSpPr>
          <p:spPr bwMode="auto">
            <a:xfrm>
              <a:off x="4791" y="1527"/>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2400" b="0"/>
                <a:t>max</a:t>
              </a:r>
              <a:endParaRPr lang="en-US" altLang="en-US" sz="2400" b="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3B18ECAF-C98A-4178-A258-74655CF5D0A7}" type="slidenum">
              <a:rPr lang="en-US" altLang="en-US" sz="1400" b="0"/>
              <a:pPr/>
              <a:t>17</a:t>
            </a:fld>
            <a:endParaRPr lang="en-US" altLang="en-US" sz="1400" b="0"/>
          </a:p>
        </p:txBody>
      </p:sp>
      <p:sp>
        <p:nvSpPr>
          <p:cNvPr id="22531" name="Rectangle 2"/>
          <p:cNvSpPr>
            <a:spLocks noGrp="1" noChangeArrowheads="1"/>
          </p:cNvSpPr>
          <p:nvPr>
            <p:ph type="title"/>
          </p:nvPr>
        </p:nvSpPr>
        <p:spPr/>
        <p:txBody>
          <a:bodyPr/>
          <a:lstStyle/>
          <a:p>
            <a:pPr eaLnBrk="1" hangingPunct="1"/>
            <a:r>
              <a:rPr lang="en-US" altLang="en-US"/>
              <a:t>Các CTDL cho bảng ký hiệu</a:t>
            </a:r>
            <a:r>
              <a:rPr lang="en-US" altLang="en-US">
                <a:sym typeface="Symbol" panose="05050102010706020507" pitchFamily="18" charset="2"/>
              </a:rPr>
              <a:t>Bảng băm</a:t>
            </a:r>
          </a:p>
        </p:txBody>
      </p:sp>
      <p:sp>
        <p:nvSpPr>
          <p:cNvPr id="22532" name="Rectangle 3"/>
          <p:cNvSpPr>
            <a:spLocks noGrp="1" noChangeArrowheads="1"/>
          </p:cNvSpPr>
          <p:nvPr>
            <p:ph type="body" idx="1"/>
          </p:nvPr>
        </p:nvSpPr>
        <p:spPr>
          <a:xfrm>
            <a:off x="415925" y="4114800"/>
            <a:ext cx="8499475" cy="2590800"/>
          </a:xfrm>
        </p:spPr>
        <p:txBody>
          <a:bodyPr/>
          <a:lstStyle/>
          <a:p>
            <a:pPr marL="347663" indent="-347663" algn="just" eaLnBrk="1" hangingPunct="1">
              <a:lnSpc>
                <a:spcPct val="105000"/>
              </a:lnSpc>
              <a:buFontTx/>
              <a:buNone/>
            </a:pPr>
            <a:r>
              <a:rPr lang="fr-FR" altLang="en-US">
                <a:sym typeface="Symbol" panose="05050102010706020507" pitchFamily="18" charset="2"/>
              </a:rPr>
              <a:t>Bảng là danh sách N phần tử</a:t>
            </a:r>
          </a:p>
          <a:p>
            <a:pPr marL="347663" indent="-347663" algn="just" eaLnBrk="1" hangingPunct="1">
              <a:lnSpc>
                <a:spcPct val="105000"/>
              </a:lnSpc>
            </a:pPr>
            <a:r>
              <a:rPr lang="fr-FR" altLang="en-US">
                <a:sym typeface="Symbol" panose="05050102010706020507" pitchFamily="18" charset="2"/>
              </a:rPr>
              <a:t>Số phần tử cố định</a:t>
            </a:r>
          </a:p>
          <a:p>
            <a:pPr marL="738188" lvl="1" indent="-276225" algn="just" eaLnBrk="1" hangingPunct="1">
              <a:lnSpc>
                <a:spcPct val="105000"/>
              </a:lnSpc>
            </a:pPr>
            <a:r>
              <a:rPr lang="fr-FR" altLang="en-US">
                <a:sym typeface="Symbol" panose="05050102010706020507" pitchFamily="18" charset="2"/>
              </a:rPr>
              <a:t>Mỗi phần tử chứa tên và các thuộc tính của tên</a:t>
            </a:r>
          </a:p>
          <a:p>
            <a:pPr marL="1257300" lvl="2" algn="just" eaLnBrk="1" hangingPunct="1">
              <a:lnSpc>
                <a:spcPct val="105000"/>
              </a:lnSpc>
            </a:pPr>
            <a:r>
              <a:rPr lang="fr-FR" altLang="en-US">
                <a:sym typeface="Symbol" panose="05050102010706020507" pitchFamily="18" charset="2"/>
              </a:rPr>
              <a:t>Có thể là con trỏ, trỏ tới danh sách liên kết</a:t>
            </a:r>
          </a:p>
          <a:p>
            <a:pPr marL="347663" indent="-347663" algn="just" eaLnBrk="1" hangingPunct="1">
              <a:lnSpc>
                <a:spcPct val="105000"/>
              </a:lnSpc>
            </a:pPr>
            <a:r>
              <a:rPr lang="fr-FR" altLang="en-US">
                <a:sym typeface="Symbol" panose="05050102010706020507" pitchFamily="18" charset="2"/>
              </a:rPr>
              <a:t>Đòi hỏi một hàm băm</a:t>
            </a:r>
          </a:p>
        </p:txBody>
      </p:sp>
      <p:sp>
        <p:nvSpPr>
          <p:cNvPr id="22533"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grpSp>
        <p:nvGrpSpPr>
          <p:cNvPr id="22534" name="Group 61"/>
          <p:cNvGrpSpPr>
            <a:grpSpLocks/>
          </p:cNvGrpSpPr>
          <p:nvPr/>
        </p:nvGrpSpPr>
        <p:grpSpPr bwMode="auto">
          <a:xfrm>
            <a:off x="381000" y="914400"/>
            <a:ext cx="7239000" cy="3200400"/>
            <a:chOff x="144" y="1083"/>
            <a:chExt cx="4560" cy="2016"/>
          </a:xfrm>
        </p:grpSpPr>
        <p:grpSp>
          <p:nvGrpSpPr>
            <p:cNvPr id="22535" name="Group 31"/>
            <p:cNvGrpSpPr>
              <a:grpSpLocks/>
            </p:cNvGrpSpPr>
            <p:nvPr/>
          </p:nvGrpSpPr>
          <p:grpSpPr bwMode="auto">
            <a:xfrm>
              <a:off x="1833" y="1896"/>
              <a:ext cx="768" cy="294"/>
              <a:chOff x="728" y="1962"/>
              <a:chExt cx="768" cy="294"/>
            </a:xfrm>
          </p:grpSpPr>
          <p:sp>
            <p:nvSpPr>
              <p:cNvPr id="22580" name="Rectangle 32"/>
              <p:cNvSpPr>
                <a:spLocks noChangeArrowheads="1"/>
              </p:cNvSpPr>
              <p:nvPr/>
            </p:nvSpPr>
            <p:spPr bwMode="auto">
              <a:xfrm>
                <a:off x="1304" y="1962"/>
                <a:ext cx="192" cy="29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22581" name="Text Box 33"/>
              <p:cNvSpPr txBox="1">
                <a:spLocks noChangeArrowheads="1"/>
              </p:cNvSpPr>
              <p:nvPr/>
            </p:nvSpPr>
            <p:spPr bwMode="auto">
              <a:xfrm>
                <a:off x="728" y="1962"/>
                <a:ext cx="576" cy="294"/>
              </a:xfrm>
              <a:prstGeom prst="rect">
                <a:avLst/>
              </a:prstGeom>
              <a:noFill/>
              <a:ln w="9525">
                <a:solidFill>
                  <a:srgbClr val="1E006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a:t>n</a:t>
                </a:r>
                <a:endParaRPr lang="en-US" altLang="en-US" sz="2400" b="0"/>
              </a:p>
            </p:txBody>
          </p:sp>
        </p:grpSp>
        <p:grpSp>
          <p:nvGrpSpPr>
            <p:cNvPr id="22536" name="Group 6"/>
            <p:cNvGrpSpPr>
              <a:grpSpLocks/>
            </p:cNvGrpSpPr>
            <p:nvPr/>
          </p:nvGrpSpPr>
          <p:grpSpPr bwMode="auto">
            <a:xfrm>
              <a:off x="785" y="1914"/>
              <a:ext cx="768" cy="294"/>
              <a:chOff x="728" y="1962"/>
              <a:chExt cx="768" cy="294"/>
            </a:xfrm>
          </p:grpSpPr>
          <p:sp>
            <p:nvSpPr>
              <p:cNvPr id="22578" name="Rectangle 7"/>
              <p:cNvSpPr>
                <a:spLocks noChangeArrowheads="1"/>
              </p:cNvSpPr>
              <p:nvPr/>
            </p:nvSpPr>
            <p:spPr bwMode="auto">
              <a:xfrm>
                <a:off x="1304" y="1962"/>
                <a:ext cx="192" cy="29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22579" name="Text Box 8"/>
              <p:cNvSpPr txBox="1">
                <a:spLocks noChangeArrowheads="1"/>
              </p:cNvSpPr>
              <p:nvPr/>
            </p:nvSpPr>
            <p:spPr bwMode="auto">
              <a:xfrm>
                <a:off x="728" y="1962"/>
                <a:ext cx="576" cy="294"/>
              </a:xfrm>
              <a:prstGeom prst="rect">
                <a:avLst/>
              </a:prstGeom>
              <a:noFill/>
              <a:ln w="9525">
                <a:solidFill>
                  <a:srgbClr val="1E006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a:t>cp</a:t>
                </a:r>
                <a:endParaRPr lang="en-US" altLang="en-US" sz="2400" b="0"/>
              </a:p>
            </p:txBody>
          </p:sp>
        </p:grpSp>
        <p:sp>
          <p:nvSpPr>
            <p:cNvPr id="22537" name="Line 9"/>
            <p:cNvSpPr>
              <a:spLocks noChangeShapeType="1"/>
            </p:cNvSpPr>
            <p:nvPr/>
          </p:nvSpPr>
          <p:spPr bwMode="auto">
            <a:xfrm>
              <a:off x="1457" y="2058"/>
              <a:ext cx="384" cy="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2538" name="Group 13"/>
            <p:cNvGrpSpPr>
              <a:grpSpLocks/>
            </p:cNvGrpSpPr>
            <p:nvPr/>
          </p:nvGrpSpPr>
          <p:grpSpPr bwMode="auto">
            <a:xfrm>
              <a:off x="2849" y="1914"/>
              <a:ext cx="768" cy="294"/>
              <a:chOff x="672" y="1680"/>
              <a:chExt cx="768" cy="294"/>
            </a:xfrm>
          </p:grpSpPr>
          <p:sp>
            <p:nvSpPr>
              <p:cNvPr id="22576" name="Rectangle 14"/>
              <p:cNvSpPr>
                <a:spLocks noChangeArrowheads="1"/>
              </p:cNvSpPr>
              <p:nvPr/>
            </p:nvSpPr>
            <p:spPr bwMode="auto">
              <a:xfrm>
                <a:off x="1248" y="1680"/>
                <a:ext cx="192" cy="29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22577" name="Text Box 15"/>
              <p:cNvSpPr txBox="1">
                <a:spLocks noChangeArrowheads="1"/>
              </p:cNvSpPr>
              <p:nvPr/>
            </p:nvSpPr>
            <p:spPr bwMode="auto">
              <a:xfrm>
                <a:off x="672" y="1680"/>
                <a:ext cx="576" cy="294"/>
              </a:xfrm>
              <a:prstGeom prst="rect">
                <a:avLst/>
              </a:prstGeom>
              <a:noFill/>
              <a:ln w="9525">
                <a:solidFill>
                  <a:srgbClr val="1E006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endParaRPr lang="fr-FR" altLang="en-US" sz="2400"/>
              </a:p>
            </p:txBody>
          </p:sp>
        </p:grpSp>
        <p:grpSp>
          <p:nvGrpSpPr>
            <p:cNvPr id="22539" name="Group 16"/>
            <p:cNvGrpSpPr>
              <a:grpSpLocks/>
            </p:cNvGrpSpPr>
            <p:nvPr/>
          </p:nvGrpSpPr>
          <p:grpSpPr bwMode="auto">
            <a:xfrm>
              <a:off x="3936" y="1911"/>
              <a:ext cx="768" cy="294"/>
              <a:chOff x="672" y="1680"/>
              <a:chExt cx="768" cy="294"/>
            </a:xfrm>
          </p:grpSpPr>
          <p:sp>
            <p:nvSpPr>
              <p:cNvPr id="22574" name="Rectangle 17"/>
              <p:cNvSpPr>
                <a:spLocks noChangeArrowheads="1"/>
              </p:cNvSpPr>
              <p:nvPr/>
            </p:nvSpPr>
            <p:spPr bwMode="auto">
              <a:xfrm>
                <a:off x="1248" y="1680"/>
                <a:ext cx="192" cy="29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22575" name="Text Box 18"/>
              <p:cNvSpPr txBox="1">
                <a:spLocks noChangeArrowheads="1"/>
              </p:cNvSpPr>
              <p:nvPr/>
            </p:nvSpPr>
            <p:spPr bwMode="auto">
              <a:xfrm>
                <a:off x="672" y="1680"/>
                <a:ext cx="576" cy="294"/>
              </a:xfrm>
              <a:prstGeom prst="rect">
                <a:avLst/>
              </a:prstGeom>
              <a:noFill/>
              <a:ln w="9525">
                <a:solidFill>
                  <a:srgbClr val="1E006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endParaRPr lang="fr-FR" altLang="en-US" sz="2400"/>
              </a:p>
            </p:txBody>
          </p:sp>
        </p:grpSp>
        <p:sp>
          <p:nvSpPr>
            <p:cNvPr id="22540" name="Line 19"/>
            <p:cNvSpPr>
              <a:spLocks noChangeShapeType="1"/>
            </p:cNvSpPr>
            <p:nvPr/>
          </p:nvSpPr>
          <p:spPr bwMode="auto">
            <a:xfrm>
              <a:off x="4512" y="1917"/>
              <a:ext cx="192"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1" name="Line 20"/>
            <p:cNvSpPr>
              <a:spLocks noChangeShapeType="1"/>
            </p:cNvSpPr>
            <p:nvPr/>
          </p:nvSpPr>
          <p:spPr bwMode="auto">
            <a:xfrm flipH="1">
              <a:off x="4512" y="1917"/>
              <a:ext cx="192"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2" name="Text Box 22"/>
            <p:cNvSpPr txBox="1">
              <a:spLocks noChangeArrowheads="1"/>
            </p:cNvSpPr>
            <p:nvPr/>
          </p:nvSpPr>
          <p:spPr bwMode="auto">
            <a:xfrm>
              <a:off x="144" y="1087"/>
              <a:ext cx="424" cy="218"/>
            </a:xfrm>
            <a:prstGeom prst="rect">
              <a:avLst/>
            </a:prstGeom>
            <a:solidFill>
              <a:schemeClr val="accent1"/>
            </a:solidFill>
            <a:ln w="9525">
              <a:solidFill>
                <a:srgbClr val="1E006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endParaRPr lang="fr-FR" altLang="en-US" sz="1600"/>
            </a:p>
          </p:txBody>
        </p:sp>
        <p:sp>
          <p:nvSpPr>
            <p:cNvPr id="22543" name="Line 26"/>
            <p:cNvSpPr>
              <a:spLocks noChangeShapeType="1"/>
            </p:cNvSpPr>
            <p:nvPr/>
          </p:nvSpPr>
          <p:spPr bwMode="auto">
            <a:xfrm>
              <a:off x="2513" y="2058"/>
              <a:ext cx="336" cy="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4" name="Line 27"/>
            <p:cNvSpPr>
              <a:spLocks noChangeShapeType="1"/>
            </p:cNvSpPr>
            <p:nvPr/>
          </p:nvSpPr>
          <p:spPr bwMode="auto">
            <a:xfrm>
              <a:off x="3521" y="2058"/>
              <a:ext cx="384" cy="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5" name="Oval 28"/>
            <p:cNvSpPr>
              <a:spLocks noChangeArrowheads="1"/>
            </p:cNvSpPr>
            <p:nvPr/>
          </p:nvSpPr>
          <p:spPr bwMode="auto">
            <a:xfrm>
              <a:off x="1409" y="2028"/>
              <a:ext cx="58" cy="5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endParaRPr lang="fr-FR" altLang="en-US" sz="1600">
                <a:solidFill>
                  <a:schemeClr val="accent2"/>
                </a:solidFill>
              </a:endParaRPr>
            </a:p>
          </p:txBody>
        </p:sp>
        <p:sp>
          <p:nvSpPr>
            <p:cNvPr id="22546" name="Oval 29"/>
            <p:cNvSpPr>
              <a:spLocks noChangeArrowheads="1"/>
            </p:cNvSpPr>
            <p:nvPr/>
          </p:nvSpPr>
          <p:spPr bwMode="auto">
            <a:xfrm>
              <a:off x="2501" y="2028"/>
              <a:ext cx="58" cy="5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endParaRPr lang="fr-FR" altLang="en-US" sz="1600">
                <a:solidFill>
                  <a:schemeClr val="accent2"/>
                </a:solidFill>
              </a:endParaRPr>
            </a:p>
          </p:txBody>
        </p:sp>
        <p:sp>
          <p:nvSpPr>
            <p:cNvPr id="22547" name="Oval 30"/>
            <p:cNvSpPr>
              <a:spLocks noChangeArrowheads="1"/>
            </p:cNvSpPr>
            <p:nvPr/>
          </p:nvSpPr>
          <p:spPr bwMode="auto">
            <a:xfrm>
              <a:off x="3473" y="2030"/>
              <a:ext cx="58" cy="5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endParaRPr lang="fr-FR" altLang="en-US" sz="1600">
                <a:solidFill>
                  <a:schemeClr val="accent2"/>
                </a:solidFill>
              </a:endParaRPr>
            </a:p>
          </p:txBody>
        </p:sp>
        <p:sp>
          <p:nvSpPr>
            <p:cNvPr id="22548" name="Text Box 34"/>
            <p:cNvSpPr txBox="1">
              <a:spLocks noChangeArrowheads="1"/>
            </p:cNvSpPr>
            <p:nvPr/>
          </p:nvSpPr>
          <p:spPr bwMode="auto">
            <a:xfrm>
              <a:off x="144" y="2470"/>
              <a:ext cx="424" cy="218"/>
            </a:xfrm>
            <a:prstGeom prst="rect">
              <a:avLst/>
            </a:prstGeom>
            <a:solidFill>
              <a:schemeClr val="accent1"/>
            </a:solidFill>
            <a:ln w="9525">
              <a:solidFill>
                <a:srgbClr val="1E006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endParaRPr lang="fr-FR" altLang="en-US" sz="1600"/>
            </a:p>
          </p:txBody>
        </p:sp>
        <p:sp>
          <p:nvSpPr>
            <p:cNvPr id="22549" name="Text Box 35"/>
            <p:cNvSpPr txBox="1">
              <a:spLocks noChangeArrowheads="1"/>
            </p:cNvSpPr>
            <p:nvPr/>
          </p:nvSpPr>
          <p:spPr bwMode="auto">
            <a:xfrm>
              <a:off x="144" y="1942"/>
              <a:ext cx="424" cy="218"/>
            </a:xfrm>
            <a:prstGeom prst="rect">
              <a:avLst/>
            </a:prstGeom>
            <a:solidFill>
              <a:schemeClr val="accent1"/>
            </a:solidFill>
            <a:ln w="9525">
              <a:solidFill>
                <a:srgbClr val="1E006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endParaRPr lang="fr-FR" altLang="en-US" sz="1600"/>
            </a:p>
          </p:txBody>
        </p:sp>
        <p:sp>
          <p:nvSpPr>
            <p:cNvPr id="22550" name="Text Box 36"/>
            <p:cNvSpPr txBox="1">
              <a:spLocks noChangeArrowheads="1"/>
            </p:cNvSpPr>
            <p:nvPr/>
          </p:nvSpPr>
          <p:spPr bwMode="auto">
            <a:xfrm>
              <a:off x="144" y="2880"/>
              <a:ext cx="424" cy="218"/>
            </a:xfrm>
            <a:prstGeom prst="rect">
              <a:avLst/>
            </a:prstGeom>
            <a:solidFill>
              <a:schemeClr val="accent1"/>
            </a:solidFill>
            <a:ln w="9525">
              <a:solidFill>
                <a:srgbClr val="1E006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endParaRPr lang="fr-FR" altLang="en-US" sz="1600"/>
            </a:p>
          </p:txBody>
        </p:sp>
        <p:sp>
          <p:nvSpPr>
            <p:cNvPr id="22551" name="Rectangle 38"/>
            <p:cNvSpPr>
              <a:spLocks noChangeArrowheads="1"/>
            </p:cNvSpPr>
            <p:nvPr/>
          </p:nvSpPr>
          <p:spPr bwMode="auto">
            <a:xfrm>
              <a:off x="144" y="1083"/>
              <a:ext cx="420" cy="201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22552" name="Text Box 39"/>
            <p:cNvSpPr txBox="1">
              <a:spLocks noChangeArrowheads="1"/>
            </p:cNvSpPr>
            <p:nvPr/>
          </p:nvSpPr>
          <p:spPr bwMode="auto">
            <a:xfrm>
              <a:off x="144" y="1510"/>
              <a:ext cx="424" cy="218"/>
            </a:xfrm>
            <a:prstGeom prst="rect">
              <a:avLst/>
            </a:prstGeom>
            <a:solidFill>
              <a:schemeClr val="accent1"/>
            </a:solidFill>
            <a:ln w="9525">
              <a:solidFill>
                <a:srgbClr val="1E006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endParaRPr lang="fr-FR" altLang="en-US" sz="1600"/>
            </a:p>
          </p:txBody>
        </p:sp>
        <p:sp>
          <p:nvSpPr>
            <p:cNvPr id="22553" name="Line 40"/>
            <p:cNvSpPr>
              <a:spLocks noChangeShapeType="1"/>
            </p:cNvSpPr>
            <p:nvPr/>
          </p:nvSpPr>
          <p:spPr bwMode="auto">
            <a:xfrm>
              <a:off x="432" y="1632"/>
              <a:ext cx="384" cy="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54" name="Oval 41"/>
            <p:cNvSpPr>
              <a:spLocks noChangeArrowheads="1"/>
            </p:cNvSpPr>
            <p:nvPr/>
          </p:nvSpPr>
          <p:spPr bwMode="auto">
            <a:xfrm>
              <a:off x="384" y="1602"/>
              <a:ext cx="58" cy="5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endParaRPr lang="fr-FR" altLang="en-US" sz="1600">
                <a:solidFill>
                  <a:schemeClr val="accent2"/>
                </a:solidFill>
              </a:endParaRPr>
            </a:p>
          </p:txBody>
        </p:sp>
        <p:sp>
          <p:nvSpPr>
            <p:cNvPr id="22555" name="Line 42"/>
            <p:cNvSpPr>
              <a:spLocks noChangeShapeType="1"/>
            </p:cNvSpPr>
            <p:nvPr/>
          </p:nvSpPr>
          <p:spPr bwMode="auto">
            <a:xfrm>
              <a:off x="432" y="2592"/>
              <a:ext cx="384" cy="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56" name="Oval 43"/>
            <p:cNvSpPr>
              <a:spLocks noChangeArrowheads="1"/>
            </p:cNvSpPr>
            <p:nvPr/>
          </p:nvSpPr>
          <p:spPr bwMode="auto">
            <a:xfrm>
              <a:off x="384" y="2562"/>
              <a:ext cx="58" cy="5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endParaRPr lang="fr-FR" altLang="en-US" sz="1600">
                <a:solidFill>
                  <a:schemeClr val="accent2"/>
                </a:solidFill>
              </a:endParaRPr>
            </a:p>
          </p:txBody>
        </p:sp>
        <p:sp>
          <p:nvSpPr>
            <p:cNvPr id="22557" name="Line 44"/>
            <p:cNvSpPr>
              <a:spLocks noChangeShapeType="1"/>
            </p:cNvSpPr>
            <p:nvPr/>
          </p:nvSpPr>
          <p:spPr bwMode="auto">
            <a:xfrm>
              <a:off x="432" y="2064"/>
              <a:ext cx="384" cy="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58" name="Oval 45"/>
            <p:cNvSpPr>
              <a:spLocks noChangeArrowheads="1"/>
            </p:cNvSpPr>
            <p:nvPr/>
          </p:nvSpPr>
          <p:spPr bwMode="auto">
            <a:xfrm>
              <a:off x="384" y="2034"/>
              <a:ext cx="58" cy="5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endParaRPr lang="fr-FR" altLang="en-US" sz="1600">
                <a:solidFill>
                  <a:schemeClr val="accent2"/>
                </a:solidFill>
              </a:endParaRPr>
            </a:p>
          </p:txBody>
        </p:sp>
        <p:grpSp>
          <p:nvGrpSpPr>
            <p:cNvPr id="22559" name="Group 46"/>
            <p:cNvGrpSpPr>
              <a:grpSpLocks/>
            </p:cNvGrpSpPr>
            <p:nvPr/>
          </p:nvGrpSpPr>
          <p:grpSpPr bwMode="auto">
            <a:xfrm>
              <a:off x="816" y="2428"/>
              <a:ext cx="768" cy="294"/>
              <a:chOff x="672" y="1680"/>
              <a:chExt cx="768" cy="294"/>
            </a:xfrm>
          </p:grpSpPr>
          <p:sp>
            <p:nvSpPr>
              <p:cNvPr id="22572" name="Rectangle 47"/>
              <p:cNvSpPr>
                <a:spLocks noChangeArrowheads="1"/>
              </p:cNvSpPr>
              <p:nvPr/>
            </p:nvSpPr>
            <p:spPr bwMode="auto">
              <a:xfrm>
                <a:off x="1248" y="1680"/>
                <a:ext cx="192" cy="29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22573" name="Text Box 48"/>
              <p:cNvSpPr txBox="1">
                <a:spLocks noChangeArrowheads="1"/>
              </p:cNvSpPr>
              <p:nvPr/>
            </p:nvSpPr>
            <p:spPr bwMode="auto">
              <a:xfrm>
                <a:off x="672" y="1680"/>
                <a:ext cx="576" cy="294"/>
              </a:xfrm>
              <a:prstGeom prst="rect">
                <a:avLst/>
              </a:prstGeom>
              <a:noFill/>
              <a:ln w="9525">
                <a:solidFill>
                  <a:srgbClr val="1E006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endParaRPr lang="fr-FR" altLang="en-US" sz="2400"/>
              </a:p>
            </p:txBody>
          </p:sp>
        </p:grpSp>
        <p:grpSp>
          <p:nvGrpSpPr>
            <p:cNvPr id="22560" name="Group 49"/>
            <p:cNvGrpSpPr>
              <a:grpSpLocks/>
            </p:cNvGrpSpPr>
            <p:nvPr/>
          </p:nvGrpSpPr>
          <p:grpSpPr bwMode="auto">
            <a:xfrm>
              <a:off x="1903" y="2425"/>
              <a:ext cx="768" cy="294"/>
              <a:chOff x="672" y="1680"/>
              <a:chExt cx="768" cy="294"/>
            </a:xfrm>
          </p:grpSpPr>
          <p:sp>
            <p:nvSpPr>
              <p:cNvPr id="22570" name="Rectangle 50"/>
              <p:cNvSpPr>
                <a:spLocks noChangeArrowheads="1"/>
              </p:cNvSpPr>
              <p:nvPr/>
            </p:nvSpPr>
            <p:spPr bwMode="auto">
              <a:xfrm>
                <a:off x="1248" y="1680"/>
                <a:ext cx="192" cy="29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22571" name="Text Box 51"/>
              <p:cNvSpPr txBox="1">
                <a:spLocks noChangeArrowheads="1"/>
              </p:cNvSpPr>
              <p:nvPr/>
            </p:nvSpPr>
            <p:spPr bwMode="auto">
              <a:xfrm>
                <a:off x="672" y="1680"/>
                <a:ext cx="576" cy="294"/>
              </a:xfrm>
              <a:prstGeom prst="rect">
                <a:avLst/>
              </a:prstGeom>
              <a:noFill/>
              <a:ln w="9525">
                <a:solidFill>
                  <a:srgbClr val="1E006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endParaRPr lang="fr-FR" altLang="en-US" sz="2400"/>
              </a:p>
            </p:txBody>
          </p:sp>
        </p:grpSp>
        <p:sp>
          <p:nvSpPr>
            <p:cNvPr id="22561" name="Line 52"/>
            <p:cNvSpPr>
              <a:spLocks noChangeShapeType="1"/>
            </p:cNvSpPr>
            <p:nvPr/>
          </p:nvSpPr>
          <p:spPr bwMode="auto">
            <a:xfrm>
              <a:off x="2479" y="2431"/>
              <a:ext cx="192"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62" name="Line 53"/>
            <p:cNvSpPr>
              <a:spLocks noChangeShapeType="1"/>
            </p:cNvSpPr>
            <p:nvPr/>
          </p:nvSpPr>
          <p:spPr bwMode="auto">
            <a:xfrm flipH="1">
              <a:off x="2479" y="2431"/>
              <a:ext cx="192"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63" name="Line 54"/>
            <p:cNvSpPr>
              <a:spLocks noChangeShapeType="1"/>
            </p:cNvSpPr>
            <p:nvPr/>
          </p:nvSpPr>
          <p:spPr bwMode="auto">
            <a:xfrm>
              <a:off x="1488" y="2572"/>
              <a:ext cx="384" cy="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64" name="Oval 55"/>
            <p:cNvSpPr>
              <a:spLocks noChangeArrowheads="1"/>
            </p:cNvSpPr>
            <p:nvPr/>
          </p:nvSpPr>
          <p:spPr bwMode="auto">
            <a:xfrm>
              <a:off x="1440" y="2544"/>
              <a:ext cx="58" cy="5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endParaRPr lang="fr-FR" altLang="en-US" sz="1600">
                <a:solidFill>
                  <a:schemeClr val="accent2"/>
                </a:solidFill>
              </a:endParaRPr>
            </a:p>
          </p:txBody>
        </p:sp>
        <p:grpSp>
          <p:nvGrpSpPr>
            <p:cNvPr id="22565" name="Group 56"/>
            <p:cNvGrpSpPr>
              <a:grpSpLocks/>
            </p:cNvGrpSpPr>
            <p:nvPr/>
          </p:nvGrpSpPr>
          <p:grpSpPr bwMode="auto">
            <a:xfrm>
              <a:off x="816" y="1488"/>
              <a:ext cx="768" cy="294"/>
              <a:chOff x="672" y="1680"/>
              <a:chExt cx="768" cy="294"/>
            </a:xfrm>
          </p:grpSpPr>
          <p:sp>
            <p:nvSpPr>
              <p:cNvPr id="22568" name="Rectangle 57"/>
              <p:cNvSpPr>
                <a:spLocks noChangeArrowheads="1"/>
              </p:cNvSpPr>
              <p:nvPr/>
            </p:nvSpPr>
            <p:spPr bwMode="auto">
              <a:xfrm>
                <a:off x="1248" y="1680"/>
                <a:ext cx="192" cy="29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22569" name="Text Box 58"/>
              <p:cNvSpPr txBox="1">
                <a:spLocks noChangeArrowheads="1"/>
              </p:cNvSpPr>
              <p:nvPr/>
            </p:nvSpPr>
            <p:spPr bwMode="auto">
              <a:xfrm>
                <a:off x="672" y="1680"/>
                <a:ext cx="576" cy="294"/>
              </a:xfrm>
              <a:prstGeom prst="rect">
                <a:avLst/>
              </a:prstGeom>
              <a:noFill/>
              <a:ln w="9525">
                <a:solidFill>
                  <a:srgbClr val="1E006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endParaRPr lang="fr-FR" altLang="en-US" sz="2400"/>
              </a:p>
            </p:txBody>
          </p:sp>
        </p:grpSp>
        <p:sp>
          <p:nvSpPr>
            <p:cNvPr id="22566" name="Line 59"/>
            <p:cNvSpPr>
              <a:spLocks noChangeShapeType="1"/>
            </p:cNvSpPr>
            <p:nvPr/>
          </p:nvSpPr>
          <p:spPr bwMode="auto">
            <a:xfrm>
              <a:off x="1392" y="1494"/>
              <a:ext cx="192"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67" name="Line 60"/>
            <p:cNvSpPr>
              <a:spLocks noChangeShapeType="1"/>
            </p:cNvSpPr>
            <p:nvPr/>
          </p:nvSpPr>
          <p:spPr bwMode="auto">
            <a:xfrm flipH="1">
              <a:off x="1392" y="1494"/>
              <a:ext cx="192"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3167D2E7-699E-4ABA-8A3C-F35A1BE65D58}" type="slidenum">
              <a:rPr lang="en-US" altLang="en-US" sz="1400" b="0"/>
              <a:pPr/>
              <a:t>18</a:t>
            </a:fld>
            <a:endParaRPr lang="en-US" altLang="en-US" sz="1400" b="0"/>
          </a:p>
        </p:txBody>
      </p:sp>
      <p:sp>
        <p:nvSpPr>
          <p:cNvPr id="23555" name="Rectangle 2"/>
          <p:cNvSpPr>
            <a:spLocks noGrp="1" noChangeArrowheads="1"/>
          </p:cNvSpPr>
          <p:nvPr>
            <p:ph type="title"/>
          </p:nvPr>
        </p:nvSpPr>
        <p:spPr/>
        <p:txBody>
          <a:bodyPr/>
          <a:lstStyle/>
          <a:p>
            <a:pPr eaLnBrk="1" hangingPunct="1"/>
            <a:r>
              <a:rPr lang="en-US" altLang="en-US"/>
              <a:t>Các CTDL cho bảng ký hiệu</a:t>
            </a:r>
            <a:r>
              <a:rPr lang="en-US" altLang="en-US">
                <a:sym typeface="Symbol" panose="05050102010706020507" pitchFamily="18" charset="2"/>
              </a:rPr>
              <a:t>Bảng băm</a:t>
            </a:r>
          </a:p>
        </p:txBody>
      </p:sp>
      <p:sp>
        <p:nvSpPr>
          <p:cNvPr id="23556" name="Rectangle 3"/>
          <p:cNvSpPr>
            <a:spLocks noGrp="1" noChangeArrowheads="1"/>
          </p:cNvSpPr>
          <p:nvPr>
            <p:ph type="body" idx="1"/>
          </p:nvPr>
        </p:nvSpPr>
        <p:spPr>
          <a:xfrm>
            <a:off x="228600" y="990600"/>
            <a:ext cx="8686800" cy="2133600"/>
          </a:xfrm>
        </p:spPr>
        <p:txBody>
          <a:bodyPr/>
          <a:lstStyle/>
          <a:p>
            <a:pPr marL="347663" indent="-347663" algn="just" eaLnBrk="1" hangingPunct="1">
              <a:lnSpc>
                <a:spcPct val="105000"/>
              </a:lnSpc>
            </a:pPr>
            <a:r>
              <a:rPr lang="fr-FR" altLang="en-US">
                <a:solidFill>
                  <a:schemeClr val="accent2"/>
                </a:solidFill>
                <a:sym typeface="Symbol" panose="05050102010706020507" pitchFamily="18" charset="2"/>
              </a:rPr>
              <a:t>H là bảng băm gồm N phần tử</a:t>
            </a:r>
          </a:p>
          <a:p>
            <a:pPr marL="347663" indent="-347663" algn="just" eaLnBrk="1" hangingPunct="1">
              <a:lnSpc>
                <a:spcPct val="105000"/>
              </a:lnSpc>
            </a:pPr>
            <a:r>
              <a:rPr lang="fr-FR" altLang="en-US">
                <a:solidFill>
                  <a:schemeClr val="accent2"/>
                </a:solidFill>
                <a:sym typeface="Symbol" panose="05050102010706020507" pitchFamily="18" charset="2"/>
              </a:rPr>
              <a:t>h: là hàm băm</a:t>
            </a:r>
          </a:p>
          <a:p>
            <a:pPr marL="347663" indent="-347663" algn="just" eaLnBrk="1" hangingPunct="1">
              <a:lnSpc>
                <a:spcPct val="105000"/>
              </a:lnSpc>
            </a:pPr>
            <a:r>
              <a:rPr lang="fr-FR" altLang="en-US">
                <a:solidFill>
                  <a:schemeClr val="accent2"/>
                </a:solidFill>
                <a:sym typeface="Symbol" panose="05050102010706020507" pitchFamily="18" charset="2"/>
              </a:rPr>
              <a:t>: là một tên</a:t>
            </a:r>
          </a:p>
        </p:txBody>
      </p:sp>
      <p:sp>
        <p:nvSpPr>
          <p:cNvPr id="23557"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grpSp>
        <p:nvGrpSpPr>
          <p:cNvPr id="23558" name="Group 55"/>
          <p:cNvGrpSpPr>
            <a:grpSpLocks/>
          </p:cNvGrpSpPr>
          <p:nvPr/>
        </p:nvGrpSpPr>
        <p:grpSpPr bwMode="auto">
          <a:xfrm>
            <a:off x="3581400" y="1752600"/>
            <a:ext cx="4038600" cy="1066800"/>
            <a:chOff x="2256" y="1104"/>
            <a:chExt cx="2544" cy="672"/>
          </a:xfrm>
        </p:grpSpPr>
        <p:sp>
          <p:nvSpPr>
            <p:cNvPr id="23560" name="AutoShape 53"/>
            <p:cNvSpPr>
              <a:spLocks/>
            </p:cNvSpPr>
            <p:nvPr/>
          </p:nvSpPr>
          <p:spPr bwMode="auto">
            <a:xfrm>
              <a:off x="2256" y="1104"/>
              <a:ext cx="144" cy="672"/>
            </a:xfrm>
            <a:prstGeom prst="rightBrace">
              <a:avLst>
                <a:gd name="adj1" fmla="val 38889"/>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23561" name="Text Box 54"/>
            <p:cNvSpPr txBox="1">
              <a:spLocks noChangeArrowheads="1"/>
            </p:cNvSpPr>
            <p:nvPr/>
          </p:nvSpPr>
          <p:spPr bwMode="auto">
            <a:xfrm>
              <a:off x="2544" y="1200"/>
              <a:ext cx="225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3200" b="0"/>
                <a:t>h(</a:t>
              </a:r>
              <a:r>
                <a:rPr lang="fr-FR" altLang="en-US" sz="3200" b="0">
                  <a:sym typeface="Symbol" panose="05050102010706020507" pitchFamily="18" charset="2"/>
                </a:rPr>
                <a:t></a:t>
              </a:r>
              <a:r>
                <a:rPr lang="fr-FR" altLang="en-US" sz="3200" b="0"/>
                <a:t>) </a:t>
              </a:r>
              <a:r>
                <a:rPr lang="fr-FR" altLang="en-US" sz="3200" b="0">
                  <a:sym typeface="Symbol" panose="05050102010706020507" pitchFamily="18" charset="2"/>
                </a:rPr>
                <a:t>[0..N-1]</a:t>
              </a:r>
            </a:p>
          </p:txBody>
        </p:sp>
      </p:grpSp>
      <p:sp>
        <p:nvSpPr>
          <p:cNvPr id="23559" name="Rectangle 56"/>
          <p:cNvSpPr>
            <a:spLocks noChangeArrowheads="1"/>
          </p:cNvSpPr>
          <p:nvPr/>
        </p:nvSpPr>
        <p:spPr bwMode="auto">
          <a:xfrm>
            <a:off x="228600" y="2971800"/>
            <a:ext cx="86868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7663" indent="-347663">
              <a:spcBef>
                <a:spcPct val="20000"/>
              </a:spcBef>
              <a:buChar char="•"/>
              <a:defRPr sz="3200">
                <a:solidFill>
                  <a:srgbClr val="270076"/>
                </a:solidFill>
                <a:latin typeface="Arial" panose="020B0604020202020204" pitchFamily="34" charset="0"/>
              </a:defRPr>
            </a:lvl1pPr>
            <a:lvl2pPr marL="738188" indent="-276225">
              <a:spcBef>
                <a:spcPct val="20000"/>
              </a:spcBef>
              <a:buChar char="–"/>
              <a:defRPr sz="2800">
                <a:solidFill>
                  <a:srgbClr val="270076"/>
                </a:solidFill>
                <a:latin typeface="Arial" panose="020B0604020202020204" pitchFamily="34" charset="0"/>
              </a:defRPr>
            </a:lvl2pPr>
            <a:lvl3pPr marL="1257300" indent="-228600">
              <a:spcBef>
                <a:spcPct val="20000"/>
              </a:spcBef>
              <a:buChar char="•"/>
              <a:defRPr sz="2400">
                <a:solidFill>
                  <a:srgbClr val="270076"/>
                </a:solidFill>
                <a:latin typeface="Arial" panose="020B0604020202020204" pitchFamily="34" charset="0"/>
              </a:defRPr>
            </a:lvl3pPr>
            <a:lvl4pPr marL="1600200" indent="-228600">
              <a:spcBef>
                <a:spcPct val="20000"/>
              </a:spcBef>
              <a:buChar char="–"/>
              <a:defRPr sz="2000">
                <a:solidFill>
                  <a:srgbClr val="270076"/>
                </a:solidFill>
                <a:latin typeface="Arial" panose="020B0604020202020204" pitchFamily="34" charset="0"/>
              </a:defRPr>
            </a:lvl4pPr>
            <a:lvl5pPr marL="2057400" indent="-228600">
              <a:spcBef>
                <a:spcPct val="20000"/>
              </a:spcBef>
              <a:buChar char="»"/>
              <a:defRPr sz="2000">
                <a:solidFill>
                  <a:srgbClr val="270076"/>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270076"/>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270076"/>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270076"/>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270076"/>
                </a:solidFill>
                <a:latin typeface="Arial" panose="020B0604020202020204" pitchFamily="34" charset="0"/>
              </a:defRPr>
            </a:lvl9pPr>
          </a:lstStyle>
          <a:p>
            <a:pPr algn="just" eaLnBrk="1" hangingPunct="1">
              <a:lnSpc>
                <a:spcPct val="105000"/>
              </a:lnSpc>
              <a:buFontTx/>
              <a:buNone/>
            </a:pPr>
            <a:r>
              <a:rPr lang="fr-FR" altLang="en-US">
                <a:solidFill>
                  <a:schemeClr val="accent2"/>
                </a:solidFill>
                <a:sym typeface="Symbol" panose="05050102010706020507" pitchFamily="18" charset="2"/>
              </a:rPr>
              <a:t>Hoạt động</a:t>
            </a:r>
          </a:p>
          <a:p>
            <a:pPr algn="just" eaLnBrk="1" hangingPunct="1">
              <a:lnSpc>
                <a:spcPct val="105000"/>
              </a:lnSpc>
              <a:buFontTx/>
              <a:buNone/>
            </a:pPr>
            <a:r>
              <a:rPr lang="fr-FR" altLang="en-US" b="0">
                <a:solidFill>
                  <a:schemeClr val="accent2"/>
                </a:solidFill>
                <a:sym typeface="Symbol" panose="05050102010706020507" pitchFamily="18" charset="2"/>
              </a:rPr>
              <a:t>Giả thiết  = H[h()]</a:t>
            </a:r>
          </a:p>
          <a:p>
            <a:pPr algn="just" eaLnBrk="1" hangingPunct="1">
              <a:lnSpc>
                <a:spcPct val="105000"/>
              </a:lnSpc>
            </a:pPr>
            <a:r>
              <a:rPr lang="fr-FR" altLang="en-US" b="0">
                <a:solidFill>
                  <a:schemeClr val="accent2"/>
                </a:solidFill>
                <a:sym typeface="Symbol" panose="05050102010706020507" pitchFamily="18" charset="2"/>
              </a:rPr>
              <a:t> =   Trùng tên: Tên đã khai báo</a:t>
            </a:r>
          </a:p>
          <a:p>
            <a:pPr algn="just" eaLnBrk="1" hangingPunct="1">
              <a:lnSpc>
                <a:spcPct val="105000"/>
              </a:lnSpc>
            </a:pPr>
            <a:r>
              <a:rPr lang="fr-FR" altLang="en-US" b="0">
                <a:solidFill>
                  <a:schemeClr val="accent2"/>
                </a:solidFill>
                <a:sym typeface="Symbol" panose="05050102010706020507" pitchFamily="18" charset="2"/>
              </a:rPr>
              <a:t> =   Tên chưa khai báo</a:t>
            </a:r>
          </a:p>
          <a:p>
            <a:pPr algn="just" eaLnBrk="1" hangingPunct="1">
              <a:lnSpc>
                <a:spcPct val="105000"/>
              </a:lnSpc>
            </a:pPr>
            <a:r>
              <a:rPr lang="fr-FR" altLang="en-US" b="0">
                <a:solidFill>
                  <a:schemeClr val="accent2"/>
                </a:solidFill>
                <a:sym typeface="Symbol" panose="05050102010706020507" pitchFamily="18" charset="2"/>
              </a:rPr>
              <a:t>  &amp;   Xung đột. Một ô chứa 2 tên</a:t>
            </a:r>
          </a:p>
          <a:p>
            <a:pPr lvl="1" algn="just" eaLnBrk="1" hangingPunct="1">
              <a:lnSpc>
                <a:spcPct val="105000"/>
              </a:lnSpc>
            </a:pPr>
            <a:r>
              <a:rPr lang="fr-FR" altLang="en-US" b="0">
                <a:solidFill>
                  <a:schemeClr val="accent2"/>
                </a:solidFill>
                <a:sym typeface="Symbol" panose="05050102010706020507" pitchFamily="18" charset="2"/>
              </a:rPr>
              <a:t>Đi theo DSLK tương ứng để ra được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2A2EB086-7A69-4872-92BA-40B1620B4E4A}" type="slidenum">
              <a:rPr lang="en-US" altLang="en-US" sz="1400" b="0"/>
              <a:pPr/>
              <a:t>19</a:t>
            </a:fld>
            <a:endParaRPr lang="en-US" altLang="en-US" sz="1400" b="0"/>
          </a:p>
        </p:txBody>
      </p:sp>
      <p:sp>
        <p:nvSpPr>
          <p:cNvPr id="24579" name="Rectangle 2"/>
          <p:cNvSpPr>
            <a:spLocks noGrp="1" noChangeArrowheads="1"/>
          </p:cNvSpPr>
          <p:nvPr>
            <p:ph type="title"/>
          </p:nvPr>
        </p:nvSpPr>
        <p:spPr/>
        <p:txBody>
          <a:bodyPr/>
          <a:lstStyle/>
          <a:p>
            <a:pPr eaLnBrk="1" hangingPunct="1"/>
            <a:r>
              <a:rPr lang="en-US" altLang="en-US"/>
              <a:t>Bảng ký hiệu cho cấu trúc khối</a:t>
            </a:r>
          </a:p>
        </p:txBody>
      </p:sp>
      <p:sp>
        <p:nvSpPr>
          <p:cNvPr id="24580" name="Rectangle 3"/>
          <p:cNvSpPr>
            <a:spLocks noGrp="1" noChangeArrowheads="1"/>
          </p:cNvSpPr>
          <p:nvPr>
            <p:ph type="body" idx="1"/>
          </p:nvPr>
        </p:nvSpPr>
        <p:spPr>
          <a:xfrm>
            <a:off x="228600" y="866775"/>
            <a:ext cx="8728075" cy="5867400"/>
          </a:xfrm>
        </p:spPr>
        <p:txBody>
          <a:bodyPr/>
          <a:lstStyle/>
          <a:p>
            <a:pPr marL="290513" indent="-290513" eaLnBrk="1" hangingPunct="1">
              <a:lnSpc>
                <a:spcPct val="110000"/>
              </a:lnSpc>
            </a:pPr>
            <a:r>
              <a:rPr lang="en-US" altLang="en-US"/>
              <a:t>Ngôn ngữ là có cấu trúc khối nếu</a:t>
            </a:r>
          </a:p>
          <a:p>
            <a:pPr marL="855663" lvl="1" indent="-334963" eaLnBrk="1" hangingPunct="1">
              <a:lnSpc>
                <a:spcPct val="110000"/>
              </a:lnSpc>
            </a:pPr>
            <a:r>
              <a:rPr lang="en-US" altLang="en-US"/>
              <a:t>Một khối có thể được nằm trong khối khác</a:t>
            </a:r>
          </a:p>
          <a:p>
            <a:pPr marL="1314450" lvl="2" eaLnBrk="1" hangingPunct="1">
              <a:lnSpc>
                <a:spcPct val="110000"/>
              </a:lnSpc>
            </a:pPr>
            <a:r>
              <a:rPr lang="fr-FR" altLang="en-US"/>
              <a:t>Ví dụ: Trong </a:t>
            </a:r>
            <a:r>
              <a:rPr lang="fr-FR" altLang="en-US" i="1">
                <a:solidFill>
                  <a:srgbClr val="3539EB"/>
                </a:solidFill>
              </a:rPr>
              <a:t>Procedure</a:t>
            </a:r>
            <a:r>
              <a:rPr lang="fr-FR" altLang="en-US"/>
              <a:t> có </a:t>
            </a:r>
            <a:r>
              <a:rPr lang="fr-FR" altLang="en-US" i="1">
                <a:solidFill>
                  <a:srgbClr val="3539EB"/>
                </a:solidFill>
              </a:rPr>
              <a:t>Procedure</a:t>
            </a:r>
            <a:r>
              <a:rPr lang="fr-FR" altLang="en-US"/>
              <a:t> khác…</a:t>
            </a:r>
            <a:endParaRPr lang="en-US" altLang="en-US"/>
          </a:p>
          <a:p>
            <a:pPr marL="855663" lvl="1" indent="-334963" eaLnBrk="1" hangingPunct="1">
              <a:lnSpc>
                <a:spcPct val="110000"/>
              </a:lnSpc>
            </a:pPr>
            <a:r>
              <a:rPr lang="en-US" altLang="en-US"/>
              <a:t>Phạm vi của khai báo trong mỗi khối là chính khối đó và các khối nằm trong nó</a:t>
            </a:r>
          </a:p>
          <a:p>
            <a:pPr marL="290513" indent="-290513" eaLnBrk="1" hangingPunct="1">
              <a:lnSpc>
                <a:spcPct val="110000"/>
              </a:lnSpc>
            </a:pPr>
            <a:r>
              <a:rPr lang="en-US" altLang="en-US"/>
              <a:t>Luật lồng nhau gần nhất</a:t>
            </a:r>
          </a:p>
          <a:p>
            <a:pPr marL="855663" lvl="1" indent="-334963" eaLnBrk="1" hangingPunct="1">
              <a:lnSpc>
                <a:spcPct val="110000"/>
              </a:lnSpc>
            </a:pPr>
            <a:r>
              <a:rPr lang="en-US" altLang="en-US"/>
              <a:t>Cho phép nhiều khai báo của cùng một tên</a:t>
            </a:r>
          </a:p>
          <a:p>
            <a:pPr marL="1314450" lvl="2" eaLnBrk="1" hangingPunct="1">
              <a:lnSpc>
                <a:spcPct val="110000"/>
              </a:lnSpc>
            </a:pPr>
            <a:r>
              <a:rPr lang="en-US" altLang="en-US"/>
              <a:t>Các tên phải nằm trong các khối khác nhau </a:t>
            </a:r>
          </a:p>
          <a:p>
            <a:pPr marL="855663" lvl="1" indent="-334963" eaLnBrk="1" hangingPunct="1">
              <a:lnSpc>
                <a:spcPct val="110000"/>
              </a:lnSpc>
            </a:pPr>
            <a:r>
              <a:rPr lang="en-US" altLang="en-US"/>
              <a:t>Khai báo có hiệu lực thuộc khối gần nhất</a:t>
            </a:r>
          </a:p>
          <a:p>
            <a:pPr marL="1314450" lvl="2" eaLnBrk="1" hangingPunct="1">
              <a:lnSpc>
                <a:spcPct val="110000"/>
              </a:lnSpc>
            </a:pPr>
            <a:r>
              <a:rPr lang="en-US" altLang="en-US"/>
              <a:t>Khi một thủ tục nằm trong thủ tục khác được gọi, các khai báo của thủ tục bên ngoài tạm dừng hoạt động</a:t>
            </a:r>
          </a:p>
        </p:txBody>
      </p:sp>
      <p:sp>
        <p:nvSpPr>
          <p:cNvPr id="24581"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A2315BB9-152A-4EE8-A317-8886CDBA92CC}" type="slidenum">
              <a:rPr lang="en-US" altLang="en-US" sz="1400" b="0"/>
              <a:pPr/>
              <a:t>20</a:t>
            </a:fld>
            <a:endParaRPr lang="en-US" altLang="en-US" sz="1400" b="0"/>
          </a:p>
        </p:txBody>
      </p:sp>
      <p:sp>
        <p:nvSpPr>
          <p:cNvPr id="25603" name="Rectangle 2"/>
          <p:cNvSpPr>
            <a:spLocks noGrp="1" noChangeArrowheads="1"/>
          </p:cNvSpPr>
          <p:nvPr>
            <p:ph type="title"/>
          </p:nvPr>
        </p:nvSpPr>
        <p:spPr/>
        <p:txBody>
          <a:bodyPr/>
          <a:lstStyle/>
          <a:p>
            <a:pPr eaLnBrk="1" hangingPunct="1"/>
            <a:r>
              <a:rPr lang="en-US" altLang="en-US"/>
              <a:t>Luật về phạm vi sử dụng</a:t>
            </a:r>
          </a:p>
        </p:txBody>
      </p:sp>
      <p:sp>
        <p:nvSpPr>
          <p:cNvPr id="25604" name="Rectangle 3"/>
          <p:cNvSpPr>
            <a:spLocks noGrp="1" noChangeArrowheads="1"/>
          </p:cNvSpPr>
          <p:nvPr>
            <p:ph type="body" idx="1"/>
          </p:nvPr>
        </p:nvSpPr>
        <p:spPr>
          <a:xfrm>
            <a:off x="112713" y="866775"/>
            <a:ext cx="8843962" cy="5762625"/>
          </a:xfrm>
        </p:spPr>
        <p:txBody>
          <a:bodyPr/>
          <a:lstStyle/>
          <a:p>
            <a:pPr marL="290513" indent="-290513" eaLnBrk="1" hangingPunct="1">
              <a:lnSpc>
                <a:spcPct val="120000"/>
              </a:lnSpc>
            </a:pPr>
            <a:r>
              <a:rPr lang="en-US" altLang="en-US" sz="2800"/>
              <a:t>Toán tử thêm (</a:t>
            </a:r>
            <a:r>
              <a:rPr lang="en-US" altLang="en-US" sz="2800" b="1">
                <a:solidFill>
                  <a:srgbClr val="3539EB"/>
                </a:solidFill>
              </a:rPr>
              <a:t>Insert</a:t>
            </a:r>
            <a:r>
              <a:rPr lang="en-US" altLang="en-US" sz="2800"/>
              <a:t>) vào bảng ký hiệu không được ghi đè những khai báo trước</a:t>
            </a:r>
          </a:p>
          <a:p>
            <a:pPr marL="290513" indent="-290513" eaLnBrk="1" hangingPunct="1">
              <a:lnSpc>
                <a:spcPct val="120000"/>
              </a:lnSpc>
            </a:pPr>
            <a:r>
              <a:rPr lang="en-US" altLang="en-US" sz="2800"/>
              <a:t>Toán tử tìm kiếm (</a:t>
            </a:r>
            <a:r>
              <a:rPr lang="en-US" altLang="en-US" sz="2800" b="1">
                <a:solidFill>
                  <a:srgbClr val="3539EB"/>
                </a:solidFill>
              </a:rPr>
              <a:t>lookup</a:t>
            </a:r>
            <a:r>
              <a:rPr lang="en-US" altLang="en-US" sz="2800"/>
              <a:t>) trong bảng ký hiệu luôn luôn tham chiếu luật phạm vi gần nhất</a:t>
            </a:r>
          </a:p>
          <a:p>
            <a:pPr marL="290513" indent="-290513" eaLnBrk="1" hangingPunct="1">
              <a:lnSpc>
                <a:spcPct val="120000"/>
              </a:lnSpc>
            </a:pPr>
            <a:r>
              <a:rPr lang="en-US" altLang="en-US" sz="2800"/>
              <a:t>Toán tử xóa (</a:t>
            </a:r>
            <a:r>
              <a:rPr lang="en-US" altLang="en-US" sz="2800" b="1">
                <a:solidFill>
                  <a:srgbClr val="3539EB"/>
                </a:solidFill>
              </a:rPr>
              <a:t>delete</a:t>
            </a:r>
            <a:r>
              <a:rPr lang="en-US" altLang="en-US" sz="2800"/>
              <a:t>) chỉ được xóa khai báo gần nhất</a:t>
            </a:r>
          </a:p>
          <a:p>
            <a:pPr marL="290513" indent="-290513" eaLnBrk="1" hangingPunct="1">
              <a:lnSpc>
                <a:spcPct val="120000"/>
              </a:lnSpc>
            </a:pPr>
            <a:r>
              <a:rPr lang="fr-FR" altLang="en-US" sz="2800"/>
              <a:t>Giải pháp</a:t>
            </a:r>
            <a:endParaRPr lang="en-US" altLang="en-US" sz="2800"/>
          </a:p>
          <a:p>
            <a:pPr marL="971550" lvl="1" indent="-450850" eaLnBrk="1" hangingPunct="1">
              <a:lnSpc>
                <a:spcPct val="120000"/>
              </a:lnSpc>
            </a:pPr>
            <a:r>
              <a:rPr lang="en-US" altLang="en-US" sz="2400"/>
              <a:t>Dùng stack để lưu trữ dấu vết của các thủ tục lồng nhau</a:t>
            </a:r>
          </a:p>
          <a:p>
            <a:pPr marL="971550" lvl="1" indent="-450850" eaLnBrk="1" hangingPunct="1">
              <a:lnSpc>
                <a:spcPct val="120000"/>
              </a:lnSpc>
            </a:pPr>
            <a:r>
              <a:rPr lang="en-US" altLang="en-US" sz="2400"/>
              <a:t>Tạo bảng ký hiệu mới cho mỗi thủ tục</a:t>
            </a:r>
          </a:p>
          <a:p>
            <a:pPr marL="1314450" lvl="2" eaLnBrk="1" hangingPunct="1">
              <a:lnSpc>
                <a:spcPct val="120000"/>
              </a:lnSpc>
            </a:pPr>
            <a:r>
              <a:rPr lang="en-US" altLang="en-US" sz="2000"/>
              <a:t>Thêm một định danh mới, cần chỉ rõ bảng ký hiệu  cần thêm </a:t>
            </a:r>
          </a:p>
        </p:txBody>
      </p:sp>
      <p:sp>
        <p:nvSpPr>
          <p:cNvPr id="25605"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2BEC75DF-59C5-46FD-B0C9-40B0E95EE96B}" type="slidenum">
              <a:rPr lang="en-US" altLang="en-US" sz="1400" b="0"/>
              <a:pPr/>
              <a:t>21</a:t>
            </a:fld>
            <a:endParaRPr lang="en-US" altLang="en-US" sz="1400" b="0"/>
          </a:p>
        </p:txBody>
      </p:sp>
      <p:sp>
        <p:nvSpPr>
          <p:cNvPr id="26627" name="Rectangle 2"/>
          <p:cNvSpPr>
            <a:spLocks noGrp="1" noChangeArrowheads="1"/>
          </p:cNvSpPr>
          <p:nvPr>
            <p:ph type="title"/>
          </p:nvPr>
        </p:nvSpPr>
        <p:spPr/>
        <p:txBody>
          <a:bodyPr/>
          <a:lstStyle/>
          <a:p>
            <a:pPr eaLnBrk="1" hangingPunct="1"/>
            <a:r>
              <a:rPr lang="fr-FR" altLang="en-US"/>
              <a:t>Phạm vi</a:t>
            </a:r>
            <a:r>
              <a:rPr lang="fr-FR" altLang="en-US">
                <a:sym typeface="Symbol" panose="05050102010706020507" pitchFamily="18" charset="2"/>
              </a:rPr>
              <a:t>Ví dụ</a:t>
            </a:r>
          </a:p>
        </p:txBody>
      </p:sp>
      <p:sp>
        <p:nvSpPr>
          <p:cNvPr id="26628"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sp>
        <p:nvSpPr>
          <p:cNvPr id="261123" name="Rectangle 3"/>
          <p:cNvSpPr>
            <a:spLocks noChangeArrowheads="1"/>
          </p:cNvSpPr>
          <p:nvPr/>
        </p:nvSpPr>
        <p:spPr bwMode="auto">
          <a:xfrm>
            <a:off x="533400" y="990600"/>
            <a:ext cx="80772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81000" indent="-381000">
              <a:spcBef>
                <a:spcPct val="20000"/>
              </a:spcBef>
              <a:buChar char="•"/>
              <a:defRPr sz="3200">
                <a:solidFill>
                  <a:srgbClr val="270076"/>
                </a:solidFill>
                <a:latin typeface="Arial" panose="020B0604020202020204" pitchFamily="34" charset="0"/>
              </a:defRPr>
            </a:lvl1pPr>
            <a:lvl2pPr marL="742950" indent="-285750">
              <a:spcBef>
                <a:spcPct val="20000"/>
              </a:spcBef>
              <a:buChar char="–"/>
              <a:defRPr sz="2800">
                <a:solidFill>
                  <a:srgbClr val="270076"/>
                </a:solidFill>
                <a:latin typeface="Arial" panose="020B0604020202020204" pitchFamily="34" charset="0"/>
              </a:defRPr>
            </a:lvl2pPr>
            <a:lvl3pPr marL="1143000" indent="-228600">
              <a:spcBef>
                <a:spcPct val="20000"/>
              </a:spcBef>
              <a:buChar char="•"/>
              <a:defRPr sz="2400">
                <a:solidFill>
                  <a:srgbClr val="270076"/>
                </a:solidFill>
                <a:latin typeface="Arial" panose="020B0604020202020204" pitchFamily="34" charset="0"/>
              </a:defRPr>
            </a:lvl3pPr>
            <a:lvl4pPr marL="1600200" indent="-228600">
              <a:spcBef>
                <a:spcPct val="20000"/>
              </a:spcBef>
              <a:buChar char="–"/>
              <a:defRPr sz="2000">
                <a:solidFill>
                  <a:srgbClr val="270076"/>
                </a:solidFill>
                <a:latin typeface="Arial" panose="020B0604020202020204" pitchFamily="34" charset="0"/>
              </a:defRPr>
            </a:lvl4pPr>
            <a:lvl5pPr marL="2057400" indent="-228600">
              <a:spcBef>
                <a:spcPct val="20000"/>
              </a:spcBef>
              <a:buChar char="»"/>
              <a:defRPr sz="2000">
                <a:solidFill>
                  <a:srgbClr val="270076"/>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270076"/>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270076"/>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270076"/>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270076"/>
                </a:solidFill>
                <a:latin typeface="Arial" panose="020B0604020202020204" pitchFamily="34" charset="0"/>
              </a:defRPr>
            </a:lvl9pPr>
          </a:lstStyle>
          <a:p>
            <a:pPr eaLnBrk="1" hangingPunct="1">
              <a:spcBef>
                <a:spcPct val="10000"/>
              </a:spcBef>
              <a:buFont typeface="Wingdings" panose="05000000000000000000" pitchFamily="2" charset="2"/>
              <a:buAutoNum type="arabicParenR"/>
            </a:pPr>
            <a:r>
              <a:rPr lang="en-US" altLang="en-US" sz="2400" dirty="0">
                <a:solidFill>
                  <a:srgbClr val="1E23E6"/>
                </a:solidFill>
              </a:rPr>
              <a:t>Program</a:t>
            </a:r>
            <a:r>
              <a:rPr lang="en-US" altLang="en-US" sz="2400" b="0" dirty="0"/>
              <a:t> sort;	//</a:t>
            </a:r>
            <a:r>
              <a:rPr lang="en-US" altLang="en-US" sz="2400" b="0" dirty="0" err="1">
                <a:solidFill>
                  <a:schemeClr val="bg2"/>
                </a:solidFill>
              </a:rPr>
              <a:t>Chương</a:t>
            </a:r>
            <a:r>
              <a:rPr lang="en-US" altLang="en-US" sz="2400" b="0" dirty="0">
                <a:solidFill>
                  <a:schemeClr val="bg2"/>
                </a:solidFill>
              </a:rPr>
              <a:t> </a:t>
            </a:r>
            <a:r>
              <a:rPr lang="en-US" altLang="en-US" sz="2400" b="0" dirty="0" err="1">
                <a:solidFill>
                  <a:schemeClr val="bg2"/>
                </a:solidFill>
              </a:rPr>
              <a:t>trình</a:t>
            </a:r>
            <a:r>
              <a:rPr lang="en-US" altLang="en-US" sz="2400" b="0" dirty="0">
                <a:solidFill>
                  <a:schemeClr val="bg2"/>
                </a:solidFill>
              </a:rPr>
              <a:t> Quicksort</a:t>
            </a:r>
          </a:p>
          <a:p>
            <a:pPr eaLnBrk="1" hangingPunct="1">
              <a:spcBef>
                <a:spcPct val="10000"/>
              </a:spcBef>
              <a:buFont typeface="Wingdings" panose="05000000000000000000" pitchFamily="2" charset="2"/>
              <a:buAutoNum type="arabicParenR"/>
            </a:pPr>
            <a:r>
              <a:rPr lang="en-US" altLang="en-US" sz="2400" b="0" i="1" dirty="0" err="1"/>
              <a:t>Const</a:t>
            </a:r>
            <a:r>
              <a:rPr lang="en-US" altLang="en-US" sz="2400" b="0" i="1" dirty="0"/>
              <a:t> Max = 100;</a:t>
            </a:r>
          </a:p>
          <a:p>
            <a:pPr eaLnBrk="1" hangingPunct="1">
              <a:spcBef>
                <a:spcPct val="10000"/>
              </a:spcBef>
              <a:buFont typeface="Wingdings" panose="05000000000000000000" pitchFamily="2" charset="2"/>
              <a:buAutoNum type="arabicParenR"/>
            </a:pPr>
            <a:r>
              <a:rPr lang="en-US" altLang="en-US" sz="2400" b="0" i="1" dirty="0" err="1"/>
              <a:t>Var</a:t>
            </a:r>
            <a:r>
              <a:rPr lang="en-US" altLang="en-US" sz="2400" b="0" i="1" dirty="0"/>
              <a:t>  </a:t>
            </a:r>
            <a:r>
              <a:rPr lang="en-US" altLang="en-US" sz="2400" b="0" i="1" dirty="0" err="1"/>
              <a:t>Arr</a:t>
            </a:r>
            <a:r>
              <a:rPr lang="en-US" altLang="en-US" sz="2400" b="0" i="1" dirty="0"/>
              <a:t>: array[0..Max] of integer;</a:t>
            </a:r>
          </a:p>
          <a:p>
            <a:pPr eaLnBrk="1" hangingPunct="1">
              <a:spcBef>
                <a:spcPct val="10000"/>
              </a:spcBef>
              <a:buFont typeface="Wingdings" panose="05000000000000000000" pitchFamily="2" charset="2"/>
              <a:buAutoNum type="arabicParenR"/>
            </a:pPr>
            <a:r>
              <a:rPr lang="en-US" altLang="en-US" sz="2400" dirty="0">
                <a:solidFill>
                  <a:srgbClr val="1E23E6"/>
                </a:solidFill>
              </a:rPr>
              <a:t>Procedure</a:t>
            </a:r>
            <a:r>
              <a:rPr lang="en-US" altLang="en-US" sz="2400" b="0" dirty="0"/>
              <a:t> </a:t>
            </a:r>
            <a:r>
              <a:rPr lang="en-US" altLang="en-US" sz="2400" b="0" dirty="0" err="1"/>
              <a:t>readarray</a:t>
            </a:r>
            <a:r>
              <a:rPr lang="en-US" altLang="en-US" sz="2400" b="0" dirty="0"/>
              <a:t>;</a:t>
            </a:r>
          </a:p>
          <a:p>
            <a:pPr eaLnBrk="1" hangingPunct="1">
              <a:spcBef>
                <a:spcPct val="10000"/>
              </a:spcBef>
              <a:buFont typeface="Wingdings" panose="05000000000000000000" pitchFamily="2" charset="2"/>
              <a:buAutoNum type="arabicParenR"/>
            </a:pPr>
            <a:r>
              <a:rPr lang="en-US" altLang="en-US" sz="2400" b="0" dirty="0"/>
              <a:t>         </a:t>
            </a:r>
            <a:r>
              <a:rPr lang="en-US" altLang="en-US" sz="2400" b="0" i="1" dirty="0" err="1"/>
              <a:t>Var</a:t>
            </a:r>
            <a:r>
              <a:rPr lang="en-US" altLang="en-US" sz="2400" b="0" i="1" dirty="0"/>
              <a:t> i: integer;</a:t>
            </a:r>
          </a:p>
          <a:p>
            <a:pPr eaLnBrk="1" hangingPunct="1">
              <a:spcBef>
                <a:spcPct val="10000"/>
              </a:spcBef>
              <a:buFont typeface="Wingdings" panose="05000000000000000000" pitchFamily="2" charset="2"/>
              <a:buAutoNum type="arabicParenR"/>
            </a:pPr>
            <a:r>
              <a:rPr lang="en-US" altLang="en-US" sz="2400" b="0" i="1" dirty="0"/>
              <a:t>         Begin …… end {</a:t>
            </a:r>
            <a:r>
              <a:rPr lang="en-US" altLang="en-US" sz="2400" b="0" i="1" dirty="0" err="1"/>
              <a:t>readarray</a:t>
            </a:r>
            <a:r>
              <a:rPr lang="en-US" altLang="en-US" sz="2400" b="0" i="1" dirty="0"/>
              <a:t>};</a:t>
            </a:r>
          </a:p>
          <a:p>
            <a:pPr eaLnBrk="1" hangingPunct="1">
              <a:spcBef>
                <a:spcPct val="10000"/>
              </a:spcBef>
              <a:buFont typeface="Wingdings" panose="05000000000000000000" pitchFamily="2" charset="2"/>
              <a:buAutoNum type="arabicParenR"/>
            </a:pPr>
            <a:r>
              <a:rPr lang="en-US" altLang="en-US" sz="2400" b="0" dirty="0"/>
              <a:t>     </a:t>
            </a:r>
            <a:r>
              <a:rPr lang="en-US" altLang="en-US" sz="2400" dirty="0">
                <a:solidFill>
                  <a:srgbClr val="1E23E6"/>
                </a:solidFill>
              </a:rPr>
              <a:t>Procedure</a:t>
            </a:r>
            <a:r>
              <a:rPr lang="en-US" altLang="en-US" sz="2400" b="0" dirty="0"/>
              <a:t> exchange(</a:t>
            </a:r>
            <a:r>
              <a:rPr lang="en-US" altLang="en-US" sz="2400" b="0" dirty="0" err="1"/>
              <a:t>i</a:t>
            </a:r>
            <a:r>
              <a:rPr lang="en-US" altLang="en-US" sz="2400" b="0" dirty="0"/>
              <a:t>, j: integer);</a:t>
            </a:r>
          </a:p>
          <a:p>
            <a:pPr eaLnBrk="1" hangingPunct="1">
              <a:spcBef>
                <a:spcPct val="10000"/>
              </a:spcBef>
              <a:buFont typeface="Wingdings" panose="05000000000000000000" pitchFamily="2" charset="2"/>
              <a:buAutoNum type="arabicParenR"/>
            </a:pPr>
            <a:r>
              <a:rPr lang="en-US" altLang="en-US" sz="2400" b="0" dirty="0"/>
              <a:t>         </a:t>
            </a:r>
            <a:r>
              <a:rPr lang="en-US" altLang="en-US" sz="2400" b="0" i="1" dirty="0"/>
              <a:t>Begin {exchange} end;</a:t>
            </a:r>
          </a:p>
          <a:p>
            <a:pPr eaLnBrk="1" hangingPunct="1">
              <a:spcBef>
                <a:spcPct val="10000"/>
              </a:spcBef>
              <a:buFont typeface="Wingdings" panose="05000000000000000000" pitchFamily="2" charset="2"/>
              <a:buAutoNum type="arabicParenR"/>
            </a:pPr>
            <a:r>
              <a:rPr lang="en-US" altLang="en-US" sz="2400" b="0" dirty="0"/>
              <a:t>     </a:t>
            </a:r>
            <a:r>
              <a:rPr lang="en-US" altLang="en-US" sz="2400" dirty="0">
                <a:solidFill>
                  <a:srgbClr val="1E23E6"/>
                </a:solidFill>
              </a:rPr>
              <a:t>Procedure</a:t>
            </a:r>
            <a:r>
              <a:rPr lang="en-US" altLang="en-US" sz="2400" b="0" dirty="0"/>
              <a:t> quicksort(m, n: integer);</a:t>
            </a:r>
          </a:p>
          <a:p>
            <a:pPr eaLnBrk="1" hangingPunct="1">
              <a:spcBef>
                <a:spcPct val="10000"/>
              </a:spcBef>
              <a:buFont typeface="Wingdings" panose="05000000000000000000" pitchFamily="2" charset="2"/>
              <a:buAutoNum type="arabicParenR"/>
            </a:pPr>
            <a:r>
              <a:rPr lang="en-US" altLang="en-US" sz="2400" b="0" dirty="0"/>
              <a:t>         </a:t>
            </a:r>
            <a:r>
              <a:rPr lang="en-US" altLang="en-US" sz="2400" b="0" i="1" dirty="0" err="1"/>
              <a:t>Var</a:t>
            </a:r>
            <a:r>
              <a:rPr lang="en-US" altLang="en-US" sz="2400" b="0" i="1" dirty="0"/>
              <a:t> k, v: integer;</a:t>
            </a:r>
          </a:p>
          <a:p>
            <a:pPr eaLnBrk="1" hangingPunct="1">
              <a:spcBef>
                <a:spcPct val="10000"/>
              </a:spcBef>
              <a:buFont typeface="Wingdings" panose="05000000000000000000" pitchFamily="2" charset="2"/>
              <a:buAutoNum type="arabicParenR"/>
            </a:pPr>
            <a:r>
              <a:rPr lang="en-US" altLang="en-US" sz="2400" b="0" dirty="0"/>
              <a:t>       </a:t>
            </a:r>
            <a:r>
              <a:rPr lang="en-US" altLang="en-US" sz="2400" dirty="0">
                <a:solidFill>
                  <a:srgbClr val="1E23E6"/>
                </a:solidFill>
              </a:rPr>
              <a:t>Function</a:t>
            </a:r>
            <a:r>
              <a:rPr lang="en-US" altLang="en-US" sz="2400" b="0" dirty="0"/>
              <a:t> partition(</a:t>
            </a:r>
            <a:r>
              <a:rPr lang="en-US" altLang="en-US" sz="2400" b="0" dirty="0" err="1"/>
              <a:t>y,z</a:t>
            </a:r>
            <a:r>
              <a:rPr lang="en-US" altLang="en-US" sz="2400" b="0" dirty="0"/>
              <a:t>: integer): integer;</a:t>
            </a:r>
          </a:p>
          <a:p>
            <a:pPr eaLnBrk="1" hangingPunct="1">
              <a:spcBef>
                <a:spcPct val="10000"/>
              </a:spcBef>
              <a:buFont typeface="Wingdings" panose="05000000000000000000" pitchFamily="2" charset="2"/>
              <a:buAutoNum type="arabicParenR"/>
            </a:pPr>
            <a:r>
              <a:rPr lang="en-US" altLang="en-US" sz="2400" b="0" dirty="0"/>
              <a:t>         </a:t>
            </a:r>
            <a:r>
              <a:rPr lang="en-US" altLang="en-US" sz="2400" b="0" i="1" dirty="0"/>
              <a:t>Begin ……exchange(</a:t>
            </a:r>
            <a:r>
              <a:rPr lang="en-US" altLang="en-US" sz="2400" b="0" i="1" dirty="0" err="1"/>
              <a:t>i,j</a:t>
            </a:r>
            <a:r>
              <a:rPr lang="en-US" altLang="en-US" sz="2400" b="0" i="1" dirty="0"/>
              <a:t>) end; {partition}</a:t>
            </a:r>
          </a:p>
          <a:p>
            <a:pPr eaLnBrk="1" hangingPunct="1">
              <a:spcBef>
                <a:spcPct val="10000"/>
              </a:spcBef>
              <a:buFont typeface="Wingdings" panose="05000000000000000000" pitchFamily="2" charset="2"/>
              <a:buAutoNum type="arabicParenR"/>
            </a:pPr>
            <a:r>
              <a:rPr lang="en-US" altLang="en-US" sz="2400" b="0" i="1" dirty="0"/>
              <a:t>     Begin … end; {quicksort}</a:t>
            </a:r>
          </a:p>
          <a:p>
            <a:pPr eaLnBrk="1" hangingPunct="1">
              <a:spcBef>
                <a:spcPct val="10000"/>
              </a:spcBef>
              <a:buFont typeface="Wingdings" panose="05000000000000000000" pitchFamily="2" charset="2"/>
              <a:buAutoNum type="arabicParenR"/>
            </a:pPr>
            <a:r>
              <a:rPr lang="en-US" altLang="en-US" sz="2400" b="0" i="1" dirty="0"/>
              <a:t>Begin … end; {sort}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61123">
                                            <p:txEl>
                                              <p:pRg st="0" end="0"/>
                                            </p:txEl>
                                          </p:spTgt>
                                        </p:tgtEl>
                                        <p:attrNameLst>
                                          <p:attrName>style.visibility</p:attrName>
                                        </p:attrNameLst>
                                      </p:cBhvr>
                                      <p:to>
                                        <p:strVal val="visible"/>
                                      </p:to>
                                    </p:set>
                                    <p:animEffect transition="in" filter="blinds(horizontal)">
                                      <p:cBhvr>
                                        <p:cTn id="7" dur="500"/>
                                        <p:tgtEl>
                                          <p:spTgt spid="26112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61123">
                                            <p:txEl>
                                              <p:pRg st="1" end="1"/>
                                            </p:txEl>
                                          </p:spTgt>
                                        </p:tgtEl>
                                        <p:attrNameLst>
                                          <p:attrName>style.visibility</p:attrName>
                                        </p:attrNameLst>
                                      </p:cBhvr>
                                      <p:to>
                                        <p:strVal val="visible"/>
                                      </p:to>
                                    </p:set>
                                    <p:animEffect transition="in" filter="blinds(horizontal)">
                                      <p:cBhvr>
                                        <p:cTn id="10" dur="500"/>
                                        <p:tgtEl>
                                          <p:spTgt spid="26112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61123">
                                            <p:txEl>
                                              <p:pRg st="2" end="2"/>
                                            </p:txEl>
                                          </p:spTgt>
                                        </p:tgtEl>
                                        <p:attrNameLst>
                                          <p:attrName>style.visibility</p:attrName>
                                        </p:attrNameLst>
                                      </p:cBhvr>
                                      <p:to>
                                        <p:strVal val="visible"/>
                                      </p:to>
                                    </p:set>
                                    <p:animEffect transition="in" filter="blinds(horizontal)">
                                      <p:cBhvr>
                                        <p:cTn id="13" dur="500"/>
                                        <p:tgtEl>
                                          <p:spTgt spid="26112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61123">
                                            <p:txEl>
                                              <p:pRg st="3" end="3"/>
                                            </p:txEl>
                                          </p:spTgt>
                                        </p:tgtEl>
                                        <p:attrNameLst>
                                          <p:attrName>style.visibility</p:attrName>
                                        </p:attrNameLst>
                                      </p:cBhvr>
                                      <p:to>
                                        <p:strVal val="visible"/>
                                      </p:to>
                                    </p:set>
                                    <p:animEffect transition="in" filter="blinds(horizontal)">
                                      <p:cBhvr>
                                        <p:cTn id="16" dur="500"/>
                                        <p:tgtEl>
                                          <p:spTgt spid="261123">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61123">
                                            <p:txEl>
                                              <p:pRg st="4" end="4"/>
                                            </p:txEl>
                                          </p:spTgt>
                                        </p:tgtEl>
                                        <p:attrNameLst>
                                          <p:attrName>style.visibility</p:attrName>
                                        </p:attrNameLst>
                                      </p:cBhvr>
                                      <p:to>
                                        <p:strVal val="visible"/>
                                      </p:to>
                                    </p:set>
                                    <p:animEffect transition="in" filter="blinds(horizontal)">
                                      <p:cBhvr>
                                        <p:cTn id="19" dur="500"/>
                                        <p:tgtEl>
                                          <p:spTgt spid="261123">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261123">
                                            <p:txEl>
                                              <p:pRg st="5" end="5"/>
                                            </p:txEl>
                                          </p:spTgt>
                                        </p:tgtEl>
                                        <p:attrNameLst>
                                          <p:attrName>style.visibility</p:attrName>
                                        </p:attrNameLst>
                                      </p:cBhvr>
                                      <p:to>
                                        <p:strVal val="visible"/>
                                      </p:to>
                                    </p:set>
                                    <p:animEffect transition="in" filter="blinds(horizontal)">
                                      <p:cBhvr>
                                        <p:cTn id="22" dur="500"/>
                                        <p:tgtEl>
                                          <p:spTgt spid="261123">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261123">
                                            <p:txEl>
                                              <p:pRg st="6" end="6"/>
                                            </p:txEl>
                                          </p:spTgt>
                                        </p:tgtEl>
                                        <p:attrNameLst>
                                          <p:attrName>style.visibility</p:attrName>
                                        </p:attrNameLst>
                                      </p:cBhvr>
                                      <p:to>
                                        <p:strVal val="visible"/>
                                      </p:to>
                                    </p:set>
                                    <p:animEffect transition="in" filter="blinds(horizontal)">
                                      <p:cBhvr>
                                        <p:cTn id="25" dur="500"/>
                                        <p:tgtEl>
                                          <p:spTgt spid="261123">
                                            <p:txEl>
                                              <p:pRg st="6" end="6"/>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261123">
                                            <p:txEl>
                                              <p:pRg st="7" end="7"/>
                                            </p:txEl>
                                          </p:spTgt>
                                        </p:tgtEl>
                                        <p:attrNameLst>
                                          <p:attrName>style.visibility</p:attrName>
                                        </p:attrNameLst>
                                      </p:cBhvr>
                                      <p:to>
                                        <p:strVal val="visible"/>
                                      </p:to>
                                    </p:set>
                                    <p:animEffect transition="in" filter="blinds(horizontal)">
                                      <p:cBhvr>
                                        <p:cTn id="28" dur="500"/>
                                        <p:tgtEl>
                                          <p:spTgt spid="261123">
                                            <p:txEl>
                                              <p:pRg st="7" end="7"/>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261123">
                                            <p:txEl>
                                              <p:pRg st="8" end="8"/>
                                            </p:txEl>
                                          </p:spTgt>
                                        </p:tgtEl>
                                        <p:attrNameLst>
                                          <p:attrName>style.visibility</p:attrName>
                                        </p:attrNameLst>
                                      </p:cBhvr>
                                      <p:to>
                                        <p:strVal val="visible"/>
                                      </p:to>
                                    </p:set>
                                    <p:animEffect transition="in" filter="blinds(horizontal)">
                                      <p:cBhvr>
                                        <p:cTn id="31" dur="500"/>
                                        <p:tgtEl>
                                          <p:spTgt spid="261123">
                                            <p:txEl>
                                              <p:pRg st="8" end="8"/>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261123">
                                            <p:txEl>
                                              <p:pRg st="9" end="9"/>
                                            </p:txEl>
                                          </p:spTgt>
                                        </p:tgtEl>
                                        <p:attrNameLst>
                                          <p:attrName>style.visibility</p:attrName>
                                        </p:attrNameLst>
                                      </p:cBhvr>
                                      <p:to>
                                        <p:strVal val="visible"/>
                                      </p:to>
                                    </p:set>
                                    <p:animEffect transition="in" filter="blinds(horizontal)">
                                      <p:cBhvr>
                                        <p:cTn id="34" dur="500"/>
                                        <p:tgtEl>
                                          <p:spTgt spid="261123">
                                            <p:txEl>
                                              <p:pRg st="9" end="9"/>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261123">
                                            <p:txEl>
                                              <p:pRg st="10" end="10"/>
                                            </p:txEl>
                                          </p:spTgt>
                                        </p:tgtEl>
                                        <p:attrNameLst>
                                          <p:attrName>style.visibility</p:attrName>
                                        </p:attrNameLst>
                                      </p:cBhvr>
                                      <p:to>
                                        <p:strVal val="visible"/>
                                      </p:to>
                                    </p:set>
                                    <p:animEffect transition="in" filter="blinds(horizontal)">
                                      <p:cBhvr>
                                        <p:cTn id="37" dur="500"/>
                                        <p:tgtEl>
                                          <p:spTgt spid="261123">
                                            <p:txEl>
                                              <p:pRg st="10" end="10"/>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261123">
                                            <p:txEl>
                                              <p:pRg st="11" end="11"/>
                                            </p:txEl>
                                          </p:spTgt>
                                        </p:tgtEl>
                                        <p:attrNameLst>
                                          <p:attrName>style.visibility</p:attrName>
                                        </p:attrNameLst>
                                      </p:cBhvr>
                                      <p:to>
                                        <p:strVal val="visible"/>
                                      </p:to>
                                    </p:set>
                                    <p:animEffect transition="in" filter="blinds(horizontal)">
                                      <p:cBhvr>
                                        <p:cTn id="40" dur="500"/>
                                        <p:tgtEl>
                                          <p:spTgt spid="261123">
                                            <p:txEl>
                                              <p:pRg st="11" end="11"/>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261123">
                                            <p:txEl>
                                              <p:pRg st="12" end="12"/>
                                            </p:txEl>
                                          </p:spTgt>
                                        </p:tgtEl>
                                        <p:attrNameLst>
                                          <p:attrName>style.visibility</p:attrName>
                                        </p:attrNameLst>
                                      </p:cBhvr>
                                      <p:to>
                                        <p:strVal val="visible"/>
                                      </p:to>
                                    </p:set>
                                    <p:animEffect transition="in" filter="blinds(horizontal)">
                                      <p:cBhvr>
                                        <p:cTn id="43" dur="500"/>
                                        <p:tgtEl>
                                          <p:spTgt spid="261123">
                                            <p:txEl>
                                              <p:pRg st="12" end="12"/>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261123">
                                            <p:txEl>
                                              <p:pRg st="13" end="13"/>
                                            </p:txEl>
                                          </p:spTgt>
                                        </p:tgtEl>
                                        <p:attrNameLst>
                                          <p:attrName>style.visibility</p:attrName>
                                        </p:attrNameLst>
                                      </p:cBhvr>
                                      <p:to>
                                        <p:strVal val="visible"/>
                                      </p:to>
                                    </p:set>
                                    <p:animEffect transition="in" filter="blinds(horizontal)">
                                      <p:cBhvr>
                                        <p:cTn id="46" dur="500"/>
                                        <p:tgtEl>
                                          <p:spTgt spid="26112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77106C97-1A63-44A9-8751-06CF87075F85}" type="slidenum">
              <a:rPr lang="en-US" altLang="en-US" sz="1400" b="0"/>
              <a:pPr/>
              <a:t>22</a:t>
            </a:fld>
            <a:endParaRPr lang="en-US" altLang="en-US" sz="1400" b="0"/>
          </a:p>
        </p:txBody>
      </p:sp>
      <p:sp>
        <p:nvSpPr>
          <p:cNvPr id="27651" name="Rectangle 2"/>
          <p:cNvSpPr>
            <a:spLocks noGrp="1" noChangeArrowheads="1"/>
          </p:cNvSpPr>
          <p:nvPr>
            <p:ph type="title"/>
          </p:nvPr>
        </p:nvSpPr>
        <p:spPr/>
        <p:txBody>
          <a:bodyPr/>
          <a:lstStyle/>
          <a:p>
            <a:pPr eaLnBrk="1" hangingPunct="1"/>
            <a:r>
              <a:rPr lang="en-US" altLang="en-US"/>
              <a:t>Dùng nhiều bảng ký hiệu</a:t>
            </a:r>
          </a:p>
        </p:txBody>
      </p:sp>
      <p:sp>
        <p:nvSpPr>
          <p:cNvPr id="27652"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graphicFrame>
        <p:nvGraphicFramePr>
          <p:cNvPr id="1697968" name="Group 176"/>
          <p:cNvGraphicFramePr>
            <a:graphicFrameLocks noGrp="1"/>
          </p:cNvGraphicFramePr>
          <p:nvPr>
            <p:ph idx="1"/>
            <p:extLst>
              <p:ext uri="{D42A27DB-BD31-4B8C-83A1-F6EECF244321}">
                <p14:modId xmlns:p14="http://schemas.microsoft.com/office/powerpoint/2010/main" val="614901598"/>
              </p:ext>
            </p:extLst>
          </p:nvPr>
        </p:nvGraphicFramePr>
        <p:xfrm>
          <a:off x="457200" y="1481138"/>
          <a:ext cx="3657600" cy="2378076"/>
        </p:xfrm>
        <a:graphic>
          <a:graphicData uri="http://schemas.openxmlformats.org/drawingml/2006/table">
            <a:tbl>
              <a:tblPr/>
              <a:tblGrid>
                <a:gridCol w="12192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396346">
                <a:tc gridSpan="2">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dirty="0">
                          <a:ln>
                            <a:noFill/>
                          </a:ln>
                          <a:solidFill>
                            <a:srgbClr val="270076"/>
                          </a:solidFill>
                          <a:effectLst/>
                          <a:latin typeface="Arial" panose="020B0604020202020204" pitchFamily="34" charset="0"/>
                        </a:rPr>
                        <a:t>Program Sort</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T="45732" marB="45732" horzOverflow="overflow">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Null</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32" marB="45732" horzOverflow="overflow">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Tên</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32" marB="4573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Thuộc tính</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32" marB="45732" horzOverflow="overflow">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Ptr</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32" marB="45732" horzOverflow="overflow">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96346">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dirty="0">
                          <a:ln>
                            <a:noFill/>
                          </a:ln>
                          <a:solidFill>
                            <a:srgbClr val="270076"/>
                          </a:solidFill>
                          <a:effectLst/>
                          <a:latin typeface="Arial" panose="020B0604020202020204" pitchFamily="34" charset="0"/>
                        </a:rPr>
                        <a:t>Max</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T="45732" marB="4573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dirty="0">
                          <a:ln>
                            <a:noFill/>
                          </a:ln>
                          <a:solidFill>
                            <a:srgbClr val="270076"/>
                          </a:solidFill>
                          <a:effectLst/>
                          <a:latin typeface="Arial" panose="020B0604020202020204" pitchFamily="34" charset="0"/>
                        </a:rPr>
                        <a:t>Constant</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T="45732" marB="45732" horzOverflow="overflow">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marT="45732" marB="45732" horzOverflow="overflow">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346">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dirty="0" err="1">
                          <a:ln>
                            <a:noFill/>
                          </a:ln>
                          <a:solidFill>
                            <a:srgbClr val="270076"/>
                          </a:solidFill>
                          <a:effectLst/>
                          <a:latin typeface="Arial" panose="020B0604020202020204" pitchFamily="34" charset="0"/>
                        </a:rPr>
                        <a:t>Arr</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T="45732" marB="4573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dirty="0">
                          <a:ln>
                            <a:noFill/>
                          </a:ln>
                          <a:solidFill>
                            <a:srgbClr val="270076"/>
                          </a:solidFill>
                          <a:effectLst/>
                          <a:latin typeface="Arial" panose="020B0604020202020204" pitchFamily="34" charset="0"/>
                        </a:rPr>
                        <a:t>Variable</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T="45732" marB="45732" horzOverflow="overflow">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marT="45732" marB="45732" horzOverflow="overflow">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346">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readArr</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32" marB="4573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subProc</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32" marB="45732" horzOverflow="overflow">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marT="45732" marB="45732" horzOverflow="overflow">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346">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qSort</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32" marB="4573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subProc</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32" marB="45732" horzOverflow="overflow">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marT="45732" marB="45732" horzOverflow="overflow">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697961" name="Group 169"/>
          <p:cNvGraphicFramePr>
            <a:graphicFrameLocks noGrp="1"/>
          </p:cNvGraphicFramePr>
          <p:nvPr/>
        </p:nvGraphicFramePr>
        <p:xfrm>
          <a:off x="4724400" y="1176338"/>
          <a:ext cx="3352800" cy="792408"/>
        </p:xfrm>
        <a:graphic>
          <a:graphicData uri="http://schemas.openxmlformats.org/drawingml/2006/table">
            <a:tbl>
              <a:tblPr/>
              <a:tblGrid>
                <a:gridCol w="1219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96081">
                <a:tc gridSpan="2">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readArr</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02" marB="45702" horzOverflow="overflow">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marT="45702" marB="45702" horzOverflow="overflow">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1">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i</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02" marB="4570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Variable</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02" marB="45702" horzOverflow="overflow">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marT="45702" marB="45702" horzOverflow="overflow">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697966" name="Group 174"/>
          <p:cNvGraphicFramePr>
            <a:graphicFrameLocks noGrp="1"/>
          </p:cNvGraphicFramePr>
          <p:nvPr/>
        </p:nvGraphicFramePr>
        <p:xfrm>
          <a:off x="4800600" y="2547938"/>
          <a:ext cx="3352800" cy="1584816"/>
        </p:xfrm>
        <a:graphic>
          <a:graphicData uri="http://schemas.openxmlformats.org/drawingml/2006/table">
            <a:tbl>
              <a:tblPr/>
              <a:tblGrid>
                <a:gridCol w="1219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96081">
                <a:tc gridSpan="2">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qSort</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02" marB="45702" horzOverflow="overflow">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marT="45702" marB="45702" horzOverflow="overflow">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1">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k</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02" marB="4570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Variable</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02" marB="45702" horzOverflow="overflow">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marT="45702" marB="45702" horzOverflow="overflow">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081">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v</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02" marB="4570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Variable</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02" marB="45702" horzOverflow="overflow">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marT="45702" marB="45702" horzOverflow="overflow">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081">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Partition</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02" marB="4570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a:ln>
                            <a:noFill/>
                          </a:ln>
                          <a:solidFill>
                            <a:srgbClr val="270076"/>
                          </a:solidFill>
                          <a:effectLst/>
                          <a:latin typeface="Arial" panose="020B0604020202020204" pitchFamily="34" charset="0"/>
                        </a:rPr>
                        <a:t>subProc</a:t>
                      </a:r>
                      <a:endParaRPr kumimoji="0" lang="en-US" altLang="en-US" sz="2000" b="0" i="0" u="none" strike="noStrike" cap="none" normalizeH="0" baseline="0">
                        <a:ln>
                          <a:noFill/>
                        </a:ln>
                        <a:solidFill>
                          <a:srgbClr val="270076"/>
                        </a:solidFill>
                        <a:effectLst/>
                        <a:latin typeface="Arial" panose="020B0604020202020204" pitchFamily="34" charset="0"/>
                      </a:endParaRPr>
                    </a:p>
                  </a:txBody>
                  <a:tcPr marT="45702" marB="45702" horzOverflow="overflow">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marT="45702" marB="45702" horzOverflow="overflow">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697967" name="Group 175"/>
          <p:cNvGraphicFramePr>
            <a:graphicFrameLocks noGrp="1"/>
          </p:cNvGraphicFramePr>
          <p:nvPr>
            <p:extLst>
              <p:ext uri="{D42A27DB-BD31-4B8C-83A1-F6EECF244321}">
                <p14:modId xmlns:p14="http://schemas.microsoft.com/office/powerpoint/2010/main" val="102147441"/>
              </p:ext>
            </p:extLst>
          </p:nvPr>
        </p:nvGraphicFramePr>
        <p:xfrm>
          <a:off x="5334000" y="5214938"/>
          <a:ext cx="3352800" cy="1189038"/>
        </p:xfrm>
        <a:graphic>
          <a:graphicData uri="http://schemas.openxmlformats.org/drawingml/2006/table">
            <a:tbl>
              <a:tblPr/>
              <a:tblGrid>
                <a:gridCol w="1219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96346">
                <a:tc gridSpan="2">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dirty="0">
                          <a:ln>
                            <a:noFill/>
                          </a:ln>
                          <a:solidFill>
                            <a:srgbClr val="270076"/>
                          </a:solidFill>
                          <a:effectLst/>
                          <a:latin typeface="Arial" panose="020B0604020202020204" pitchFamily="34" charset="0"/>
                        </a:rPr>
                        <a:t>Partition</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T="45732" marB="45732" horzOverflow="overflow">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marT="45732" marB="45732" horzOverflow="overflow">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dirty="0">
                          <a:ln>
                            <a:noFill/>
                          </a:ln>
                          <a:solidFill>
                            <a:srgbClr val="270076"/>
                          </a:solidFill>
                          <a:effectLst/>
                          <a:latin typeface="Arial" panose="020B0604020202020204" pitchFamily="34" charset="0"/>
                        </a:rPr>
                        <a:t>y</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T="45732" marB="4573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dirty="0" err="1">
                          <a:ln>
                            <a:noFill/>
                          </a:ln>
                          <a:solidFill>
                            <a:srgbClr val="270076"/>
                          </a:solidFill>
                          <a:effectLst/>
                          <a:latin typeface="Arial" panose="020B0604020202020204" pitchFamily="34" charset="0"/>
                        </a:rPr>
                        <a:t>Parameter</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T="45732" marB="45732" horzOverflow="overflow">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marT="45732" marB="45732" horzOverflow="overflow">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46">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dirty="0">
                          <a:ln>
                            <a:noFill/>
                          </a:ln>
                          <a:solidFill>
                            <a:srgbClr val="270076"/>
                          </a:solidFill>
                          <a:effectLst/>
                          <a:latin typeface="Arial" panose="020B0604020202020204" pitchFamily="34" charset="0"/>
                        </a:rPr>
                        <a:t>z</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T="45732" marB="4573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000" b="0" i="0" u="none" strike="noStrike" cap="none" normalizeH="0" baseline="0" dirty="0" err="1">
                          <a:ln>
                            <a:noFill/>
                          </a:ln>
                          <a:solidFill>
                            <a:srgbClr val="270076"/>
                          </a:solidFill>
                          <a:effectLst/>
                          <a:latin typeface="Arial" panose="020B0604020202020204" pitchFamily="34" charset="0"/>
                        </a:rPr>
                        <a:t>Parameter</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T="45732" marB="45732" horzOverflow="overflow">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000" b="0" i="0" u="none" strike="noStrike" cap="none" normalizeH="0" baseline="0">
                        <a:ln>
                          <a:noFill/>
                        </a:ln>
                        <a:solidFill>
                          <a:srgbClr val="270076"/>
                        </a:solidFill>
                        <a:effectLst/>
                        <a:latin typeface="Arial" panose="020B0604020202020204" pitchFamily="34" charset="0"/>
                      </a:endParaRPr>
                    </a:p>
                  </a:txBody>
                  <a:tcPr marT="45732" marB="45732" horzOverflow="overflow">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7733" name="Freeform 178"/>
          <p:cNvSpPr>
            <a:spLocks/>
          </p:cNvSpPr>
          <p:nvPr/>
        </p:nvSpPr>
        <p:spPr bwMode="auto">
          <a:xfrm>
            <a:off x="3810000" y="1328738"/>
            <a:ext cx="914400" cy="1981200"/>
          </a:xfrm>
          <a:custGeom>
            <a:avLst/>
            <a:gdLst>
              <a:gd name="T0" fmla="*/ 0 w 576"/>
              <a:gd name="T1" fmla="*/ 1981200 h 1248"/>
              <a:gd name="T2" fmla="*/ 533400 w 576"/>
              <a:gd name="T3" fmla="*/ 1981200 h 1248"/>
              <a:gd name="T4" fmla="*/ 533400 w 576"/>
              <a:gd name="T5" fmla="*/ 0 h 1248"/>
              <a:gd name="T6" fmla="*/ 914400 w 576"/>
              <a:gd name="T7" fmla="*/ 0 h 12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6" h="1248">
                <a:moveTo>
                  <a:pt x="0" y="1248"/>
                </a:moveTo>
                <a:lnTo>
                  <a:pt x="336" y="1248"/>
                </a:lnTo>
                <a:lnTo>
                  <a:pt x="336" y="0"/>
                </a:lnTo>
                <a:lnTo>
                  <a:pt x="576" y="0"/>
                </a:lnTo>
              </a:path>
            </a:pathLst>
          </a:custGeom>
          <a:noFill/>
          <a:ln w="28575"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734" name="Freeform 180"/>
          <p:cNvSpPr>
            <a:spLocks/>
          </p:cNvSpPr>
          <p:nvPr/>
        </p:nvSpPr>
        <p:spPr bwMode="auto">
          <a:xfrm>
            <a:off x="152400" y="947738"/>
            <a:ext cx="8458200" cy="1752600"/>
          </a:xfrm>
          <a:custGeom>
            <a:avLst/>
            <a:gdLst>
              <a:gd name="T0" fmla="*/ 7696200 w 5328"/>
              <a:gd name="T1" fmla="*/ 1752600 h 1104"/>
              <a:gd name="T2" fmla="*/ 8458200 w 5328"/>
              <a:gd name="T3" fmla="*/ 1752600 h 1104"/>
              <a:gd name="T4" fmla="*/ 8458200 w 5328"/>
              <a:gd name="T5" fmla="*/ 0 h 1104"/>
              <a:gd name="T6" fmla="*/ 0 w 5328"/>
              <a:gd name="T7" fmla="*/ 0 h 1104"/>
              <a:gd name="T8" fmla="*/ 0 w 5328"/>
              <a:gd name="T9" fmla="*/ 762000 h 1104"/>
              <a:gd name="T10" fmla="*/ 304800 w 5328"/>
              <a:gd name="T11" fmla="*/ 762000 h 110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328" h="1104">
                <a:moveTo>
                  <a:pt x="4848" y="1104"/>
                </a:moveTo>
                <a:lnTo>
                  <a:pt x="5328" y="1104"/>
                </a:lnTo>
                <a:lnTo>
                  <a:pt x="5328" y="0"/>
                </a:lnTo>
                <a:lnTo>
                  <a:pt x="0" y="0"/>
                </a:lnTo>
                <a:lnTo>
                  <a:pt x="0" y="480"/>
                </a:lnTo>
                <a:lnTo>
                  <a:pt x="192" y="480"/>
                </a:lnTo>
              </a:path>
            </a:pathLst>
          </a:custGeom>
          <a:noFill/>
          <a:ln w="28575" cmpd="sng">
            <a:solidFill>
              <a:srgbClr val="3539EB"/>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735" name="Freeform 181"/>
          <p:cNvSpPr>
            <a:spLocks/>
          </p:cNvSpPr>
          <p:nvPr/>
        </p:nvSpPr>
        <p:spPr bwMode="auto">
          <a:xfrm>
            <a:off x="228600" y="1023938"/>
            <a:ext cx="8153400" cy="533400"/>
          </a:xfrm>
          <a:custGeom>
            <a:avLst/>
            <a:gdLst>
              <a:gd name="T0" fmla="*/ 7620000 w 5136"/>
              <a:gd name="T1" fmla="*/ 381000 h 336"/>
              <a:gd name="T2" fmla="*/ 8153400 w 5136"/>
              <a:gd name="T3" fmla="*/ 381000 h 336"/>
              <a:gd name="T4" fmla="*/ 8153400 w 5136"/>
              <a:gd name="T5" fmla="*/ 0 h 336"/>
              <a:gd name="T6" fmla="*/ 0 w 5136"/>
              <a:gd name="T7" fmla="*/ 0 h 336"/>
              <a:gd name="T8" fmla="*/ 0 w 5136"/>
              <a:gd name="T9" fmla="*/ 533400 h 336"/>
              <a:gd name="T10" fmla="*/ 228600 w 5136"/>
              <a:gd name="T11" fmla="*/ 533400 h 3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136" h="336">
                <a:moveTo>
                  <a:pt x="4800" y="240"/>
                </a:moveTo>
                <a:lnTo>
                  <a:pt x="5136" y="240"/>
                </a:lnTo>
                <a:lnTo>
                  <a:pt x="5136" y="0"/>
                </a:lnTo>
                <a:lnTo>
                  <a:pt x="0" y="0"/>
                </a:lnTo>
                <a:lnTo>
                  <a:pt x="0" y="336"/>
                </a:lnTo>
                <a:lnTo>
                  <a:pt x="144" y="336"/>
                </a:lnTo>
              </a:path>
            </a:pathLst>
          </a:custGeom>
          <a:noFill/>
          <a:ln w="28575" cmpd="sng">
            <a:solidFill>
              <a:srgbClr val="3539EB"/>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736" name="Freeform 182"/>
          <p:cNvSpPr>
            <a:spLocks/>
          </p:cNvSpPr>
          <p:nvPr/>
        </p:nvSpPr>
        <p:spPr bwMode="auto">
          <a:xfrm>
            <a:off x="3886200" y="2824163"/>
            <a:ext cx="914400" cy="838200"/>
          </a:xfrm>
          <a:custGeom>
            <a:avLst/>
            <a:gdLst>
              <a:gd name="T0" fmla="*/ 0 w 576"/>
              <a:gd name="T1" fmla="*/ 838200 h 624"/>
              <a:gd name="T2" fmla="*/ 685800 w 576"/>
              <a:gd name="T3" fmla="*/ 838200 h 624"/>
              <a:gd name="T4" fmla="*/ 685800 w 576"/>
              <a:gd name="T5" fmla="*/ 0 h 624"/>
              <a:gd name="T6" fmla="*/ 914400 w 576"/>
              <a:gd name="T7" fmla="*/ 0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6" h="624">
                <a:moveTo>
                  <a:pt x="0" y="624"/>
                </a:moveTo>
                <a:lnTo>
                  <a:pt x="432" y="624"/>
                </a:lnTo>
                <a:lnTo>
                  <a:pt x="432" y="0"/>
                </a:lnTo>
                <a:lnTo>
                  <a:pt x="576" y="0"/>
                </a:lnTo>
              </a:path>
            </a:pathLst>
          </a:custGeom>
          <a:noFill/>
          <a:ln w="28575"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737" name="Freeform 183"/>
          <p:cNvSpPr>
            <a:spLocks/>
          </p:cNvSpPr>
          <p:nvPr/>
        </p:nvSpPr>
        <p:spPr bwMode="auto">
          <a:xfrm>
            <a:off x="4648200" y="3919538"/>
            <a:ext cx="3733800" cy="1524000"/>
          </a:xfrm>
          <a:custGeom>
            <a:avLst/>
            <a:gdLst>
              <a:gd name="T0" fmla="*/ 3200400 w 2352"/>
              <a:gd name="T1" fmla="*/ 0 h 960"/>
              <a:gd name="T2" fmla="*/ 3733800 w 2352"/>
              <a:gd name="T3" fmla="*/ 0 h 960"/>
              <a:gd name="T4" fmla="*/ 3733800 w 2352"/>
              <a:gd name="T5" fmla="*/ 457200 h 960"/>
              <a:gd name="T6" fmla="*/ 0 w 2352"/>
              <a:gd name="T7" fmla="*/ 457200 h 960"/>
              <a:gd name="T8" fmla="*/ 0 w 2352"/>
              <a:gd name="T9" fmla="*/ 1524000 h 960"/>
              <a:gd name="T10" fmla="*/ 685800 w 2352"/>
              <a:gd name="T11" fmla="*/ 1524000 h 9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52" h="960">
                <a:moveTo>
                  <a:pt x="2016" y="0"/>
                </a:moveTo>
                <a:lnTo>
                  <a:pt x="2352" y="0"/>
                </a:lnTo>
                <a:lnTo>
                  <a:pt x="2352" y="288"/>
                </a:lnTo>
                <a:lnTo>
                  <a:pt x="0" y="288"/>
                </a:lnTo>
                <a:lnTo>
                  <a:pt x="0" y="960"/>
                </a:lnTo>
                <a:lnTo>
                  <a:pt x="432" y="960"/>
                </a:lnTo>
              </a:path>
            </a:pathLst>
          </a:custGeom>
          <a:noFill/>
          <a:ln w="28575"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738" name="Freeform 184"/>
          <p:cNvSpPr>
            <a:spLocks/>
          </p:cNvSpPr>
          <p:nvPr/>
        </p:nvSpPr>
        <p:spPr bwMode="auto">
          <a:xfrm>
            <a:off x="4648200" y="2243138"/>
            <a:ext cx="4267200" cy="3200400"/>
          </a:xfrm>
          <a:custGeom>
            <a:avLst/>
            <a:gdLst>
              <a:gd name="T0" fmla="*/ 3810000 w 2688"/>
              <a:gd name="T1" fmla="*/ 3200400 h 2016"/>
              <a:gd name="T2" fmla="*/ 4267200 w 2688"/>
              <a:gd name="T3" fmla="*/ 3200400 h 2016"/>
              <a:gd name="T4" fmla="*/ 4267200 w 2688"/>
              <a:gd name="T5" fmla="*/ 0 h 2016"/>
              <a:gd name="T6" fmla="*/ 0 w 2688"/>
              <a:gd name="T7" fmla="*/ 0 h 2016"/>
              <a:gd name="T8" fmla="*/ 0 w 2688"/>
              <a:gd name="T9" fmla="*/ 381000 h 2016"/>
              <a:gd name="T10" fmla="*/ 152400 w 2688"/>
              <a:gd name="T11" fmla="*/ 381000 h 20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88" h="2016">
                <a:moveTo>
                  <a:pt x="2400" y="2016"/>
                </a:moveTo>
                <a:lnTo>
                  <a:pt x="2688" y="2016"/>
                </a:lnTo>
                <a:lnTo>
                  <a:pt x="2688" y="0"/>
                </a:lnTo>
                <a:lnTo>
                  <a:pt x="0" y="0"/>
                </a:lnTo>
                <a:lnTo>
                  <a:pt x="0" y="240"/>
                </a:lnTo>
                <a:lnTo>
                  <a:pt x="96" y="240"/>
                </a:lnTo>
              </a:path>
            </a:pathLst>
          </a:custGeom>
          <a:noFill/>
          <a:ln w="28575" cmpd="sng">
            <a:solidFill>
              <a:srgbClr val="3539EB"/>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739" name="Text Box 185"/>
          <p:cNvSpPr txBox="1">
            <a:spLocks noChangeArrowheads="1"/>
          </p:cNvSpPr>
          <p:nvPr/>
        </p:nvSpPr>
        <p:spPr bwMode="auto">
          <a:xfrm>
            <a:off x="152400" y="3897313"/>
            <a:ext cx="4343400" cy="294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31775" indent="-231775">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lnSpc>
                <a:spcPct val="95000"/>
              </a:lnSpc>
              <a:spcBef>
                <a:spcPct val="20000"/>
              </a:spcBef>
              <a:buFontTx/>
              <a:buChar char="•"/>
            </a:pPr>
            <a:r>
              <a:rPr lang="fr-FR" altLang="en-US" sz="2400" b="0" dirty="0">
                <a:solidFill>
                  <a:srgbClr val="270076"/>
                </a:solidFill>
              </a:rPr>
              <a:t>Khi </a:t>
            </a:r>
            <a:r>
              <a:rPr lang="fr-FR" altLang="en-US" sz="2400" b="0" dirty="0" err="1">
                <a:solidFill>
                  <a:srgbClr val="270076"/>
                </a:solidFill>
              </a:rPr>
              <a:t>đoán</a:t>
            </a:r>
            <a:r>
              <a:rPr lang="fr-FR" altLang="en-US" sz="2400" b="0" dirty="0">
                <a:solidFill>
                  <a:srgbClr val="270076"/>
                </a:solidFill>
              </a:rPr>
              <a:t> </a:t>
            </a:r>
            <a:r>
              <a:rPr lang="fr-FR" altLang="en-US" sz="2400" b="0" dirty="0" err="1">
                <a:solidFill>
                  <a:srgbClr val="270076"/>
                </a:solidFill>
              </a:rPr>
              <a:t>nhận</a:t>
            </a:r>
            <a:r>
              <a:rPr lang="fr-FR" altLang="en-US" sz="2400" b="0">
                <a:solidFill>
                  <a:srgbClr val="270076"/>
                </a:solidFill>
              </a:rPr>
              <a:t> một</a:t>
            </a:r>
            <a:r>
              <a:rPr lang="fr-FR" altLang="en-US" sz="2400" b="0" dirty="0">
                <a:solidFill>
                  <a:srgbClr val="270076"/>
                </a:solidFill>
              </a:rPr>
              <a:t> </a:t>
            </a:r>
            <a:r>
              <a:rPr lang="fr-FR" altLang="en-US" sz="2400" b="0" dirty="0" err="1">
                <a:solidFill>
                  <a:srgbClr val="270076"/>
                </a:solidFill>
              </a:rPr>
              <a:t>chương</a:t>
            </a:r>
            <a:r>
              <a:rPr lang="fr-FR" altLang="en-US" sz="2400" b="0" dirty="0">
                <a:solidFill>
                  <a:srgbClr val="270076"/>
                </a:solidFill>
              </a:rPr>
              <a:t> </a:t>
            </a:r>
            <a:r>
              <a:rPr lang="fr-FR" altLang="en-US" sz="2400" b="0" dirty="0" err="1">
                <a:solidFill>
                  <a:srgbClr val="270076"/>
                </a:solidFill>
              </a:rPr>
              <a:t>trình</a:t>
            </a:r>
            <a:r>
              <a:rPr lang="fr-FR" altLang="en-US" sz="2400" b="0" dirty="0">
                <a:solidFill>
                  <a:srgbClr val="270076"/>
                </a:solidFill>
              </a:rPr>
              <a:t> con </a:t>
            </a:r>
            <a:r>
              <a:rPr lang="fr-FR" altLang="en-US" sz="2400" b="0" dirty="0" err="1">
                <a:solidFill>
                  <a:srgbClr val="270076"/>
                </a:solidFill>
              </a:rPr>
              <a:t>mới</a:t>
            </a:r>
            <a:r>
              <a:rPr lang="fr-FR" altLang="en-US" sz="2400" b="0" dirty="0">
                <a:solidFill>
                  <a:srgbClr val="270076"/>
                </a:solidFill>
              </a:rPr>
              <a:t> (</a:t>
            </a:r>
            <a:r>
              <a:rPr lang="fr-FR" altLang="en-US" sz="2400" b="0" i="1" dirty="0" err="1">
                <a:solidFill>
                  <a:srgbClr val="3539EB"/>
                </a:solidFill>
              </a:rPr>
              <a:t>gọi</a:t>
            </a:r>
            <a:r>
              <a:rPr lang="fr-FR" altLang="en-US" sz="2400" b="0" i="1" dirty="0">
                <a:solidFill>
                  <a:srgbClr val="3539EB"/>
                </a:solidFill>
              </a:rPr>
              <a:t> </a:t>
            </a:r>
            <a:r>
              <a:rPr lang="fr-FR" altLang="en-US" sz="2400" b="0" i="1" dirty="0" err="1">
                <a:solidFill>
                  <a:srgbClr val="3539EB"/>
                </a:solidFill>
              </a:rPr>
              <a:t>tới</a:t>
            </a:r>
            <a:r>
              <a:rPr lang="fr-FR" altLang="en-US" sz="2400" b="0" i="1" dirty="0">
                <a:solidFill>
                  <a:srgbClr val="3539EB"/>
                </a:solidFill>
              </a:rPr>
              <a:t> </a:t>
            </a:r>
            <a:r>
              <a:rPr lang="fr-FR" altLang="en-US" sz="2400" b="0" i="1" dirty="0" err="1">
                <a:solidFill>
                  <a:srgbClr val="3539EB"/>
                </a:solidFill>
              </a:rPr>
              <a:t>compileBlock</a:t>
            </a:r>
            <a:r>
              <a:rPr lang="fr-FR" altLang="en-US" sz="2400" b="0" i="1" dirty="0">
                <a:solidFill>
                  <a:srgbClr val="3539EB"/>
                </a:solidFill>
              </a:rPr>
              <a:t>() </a:t>
            </a:r>
            <a:r>
              <a:rPr lang="fr-FR" altLang="en-US" sz="2400" b="0" i="1" dirty="0" err="1">
                <a:solidFill>
                  <a:srgbClr val="3539EB"/>
                </a:solidFill>
              </a:rPr>
              <a:t>đệ</a:t>
            </a:r>
            <a:r>
              <a:rPr lang="fr-FR" altLang="en-US" sz="2400" b="0" i="1" dirty="0">
                <a:solidFill>
                  <a:srgbClr val="3539EB"/>
                </a:solidFill>
              </a:rPr>
              <a:t> </a:t>
            </a:r>
            <a:r>
              <a:rPr lang="fr-FR" altLang="en-US" sz="2400" b="0" i="1" dirty="0" err="1">
                <a:solidFill>
                  <a:srgbClr val="3539EB"/>
                </a:solidFill>
              </a:rPr>
              <a:t>quy</a:t>
            </a:r>
            <a:r>
              <a:rPr lang="fr-FR" altLang="en-US" sz="2400" b="0" dirty="0">
                <a:solidFill>
                  <a:srgbClr val="270076"/>
                </a:solidFill>
              </a:rPr>
              <a:t>), </a:t>
            </a:r>
            <a:r>
              <a:rPr lang="fr-FR" altLang="en-US" sz="2400" b="0" dirty="0" err="1">
                <a:solidFill>
                  <a:srgbClr val="270076"/>
                </a:solidFill>
              </a:rPr>
              <a:t>cần</a:t>
            </a:r>
            <a:r>
              <a:rPr lang="fr-FR" altLang="en-US" sz="2400" b="0" dirty="0">
                <a:solidFill>
                  <a:srgbClr val="270076"/>
                </a:solidFill>
              </a:rPr>
              <a:t> </a:t>
            </a:r>
            <a:r>
              <a:rPr lang="fr-FR" altLang="en-US" sz="2400" b="0" dirty="0" err="1">
                <a:solidFill>
                  <a:srgbClr val="270076"/>
                </a:solidFill>
              </a:rPr>
              <a:t>tạo</a:t>
            </a:r>
            <a:r>
              <a:rPr lang="fr-FR" altLang="en-US" sz="2400" b="0" dirty="0">
                <a:solidFill>
                  <a:srgbClr val="270076"/>
                </a:solidFill>
              </a:rPr>
              <a:t> </a:t>
            </a:r>
            <a:r>
              <a:rPr lang="fr-FR" altLang="en-US" sz="2400" b="0" dirty="0" err="1">
                <a:solidFill>
                  <a:srgbClr val="270076"/>
                </a:solidFill>
              </a:rPr>
              <a:t>một</a:t>
            </a:r>
            <a:r>
              <a:rPr lang="fr-FR" altLang="en-US" sz="2400" b="0" dirty="0">
                <a:solidFill>
                  <a:srgbClr val="270076"/>
                </a:solidFill>
              </a:rPr>
              <a:t> </a:t>
            </a:r>
            <a:r>
              <a:rPr lang="fr-FR" altLang="en-US" sz="2400" b="0" dirty="0" err="1">
                <a:solidFill>
                  <a:srgbClr val="270076"/>
                </a:solidFill>
              </a:rPr>
              <a:t>bảng</a:t>
            </a:r>
            <a:r>
              <a:rPr lang="fr-FR" altLang="en-US" sz="2400" b="0" dirty="0">
                <a:solidFill>
                  <a:srgbClr val="270076"/>
                </a:solidFill>
              </a:rPr>
              <a:t> </a:t>
            </a:r>
            <a:r>
              <a:rPr lang="fr-FR" altLang="en-US" sz="2400" b="0" dirty="0" err="1">
                <a:solidFill>
                  <a:srgbClr val="270076"/>
                </a:solidFill>
              </a:rPr>
              <a:t>ký</a:t>
            </a:r>
            <a:r>
              <a:rPr lang="fr-FR" altLang="en-US" sz="2400" b="0" dirty="0">
                <a:solidFill>
                  <a:srgbClr val="270076"/>
                </a:solidFill>
              </a:rPr>
              <a:t> </a:t>
            </a:r>
            <a:r>
              <a:rPr lang="fr-FR" altLang="en-US" sz="2400" b="0" dirty="0" err="1">
                <a:solidFill>
                  <a:srgbClr val="270076"/>
                </a:solidFill>
              </a:rPr>
              <a:t>hiệu</a:t>
            </a:r>
            <a:r>
              <a:rPr lang="fr-FR" altLang="en-US" sz="2400" b="0" dirty="0">
                <a:solidFill>
                  <a:srgbClr val="270076"/>
                </a:solidFill>
              </a:rPr>
              <a:t> </a:t>
            </a:r>
            <a:r>
              <a:rPr lang="fr-FR" altLang="en-US" sz="2400" b="0" dirty="0" err="1">
                <a:solidFill>
                  <a:srgbClr val="270076"/>
                </a:solidFill>
              </a:rPr>
              <a:t>cho</a:t>
            </a:r>
            <a:r>
              <a:rPr lang="fr-FR" altLang="en-US" sz="2400" b="0" dirty="0">
                <a:solidFill>
                  <a:srgbClr val="270076"/>
                </a:solidFill>
              </a:rPr>
              <a:t> </a:t>
            </a:r>
            <a:r>
              <a:rPr lang="fr-FR" altLang="en-US" sz="2400" b="0" dirty="0" err="1">
                <a:solidFill>
                  <a:srgbClr val="270076"/>
                </a:solidFill>
              </a:rPr>
              <a:t>chương</a:t>
            </a:r>
            <a:r>
              <a:rPr lang="fr-FR" altLang="en-US" sz="2400" b="0" dirty="0">
                <a:solidFill>
                  <a:srgbClr val="270076"/>
                </a:solidFill>
              </a:rPr>
              <a:t> </a:t>
            </a:r>
            <a:r>
              <a:rPr lang="fr-FR" altLang="en-US" sz="2400" b="0" dirty="0" err="1">
                <a:solidFill>
                  <a:srgbClr val="270076"/>
                </a:solidFill>
              </a:rPr>
              <a:t>trình</a:t>
            </a:r>
            <a:r>
              <a:rPr lang="fr-FR" altLang="en-US" sz="2400" b="0" dirty="0">
                <a:solidFill>
                  <a:srgbClr val="270076"/>
                </a:solidFill>
              </a:rPr>
              <a:t> con </a:t>
            </a:r>
            <a:r>
              <a:rPr lang="fr-FR" altLang="en-US" sz="2400" b="0" dirty="0" err="1">
                <a:solidFill>
                  <a:srgbClr val="270076"/>
                </a:solidFill>
              </a:rPr>
              <a:t>tương</a:t>
            </a:r>
            <a:r>
              <a:rPr lang="fr-FR" altLang="en-US" sz="2400" b="0" dirty="0">
                <a:solidFill>
                  <a:srgbClr val="270076"/>
                </a:solidFill>
              </a:rPr>
              <a:t> </a:t>
            </a:r>
            <a:r>
              <a:rPr lang="fr-FR" altLang="en-US" sz="2400" b="0" dirty="0" err="1">
                <a:solidFill>
                  <a:srgbClr val="270076"/>
                </a:solidFill>
              </a:rPr>
              <a:t>ứng</a:t>
            </a:r>
            <a:endParaRPr lang="fr-FR" altLang="en-US" sz="2400" b="0" dirty="0">
              <a:solidFill>
                <a:srgbClr val="270076"/>
              </a:solidFill>
            </a:endParaRPr>
          </a:p>
          <a:p>
            <a:pPr eaLnBrk="1" hangingPunct="1">
              <a:lnSpc>
                <a:spcPct val="95000"/>
              </a:lnSpc>
              <a:spcBef>
                <a:spcPct val="20000"/>
              </a:spcBef>
              <a:buFontTx/>
              <a:buChar char="•"/>
            </a:pPr>
            <a:r>
              <a:rPr lang="fr-FR" altLang="en-US" sz="2400" b="0" dirty="0">
                <a:solidFill>
                  <a:srgbClr val="270076"/>
                </a:solidFill>
              </a:rPr>
              <a:t>Khi </a:t>
            </a:r>
            <a:r>
              <a:rPr lang="fr-FR" altLang="en-US" sz="2400" b="0" dirty="0" err="1">
                <a:solidFill>
                  <a:srgbClr val="270076"/>
                </a:solidFill>
              </a:rPr>
              <a:t>kết</a:t>
            </a:r>
            <a:r>
              <a:rPr lang="fr-FR" altLang="en-US" sz="2400" b="0" dirty="0">
                <a:solidFill>
                  <a:srgbClr val="270076"/>
                </a:solidFill>
              </a:rPr>
              <a:t> </a:t>
            </a:r>
            <a:r>
              <a:rPr lang="fr-FR" altLang="en-US" sz="2400" b="0" dirty="0" err="1">
                <a:solidFill>
                  <a:srgbClr val="270076"/>
                </a:solidFill>
              </a:rPr>
              <a:t>thúc</a:t>
            </a:r>
            <a:r>
              <a:rPr lang="fr-FR" altLang="en-US" sz="2400" b="0" dirty="0">
                <a:solidFill>
                  <a:srgbClr val="270076"/>
                </a:solidFill>
              </a:rPr>
              <a:t> (</a:t>
            </a:r>
            <a:r>
              <a:rPr lang="fr-FR" altLang="en-US" sz="2400" b="0" i="1" dirty="0">
                <a:solidFill>
                  <a:srgbClr val="3539EB"/>
                </a:solidFill>
              </a:rPr>
              <a:t>ra </a:t>
            </a:r>
            <a:r>
              <a:rPr lang="fr-FR" altLang="en-US" sz="2400" b="0" i="1" dirty="0" err="1">
                <a:solidFill>
                  <a:srgbClr val="3539EB"/>
                </a:solidFill>
              </a:rPr>
              <a:t>khỏi</a:t>
            </a:r>
            <a:r>
              <a:rPr lang="fr-FR" altLang="en-US" sz="2400" b="0" i="1" dirty="0">
                <a:solidFill>
                  <a:srgbClr val="3539EB"/>
                </a:solidFill>
              </a:rPr>
              <a:t> </a:t>
            </a:r>
            <a:r>
              <a:rPr lang="fr-FR" altLang="en-US" sz="2400" b="0" i="1" dirty="0" err="1">
                <a:solidFill>
                  <a:srgbClr val="3539EB"/>
                </a:solidFill>
              </a:rPr>
              <a:t>thủ</a:t>
            </a:r>
            <a:r>
              <a:rPr lang="fr-FR" altLang="en-US" sz="2400" b="0" i="1" dirty="0">
                <a:solidFill>
                  <a:srgbClr val="3539EB"/>
                </a:solidFill>
              </a:rPr>
              <a:t> </a:t>
            </a:r>
            <a:r>
              <a:rPr lang="fr-FR" altLang="en-US" sz="2400" b="0" i="1" dirty="0" err="1">
                <a:solidFill>
                  <a:srgbClr val="3539EB"/>
                </a:solidFill>
              </a:rPr>
              <a:t>tục</a:t>
            </a:r>
            <a:r>
              <a:rPr lang="fr-FR" altLang="en-US" sz="2400" b="0" i="1" dirty="0">
                <a:solidFill>
                  <a:srgbClr val="3539EB"/>
                </a:solidFill>
              </a:rPr>
              <a:t> </a:t>
            </a:r>
            <a:r>
              <a:rPr lang="fr-FR" altLang="en-US" sz="2400" b="0" i="1" dirty="0" err="1">
                <a:solidFill>
                  <a:srgbClr val="3539EB"/>
                </a:solidFill>
              </a:rPr>
              <a:t>compileblock</a:t>
            </a:r>
            <a:r>
              <a:rPr lang="fr-FR" altLang="en-US" sz="2400" b="0" i="1" dirty="0">
                <a:solidFill>
                  <a:srgbClr val="3539EB"/>
                </a:solidFill>
              </a:rPr>
              <a:t>()</a:t>
            </a:r>
            <a:r>
              <a:rPr lang="fr-FR" altLang="en-US" sz="2400" b="0" dirty="0">
                <a:solidFill>
                  <a:srgbClr val="270076"/>
                </a:solidFill>
              </a:rPr>
              <a:t> ), </a:t>
            </a:r>
            <a:r>
              <a:rPr lang="fr-FR" altLang="en-US" sz="2400" b="0" dirty="0" err="1">
                <a:solidFill>
                  <a:srgbClr val="270076"/>
                </a:solidFill>
              </a:rPr>
              <a:t>bảng</a:t>
            </a:r>
            <a:r>
              <a:rPr lang="fr-FR" altLang="en-US" sz="2400" b="0" dirty="0">
                <a:solidFill>
                  <a:srgbClr val="270076"/>
                </a:solidFill>
              </a:rPr>
              <a:t> </a:t>
            </a:r>
            <a:r>
              <a:rPr lang="fr-FR" altLang="en-US" sz="2400" b="0" dirty="0" err="1">
                <a:solidFill>
                  <a:srgbClr val="270076"/>
                </a:solidFill>
              </a:rPr>
              <a:t>ký</a:t>
            </a:r>
            <a:r>
              <a:rPr lang="fr-FR" altLang="en-US" sz="2400" b="0" dirty="0">
                <a:solidFill>
                  <a:srgbClr val="270076"/>
                </a:solidFill>
              </a:rPr>
              <a:t> </a:t>
            </a:r>
            <a:r>
              <a:rPr lang="fr-FR" altLang="en-US" sz="2400" b="0" dirty="0" err="1">
                <a:solidFill>
                  <a:srgbClr val="270076"/>
                </a:solidFill>
              </a:rPr>
              <a:t>hiệu</a:t>
            </a:r>
            <a:r>
              <a:rPr lang="fr-FR" altLang="en-US" sz="2400" b="0" dirty="0">
                <a:solidFill>
                  <a:srgbClr val="270076"/>
                </a:solidFill>
              </a:rPr>
              <a:t> </a:t>
            </a:r>
            <a:r>
              <a:rPr lang="fr-FR" altLang="en-US" sz="2400" b="0" dirty="0" err="1">
                <a:solidFill>
                  <a:srgbClr val="270076"/>
                </a:solidFill>
              </a:rPr>
              <a:t>sẽ</a:t>
            </a:r>
            <a:r>
              <a:rPr lang="fr-FR" altLang="en-US" sz="2400" b="0" dirty="0">
                <a:solidFill>
                  <a:srgbClr val="270076"/>
                </a:solidFill>
              </a:rPr>
              <a:t> </a:t>
            </a:r>
            <a:r>
              <a:rPr lang="fr-FR" altLang="en-US" sz="2400" b="0" dirty="0" err="1">
                <a:solidFill>
                  <a:srgbClr val="270076"/>
                </a:solidFill>
              </a:rPr>
              <a:t>bị</a:t>
            </a:r>
            <a:r>
              <a:rPr lang="fr-FR" altLang="en-US" sz="2400" b="0" dirty="0">
                <a:solidFill>
                  <a:srgbClr val="270076"/>
                </a:solidFill>
              </a:rPr>
              <a:t> </a:t>
            </a:r>
            <a:r>
              <a:rPr lang="fr-FR" altLang="en-US" sz="2400" b="0" dirty="0" err="1">
                <a:solidFill>
                  <a:srgbClr val="270076"/>
                </a:solidFill>
              </a:rPr>
              <a:t>xóa</a:t>
            </a:r>
            <a:endParaRPr lang="en-US" altLang="en-US" sz="2400" b="0" dirty="0">
              <a:solidFill>
                <a:srgbClr val="270076"/>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707EBEA9-B9FF-4BBA-B807-796E18ADF108}" type="slidenum">
              <a:rPr lang="en-US" altLang="en-US" sz="1400" b="0"/>
              <a:pPr/>
              <a:t>23</a:t>
            </a:fld>
            <a:endParaRPr lang="en-US" altLang="en-US" sz="1400" b="0"/>
          </a:p>
        </p:txBody>
      </p:sp>
      <p:sp>
        <p:nvSpPr>
          <p:cNvPr id="28675" name="Rectangle 2"/>
          <p:cNvSpPr>
            <a:spLocks noGrp="1" noChangeArrowheads="1"/>
          </p:cNvSpPr>
          <p:nvPr>
            <p:ph type="title"/>
          </p:nvPr>
        </p:nvSpPr>
        <p:spPr/>
        <p:txBody>
          <a:bodyPr/>
          <a:lstStyle/>
          <a:p>
            <a:pPr eaLnBrk="1" hangingPunct="1"/>
            <a:r>
              <a:rPr lang="en-US" altLang="en-US"/>
              <a:t>Dùng Stack</a:t>
            </a:r>
          </a:p>
        </p:txBody>
      </p:sp>
      <p:sp>
        <p:nvSpPr>
          <p:cNvPr id="28676"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graphicFrame>
        <p:nvGraphicFramePr>
          <p:cNvPr id="1694853" name="Group 133"/>
          <p:cNvGraphicFramePr>
            <a:graphicFrameLocks noGrp="1"/>
          </p:cNvGraphicFramePr>
          <p:nvPr>
            <p:ph idx="1"/>
          </p:nvPr>
        </p:nvGraphicFramePr>
        <p:xfrm>
          <a:off x="685800" y="1463675"/>
          <a:ext cx="3714750" cy="4572000"/>
        </p:xfrm>
        <a:graphic>
          <a:graphicData uri="http://schemas.openxmlformats.org/drawingml/2006/table">
            <a:tbl>
              <a:tblPr/>
              <a:tblGrid>
                <a:gridCol w="1371600">
                  <a:extLst>
                    <a:ext uri="{9D8B030D-6E8A-4147-A177-3AD203B41FA5}">
                      <a16:colId xmlns:a16="http://schemas.microsoft.com/office/drawing/2014/main" val="20000"/>
                    </a:ext>
                  </a:extLst>
                </a:gridCol>
                <a:gridCol w="2343150">
                  <a:extLst>
                    <a:ext uri="{9D8B030D-6E8A-4147-A177-3AD203B41FA5}">
                      <a16:colId xmlns:a16="http://schemas.microsoft.com/office/drawing/2014/main" val="20001"/>
                    </a:ext>
                  </a:extLst>
                </a:gridCol>
              </a:tblGrid>
              <a:tr h="342900">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j</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Variable</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i</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Variable</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2900">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Partition</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subProc</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95288">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v</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Variable</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395288">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k</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Variable</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95288">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qSort</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subProc</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extLst>
                  <a:ext uri="{0D108BD9-81ED-4DB2-BD59-A6C34878D82A}">
                    <a16:rowId xmlns:a16="http://schemas.microsoft.com/office/drawing/2014/main" val="10005"/>
                  </a:ext>
                </a:extLst>
              </a:tr>
              <a:tr h="395288">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readArr</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subProc</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extLst>
                  <a:ext uri="{0D108BD9-81ED-4DB2-BD59-A6C34878D82A}">
                    <a16:rowId xmlns:a16="http://schemas.microsoft.com/office/drawing/2014/main" val="10006"/>
                  </a:ext>
                </a:extLst>
              </a:tr>
              <a:tr h="395288">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Max</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constant</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extLst>
                  <a:ext uri="{0D108BD9-81ED-4DB2-BD59-A6C34878D82A}">
                    <a16:rowId xmlns:a16="http://schemas.microsoft.com/office/drawing/2014/main" val="10007"/>
                  </a:ext>
                </a:extLst>
              </a:tr>
              <a:tr h="395288">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Arr</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Variable</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extLst>
                  <a:ext uri="{0D108BD9-81ED-4DB2-BD59-A6C34878D82A}">
                    <a16:rowId xmlns:a16="http://schemas.microsoft.com/office/drawing/2014/main" val="10008"/>
                  </a:ext>
                </a:extLst>
              </a:tr>
              <a:tr h="342900">
                <a:tc gridSpan="2">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Đáy Stack</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
        <p:nvSpPr>
          <p:cNvPr id="28711" name="AutoShape 137"/>
          <p:cNvSpPr>
            <a:spLocks noChangeArrowheads="1"/>
          </p:cNvSpPr>
          <p:nvPr/>
        </p:nvSpPr>
        <p:spPr bwMode="auto">
          <a:xfrm>
            <a:off x="4495800" y="1524000"/>
            <a:ext cx="2743200" cy="304800"/>
          </a:xfrm>
          <a:prstGeom prst="leftArrow">
            <a:avLst>
              <a:gd name="adj1" fmla="val 50000"/>
              <a:gd name="adj2" fmla="val 2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28712" name="AutoShape 138"/>
          <p:cNvSpPr>
            <a:spLocks noChangeArrowheads="1"/>
          </p:cNvSpPr>
          <p:nvPr/>
        </p:nvSpPr>
        <p:spPr bwMode="auto">
          <a:xfrm>
            <a:off x="5105400" y="1905000"/>
            <a:ext cx="152400" cy="3581400"/>
          </a:xfrm>
          <a:prstGeom prst="downArrow">
            <a:avLst>
              <a:gd name="adj1" fmla="val 50000"/>
              <a:gd name="adj2" fmla="val 587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28713" name="Text Box 139"/>
          <p:cNvSpPr txBox="1">
            <a:spLocks noChangeArrowheads="1"/>
          </p:cNvSpPr>
          <p:nvPr/>
        </p:nvSpPr>
        <p:spPr bwMode="auto">
          <a:xfrm rot="-5400000">
            <a:off x="3059907" y="3493293"/>
            <a:ext cx="3543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r>
              <a:rPr lang="fr-FR" altLang="en-US" sz="2800" b="0"/>
              <a:t>Chiều tìm kiếm</a:t>
            </a:r>
            <a:endParaRPr lang="en-US" altLang="en-US" sz="2800" b="0"/>
          </a:p>
        </p:txBody>
      </p:sp>
      <p:sp>
        <p:nvSpPr>
          <p:cNvPr id="28714" name="Text Box 140"/>
          <p:cNvSpPr txBox="1">
            <a:spLocks noChangeArrowheads="1"/>
          </p:cNvSpPr>
          <p:nvPr/>
        </p:nvSpPr>
        <p:spPr bwMode="auto">
          <a:xfrm>
            <a:off x="4572000" y="990600"/>
            <a:ext cx="2590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2800" b="0"/>
              <a:t>Vị trí thêm vào</a:t>
            </a:r>
            <a:endParaRPr lang="en-US" altLang="en-US" sz="2800" b="0"/>
          </a:p>
        </p:txBody>
      </p:sp>
      <p:sp>
        <p:nvSpPr>
          <p:cNvPr id="28715" name="Text Box 141"/>
          <p:cNvSpPr txBox="1">
            <a:spLocks noChangeArrowheads="1"/>
          </p:cNvSpPr>
          <p:nvPr/>
        </p:nvSpPr>
        <p:spPr bwMode="auto">
          <a:xfrm>
            <a:off x="5562600" y="2057400"/>
            <a:ext cx="3200400" cy="327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lnSpc>
                <a:spcPct val="120000"/>
              </a:lnSpc>
              <a:spcBef>
                <a:spcPct val="25000"/>
              </a:spcBef>
            </a:pPr>
            <a:r>
              <a:rPr lang="fr-FR" altLang="en-US" sz="2800" b="0">
                <a:solidFill>
                  <a:srgbClr val="270076"/>
                </a:solidFill>
              </a:rPr>
              <a:t>Khi gặp danh biểu trong khai báo đưa vào đỉnh của stack</a:t>
            </a:r>
          </a:p>
          <a:p>
            <a:pPr eaLnBrk="1" hangingPunct="1">
              <a:lnSpc>
                <a:spcPct val="120000"/>
              </a:lnSpc>
              <a:spcBef>
                <a:spcPct val="25000"/>
              </a:spcBef>
            </a:pPr>
            <a:r>
              <a:rPr lang="fr-FR" altLang="en-US" sz="2800" b="0">
                <a:solidFill>
                  <a:srgbClr val="270076"/>
                </a:solidFill>
              </a:rPr>
              <a:t>Gặp danh biểu trong câu lệnh, tìm từ đỉnh trở xuống</a:t>
            </a:r>
            <a:endParaRPr lang="en-US" altLang="en-US" sz="2800" b="0">
              <a:solidFill>
                <a:srgbClr val="270076"/>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98B17AAA-DAA0-45CB-9AA6-55818595562A}" type="slidenum">
              <a:rPr lang="en-US" altLang="en-US" sz="1400" b="0"/>
              <a:pPr/>
              <a:t>24</a:t>
            </a:fld>
            <a:endParaRPr lang="en-US" altLang="en-US" sz="1400" b="0"/>
          </a:p>
        </p:txBody>
      </p:sp>
      <p:sp>
        <p:nvSpPr>
          <p:cNvPr id="29699" name="Rectangle 2"/>
          <p:cNvSpPr>
            <a:spLocks noGrp="1" noChangeArrowheads="1"/>
          </p:cNvSpPr>
          <p:nvPr>
            <p:ph type="title"/>
          </p:nvPr>
        </p:nvSpPr>
        <p:spPr/>
        <p:txBody>
          <a:bodyPr/>
          <a:lstStyle/>
          <a:p>
            <a:pPr eaLnBrk="1" hangingPunct="1"/>
            <a:r>
              <a:rPr lang="en-US" altLang="en-US"/>
              <a:t>Ví dụ đơn giản</a:t>
            </a:r>
          </a:p>
        </p:txBody>
      </p:sp>
      <p:sp>
        <p:nvSpPr>
          <p:cNvPr id="29700" name="Rectangle 3"/>
          <p:cNvSpPr>
            <a:spLocks noGrp="1" noChangeArrowheads="1"/>
          </p:cNvSpPr>
          <p:nvPr>
            <p:ph type="body" idx="1"/>
          </p:nvPr>
        </p:nvSpPr>
        <p:spPr>
          <a:xfrm>
            <a:off x="228600" y="866775"/>
            <a:ext cx="8728075" cy="5762625"/>
          </a:xfrm>
        </p:spPr>
        <p:txBody>
          <a:bodyPr/>
          <a:lstStyle/>
          <a:p>
            <a:pPr marL="347663" indent="-347663" algn="just" eaLnBrk="1" hangingPunct="1">
              <a:lnSpc>
                <a:spcPct val="105000"/>
              </a:lnSpc>
            </a:pPr>
            <a:r>
              <a:rPr lang="fr-FR" altLang="en-US" sz="2800">
                <a:sym typeface="Symbol" panose="05050102010706020507" pitchFamily="18" charset="2"/>
              </a:rPr>
              <a:t>Dùng stack làm bảng ký hiệu</a:t>
            </a:r>
          </a:p>
          <a:p>
            <a:pPr marL="347663" indent="-347663" algn="just" eaLnBrk="1" hangingPunct="1">
              <a:lnSpc>
                <a:spcPct val="105000"/>
              </a:lnSpc>
            </a:pPr>
            <a:r>
              <a:rPr lang="fr-FR" altLang="en-US" sz="2800">
                <a:sym typeface="Symbol" panose="05050102010706020507" pitchFamily="18" charset="2"/>
              </a:rPr>
              <a:t>Dùng giá trị </a:t>
            </a:r>
            <a:r>
              <a:rPr lang="fr-FR" altLang="en-US" sz="2800" b="1">
                <a:solidFill>
                  <a:srgbClr val="3539EB"/>
                </a:solidFill>
                <a:sym typeface="Symbol" panose="05050102010706020507" pitchFamily="18" charset="2"/>
              </a:rPr>
              <a:t>Tx</a:t>
            </a:r>
            <a:r>
              <a:rPr lang="fr-FR" altLang="en-US" sz="2800">
                <a:sym typeface="Symbol" panose="05050102010706020507" pitchFamily="18" charset="2"/>
              </a:rPr>
              <a:t> cho biết vị trí của đỉnh stack</a:t>
            </a:r>
          </a:p>
          <a:p>
            <a:pPr marL="912813" lvl="1" indent="-450850" algn="just" eaLnBrk="1" hangingPunct="1">
              <a:lnSpc>
                <a:spcPct val="105000"/>
              </a:lnSpc>
            </a:pPr>
            <a:r>
              <a:rPr lang="fr-FR" altLang="en-US" sz="2400">
                <a:sym typeface="Symbol" panose="05050102010706020507" pitchFamily="18" charset="2"/>
              </a:rPr>
              <a:t>Tx là </a:t>
            </a:r>
            <a:r>
              <a:rPr lang="fr-FR" altLang="en-US" sz="2400" b="1">
                <a:sym typeface="Symbol" panose="05050102010706020507" pitchFamily="18" charset="2"/>
              </a:rPr>
              <a:t>tham trị</a:t>
            </a:r>
            <a:r>
              <a:rPr lang="fr-FR" altLang="en-US" sz="2400">
                <a:sym typeface="Symbol" panose="05050102010706020507" pitchFamily="18" charset="2"/>
              </a:rPr>
              <a:t> của </a:t>
            </a:r>
            <a:r>
              <a:rPr lang="fr-FR" altLang="en-US" sz="2400">
                <a:solidFill>
                  <a:srgbClr val="3539EB"/>
                </a:solidFill>
                <a:sym typeface="Symbol" panose="05050102010706020507" pitchFamily="18" charset="2"/>
              </a:rPr>
              <a:t>compileBlock()//</a:t>
            </a:r>
            <a:r>
              <a:rPr lang="fr-FR" altLang="en-US" sz="2400">
                <a:solidFill>
                  <a:schemeClr val="bg2"/>
                </a:solidFill>
                <a:sym typeface="Symbol" panose="05050102010706020507" pitchFamily="18" charset="2"/>
              </a:rPr>
              <a:t>compileBlock(int Tx)</a:t>
            </a:r>
          </a:p>
          <a:p>
            <a:pPr marL="1257300" lvl="2" algn="just" eaLnBrk="1" hangingPunct="1">
              <a:lnSpc>
                <a:spcPct val="105000"/>
              </a:lnSpc>
            </a:pPr>
            <a:r>
              <a:rPr lang="fr-FR" altLang="en-US" sz="2000">
                <a:sym typeface="Symbol" panose="05050102010706020507" pitchFamily="18" charset="2"/>
              </a:rPr>
              <a:t>Giá trị của Tx không thay đổi trong compileBlock()</a:t>
            </a:r>
          </a:p>
          <a:p>
            <a:pPr marL="912813" lvl="1" indent="-450850" algn="just" eaLnBrk="1" hangingPunct="1">
              <a:lnSpc>
                <a:spcPct val="105000"/>
              </a:lnSpc>
            </a:pPr>
            <a:r>
              <a:rPr lang="fr-FR" altLang="en-US" sz="2400">
                <a:sym typeface="Symbol" panose="05050102010706020507" pitchFamily="18" charset="2"/>
              </a:rPr>
              <a:t>Khi phân tích Block, thủ tục </a:t>
            </a:r>
            <a:r>
              <a:rPr lang="fr-FR" altLang="en-US" sz="2400">
                <a:solidFill>
                  <a:srgbClr val="3539EB"/>
                </a:solidFill>
                <a:sym typeface="Symbol" panose="05050102010706020507" pitchFamily="18" charset="2"/>
              </a:rPr>
              <a:t>compileBlock()</a:t>
            </a:r>
            <a:r>
              <a:rPr lang="fr-FR" altLang="en-US" sz="2400">
                <a:sym typeface="Symbol" panose="05050102010706020507" pitchFamily="18" charset="2"/>
              </a:rPr>
              <a:t> có thể gọi đến chính nó, Tx sẽ được kế thừa</a:t>
            </a:r>
          </a:p>
          <a:p>
            <a:pPr marL="1257300" lvl="2" algn="just" eaLnBrk="1" hangingPunct="1">
              <a:lnSpc>
                <a:spcPct val="105000"/>
              </a:lnSpc>
            </a:pPr>
            <a:r>
              <a:rPr lang="fr-FR" altLang="en-US" sz="2000">
                <a:sym typeface="Symbol" panose="05050102010706020507" pitchFamily="18" charset="2"/>
              </a:rPr>
              <a:t>Khi đoán nhận thủ tục con, Tx sẽ tăng dần lên khi gặp các danh biểu của chương trình con</a:t>
            </a:r>
          </a:p>
          <a:p>
            <a:pPr marL="1257300" lvl="2" algn="just" eaLnBrk="1" hangingPunct="1">
              <a:lnSpc>
                <a:spcPct val="105000"/>
              </a:lnSpc>
            </a:pPr>
            <a:r>
              <a:rPr lang="fr-FR" altLang="en-US" sz="2000">
                <a:sym typeface="Symbol" panose="05050102010706020507" pitchFamily="18" charset="2"/>
              </a:rPr>
              <a:t>Khi đoán nhận xong - thoát ra khỏi compileBlock(), Tx khôi phục lại giá trị cũ (</a:t>
            </a:r>
            <a:r>
              <a:rPr lang="fr-FR" altLang="en-US" sz="2000" i="1">
                <a:sym typeface="Symbol" panose="05050102010706020507" pitchFamily="18" charset="2"/>
              </a:rPr>
              <a:t>giá trị trước khi goi</a:t>
            </a:r>
            <a:r>
              <a:rPr lang="fr-FR" altLang="en-US" sz="2000">
                <a:sym typeface="Symbol" panose="05050102010706020507" pitchFamily="18" charset="2"/>
              </a:rPr>
              <a:t>)</a:t>
            </a:r>
          </a:p>
          <a:p>
            <a:pPr lvl="3" algn="just" eaLnBrk="1" hangingPunct="1">
              <a:lnSpc>
                <a:spcPct val="105000"/>
              </a:lnSpc>
            </a:pPr>
            <a:r>
              <a:rPr lang="fr-FR" altLang="en-US" sz="1800">
                <a:sym typeface="Symbol" panose="05050102010706020507" pitchFamily="18" charset="2"/>
              </a:rPr>
              <a:t>Nhưng khai báo bên trong một khối sẽ bị xóa đi</a:t>
            </a:r>
          </a:p>
          <a:p>
            <a:pPr marL="912813" lvl="1" indent="-450850" algn="just" eaLnBrk="1" hangingPunct="1">
              <a:lnSpc>
                <a:spcPct val="105000"/>
              </a:lnSpc>
            </a:pPr>
            <a:r>
              <a:rPr lang="fr-FR" altLang="en-US" sz="2400">
                <a:sym typeface="Symbol" panose="05050102010706020507" pitchFamily="18" charset="2"/>
              </a:rPr>
              <a:t>Ban đầu, danh sách rỗng  compileBlock(0)</a:t>
            </a:r>
          </a:p>
        </p:txBody>
      </p:sp>
      <p:sp>
        <p:nvSpPr>
          <p:cNvPr id="29701"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E6113A6C-9F31-4E2D-80C7-5A33F6CD98A9}" type="slidenum">
              <a:rPr lang="en-US" altLang="en-US" sz="1400" b="0"/>
              <a:pPr/>
              <a:t>25</a:t>
            </a:fld>
            <a:endParaRPr lang="en-US" altLang="en-US" sz="1400" b="0"/>
          </a:p>
        </p:txBody>
      </p:sp>
      <p:sp>
        <p:nvSpPr>
          <p:cNvPr id="30723" name="Rectangle 7"/>
          <p:cNvSpPr>
            <a:spLocks noChangeArrowheads="1"/>
          </p:cNvSpPr>
          <p:nvPr/>
        </p:nvSpPr>
        <p:spPr bwMode="auto">
          <a:xfrm>
            <a:off x="624840" y="4975860"/>
            <a:ext cx="2895600" cy="1047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30724" name="Rectangle 5"/>
          <p:cNvSpPr>
            <a:spLocks noChangeArrowheads="1"/>
          </p:cNvSpPr>
          <p:nvPr/>
        </p:nvSpPr>
        <p:spPr bwMode="auto">
          <a:xfrm>
            <a:off x="609600" y="1828800"/>
            <a:ext cx="2895600" cy="2819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30725" name="Rectangle 6"/>
          <p:cNvSpPr>
            <a:spLocks noChangeArrowheads="1"/>
          </p:cNvSpPr>
          <p:nvPr/>
        </p:nvSpPr>
        <p:spPr bwMode="auto">
          <a:xfrm>
            <a:off x="1066800" y="2527300"/>
            <a:ext cx="2209800" cy="1454150"/>
          </a:xfrm>
          <a:prstGeom prst="rect">
            <a:avLst/>
          </a:prstGeom>
          <a:solidFill>
            <a:schemeClr val="accent1"/>
          </a:solidFill>
          <a:ln w="28575">
            <a:solidFill>
              <a:srgbClr val="FA0617"/>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30726" name="Rectangle 2"/>
          <p:cNvSpPr>
            <a:spLocks noGrp="1" noChangeArrowheads="1"/>
          </p:cNvSpPr>
          <p:nvPr>
            <p:ph type="title"/>
          </p:nvPr>
        </p:nvSpPr>
        <p:spPr/>
        <p:txBody>
          <a:bodyPr/>
          <a:lstStyle/>
          <a:p>
            <a:pPr eaLnBrk="1" hangingPunct="1"/>
            <a:r>
              <a:rPr lang="en-US" altLang="en-US"/>
              <a:t>Ví dụ đơn giản</a:t>
            </a:r>
          </a:p>
        </p:txBody>
      </p:sp>
      <p:sp>
        <p:nvSpPr>
          <p:cNvPr id="30727" name="Rectangle 3"/>
          <p:cNvSpPr>
            <a:spLocks noGrp="1" noChangeArrowheads="1"/>
          </p:cNvSpPr>
          <p:nvPr>
            <p:ph type="body" sz="half" idx="1"/>
          </p:nvPr>
        </p:nvSpPr>
        <p:spPr>
          <a:xfrm>
            <a:off x="266700" y="823913"/>
            <a:ext cx="4286250" cy="5991225"/>
          </a:xfrm>
          <a:noFill/>
          <a:ln>
            <a:solidFill>
              <a:srgbClr val="3539EB"/>
            </a:solidFill>
            <a:miter lim="800000"/>
            <a:headEnd/>
            <a:tailEnd/>
          </a:ln>
        </p:spPr>
        <p:txBody>
          <a:bodyPr tIns="0" bIns="0"/>
          <a:lstStyle/>
          <a:p>
            <a:pPr marL="347663" indent="-347663" algn="just" eaLnBrk="1" hangingPunct="1">
              <a:lnSpc>
                <a:spcPct val="95000"/>
              </a:lnSpc>
              <a:spcBef>
                <a:spcPct val="0"/>
              </a:spcBef>
              <a:buFontTx/>
              <a:buNone/>
            </a:pPr>
            <a:r>
              <a:rPr lang="fr-FR" altLang="en-US" sz="2400">
                <a:sym typeface="Symbol" panose="05050102010706020507" pitchFamily="18" charset="2"/>
              </a:rPr>
              <a:t>Const M=10;</a:t>
            </a:r>
          </a:p>
          <a:p>
            <a:pPr marL="347663" indent="-347663" algn="just" eaLnBrk="1" hangingPunct="1">
              <a:lnSpc>
                <a:spcPct val="95000"/>
              </a:lnSpc>
              <a:spcBef>
                <a:spcPct val="0"/>
              </a:spcBef>
              <a:buFontTx/>
              <a:buNone/>
            </a:pPr>
            <a:r>
              <a:rPr lang="fr-FR" altLang="en-US" sz="2400">
                <a:sym typeface="Symbol" panose="05050102010706020507" pitchFamily="18" charset="2"/>
              </a:rPr>
              <a:t>Var X, Y: integer;</a:t>
            </a:r>
          </a:p>
          <a:p>
            <a:pPr marL="347663" indent="-347663" algn="just" eaLnBrk="1" hangingPunct="1">
              <a:lnSpc>
                <a:spcPct val="95000"/>
              </a:lnSpc>
              <a:spcBef>
                <a:spcPct val="0"/>
              </a:spcBef>
              <a:buFontTx/>
              <a:buNone/>
            </a:pPr>
            <a:r>
              <a:rPr lang="fr-FR" altLang="en-US" sz="2400">
                <a:sym typeface="Symbol" panose="05050102010706020507" pitchFamily="18" charset="2"/>
              </a:rPr>
              <a:t>	Procedure A;</a:t>
            </a:r>
          </a:p>
          <a:p>
            <a:pPr marL="347663" indent="-347663" algn="just" eaLnBrk="1" hangingPunct="1">
              <a:lnSpc>
                <a:spcPct val="95000"/>
              </a:lnSpc>
              <a:spcBef>
                <a:spcPct val="0"/>
              </a:spcBef>
              <a:buFontTx/>
              <a:buNone/>
            </a:pPr>
            <a:r>
              <a:rPr lang="fr-FR" altLang="en-US" sz="2400">
                <a:sym typeface="Symbol" panose="05050102010706020507" pitchFamily="18" charset="2"/>
              </a:rPr>
              <a:t>	Var X, Z: Integer;</a:t>
            </a:r>
          </a:p>
          <a:p>
            <a:pPr marL="347663" indent="-347663" algn="just" eaLnBrk="1" hangingPunct="1">
              <a:lnSpc>
                <a:spcPct val="95000"/>
              </a:lnSpc>
              <a:spcBef>
                <a:spcPct val="0"/>
              </a:spcBef>
              <a:buFontTx/>
              <a:buNone/>
            </a:pPr>
            <a:r>
              <a:rPr lang="fr-FR" altLang="en-US" sz="2400">
                <a:sym typeface="Symbol" panose="05050102010706020507" pitchFamily="18" charset="2"/>
              </a:rPr>
              <a:t>		Procedure AA;</a:t>
            </a:r>
          </a:p>
          <a:p>
            <a:pPr marL="347663" indent="-347663" algn="just" eaLnBrk="1" hangingPunct="1">
              <a:lnSpc>
                <a:spcPct val="95000"/>
              </a:lnSpc>
              <a:spcBef>
                <a:spcPct val="0"/>
              </a:spcBef>
              <a:buFontTx/>
              <a:buNone/>
            </a:pPr>
            <a:r>
              <a:rPr lang="fr-FR" altLang="en-US" sz="2400">
                <a:sym typeface="Symbol" panose="05050102010706020507" pitchFamily="18" charset="2"/>
              </a:rPr>
              <a:t>		Var X: integer;</a:t>
            </a:r>
          </a:p>
          <a:p>
            <a:pPr marL="347663" indent="-347663" algn="just" eaLnBrk="1" hangingPunct="1">
              <a:lnSpc>
                <a:spcPct val="95000"/>
              </a:lnSpc>
              <a:spcBef>
                <a:spcPct val="0"/>
              </a:spcBef>
              <a:buFontTx/>
              <a:buNone/>
            </a:pPr>
            <a:r>
              <a:rPr lang="fr-FR" altLang="en-US" sz="2400">
                <a:sym typeface="Symbol" panose="05050102010706020507" pitchFamily="18" charset="2"/>
              </a:rPr>
              <a:t>		Begin</a:t>
            </a:r>
          </a:p>
          <a:p>
            <a:pPr marL="347663" indent="-347663" algn="just" eaLnBrk="1" hangingPunct="1">
              <a:lnSpc>
                <a:spcPct val="95000"/>
              </a:lnSpc>
              <a:spcBef>
                <a:spcPct val="0"/>
              </a:spcBef>
              <a:buFontTx/>
              <a:buNone/>
            </a:pPr>
            <a:r>
              <a:rPr lang="fr-FR" altLang="en-US" sz="2400">
                <a:sym typeface="Symbol" panose="05050102010706020507" pitchFamily="18" charset="2"/>
              </a:rPr>
              <a:t>		   Z= X+Y*M</a:t>
            </a:r>
          </a:p>
          <a:p>
            <a:pPr marL="347663" indent="-347663" algn="just" eaLnBrk="1" hangingPunct="1">
              <a:lnSpc>
                <a:spcPct val="95000"/>
              </a:lnSpc>
              <a:spcBef>
                <a:spcPct val="0"/>
              </a:spcBef>
              <a:buFontTx/>
              <a:buNone/>
            </a:pPr>
            <a:r>
              <a:rPr lang="fr-FR" altLang="en-US" sz="2400">
                <a:sym typeface="Symbol" panose="05050102010706020507" pitchFamily="18" charset="2"/>
              </a:rPr>
              <a:t>		End;</a:t>
            </a:r>
          </a:p>
          <a:p>
            <a:pPr marL="347663" indent="-347663" algn="just" eaLnBrk="1" hangingPunct="1">
              <a:lnSpc>
                <a:spcPct val="95000"/>
              </a:lnSpc>
              <a:spcBef>
                <a:spcPct val="0"/>
              </a:spcBef>
              <a:buFontTx/>
              <a:buNone/>
            </a:pPr>
            <a:r>
              <a:rPr lang="fr-FR" altLang="en-US" sz="2400">
                <a:sym typeface="Symbol" panose="05050102010706020507" pitchFamily="18" charset="2"/>
              </a:rPr>
              <a:t>	Begin</a:t>
            </a:r>
          </a:p>
          <a:p>
            <a:pPr marL="347663" indent="-347663" algn="just" eaLnBrk="1" hangingPunct="1">
              <a:lnSpc>
                <a:spcPct val="95000"/>
              </a:lnSpc>
              <a:spcBef>
                <a:spcPct val="0"/>
              </a:spcBef>
              <a:buFontTx/>
              <a:buNone/>
            </a:pPr>
            <a:r>
              <a:rPr lang="fr-FR" altLang="en-US" sz="2400">
                <a:sym typeface="Symbol" panose="05050102010706020507" pitchFamily="18" charset="2"/>
              </a:rPr>
              <a:t>	End;</a:t>
            </a:r>
          </a:p>
          <a:p>
            <a:pPr marL="347663" indent="-347663" algn="just" eaLnBrk="1" hangingPunct="1">
              <a:lnSpc>
                <a:spcPct val="95000"/>
              </a:lnSpc>
              <a:spcBef>
                <a:spcPct val="0"/>
              </a:spcBef>
              <a:buFontTx/>
              <a:buNone/>
            </a:pPr>
            <a:r>
              <a:rPr lang="fr-FR" altLang="en-US" sz="2400">
                <a:sym typeface="Symbol" panose="05050102010706020507" pitchFamily="18" charset="2"/>
              </a:rPr>
              <a:t>	Procedure B;</a:t>
            </a:r>
          </a:p>
          <a:p>
            <a:pPr marL="347663" indent="-347663" algn="just" eaLnBrk="1" hangingPunct="1">
              <a:lnSpc>
                <a:spcPct val="95000"/>
              </a:lnSpc>
              <a:spcBef>
                <a:spcPct val="0"/>
              </a:spcBef>
              <a:buFontTx/>
              <a:buNone/>
            </a:pPr>
            <a:r>
              <a:rPr lang="fr-FR" altLang="en-US" sz="2400">
                <a:sym typeface="Symbol" panose="05050102010706020507" pitchFamily="18" charset="2"/>
              </a:rPr>
              <a:t>	Var X, Y;</a:t>
            </a:r>
          </a:p>
          <a:p>
            <a:pPr marL="347663" indent="-347663" algn="just" eaLnBrk="1" hangingPunct="1">
              <a:lnSpc>
                <a:spcPct val="95000"/>
              </a:lnSpc>
              <a:spcBef>
                <a:spcPct val="0"/>
              </a:spcBef>
              <a:buFontTx/>
              <a:buNone/>
            </a:pPr>
            <a:r>
              <a:rPr lang="fr-FR" altLang="en-US" sz="2400">
                <a:sym typeface="Symbol" panose="05050102010706020507" pitchFamily="18" charset="2"/>
              </a:rPr>
              <a:t>	Begin</a:t>
            </a:r>
          </a:p>
          <a:p>
            <a:pPr marL="347663" indent="-347663" algn="just" eaLnBrk="1" hangingPunct="1">
              <a:lnSpc>
                <a:spcPct val="95000"/>
              </a:lnSpc>
              <a:spcBef>
                <a:spcPct val="0"/>
              </a:spcBef>
              <a:buFontTx/>
              <a:buNone/>
            </a:pPr>
            <a:r>
              <a:rPr lang="fr-FR" altLang="en-US" sz="2400">
                <a:sym typeface="Symbol" panose="05050102010706020507" pitchFamily="18" charset="2"/>
              </a:rPr>
              <a:t>	End;</a:t>
            </a:r>
          </a:p>
          <a:p>
            <a:pPr marL="347663" indent="-347663" algn="just" eaLnBrk="1" hangingPunct="1">
              <a:lnSpc>
                <a:spcPct val="95000"/>
              </a:lnSpc>
              <a:spcBef>
                <a:spcPct val="0"/>
              </a:spcBef>
              <a:buFontTx/>
              <a:buNone/>
            </a:pPr>
            <a:r>
              <a:rPr lang="fr-FR" altLang="en-US" sz="2400">
                <a:sym typeface="Symbol" panose="05050102010706020507" pitchFamily="18" charset="2"/>
              </a:rPr>
              <a:t>Begin</a:t>
            </a:r>
          </a:p>
          <a:p>
            <a:pPr marL="347663" indent="-347663" algn="just" eaLnBrk="1" hangingPunct="1">
              <a:lnSpc>
                <a:spcPct val="95000"/>
              </a:lnSpc>
              <a:spcBef>
                <a:spcPct val="0"/>
              </a:spcBef>
              <a:buFontTx/>
              <a:buNone/>
            </a:pPr>
            <a:r>
              <a:rPr lang="fr-FR" altLang="en-US" sz="2400">
                <a:sym typeface="Symbol" panose="05050102010706020507" pitchFamily="18" charset="2"/>
              </a:rPr>
              <a:t>End.</a:t>
            </a:r>
          </a:p>
        </p:txBody>
      </p:sp>
      <p:sp>
        <p:nvSpPr>
          <p:cNvPr id="30728"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graphicFrame>
        <p:nvGraphicFramePr>
          <p:cNvPr id="1702960" name="Group 48"/>
          <p:cNvGraphicFramePr>
            <a:graphicFrameLocks noGrp="1"/>
          </p:cNvGraphicFramePr>
          <p:nvPr>
            <p:ph sz="half" idx="2"/>
          </p:nvPr>
        </p:nvGraphicFramePr>
        <p:xfrm>
          <a:off x="5257800" y="1066800"/>
          <a:ext cx="2914650" cy="5334000"/>
        </p:xfrm>
        <a:graphic>
          <a:graphicData uri="http://schemas.openxmlformats.org/drawingml/2006/table">
            <a:tbl>
              <a:tblPr/>
              <a:tblGrid>
                <a:gridCol w="1076325">
                  <a:extLst>
                    <a:ext uri="{9D8B030D-6E8A-4147-A177-3AD203B41FA5}">
                      <a16:colId xmlns:a16="http://schemas.microsoft.com/office/drawing/2014/main" val="20000"/>
                    </a:ext>
                  </a:extLst>
                </a:gridCol>
                <a:gridCol w="1838325">
                  <a:extLst>
                    <a:ext uri="{9D8B030D-6E8A-4147-A177-3AD203B41FA5}">
                      <a16:colId xmlns:a16="http://schemas.microsoft.com/office/drawing/2014/main" val="20001"/>
                    </a:ext>
                  </a:extLst>
                </a:gridCol>
              </a:tblGrid>
              <a:tr h="533400">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3400">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X</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Variable</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3400">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AA</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subProc</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533400">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Z</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Variable</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533400">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X</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Variable</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533400">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A</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subProc</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extLst>
                  <a:ext uri="{0D108BD9-81ED-4DB2-BD59-A6C34878D82A}">
                    <a16:rowId xmlns:a16="http://schemas.microsoft.com/office/drawing/2014/main" val="10005"/>
                  </a:ext>
                </a:extLst>
              </a:tr>
              <a:tr h="533400">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Y</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constant</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extLst>
                  <a:ext uri="{0D108BD9-81ED-4DB2-BD59-A6C34878D82A}">
                    <a16:rowId xmlns:a16="http://schemas.microsoft.com/office/drawing/2014/main" val="10006"/>
                  </a:ext>
                </a:extLst>
              </a:tr>
              <a:tr h="533400">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X</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constant</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extLst>
                  <a:ext uri="{0D108BD9-81ED-4DB2-BD59-A6C34878D82A}">
                    <a16:rowId xmlns:a16="http://schemas.microsoft.com/office/drawing/2014/main" val="10007"/>
                  </a:ext>
                </a:extLst>
              </a:tr>
              <a:tr h="533400">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M</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Constant</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extLst>
                  <a:ext uri="{0D108BD9-81ED-4DB2-BD59-A6C34878D82A}">
                    <a16:rowId xmlns:a16="http://schemas.microsoft.com/office/drawing/2014/main" val="10008"/>
                  </a:ext>
                </a:extLst>
              </a:tr>
              <a:tr h="533400">
                <a:tc gridSpan="2">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dirty="0" err="1">
                          <a:ln>
                            <a:noFill/>
                          </a:ln>
                          <a:solidFill>
                            <a:srgbClr val="270076"/>
                          </a:solidFill>
                          <a:effectLst/>
                          <a:latin typeface="Arial" panose="020B0604020202020204" pitchFamily="34" charset="0"/>
                        </a:rPr>
                        <a:t>Đáy</a:t>
                      </a:r>
                      <a:r>
                        <a:rPr kumimoji="0" lang="fr-FR" altLang="en-US" sz="2400" b="0" i="0" u="none" strike="noStrike" cap="none" normalizeH="0" baseline="0" dirty="0">
                          <a:ln>
                            <a:noFill/>
                          </a:ln>
                          <a:solidFill>
                            <a:srgbClr val="270076"/>
                          </a:solidFill>
                          <a:effectLst/>
                          <a:latin typeface="Arial" panose="020B0604020202020204" pitchFamily="34" charset="0"/>
                        </a:rPr>
                        <a:t> </a:t>
                      </a:r>
                      <a:r>
                        <a:rPr kumimoji="0" lang="fr-FR" altLang="en-US" sz="2400" b="0" i="0" u="none" strike="noStrike" cap="none" normalizeH="0" baseline="0" dirty="0" err="1">
                          <a:ln>
                            <a:noFill/>
                          </a:ln>
                          <a:solidFill>
                            <a:srgbClr val="270076"/>
                          </a:solidFill>
                          <a:effectLst/>
                          <a:latin typeface="Arial" panose="020B0604020202020204" pitchFamily="34" charset="0"/>
                        </a:rPr>
                        <a:t>Stack</a:t>
                      </a:r>
                      <a:endParaRPr kumimoji="0" lang="en-US" altLang="en-US" sz="2400" b="0" i="0" u="none" strike="noStrike" cap="none" normalizeH="0" baseline="0" dirty="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
        <p:nvSpPr>
          <p:cNvPr id="1702961" name="AutoShape 49"/>
          <p:cNvSpPr>
            <a:spLocks noChangeArrowheads="1"/>
          </p:cNvSpPr>
          <p:nvPr/>
        </p:nvSpPr>
        <p:spPr bwMode="auto">
          <a:xfrm>
            <a:off x="8153400" y="6019800"/>
            <a:ext cx="838200" cy="228600"/>
          </a:xfrm>
          <a:prstGeom prst="leftArrow">
            <a:avLst>
              <a:gd name="adj1" fmla="val 50000"/>
              <a:gd name="adj2" fmla="val 91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1702962" name="AutoShape 50"/>
          <p:cNvSpPr>
            <a:spLocks noChangeArrowheads="1"/>
          </p:cNvSpPr>
          <p:nvPr/>
        </p:nvSpPr>
        <p:spPr bwMode="auto">
          <a:xfrm>
            <a:off x="8153400" y="3886200"/>
            <a:ext cx="838200" cy="228600"/>
          </a:xfrm>
          <a:prstGeom prst="leftArrow">
            <a:avLst>
              <a:gd name="adj1" fmla="val 50000"/>
              <a:gd name="adj2" fmla="val 91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1702963" name="AutoShape 51"/>
          <p:cNvSpPr>
            <a:spLocks noChangeArrowheads="1"/>
          </p:cNvSpPr>
          <p:nvPr/>
        </p:nvSpPr>
        <p:spPr bwMode="auto">
          <a:xfrm>
            <a:off x="8153400" y="2286000"/>
            <a:ext cx="838200" cy="228600"/>
          </a:xfrm>
          <a:prstGeom prst="leftArrow">
            <a:avLst>
              <a:gd name="adj1" fmla="val 50000"/>
              <a:gd name="adj2" fmla="val 91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grpSp>
        <p:nvGrpSpPr>
          <p:cNvPr id="1702968" name="Group 56"/>
          <p:cNvGrpSpPr>
            <a:grpSpLocks/>
          </p:cNvGrpSpPr>
          <p:nvPr/>
        </p:nvGrpSpPr>
        <p:grpSpPr bwMode="auto">
          <a:xfrm>
            <a:off x="1600200" y="939800"/>
            <a:ext cx="3733800" cy="4699000"/>
            <a:chOff x="1008" y="592"/>
            <a:chExt cx="2352" cy="2960"/>
          </a:xfrm>
        </p:grpSpPr>
        <p:sp>
          <p:nvSpPr>
            <p:cNvPr id="30767" name="Freeform 52"/>
            <p:cNvSpPr>
              <a:spLocks/>
            </p:cNvSpPr>
            <p:nvPr/>
          </p:nvSpPr>
          <p:spPr bwMode="auto">
            <a:xfrm>
              <a:off x="1776" y="2208"/>
              <a:ext cx="1536" cy="1344"/>
            </a:xfrm>
            <a:custGeom>
              <a:avLst/>
              <a:gdLst>
                <a:gd name="T0" fmla="*/ 0 w 1536"/>
                <a:gd name="T1" fmla="*/ 0 h 1344"/>
                <a:gd name="T2" fmla="*/ 1536 w 1536"/>
                <a:gd name="T3" fmla="*/ 1344 h 1344"/>
                <a:gd name="T4" fmla="*/ 0 60000 65536"/>
                <a:gd name="T5" fmla="*/ 0 60000 65536"/>
              </a:gdLst>
              <a:ahLst/>
              <a:cxnLst>
                <a:cxn ang="T4">
                  <a:pos x="T0" y="T1"/>
                </a:cxn>
                <a:cxn ang="T5">
                  <a:pos x="T2" y="T3"/>
                </a:cxn>
              </a:cxnLst>
              <a:rect l="0" t="0" r="r" b="b"/>
              <a:pathLst>
                <a:path w="1536" h="1344">
                  <a:moveTo>
                    <a:pt x="0" y="0"/>
                  </a:moveTo>
                  <a:cubicBezTo>
                    <a:pt x="0" y="0"/>
                    <a:pt x="768" y="672"/>
                    <a:pt x="1536" y="1344"/>
                  </a:cubicBezTo>
                </a:path>
              </a:pathLst>
            </a:custGeom>
            <a:noFill/>
            <a:ln w="28575" cmpd="sng">
              <a:solidFill>
                <a:srgbClr val="27007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68" name="Freeform 53"/>
            <p:cNvSpPr>
              <a:spLocks/>
            </p:cNvSpPr>
            <p:nvPr/>
          </p:nvSpPr>
          <p:spPr bwMode="auto">
            <a:xfrm>
              <a:off x="1536" y="1704"/>
              <a:ext cx="1824" cy="1128"/>
            </a:xfrm>
            <a:custGeom>
              <a:avLst/>
              <a:gdLst>
                <a:gd name="T0" fmla="*/ 0 w 1824"/>
                <a:gd name="T1" fmla="*/ 408 h 1128"/>
                <a:gd name="T2" fmla="*/ 768 w 1824"/>
                <a:gd name="T3" fmla="*/ 120 h 1128"/>
                <a:gd name="T4" fmla="*/ 1824 w 1824"/>
                <a:gd name="T5" fmla="*/ 1128 h 1128"/>
                <a:gd name="T6" fmla="*/ 0 60000 65536"/>
                <a:gd name="T7" fmla="*/ 0 60000 65536"/>
                <a:gd name="T8" fmla="*/ 0 60000 65536"/>
              </a:gdLst>
              <a:ahLst/>
              <a:cxnLst>
                <a:cxn ang="T6">
                  <a:pos x="T0" y="T1"/>
                </a:cxn>
                <a:cxn ang="T7">
                  <a:pos x="T2" y="T3"/>
                </a:cxn>
                <a:cxn ang="T8">
                  <a:pos x="T4" y="T5"/>
                </a:cxn>
              </a:cxnLst>
              <a:rect l="0" t="0" r="r" b="b"/>
              <a:pathLst>
                <a:path w="1824" h="1128">
                  <a:moveTo>
                    <a:pt x="0" y="408"/>
                  </a:moveTo>
                  <a:cubicBezTo>
                    <a:pt x="232" y="204"/>
                    <a:pt x="464" y="0"/>
                    <a:pt x="768" y="120"/>
                  </a:cubicBezTo>
                  <a:cubicBezTo>
                    <a:pt x="1072" y="240"/>
                    <a:pt x="1448" y="684"/>
                    <a:pt x="1824" y="1128"/>
                  </a:cubicBezTo>
                </a:path>
              </a:pathLst>
            </a:custGeom>
            <a:noFill/>
            <a:ln w="28575" cmpd="sng">
              <a:solidFill>
                <a:srgbClr val="27007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69" name="Freeform 54"/>
            <p:cNvSpPr>
              <a:spLocks/>
            </p:cNvSpPr>
            <p:nvPr/>
          </p:nvSpPr>
          <p:spPr bwMode="auto">
            <a:xfrm>
              <a:off x="1296" y="592"/>
              <a:ext cx="2016" cy="1568"/>
            </a:xfrm>
            <a:custGeom>
              <a:avLst/>
              <a:gdLst>
                <a:gd name="T0" fmla="*/ 0 w 2016"/>
                <a:gd name="T1" fmla="*/ 1568 h 1568"/>
                <a:gd name="T2" fmla="*/ 1104 w 2016"/>
                <a:gd name="T3" fmla="*/ 176 h 1568"/>
                <a:gd name="T4" fmla="*/ 2016 w 2016"/>
                <a:gd name="T5" fmla="*/ 512 h 1568"/>
                <a:gd name="T6" fmla="*/ 0 60000 65536"/>
                <a:gd name="T7" fmla="*/ 0 60000 65536"/>
                <a:gd name="T8" fmla="*/ 0 60000 65536"/>
              </a:gdLst>
              <a:ahLst/>
              <a:cxnLst>
                <a:cxn ang="T6">
                  <a:pos x="T0" y="T1"/>
                </a:cxn>
                <a:cxn ang="T7">
                  <a:pos x="T2" y="T3"/>
                </a:cxn>
                <a:cxn ang="T8">
                  <a:pos x="T4" y="T5"/>
                </a:cxn>
              </a:cxnLst>
              <a:rect l="0" t="0" r="r" b="b"/>
              <a:pathLst>
                <a:path w="2016" h="1568">
                  <a:moveTo>
                    <a:pt x="0" y="1568"/>
                  </a:moveTo>
                  <a:cubicBezTo>
                    <a:pt x="384" y="960"/>
                    <a:pt x="768" y="352"/>
                    <a:pt x="1104" y="176"/>
                  </a:cubicBezTo>
                  <a:cubicBezTo>
                    <a:pt x="1440" y="0"/>
                    <a:pt x="1728" y="256"/>
                    <a:pt x="2016" y="512"/>
                  </a:cubicBezTo>
                </a:path>
              </a:pathLst>
            </a:custGeom>
            <a:noFill/>
            <a:ln w="28575" cmpd="sng">
              <a:solidFill>
                <a:srgbClr val="27007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70" name="Freeform 55"/>
            <p:cNvSpPr>
              <a:spLocks/>
            </p:cNvSpPr>
            <p:nvPr/>
          </p:nvSpPr>
          <p:spPr bwMode="auto">
            <a:xfrm>
              <a:off x="1008" y="1856"/>
              <a:ext cx="2304" cy="1072"/>
            </a:xfrm>
            <a:custGeom>
              <a:avLst/>
              <a:gdLst>
                <a:gd name="T0" fmla="*/ 0 w 2304"/>
                <a:gd name="T1" fmla="*/ 384 h 1072"/>
                <a:gd name="T2" fmla="*/ 864 w 2304"/>
                <a:gd name="T3" fmla="*/ 1008 h 1072"/>
                <a:gd name="T4" fmla="*/ 2304 w 2304"/>
                <a:gd name="T5" fmla="*/ 0 h 1072"/>
                <a:gd name="T6" fmla="*/ 0 60000 65536"/>
                <a:gd name="T7" fmla="*/ 0 60000 65536"/>
                <a:gd name="T8" fmla="*/ 0 60000 65536"/>
              </a:gdLst>
              <a:ahLst/>
              <a:cxnLst>
                <a:cxn ang="T6">
                  <a:pos x="T0" y="T1"/>
                </a:cxn>
                <a:cxn ang="T7">
                  <a:pos x="T2" y="T3"/>
                </a:cxn>
                <a:cxn ang="T8">
                  <a:pos x="T4" y="T5"/>
                </a:cxn>
              </a:cxnLst>
              <a:rect l="0" t="0" r="r" b="b"/>
              <a:pathLst>
                <a:path w="2304" h="1072">
                  <a:moveTo>
                    <a:pt x="0" y="384"/>
                  </a:moveTo>
                  <a:cubicBezTo>
                    <a:pt x="240" y="728"/>
                    <a:pt x="480" y="1072"/>
                    <a:pt x="864" y="1008"/>
                  </a:cubicBezTo>
                  <a:cubicBezTo>
                    <a:pt x="1248" y="944"/>
                    <a:pt x="1776" y="472"/>
                    <a:pt x="2304" y="0"/>
                  </a:cubicBezTo>
                </a:path>
              </a:pathLst>
            </a:custGeom>
            <a:noFill/>
            <a:ln w="28575" cmpd="sng">
              <a:solidFill>
                <a:srgbClr val="27007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702960"/>
                                        </p:tgtEl>
                                        <p:attrNameLst>
                                          <p:attrName>style.visibility</p:attrName>
                                        </p:attrNameLst>
                                      </p:cBhvr>
                                      <p:to>
                                        <p:strVal val="visible"/>
                                      </p:to>
                                    </p:set>
                                    <p:animEffect transition="in" filter="dissolve">
                                      <p:cBhvr>
                                        <p:cTn id="7" dur="500"/>
                                        <p:tgtEl>
                                          <p:spTgt spid="17029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02961"/>
                                        </p:tgtEl>
                                        <p:attrNameLst>
                                          <p:attrName>style.visibility</p:attrName>
                                        </p:attrNameLst>
                                      </p:cBhvr>
                                      <p:to>
                                        <p:strVal val="visible"/>
                                      </p:to>
                                    </p:set>
                                    <p:animEffect transition="in" filter="dissolve">
                                      <p:cBhvr>
                                        <p:cTn id="12" dur="500"/>
                                        <p:tgtEl>
                                          <p:spTgt spid="17029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02962"/>
                                        </p:tgtEl>
                                        <p:attrNameLst>
                                          <p:attrName>style.visibility</p:attrName>
                                        </p:attrNameLst>
                                      </p:cBhvr>
                                      <p:to>
                                        <p:strVal val="visible"/>
                                      </p:to>
                                    </p:set>
                                    <p:animEffect transition="in" filter="dissolve">
                                      <p:cBhvr>
                                        <p:cTn id="17" dur="500"/>
                                        <p:tgtEl>
                                          <p:spTgt spid="17029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02963"/>
                                        </p:tgtEl>
                                        <p:attrNameLst>
                                          <p:attrName>style.visibility</p:attrName>
                                        </p:attrNameLst>
                                      </p:cBhvr>
                                      <p:to>
                                        <p:strVal val="visible"/>
                                      </p:to>
                                    </p:set>
                                    <p:animEffect transition="in" filter="dissolve">
                                      <p:cBhvr>
                                        <p:cTn id="22" dur="500"/>
                                        <p:tgtEl>
                                          <p:spTgt spid="17029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702968"/>
                                        </p:tgtEl>
                                        <p:attrNameLst>
                                          <p:attrName>style.visibility</p:attrName>
                                        </p:attrNameLst>
                                      </p:cBhvr>
                                      <p:to>
                                        <p:strVal val="visible"/>
                                      </p:to>
                                    </p:set>
                                    <p:animEffect transition="in" filter="dissolve">
                                      <p:cBhvr>
                                        <p:cTn id="27" dur="500"/>
                                        <p:tgtEl>
                                          <p:spTgt spid="1702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2961" grpId="0" animBg="1"/>
      <p:bldP spid="1702962" grpId="0" animBg="1"/>
      <p:bldP spid="170296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83059F31-9D32-4458-A152-0CBCCE827FC3}" type="slidenum">
              <a:rPr lang="en-US" altLang="en-US" sz="1400" b="0"/>
              <a:pPr/>
              <a:t>26</a:t>
            </a:fld>
            <a:endParaRPr lang="en-US" altLang="en-US" sz="1400" b="0"/>
          </a:p>
        </p:txBody>
      </p:sp>
      <p:sp>
        <p:nvSpPr>
          <p:cNvPr id="31747" name="Rectangle 2"/>
          <p:cNvSpPr>
            <a:spLocks noGrp="1" noChangeArrowheads="1"/>
          </p:cNvSpPr>
          <p:nvPr>
            <p:ph type="title"/>
          </p:nvPr>
        </p:nvSpPr>
        <p:spPr/>
        <p:txBody>
          <a:bodyPr/>
          <a:lstStyle/>
          <a:p>
            <a:pPr eaLnBrk="1" hangingPunct="1"/>
            <a:r>
              <a:rPr lang="en-US" altLang="en-US"/>
              <a:t>Ví dụ đơn giản</a:t>
            </a:r>
          </a:p>
        </p:txBody>
      </p:sp>
      <p:sp>
        <p:nvSpPr>
          <p:cNvPr id="31748" name="Rectangle 3"/>
          <p:cNvSpPr>
            <a:spLocks noGrp="1" noChangeArrowheads="1"/>
          </p:cNvSpPr>
          <p:nvPr>
            <p:ph type="body" idx="1"/>
          </p:nvPr>
        </p:nvSpPr>
        <p:spPr>
          <a:xfrm>
            <a:off x="228600" y="866775"/>
            <a:ext cx="8728075" cy="5907088"/>
          </a:xfrm>
        </p:spPr>
        <p:txBody>
          <a:bodyPr/>
          <a:lstStyle/>
          <a:p>
            <a:pPr marL="290513" indent="-290513" eaLnBrk="1" hangingPunct="1">
              <a:lnSpc>
                <a:spcPct val="110000"/>
              </a:lnSpc>
              <a:buFontTx/>
              <a:buNone/>
            </a:pPr>
            <a:r>
              <a:rPr lang="fr-FR" altLang="en-US" sz="2800" dirty="0" err="1"/>
              <a:t>Cần</a:t>
            </a:r>
            <a:r>
              <a:rPr lang="fr-FR" altLang="en-US" sz="2800" dirty="0"/>
              <a:t> </a:t>
            </a:r>
            <a:r>
              <a:rPr lang="fr-FR" altLang="en-US" sz="2800" dirty="0" err="1"/>
              <a:t>các</a:t>
            </a:r>
            <a:r>
              <a:rPr lang="fr-FR" altLang="en-US" sz="2800" dirty="0"/>
              <a:t> </a:t>
            </a:r>
            <a:r>
              <a:rPr lang="fr-FR" altLang="en-US" sz="2800" dirty="0" err="1"/>
              <a:t>thủ</a:t>
            </a:r>
            <a:r>
              <a:rPr lang="fr-FR" altLang="en-US" sz="2800" dirty="0"/>
              <a:t> </a:t>
            </a:r>
            <a:r>
              <a:rPr lang="fr-FR" altLang="en-US" sz="2800" dirty="0" err="1"/>
              <a:t>tục</a:t>
            </a:r>
            <a:endParaRPr lang="fr-FR" altLang="en-US" sz="2800" dirty="0"/>
          </a:p>
          <a:p>
            <a:pPr marL="290513" indent="-290513" eaLnBrk="1" hangingPunct="1">
              <a:lnSpc>
                <a:spcPct val="110000"/>
              </a:lnSpc>
            </a:pPr>
            <a:r>
              <a:rPr lang="fr-FR" altLang="en-US" sz="2800" b="1" dirty="0" err="1"/>
              <a:t>Procedure</a:t>
            </a:r>
            <a:r>
              <a:rPr lang="fr-FR" altLang="en-US" sz="2800" b="1" dirty="0"/>
              <a:t> Enter(char *  Id, Object Type);</a:t>
            </a:r>
          </a:p>
          <a:p>
            <a:pPr marL="855663" lvl="1" indent="-334963" eaLnBrk="1" hangingPunct="1">
              <a:lnSpc>
                <a:spcPct val="110000"/>
              </a:lnSpc>
            </a:pPr>
            <a:r>
              <a:rPr lang="fr-FR" altLang="en-US" sz="2400" dirty="0" err="1"/>
              <a:t>Đưa</a:t>
            </a:r>
            <a:r>
              <a:rPr lang="fr-FR" altLang="en-US" sz="2400" dirty="0"/>
              <a:t> </a:t>
            </a:r>
            <a:r>
              <a:rPr lang="fr-FR" altLang="en-US" sz="2400" dirty="0" err="1"/>
              <a:t>một</a:t>
            </a:r>
            <a:r>
              <a:rPr lang="fr-FR" altLang="en-US" sz="2400" dirty="0"/>
              <a:t> </a:t>
            </a:r>
            <a:r>
              <a:rPr lang="fr-FR" altLang="en-US" sz="2400" dirty="0" err="1"/>
              <a:t>danh</a:t>
            </a:r>
            <a:r>
              <a:rPr lang="fr-FR" altLang="en-US" sz="2400" dirty="0"/>
              <a:t> </a:t>
            </a:r>
            <a:r>
              <a:rPr lang="fr-FR" altLang="en-US" sz="2400" dirty="0" err="1"/>
              <a:t>biểu</a:t>
            </a:r>
            <a:r>
              <a:rPr lang="fr-FR" altLang="en-US" sz="2400" dirty="0"/>
              <a:t> </a:t>
            </a:r>
            <a:r>
              <a:rPr lang="fr-FR" altLang="en-US" sz="2400" dirty="0" err="1"/>
              <a:t>vào</a:t>
            </a:r>
            <a:r>
              <a:rPr lang="fr-FR" altLang="en-US" sz="2400" dirty="0"/>
              <a:t> </a:t>
            </a:r>
            <a:r>
              <a:rPr lang="fr-FR" altLang="en-US" sz="2400" dirty="0" err="1"/>
              <a:t>bảng</a:t>
            </a:r>
            <a:r>
              <a:rPr lang="fr-FR" altLang="en-US" sz="2400" dirty="0"/>
              <a:t> </a:t>
            </a:r>
            <a:r>
              <a:rPr lang="fr-FR" altLang="en-US" sz="2400" dirty="0" err="1"/>
              <a:t>ký</a:t>
            </a:r>
            <a:r>
              <a:rPr lang="fr-FR" altLang="en-US" sz="2400" dirty="0"/>
              <a:t> </a:t>
            </a:r>
            <a:r>
              <a:rPr lang="fr-FR" altLang="en-US" sz="2400" dirty="0" err="1"/>
              <a:t>hiệu</a:t>
            </a:r>
            <a:r>
              <a:rPr lang="fr-FR" altLang="en-US" sz="2400" dirty="0"/>
              <a:t> </a:t>
            </a:r>
          </a:p>
          <a:p>
            <a:pPr marL="1314450" lvl="2" eaLnBrk="1" hangingPunct="1">
              <a:lnSpc>
                <a:spcPct val="110000"/>
              </a:lnSpc>
            </a:pPr>
            <a:r>
              <a:rPr lang="fr-FR" altLang="en-US" sz="2000" dirty="0" err="1"/>
              <a:t>Giá</a:t>
            </a:r>
            <a:r>
              <a:rPr lang="fr-FR" altLang="en-US" sz="2000" dirty="0"/>
              <a:t> </a:t>
            </a:r>
            <a:r>
              <a:rPr lang="fr-FR" altLang="en-US" sz="2000" dirty="0" err="1"/>
              <a:t>trị</a:t>
            </a:r>
            <a:r>
              <a:rPr lang="fr-FR" altLang="en-US" sz="2000" dirty="0"/>
              <a:t> </a:t>
            </a:r>
            <a:r>
              <a:rPr lang="fr-FR" altLang="en-US" sz="2000" dirty="0" err="1"/>
              <a:t>của</a:t>
            </a:r>
            <a:r>
              <a:rPr lang="fr-FR" altLang="en-US" sz="2000" dirty="0"/>
              <a:t> </a:t>
            </a:r>
            <a:r>
              <a:rPr lang="fr-FR" altLang="en-US" sz="2000" dirty="0" err="1"/>
              <a:t>danh</a:t>
            </a:r>
            <a:r>
              <a:rPr lang="fr-FR" altLang="en-US" sz="2000" dirty="0"/>
              <a:t> </a:t>
            </a:r>
            <a:r>
              <a:rPr lang="fr-FR" altLang="en-US" sz="2000" dirty="0" err="1"/>
              <a:t>biểu</a:t>
            </a:r>
            <a:endParaRPr lang="fr-FR" altLang="en-US" sz="2000" dirty="0"/>
          </a:p>
          <a:p>
            <a:pPr marL="1314450" lvl="2" eaLnBrk="1" hangingPunct="1">
              <a:lnSpc>
                <a:spcPct val="110000"/>
              </a:lnSpc>
            </a:pPr>
            <a:r>
              <a:rPr lang="fr-FR" altLang="en-US" sz="2000" dirty="0" err="1"/>
              <a:t>Kiểu</a:t>
            </a:r>
            <a:r>
              <a:rPr lang="fr-FR" altLang="en-US" sz="2000" dirty="0"/>
              <a:t> </a:t>
            </a:r>
            <a:r>
              <a:rPr lang="fr-FR" altLang="en-US" sz="2000" dirty="0" err="1"/>
              <a:t>danh</a:t>
            </a:r>
            <a:r>
              <a:rPr lang="fr-FR" altLang="en-US" sz="2000" dirty="0"/>
              <a:t> </a:t>
            </a:r>
            <a:r>
              <a:rPr lang="fr-FR" altLang="en-US" sz="2000" dirty="0" err="1"/>
              <a:t>biểu</a:t>
            </a:r>
            <a:r>
              <a:rPr lang="fr-FR" altLang="en-US" sz="2000" dirty="0"/>
              <a:t> (constant, type, variable, </a:t>
            </a:r>
            <a:r>
              <a:rPr lang="fr-FR" altLang="en-US" sz="2000" dirty="0" err="1"/>
              <a:t>procedure</a:t>
            </a:r>
            <a:r>
              <a:rPr lang="fr-FR" altLang="en-US" sz="2000" dirty="0"/>
              <a:t>, </a:t>
            </a:r>
            <a:r>
              <a:rPr lang="fr-FR" altLang="en-US" sz="2000" dirty="0" err="1"/>
              <a:t>function</a:t>
            </a:r>
            <a:r>
              <a:rPr lang="fr-FR" altLang="en-US" sz="2000" dirty="0"/>
              <a:t>)</a:t>
            </a:r>
          </a:p>
          <a:p>
            <a:pPr marL="290513" indent="-290513" eaLnBrk="1" hangingPunct="1">
              <a:lnSpc>
                <a:spcPct val="110000"/>
              </a:lnSpc>
            </a:pPr>
            <a:r>
              <a:rPr lang="fr-FR" altLang="en-US" sz="2800" b="1" dirty="0" err="1"/>
              <a:t>Function</a:t>
            </a:r>
            <a:r>
              <a:rPr lang="fr-FR" altLang="en-US" sz="2800" b="1" dirty="0"/>
              <a:t> Location(char * Id) : </a:t>
            </a:r>
            <a:r>
              <a:rPr lang="fr-FR" altLang="en-US" sz="2800" b="1" dirty="0" err="1"/>
              <a:t>int</a:t>
            </a:r>
            <a:r>
              <a:rPr lang="fr-FR" altLang="en-US" sz="2800" b="1" dirty="0"/>
              <a:t>;</a:t>
            </a:r>
          </a:p>
          <a:p>
            <a:pPr marL="855663" lvl="1" indent="-334963" eaLnBrk="1" hangingPunct="1">
              <a:lnSpc>
                <a:spcPct val="110000"/>
              </a:lnSpc>
            </a:pPr>
            <a:r>
              <a:rPr lang="fr-FR" altLang="en-US" sz="2400" dirty="0" err="1"/>
              <a:t>Chỉ</a:t>
            </a:r>
            <a:r>
              <a:rPr lang="fr-FR" altLang="en-US" sz="2400" dirty="0"/>
              <a:t> ra </a:t>
            </a:r>
            <a:r>
              <a:rPr lang="fr-FR" altLang="en-US" sz="2400" dirty="0" err="1"/>
              <a:t>vị</a:t>
            </a:r>
            <a:r>
              <a:rPr lang="fr-FR" altLang="en-US" sz="2400" dirty="0"/>
              <a:t> </a:t>
            </a:r>
            <a:r>
              <a:rPr lang="fr-FR" altLang="en-US" sz="2400" dirty="0" err="1"/>
              <a:t>trí</a:t>
            </a:r>
            <a:r>
              <a:rPr lang="fr-FR" altLang="en-US" sz="2400" dirty="0"/>
              <a:t> </a:t>
            </a:r>
            <a:r>
              <a:rPr lang="fr-FR" altLang="en-US" sz="2400" dirty="0" err="1"/>
              <a:t>của</a:t>
            </a:r>
            <a:r>
              <a:rPr lang="fr-FR" altLang="en-US" sz="2400" dirty="0"/>
              <a:t> </a:t>
            </a:r>
            <a:r>
              <a:rPr lang="fr-FR" altLang="en-US" sz="2400" dirty="0" err="1"/>
              <a:t>danh</a:t>
            </a:r>
            <a:r>
              <a:rPr lang="fr-FR" altLang="en-US" sz="2400" dirty="0"/>
              <a:t> </a:t>
            </a:r>
            <a:r>
              <a:rPr lang="fr-FR" altLang="en-US" sz="2400" dirty="0" err="1"/>
              <a:t>biểu</a:t>
            </a:r>
            <a:r>
              <a:rPr lang="fr-FR" altLang="en-US" sz="2400" dirty="0"/>
              <a:t> </a:t>
            </a:r>
            <a:r>
              <a:rPr lang="fr-FR" altLang="en-US" sz="2400" dirty="0" err="1"/>
              <a:t>trong</a:t>
            </a:r>
            <a:r>
              <a:rPr lang="fr-FR" altLang="en-US" sz="2400" dirty="0"/>
              <a:t> </a:t>
            </a:r>
            <a:r>
              <a:rPr lang="fr-FR" altLang="en-US" sz="2400" dirty="0" err="1"/>
              <a:t>bảng</a:t>
            </a:r>
            <a:r>
              <a:rPr lang="fr-FR" altLang="en-US" sz="2400" dirty="0"/>
              <a:t> </a:t>
            </a:r>
            <a:r>
              <a:rPr lang="fr-FR" altLang="en-US" sz="2400" dirty="0" err="1"/>
              <a:t>ký</a:t>
            </a:r>
            <a:r>
              <a:rPr lang="fr-FR" altLang="en-US" sz="2400" dirty="0"/>
              <a:t> </a:t>
            </a:r>
            <a:r>
              <a:rPr lang="fr-FR" altLang="en-US" sz="2400" dirty="0" err="1"/>
              <a:t>hiệu</a:t>
            </a:r>
            <a:r>
              <a:rPr lang="fr-FR" altLang="en-US" sz="2400" dirty="0"/>
              <a:t>. </a:t>
            </a:r>
            <a:r>
              <a:rPr lang="fr-FR" altLang="en-US" sz="2400" dirty="0" err="1"/>
              <a:t>Nếu</a:t>
            </a:r>
            <a:r>
              <a:rPr lang="fr-FR" altLang="en-US" sz="2400" dirty="0"/>
              <a:t> </a:t>
            </a:r>
            <a:r>
              <a:rPr lang="fr-FR" altLang="en-US" sz="2400" dirty="0" err="1"/>
              <a:t>không</a:t>
            </a:r>
            <a:r>
              <a:rPr lang="fr-FR" altLang="en-US" sz="2400" dirty="0"/>
              <a:t> </a:t>
            </a:r>
            <a:r>
              <a:rPr lang="fr-FR" altLang="en-US" sz="2400" dirty="0" err="1"/>
              <a:t>thấy</a:t>
            </a:r>
            <a:r>
              <a:rPr lang="fr-FR" altLang="en-US" sz="2400" dirty="0"/>
              <a:t>, </a:t>
            </a:r>
            <a:r>
              <a:rPr lang="fr-FR" altLang="en-US" sz="2400" dirty="0" err="1"/>
              <a:t>trả</a:t>
            </a:r>
            <a:r>
              <a:rPr lang="fr-FR" altLang="en-US" sz="2400" dirty="0"/>
              <a:t> </a:t>
            </a:r>
            <a:r>
              <a:rPr lang="fr-FR" altLang="en-US" sz="2400" dirty="0" err="1"/>
              <a:t>về</a:t>
            </a:r>
            <a:r>
              <a:rPr lang="fr-FR" altLang="en-US" sz="2400" dirty="0"/>
              <a:t> </a:t>
            </a:r>
            <a:r>
              <a:rPr lang="fr-FR" altLang="en-US" sz="2400" dirty="0" err="1"/>
              <a:t>giá</a:t>
            </a:r>
            <a:r>
              <a:rPr lang="fr-FR" altLang="en-US" sz="2400" dirty="0"/>
              <a:t> </a:t>
            </a:r>
            <a:r>
              <a:rPr lang="fr-FR" altLang="en-US" sz="2400" dirty="0" err="1"/>
              <a:t>trị</a:t>
            </a:r>
            <a:r>
              <a:rPr lang="fr-FR" altLang="en-US" sz="2400" dirty="0"/>
              <a:t> 0</a:t>
            </a:r>
          </a:p>
          <a:p>
            <a:pPr marL="290513" indent="-290513" eaLnBrk="1" hangingPunct="1">
              <a:lnSpc>
                <a:spcPct val="110000"/>
              </a:lnSpc>
            </a:pPr>
            <a:r>
              <a:rPr lang="fr-FR" altLang="en-US" sz="2800" b="1" dirty="0" err="1"/>
              <a:t>Function</a:t>
            </a:r>
            <a:r>
              <a:rPr lang="fr-FR" altLang="en-US" sz="2800" b="1" dirty="0"/>
              <a:t> </a:t>
            </a:r>
            <a:r>
              <a:rPr lang="fr-FR" altLang="en-US" sz="2800" b="1" dirty="0" err="1"/>
              <a:t>checkIdent</a:t>
            </a:r>
            <a:r>
              <a:rPr lang="fr-FR" altLang="en-US" sz="2800" b="1" dirty="0"/>
              <a:t>(char * Id) : </a:t>
            </a:r>
            <a:r>
              <a:rPr lang="fr-FR" altLang="en-US" sz="2800" b="1" dirty="0" err="1"/>
              <a:t>Boolean</a:t>
            </a:r>
            <a:r>
              <a:rPr lang="fr-FR" altLang="en-US" sz="2800" b="1" dirty="0"/>
              <a:t>;</a:t>
            </a:r>
          </a:p>
          <a:p>
            <a:pPr marL="855663" lvl="1" indent="-334963" eaLnBrk="1" hangingPunct="1">
              <a:lnSpc>
                <a:spcPct val="110000"/>
              </a:lnSpc>
            </a:pPr>
            <a:r>
              <a:rPr lang="fr-FR" altLang="en-US" sz="2400" dirty="0" err="1"/>
              <a:t>Kiểm</a:t>
            </a:r>
            <a:r>
              <a:rPr lang="fr-FR" altLang="en-US" sz="2400" dirty="0"/>
              <a:t> </a:t>
            </a:r>
            <a:r>
              <a:rPr lang="fr-FR" altLang="en-US" sz="2400" dirty="0" err="1"/>
              <a:t>tra</a:t>
            </a:r>
            <a:r>
              <a:rPr lang="fr-FR" altLang="en-US" sz="2400" dirty="0"/>
              <a:t> </a:t>
            </a:r>
            <a:r>
              <a:rPr lang="fr-FR" altLang="en-US" sz="2400" dirty="0" err="1"/>
              <a:t>tên</a:t>
            </a:r>
            <a:r>
              <a:rPr lang="fr-FR" altLang="en-US" sz="2400" dirty="0"/>
              <a:t> (Id) </a:t>
            </a:r>
            <a:r>
              <a:rPr lang="fr-FR" altLang="en-US" sz="2400" dirty="0" err="1"/>
              <a:t>đã</a:t>
            </a:r>
            <a:r>
              <a:rPr lang="fr-FR" altLang="en-US" sz="2400" dirty="0"/>
              <a:t> </a:t>
            </a:r>
            <a:r>
              <a:rPr lang="fr-FR" altLang="en-US" sz="2400" dirty="0" err="1"/>
              <a:t>được</a:t>
            </a:r>
            <a:r>
              <a:rPr lang="fr-FR" altLang="en-US" sz="2400" dirty="0"/>
              <a:t> </a:t>
            </a:r>
            <a:r>
              <a:rPr lang="fr-FR" altLang="en-US" sz="2400" dirty="0" err="1"/>
              <a:t>khai</a:t>
            </a:r>
            <a:r>
              <a:rPr lang="fr-FR" altLang="en-US" sz="2400" dirty="0"/>
              <a:t> </a:t>
            </a:r>
            <a:r>
              <a:rPr lang="fr-FR" altLang="en-US" sz="2400" dirty="0" err="1"/>
              <a:t>báo</a:t>
            </a:r>
            <a:r>
              <a:rPr lang="fr-FR" altLang="en-US" sz="2400" dirty="0"/>
              <a:t> </a:t>
            </a:r>
            <a:r>
              <a:rPr lang="fr-FR" altLang="en-US" sz="2400" dirty="0" err="1"/>
              <a:t>trong</a:t>
            </a:r>
            <a:r>
              <a:rPr lang="fr-FR" altLang="en-US" sz="2400" dirty="0"/>
              <a:t> </a:t>
            </a:r>
            <a:r>
              <a:rPr lang="fr-FR" altLang="en-US" sz="2400" dirty="0" err="1"/>
              <a:t>phạm</a:t>
            </a:r>
            <a:r>
              <a:rPr lang="fr-FR" altLang="en-US" sz="2400" dirty="0"/>
              <a:t> vi </a:t>
            </a:r>
            <a:r>
              <a:rPr lang="fr-FR" altLang="en-US" sz="2400" dirty="0" err="1"/>
              <a:t>chưa</a:t>
            </a:r>
            <a:endParaRPr lang="fr-FR" altLang="en-US" sz="2400" dirty="0"/>
          </a:p>
          <a:p>
            <a:pPr marL="455613" indent="-334963" eaLnBrk="1" hangingPunct="1">
              <a:lnSpc>
                <a:spcPct val="110000"/>
              </a:lnSpc>
            </a:pPr>
            <a:r>
              <a:rPr lang="fr-FR" altLang="en-US" sz="2800" b="1" dirty="0" err="1"/>
              <a:t>Function</a:t>
            </a:r>
            <a:r>
              <a:rPr lang="fr-FR" altLang="en-US" sz="2800" b="1" dirty="0"/>
              <a:t> </a:t>
            </a:r>
            <a:r>
              <a:rPr lang="fr-FR" altLang="en-US" sz="2800" b="1" dirty="0" err="1"/>
              <a:t>getKind</a:t>
            </a:r>
            <a:r>
              <a:rPr lang="fr-FR" altLang="en-US" sz="2800" b="1" dirty="0"/>
              <a:t>(</a:t>
            </a:r>
            <a:r>
              <a:rPr lang="fr-FR" altLang="en-US" sz="2800" b="1" dirty="0" err="1"/>
              <a:t>int</a:t>
            </a:r>
            <a:r>
              <a:rPr lang="fr-FR" altLang="en-US" sz="2800" b="1" dirty="0"/>
              <a:t> </a:t>
            </a:r>
            <a:r>
              <a:rPr lang="fr-FR" altLang="en-US" sz="2800" b="1" dirty="0" err="1"/>
              <a:t>idx</a:t>
            </a:r>
            <a:r>
              <a:rPr lang="fr-FR" altLang="en-US" sz="2800" b="1" dirty="0"/>
              <a:t>) : Object</a:t>
            </a:r>
          </a:p>
          <a:p>
            <a:pPr marL="855663" lvl="1" indent="-334963" eaLnBrk="1" hangingPunct="1">
              <a:lnSpc>
                <a:spcPct val="110000"/>
              </a:lnSpc>
            </a:pPr>
            <a:r>
              <a:rPr lang="fr-FR" altLang="en-US" sz="2400" dirty="0" err="1"/>
              <a:t>Trả</a:t>
            </a:r>
            <a:r>
              <a:rPr lang="fr-FR" altLang="en-US" sz="2400" dirty="0"/>
              <a:t> </a:t>
            </a:r>
            <a:r>
              <a:rPr lang="fr-FR" altLang="en-US" sz="2400" dirty="0" err="1"/>
              <a:t>về</a:t>
            </a:r>
            <a:r>
              <a:rPr lang="fr-FR" altLang="en-US" sz="2400" dirty="0"/>
              <a:t> </a:t>
            </a:r>
            <a:r>
              <a:rPr lang="fr-FR" altLang="en-US" sz="2400" dirty="0" err="1"/>
              <a:t>kiểu</a:t>
            </a:r>
            <a:r>
              <a:rPr lang="fr-FR" altLang="en-US" sz="2400" dirty="0"/>
              <a:t> </a:t>
            </a:r>
            <a:r>
              <a:rPr lang="fr-FR" altLang="en-US" sz="2400" dirty="0" err="1"/>
              <a:t>của</a:t>
            </a:r>
            <a:r>
              <a:rPr lang="fr-FR" altLang="en-US" sz="2400" dirty="0"/>
              <a:t> </a:t>
            </a:r>
            <a:r>
              <a:rPr lang="fr-FR" altLang="en-US" sz="2400" dirty="0" err="1"/>
              <a:t>danh</a:t>
            </a:r>
            <a:r>
              <a:rPr lang="fr-FR" altLang="en-US" sz="2400" dirty="0"/>
              <a:t> </a:t>
            </a:r>
            <a:r>
              <a:rPr lang="fr-FR" altLang="en-US" sz="2400" dirty="0" err="1"/>
              <a:t>biểu</a:t>
            </a:r>
            <a:r>
              <a:rPr lang="fr-FR" altLang="en-US" sz="2400" dirty="0"/>
              <a:t> </a:t>
            </a:r>
            <a:r>
              <a:rPr lang="fr-FR" altLang="en-US" sz="2400" dirty="0" err="1"/>
              <a:t>tại</a:t>
            </a:r>
            <a:r>
              <a:rPr lang="fr-FR" altLang="en-US" sz="2400" dirty="0"/>
              <a:t> </a:t>
            </a:r>
            <a:r>
              <a:rPr lang="fr-FR" altLang="en-US" sz="2400" dirty="0" err="1"/>
              <a:t>vj</a:t>
            </a:r>
            <a:r>
              <a:rPr lang="fr-FR" altLang="en-US" sz="2400" dirty="0"/>
              <a:t> </a:t>
            </a:r>
            <a:r>
              <a:rPr lang="fr-FR" altLang="en-US" sz="2400" dirty="0" err="1"/>
              <a:t>trí</a:t>
            </a:r>
            <a:r>
              <a:rPr lang="fr-FR" altLang="en-US" sz="2400" dirty="0"/>
              <a:t> </a:t>
            </a:r>
            <a:r>
              <a:rPr lang="fr-FR" altLang="en-US" sz="2400" dirty="0" err="1"/>
              <a:t>idx</a:t>
            </a:r>
            <a:endParaRPr lang="en-US" altLang="en-US" sz="2400" dirty="0"/>
          </a:p>
        </p:txBody>
      </p:sp>
      <p:sp>
        <p:nvSpPr>
          <p:cNvPr id="31749"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1683B2A2-B88D-4D87-9EA1-A5E20C7B3BAE}" type="slidenum">
              <a:rPr lang="en-US" altLang="en-US" sz="1400" b="0"/>
              <a:pPr/>
              <a:t>27</a:t>
            </a:fld>
            <a:endParaRPr lang="en-US" altLang="en-US" sz="1400" b="0"/>
          </a:p>
        </p:txBody>
      </p:sp>
      <p:sp>
        <p:nvSpPr>
          <p:cNvPr id="32771" name="Rectangle 2"/>
          <p:cNvSpPr>
            <a:spLocks noGrp="1" noChangeArrowheads="1"/>
          </p:cNvSpPr>
          <p:nvPr>
            <p:ph type="title"/>
          </p:nvPr>
        </p:nvSpPr>
        <p:spPr/>
        <p:txBody>
          <a:bodyPr/>
          <a:lstStyle/>
          <a:p>
            <a:pPr eaLnBrk="1" hangingPunct="1"/>
            <a:r>
              <a:rPr lang="en-US" altLang="en-US"/>
              <a:t>Ví dụ đơn giản</a:t>
            </a:r>
            <a:r>
              <a:rPr lang="en-US" altLang="en-US">
                <a:sym typeface="Symbol" panose="05050102010706020507" pitchFamily="18" charset="2"/>
              </a:rPr>
              <a:t>Khai báo</a:t>
            </a:r>
          </a:p>
        </p:txBody>
      </p:sp>
      <p:sp>
        <p:nvSpPr>
          <p:cNvPr id="32772"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sp>
        <p:nvSpPr>
          <p:cNvPr id="1744900" name="Text Box 4"/>
          <p:cNvSpPr txBox="1">
            <a:spLocks noChangeArrowheads="1"/>
          </p:cNvSpPr>
          <p:nvPr/>
        </p:nvSpPr>
        <p:spPr bwMode="auto">
          <a:xfrm>
            <a:off x="533400" y="2286000"/>
            <a:ext cx="8077200" cy="4483100"/>
          </a:xfrm>
          <a:prstGeom prst="rect">
            <a:avLst/>
          </a:prstGeom>
          <a:noFill/>
          <a:ln w="9525">
            <a:solidFill>
              <a:srgbClr val="27007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r>
              <a:rPr lang="fr-FR" altLang="en-US" sz="2400" b="0">
                <a:solidFill>
                  <a:srgbClr val="270076"/>
                </a:solidFill>
              </a:rPr>
              <a:t>void compileBlock( ){</a:t>
            </a:r>
          </a:p>
          <a:p>
            <a:pPr lvl="1" eaLnBrk="1" hangingPunct="1"/>
            <a:r>
              <a:rPr lang="fr-FR" altLang="en-US" sz="2400" b="0">
                <a:solidFill>
                  <a:srgbClr val="270076"/>
                </a:solidFill>
              </a:rPr>
              <a:t> …..</a:t>
            </a:r>
          </a:p>
          <a:p>
            <a:pPr lvl="1" eaLnBrk="1" hangingPunct="1"/>
            <a:r>
              <a:rPr lang="fr-FR" altLang="en-US" sz="2400" b="0">
                <a:solidFill>
                  <a:srgbClr val="270076"/>
                </a:solidFill>
              </a:rPr>
              <a:t> if(Token==VAR){</a:t>
            </a:r>
          </a:p>
          <a:p>
            <a:pPr lvl="1" eaLnBrk="1" hangingPunct="1"/>
            <a:r>
              <a:rPr lang="fr-FR" altLang="en-US" sz="2400" b="0">
                <a:solidFill>
                  <a:srgbClr val="270076"/>
                </a:solidFill>
              </a:rPr>
              <a:t>      Token = getToken();</a:t>
            </a:r>
          </a:p>
          <a:p>
            <a:pPr lvl="1" eaLnBrk="1" hangingPunct="1"/>
            <a:r>
              <a:rPr lang="fr-FR" altLang="en-US" sz="2400" b="0">
                <a:solidFill>
                  <a:srgbClr val="270076"/>
                </a:solidFill>
              </a:rPr>
              <a:t>	 compileDeclareVariable</a:t>
            </a:r>
            <a:r>
              <a:rPr lang="fr-FR" altLang="en-US" sz="2400">
                <a:solidFill>
                  <a:srgbClr val="270076"/>
                </a:solidFill>
              </a:rPr>
              <a:t> </a:t>
            </a:r>
            <a:r>
              <a:rPr lang="fr-FR" altLang="en-US" sz="2400" b="0">
                <a:solidFill>
                  <a:srgbClr val="270076"/>
                </a:solidFill>
              </a:rPr>
              <a:t>();</a:t>
            </a:r>
          </a:p>
          <a:p>
            <a:pPr lvl="1" eaLnBrk="1" hangingPunct="1"/>
            <a:r>
              <a:rPr lang="fr-FR" altLang="en-US" sz="2400" b="0">
                <a:solidFill>
                  <a:srgbClr val="270076"/>
                </a:solidFill>
              </a:rPr>
              <a:t>	 while(Token == COMMA) {</a:t>
            </a:r>
          </a:p>
          <a:p>
            <a:pPr lvl="1" eaLnBrk="1" hangingPunct="1"/>
            <a:r>
              <a:rPr lang="fr-FR" altLang="en-US" sz="2400" b="0">
                <a:solidFill>
                  <a:srgbClr val="270076"/>
                </a:solidFill>
              </a:rPr>
              <a:t>		Token = getToken();</a:t>
            </a:r>
          </a:p>
          <a:p>
            <a:pPr lvl="1" eaLnBrk="1" hangingPunct="1"/>
            <a:r>
              <a:rPr lang="fr-FR" altLang="en-US" sz="2400" b="0">
                <a:solidFill>
                  <a:srgbClr val="270076"/>
                </a:solidFill>
              </a:rPr>
              <a:t>		compileDeclareVariable</a:t>
            </a:r>
            <a:r>
              <a:rPr lang="fr-FR" altLang="en-US" sz="2400">
                <a:solidFill>
                  <a:srgbClr val="270076"/>
                </a:solidFill>
              </a:rPr>
              <a:t> </a:t>
            </a:r>
            <a:r>
              <a:rPr lang="fr-FR" altLang="en-US" sz="2400" b="0">
                <a:solidFill>
                  <a:srgbClr val="270076"/>
                </a:solidFill>
              </a:rPr>
              <a:t>();</a:t>
            </a:r>
          </a:p>
          <a:p>
            <a:pPr lvl="1" eaLnBrk="1" hangingPunct="1"/>
            <a:r>
              <a:rPr lang="fr-FR" altLang="en-US" sz="2400" b="0">
                <a:solidFill>
                  <a:srgbClr val="270076"/>
                </a:solidFill>
              </a:rPr>
              <a:t>      };</a:t>
            </a:r>
          </a:p>
          <a:p>
            <a:pPr lvl="1" eaLnBrk="1" hangingPunct="1"/>
            <a:r>
              <a:rPr lang="fr-FR" altLang="en-US" sz="2400" b="0">
                <a:solidFill>
                  <a:srgbClr val="270076"/>
                </a:solidFill>
              </a:rPr>
              <a:t>    }</a:t>
            </a:r>
          </a:p>
          <a:p>
            <a:pPr lvl="1" eaLnBrk="1" hangingPunct="1"/>
            <a:r>
              <a:rPr lang="fr-FR" altLang="en-US" sz="2400" b="0">
                <a:solidFill>
                  <a:srgbClr val="270076"/>
                </a:solidFill>
              </a:rPr>
              <a:t>   ….</a:t>
            </a:r>
          </a:p>
          <a:p>
            <a:pPr eaLnBrk="1" hangingPunct="1"/>
            <a:r>
              <a:rPr lang="fr-FR" altLang="en-US" sz="2400" b="0">
                <a:solidFill>
                  <a:srgbClr val="270076"/>
                </a:solidFill>
              </a:rPr>
              <a:t>}</a:t>
            </a:r>
            <a:endParaRPr lang="en-US" altLang="en-US" sz="2400" b="0">
              <a:solidFill>
                <a:srgbClr val="270076"/>
              </a:solidFill>
            </a:endParaRPr>
          </a:p>
        </p:txBody>
      </p:sp>
      <p:grpSp>
        <p:nvGrpSpPr>
          <p:cNvPr id="32774" name="Group 39"/>
          <p:cNvGrpSpPr>
            <a:grpSpLocks/>
          </p:cNvGrpSpPr>
          <p:nvPr/>
        </p:nvGrpSpPr>
        <p:grpSpPr bwMode="auto">
          <a:xfrm>
            <a:off x="457200" y="838200"/>
            <a:ext cx="7924800" cy="1314450"/>
            <a:chOff x="288" y="612"/>
            <a:chExt cx="4992" cy="828"/>
          </a:xfrm>
        </p:grpSpPr>
        <p:sp>
          <p:nvSpPr>
            <p:cNvPr id="32775" name="Line 5"/>
            <p:cNvSpPr>
              <a:spLocks noChangeShapeType="1"/>
            </p:cNvSpPr>
            <p:nvPr/>
          </p:nvSpPr>
          <p:spPr bwMode="auto">
            <a:xfrm>
              <a:off x="318" y="768"/>
              <a:ext cx="23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2776" name="Group 6"/>
            <p:cNvGrpSpPr>
              <a:grpSpLocks/>
            </p:cNvGrpSpPr>
            <p:nvPr/>
          </p:nvGrpSpPr>
          <p:grpSpPr bwMode="auto">
            <a:xfrm>
              <a:off x="558" y="645"/>
              <a:ext cx="585" cy="240"/>
              <a:chOff x="2907" y="3883"/>
              <a:chExt cx="954" cy="525"/>
            </a:xfrm>
          </p:grpSpPr>
          <p:sp>
            <p:nvSpPr>
              <p:cNvPr id="32805" name="AutoShape 7"/>
              <p:cNvSpPr>
                <a:spLocks noChangeArrowheads="1"/>
              </p:cNvSpPr>
              <p:nvPr/>
            </p:nvSpPr>
            <p:spPr bwMode="auto">
              <a:xfrm>
                <a:off x="2907" y="3883"/>
                <a:ext cx="954" cy="472"/>
              </a:xfrm>
              <a:prstGeom prst="roundRect">
                <a:avLst>
                  <a:gd name="adj" fmla="val 50000"/>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32806" name="Text Box 8"/>
              <p:cNvSpPr txBox="1">
                <a:spLocks noChangeArrowheads="1"/>
              </p:cNvSpPr>
              <p:nvPr/>
            </p:nvSpPr>
            <p:spPr bwMode="auto">
              <a:xfrm>
                <a:off x="2961" y="3964"/>
                <a:ext cx="900" cy="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r>
                  <a:rPr lang="fr-FR" altLang="en-US" sz="1800"/>
                  <a:t>VAR</a:t>
                </a:r>
              </a:p>
            </p:txBody>
          </p:sp>
        </p:grpSp>
        <p:sp>
          <p:nvSpPr>
            <p:cNvPr id="32777" name="Line 9"/>
            <p:cNvSpPr>
              <a:spLocks noChangeShapeType="1"/>
            </p:cNvSpPr>
            <p:nvPr/>
          </p:nvSpPr>
          <p:spPr bwMode="auto">
            <a:xfrm>
              <a:off x="1152" y="768"/>
              <a:ext cx="48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2778" name="Group 10"/>
            <p:cNvGrpSpPr>
              <a:grpSpLocks/>
            </p:cNvGrpSpPr>
            <p:nvPr/>
          </p:nvGrpSpPr>
          <p:grpSpPr bwMode="auto">
            <a:xfrm>
              <a:off x="1632" y="654"/>
              <a:ext cx="528" cy="219"/>
              <a:chOff x="2256" y="2064"/>
              <a:chExt cx="528" cy="219"/>
            </a:xfrm>
          </p:grpSpPr>
          <p:sp>
            <p:nvSpPr>
              <p:cNvPr id="32803" name="AutoShape 11"/>
              <p:cNvSpPr>
                <a:spLocks noChangeArrowheads="1"/>
              </p:cNvSpPr>
              <p:nvPr/>
            </p:nvSpPr>
            <p:spPr bwMode="auto">
              <a:xfrm>
                <a:off x="2256" y="2064"/>
                <a:ext cx="528" cy="219"/>
              </a:xfrm>
              <a:prstGeom prst="roundRect">
                <a:avLst>
                  <a:gd name="adj" fmla="val 50000"/>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32804" name="Text Box 12"/>
              <p:cNvSpPr txBox="1">
                <a:spLocks noChangeArrowheads="1"/>
              </p:cNvSpPr>
              <p:nvPr/>
            </p:nvSpPr>
            <p:spPr bwMode="auto">
              <a:xfrm>
                <a:off x="2283" y="2085"/>
                <a:ext cx="47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r>
                  <a:rPr lang="fr-FR" altLang="en-US" sz="2000" b="0"/>
                  <a:t>Ident</a:t>
                </a:r>
                <a:endParaRPr lang="fr-FR" altLang="en-US" sz="2000"/>
              </a:p>
            </p:txBody>
          </p:sp>
        </p:grpSp>
        <p:grpSp>
          <p:nvGrpSpPr>
            <p:cNvPr id="32779" name="Group 13"/>
            <p:cNvGrpSpPr>
              <a:grpSpLocks/>
            </p:cNvGrpSpPr>
            <p:nvPr/>
          </p:nvGrpSpPr>
          <p:grpSpPr bwMode="auto">
            <a:xfrm>
              <a:off x="2627" y="642"/>
              <a:ext cx="232" cy="240"/>
              <a:chOff x="2016" y="2334"/>
              <a:chExt cx="232" cy="240"/>
            </a:xfrm>
          </p:grpSpPr>
          <p:sp>
            <p:nvSpPr>
              <p:cNvPr id="32801" name="Text Box 14"/>
              <p:cNvSpPr txBox="1">
                <a:spLocks noChangeArrowheads="1"/>
              </p:cNvSpPr>
              <p:nvPr/>
            </p:nvSpPr>
            <p:spPr bwMode="auto">
              <a:xfrm>
                <a:off x="2044" y="2334"/>
                <a:ext cx="173"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tIns="10800"/>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r>
                  <a:rPr lang="fr-FR" altLang="en-US" sz="2000" b="0"/>
                  <a:t>[</a:t>
                </a:r>
              </a:p>
            </p:txBody>
          </p:sp>
          <p:sp>
            <p:nvSpPr>
              <p:cNvPr id="32802" name="Oval 15"/>
              <p:cNvSpPr>
                <a:spLocks noChangeArrowheads="1"/>
              </p:cNvSpPr>
              <p:nvPr/>
            </p:nvSpPr>
            <p:spPr bwMode="auto">
              <a:xfrm>
                <a:off x="2016" y="2358"/>
                <a:ext cx="232" cy="216"/>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tIns="10800"/>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grpSp>
        <p:grpSp>
          <p:nvGrpSpPr>
            <p:cNvPr id="32780" name="Group 16"/>
            <p:cNvGrpSpPr>
              <a:grpSpLocks/>
            </p:cNvGrpSpPr>
            <p:nvPr/>
          </p:nvGrpSpPr>
          <p:grpSpPr bwMode="auto">
            <a:xfrm>
              <a:off x="4115" y="642"/>
              <a:ext cx="232" cy="240"/>
              <a:chOff x="2016" y="2334"/>
              <a:chExt cx="232" cy="240"/>
            </a:xfrm>
          </p:grpSpPr>
          <p:sp>
            <p:nvSpPr>
              <p:cNvPr id="32799" name="Text Box 17"/>
              <p:cNvSpPr txBox="1">
                <a:spLocks noChangeArrowheads="1"/>
              </p:cNvSpPr>
              <p:nvPr/>
            </p:nvSpPr>
            <p:spPr bwMode="auto">
              <a:xfrm>
                <a:off x="2044" y="2334"/>
                <a:ext cx="173"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tIns="10800"/>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r>
                  <a:rPr lang="fr-FR" altLang="en-US" sz="2000" b="0"/>
                  <a:t>]</a:t>
                </a:r>
              </a:p>
            </p:txBody>
          </p:sp>
          <p:sp>
            <p:nvSpPr>
              <p:cNvPr id="32800" name="Oval 18"/>
              <p:cNvSpPr>
                <a:spLocks noChangeArrowheads="1"/>
              </p:cNvSpPr>
              <p:nvPr/>
            </p:nvSpPr>
            <p:spPr bwMode="auto">
              <a:xfrm>
                <a:off x="2016" y="2358"/>
                <a:ext cx="232" cy="216"/>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tIns="10800"/>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grpSp>
        <p:grpSp>
          <p:nvGrpSpPr>
            <p:cNvPr id="32781" name="Group 19"/>
            <p:cNvGrpSpPr>
              <a:grpSpLocks/>
            </p:cNvGrpSpPr>
            <p:nvPr/>
          </p:nvGrpSpPr>
          <p:grpSpPr bwMode="auto">
            <a:xfrm>
              <a:off x="3152" y="660"/>
              <a:ext cx="672" cy="240"/>
              <a:chOff x="3216" y="2064"/>
              <a:chExt cx="672" cy="240"/>
            </a:xfrm>
          </p:grpSpPr>
          <p:sp>
            <p:nvSpPr>
              <p:cNvPr id="32797" name="AutoShape 20"/>
              <p:cNvSpPr>
                <a:spLocks noChangeArrowheads="1"/>
              </p:cNvSpPr>
              <p:nvPr/>
            </p:nvSpPr>
            <p:spPr bwMode="auto">
              <a:xfrm>
                <a:off x="3216" y="2064"/>
                <a:ext cx="672" cy="240"/>
              </a:xfrm>
              <a:prstGeom prst="roundRect">
                <a:avLst>
                  <a:gd name="adj" fmla="val 50000"/>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32798" name="Text Box 21"/>
              <p:cNvSpPr txBox="1">
                <a:spLocks noChangeArrowheads="1"/>
              </p:cNvSpPr>
              <p:nvPr/>
            </p:nvSpPr>
            <p:spPr bwMode="auto">
              <a:xfrm>
                <a:off x="3237" y="2098"/>
                <a:ext cx="643"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r>
                  <a:rPr lang="fr-FR" altLang="en-US" sz="2000" b="0"/>
                  <a:t>Number</a:t>
                </a:r>
                <a:endParaRPr lang="fr-FR" altLang="en-US" sz="2000"/>
              </a:p>
            </p:txBody>
          </p:sp>
        </p:grpSp>
        <p:sp>
          <p:nvSpPr>
            <p:cNvPr id="32782" name="Line 22"/>
            <p:cNvSpPr>
              <a:spLocks noChangeShapeType="1"/>
            </p:cNvSpPr>
            <p:nvPr/>
          </p:nvSpPr>
          <p:spPr bwMode="auto">
            <a:xfrm>
              <a:off x="2867" y="786"/>
              <a:ext cx="28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83" name="Line 23"/>
            <p:cNvSpPr>
              <a:spLocks noChangeShapeType="1"/>
            </p:cNvSpPr>
            <p:nvPr/>
          </p:nvSpPr>
          <p:spPr bwMode="auto">
            <a:xfrm>
              <a:off x="3827" y="786"/>
              <a:ext cx="28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84" name="Line 24"/>
            <p:cNvSpPr>
              <a:spLocks noChangeShapeType="1"/>
            </p:cNvSpPr>
            <p:nvPr/>
          </p:nvSpPr>
          <p:spPr bwMode="auto">
            <a:xfrm>
              <a:off x="2160" y="768"/>
              <a:ext cx="48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2785" name="Group 25"/>
            <p:cNvGrpSpPr>
              <a:grpSpLocks/>
            </p:cNvGrpSpPr>
            <p:nvPr/>
          </p:nvGrpSpPr>
          <p:grpSpPr bwMode="auto">
            <a:xfrm>
              <a:off x="720" y="1200"/>
              <a:ext cx="232" cy="240"/>
              <a:chOff x="2016" y="2334"/>
              <a:chExt cx="232" cy="240"/>
            </a:xfrm>
          </p:grpSpPr>
          <p:sp>
            <p:nvSpPr>
              <p:cNvPr id="32795" name="Text Box 26"/>
              <p:cNvSpPr txBox="1">
                <a:spLocks noChangeArrowheads="1"/>
              </p:cNvSpPr>
              <p:nvPr/>
            </p:nvSpPr>
            <p:spPr bwMode="auto">
              <a:xfrm>
                <a:off x="2044" y="2334"/>
                <a:ext cx="173"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tIns="10800"/>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r>
                  <a:rPr lang="fr-FR" altLang="en-US" sz="2000"/>
                  <a:t>;</a:t>
                </a:r>
              </a:p>
            </p:txBody>
          </p:sp>
          <p:sp>
            <p:nvSpPr>
              <p:cNvPr id="32796" name="Oval 27"/>
              <p:cNvSpPr>
                <a:spLocks noChangeArrowheads="1"/>
              </p:cNvSpPr>
              <p:nvPr/>
            </p:nvSpPr>
            <p:spPr bwMode="auto">
              <a:xfrm>
                <a:off x="2016" y="2358"/>
                <a:ext cx="232" cy="216"/>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tIns="10800"/>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grpSp>
        <p:sp>
          <p:nvSpPr>
            <p:cNvPr id="32786" name="Line 28"/>
            <p:cNvSpPr>
              <a:spLocks noChangeShapeType="1"/>
            </p:cNvSpPr>
            <p:nvPr/>
          </p:nvSpPr>
          <p:spPr bwMode="auto">
            <a:xfrm flipH="1">
              <a:off x="288" y="1326"/>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87" name="Line 29"/>
            <p:cNvSpPr>
              <a:spLocks noChangeShapeType="1"/>
            </p:cNvSpPr>
            <p:nvPr/>
          </p:nvSpPr>
          <p:spPr bwMode="auto">
            <a:xfrm flipV="1">
              <a:off x="1458" y="768"/>
              <a:ext cx="0" cy="17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2788" name="Group 30"/>
            <p:cNvGrpSpPr>
              <a:grpSpLocks/>
            </p:cNvGrpSpPr>
            <p:nvPr/>
          </p:nvGrpSpPr>
          <p:grpSpPr bwMode="auto">
            <a:xfrm>
              <a:off x="1344" y="912"/>
              <a:ext cx="232" cy="240"/>
              <a:chOff x="2016" y="2334"/>
              <a:chExt cx="232" cy="240"/>
            </a:xfrm>
          </p:grpSpPr>
          <p:sp>
            <p:nvSpPr>
              <p:cNvPr id="32793" name="Text Box 31"/>
              <p:cNvSpPr txBox="1">
                <a:spLocks noChangeArrowheads="1"/>
              </p:cNvSpPr>
              <p:nvPr/>
            </p:nvSpPr>
            <p:spPr bwMode="auto">
              <a:xfrm>
                <a:off x="2044" y="2334"/>
                <a:ext cx="173"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tIns="10800"/>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r>
                  <a:rPr lang="fr-FR" altLang="en-US" sz="2000"/>
                  <a:t>,</a:t>
                </a:r>
              </a:p>
            </p:txBody>
          </p:sp>
          <p:sp>
            <p:nvSpPr>
              <p:cNvPr id="32794" name="Oval 32"/>
              <p:cNvSpPr>
                <a:spLocks noChangeArrowheads="1"/>
              </p:cNvSpPr>
              <p:nvPr/>
            </p:nvSpPr>
            <p:spPr bwMode="auto">
              <a:xfrm>
                <a:off x="2016" y="2358"/>
                <a:ext cx="232" cy="216"/>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tIns="10800"/>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grpSp>
        <p:sp>
          <p:nvSpPr>
            <p:cNvPr id="32789" name="Line 33"/>
            <p:cNvSpPr>
              <a:spLocks noChangeShapeType="1"/>
            </p:cNvSpPr>
            <p:nvPr/>
          </p:nvSpPr>
          <p:spPr bwMode="auto">
            <a:xfrm flipV="1">
              <a:off x="1458" y="1152"/>
              <a:ext cx="0" cy="19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90" name="Freeform 34"/>
            <p:cNvSpPr>
              <a:spLocks/>
            </p:cNvSpPr>
            <p:nvPr/>
          </p:nvSpPr>
          <p:spPr bwMode="auto">
            <a:xfrm>
              <a:off x="960" y="768"/>
              <a:ext cx="4320" cy="576"/>
            </a:xfrm>
            <a:custGeom>
              <a:avLst/>
              <a:gdLst>
                <a:gd name="T0" fmla="*/ 3408 w 4320"/>
                <a:gd name="T1" fmla="*/ 0 h 576"/>
                <a:gd name="T2" fmla="*/ 4320 w 4320"/>
                <a:gd name="T3" fmla="*/ 0 h 576"/>
                <a:gd name="T4" fmla="*/ 4320 w 4320"/>
                <a:gd name="T5" fmla="*/ 576 h 576"/>
                <a:gd name="T6" fmla="*/ 0 w 4320"/>
                <a:gd name="T7" fmla="*/ 576 h 5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20" h="576">
                  <a:moveTo>
                    <a:pt x="3408" y="0"/>
                  </a:moveTo>
                  <a:lnTo>
                    <a:pt x="4320" y="0"/>
                  </a:lnTo>
                  <a:lnTo>
                    <a:pt x="4320" y="576"/>
                  </a:lnTo>
                  <a:lnTo>
                    <a:pt x="0" y="576"/>
                  </a:lnTo>
                </a:path>
              </a:pathLst>
            </a:custGeom>
            <a:noFill/>
            <a:ln w="19050"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91" name="Freeform 35"/>
            <p:cNvSpPr>
              <a:spLocks/>
            </p:cNvSpPr>
            <p:nvPr/>
          </p:nvSpPr>
          <p:spPr bwMode="auto">
            <a:xfrm>
              <a:off x="2400" y="768"/>
              <a:ext cx="2256" cy="336"/>
            </a:xfrm>
            <a:custGeom>
              <a:avLst/>
              <a:gdLst>
                <a:gd name="T0" fmla="*/ 0 w 2256"/>
                <a:gd name="T1" fmla="*/ 0 h 336"/>
                <a:gd name="T2" fmla="*/ 0 w 2256"/>
                <a:gd name="T3" fmla="*/ 336 h 336"/>
                <a:gd name="T4" fmla="*/ 2256 w 2256"/>
                <a:gd name="T5" fmla="*/ 336 h 336"/>
                <a:gd name="T6" fmla="*/ 2256 w 2256"/>
                <a:gd name="T7" fmla="*/ 0 h 3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56" h="336">
                  <a:moveTo>
                    <a:pt x="0" y="0"/>
                  </a:moveTo>
                  <a:lnTo>
                    <a:pt x="0" y="336"/>
                  </a:lnTo>
                  <a:lnTo>
                    <a:pt x="2256" y="336"/>
                  </a:lnTo>
                  <a:lnTo>
                    <a:pt x="2256" y="0"/>
                  </a:lnTo>
                </a:path>
              </a:pathLst>
            </a:custGeom>
            <a:noFill/>
            <a:ln w="19050"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92" name="Line 38"/>
            <p:cNvSpPr>
              <a:spLocks noChangeShapeType="1"/>
            </p:cNvSpPr>
            <p:nvPr/>
          </p:nvSpPr>
          <p:spPr bwMode="auto">
            <a:xfrm>
              <a:off x="306" y="612"/>
              <a:ext cx="0" cy="81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744900"/>
                                        </p:tgtEl>
                                        <p:attrNameLst>
                                          <p:attrName>style.visibility</p:attrName>
                                        </p:attrNameLst>
                                      </p:cBhvr>
                                      <p:to>
                                        <p:strVal val="visible"/>
                                      </p:to>
                                    </p:set>
                                    <p:animEffect transition="in" filter="checkerboard(across)">
                                      <p:cBhvr>
                                        <p:cTn id="7" dur="500"/>
                                        <p:tgtEl>
                                          <p:spTgt spid="1744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490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5B939B84-9AA3-4DC2-BC56-94AB27D209C3}" type="slidenum">
              <a:rPr lang="en-US" altLang="en-US" sz="1400" b="0"/>
              <a:pPr/>
              <a:t>28</a:t>
            </a:fld>
            <a:endParaRPr lang="en-US" altLang="en-US" sz="1400" b="0"/>
          </a:p>
        </p:txBody>
      </p:sp>
      <p:sp>
        <p:nvSpPr>
          <p:cNvPr id="33795" name="Rectangle 2"/>
          <p:cNvSpPr>
            <a:spLocks noGrp="1" noChangeArrowheads="1"/>
          </p:cNvSpPr>
          <p:nvPr>
            <p:ph type="title"/>
          </p:nvPr>
        </p:nvSpPr>
        <p:spPr/>
        <p:txBody>
          <a:bodyPr/>
          <a:lstStyle/>
          <a:p>
            <a:pPr eaLnBrk="1" hangingPunct="1"/>
            <a:r>
              <a:rPr lang="en-US" altLang="en-US"/>
              <a:t>Ví dụ đơn giản</a:t>
            </a:r>
            <a:r>
              <a:rPr lang="en-US" altLang="en-US">
                <a:sym typeface="Symbol" panose="05050102010706020507" pitchFamily="18" charset="2"/>
              </a:rPr>
              <a:t>Khai báo</a:t>
            </a:r>
          </a:p>
        </p:txBody>
      </p:sp>
      <p:sp>
        <p:nvSpPr>
          <p:cNvPr id="33796"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sp>
        <p:nvSpPr>
          <p:cNvPr id="1708038" name="Rectangle 6"/>
          <p:cNvSpPr>
            <a:spLocks noChangeArrowheads="1"/>
          </p:cNvSpPr>
          <p:nvPr/>
        </p:nvSpPr>
        <p:spPr bwMode="auto">
          <a:xfrm>
            <a:off x="304800" y="990600"/>
            <a:ext cx="8686800" cy="5715000"/>
          </a:xfrm>
          <a:prstGeom prst="rect">
            <a:avLst/>
          </a:prstGeom>
          <a:noFill/>
          <a:ln w="9525">
            <a:solidFill>
              <a:srgbClr val="27007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lstStyle>
            <a:lvl1pPr marL="290513" indent="-290513">
              <a:spcBef>
                <a:spcPct val="20000"/>
              </a:spcBef>
              <a:buChar char="•"/>
              <a:defRPr sz="3200">
                <a:solidFill>
                  <a:srgbClr val="270076"/>
                </a:solidFill>
                <a:latin typeface="Arial" panose="020B0604020202020204" pitchFamily="34" charset="0"/>
              </a:defRPr>
            </a:lvl1pPr>
            <a:lvl2pPr marL="855663" indent="-334963">
              <a:spcBef>
                <a:spcPct val="20000"/>
              </a:spcBef>
              <a:buChar char="–"/>
              <a:defRPr sz="2800">
                <a:solidFill>
                  <a:srgbClr val="270076"/>
                </a:solidFill>
                <a:latin typeface="Arial" panose="020B0604020202020204" pitchFamily="34" charset="0"/>
              </a:defRPr>
            </a:lvl2pPr>
            <a:lvl3pPr marL="1314450" indent="-228600">
              <a:spcBef>
                <a:spcPct val="20000"/>
              </a:spcBef>
              <a:buChar char="•"/>
              <a:defRPr sz="2400">
                <a:solidFill>
                  <a:srgbClr val="270076"/>
                </a:solidFill>
                <a:latin typeface="Arial" panose="020B0604020202020204" pitchFamily="34" charset="0"/>
              </a:defRPr>
            </a:lvl3pPr>
            <a:lvl4pPr marL="1657350" indent="-228600">
              <a:spcBef>
                <a:spcPct val="20000"/>
              </a:spcBef>
              <a:buChar char="–"/>
              <a:defRPr sz="2000">
                <a:solidFill>
                  <a:srgbClr val="270076"/>
                </a:solidFill>
                <a:latin typeface="Arial" panose="020B0604020202020204" pitchFamily="34" charset="0"/>
              </a:defRPr>
            </a:lvl4pPr>
            <a:lvl5pPr marL="2057400" indent="-228600">
              <a:spcBef>
                <a:spcPct val="20000"/>
              </a:spcBef>
              <a:buChar char="»"/>
              <a:defRPr sz="2000">
                <a:solidFill>
                  <a:srgbClr val="270076"/>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270076"/>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270076"/>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270076"/>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270076"/>
                </a:solidFill>
                <a:latin typeface="Arial" panose="020B0604020202020204" pitchFamily="34" charset="0"/>
              </a:defRPr>
            </a:lvl9pPr>
          </a:lstStyle>
          <a:p>
            <a:pPr eaLnBrk="1" hangingPunct="1">
              <a:spcBef>
                <a:spcPct val="10000"/>
              </a:spcBef>
              <a:buFontTx/>
              <a:buNone/>
            </a:pPr>
            <a:r>
              <a:rPr lang="fr-FR" altLang="en-US" sz="2800" b="0"/>
              <a:t>void compileDeclareVariable(void){</a:t>
            </a:r>
          </a:p>
          <a:p>
            <a:pPr eaLnBrk="1" hangingPunct="1">
              <a:buFontTx/>
              <a:buNone/>
            </a:pPr>
            <a:r>
              <a:rPr lang="fr-FR" altLang="en-US" sz="2800" b="0"/>
              <a:t>	if(Token==IDENT){</a:t>
            </a:r>
          </a:p>
          <a:p>
            <a:pPr eaLnBrk="1" hangingPunct="1">
              <a:buFontTx/>
              <a:buNone/>
            </a:pPr>
            <a:r>
              <a:rPr lang="fr-FR" altLang="en-US" sz="2800" b="0"/>
              <a:t>		</a:t>
            </a:r>
            <a:r>
              <a:rPr lang="fr-FR" altLang="en-US" sz="2800" b="0">
                <a:solidFill>
                  <a:srgbClr val="FA0617"/>
                </a:solidFill>
              </a:rPr>
              <a:t>if(CheckIdent(Id) == 0)	Enter(Id,Variable);</a:t>
            </a:r>
            <a:r>
              <a:rPr lang="fr-FR" altLang="en-US" sz="2800" b="0"/>
              <a:t>	</a:t>
            </a:r>
          </a:p>
          <a:p>
            <a:pPr eaLnBrk="1" hangingPunct="1">
              <a:buFontTx/>
              <a:buNone/>
            </a:pPr>
            <a:r>
              <a:rPr lang="fr-FR" altLang="en-US" sz="2800" b="0"/>
              <a:t>		Else  Error();//Trung ten	</a:t>
            </a:r>
          </a:p>
          <a:p>
            <a:pPr eaLnBrk="1" hangingPunct="1">
              <a:buFontTx/>
              <a:buNone/>
            </a:pPr>
            <a:r>
              <a:rPr lang="fr-FR" altLang="en-US" sz="2800" b="0"/>
              <a:t>		Token = getToken();</a:t>
            </a:r>
          </a:p>
          <a:p>
            <a:pPr eaLnBrk="1" hangingPunct="1">
              <a:buFontTx/>
              <a:buNone/>
            </a:pPr>
            <a:r>
              <a:rPr lang="fr-FR" altLang="en-US" sz="2800" b="0"/>
              <a:t>		if(Token == LBRACK){</a:t>
            </a:r>
          </a:p>
          <a:p>
            <a:pPr eaLnBrk="1" hangingPunct="1">
              <a:buFontTx/>
              <a:buNone/>
            </a:pPr>
            <a:r>
              <a:rPr lang="fr-FR" altLang="en-US" sz="2800" b="0"/>
              <a:t>			……..</a:t>
            </a:r>
          </a:p>
          <a:p>
            <a:pPr eaLnBrk="1" hangingPunct="1">
              <a:buFontTx/>
              <a:buNone/>
            </a:pPr>
            <a:r>
              <a:rPr lang="fr-FR" altLang="en-US" sz="2800" b="0"/>
              <a:t>		}</a:t>
            </a:r>
          </a:p>
          <a:p>
            <a:pPr eaLnBrk="1" hangingPunct="1">
              <a:buFontTx/>
              <a:buNone/>
            </a:pPr>
            <a:r>
              <a:rPr lang="fr-FR" altLang="en-US" sz="2800" b="0"/>
              <a:t>		}else Error(19);//Thieu ten bien</a:t>
            </a:r>
          </a:p>
          <a:p>
            <a:pPr eaLnBrk="1" hangingPunct="1">
              <a:buFontTx/>
              <a:buNone/>
            </a:pPr>
            <a:r>
              <a:rPr lang="fr-FR" altLang="en-US" sz="2800" b="0"/>
              <a:t>	}</a:t>
            </a:r>
          </a:p>
          <a:p>
            <a:pPr eaLnBrk="1" hangingPunct="1">
              <a:spcBef>
                <a:spcPct val="10000"/>
              </a:spcBef>
              <a:buFontTx/>
              <a:buNone/>
            </a:pPr>
            <a:r>
              <a:rPr lang="fr-FR" altLang="en-US" sz="2800" b="0"/>
              <a:t>}</a:t>
            </a:r>
            <a:endParaRPr lang="en-US" altLang="en-US" sz="2800"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08038"/>
                                        </p:tgtEl>
                                        <p:attrNameLst>
                                          <p:attrName>style.visibility</p:attrName>
                                        </p:attrNameLst>
                                      </p:cBhvr>
                                      <p:to>
                                        <p:strVal val="visible"/>
                                      </p:to>
                                    </p:set>
                                    <p:animEffect transition="in" filter="dissolve">
                                      <p:cBhvr>
                                        <p:cTn id="7" dur="500"/>
                                        <p:tgtEl>
                                          <p:spTgt spid="1708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803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E2EA211A-C6D6-46BC-A071-BD7225EAF878}" type="slidenum">
              <a:rPr lang="en-US" altLang="en-US" sz="1400" b="0"/>
              <a:pPr/>
              <a:t>29</a:t>
            </a:fld>
            <a:endParaRPr lang="en-US" altLang="en-US" sz="1400" b="0"/>
          </a:p>
        </p:txBody>
      </p:sp>
      <p:sp>
        <p:nvSpPr>
          <p:cNvPr id="34819" name="Rectangle 2"/>
          <p:cNvSpPr>
            <a:spLocks noGrp="1" noChangeArrowheads="1"/>
          </p:cNvSpPr>
          <p:nvPr>
            <p:ph type="title"/>
          </p:nvPr>
        </p:nvSpPr>
        <p:spPr/>
        <p:txBody>
          <a:bodyPr/>
          <a:lstStyle/>
          <a:p>
            <a:pPr eaLnBrk="1" hangingPunct="1"/>
            <a:r>
              <a:rPr lang="en-US" altLang="en-US"/>
              <a:t>Ví dụ đơn giản</a:t>
            </a:r>
            <a:r>
              <a:rPr lang="en-US" altLang="en-US">
                <a:sym typeface="Symbol" panose="05050102010706020507" pitchFamily="18" charset="2"/>
              </a:rPr>
              <a:t>Sử dụng</a:t>
            </a:r>
          </a:p>
        </p:txBody>
      </p:sp>
      <p:sp>
        <p:nvSpPr>
          <p:cNvPr id="34820" name="Rectangle 3"/>
          <p:cNvSpPr>
            <a:spLocks noGrp="1" noChangeArrowheads="1"/>
          </p:cNvSpPr>
          <p:nvPr>
            <p:ph type="body" idx="1"/>
          </p:nvPr>
        </p:nvSpPr>
        <p:spPr>
          <a:xfrm>
            <a:off x="228600" y="2162175"/>
            <a:ext cx="8728075" cy="4419600"/>
          </a:xfrm>
          <a:noFill/>
          <a:ln>
            <a:solidFill>
              <a:srgbClr val="270076"/>
            </a:solidFill>
            <a:miter lim="800000"/>
            <a:headEnd/>
            <a:tailEnd/>
          </a:ln>
        </p:spPr>
        <p:txBody>
          <a:bodyPr lIns="0" rIns="0"/>
          <a:lstStyle/>
          <a:p>
            <a:pPr marL="290513" indent="-290513" eaLnBrk="1" hangingPunct="1">
              <a:lnSpc>
                <a:spcPct val="80000"/>
              </a:lnSpc>
              <a:spcBef>
                <a:spcPct val="0"/>
              </a:spcBef>
              <a:buFontTx/>
              <a:buNone/>
            </a:pPr>
            <a:r>
              <a:rPr lang="fr-FR" altLang="en-US" sz="2400" dirty="0" err="1"/>
              <a:t>void</a:t>
            </a:r>
            <a:r>
              <a:rPr lang="fr-FR" altLang="en-US" sz="2400" dirty="0"/>
              <a:t> </a:t>
            </a:r>
            <a:r>
              <a:rPr lang="fr-FR" altLang="en-US" sz="2400" dirty="0" err="1"/>
              <a:t>compileStatement</a:t>
            </a:r>
            <a:r>
              <a:rPr lang="fr-FR" altLang="en-US" sz="2400" dirty="0"/>
              <a:t>(){</a:t>
            </a:r>
          </a:p>
          <a:p>
            <a:pPr marL="290513" indent="-290513" eaLnBrk="1" hangingPunct="1">
              <a:lnSpc>
                <a:spcPct val="80000"/>
              </a:lnSpc>
              <a:buFontTx/>
              <a:buNone/>
            </a:pPr>
            <a:r>
              <a:rPr lang="fr-FR" altLang="en-US" sz="2400" dirty="0"/>
              <a:t>	</a:t>
            </a:r>
            <a:r>
              <a:rPr lang="fr-FR" altLang="en-US" sz="2400" dirty="0" err="1"/>
              <a:t>int</a:t>
            </a:r>
            <a:r>
              <a:rPr lang="fr-FR" altLang="en-US" sz="2400" dirty="0"/>
              <a:t> p;</a:t>
            </a:r>
          </a:p>
          <a:p>
            <a:pPr marL="290513" indent="-290513" eaLnBrk="1" hangingPunct="1">
              <a:lnSpc>
                <a:spcPct val="80000"/>
              </a:lnSpc>
              <a:buFontTx/>
              <a:buNone/>
            </a:pPr>
            <a:r>
              <a:rPr lang="fr-FR" altLang="en-US" sz="2400" dirty="0"/>
              <a:t>	if(</a:t>
            </a:r>
            <a:r>
              <a:rPr lang="fr-FR" altLang="en-US" sz="2400" dirty="0" err="1"/>
              <a:t>Token</a:t>
            </a:r>
            <a:r>
              <a:rPr lang="fr-FR" altLang="en-US" sz="2400" dirty="0"/>
              <a:t> == IDENT){</a:t>
            </a:r>
          </a:p>
          <a:p>
            <a:pPr marL="290513" indent="-290513" eaLnBrk="1" hangingPunct="1">
              <a:lnSpc>
                <a:spcPct val="80000"/>
              </a:lnSpc>
              <a:buFontTx/>
              <a:buNone/>
            </a:pPr>
            <a:r>
              <a:rPr lang="fr-FR" altLang="en-US" sz="2400" dirty="0"/>
              <a:t>		</a:t>
            </a:r>
            <a:r>
              <a:rPr lang="fr-FR" altLang="en-US" sz="2400" dirty="0">
                <a:solidFill>
                  <a:srgbClr val="FA0617"/>
                </a:solidFill>
              </a:rPr>
              <a:t>p = Location(Id);</a:t>
            </a:r>
          </a:p>
          <a:p>
            <a:pPr marL="290513" indent="-290513" eaLnBrk="1" hangingPunct="1">
              <a:lnSpc>
                <a:spcPct val="80000"/>
              </a:lnSpc>
              <a:buFontTx/>
              <a:buNone/>
            </a:pPr>
            <a:r>
              <a:rPr lang="fr-FR" altLang="en-US" sz="2400" dirty="0">
                <a:solidFill>
                  <a:srgbClr val="FA0617"/>
                </a:solidFill>
              </a:rPr>
              <a:t>		if(p &lt; 0) </a:t>
            </a:r>
            <a:r>
              <a:rPr lang="fr-FR" altLang="en-US" sz="2400" dirty="0" err="1">
                <a:solidFill>
                  <a:srgbClr val="FA0617"/>
                </a:solidFill>
              </a:rPr>
              <a:t>Error</a:t>
            </a:r>
            <a:r>
              <a:rPr lang="fr-FR" altLang="en-US" sz="2400" dirty="0">
                <a:solidFill>
                  <a:srgbClr val="FA0617"/>
                </a:solidFill>
              </a:rPr>
              <a:t>(52);</a:t>
            </a:r>
            <a:r>
              <a:rPr lang="fr-FR" altLang="en-US" sz="2400" dirty="0"/>
              <a:t>  //</a:t>
            </a:r>
            <a:r>
              <a:rPr lang="fr-FR" altLang="en-US" sz="2400" dirty="0" err="1">
                <a:solidFill>
                  <a:schemeClr val="bg2"/>
                </a:solidFill>
              </a:rPr>
              <a:t>Ten</a:t>
            </a:r>
            <a:r>
              <a:rPr lang="fr-FR" altLang="en-US" sz="2400" dirty="0">
                <a:solidFill>
                  <a:schemeClr val="bg2"/>
                </a:solidFill>
              </a:rPr>
              <a:t> </a:t>
            </a:r>
            <a:r>
              <a:rPr lang="fr-FR" altLang="en-US" sz="2400" dirty="0" err="1">
                <a:solidFill>
                  <a:schemeClr val="bg2"/>
                </a:solidFill>
              </a:rPr>
              <a:t>chua</a:t>
            </a:r>
            <a:r>
              <a:rPr lang="fr-FR" altLang="en-US" sz="2400" dirty="0">
                <a:solidFill>
                  <a:schemeClr val="bg2"/>
                </a:solidFill>
              </a:rPr>
              <a:t> </a:t>
            </a:r>
            <a:r>
              <a:rPr lang="fr-FR" altLang="en-US" sz="2400" dirty="0" err="1">
                <a:solidFill>
                  <a:schemeClr val="bg2"/>
                </a:solidFill>
              </a:rPr>
              <a:t>khai</a:t>
            </a:r>
            <a:r>
              <a:rPr lang="fr-FR" altLang="en-US" sz="2400" dirty="0">
                <a:solidFill>
                  <a:schemeClr val="bg2"/>
                </a:solidFill>
              </a:rPr>
              <a:t> </a:t>
            </a:r>
            <a:r>
              <a:rPr lang="fr-FR" altLang="en-US" sz="2400" dirty="0" err="1">
                <a:solidFill>
                  <a:schemeClr val="bg2"/>
                </a:solidFill>
              </a:rPr>
              <a:t>bao</a:t>
            </a:r>
            <a:endParaRPr lang="fr-FR" altLang="en-US" sz="2400" dirty="0">
              <a:solidFill>
                <a:schemeClr val="bg2"/>
              </a:solidFill>
            </a:endParaRPr>
          </a:p>
          <a:p>
            <a:pPr marL="290513" indent="-290513" eaLnBrk="1" hangingPunct="1">
              <a:lnSpc>
                <a:spcPct val="80000"/>
              </a:lnSpc>
              <a:buFontTx/>
              <a:buNone/>
            </a:pPr>
            <a:r>
              <a:rPr lang="fr-FR" altLang="en-US" sz="2400" dirty="0"/>
              <a:t>		</a:t>
            </a:r>
            <a:r>
              <a:rPr lang="fr-FR" altLang="en-US" sz="2400" dirty="0">
                <a:solidFill>
                  <a:srgbClr val="FA0617"/>
                </a:solidFill>
              </a:rPr>
              <a:t>if(</a:t>
            </a:r>
            <a:r>
              <a:rPr lang="fr-FR" altLang="en-US" sz="2400" dirty="0" err="1">
                <a:solidFill>
                  <a:srgbClr val="FA0617"/>
                </a:solidFill>
              </a:rPr>
              <a:t>getKind</a:t>
            </a:r>
            <a:r>
              <a:rPr lang="fr-FR" altLang="en-US" sz="2400" dirty="0">
                <a:solidFill>
                  <a:srgbClr val="FA0617"/>
                </a:solidFill>
              </a:rPr>
              <a:t>(p) != Variable) </a:t>
            </a:r>
          </a:p>
          <a:p>
            <a:pPr marL="290513" indent="-290513" eaLnBrk="1" hangingPunct="1">
              <a:lnSpc>
                <a:spcPct val="80000"/>
              </a:lnSpc>
              <a:buFontTx/>
              <a:buNone/>
            </a:pPr>
            <a:r>
              <a:rPr lang="fr-FR" altLang="en-US" sz="2400" dirty="0">
                <a:solidFill>
                  <a:srgbClr val="FA0617"/>
                </a:solidFill>
              </a:rPr>
              <a:t>			</a:t>
            </a:r>
            <a:r>
              <a:rPr lang="fr-FR" altLang="en-US" sz="2400" dirty="0" err="1">
                <a:solidFill>
                  <a:srgbClr val="FA0617"/>
                </a:solidFill>
              </a:rPr>
              <a:t>Error</a:t>
            </a:r>
            <a:r>
              <a:rPr lang="fr-FR" altLang="en-US" sz="2400" dirty="0">
                <a:solidFill>
                  <a:srgbClr val="FA0617"/>
                </a:solidFill>
              </a:rPr>
              <a:t>( );</a:t>
            </a:r>
            <a:r>
              <a:rPr lang="fr-FR" altLang="en-US" sz="2400" dirty="0"/>
              <a:t>//</a:t>
            </a:r>
            <a:r>
              <a:rPr lang="fr-FR" altLang="en-US" sz="2400" dirty="0">
                <a:solidFill>
                  <a:schemeClr val="bg2"/>
                </a:solidFill>
              </a:rPr>
              <a:t>Ve </a:t>
            </a:r>
            <a:r>
              <a:rPr lang="fr-FR" altLang="en-US" sz="2400" dirty="0" err="1">
                <a:solidFill>
                  <a:schemeClr val="bg2"/>
                </a:solidFill>
              </a:rPr>
              <a:t>trai</a:t>
            </a:r>
            <a:r>
              <a:rPr lang="fr-FR" altLang="en-US" sz="2400" dirty="0">
                <a:solidFill>
                  <a:schemeClr val="bg2"/>
                </a:solidFill>
              </a:rPr>
              <a:t> </a:t>
            </a:r>
            <a:r>
              <a:rPr lang="fr-FR" altLang="en-US" sz="2400" dirty="0" err="1">
                <a:solidFill>
                  <a:schemeClr val="bg2"/>
                </a:solidFill>
              </a:rPr>
              <a:t>phai</a:t>
            </a:r>
            <a:r>
              <a:rPr lang="fr-FR" altLang="en-US" sz="2400" dirty="0">
                <a:solidFill>
                  <a:schemeClr val="bg2"/>
                </a:solidFill>
              </a:rPr>
              <a:t> la mot bien</a:t>
            </a:r>
          </a:p>
          <a:p>
            <a:pPr marL="290513" indent="-290513" eaLnBrk="1" hangingPunct="1">
              <a:lnSpc>
                <a:spcPct val="80000"/>
              </a:lnSpc>
              <a:buFontTx/>
              <a:buNone/>
            </a:pPr>
            <a:r>
              <a:rPr lang="fr-FR" altLang="en-US" sz="2400" dirty="0"/>
              <a:t>		</a:t>
            </a:r>
            <a:r>
              <a:rPr lang="fr-FR" altLang="en-US" sz="2400" dirty="0" err="1"/>
              <a:t>Token</a:t>
            </a:r>
            <a:r>
              <a:rPr lang="fr-FR" altLang="en-US" sz="2400" dirty="0"/>
              <a:t> = </a:t>
            </a:r>
            <a:r>
              <a:rPr lang="fr-FR" altLang="en-US" sz="2400" dirty="0" err="1"/>
              <a:t>getToken</a:t>
            </a:r>
            <a:r>
              <a:rPr lang="fr-FR" altLang="en-US" sz="2400" dirty="0"/>
              <a:t>();</a:t>
            </a:r>
          </a:p>
          <a:p>
            <a:pPr marL="290513" indent="-290513" eaLnBrk="1" hangingPunct="1">
              <a:lnSpc>
                <a:spcPct val="80000"/>
              </a:lnSpc>
              <a:buFontTx/>
              <a:buNone/>
            </a:pPr>
            <a:r>
              <a:rPr lang="fr-FR" altLang="en-US" sz="2400" dirty="0"/>
              <a:t>		if(</a:t>
            </a:r>
            <a:r>
              <a:rPr lang="fr-FR" altLang="en-US" sz="2400" dirty="0" err="1"/>
              <a:t>Token</a:t>
            </a:r>
            <a:r>
              <a:rPr lang="fr-FR" altLang="en-US" sz="2400" dirty="0"/>
              <a:t> == LBRACK){</a:t>
            </a:r>
          </a:p>
          <a:p>
            <a:pPr marL="290513" indent="-290513" eaLnBrk="1" hangingPunct="1">
              <a:lnSpc>
                <a:spcPct val="80000"/>
              </a:lnSpc>
              <a:buFontTx/>
              <a:buNone/>
            </a:pPr>
            <a:r>
              <a:rPr lang="fr-FR" altLang="en-US" sz="2400" dirty="0"/>
              <a:t>			……..</a:t>
            </a:r>
          </a:p>
          <a:p>
            <a:pPr marL="290513" indent="-290513" eaLnBrk="1" hangingPunct="1">
              <a:lnSpc>
                <a:spcPct val="80000"/>
              </a:lnSpc>
              <a:buFontTx/>
              <a:buNone/>
            </a:pPr>
            <a:r>
              <a:rPr lang="fr-FR" altLang="en-US" sz="2400" dirty="0"/>
              <a:t>		}</a:t>
            </a:r>
          </a:p>
          <a:p>
            <a:pPr marL="290513" indent="-290513" eaLnBrk="1" hangingPunct="1">
              <a:lnSpc>
                <a:spcPct val="80000"/>
              </a:lnSpc>
              <a:spcBef>
                <a:spcPct val="0"/>
              </a:spcBef>
              <a:buFontTx/>
              <a:buNone/>
            </a:pPr>
            <a:r>
              <a:rPr lang="fr-FR" altLang="en-US" sz="2400" dirty="0"/>
              <a:t>}</a:t>
            </a:r>
            <a:endParaRPr lang="en-US" altLang="en-US" sz="2400" dirty="0"/>
          </a:p>
        </p:txBody>
      </p:sp>
      <p:sp>
        <p:nvSpPr>
          <p:cNvPr id="34821"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2. Bảng ký hiệu</a:t>
            </a:r>
          </a:p>
        </p:txBody>
      </p:sp>
      <p:grpSp>
        <p:nvGrpSpPr>
          <p:cNvPr id="34822" name="Group 6"/>
          <p:cNvGrpSpPr>
            <a:grpSpLocks/>
          </p:cNvGrpSpPr>
          <p:nvPr/>
        </p:nvGrpSpPr>
        <p:grpSpPr bwMode="auto">
          <a:xfrm>
            <a:off x="457200" y="962025"/>
            <a:ext cx="8382000" cy="1095375"/>
            <a:chOff x="354" y="345"/>
            <a:chExt cx="5280" cy="546"/>
          </a:xfrm>
        </p:grpSpPr>
        <p:grpSp>
          <p:nvGrpSpPr>
            <p:cNvPr id="34823" name="Group 7"/>
            <p:cNvGrpSpPr>
              <a:grpSpLocks/>
            </p:cNvGrpSpPr>
            <p:nvPr/>
          </p:nvGrpSpPr>
          <p:grpSpPr bwMode="auto">
            <a:xfrm>
              <a:off x="546" y="362"/>
              <a:ext cx="528" cy="219"/>
              <a:chOff x="2256" y="2064"/>
              <a:chExt cx="528" cy="219"/>
            </a:xfrm>
          </p:grpSpPr>
          <p:sp>
            <p:nvSpPr>
              <p:cNvPr id="34843" name="AutoShape 8"/>
              <p:cNvSpPr>
                <a:spLocks noChangeArrowheads="1"/>
              </p:cNvSpPr>
              <p:nvPr/>
            </p:nvSpPr>
            <p:spPr bwMode="auto">
              <a:xfrm>
                <a:off x="2256" y="2064"/>
                <a:ext cx="528" cy="219"/>
              </a:xfrm>
              <a:prstGeom prst="roundRect">
                <a:avLst>
                  <a:gd name="adj" fmla="val 50000"/>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34844" name="Text Box 9"/>
              <p:cNvSpPr txBox="1">
                <a:spLocks noChangeArrowheads="1"/>
              </p:cNvSpPr>
              <p:nvPr/>
            </p:nvSpPr>
            <p:spPr bwMode="auto">
              <a:xfrm>
                <a:off x="2283" y="2085"/>
                <a:ext cx="479"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r>
                  <a:rPr lang="fr-FR" altLang="en-US" sz="2000" b="0"/>
                  <a:t>Ident</a:t>
                </a:r>
                <a:endParaRPr lang="fr-FR" altLang="en-US" sz="2000"/>
              </a:p>
            </p:txBody>
          </p:sp>
        </p:grpSp>
        <p:sp>
          <p:nvSpPr>
            <p:cNvPr id="34824" name="Text Box 10"/>
            <p:cNvSpPr txBox="1">
              <a:spLocks noChangeArrowheads="1"/>
            </p:cNvSpPr>
            <p:nvPr/>
          </p:nvSpPr>
          <p:spPr bwMode="auto">
            <a:xfrm>
              <a:off x="1839" y="654"/>
              <a:ext cx="1008" cy="18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r>
                <a:rPr lang="en-US" altLang="en-US" sz="2400" b="0">
                  <a:latin typeface="VNtimes new roman" charset="0"/>
                </a:rPr>
                <a:t>Expression</a:t>
              </a:r>
              <a:endParaRPr lang="fr-FR" altLang="en-US" sz="2400" b="0"/>
            </a:p>
          </p:txBody>
        </p:sp>
        <p:grpSp>
          <p:nvGrpSpPr>
            <p:cNvPr id="34825" name="Group 11"/>
            <p:cNvGrpSpPr>
              <a:grpSpLocks/>
            </p:cNvGrpSpPr>
            <p:nvPr/>
          </p:nvGrpSpPr>
          <p:grpSpPr bwMode="auto">
            <a:xfrm>
              <a:off x="3660" y="362"/>
              <a:ext cx="296" cy="240"/>
              <a:chOff x="2248" y="1680"/>
              <a:chExt cx="296" cy="240"/>
            </a:xfrm>
          </p:grpSpPr>
          <p:sp>
            <p:nvSpPr>
              <p:cNvPr id="34841" name="Text Box 12"/>
              <p:cNvSpPr txBox="1">
                <a:spLocks noChangeArrowheads="1"/>
              </p:cNvSpPr>
              <p:nvPr/>
            </p:nvSpPr>
            <p:spPr bwMode="auto">
              <a:xfrm>
                <a:off x="2248" y="1680"/>
                <a:ext cx="27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tIns="10800"/>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r>
                  <a:rPr lang="fr-FR" altLang="en-US" sz="2000"/>
                  <a:t>:=</a:t>
                </a:r>
              </a:p>
            </p:txBody>
          </p:sp>
          <p:sp>
            <p:nvSpPr>
              <p:cNvPr id="34842" name="Oval 13"/>
              <p:cNvSpPr>
                <a:spLocks noChangeArrowheads="1"/>
              </p:cNvSpPr>
              <p:nvPr/>
            </p:nvSpPr>
            <p:spPr bwMode="auto">
              <a:xfrm>
                <a:off x="2256" y="1686"/>
                <a:ext cx="288" cy="234"/>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tIns="10800"/>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grpSp>
        <p:grpSp>
          <p:nvGrpSpPr>
            <p:cNvPr id="34826" name="Group 14"/>
            <p:cNvGrpSpPr>
              <a:grpSpLocks/>
            </p:cNvGrpSpPr>
            <p:nvPr/>
          </p:nvGrpSpPr>
          <p:grpSpPr bwMode="auto">
            <a:xfrm>
              <a:off x="1308" y="645"/>
              <a:ext cx="232" cy="240"/>
              <a:chOff x="2016" y="2334"/>
              <a:chExt cx="232" cy="240"/>
            </a:xfrm>
          </p:grpSpPr>
          <p:sp>
            <p:nvSpPr>
              <p:cNvPr id="34839" name="Text Box 15"/>
              <p:cNvSpPr txBox="1">
                <a:spLocks noChangeArrowheads="1"/>
              </p:cNvSpPr>
              <p:nvPr/>
            </p:nvSpPr>
            <p:spPr bwMode="auto">
              <a:xfrm>
                <a:off x="2044" y="2334"/>
                <a:ext cx="173"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tIns="10800"/>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r>
                  <a:rPr lang="fr-FR" altLang="en-US" sz="2000" b="0"/>
                  <a:t>[</a:t>
                </a:r>
              </a:p>
            </p:txBody>
          </p:sp>
          <p:sp>
            <p:nvSpPr>
              <p:cNvPr id="34840" name="Oval 16"/>
              <p:cNvSpPr>
                <a:spLocks noChangeArrowheads="1"/>
              </p:cNvSpPr>
              <p:nvPr/>
            </p:nvSpPr>
            <p:spPr bwMode="auto">
              <a:xfrm>
                <a:off x="2016" y="2358"/>
                <a:ext cx="232" cy="216"/>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tIns="10800"/>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grpSp>
        <p:grpSp>
          <p:nvGrpSpPr>
            <p:cNvPr id="34827" name="Group 17"/>
            <p:cNvGrpSpPr>
              <a:grpSpLocks/>
            </p:cNvGrpSpPr>
            <p:nvPr/>
          </p:nvGrpSpPr>
          <p:grpSpPr bwMode="auto">
            <a:xfrm>
              <a:off x="3134" y="651"/>
              <a:ext cx="232" cy="240"/>
              <a:chOff x="2016" y="2334"/>
              <a:chExt cx="232" cy="240"/>
            </a:xfrm>
          </p:grpSpPr>
          <p:sp>
            <p:nvSpPr>
              <p:cNvPr id="34837" name="Text Box 18"/>
              <p:cNvSpPr txBox="1">
                <a:spLocks noChangeArrowheads="1"/>
              </p:cNvSpPr>
              <p:nvPr/>
            </p:nvSpPr>
            <p:spPr bwMode="auto">
              <a:xfrm>
                <a:off x="2044" y="2334"/>
                <a:ext cx="173"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tIns="10800"/>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r>
                  <a:rPr lang="fr-FR" altLang="en-US" sz="2000" b="0"/>
                  <a:t>]</a:t>
                </a:r>
              </a:p>
            </p:txBody>
          </p:sp>
          <p:sp>
            <p:nvSpPr>
              <p:cNvPr id="34838" name="Oval 19"/>
              <p:cNvSpPr>
                <a:spLocks noChangeArrowheads="1"/>
              </p:cNvSpPr>
              <p:nvPr/>
            </p:nvSpPr>
            <p:spPr bwMode="auto">
              <a:xfrm>
                <a:off x="2016" y="2358"/>
                <a:ext cx="232" cy="216"/>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tIns="10800"/>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grpSp>
        <p:sp>
          <p:nvSpPr>
            <p:cNvPr id="34828" name="Line 20"/>
            <p:cNvSpPr>
              <a:spLocks noChangeShapeType="1"/>
            </p:cNvSpPr>
            <p:nvPr/>
          </p:nvSpPr>
          <p:spPr bwMode="auto">
            <a:xfrm>
              <a:off x="1542" y="777"/>
              <a:ext cx="28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29" name="Line 21"/>
            <p:cNvSpPr>
              <a:spLocks noChangeShapeType="1"/>
            </p:cNvSpPr>
            <p:nvPr/>
          </p:nvSpPr>
          <p:spPr bwMode="auto">
            <a:xfrm>
              <a:off x="2846" y="777"/>
              <a:ext cx="28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30" name="Text Box 22"/>
            <p:cNvSpPr txBox="1">
              <a:spLocks noChangeArrowheads="1"/>
            </p:cNvSpPr>
            <p:nvPr/>
          </p:nvSpPr>
          <p:spPr bwMode="auto">
            <a:xfrm>
              <a:off x="4155" y="345"/>
              <a:ext cx="1008" cy="1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r>
                <a:rPr lang="en-US" altLang="en-US" sz="2400" b="0"/>
                <a:t>Expression</a:t>
              </a:r>
              <a:endParaRPr lang="fr-FR" altLang="en-US" sz="2400" b="0"/>
            </a:p>
          </p:txBody>
        </p:sp>
        <p:sp>
          <p:nvSpPr>
            <p:cNvPr id="34831" name="Freeform 23"/>
            <p:cNvSpPr>
              <a:spLocks/>
            </p:cNvSpPr>
            <p:nvPr/>
          </p:nvSpPr>
          <p:spPr bwMode="auto">
            <a:xfrm>
              <a:off x="1170" y="485"/>
              <a:ext cx="144" cy="288"/>
            </a:xfrm>
            <a:custGeom>
              <a:avLst/>
              <a:gdLst>
                <a:gd name="T0" fmla="*/ 0 w 144"/>
                <a:gd name="T1" fmla="*/ 0 h 288"/>
                <a:gd name="T2" fmla="*/ 0 w 144"/>
                <a:gd name="T3" fmla="*/ 288 h 288"/>
                <a:gd name="T4" fmla="*/ 144 w 144"/>
                <a:gd name="T5" fmla="*/ 288 h 288"/>
                <a:gd name="T6" fmla="*/ 0 60000 65536"/>
                <a:gd name="T7" fmla="*/ 0 60000 65536"/>
                <a:gd name="T8" fmla="*/ 0 60000 65536"/>
              </a:gdLst>
              <a:ahLst/>
              <a:cxnLst>
                <a:cxn ang="T6">
                  <a:pos x="T0" y="T1"/>
                </a:cxn>
                <a:cxn ang="T7">
                  <a:pos x="T2" y="T3"/>
                </a:cxn>
                <a:cxn ang="T8">
                  <a:pos x="T4" y="T5"/>
                </a:cxn>
              </a:cxnLst>
              <a:rect l="0" t="0" r="r" b="b"/>
              <a:pathLst>
                <a:path w="144" h="288">
                  <a:moveTo>
                    <a:pt x="0" y="0"/>
                  </a:moveTo>
                  <a:lnTo>
                    <a:pt x="0" y="288"/>
                  </a:lnTo>
                  <a:lnTo>
                    <a:pt x="144" y="288"/>
                  </a:lnTo>
                </a:path>
              </a:pathLst>
            </a:custGeom>
            <a:noFill/>
            <a:ln w="19050"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2" name="Freeform 24"/>
            <p:cNvSpPr>
              <a:spLocks/>
            </p:cNvSpPr>
            <p:nvPr/>
          </p:nvSpPr>
          <p:spPr bwMode="auto">
            <a:xfrm>
              <a:off x="3369" y="494"/>
              <a:ext cx="144" cy="288"/>
            </a:xfrm>
            <a:custGeom>
              <a:avLst/>
              <a:gdLst>
                <a:gd name="T0" fmla="*/ 0 w 144"/>
                <a:gd name="T1" fmla="*/ 288 h 288"/>
                <a:gd name="T2" fmla="*/ 144 w 144"/>
                <a:gd name="T3" fmla="*/ 288 h 288"/>
                <a:gd name="T4" fmla="*/ 144 w 144"/>
                <a:gd name="T5" fmla="*/ 0 h 288"/>
                <a:gd name="T6" fmla="*/ 0 60000 65536"/>
                <a:gd name="T7" fmla="*/ 0 60000 65536"/>
                <a:gd name="T8" fmla="*/ 0 60000 65536"/>
              </a:gdLst>
              <a:ahLst/>
              <a:cxnLst>
                <a:cxn ang="T6">
                  <a:pos x="T0" y="T1"/>
                </a:cxn>
                <a:cxn ang="T7">
                  <a:pos x="T2" y="T3"/>
                </a:cxn>
                <a:cxn ang="T8">
                  <a:pos x="T4" y="T5"/>
                </a:cxn>
              </a:cxnLst>
              <a:rect l="0" t="0" r="r" b="b"/>
              <a:pathLst>
                <a:path w="144" h="288">
                  <a:moveTo>
                    <a:pt x="0" y="288"/>
                  </a:moveTo>
                  <a:lnTo>
                    <a:pt x="144" y="288"/>
                  </a:lnTo>
                  <a:lnTo>
                    <a:pt x="144" y="0"/>
                  </a:lnTo>
                </a:path>
              </a:pathLst>
            </a:custGeom>
            <a:noFill/>
            <a:ln w="19050"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3" name="Line 25"/>
            <p:cNvSpPr>
              <a:spLocks noChangeShapeType="1"/>
            </p:cNvSpPr>
            <p:nvPr/>
          </p:nvSpPr>
          <p:spPr bwMode="auto">
            <a:xfrm>
              <a:off x="1074" y="485"/>
              <a:ext cx="25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4" name="Line 26"/>
            <p:cNvSpPr>
              <a:spLocks noChangeShapeType="1"/>
            </p:cNvSpPr>
            <p:nvPr/>
          </p:nvSpPr>
          <p:spPr bwMode="auto">
            <a:xfrm>
              <a:off x="3954" y="485"/>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5" name="Line 27"/>
            <p:cNvSpPr>
              <a:spLocks noChangeShapeType="1"/>
            </p:cNvSpPr>
            <p:nvPr/>
          </p:nvSpPr>
          <p:spPr bwMode="auto">
            <a:xfrm>
              <a:off x="5154" y="459"/>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6" name="Line 28"/>
            <p:cNvSpPr>
              <a:spLocks noChangeShapeType="1"/>
            </p:cNvSpPr>
            <p:nvPr/>
          </p:nvSpPr>
          <p:spPr bwMode="auto">
            <a:xfrm>
              <a:off x="354" y="459"/>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1F62B2E2-C0ED-49CF-BEF7-82268BE15A74}" type="slidenum">
              <a:rPr lang="en-US" altLang="en-US" sz="1400" b="0"/>
              <a:pPr/>
              <a:t>30</a:t>
            </a:fld>
            <a:endParaRPr lang="en-US" altLang="en-US" sz="1400" b="0"/>
          </a:p>
        </p:txBody>
      </p:sp>
      <p:sp>
        <p:nvSpPr>
          <p:cNvPr id="1717250" name="Rectangle 2"/>
          <p:cNvSpPr>
            <a:spLocks noChangeArrowheads="1"/>
          </p:cNvSpPr>
          <p:nvPr/>
        </p:nvSpPr>
        <p:spPr bwMode="auto">
          <a:xfrm>
            <a:off x="0" y="3171825"/>
            <a:ext cx="9144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35844" name="Rectangle 3"/>
          <p:cNvSpPr>
            <a:spLocks noGrp="1" noChangeArrowheads="1"/>
          </p:cNvSpPr>
          <p:nvPr>
            <p:ph type="title"/>
          </p:nvPr>
        </p:nvSpPr>
        <p:spPr>
          <a:xfrm>
            <a:off x="0" y="0"/>
            <a:ext cx="9144000" cy="800100"/>
          </a:xfrm>
        </p:spPr>
        <p:txBody>
          <a:bodyPr/>
          <a:lstStyle/>
          <a:p>
            <a:pPr eaLnBrk="1" hangingPunct="1"/>
            <a:r>
              <a:rPr lang="en-US" altLang="en-US" sz="4000"/>
              <a:t>Chương 4: Phân tích ngữ nghĩa</a:t>
            </a:r>
          </a:p>
        </p:txBody>
      </p:sp>
      <p:sp>
        <p:nvSpPr>
          <p:cNvPr id="35845" name="Rectangle 4"/>
          <p:cNvSpPr>
            <a:spLocks noGrp="1" noChangeArrowheads="1"/>
          </p:cNvSpPr>
          <p:nvPr>
            <p:ph type="body" idx="1"/>
          </p:nvPr>
        </p:nvSpPr>
        <p:spPr>
          <a:xfrm>
            <a:off x="266700" y="1219200"/>
            <a:ext cx="8724900" cy="5029200"/>
          </a:xfrm>
        </p:spPr>
        <p:txBody>
          <a:bodyPr/>
          <a:lstStyle/>
          <a:p>
            <a:pPr marL="609600" indent="-609600" eaLnBrk="1" hangingPunct="1">
              <a:spcBef>
                <a:spcPct val="100000"/>
              </a:spcBef>
              <a:buFontTx/>
              <a:buAutoNum type="arabicPeriod"/>
            </a:pPr>
            <a:r>
              <a:rPr lang="en-US" altLang="en-US">
                <a:solidFill>
                  <a:srgbClr val="1E0068"/>
                </a:solidFill>
              </a:rPr>
              <a:t>Giới thiệu</a:t>
            </a:r>
          </a:p>
          <a:p>
            <a:pPr marL="609600" indent="-609600" eaLnBrk="1" hangingPunct="1">
              <a:spcBef>
                <a:spcPct val="100000"/>
              </a:spcBef>
              <a:buFontTx/>
              <a:buAutoNum type="arabicPeriod"/>
            </a:pPr>
            <a:r>
              <a:rPr lang="en-US" altLang="en-US">
                <a:solidFill>
                  <a:srgbClr val="1E0068"/>
                </a:solidFill>
              </a:rPr>
              <a:t>Bảng ký hiệu</a:t>
            </a:r>
          </a:p>
          <a:p>
            <a:pPr marL="609600" indent="-609600" eaLnBrk="1" hangingPunct="1">
              <a:spcBef>
                <a:spcPct val="100000"/>
              </a:spcBef>
              <a:buFontTx/>
              <a:buAutoNum type="arabicPeriod"/>
            </a:pPr>
            <a:r>
              <a:rPr lang="fr-FR" altLang="en-US"/>
              <a:t>Chương trình dịch định hướng cú pháp</a:t>
            </a:r>
          </a:p>
          <a:p>
            <a:pPr marL="609600" indent="-609600" eaLnBrk="1" hangingPunct="1">
              <a:spcBef>
                <a:spcPct val="100000"/>
              </a:spcBef>
              <a:buFontTx/>
              <a:buAutoNum type="arabicPeriod"/>
            </a:pPr>
            <a:r>
              <a:rPr lang="fr-FR" altLang="en-US"/>
              <a:t>Kiểm tra kiểu</a:t>
            </a:r>
          </a:p>
          <a:p>
            <a:pPr marL="609600" indent="-609600" eaLnBrk="1" hangingPunct="1">
              <a:spcBef>
                <a:spcPct val="100000"/>
              </a:spcBef>
              <a:buFontTx/>
              <a:buAutoNum type="arabicPeriod"/>
            </a:pPr>
            <a:r>
              <a:rPr lang="en-US" altLang="en-US">
                <a:solidFill>
                  <a:srgbClr val="1E0068"/>
                </a:solidFill>
              </a:rPr>
              <a:t>Xử lý sai sót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17250"/>
                                        </p:tgtEl>
                                        <p:attrNameLst>
                                          <p:attrName>style.visibility</p:attrName>
                                        </p:attrNameLst>
                                      </p:cBhvr>
                                      <p:to>
                                        <p:strVal val="visible"/>
                                      </p:to>
                                    </p:set>
                                    <p:animEffect transition="in" filter="dissolve">
                                      <p:cBhvr>
                                        <p:cTn id="7" dur="500"/>
                                        <p:tgtEl>
                                          <p:spTgt spid="1717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725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4B9FBD0D-6988-4324-A78A-6599F7573BB9}" type="slidenum">
              <a:rPr lang="en-US" altLang="en-US" sz="1400" b="0"/>
              <a:pPr/>
              <a:t>31</a:t>
            </a:fld>
            <a:endParaRPr lang="en-US" altLang="en-US" sz="1400" b="0"/>
          </a:p>
        </p:txBody>
      </p:sp>
      <p:sp>
        <p:nvSpPr>
          <p:cNvPr id="36867" name="Rectangle 2"/>
          <p:cNvSpPr>
            <a:spLocks noGrp="1" noChangeArrowheads="1"/>
          </p:cNvSpPr>
          <p:nvPr>
            <p:ph type="title"/>
          </p:nvPr>
        </p:nvSpPr>
        <p:spPr/>
        <p:txBody>
          <a:bodyPr/>
          <a:lstStyle/>
          <a:p>
            <a:pPr eaLnBrk="1" hangingPunct="1"/>
            <a:r>
              <a:rPr lang="en-US" altLang="en-US" sz="2800"/>
              <a:t>Định nghĩa hướng cú pháp (Syntax directed definition)</a:t>
            </a:r>
          </a:p>
        </p:txBody>
      </p:sp>
      <p:sp>
        <p:nvSpPr>
          <p:cNvPr id="36868"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3. Chương trình dịch định hướng cú pháp</a:t>
            </a:r>
          </a:p>
        </p:txBody>
      </p:sp>
      <p:sp>
        <p:nvSpPr>
          <p:cNvPr id="36869" name="Rectangle 4"/>
          <p:cNvSpPr>
            <a:spLocks noGrp="1" noChangeArrowheads="1"/>
          </p:cNvSpPr>
          <p:nvPr>
            <p:ph type="body" idx="1"/>
          </p:nvPr>
        </p:nvSpPr>
        <p:spPr>
          <a:xfrm>
            <a:off x="228600" y="914400"/>
            <a:ext cx="8724900" cy="5715000"/>
          </a:xfrm>
          <a:noFill/>
        </p:spPr>
        <p:txBody>
          <a:bodyPr lIns="0" rIns="0"/>
          <a:lstStyle/>
          <a:p>
            <a:pPr marL="347663" indent="-347663" eaLnBrk="1" hangingPunct="1">
              <a:lnSpc>
                <a:spcPct val="105000"/>
              </a:lnSpc>
            </a:pPr>
            <a:r>
              <a:rPr lang="en-US" altLang="en-US"/>
              <a:t>Là dạng tổng quát của VPPNC </a:t>
            </a:r>
          </a:p>
          <a:p>
            <a:pPr marL="347663" indent="-347663" eaLnBrk="1" hangingPunct="1">
              <a:lnSpc>
                <a:spcPct val="105000"/>
              </a:lnSpc>
            </a:pPr>
            <a:r>
              <a:rPr lang="en-US" altLang="en-US"/>
              <a:t>Mỗi ký hiệu VP liên kết với một tập thuộc tính</a:t>
            </a:r>
          </a:p>
          <a:p>
            <a:pPr marL="914400" lvl="1" indent="-452438" eaLnBrk="1" hangingPunct="1">
              <a:lnSpc>
                <a:spcPct val="105000"/>
              </a:lnSpc>
            </a:pPr>
            <a:r>
              <a:rPr lang="fr-FR" altLang="en-US"/>
              <a:t>Hai loại thuộc tính: Tổng hợp và kế thừa</a:t>
            </a:r>
            <a:endParaRPr lang="en-US" altLang="en-US"/>
          </a:p>
          <a:p>
            <a:pPr marL="914400" lvl="1" indent="-452438" eaLnBrk="1" hangingPunct="1">
              <a:lnSpc>
                <a:spcPct val="105000"/>
              </a:lnSpc>
            </a:pPr>
            <a:r>
              <a:rPr lang="en-US" altLang="en-US"/>
              <a:t>Thuộc tính là khái niệm trừu tượng,  biểu diễn một đại lượng bất kỳ: số, xâu, vị trí trong bộ nhớ..</a:t>
            </a:r>
          </a:p>
          <a:p>
            <a:pPr marL="347663" indent="-347663" eaLnBrk="1" hangingPunct="1">
              <a:lnSpc>
                <a:spcPct val="105000"/>
              </a:lnSpc>
            </a:pPr>
            <a:r>
              <a:rPr lang="en-US" altLang="en-US" b="1">
                <a:solidFill>
                  <a:schemeClr val="accent2"/>
                </a:solidFill>
              </a:rPr>
              <a:t>Thuộc tính tổng hợp</a:t>
            </a:r>
            <a:r>
              <a:rPr lang="en-US" altLang="en-US"/>
              <a:t> </a:t>
            </a:r>
          </a:p>
          <a:p>
            <a:pPr marL="914400" lvl="1" indent="-452438" eaLnBrk="1" hangingPunct="1">
              <a:lnSpc>
                <a:spcPct val="105000"/>
              </a:lnSpc>
            </a:pPr>
            <a:r>
              <a:rPr lang="en-US" altLang="en-US"/>
              <a:t>Giá trị của thuộc tính tại một nút trong cây được xác định từ giá trị của các nút con của nó.</a:t>
            </a:r>
          </a:p>
          <a:p>
            <a:pPr marL="347663" indent="-347663" eaLnBrk="1" hangingPunct="1">
              <a:lnSpc>
                <a:spcPct val="105000"/>
              </a:lnSpc>
            </a:pPr>
            <a:r>
              <a:rPr lang="en-US" altLang="en-US" b="1">
                <a:solidFill>
                  <a:schemeClr val="accent2"/>
                </a:solidFill>
              </a:rPr>
              <a:t>Thuộc tính kế thừa</a:t>
            </a:r>
            <a:r>
              <a:rPr lang="en-US" altLang="en-US"/>
              <a:t> </a:t>
            </a:r>
          </a:p>
          <a:p>
            <a:pPr marL="914400" lvl="1" indent="-452438" eaLnBrk="1" hangingPunct="1">
              <a:lnSpc>
                <a:spcPct val="105000"/>
              </a:lnSpc>
            </a:pPr>
            <a:r>
              <a:rPr lang="en-US" altLang="en-US"/>
              <a:t>Giá trị của thuộc tính được định nghĩa dựa vào giá trị nút cha và/hoặc các nút anh em của nó.</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0DB27B5F-1E97-4C64-A891-519D1D98AD08}" type="slidenum">
              <a:rPr lang="en-US" altLang="en-US" sz="1400" b="0"/>
              <a:pPr/>
              <a:t>32</a:t>
            </a:fld>
            <a:endParaRPr lang="en-US" altLang="en-US" sz="1400" b="0"/>
          </a:p>
        </p:txBody>
      </p:sp>
      <p:sp>
        <p:nvSpPr>
          <p:cNvPr id="37891" name="Rectangle 2"/>
          <p:cNvSpPr>
            <a:spLocks noGrp="1" noChangeArrowheads="1"/>
          </p:cNvSpPr>
          <p:nvPr>
            <p:ph type="title"/>
          </p:nvPr>
        </p:nvSpPr>
        <p:spPr/>
        <p:txBody>
          <a:bodyPr/>
          <a:lstStyle/>
          <a:p>
            <a:pPr eaLnBrk="1" hangingPunct="1"/>
            <a:r>
              <a:rPr lang="en-US" altLang="en-US" sz="2800"/>
              <a:t>Dạng của định nghĩa hướng cú pháp</a:t>
            </a:r>
          </a:p>
        </p:txBody>
      </p:sp>
      <p:sp>
        <p:nvSpPr>
          <p:cNvPr id="37892"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3. Chương trình dịch định hướng cú pháp</a:t>
            </a:r>
          </a:p>
        </p:txBody>
      </p:sp>
      <p:sp>
        <p:nvSpPr>
          <p:cNvPr id="37893" name="Rectangle 4"/>
          <p:cNvSpPr>
            <a:spLocks noGrp="1" noChangeArrowheads="1"/>
          </p:cNvSpPr>
          <p:nvPr>
            <p:ph type="body" idx="1"/>
          </p:nvPr>
        </p:nvSpPr>
        <p:spPr>
          <a:xfrm>
            <a:off x="228600" y="914400"/>
            <a:ext cx="8724900" cy="5715000"/>
          </a:xfrm>
          <a:noFill/>
        </p:spPr>
        <p:txBody>
          <a:bodyPr lIns="0" rIns="0"/>
          <a:lstStyle/>
          <a:p>
            <a:pPr marL="347663" indent="-347663" eaLnBrk="1" hangingPunct="1">
              <a:lnSpc>
                <a:spcPct val="110000"/>
              </a:lnSpc>
            </a:pPr>
            <a:r>
              <a:rPr lang="en-US" altLang="en-US" sz="2800"/>
              <a:t>Mỗi sản xuất dạng A </a:t>
            </a:r>
            <a:r>
              <a:rPr lang="en-US" altLang="en-US" sz="2800">
                <a:sym typeface="Symbol" panose="05050102010706020507" pitchFamily="18" charset="2"/>
              </a:rPr>
              <a:t></a:t>
            </a:r>
            <a:r>
              <a:rPr lang="en-US" altLang="en-US" sz="2800"/>
              <a:t> </a:t>
            </a:r>
            <a:r>
              <a:rPr lang="en-US" altLang="en-US" sz="2800" b="1">
                <a:latin typeface="Symbol" panose="05050102010706020507" pitchFamily="18" charset="2"/>
              </a:rPr>
              <a:t>a</a:t>
            </a:r>
            <a:r>
              <a:rPr lang="en-US" altLang="en-US" sz="2800">
                <a:latin typeface="Symbol" panose="05050102010706020507" pitchFamily="18" charset="2"/>
              </a:rPr>
              <a:t> </a:t>
            </a:r>
            <a:r>
              <a:rPr lang="en-US" altLang="en-US" sz="2800"/>
              <a:t>liên hệ với một tập luật ngữ nghĩa có dạng </a:t>
            </a:r>
            <a:r>
              <a:rPr lang="en-US" altLang="en-US" sz="2800" i="1">
                <a:solidFill>
                  <a:srgbClr val="3539EB"/>
                </a:solidFill>
              </a:rPr>
              <a:t>b= f (c</a:t>
            </a:r>
            <a:r>
              <a:rPr lang="en-US" altLang="en-US" sz="2800" i="1" baseline="-25000">
                <a:solidFill>
                  <a:srgbClr val="3539EB"/>
                </a:solidFill>
              </a:rPr>
              <a:t>1</a:t>
            </a:r>
            <a:r>
              <a:rPr lang="en-US" altLang="en-US" sz="2800" i="1">
                <a:solidFill>
                  <a:srgbClr val="3539EB"/>
                </a:solidFill>
              </a:rPr>
              <a:t>, c</a:t>
            </a:r>
            <a:r>
              <a:rPr lang="en-US" altLang="en-US" sz="2800" i="1" baseline="-25000">
                <a:solidFill>
                  <a:srgbClr val="3539EB"/>
                </a:solidFill>
              </a:rPr>
              <a:t>2</a:t>
            </a:r>
            <a:r>
              <a:rPr lang="en-US" altLang="en-US" sz="2800" i="1">
                <a:solidFill>
                  <a:srgbClr val="3539EB"/>
                </a:solidFill>
              </a:rPr>
              <a:t>,  . . . . ., c</a:t>
            </a:r>
            <a:r>
              <a:rPr lang="en-US" altLang="en-US" sz="2800" i="1" baseline="-25000">
                <a:solidFill>
                  <a:srgbClr val="3539EB"/>
                </a:solidFill>
              </a:rPr>
              <a:t>n</a:t>
            </a:r>
            <a:r>
              <a:rPr lang="en-US" altLang="en-US" sz="2800" i="1">
                <a:solidFill>
                  <a:srgbClr val="3539EB"/>
                </a:solidFill>
              </a:rPr>
              <a:t>)</a:t>
            </a:r>
            <a:r>
              <a:rPr lang="en-US" altLang="en-US" sz="2800"/>
              <a:t> trong đó f là một hàm và b thoả một trong hai yêu cầu sau:</a:t>
            </a:r>
          </a:p>
          <a:p>
            <a:pPr marL="973138" lvl="1" indent="-452438" eaLnBrk="1" hangingPunct="1">
              <a:lnSpc>
                <a:spcPct val="110000"/>
              </a:lnSpc>
            </a:pPr>
            <a:r>
              <a:rPr lang="en-US" altLang="en-US"/>
              <a:t>b là </a:t>
            </a:r>
            <a:r>
              <a:rPr lang="en-US" altLang="en-US" b="1">
                <a:solidFill>
                  <a:srgbClr val="3539EB"/>
                </a:solidFill>
              </a:rPr>
              <a:t>thuộc tính tổng hợp</a:t>
            </a:r>
            <a:r>
              <a:rPr lang="en-US" altLang="en-US"/>
              <a:t> của A; c</a:t>
            </a:r>
            <a:r>
              <a:rPr lang="en-US" altLang="en-US" baseline="-25000"/>
              <a:t>1</a:t>
            </a:r>
            <a:r>
              <a:rPr lang="en-US" altLang="en-US"/>
              <a:t>,.., c</a:t>
            </a:r>
            <a:r>
              <a:rPr lang="en-US" altLang="en-US" baseline="-25000"/>
              <a:t>n</a:t>
            </a:r>
            <a:r>
              <a:rPr lang="en-US" altLang="en-US"/>
              <a:t> là các thuộc tính của các ký hiệu trong  vế phải sản xuất A </a:t>
            </a:r>
            <a:r>
              <a:rPr lang="en-US" altLang="en-US">
                <a:sym typeface="Symbol" panose="05050102010706020507" pitchFamily="18" charset="2"/>
              </a:rPr>
              <a:t></a:t>
            </a:r>
            <a:r>
              <a:rPr lang="en-US" altLang="en-US"/>
              <a:t> </a:t>
            </a:r>
            <a:r>
              <a:rPr lang="en-US" altLang="en-US">
                <a:latin typeface="Symbol" panose="05050102010706020507" pitchFamily="18" charset="2"/>
              </a:rPr>
              <a:t>a</a:t>
            </a:r>
          </a:p>
          <a:p>
            <a:pPr marL="973138" lvl="1" indent="-452438" eaLnBrk="1" hangingPunct="1">
              <a:lnSpc>
                <a:spcPct val="110000"/>
              </a:lnSpc>
            </a:pPr>
            <a:r>
              <a:rPr lang="en-US" altLang="en-US"/>
              <a:t>b là </a:t>
            </a:r>
            <a:r>
              <a:rPr lang="en-US" altLang="en-US" b="1">
                <a:solidFill>
                  <a:srgbClr val="3539EB"/>
                </a:solidFill>
              </a:rPr>
              <a:t>thuộc tính kế thừa</a:t>
            </a:r>
            <a:r>
              <a:rPr lang="en-US" altLang="en-US"/>
              <a:t> của một trong những ký hiệu trong </a:t>
            </a:r>
            <a:r>
              <a:rPr lang="en-US" altLang="en-US">
                <a:latin typeface="Symbol" panose="05050102010706020507" pitchFamily="18" charset="2"/>
              </a:rPr>
              <a:t>a</a:t>
            </a:r>
            <a:r>
              <a:rPr lang="en-US" altLang="en-US"/>
              <a:t>; c</a:t>
            </a:r>
            <a:r>
              <a:rPr lang="en-US" altLang="en-US" baseline="-25000"/>
              <a:t>1</a:t>
            </a:r>
            <a:r>
              <a:rPr lang="en-US" altLang="en-US"/>
              <a:t>,.., c</a:t>
            </a:r>
            <a:r>
              <a:rPr lang="en-US" altLang="en-US" baseline="-25000"/>
              <a:t>n</a:t>
            </a:r>
            <a:r>
              <a:rPr lang="en-US" altLang="en-US"/>
              <a:t> là thuộc tính của các ký hiệu trong sản xuất A </a:t>
            </a:r>
            <a:r>
              <a:rPr lang="en-US" altLang="en-US">
                <a:sym typeface="Symbol" panose="05050102010706020507" pitchFamily="18" charset="2"/>
              </a:rPr>
              <a:t></a:t>
            </a:r>
            <a:r>
              <a:rPr lang="en-US" altLang="en-US"/>
              <a:t> </a:t>
            </a:r>
            <a:r>
              <a:rPr lang="en-US" altLang="en-US">
                <a:latin typeface="Symbol" panose="05050102010706020507" pitchFamily="18" charset="2"/>
              </a:rPr>
              <a:t>a</a:t>
            </a:r>
          </a:p>
          <a:p>
            <a:pPr marL="347663" indent="-347663" eaLnBrk="1" hangingPunct="1">
              <a:lnSpc>
                <a:spcPct val="110000"/>
              </a:lnSpc>
            </a:pPr>
            <a:r>
              <a:rPr lang="en-US" altLang="en-US" sz="2800"/>
              <a:t>Tập luật ngữ nghĩa dùng để tính giá trị thuộc tính của ký hiệu A</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89B5F086-FD78-432B-A0C0-8C3129CE6A1B}" type="slidenum">
              <a:rPr lang="en-US" altLang="en-US" sz="1400" b="0"/>
              <a:pPr/>
              <a:t>33</a:t>
            </a:fld>
            <a:endParaRPr lang="en-US" altLang="en-US" sz="1400" b="0"/>
          </a:p>
        </p:txBody>
      </p:sp>
      <p:sp>
        <p:nvSpPr>
          <p:cNvPr id="38915" name="Rectangle 2"/>
          <p:cNvSpPr>
            <a:spLocks noGrp="1" noChangeArrowheads="1"/>
          </p:cNvSpPr>
          <p:nvPr>
            <p:ph type="title"/>
          </p:nvPr>
        </p:nvSpPr>
        <p:spPr/>
        <p:txBody>
          <a:bodyPr/>
          <a:lstStyle/>
          <a:p>
            <a:pPr eaLnBrk="1" hangingPunct="1"/>
            <a:r>
              <a:rPr lang="en-US" altLang="en-US" sz="2800"/>
              <a:t>Định nghĩa hướng cú pháp </a:t>
            </a:r>
            <a:r>
              <a:rPr lang="en-US" altLang="en-US">
                <a:sym typeface="Symbol" panose="05050102010706020507" pitchFamily="18" charset="2"/>
              </a:rPr>
              <a:t></a:t>
            </a:r>
            <a:r>
              <a:rPr lang="en-US" altLang="en-US"/>
              <a:t>Ví dụ</a:t>
            </a:r>
          </a:p>
        </p:txBody>
      </p:sp>
      <p:sp>
        <p:nvSpPr>
          <p:cNvPr id="38916"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3. Chương trình dịch định hướng cú pháp</a:t>
            </a:r>
          </a:p>
        </p:txBody>
      </p:sp>
      <p:graphicFrame>
        <p:nvGraphicFramePr>
          <p:cNvPr id="1721408" name="Group 64"/>
          <p:cNvGraphicFramePr>
            <a:graphicFrameLocks noGrp="1"/>
          </p:cNvGraphicFramePr>
          <p:nvPr>
            <p:ph sz="half" idx="2"/>
          </p:nvPr>
        </p:nvGraphicFramePr>
        <p:xfrm>
          <a:off x="304800" y="914400"/>
          <a:ext cx="8458200" cy="5602289"/>
        </p:xfrm>
        <a:graphic>
          <a:graphicData uri="http://schemas.openxmlformats.org/drawingml/2006/table">
            <a:tbl>
              <a:tblPr/>
              <a:tblGrid>
                <a:gridCol w="4229100">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tblGrid>
              <a:tr h="518166">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rgbClr val="270076"/>
                          </a:solidFill>
                          <a:effectLst/>
                          <a:latin typeface="Arial" panose="020B0604020202020204" pitchFamily="34" charset="0"/>
                        </a:rPr>
                        <a:t>Sản xuất</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rgbClr val="270076"/>
                          </a:solidFill>
                          <a:effectLst/>
                          <a:latin typeface="Arial" panose="020B0604020202020204" pitchFamily="34" charset="0"/>
                        </a:rPr>
                        <a:t>Quy tắc ngữ nghĩa</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66">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270076"/>
                          </a:solidFill>
                          <a:effectLst/>
                          <a:latin typeface="Arial" panose="020B0604020202020204" pitchFamily="34" charset="0"/>
                        </a:rPr>
                        <a:t>L </a:t>
                      </a:r>
                      <a:r>
                        <a:rPr kumimoji="0" lang="en-US"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a:t>
                      </a:r>
                      <a:r>
                        <a:rPr kumimoji="0" lang="en-US" altLang="en-US" sz="2800" b="0" i="0" u="none" strike="noStrike" cap="none" normalizeH="0" baseline="0">
                          <a:ln>
                            <a:noFill/>
                          </a:ln>
                          <a:solidFill>
                            <a:srgbClr val="270076"/>
                          </a:solidFill>
                          <a:effectLst/>
                          <a:latin typeface="Arial" panose="020B0604020202020204" pitchFamily="34" charset="0"/>
                        </a:rPr>
                        <a:t> E </a:t>
                      </a:r>
                      <a:r>
                        <a:rPr kumimoji="0" lang="en-US" altLang="en-US" sz="2800" b="1" i="0" u="none" strike="noStrike" cap="none" normalizeH="0" baseline="0">
                          <a:ln>
                            <a:noFill/>
                          </a:ln>
                          <a:solidFill>
                            <a:srgbClr val="270076"/>
                          </a:solidFill>
                          <a:effectLst/>
                          <a:latin typeface="Arial" panose="020B0604020202020204" pitchFamily="34" charset="0"/>
                        </a:rPr>
                        <a:t>return</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270076"/>
                          </a:solidFill>
                          <a:effectLst/>
                          <a:latin typeface="Arial" panose="020B0604020202020204" pitchFamily="34" charset="0"/>
                        </a:rPr>
                        <a:t>Print (E.</a:t>
                      </a:r>
                      <a:r>
                        <a:rPr kumimoji="0" lang="en-US" altLang="en-US" sz="2800" b="0" i="1" u="none" strike="noStrike" cap="none" normalizeH="0" baseline="0">
                          <a:ln>
                            <a:noFill/>
                          </a:ln>
                          <a:solidFill>
                            <a:srgbClr val="270076"/>
                          </a:solidFill>
                          <a:effectLst/>
                          <a:latin typeface="Arial" panose="020B0604020202020204" pitchFamily="34" charset="0"/>
                        </a:rPr>
                        <a:t>val</a:t>
                      </a:r>
                      <a:r>
                        <a:rPr kumimoji="0" lang="en-US" altLang="en-US" sz="2800" b="0" i="0" u="none" strike="noStrike" cap="none" normalizeH="0" baseline="0">
                          <a:ln>
                            <a:noFill/>
                          </a:ln>
                          <a:solidFill>
                            <a:srgbClr val="270076"/>
                          </a:solidFill>
                          <a:effectLst/>
                          <a:latin typeface="Arial" panose="020B0604020202020204" pitchFamily="34" charset="0"/>
                        </a:rPr>
                        <a:t>)</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66">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270076"/>
                          </a:solidFill>
                          <a:effectLst/>
                          <a:latin typeface="Arial" panose="020B0604020202020204" pitchFamily="34" charset="0"/>
                        </a:rPr>
                        <a:t>E </a:t>
                      </a:r>
                      <a:r>
                        <a:rPr kumimoji="0" lang="en-US"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a:t>
                      </a:r>
                      <a:r>
                        <a:rPr kumimoji="0" lang="en-US" altLang="en-US" sz="2800" b="0" i="0" u="none" strike="noStrike" cap="none" normalizeH="0" baseline="0">
                          <a:ln>
                            <a:noFill/>
                          </a:ln>
                          <a:solidFill>
                            <a:srgbClr val="270076"/>
                          </a:solidFill>
                          <a:effectLst/>
                          <a:latin typeface="Arial" panose="020B0604020202020204" pitchFamily="34" charset="0"/>
                        </a:rPr>
                        <a:t> E</a:t>
                      </a:r>
                      <a:r>
                        <a:rPr kumimoji="0" lang="en-US" altLang="en-US" sz="2800" b="1" i="0" u="none" strike="noStrike" cap="none" normalizeH="0" baseline="-25000">
                          <a:ln>
                            <a:noFill/>
                          </a:ln>
                          <a:solidFill>
                            <a:srgbClr val="270076"/>
                          </a:solidFill>
                          <a:effectLst/>
                          <a:latin typeface="Arial" panose="020B0604020202020204" pitchFamily="34" charset="0"/>
                        </a:rPr>
                        <a:t>1</a:t>
                      </a:r>
                      <a:r>
                        <a:rPr kumimoji="0" lang="en-US" altLang="en-US" sz="2800" b="0" i="0" u="none" strike="noStrike" cap="none" normalizeH="0" baseline="0">
                          <a:ln>
                            <a:noFill/>
                          </a:ln>
                          <a:solidFill>
                            <a:srgbClr val="270076"/>
                          </a:solidFill>
                          <a:effectLst/>
                          <a:latin typeface="Arial" panose="020B0604020202020204" pitchFamily="34" charset="0"/>
                        </a:rPr>
                        <a:t>+T</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270076"/>
                          </a:solidFill>
                          <a:effectLst/>
                          <a:latin typeface="Arial" panose="020B0604020202020204" pitchFamily="34" charset="0"/>
                        </a:rPr>
                        <a:t>E.</a:t>
                      </a:r>
                      <a:r>
                        <a:rPr kumimoji="0" lang="en-US" altLang="en-US" sz="2800" b="0" i="1" u="none" strike="noStrike" cap="none" normalizeH="0" baseline="0">
                          <a:ln>
                            <a:noFill/>
                          </a:ln>
                          <a:solidFill>
                            <a:srgbClr val="270076"/>
                          </a:solidFill>
                          <a:effectLst/>
                          <a:latin typeface="Arial" panose="020B0604020202020204" pitchFamily="34" charset="0"/>
                        </a:rPr>
                        <a:t>val</a:t>
                      </a:r>
                      <a:r>
                        <a:rPr kumimoji="0" lang="en-US" altLang="en-US" sz="2800" b="0" i="0" u="none" strike="noStrike" cap="none" normalizeH="0" baseline="0">
                          <a:ln>
                            <a:noFill/>
                          </a:ln>
                          <a:solidFill>
                            <a:srgbClr val="270076"/>
                          </a:solidFill>
                          <a:effectLst/>
                          <a:latin typeface="Arial" panose="020B0604020202020204" pitchFamily="34" charset="0"/>
                        </a:rPr>
                        <a:t> = E</a:t>
                      </a:r>
                      <a:r>
                        <a:rPr kumimoji="0" lang="en-US" altLang="en-US" sz="2800" b="0" i="0" u="none" strike="noStrike" cap="none" normalizeH="0" baseline="-25000">
                          <a:ln>
                            <a:noFill/>
                          </a:ln>
                          <a:solidFill>
                            <a:srgbClr val="270076"/>
                          </a:solidFill>
                          <a:effectLst/>
                          <a:latin typeface="Arial" panose="020B0604020202020204" pitchFamily="34" charset="0"/>
                        </a:rPr>
                        <a:t>1</a:t>
                      </a:r>
                      <a:r>
                        <a:rPr kumimoji="0" lang="en-US" altLang="en-US" sz="2800" b="0" i="0" u="none" strike="noStrike" cap="none" normalizeH="0" baseline="0">
                          <a:ln>
                            <a:noFill/>
                          </a:ln>
                          <a:solidFill>
                            <a:srgbClr val="270076"/>
                          </a:solidFill>
                          <a:effectLst/>
                          <a:latin typeface="Arial" panose="020B0604020202020204" pitchFamily="34" charset="0"/>
                        </a:rPr>
                        <a:t>.</a:t>
                      </a:r>
                      <a:r>
                        <a:rPr kumimoji="0" lang="en-US" altLang="en-US" sz="2800" b="0" i="1" u="none" strike="noStrike" cap="none" normalizeH="0" baseline="0">
                          <a:ln>
                            <a:noFill/>
                          </a:ln>
                          <a:solidFill>
                            <a:srgbClr val="270076"/>
                          </a:solidFill>
                          <a:effectLst/>
                          <a:latin typeface="Arial" panose="020B0604020202020204" pitchFamily="34" charset="0"/>
                        </a:rPr>
                        <a:t>val</a:t>
                      </a:r>
                      <a:r>
                        <a:rPr kumimoji="0" lang="en-US" altLang="en-US" sz="2800" b="0" i="0" u="none" strike="noStrike" cap="none" normalizeH="0" baseline="0">
                          <a:ln>
                            <a:noFill/>
                          </a:ln>
                          <a:solidFill>
                            <a:srgbClr val="270076"/>
                          </a:solidFill>
                          <a:effectLst/>
                          <a:latin typeface="Arial" panose="020B0604020202020204" pitchFamily="34" charset="0"/>
                        </a:rPr>
                        <a:t> + T.</a:t>
                      </a:r>
                      <a:r>
                        <a:rPr kumimoji="0" lang="en-US" altLang="en-US" sz="2800" b="0" i="1" u="none" strike="noStrike" cap="none" normalizeH="0" baseline="0">
                          <a:ln>
                            <a:noFill/>
                          </a:ln>
                          <a:solidFill>
                            <a:srgbClr val="270076"/>
                          </a:solidFill>
                          <a:effectLst/>
                          <a:latin typeface="Arial" panose="020B0604020202020204" pitchFamily="34" charset="0"/>
                        </a:rPr>
                        <a:t>val</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66">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270076"/>
                          </a:solidFill>
                          <a:effectLst/>
                          <a:latin typeface="Arial" panose="020B0604020202020204" pitchFamily="34" charset="0"/>
                        </a:rPr>
                        <a:t>E </a:t>
                      </a:r>
                      <a:r>
                        <a:rPr kumimoji="0" lang="en-US"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a:t>
                      </a:r>
                      <a:r>
                        <a:rPr kumimoji="0" lang="en-US" altLang="en-US" sz="2800" b="0" i="0" u="none" strike="noStrike" cap="none" normalizeH="0" baseline="0">
                          <a:ln>
                            <a:noFill/>
                          </a:ln>
                          <a:solidFill>
                            <a:srgbClr val="270076"/>
                          </a:solidFill>
                          <a:effectLst/>
                          <a:latin typeface="Arial" panose="020B0604020202020204" pitchFamily="34" charset="0"/>
                        </a:rPr>
                        <a:t> T</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270076"/>
                          </a:solidFill>
                          <a:effectLst/>
                          <a:latin typeface="Arial" panose="020B0604020202020204" pitchFamily="34" charset="0"/>
                        </a:rPr>
                        <a:t>E.</a:t>
                      </a:r>
                      <a:r>
                        <a:rPr kumimoji="0" lang="en-US" altLang="en-US" sz="2800" b="0" i="1" u="none" strike="noStrike" cap="none" normalizeH="0" baseline="0">
                          <a:ln>
                            <a:noFill/>
                          </a:ln>
                          <a:solidFill>
                            <a:srgbClr val="270076"/>
                          </a:solidFill>
                          <a:effectLst/>
                          <a:latin typeface="Arial" panose="020B0604020202020204" pitchFamily="34" charset="0"/>
                        </a:rPr>
                        <a:t>val</a:t>
                      </a:r>
                      <a:r>
                        <a:rPr kumimoji="0" lang="en-US" altLang="en-US" sz="2800" b="0" i="0" u="none" strike="noStrike" cap="none" normalizeH="0" baseline="0">
                          <a:ln>
                            <a:noFill/>
                          </a:ln>
                          <a:solidFill>
                            <a:srgbClr val="270076"/>
                          </a:solidFill>
                          <a:effectLst/>
                          <a:latin typeface="Arial" panose="020B0604020202020204" pitchFamily="34" charset="0"/>
                        </a:rPr>
                        <a:t> = T.</a:t>
                      </a:r>
                      <a:r>
                        <a:rPr kumimoji="0" lang="en-US" altLang="en-US" sz="2800" b="0" i="1" u="none" strike="noStrike" cap="none" normalizeH="0" baseline="0">
                          <a:ln>
                            <a:noFill/>
                          </a:ln>
                          <a:solidFill>
                            <a:srgbClr val="270076"/>
                          </a:solidFill>
                          <a:effectLst/>
                          <a:latin typeface="Arial" panose="020B0604020202020204" pitchFamily="34" charset="0"/>
                        </a:rPr>
                        <a:t>val</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66">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270076"/>
                          </a:solidFill>
                          <a:effectLst/>
                          <a:latin typeface="Arial" panose="020B0604020202020204" pitchFamily="34" charset="0"/>
                        </a:rPr>
                        <a:t>T </a:t>
                      </a:r>
                      <a:r>
                        <a:rPr kumimoji="0" lang="en-US"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a:t>
                      </a:r>
                      <a:r>
                        <a:rPr kumimoji="0" lang="en-US" altLang="en-US" sz="2800" b="0" i="0" u="none" strike="noStrike" cap="none" normalizeH="0" baseline="0">
                          <a:ln>
                            <a:noFill/>
                          </a:ln>
                          <a:solidFill>
                            <a:srgbClr val="270076"/>
                          </a:solidFill>
                          <a:effectLst/>
                          <a:latin typeface="Arial" panose="020B0604020202020204" pitchFamily="34" charset="0"/>
                        </a:rPr>
                        <a:t> T</a:t>
                      </a:r>
                      <a:r>
                        <a:rPr kumimoji="0" lang="en-US" altLang="en-US" sz="2800" b="1" i="0" u="none" strike="noStrike" cap="none" normalizeH="0" baseline="-25000">
                          <a:ln>
                            <a:noFill/>
                          </a:ln>
                          <a:solidFill>
                            <a:srgbClr val="270076"/>
                          </a:solidFill>
                          <a:effectLst/>
                          <a:latin typeface="Arial" panose="020B0604020202020204" pitchFamily="34" charset="0"/>
                        </a:rPr>
                        <a:t>1</a:t>
                      </a:r>
                      <a:r>
                        <a:rPr kumimoji="0" lang="en-US" altLang="en-US" sz="2800" b="0" i="0" u="none" strike="noStrike" cap="none" normalizeH="0" baseline="0">
                          <a:ln>
                            <a:noFill/>
                          </a:ln>
                          <a:solidFill>
                            <a:srgbClr val="270076"/>
                          </a:solidFill>
                          <a:effectLst/>
                          <a:latin typeface="Arial" panose="020B0604020202020204" pitchFamily="34" charset="0"/>
                        </a:rPr>
                        <a:t> * F</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270076"/>
                          </a:solidFill>
                          <a:effectLst/>
                          <a:latin typeface="Arial" panose="020B0604020202020204" pitchFamily="34" charset="0"/>
                        </a:rPr>
                        <a:t>T.</a:t>
                      </a:r>
                      <a:r>
                        <a:rPr kumimoji="0" lang="en-US" altLang="en-US" sz="2800" b="0" i="1" u="none" strike="noStrike" cap="none" normalizeH="0" baseline="0">
                          <a:ln>
                            <a:noFill/>
                          </a:ln>
                          <a:solidFill>
                            <a:srgbClr val="270076"/>
                          </a:solidFill>
                          <a:effectLst/>
                          <a:latin typeface="Arial" panose="020B0604020202020204" pitchFamily="34" charset="0"/>
                        </a:rPr>
                        <a:t>val</a:t>
                      </a:r>
                      <a:r>
                        <a:rPr kumimoji="0" lang="en-US" altLang="en-US" sz="2800" b="0" i="0" u="none" strike="noStrike" cap="none" normalizeH="0" baseline="0">
                          <a:ln>
                            <a:noFill/>
                          </a:ln>
                          <a:solidFill>
                            <a:srgbClr val="270076"/>
                          </a:solidFill>
                          <a:effectLst/>
                          <a:latin typeface="Arial" panose="020B0604020202020204" pitchFamily="34" charset="0"/>
                        </a:rPr>
                        <a:t> = T</a:t>
                      </a:r>
                      <a:r>
                        <a:rPr kumimoji="0" lang="en-US" altLang="en-US" sz="2800" b="0" i="0" u="none" strike="noStrike" cap="none" normalizeH="0" baseline="-25000">
                          <a:ln>
                            <a:noFill/>
                          </a:ln>
                          <a:solidFill>
                            <a:srgbClr val="270076"/>
                          </a:solidFill>
                          <a:effectLst/>
                          <a:latin typeface="Arial" panose="020B0604020202020204" pitchFamily="34" charset="0"/>
                        </a:rPr>
                        <a:t>1</a:t>
                      </a:r>
                      <a:r>
                        <a:rPr kumimoji="0" lang="en-US" altLang="en-US" sz="2800" b="0" i="0" u="none" strike="noStrike" cap="none" normalizeH="0" baseline="0">
                          <a:ln>
                            <a:noFill/>
                          </a:ln>
                          <a:solidFill>
                            <a:srgbClr val="270076"/>
                          </a:solidFill>
                          <a:effectLst/>
                          <a:latin typeface="Arial" panose="020B0604020202020204" pitchFamily="34" charset="0"/>
                        </a:rPr>
                        <a:t>.</a:t>
                      </a:r>
                      <a:r>
                        <a:rPr kumimoji="0" lang="en-US" altLang="en-US" sz="2800" b="0" i="1" u="none" strike="noStrike" cap="none" normalizeH="0" baseline="0">
                          <a:ln>
                            <a:noFill/>
                          </a:ln>
                          <a:solidFill>
                            <a:srgbClr val="270076"/>
                          </a:solidFill>
                          <a:effectLst/>
                          <a:latin typeface="Arial" panose="020B0604020202020204" pitchFamily="34" charset="0"/>
                        </a:rPr>
                        <a:t>val</a:t>
                      </a:r>
                      <a:r>
                        <a:rPr kumimoji="0" lang="en-US" altLang="en-US" sz="2800" b="0" i="0" u="none" strike="noStrike" cap="none" normalizeH="0" baseline="0">
                          <a:ln>
                            <a:noFill/>
                          </a:ln>
                          <a:solidFill>
                            <a:srgbClr val="270076"/>
                          </a:solidFill>
                          <a:effectLst/>
                          <a:latin typeface="Arial" panose="020B0604020202020204" pitchFamily="34" charset="0"/>
                        </a:rPr>
                        <a:t> * F.</a:t>
                      </a:r>
                      <a:r>
                        <a:rPr kumimoji="0" lang="en-US" altLang="en-US" sz="2800" b="0" i="1" u="none" strike="noStrike" cap="none" normalizeH="0" baseline="0">
                          <a:ln>
                            <a:noFill/>
                          </a:ln>
                          <a:solidFill>
                            <a:srgbClr val="270076"/>
                          </a:solidFill>
                          <a:effectLst/>
                          <a:latin typeface="Arial" panose="020B0604020202020204" pitchFamily="34" charset="0"/>
                        </a:rPr>
                        <a:t>val</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66">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270076"/>
                          </a:solidFill>
                          <a:effectLst/>
                          <a:latin typeface="Arial" panose="020B0604020202020204" pitchFamily="34" charset="0"/>
                        </a:rPr>
                        <a:t>T </a:t>
                      </a:r>
                      <a:r>
                        <a:rPr kumimoji="0" lang="en-US"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a:t>
                      </a:r>
                      <a:r>
                        <a:rPr kumimoji="0" lang="en-US" altLang="en-US" sz="2800" b="0" i="0" u="none" strike="noStrike" cap="none" normalizeH="0" baseline="0">
                          <a:ln>
                            <a:noFill/>
                          </a:ln>
                          <a:solidFill>
                            <a:srgbClr val="270076"/>
                          </a:solidFill>
                          <a:effectLst/>
                          <a:latin typeface="Arial" panose="020B0604020202020204" pitchFamily="34" charset="0"/>
                        </a:rPr>
                        <a:t> F</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270076"/>
                          </a:solidFill>
                          <a:effectLst/>
                          <a:latin typeface="Arial" panose="020B0604020202020204" pitchFamily="34" charset="0"/>
                        </a:rPr>
                        <a:t>T.</a:t>
                      </a:r>
                      <a:r>
                        <a:rPr kumimoji="0" lang="en-US" altLang="en-US" sz="2800" b="0" i="1" u="none" strike="noStrike" cap="none" normalizeH="0" baseline="0">
                          <a:ln>
                            <a:noFill/>
                          </a:ln>
                          <a:solidFill>
                            <a:srgbClr val="270076"/>
                          </a:solidFill>
                          <a:effectLst/>
                          <a:latin typeface="Arial" panose="020B0604020202020204" pitchFamily="34" charset="0"/>
                        </a:rPr>
                        <a:t>val</a:t>
                      </a:r>
                      <a:r>
                        <a:rPr kumimoji="0" lang="en-US" altLang="en-US" sz="2800" b="0" i="0" u="none" strike="noStrike" cap="none" normalizeH="0" baseline="0">
                          <a:ln>
                            <a:noFill/>
                          </a:ln>
                          <a:solidFill>
                            <a:srgbClr val="270076"/>
                          </a:solidFill>
                          <a:effectLst/>
                          <a:latin typeface="Arial" panose="020B0604020202020204" pitchFamily="34" charset="0"/>
                        </a:rPr>
                        <a:t> = F.</a:t>
                      </a:r>
                      <a:r>
                        <a:rPr kumimoji="0" lang="en-US" altLang="en-US" sz="2800" b="0" i="1" u="none" strike="noStrike" cap="none" normalizeH="0" baseline="0">
                          <a:ln>
                            <a:noFill/>
                          </a:ln>
                          <a:solidFill>
                            <a:srgbClr val="270076"/>
                          </a:solidFill>
                          <a:effectLst/>
                          <a:latin typeface="Arial" panose="020B0604020202020204" pitchFamily="34" charset="0"/>
                        </a:rPr>
                        <a:t>val</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66">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270076"/>
                          </a:solidFill>
                          <a:effectLst/>
                          <a:latin typeface="Arial" panose="020B0604020202020204" pitchFamily="34" charset="0"/>
                        </a:rPr>
                        <a:t>F </a:t>
                      </a:r>
                      <a:r>
                        <a:rPr kumimoji="0" lang="en-US"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a:t>
                      </a:r>
                      <a:r>
                        <a:rPr kumimoji="0" lang="en-US" altLang="en-US" sz="2800" b="0" i="0" u="none" strike="noStrike" cap="none" normalizeH="0" baseline="0">
                          <a:ln>
                            <a:noFill/>
                          </a:ln>
                          <a:solidFill>
                            <a:srgbClr val="270076"/>
                          </a:solidFill>
                          <a:effectLst/>
                          <a:latin typeface="Arial" panose="020B0604020202020204" pitchFamily="34" charset="0"/>
                        </a:rPr>
                        <a:t> (E)</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270076"/>
                          </a:solidFill>
                          <a:effectLst/>
                          <a:latin typeface="Arial" panose="020B0604020202020204" pitchFamily="34" charset="0"/>
                        </a:rPr>
                        <a:t>F.</a:t>
                      </a:r>
                      <a:r>
                        <a:rPr kumimoji="0" lang="en-US" altLang="en-US" sz="2800" b="0" i="1" u="none" strike="noStrike" cap="none" normalizeH="0" baseline="0">
                          <a:ln>
                            <a:noFill/>
                          </a:ln>
                          <a:solidFill>
                            <a:srgbClr val="270076"/>
                          </a:solidFill>
                          <a:effectLst/>
                          <a:latin typeface="Arial" panose="020B0604020202020204" pitchFamily="34" charset="0"/>
                        </a:rPr>
                        <a:t>val</a:t>
                      </a:r>
                      <a:r>
                        <a:rPr kumimoji="0" lang="en-US" altLang="en-US" sz="2800" b="0" i="0" u="none" strike="noStrike" cap="none" normalizeH="0" baseline="0">
                          <a:ln>
                            <a:noFill/>
                          </a:ln>
                          <a:solidFill>
                            <a:srgbClr val="270076"/>
                          </a:solidFill>
                          <a:effectLst/>
                          <a:latin typeface="Arial" panose="020B0604020202020204" pitchFamily="34" charset="0"/>
                        </a:rPr>
                        <a:t> = E.</a:t>
                      </a:r>
                      <a:r>
                        <a:rPr kumimoji="0" lang="en-US" altLang="en-US" sz="2800" b="0" i="1" u="none" strike="noStrike" cap="none" normalizeH="0" baseline="0">
                          <a:ln>
                            <a:noFill/>
                          </a:ln>
                          <a:solidFill>
                            <a:srgbClr val="270076"/>
                          </a:solidFill>
                          <a:effectLst/>
                          <a:latin typeface="Arial" panose="020B0604020202020204" pitchFamily="34" charset="0"/>
                        </a:rPr>
                        <a:t>val</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66">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270076"/>
                          </a:solidFill>
                          <a:effectLst/>
                          <a:latin typeface="Arial" panose="020B0604020202020204" pitchFamily="34" charset="0"/>
                        </a:rPr>
                        <a:t>F </a:t>
                      </a:r>
                      <a:r>
                        <a:rPr kumimoji="0" lang="en-US"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a:t>
                      </a:r>
                      <a:r>
                        <a:rPr kumimoji="0" lang="en-US" altLang="en-US" sz="2800" b="0" i="0" u="none" strike="noStrike" cap="none" normalizeH="0" baseline="0">
                          <a:ln>
                            <a:noFill/>
                          </a:ln>
                          <a:solidFill>
                            <a:srgbClr val="270076"/>
                          </a:solidFill>
                          <a:effectLst/>
                          <a:latin typeface="Arial" panose="020B0604020202020204" pitchFamily="34" charset="0"/>
                        </a:rPr>
                        <a:t> </a:t>
                      </a:r>
                      <a:r>
                        <a:rPr kumimoji="0" lang="en-US" altLang="en-US" sz="2800" b="1" i="0" u="none" strike="noStrike" cap="none" normalizeH="0" baseline="0">
                          <a:ln>
                            <a:noFill/>
                          </a:ln>
                          <a:solidFill>
                            <a:srgbClr val="270076"/>
                          </a:solidFill>
                          <a:effectLst/>
                          <a:latin typeface="Arial" panose="020B0604020202020204" pitchFamily="34" charset="0"/>
                        </a:rPr>
                        <a:t>digit</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rgbClr val="270076"/>
                          </a:solidFill>
                          <a:effectLst/>
                          <a:latin typeface="Arial" panose="020B0604020202020204" pitchFamily="34" charset="0"/>
                        </a:rPr>
                        <a:t>F.</a:t>
                      </a:r>
                      <a:r>
                        <a:rPr kumimoji="0" lang="en-US" altLang="en-US" sz="2800" b="0" i="1" u="none" strike="noStrike" cap="none" normalizeH="0" baseline="0">
                          <a:ln>
                            <a:noFill/>
                          </a:ln>
                          <a:solidFill>
                            <a:srgbClr val="270076"/>
                          </a:solidFill>
                          <a:effectLst/>
                          <a:latin typeface="Arial" panose="020B0604020202020204" pitchFamily="34" charset="0"/>
                        </a:rPr>
                        <a:t>val</a:t>
                      </a:r>
                      <a:r>
                        <a:rPr kumimoji="0" lang="en-US" altLang="en-US" sz="2800" b="0" i="0" u="none" strike="noStrike" cap="none" normalizeH="0" baseline="0">
                          <a:ln>
                            <a:noFill/>
                          </a:ln>
                          <a:solidFill>
                            <a:srgbClr val="270076"/>
                          </a:solidFill>
                          <a:effectLst/>
                          <a:latin typeface="Arial" panose="020B0604020202020204" pitchFamily="34" charset="0"/>
                        </a:rPr>
                        <a:t> = digit.</a:t>
                      </a:r>
                      <a:r>
                        <a:rPr kumimoji="0" lang="en-US" altLang="en-US" sz="2800" b="0" i="1" u="none" strike="noStrike" cap="none" normalizeH="0" baseline="0">
                          <a:ln>
                            <a:noFill/>
                          </a:ln>
                          <a:solidFill>
                            <a:srgbClr val="270076"/>
                          </a:solidFill>
                          <a:effectLst/>
                          <a:latin typeface="Arial" panose="020B0604020202020204" pitchFamily="34" charset="0"/>
                        </a:rPr>
                        <a:t>lexval</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456961">
                <a:tc gridSpan="2">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altLang="en-US" sz="2800" b="0" i="1" u="none" strike="noStrike" cap="none" normalizeH="0" baseline="0">
                          <a:ln>
                            <a:noFill/>
                          </a:ln>
                          <a:solidFill>
                            <a:srgbClr val="270076"/>
                          </a:solidFill>
                          <a:effectLst/>
                          <a:latin typeface="Arial" panose="020B0604020202020204" pitchFamily="34" charset="0"/>
                        </a:rPr>
                        <a:t>Các ký hiệu </a:t>
                      </a:r>
                      <a:r>
                        <a:rPr kumimoji="0" lang="en-US" altLang="en-US" sz="2800" b="1" i="1" u="none" strike="noStrike" cap="none" normalizeH="0" baseline="0">
                          <a:ln>
                            <a:noFill/>
                          </a:ln>
                          <a:solidFill>
                            <a:srgbClr val="3539EB"/>
                          </a:solidFill>
                          <a:effectLst/>
                          <a:latin typeface="Arial" panose="020B0604020202020204" pitchFamily="34" charset="0"/>
                        </a:rPr>
                        <a:t>E, T, F</a:t>
                      </a:r>
                      <a:r>
                        <a:rPr kumimoji="0" lang="en-US" altLang="en-US" sz="2800" b="0" i="1" u="none" strike="noStrike" cap="none" normalizeH="0" baseline="0">
                          <a:ln>
                            <a:noFill/>
                          </a:ln>
                          <a:solidFill>
                            <a:srgbClr val="270076"/>
                          </a:solidFill>
                          <a:effectLst/>
                          <a:latin typeface="Arial" panose="020B0604020202020204" pitchFamily="34" charset="0"/>
                        </a:rPr>
                        <a:t> có thuộc tính tổng hợp </a:t>
                      </a:r>
                      <a:r>
                        <a:rPr kumimoji="0" lang="en-US" altLang="en-US" sz="2800" b="1" i="1" u="none" strike="noStrike" cap="none" normalizeH="0" baseline="0">
                          <a:ln>
                            <a:noFill/>
                          </a:ln>
                          <a:solidFill>
                            <a:srgbClr val="3539EB"/>
                          </a:solidFill>
                          <a:effectLst/>
                          <a:latin typeface="Arial" panose="020B0604020202020204" pitchFamily="34" charset="0"/>
                        </a:rPr>
                        <a:t>val</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altLang="en-US" sz="2800" b="0" i="1" u="none" strike="noStrike" cap="none" normalizeH="0" baseline="0">
                          <a:ln>
                            <a:noFill/>
                          </a:ln>
                          <a:solidFill>
                            <a:srgbClr val="270076"/>
                          </a:solidFill>
                          <a:effectLst/>
                          <a:latin typeface="Arial" panose="020B0604020202020204" pitchFamily="34" charset="0"/>
                        </a:rPr>
                        <a:t>Từ tố </a:t>
                      </a:r>
                      <a:r>
                        <a:rPr kumimoji="0" lang="en-US" altLang="en-US" sz="2800" b="1" i="1" u="none" strike="noStrike" cap="none" normalizeH="0" baseline="0">
                          <a:ln>
                            <a:noFill/>
                          </a:ln>
                          <a:solidFill>
                            <a:srgbClr val="3539EB"/>
                          </a:solidFill>
                          <a:effectLst/>
                          <a:latin typeface="Arial" panose="020B0604020202020204" pitchFamily="34" charset="0"/>
                        </a:rPr>
                        <a:t>digit</a:t>
                      </a:r>
                      <a:r>
                        <a:rPr kumimoji="0" lang="en-US" altLang="en-US" sz="2800" b="0" i="1" u="none" strike="noStrike" cap="none" normalizeH="0" baseline="0">
                          <a:ln>
                            <a:noFill/>
                          </a:ln>
                          <a:solidFill>
                            <a:srgbClr val="270076"/>
                          </a:solidFill>
                          <a:effectLst/>
                          <a:latin typeface="Arial" panose="020B0604020202020204" pitchFamily="34" charset="0"/>
                        </a:rPr>
                        <a:t> có thuộc tính tổng hợp </a:t>
                      </a:r>
                      <a:r>
                        <a:rPr kumimoji="0" lang="en-US" altLang="en-US" sz="2800" b="1" i="1" u="none" strike="noStrike" cap="none" normalizeH="0" baseline="0">
                          <a:ln>
                            <a:noFill/>
                          </a:ln>
                          <a:solidFill>
                            <a:srgbClr val="3539EB"/>
                          </a:solidFill>
                          <a:effectLst/>
                          <a:latin typeface="Arial" panose="020B0604020202020204" pitchFamily="34" charset="0"/>
                        </a:rPr>
                        <a:t>lexval</a:t>
                      </a:r>
                      <a:r>
                        <a:rPr kumimoji="0" lang="en-US" altLang="en-US" sz="2800" b="0" i="1" u="none" strike="noStrike" cap="none" normalizeH="0" baseline="0">
                          <a:ln>
                            <a:noFill/>
                          </a:ln>
                          <a:solidFill>
                            <a:srgbClr val="270076"/>
                          </a:solidFill>
                          <a:effectLst/>
                          <a:latin typeface="Arial" panose="020B0604020202020204" pitchFamily="34" charset="0"/>
                        </a:rPr>
                        <a:t> ( Được bộ phân tích từ vựng đưa ra )</a:t>
                      </a:r>
                      <a:endParaRPr kumimoji="0" lang="en-US" altLang="en-US" sz="2800" b="1" i="0" u="none" strike="noStrike" cap="none" normalizeH="0" baseline="0">
                        <a:ln>
                          <a:noFill/>
                        </a:ln>
                        <a:solidFill>
                          <a:srgbClr val="270076"/>
                        </a:solidFill>
                        <a:effectLst/>
                        <a:latin typeface="Arial" panose="020B0604020202020204" pitchFamily="34" charset="0"/>
                      </a:endParaRP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AAE3CFE1-A933-4D36-B463-20424E667FAA}" type="slidenum">
              <a:rPr lang="en-US" altLang="en-US" sz="1400" b="0"/>
              <a:pPr/>
              <a:t>34</a:t>
            </a:fld>
            <a:endParaRPr lang="en-US" altLang="en-US" sz="1400" b="0"/>
          </a:p>
        </p:txBody>
      </p:sp>
      <p:graphicFrame>
        <p:nvGraphicFramePr>
          <p:cNvPr id="1723429" name="Object 4"/>
          <p:cNvGraphicFramePr>
            <a:graphicFrameLocks noGrp="1" noChangeAspect="1"/>
          </p:cNvGraphicFramePr>
          <p:nvPr>
            <p:ph sz="half" idx="2"/>
            <p:extLst>
              <p:ext uri="{D42A27DB-BD31-4B8C-83A1-F6EECF244321}">
                <p14:modId xmlns:p14="http://schemas.microsoft.com/office/powerpoint/2010/main" val="542934251"/>
              </p:ext>
            </p:extLst>
          </p:nvPr>
        </p:nvGraphicFramePr>
        <p:xfrm>
          <a:off x="152400" y="1666875"/>
          <a:ext cx="8915400" cy="5159375"/>
        </p:xfrm>
        <a:graphic>
          <a:graphicData uri="http://schemas.openxmlformats.org/presentationml/2006/ole">
            <mc:AlternateContent xmlns:mc="http://schemas.openxmlformats.org/markup-compatibility/2006">
              <mc:Choice xmlns:v="urn:schemas-microsoft-com:vml" Requires="v">
                <p:oleObj name="Bitmap Image" r:id="rId3" imgW="6304762" imgH="3648584" progId="Paint.Picture">
                  <p:embed/>
                </p:oleObj>
              </mc:Choice>
              <mc:Fallback>
                <p:oleObj name="Bitmap Image" r:id="rId3" imgW="6304762" imgH="3648584" progId="Paint.Picture">
                  <p:embed/>
                  <p:pic>
                    <p:nvPicPr>
                      <p:cNvPr id="172342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666875"/>
                        <a:ext cx="8915400" cy="5159375"/>
                      </a:xfrm>
                      <a:prstGeom prst="rect">
                        <a:avLst/>
                      </a:prstGeom>
                      <a:noFill/>
                      <a:ln>
                        <a:solidFill>
                          <a:srgbClr val="7030A0"/>
                        </a:solidFill>
                      </a:ln>
                      <a:effectLst/>
                    </p:spPr>
                  </p:pic>
                </p:oleObj>
              </mc:Fallback>
            </mc:AlternateContent>
          </a:graphicData>
        </a:graphic>
      </p:graphicFrame>
      <p:sp>
        <p:nvSpPr>
          <p:cNvPr id="39940" name="Rectangle 2"/>
          <p:cNvSpPr>
            <a:spLocks noGrp="1" noChangeArrowheads="1"/>
          </p:cNvSpPr>
          <p:nvPr>
            <p:ph type="title"/>
          </p:nvPr>
        </p:nvSpPr>
        <p:spPr/>
        <p:txBody>
          <a:bodyPr/>
          <a:lstStyle/>
          <a:p>
            <a:pPr eaLnBrk="1" hangingPunct="1"/>
            <a:r>
              <a:rPr lang="en-US" altLang="en-US" sz="2800"/>
              <a:t>Cây phân tích cú pháp có chú giải</a:t>
            </a:r>
          </a:p>
        </p:txBody>
      </p:sp>
      <p:sp>
        <p:nvSpPr>
          <p:cNvPr id="39941"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3. Chương trình dịch định hướng cú pháp</a:t>
            </a:r>
            <a:endParaRPr lang="en-US" altLang="en-US" sz="1800">
              <a:solidFill>
                <a:schemeClr val="bg1"/>
              </a:solidFill>
            </a:endParaRPr>
          </a:p>
        </p:txBody>
      </p:sp>
      <p:sp>
        <p:nvSpPr>
          <p:cNvPr id="39942" name="Rectangle 3"/>
          <p:cNvSpPr>
            <a:spLocks noChangeArrowheads="1"/>
          </p:cNvSpPr>
          <p:nvPr/>
        </p:nvSpPr>
        <p:spPr bwMode="auto">
          <a:xfrm>
            <a:off x="152400" y="914400"/>
            <a:ext cx="86534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marL="342900" indent="-342900">
              <a:spcBef>
                <a:spcPct val="20000"/>
              </a:spcBef>
              <a:buChar char="•"/>
              <a:defRPr sz="3200">
                <a:solidFill>
                  <a:srgbClr val="270076"/>
                </a:solidFill>
                <a:latin typeface="Arial" panose="020B0604020202020204" pitchFamily="34" charset="0"/>
              </a:defRPr>
            </a:lvl1pPr>
            <a:lvl2pPr marL="855663" indent="-398463">
              <a:spcBef>
                <a:spcPct val="20000"/>
              </a:spcBef>
              <a:buChar char="–"/>
              <a:defRPr sz="2800">
                <a:solidFill>
                  <a:srgbClr val="270076"/>
                </a:solidFill>
                <a:latin typeface="Arial" panose="020B0604020202020204" pitchFamily="34" charset="0"/>
              </a:defRPr>
            </a:lvl2pPr>
            <a:lvl3pPr marL="1198563" indent="-228600">
              <a:spcBef>
                <a:spcPct val="20000"/>
              </a:spcBef>
              <a:buChar char="•"/>
              <a:defRPr sz="2400">
                <a:solidFill>
                  <a:srgbClr val="270076"/>
                </a:solidFill>
                <a:latin typeface="Arial" panose="020B0604020202020204" pitchFamily="34" charset="0"/>
              </a:defRPr>
            </a:lvl3pPr>
            <a:lvl4pPr marL="1600200" indent="-228600">
              <a:spcBef>
                <a:spcPct val="20000"/>
              </a:spcBef>
              <a:buChar char="–"/>
              <a:defRPr sz="2000">
                <a:solidFill>
                  <a:srgbClr val="270076"/>
                </a:solidFill>
                <a:latin typeface="Arial" panose="020B0604020202020204" pitchFamily="34" charset="0"/>
              </a:defRPr>
            </a:lvl4pPr>
            <a:lvl5pPr marL="2057400" indent="-228600">
              <a:spcBef>
                <a:spcPct val="20000"/>
              </a:spcBef>
              <a:buChar char="»"/>
              <a:defRPr sz="2000">
                <a:solidFill>
                  <a:srgbClr val="270076"/>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270076"/>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270076"/>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270076"/>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270076"/>
                </a:solidFill>
                <a:latin typeface="Arial" panose="020B0604020202020204" pitchFamily="34" charset="0"/>
              </a:defRPr>
            </a:lvl9pPr>
          </a:lstStyle>
          <a:p>
            <a:pPr algn="just" eaLnBrk="1" hangingPunct="1">
              <a:buFontTx/>
              <a:buNone/>
            </a:pPr>
            <a:r>
              <a:rPr lang="en-US" altLang="en-US" b="0"/>
              <a:t>Cây có chỉ ra giá trị các thuộc tính tại mỗi nút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723429"/>
                                        </p:tgtEl>
                                        <p:attrNameLst>
                                          <p:attrName>style.visibility</p:attrName>
                                        </p:attrNameLst>
                                      </p:cBhvr>
                                      <p:to>
                                        <p:strVal val="visible"/>
                                      </p:to>
                                    </p:set>
                                    <p:animEffect transition="in" filter="dissolve">
                                      <p:cBhvr>
                                        <p:cTn id="7" dur="500"/>
                                        <p:tgtEl>
                                          <p:spTgt spid="1723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A33FC273-D4EC-4E63-B824-3C04CF558716}" type="slidenum">
              <a:rPr lang="en-US" altLang="en-US" sz="1400" b="0"/>
              <a:pPr/>
              <a:t>35</a:t>
            </a:fld>
            <a:endParaRPr lang="en-US" altLang="en-US" sz="1400" b="0"/>
          </a:p>
        </p:txBody>
      </p:sp>
      <p:sp>
        <p:nvSpPr>
          <p:cNvPr id="40963" name="Rectangle 2"/>
          <p:cNvSpPr>
            <a:spLocks noGrp="1" noChangeArrowheads="1"/>
          </p:cNvSpPr>
          <p:nvPr>
            <p:ph type="title"/>
          </p:nvPr>
        </p:nvSpPr>
        <p:spPr/>
        <p:txBody>
          <a:bodyPr/>
          <a:lstStyle/>
          <a:p>
            <a:pPr eaLnBrk="1" hangingPunct="1"/>
            <a:r>
              <a:rPr lang="en-US" altLang="en-US" sz="2800"/>
              <a:t>Thuộc tính kế thừa </a:t>
            </a:r>
            <a:r>
              <a:rPr lang="en-US" altLang="en-US">
                <a:sym typeface="Symbol" panose="05050102010706020507" pitchFamily="18" charset="2"/>
              </a:rPr>
              <a:t></a:t>
            </a:r>
            <a:r>
              <a:rPr lang="en-US" altLang="en-US"/>
              <a:t>Ví dụ</a:t>
            </a:r>
          </a:p>
        </p:txBody>
      </p:sp>
      <p:graphicFrame>
        <p:nvGraphicFramePr>
          <p:cNvPr id="1724471" name="Group 55"/>
          <p:cNvGraphicFramePr>
            <a:graphicFrameLocks noGrp="1"/>
          </p:cNvGraphicFramePr>
          <p:nvPr>
            <p:ph sz="half" idx="2"/>
          </p:nvPr>
        </p:nvGraphicFramePr>
        <p:xfrm>
          <a:off x="152400" y="838200"/>
          <a:ext cx="8839200" cy="6015096"/>
        </p:xfrm>
        <a:graphic>
          <a:graphicData uri="http://schemas.openxmlformats.org/drawingml/2006/table">
            <a:tbl>
              <a:tblPr/>
              <a:tblGrid>
                <a:gridCol w="3981450">
                  <a:extLst>
                    <a:ext uri="{9D8B030D-6E8A-4147-A177-3AD203B41FA5}">
                      <a16:colId xmlns:a16="http://schemas.microsoft.com/office/drawing/2014/main" val="20000"/>
                    </a:ext>
                  </a:extLst>
                </a:gridCol>
                <a:gridCol w="4857750">
                  <a:extLst>
                    <a:ext uri="{9D8B030D-6E8A-4147-A177-3AD203B41FA5}">
                      <a16:colId xmlns:a16="http://schemas.microsoft.com/office/drawing/2014/main" val="20001"/>
                    </a:ext>
                  </a:extLst>
                </a:gridCol>
              </a:tblGrid>
              <a:tr h="457195">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270076"/>
                          </a:solidFill>
                          <a:effectLst/>
                          <a:latin typeface="Arial" panose="020B0604020202020204" pitchFamily="34" charset="0"/>
                        </a:rPr>
                        <a:t>Sản xuất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270076"/>
                          </a:solidFill>
                          <a:effectLst/>
                          <a:latin typeface="Arial" panose="020B0604020202020204" pitchFamily="34" charset="0"/>
                        </a:rPr>
                        <a:t>Quy tắc ngữ nghĩa</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195">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rgbClr val="270076"/>
                          </a:solidFill>
                          <a:effectLst/>
                          <a:latin typeface="Arial" panose="020B0604020202020204" pitchFamily="34" charset="0"/>
                        </a:rPr>
                        <a:t>D </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a:t>
                      </a:r>
                      <a:r>
                        <a:rPr kumimoji="0" lang="en-US" altLang="en-US" sz="2400" b="0" i="0" u="none" strike="noStrike" cap="none" normalizeH="0" baseline="0">
                          <a:ln>
                            <a:noFill/>
                          </a:ln>
                          <a:solidFill>
                            <a:srgbClr val="270076"/>
                          </a:solidFill>
                          <a:effectLst/>
                          <a:latin typeface="Arial" panose="020B0604020202020204" pitchFamily="34" charset="0"/>
                        </a:rPr>
                        <a:t> T L </a:t>
                      </a:r>
                      <a:r>
                        <a:rPr kumimoji="0" lang="en-US" altLang="en-US" sz="2400" b="1" i="0" u="none" strike="noStrike" cap="none" normalizeH="0" baseline="0">
                          <a:ln>
                            <a:noFill/>
                          </a:ln>
                          <a:solidFill>
                            <a:srgbClr val="270076"/>
                          </a:solidFill>
                          <a:effectLst/>
                          <a:latin typeface="Arial" panose="020B0604020202020204" pitchFamily="34" charset="0"/>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L.</a:t>
                      </a:r>
                      <a:r>
                        <a:rPr kumimoji="0" lang="fr-FR" altLang="en-US" sz="2400" b="0" i="1" u="none" strike="noStrike" cap="none" normalizeH="0" baseline="0">
                          <a:ln>
                            <a:noFill/>
                          </a:ln>
                          <a:solidFill>
                            <a:srgbClr val="270076"/>
                          </a:solidFill>
                          <a:effectLst/>
                          <a:latin typeface="Arial" panose="020B0604020202020204" pitchFamily="34" charset="0"/>
                        </a:rPr>
                        <a:t>in</a:t>
                      </a:r>
                      <a:r>
                        <a:rPr kumimoji="0" lang="fr-FR" altLang="en-US" sz="2400" b="0" i="0" u="none" strike="noStrike" cap="none" normalizeH="0" baseline="0">
                          <a:ln>
                            <a:noFill/>
                          </a:ln>
                          <a:solidFill>
                            <a:srgbClr val="270076"/>
                          </a:solidFill>
                          <a:effectLst/>
                          <a:latin typeface="Arial" panose="020B0604020202020204" pitchFamily="34" charset="0"/>
                        </a:rPr>
                        <a:t> := T.</a:t>
                      </a:r>
                      <a:r>
                        <a:rPr kumimoji="0" lang="fr-FR" altLang="en-US" sz="2400" b="0" i="1" u="none" strike="noStrike" cap="none" normalizeH="0" baseline="0">
                          <a:ln>
                            <a:noFill/>
                          </a:ln>
                          <a:solidFill>
                            <a:srgbClr val="270076"/>
                          </a:solidFill>
                          <a:effectLst/>
                          <a:latin typeface="Arial" panose="020B0604020202020204" pitchFamily="34" charset="0"/>
                        </a:rPr>
                        <a:t>type</a:t>
                      </a:r>
                      <a:endParaRPr kumimoji="0" lang="en-US" altLang="en-US" sz="2400" b="0" i="1"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2120">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rgbClr val="270076"/>
                          </a:solidFill>
                          <a:effectLst/>
                          <a:latin typeface="Arial" panose="020B0604020202020204" pitchFamily="34" charset="0"/>
                        </a:rPr>
                        <a:t>T </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a:t>
                      </a:r>
                      <a:r>
                        <a:rPr kumimoji="0" lang="en-US" altLang="en-US" sz="2400" b="0" i="0" u="none" strike="noStrike" cap="none" normalizeH="0" baseline="0">
                          <a:ln>
                            <a:noFill/>
                          </a:ln>
                          <a:solidFill>
                            <a:srgbClr val="270076"/>
                          </a:solidFill>
                          <a:effectLst/>
                          <a:latin typeface="Arial" panose="020B0604020202020204" pitchFamily="34" charset="0"/>
                        </a:rPr>
                        <a:t> int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T.</a:t>
                      </a:r>
                      <a:r>
                        <a:rPr kumimoji="0" lang="fr-FR" altLang="en-US" sz="2400" b="0" i="1" u="none" strike="noStrike" cap="none" normalizeH="0" baseline="0">
                          <a:ln>
                            <a:noFill/>
                          </a:ln>
                          <a:solidFill>
                            <a:srgbClr val="270076"/>
                          </a:solidFill>
                          <a:effectLst/>
                          <a:latin typeface="Arial" panose="020B0604020202020204" pitchFamily="34" charset="0"/>
                        </a:rPr>
                        <a:t>type</a:t>
                      </a:r>
                      <a:r>
                        <a:rPr kumimoji="0" lang="fr-FR" altLang="en-US" sz="2400" b="0" i="0" u="none" strike="noStrike" cap="none" normalizeH="0" baseline="0">
                          <a:ln>
                            <a:noFill/>
                          </a:ln>
                          <a:solidFill>
                            <a:srgbClr val="270076"/>
                          </a:solidFill>
                          <a:effectLst/>
                          <a:latin typeface="Arial" panose="020B0604020202020204" pitchFamily="34" charset="0"/>
                        </a:rPr>
                        <a:t> = </a:t>
                      </a:r>
                      <a:r>
                        <a:rPr kumimoji="0" lang="fr-FR" altLang="en-US" sz="2400" b="0" i="0" u="none" strike="noStrike" cap="none" normalizeH="0" baseline="0">
                          <a:ln>
                            <a:noFill/>
                          </a:ln>
                          <a:solidFill>
                            <a:srgbClr val="3539EB"/>
                          </a:solidFill>
                          <a:effectLst/>
                          <a:latin typeface="Arial" panose="020B0604020202020204" pitchFamily="34" charset="0"/>
                        </a:rPr>
                        <a:t>integer</a:t>
                      </a:r>
                      <a:endParaRPr kumimoji="0" lang="en-US" altLang="en-US" sz="2400" b="0" i="0" u="none" strike="noStrike" cap="none" normalizeH="0" baseline="0">
                        <a:ln>
                          <a:noFill/>
                        </a:ln>
                        <a:solidFill>
                          <a:srgbClr val="3539EB"/>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195">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rgbClr val="270076"/>
                          </a:solidFill>
                          <a:effectLst/>
                          <a:latin typeface="Arial" panose="020B0604020202020204" pitchFamily="34" charset="0"/>
                        </a:rPr>
                        <a:t>T </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a:t>
                      </a:r>
                      <a:r>
                        <a:rPr kumimoji="0" lang="en-US" altLang="en-US" sz="2400" b="0" i="0" u="none" strike="noStrike" cap="none" normalizeH="0" baseline="0">
                          <a:ln>
                            <a:noFill/>
                          </a:ln>
                          <a:solidFill>
                            <a:srgbClr val="270076"/>
                          </a:solidFill>
                          <a:effectLst/>
                          <a:latin typeface="Arial" panose="020B0604020202020204" pitchFamily="34" charset="0"/>
                        </a:rPr>
                        <a:t> float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T.</a:t>
                      </a:r>
                      <a:r>
                        <a:rPr kumimoji="0" lang="fr-FR" altLang="en-US" sz="2400" b="0" i="1" u="none" strike="noStrike" cap="none" normalizeH="0" baseline="0">
                          <a:ln>
                            <a:noFill/>
                          </a:ln>
                          <a:solidFill>
                            <a:srgbClr val="270076"/>
                          </a:solidFill>
                          <a:effectLst/>
                          <a:latin typeface="Arial" panose="020B0604020202020204" pitchFamily="34" charset="0"/>
                        </a:rPr>
                        <a:t>type</a:t>
                      </a:r>
                      <a:r>
                        <a:rPr kumimoji="0" lang="fr-FR" altLang="en-US" sz="2400" b="0" i="0" u="none" strike="noStrike" cap="none" normalizeH="0" baseline="0">
                          <a:ln>
                            <a:noFill/>
                          </a:ln>
                          <a:solidFill>
                            <a:srgbClr val="270076"/>
                          </a:solidFill>
                          <a:effectLst/>
                          <a:latin typeface="Arial" panose="020B0604020202020204" pitchFamily="34" charset="0"/>
                        </a:rPr>
                        <a:t> := </a:t>
                      </a:r>
                      <a:r>
                        <a:rPr kumimoji="0" lang="fr-FR" altLang="en-US" sz="2400" b="0" i="0" u="none" strike="noStrike" cap="none" normalizeH="0" baseline="0">
                          <a:ln>
                            <a:noFill/>
                          </a:ln>
                          <a:solidFill>
                            <a:srgbClr val="3539EB"/>
                          </a:solidFill>
                          <a:effectLst/>
                          <a:latin typeface="Arial" panose="020B0604020202020204" pitchFamily="34" charset="0"/>
                        </a:rPr>
                        <a:t>real</a:t>
                      </a:r>
                      <a:endParaRPr kumimoji="0" lang="en-US" altLang="en-US" sz="2400" b="0" i="0" u="none" strike="noStrike" cap="none" normalizeH="0" baseline="0">
                        <a:ln>
                          <a:noFill/>
                        </a:ln>
                        <a:solidFill>
                          <a:srgbClr val="3539EB"/>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96103">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rgbClr val="270076"/>
                          </a:solidFill>
                          <a:effectLst/>
                          <a:latin typeface="Arial" panose="020B0604020202020204" pitchFamily="34" charset="0"/>
                        </a:rPr>
                        <a:t>L </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a:t>
                      </a:r>
                      <a:r>
                        <a:rPr kumimoji="0" lang="en-US" altLang="en-US" sz="2400" b="0" i="0" u="none" strike="noStrike" cap="none" normalizeH="0" baseline="0">
                          <a:ln>
                            <a:noFill/>
                          </a:ln>
                          <a:solidFill>
                            <a:srgbClr val="270076"/>
                          </a:solidFill>
                          <a:effectLst/>
                          <a:latin typeface="Arial" panose="020B0604020202020204" pitchFamily="34" charset="0"/>
                        </a:rPr>
                        <a:t> L</a:t>
                      </a:r>
                      <a:r>
                        <a:rPr kumimoji="0" lang="en-US" altLang="en-US" sz="2400" b="1" i="0" u="none" strike="noStrike" cap="none" normalizeH="0" baseline="-25000">
                          <a:ln>
                            <a:noFill/>
                          </a:ln>
                          <a:solidFill>
                            <a:srgbClr val="270076"/>
                          </a:solidFill>
                          <a:effectLst/>
                          <a:latin typeface="Arial" panose="020B0604020202020204" pitchFamily="34" charset="0"/>
                        </a:rPr>
                        <a:t>1</a:t>
                      </a:r>
                      <a:r>
                        <a:rPr kumimoji="0" lang="en-US" altLang="en-US" sz="2400" b="0" i="0" u="none" strike="noStrike" cap="none" normalizeH="0" baseline="0">
                          <a:ln>
                            <a:noFill/>
                          </a:ln>
                          <a:solidFill>
                            <a:srgbClr val="270076"/>
                          </a:solidFill>
                          <a:effectLst/>
                          <a:latin typeface="Arial" panose="020B0604020202020204" pitchFamily="34" charset="0"/>
                        </a:rPr>
                        <a:t> </a:t>
                      </a:r>
                      <a:r>
                        <a:rPr kumimoji="0" lang="en-US" altLang="en-US" sz="2400" b="1" i="0" u="none" strike="noStrike" cap="none" normalizeH="0" baseline="0">
                          <a:ln>
                            <a:noFill/>
                          </a:ln>
                          <a:solidFill>
                            <a:srgbClr val="270076"/>
                          </a:solidFill>
                          <a:effectLst/>
                          <a:latin typeface="Arial" panose="020B0604020202020204" pitchFamily="34" charset="0"/>
                        </a:rPr>
                        <a:t>,</a:t>
                      </a:r>
                      <a:r>
                        <a:rPr kumimoji="0" lang="en-US" altLang="en-US" sz="2400" b="0" i="0" u="none" strike="noStrike" cap="none" normalizeH="0" baseline="0">
                          <a:ln>
                            <a:noFill/>
                          </a:ln>
                          <a:solidFill>
                            <a:srgbClr val="270076"/>
                          </a:solidFill>
                          <a:effectLst/>
                          <a:latin typeface="Arial" panose="020B0604020202020204" pitchFamily="34" charset="0"/>
                        </a:rPr>
                        <a:t> Id  </a:t>
                      </a:r>
                      <a:r>
                        <a:rPr kumimoji="0" lang="en-US" altLang="en-US" sz="2400" b="0" i="0" u="none" strike="noStrike" cap="none" normalizeH="0" baseline="0">
                          <a:ln>
                            <a:noFill/>
                          </a:ln>
                          <a:solidFill>
                            <a:schemeClr val="bg2"/>
                          </a:solidFill>
                          <a:effectLst/>
                          <a:latin typeface="Arial" panose="020B0604020202020204" pitchFamily="34" charset="0"/>
                        </a:rPr>
                        <a:t>//L</a:t>
                      </a:r>
                      <a:r>
                        <a:rPr kumimoji="0" lang="en-US" altLang="en-US" sz="2400" b="0" i="0" u="none" strike="noStrike" cap="none" normalizeH="0" baseline="-25000">
                          <a:ln>
                            <a:noFill/>
                          </a:ln>
                          <a:solidFill>
                            <a:schemeClr val="bg2"/>
                          </a:solidFill>
                          <a:effectLst/>
                          <a:latin typeface="Arial" panose="020B0604020202020204" pitchFamily="34" charset="0"/>
                        </a:rPr>
                        <a:t>1</a:t>
                      </a:r>
                      <a:r>
                        <a:rPr kumimoji="0" lang="en-US" altLang="en-US" sz="2400" b="0" i="0" u="none" strike="noStrike" cap="none" normalizeH="0" baseline="0">
                          <a:ln>
                            <a:noFill/>
                          </a:ln>
                          <a:solidFill>
                            <a:schemeClr val="bg2"/>
                          </a:solidFill>
                          <a:effectLst/>
                          <a:latin typeface="Arial" panose="020B0604020202020204" pitchFamily="34" charset="0"/>
                          <a:sym typeface="Symbol" panose="05050102010706020507" pitchFamily="18" charset="2"/>
                        </a:rPr>
                        <a:t> L</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L</a:t>
                      </a:r>
                      <a:r>
                        <a:rPr kumimoji="0" lang="fr-FR" altLang="en-US" sz="2400" b="0" i="0" u="none" strike="noStrike" cap="none" normalizeH="0" baseline="-25000">
                          <a:ln>
                            <a:noFill/>
                          </a:ln>
                          <a:solidFill>
                            <a:srgbClr val="270076"/>
                          </a:solidFill>
                          <a:effectLst/>
                          <a:latin typeface="Arial" panose="020B0604020202020204" pitchFamily="34" charset="0"/>
                        </a:rPr>
                        <a:t>1</a:t>
                      </a:r>
                      <a:r>
                        <a:rPr kumimoji="0" lang="fr-FR" altLang="en-US" sz="2400" b="0" i="0" u="none" strike="noStrike" cap="none" normalizeH="0" baseline="0">
                          <a:ln>
                            <a:noFill/>
                          </a:ln>
                          <a:solidFill>
                            <a:srgbClr val="270076"/>
                          </a:solidFill>
                          <a:effectLst/>
                          <a:latin typeface="Arial" panose="020B0604020202020204" pitchFamily="34" charset="0"/>
                        </a:rPr>
                        <a:t>.</a:t>
                      </a:r>
                      <a:r>
                        <a:rPr kumimoji="0" lang="fr-FR" altLang="en-US" sz="2400" b="0" i="1" u="none" strike="noStrike" cap="none" normalizeH="0" baseline="0">
                          <a:ln>
                            <a:noFill/>
                          </a:ln>
                          <a:solidFill>
                            <a:srgbClr val="270076"/>
                          </a:solidFill>
                          <a:effectLst/>
                          <a:latin typeface="Arial" panose="020B0604020202020204" pitchFamily="34" charset="0"/>
                        </a:rPr>
                        <a:t>in</a:t>
                      </a:r>
                      <a:r>
                        <a:rPr kumimoji="0" lang="fr-FR" altLang="en-US" sz="2400" b="0" i="0" u="none" strike="noStrike" cap="none" normalizeH="0" baseline="0">
                          <a:ln>
                            <a:noFill/>
                          </a:ln>
                          <a:solidFill>
                            <a:srgbClr val="270076"/>
                          </a:solidFill>
                          <a:effectLst/>
                          <a:latin typeface="Arial" panose="020B0604020202020204" pitchFamily="34" charset="0"/>
                        </a:rPr>
                        <a:t> := L.</a:t>
                      </a:r>
                      <a:r>
                        <a:rPr kumimoji="0" lang="fr-FR" altLang="en-US" sz="2400" b="0" i="1" u="none" strike="noStrike" cap="none" normalizeH="0" baseline="0">
                          <a:ln>
                            <a:noFill/>
                          </a:ln>
                          <a:solidFill>
                            <a:srgbClr val="270076"/>
                          </a:solidFill>
                          <a:effectLst/>
                          <a:latin typeface="Arial" panose="020B0604020202020204" pitchFamily="34" charset="0"/>
                        </a:rPr>
                        <a:t>in</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addType(Id</a:t>
                      </a:r>
                      <a:r>
                        <a:rPr kumimoji="0" lang="fr-FR" altLang="en-US" sz="2400" b="0" i="1" u="none" strike="noStrike" cap="none" normalizeH="0" baseline="0">
                          <a:ln>
                            <a:noFill/>
                          </a:ln>
                          <a:solidFill>
                            <a:srgbClr val="270076"/>
                          </a:solidFill>
                          <a:effectLst/>
                          <a:latin typeface="Arial" panose="020B0604020202020204" pitchFamily="34" charset="0"/>
                        </a:rPr>
                        <a:t>.entry,</a:t>
                      </a:r>
                      <a:r>
                        <a:rPr kumimoji="0" lang="fr-FR" altLang="en-US" sz="2400" b="0" i="0" u="none" strike="noStrike" cap="none" normalizeH="0" baseline="0">
                          <a:ln>
                            <a:noFill/>
                          </a:ln>
                          <a:solidFill>
                            <a:srgbClr val="270076"/>
                          </a:solidFill>
                          <a:effectLst/>
                          <a:latin typeface="Arial" panose="020B0604020202020204" pitchFamily="34" charset="0"/>
                        </a:rPr>
                        <a:t> L.</a:t>
                      </a:r>
                      <a:r>
                        <a:rPr kumimoji="0" lang="fr-FR" altLang="en-US" sz="2400" b="0" i="1" u="none" strike="noStrike" cap="none" normalizeH="0" baseline="0">
                          <a:ln>
                            <a:noFill/>
                          </a:ln>
                          <a:solidFill>
                            <a:srgbClr val="270076"/>
                          </a:solidFill>
                          <a:effectLst/>
                          <a:latin typeface="Arial" panose="020B0604020202020204" pitchFamily="34" charset="0"/>
                        </a:rPr>
                        <a:t>in</a:t>
                      </a:r>
                      <a:r>
                        <a:rPr kumimoji="0" lang="fr-FR" altLang="en-US" sz="2400" b="0" i="0" u="none" strike="noStrike" cap="none" normalizeH="0" baseline="0">
                          <a:ln>
                            <a:noFill/>
                          </a:ln>
                          <a:solidFill>
                            <a:srgbClr val="270076"/>
                          </a:solidFill>
                          <a:effectLst/>
                          <a:latin typeface="Arial" panose="020B0604020202020204" pitchFamily="34" charset="0"/>
                        </a:rPr>
                        <a:t>)</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195">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rgbClr val="270076"/>
                          </a:solidFill>
                          <a:effectLst/>
                          <a:latin typeface="Arial" panose="020B0604020202020204" pitchFamily="34" charset="0"/>
                        </a:rPr>
                        <a:t>L </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a:t>
                      </a:r>
                      <a:r>
                        <a:rPr kumimoji="0" lang="en-US" altLang="en-US" sz="2400" b="0" i="0" u="none" strike="noStrike" cap="none" normalizeH="0" baseline="0">
                          <a:ln>
                            <a:noFill/>
                          </a:ln>
                          <a:solidFill>
                            <a:srgbClr val="270076"/>
                          </a:solidFill>
                          <a:effectLst/>
                          <a:latin typeface="Arial" panose="020B0604020202020204" pitchFamily="34" charset="0"/>
                        </a:rPr>
                        <a:t> Id</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addType(Id.</a:t>
                      </a:r>
                      <a:r>
                        <a:rPr kumimoji="0" lang="fr-FR" altLang="en-US" sz="2400" b="0" i="1" u="none" strike="noStrike" cap="none" normalizeH="0" baseline="0">
                          <a:ln>
                            <a:noFill/>
                          </a:ln>
                          <a:solidFill>
                            <a:srgbClr val="270076"/>
                          </a:solidFill>
                          <a:effectLst/>
                          <a:latin typeface="Arial" panose="020B0604020202020204" pitchFamily="34" charset="0"/>
                        </a:rPr>
                        <a:t>entry</a:t>
                      </a:r>
                      <a:r>
                        <a:rPr kumimoji="0" lang="fr-FR" altLang="en-US" sz="2400" b="0" i="0" u="none" strike="noStrike" cap="none" normalizeH="0" baseline="0">
                          <a:ln>
                            <a:noFill/>
                          </a:ln>
                          <a:solidFill>
                            <a:srgbClr val="270076"/>
                          </a:solidFill>
                          <a:effectLst/>
                          <a:latin typeface="Arial" panose="020B0604020202020204" pitchFamily="34" charset="0"/>
                        </a:rPr>
                        <a:t>, L.</a:t>
                      </a:r>
                      <a:r>
                        <a:rPr kumimoji="0" lang="fr-FR" altLang="en-US" sz="2400" b="0" i="1" u="none" strike="noStrike" cap="none" normalizeH="0" baseline="0">
                          <a:ln>
                            <a:noFill/>
                          </a:ln>
                          <a:solidFill>
                            <a:srgbClr val="270076"/>
                          </a:solidFill>
                          <a:effectLst/>
                          <a:latin typeface="Arial" panose="020B0604020202020204" pitchFamily="34" charset="0"/>
                        </a:rPr>
                        <a:t>in</a:t>
                      </a:r>
                      <a:r>
                        <a:rPr kumimoji="0" lang="fr-FR" altLang="en-US" sz="2400" b="0" i="0" u="none" strike="noStrike" cap="none" normalizeH="0" baseline="0">
                          <a:ln>
                            <a:noFill/>
                          </a:ln>
                          <a:solidFill>
                            <a:srgbClr val="270076"/>
                          </a:solidFill>
                          <a:effectLst/>
                          <a:latin typeface="Arial" panose="020B0604020202020204" pitchFamily="34" charset="0"/>
                        </a:rPr>
                        <a:t>)</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98035">
                <a:tc gridSpan="2">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Char char="•"/>
                        <a:tabLst/>
                      </a:pPr>
                      <a:r>
                        <a:rPr kumimoji="0" lang="fr-FR" altLang="en-US" sz="2400" b="0" i="0" u="none" strike="noStrike" cap="none" normalizeH="0" baseline="0">
                          <a:ln>
                            <a:noFill/>
                          </a:ln>
                          <a:solidFill>
                            <a:srgbClr val="270076"/>
                          </a:solidFill>
                          <a:effectLst/>
                          <a:latin typeface="Arial" panose="020B0604020202020204" pitchFamily="34" charset="0"/>
                        </a:rPr>
                        <a:t>Ký hiệu không kết thúc </a:t>
                      </a:r>
                      <a:r>
                        <a:rPr kumimoji="0" lang="fr-FR" altLang="en-US" sz="2400" b="1" i="0" u="none" strike="noStrike" cap="none" normalizeH="0" baseline="0">
                          <a:ln>
                            <a:noFill/>
                          </a:ln>
                          <a:solidFill>
                            <a:srgbClr val="3539EB"/>
                          </a:solidFill>
                          <a:effectLst/>
                          <a:latin typeface="Arial" panose="020B0604020202020204" pitchFamily="34" charset="0"/>
                        </a:rPr>
                        <a:t>T</a:t>
                      </a:r>
                      <a:r>
                        <a:rPr kumimoji="0" lang="fr-FR" altLang="en-US" sz="2400" b="0" i="0" u="none" strike="noStrike" cap="none" normalizeH="0" baseline="0">
                          <a:ln>
                            <a:noFill/>
                          </a:ln>
                          <a:solidFill>
                            <a:srgbClr val="270076"/>
                          </a:solidFill>
                          <a:effectLst/>
                          <a:latin typeface="Arial" panose="020B0604020202020204" pitchFamily="34" charset="0"/>
                        </a:rPr>
                        <a:t> có thuộc tính tổng hợp </a:t>
                      </a:r>
                      <a:r>
                        <a:rPr kumimoji="0" lang="fr-FR" altLang="en-US" sz="2400" b="0" i="1" u="none" strike="noStrike" cap="none" normalizeH="0" baseline="0">
                          <a:ln>
                            <a:noFill/>
                          </a:ln>
                          <a:solidFill>
                            <a:srgbClr val="3539EB"/>
                          </a:solidFill>
                          <a:effectLst/>
                          <a:latin typeface="Arial" panose="020B0604020202020204" pitchFamily="34" charset="0"/>
                        </a:rPr>
                        <a:t>type</a:t>
                      </a:r>
                      <a:r>
                        <a:rPr kumimoji="0" lang="fr-FR" altLang="en-US" sz="2400" b="0" i="0" u="none" strike="noStrike" cap="none" normalizeH="0" baseline="0">
                          <a:ln>
                            <a:noFill/>
                          </a:ln>
                          <a:solidFill>
                            <a:srgbClr val="270076"/>
                          </a:solidFill>
                          <a:effectLst/>
                          <a:latin typeface="Arial" panose="020B0604020202020204" pitchFamily="34" charset="0"/>
                        </a:rPr>
                        <a:t> có giá trị được xác định bởi từ khóa </a:t>
                      </a:r>
                      <a:r>
                        <a:rPr kumimoji="0" lang="fr-FR" altLang="en-US" sz="2400" b="0" i="1" u="none" strike="noStrike" cap="none" normalizeH="0" baseline="0">
                          <a:ln>
                            <a:noFill/>
                          </a:ln>
                          <a:solidFill>
                            <a:srgbClr val="270076"/>
                          </a:solidFill>
                          <a:effectLst/>
                          <a:latin typeface="Arial" panose="020B0604020202020204" pitchFamily="34" charset="0"/>
                        </a:rPr>
                        <a:t>int/float</a:t>
                      </a:r>
                      <a:r>
                        <a:rPr kumimoji="0" lang="fr-FR" altLang="en-US" sz="2400" b="0" i="0" u="none" strike="noStrike" cap="none" normalizeH="0" baseline="0">
                          <a:ln>
                            <a:noFill/>
                          </a:ln>
                          <a:solidFill>
                            <a:srgbClr val="270076"/>
                          </a:solidFill>
                          <a:effectLst/>
                          <a:latin typeface="Arial" panose="020B0604020202020204" pitchFamily="34" charset="0"/>
                        </a:rPr>
                        <a:t> trong khai báo</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fr-FR" altLang="en-US" sz="2400" b="0" i="0" u="none" strike="noStrike" cap="none" normalizeH="0" baseline="0">
                          <a:ln>
                            <a:noFill/>
                          </a:ln>
                          <a:solidFill>
                            <a:srgbClr val="270076"/>
                          </a:solidFill>
                          <a:effectLst/>
                          <a:latin typeface="Arial" panose="020B0604020202020204" pitchFamily="34" charset="0"/>
                        </a:rPr>
                        <a:t>Luật ngữ nghĩa </a:t>
                      </a:r>
                      <a:r>
                        <a:rPr kumimoji="0" lang="fr-FR" altLang="en-US" sz="2400" b="0" i="0" u="none" strike="noStrike" cap="none" normalizeH="0" baseline="0">
                          <a:ln>
                            <a:noFill/>
                          </a:ln>
                          <a:solidFill>
                            <a:srgbClr val="3539EB"/>
                          </a:solidFill>
                          <a:effectLst/>
                          <a:latin typeface="Arial" panose="020B0604020202020204" pitchFamily="34" charset="0"/>
                        </a:rPr>
                        <a:t>L.</a:t>
                      </a:r>
                      <a:r>
                        <a:rPr kumimoji="0" lang="fr-FR" altLang="en-US" sz="2400" b="0" i="1" u="none" strike="noStrike" cap="none" normalizeH="0" baseline="0">
                          <a:ln>
                            <a:noFill/>
                          </a:ln>
                          <a:solidFill>
                            <a:srgbClr val="3539EB"/>
                          </a:solidFill>
                          <a:effectLst/>
                          <a:latin typeface="Arial" panose="020B0604020202020204" pitchFamily="34" charset="0"/>
                        </a:rPr>
                        <a:t>in</a:t>
                      </a:r>
                      <a:r>
                        <a:rPr kumimoji="0" lang="fr-FR" altLang="en-US" sz="2400" b="0" i="0" u="none" strike="noStrike" cap="none" normalizeH="0" baseline="0">
                          <a:ln>
                            <a:noFill/>
                          </a:ln>
                          <a:solidFill>
                            <a:srgbClr val="3539EB"/>
                          </a:solidFill>
                          <a:effectLst/>
                          <a:latin typeface="Arial" panose="020B0604020202020204" pitchFamily="34" charset="0"/>
                        </a:rPr>
                        <a:t> := T.</a:t>
                      </a:r>
                      <a:r>
                        <a:rPr kumimoji="0" lang="fr-FR" altLang="en-US" sz="2400" b="0" i="1" u="none" strike="noStrike" cap="none" normalizeH="0" baseline="0">
                          <a:ln>
                            <a:noFill/>
                          </a:ln>
                          <a:solidFill>
                            <a:srgbClr val="3539EB"/>
                          </a:solidFill>
                          <a:effectLst/>
                          <a:latin typeface="Arial" panose="020B0604020202020204" pitchFamily="34" charset="0"/>
                        </a:rPr>
                        <a:t>type</a:t>
                      </a:r>
                      <a:r>
                        <a:rPr kumimoji="0" lang="fr-FR" altLang="en-US" sz="2400" b="0" i="0" u="none" strike="noStrike" cap="none" normalizeH="0" baseline="0">
                          <a:ln>
                            <a:noFill/>
                          </a:ln>
                          <a:solidFill>
                            <a:srgbClr val="270076"/>
                          </a:solidFill>
                          <a:effectLst/>
                          <a:latin typeface="Arial" panose="020B0604020202020204" pitchFamily="34" charset="0"/>
                        </a:rPr>
                        <a:t> gắn với sản xuất </a:t>
                      </a:r>
                      <a:r>
                        <a:rPr kumimoji="0" lang="en-US" altLang="en-US" sz="2400" b="0" i="0" u="none" strike="noStrike" cap="none" normalizeH="0" baseline="0">
                          <a:ln>
                            <a:noFill/>
                          </a:ln>
                          <a:solidFill>
                            <a:srgbClr val="3539EB"/>
                          </a:solidFill>
                          <a:effectLst/>
                          <a:latin typeface="Arial" panose="020B0604020202020204" pitchFamily="34" charset="0"/>
                        </a:rPr>
                        <a:t>D </a:t>
                      </a:r>
                      <a:r>
                        <a:rPr kumimoji="0" lang="en-US" altLang="en-US" sz="2400" b="0" i="0" u="none" strike="noStrike" cap="none" normalizeH="0" baseline="0">
                          <a:ln>
                            <a:noFill/>
                          </a:ln>
                          <a:solidFill>
                            <a:srgbClr val="3539EB"/>
                          </a:solidFill>
                          <a:effectLst/>
                          <a:latin typeface="Arial" panose="020B0604020202020204" pitchFamily="34" charset="0"/>
                          <a:sym typeface="Symbol" panose="05050102010706020507" pitchFamily="18" charset="2"/>
                        </a:rPr>
                        <a:t></a:t>
                      </a:r>
                      <a:r>
                        <a:rPr kumimoji="0" lang="en-US" altLang="en-US" sz="2400" b="0" i="0" u="none" strike="noStrike" cap="none" normalizeH="0" baseline="0">
                          <a:ln>
                            <a:noFill/>
                          </a:ln>
                          <a:solidFill>
                            <a:srgbClr val="3539EB"/>
                          </a:solidFill>
                          <a:effectLst/>
                          <a:latin typeface="Arial" panose="020B0604020202020204" pitchFamily="34" charset="0"/>
                        </a:rPr>
                        <a:t> T L </a:t>
                      </a:r>
                      <a:r>
                        <a:rPr kumimoji="0" lang="en-US" altLang="en-US" sz="2400" b="1" i="0" u="none" strike="noStrike" cap="none" normalizeH="0" baseline="0">
                          <a:ln>
                            <a:noFill/>
                          </a:ln>
                          <a:solidFill>
                            <a:srgbClr val="3539EB"/>
                          </a:solidFill>
                          <a:effectLst/>
                          <a:latin typeface="Arial" panose="020B0604020202020204" pitchFamily="34" charset="0"/>
                        </a:rPr>
                        <a:t>;</a:t>
                      </a:r>
                      <a:r>
                        <a:rPr kumimoji="0" lang="en-US" altLang="en-US" sz="2400" b="1" i="0" u="none" strike="noStrike" cap="none" normalizeH="0" baseline="0">
                          <a:ln>
                            <a:noFill/>
                          </a:ln>
                          <a:solidFill>
                            <a:srgbClr val="270076"/>
                          </a:solidFill>
                          <a:effectLst/>
                          <a:latin typeface="Arial" panose="020B0604020202020204" pitchFamily="34" charset="0"/>
                        </a:rPr>
                        <a:t> </a:t>
                      </a:r>
                      <a:r>
                        <a:rPr kumimoji="0" lang="en-US" altLang="en-US" sz="2400" b="0" i="0" u="none" strike="noStrike" cap="none" normalizeH="0" baseline="0">
                          <a:ln>
                            <a:noFill/>
                          </a:ln>
                          <a:solidFill>
                            <a:srgbClr val="270076"/>
                          </a:solidFill>
                          <a:effectLst/>
                          <a:latin typeface="Arial" panose="020B0604020202020204" pitchFamily="34" charset="0"/>
                        </a:rPr>
                        <a:t>ấn định thuộc tính kế thừa của </a:t>
                      </a:r>
                      <a:r>
                        <a:rPr kumimoji="0" lang="en-US" altLang="en-US" sz="2400" b="0" i="0" u="none" strike="noStrike" cap="none" normalizeH="0" baseline="0">
                          <a:ln>
                            <a:noFill/>
                          </a:ln>
                          <a:solidFill>
                            <a:srgbClr val="3539EB"/>
                          </a:solidFill>
                          <a:effectLst/>
                          <a:latin typeface="Arial" panose="020B0604020202020204" pitchFamily="34" charset="0"/>
                        </a:rPr>
                        <a:t>L</a:t>
                      </a:r>
                      <a:r>
                        <a:rPr kumimoji="0" lang="en-US" altLang="en-US" sz="2400" b="0" i="0" u="none" strike="noStrike" cap="none" normalizeH="0" baseline="0">
                          <a:ln>
                            <a:noFill/>
                          </a:ln>
                          <a:solidFill>
                            <a:srgbClr val="270076"/>
                          </a:solidFill>
                          <a:effectLst/>
                          <a:latin typeface="Arial" panose="020B0604020202020204" pitchFamily="34" charset="0"/>
                        </a:rPr>
                        <a:t> (</a:t>
                      </a:r>
                      <a:r>
                        <a:rPr kumimoji="0" lang="en-US" altLang="en-US" sz="2400" b="0" i="0" u="none" strike="noStrike" cap="none" normalizeH="0" baseline="0">
                          <a:ln>
                            <a:noFill/>
                          </a:ln>
                          <a:solidFill>
                            <a:srgbClr val="3539EB"/>
                          </a:solidFill>
                          <a:effectLst/>
                          <a:latin typeface="Arial" panose="020B0604020202020204" pitchFamily="34" charset="0"/>
                        </a:rPr>
                        <a:t>L.</a:t>
                      </a:r>
                      <a:r>
                        <a:rPr kumimoji="0" lang="en-US" altLang="en-US" sz="2400" b="0" i="1" u="none" strike="noStrike" cap="none" normalizeH="0" baseline="0">
                          <a:ln>
                            <a:noFill/>
                          </a:ln>
                          <a:solidFill>
                            <a:srgbClr val="3539EB"/>
                          </a:solidFill>
                          <a:effectLst/>
                          <a:latin typeface="Arial" panose="020B0604020202020204" pitchFamily="34" charset="0"/>
                        </a:rPr>
                        <a:t>in</a:t>
                      </a:r>
                      <a:r>
                        <a:rPr kumimoji="0" lang="en-US" altLang="en-US" sz="2400" b="0" i="0" u="none" strike="noStrike" cap="none" normalizeH="0" baseline="0">
                          <a:ln>
                            <a:noFill/>
                          </a:ln>
                          <a:solidFill>
                            <a:srgbClr val="270076"/>
                          </a:solidFill>
                          <a:effectLst/>
                          <a:latin typeface="Arial" panose="020B0604020202020204" pitchFamily="34" charset="0"/>
                        </a:rPr>
                        <a:t>) tới kiểu khai báo</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fr-FR" altLang="en-US" sz="2400" b="0" i="0" u="none" strike="noStrike" cap="none" normalizeH="0" baseline="0">
                          <a:ln>
                            <a:noFill/>
                          </a:ln>
                          <a:solidFill>
                            <a:srgbClr val="270076"/>
                          </a:solidFill>
                          <a:effectLst/>
                          <a:latin typeface="Arial" panose="020B0604020202020204" pitchFamily="34" charset="0"/>
                        </a:rPr>
                        <a:t>Luật ngữ nghĩa gắn với sản xuất từ </a:t>
                      </a:r>
                      <a:r>
                        <a:rPr kumimoji="0" lang="fr-FR" altLang="en-US" sz="2400" b="0" i="0" u="none" strike="noStrike" cap="none" normalizeH="0" baseline="0">
                          <a:ln>
                            <a:noFill/>
                          </a:ln>
                          <a:solidFill>
                            <a:srgbClr val="3539EB"/>
                          </a:solidFill>
                          <a:effectLst/>
                          <a:latin typeface="Arial" panose="020B0604020202020204" pitchFamily="34" charset="0"/>
                        </a:rPr>
                        <a:t>L</a:t>
                      </a:r>
                      <a:r>
                        <a:rPr kumimoji="0" lang="fr-FR" altLang="en-US" sz="2400" b="0" i="0" u="none" strike="noStrike" cap="none" normalizeH="0" baseline="0">
                          <a:ln>
                            <a:noFill/>
                          </a:ln>
                          <a:solidFill>
                            <a:srgbClr val="270076"/>
                          </a:solidFill>
                          <a:effectLst/>
                          <a:latin typeface="Arial" panose="020B0604020202020204" pitchFamily="34" charset="0"/>
                        </a:rPr>
                        <a:t>, sẽ truyền kiểu của </a:t>
                      </a:r>
                      <a:r>
                        <a:rPr kumimoji="0" lang="fr-FR" altLang="en-US" sz="2400" b="0" i="0" u="none" strike="noStrike" cap="none" normalizeH="0" baseline="0">
                          <a:ln>
                            <a:noFill/>
                          </a:ln>
                          <a:solidFill>
                            <a:srgbClr val="3539EB"/>
                          </a:solidFill>
                          <a:effectLst/>
                          <a:latin typeface="Arial" panose="020B0604020202020204" pitchFamily="34" charset="0"/>
                        </a:rPr>
                        <a:t>L</a:t>
                      </a:r>
                      <a:r>
                        <a:rPr kumimoji="0" lang="fr-FR" altLang="en-US" sz="2400" b="0" i="0" u="none" strike="noStrike" cap="none" normalizeH="0" baseline="0">
                          <a:ln>
                            <a:noFill/>
                          </a:ln>
                          <a:solidFill>
                            <a:srgbClr val="270076"/>
                          </a:solidFill>
                          <a:effectLst/>
                          <a:latin typeface="Arial" panose="020B0604020202020204" pitchFamily="34" charset="0"/>
                        </a:rPr>
                        <a:t> với các khai báo tiếp và dùng thủ tục </a:t>
                      </a:r>
                      <a:r>
                        <a:rPr kumimoji="0" lang="fr-FR" altLang="en-US" sz="2400" b="0" i="0" u="none" strike="noStrike" cap="none" normalizeH="0" baseline="0">
                          <a:ln>
                            <a:noFill/>
                          </a:ln>
                          <a:solidFill>
                            <a:srgbClr val="3539EB"/>
                          </a:solidFill>
                          <a:effectLst/>
                          <a:latin typeface="Arial" panose="020B0604020202020204" pitchFamily="34" charset="0"/>
                        </a:rPr>
                        <a:t>addType()</a:t>
                      </a:r>
                      <a:r>
                        <a:rPr kumimoji="0" lang="fr-FR" altLang="en-US" sz="2400" b="0" i="0" u="none" strike="noStrike" cap="none" normalizeH="0" baseline="0">
                          <a:ln>
                            <a:noFill/>
                          </a:ln>
                          <a:solidFill>
                            <a:srgbClr val="270076"/>
                          </a:solidFill>
                          <a:effectLst/>
                          <a:latin typeface="Arial" panose="020B0604020202020204" pitchFamily="34" charset="0"/>
                        </a:rPr>
                        <a:t> để lưu thuộc tính kiểu của danh biểu vào bảng ký hiệu tại vị trí </a:t>
                      </a:r>
                      <a:r>
                        <a:rPr kumimoji="0" lang="fr-FR" altLang="en-US" sz="2400" b="0" i="1" u="none" strike="noStrike" cap="none" normalizeH="0" baseline="0">
                          <a:ln>
                            <a:noFill/>
                          </a:ln>
                          <a:solidFill>
                            <a:srgbClr val="3539EB"/>
                          </a:solidFill>
                          <a:effectLst/>
                          <a:latin typeface="Arial" panose="020B0604020202020204" pitchFamily="34" charset="0"/>
                        </a:rPr>
                        <a:t>Id.entry</a:t>
                      </a:r>
                      <a:endParaRPr kumimoji="0" lang="en-US" altLang="en-US" sz="2400" b="0" i="1" u="none" strike="noStrike" cap="none" normalizeH="0" baseline="0">
                        <a:ln>
                          <a:noFill/>
                        </a:ln>
                        <a:solidFill>
                          <a:srgbClr val="3539EB"/>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6"/>
                  </a:ext>
                </a:extLst>
              </a:tr>
            </a:tbl>
          </a:graphicData>
        </a:graphic>
      </p:graphicFrame>
      <p:sp>
        <p:nvSpPr>
          <p:cNvPr id="40989" name="Text Box 56"/>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3. Chương trình dịch định hướng cú pháp</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1C175009-F6F9-4A85-B23B-8B8162CF8BF0}" type="slidenum">
              <a:rPr lang="en-US" altLang="en-US" sz="1400" b="0"/>
              <a:pPr/>
              <a:t>36</a:t>
            </a:fld>
            <a:endParaRPr lang="en-US" altLang="en-US" sz="1400" b="0"/>
          </a:p>
        </p:txBody>
      </p:sp>
      <p:sp>
        <p:nvSpPr>
          <p:cNvPr id="41987" name="Rectangle 3"/>
          <p:cNvSpPr>
            <a:spLocks noGrp="1" noChangeArrowheads="1"/>
          </p:cNvSpPr>
          <p:nvPr>
            <p:ph type="title"/>
          </p:nvPr>
        </p:nvSpPr>
        <p:spPr/>
        <p:txBody>
          <a:bodyPr/>
          <a:lstStyle/>
          <a:p>
            <a:pPr eaLnBrk="1" hangingPunct="1"/>
            <a:r>
              <a:rPr lang="en-US" altLang="en-US" sz="2800"/>
              <a:t>Cây phân tích cú pháp có chú giải</a:t>
            </a:r>
          </a:p>
        </p:txBody>
      </p:sp>
      <p:sp>
        <p:nvSpPr>
          <p:cNvPr id="41988" name="Rectangle 3"/>
          <p:cNvSpPr>
            <a:spLocks noChangeArrowheads="1"/>
          </p:cNvSpPr>
          <p:nvPr/>
        </p:nvSpPr>
        <p:spPr bwMode="auto">
          <a:xfrm>
            <a:off x="152400" y="914400"/>
            <a:ext cx="86534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marL="342900" indent="-342900">
              <a:spcBef>
                <a:spcPct val="20000"/>
              </a:spcBef>
              <a:buChar char="•"/>
              <a:defRPr sz="3200">
                <a:solidFill>
                  <a:srgbClr val="270076"/>
                </a:solidFill>
                <a:latin typeface="Arial" panose="020B0604020202020204" pitchFamily="34" charset="0"/>
              </a:defRPr>
            </a:lvl1pPr>
            <a:lvl2pPr marL="855663" indent="-398463">
              <a:spcBef>
                <a:spcPct val="20000"/>
              </a:spcBef>
              <a:buChar char="–"/>
              <a:defRPr sz="2800">
                <a:solidFill>
                  <a:srgbClr val="270076"/>
                </a:solidFill>
                <a:latin typeface="Arial" panose="020B0604020202020204" pitchFamily="34" charset="0"/>
              </a:defRPr>
            </a:lvl2pPr>
            <a:lvl3pPr marL="1198563" indent="-228600">
              <a:spcBef>
                <a:spcPct val="20000"/>
              </a:spcBef>
              <a:buChar char="•"/>
              <a:defRPr sz="2400">
                <a:solidFill>
                  <a:srgbClr val="270076"/>
                </a:solidFill>
                <a:latin typeface="Arial" panose="020B0604020202020204" pitchFamily="34" charset="0"/>
              </a:defRPr>
            </a:lvl3pPr>
            <a:lvl4pPr marL="1600200" indent="-228600">
              <a:spcBef>
                <a:spcPct val="20000"/>
              </a:spcBef>
              <a:buChar char="–"/>
              <a:defRPr sz="2000">
                <a:solidFill>
                  <a:srgbClr val="270076"/>
                </a:solidFill>
                <a:latin typeface="Arial" panose="020B0604020202020204" pitchFamily="34" charset="0"/>
              </a:defRPr>
            </a:lvl4pPr>
            <a:lvl5pPr marL="2057400" indent="-228600">
              <a:spcBef>
                <a:spcPct val="20000"/>
              </a:spcBef>
              <a:buChar char="»"/>
              <a:defRPr sz="2000">
                <a:solidFill>
                  <a:srgbClr val="270076"/>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270076"/>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270076"/>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270076"/>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270076"/>
                </a:solidFill>
                <a:latin typeface="Arial" panose="020B0604020202020204" pitchFamily="34" charset="0"/>
              </a:defRPr>
            </a:lvl9pPr>
          </a:lstStyle>
          <a:p>
            <a:pPr algn="just" eaLnBrk="1" hangingPunct="1">
              <a:buFontTx/>
              <a:buNone/>
            </a:pPr>
            <a:r>
              <a:rPr lang="en-US" altLang="en-US" b="0"/>
              <a:t>Ví dụ với khai báo:   float x, y, z ;</a:t>
            </a:r>
          </a:p>
        </p:txBody>
      </p:sp>
      <p:grpSp>
        <p:nvGrpSpPr>
          <p:cNvPr id="41989" name="Group 37"/>
          <p:cNvGrpSpPr>
            <a:grpSpLocks/>
          </p:cNvGrpSpPr>
          <p:nvPr/>
        </p:nvGrpSpPr>
        <p:grpSpPr bwMode="auto">
          <a:xfrm>
            <a:off x="457200" y="1600200"/>
            <a:ext cx="8458200" cy="4775200"/>
            <a:chOff x="288" y="1008"/>
            <a:chExt cx="5328" cy="3008"/>
          </a:xfrm>
        </p:grpSpPr>
        <p:sp>
          <p:nvSpPr>
            <p:cNvPr id="41996" name="Text Box 7"/>
            <p:cNvSpPr txBox="1">
              <a:spLocks noChangeArrowheads="1"/>
            </p:cNvSpPr>
            <p:nvPr/>
          </p:nvSpPr>
          <p:spPr bwMode="auto">
            <a:xfrm>
              <a:off x="2928" y="1008"/>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3200" b="0">
                  <a:solidFill>
                    <a:srgbClr val="270076"/>
                  </a:solidFill>
                </a:rPr>
                <a:t>D</a:t>
              </a:r>
              <a:endParaRPr lang="en-US" altLang="en-US" sz="3200" b="0">
                <a:solidFill>
                  <a:srgbClr val="270076"/>
                </a:solidFill>
              </a:endParaRPr>
            </a:p>
          </p:txBody>
        </p:sp>
        <p:sp>
          <p:nvSpPr>
            <p:cNvPr id="41997" name="Text Box 8"/>
            <p:cNvSpPr txBox="1">
              <a:spLocks noChangeArrowheads="1"/>
            </p:cNvSpPr>
            <p:nvPr/>
          </p:nvSpPr>
          <p:spPr bwMode="auto">
            <a:xfrm>
              <a:off x="288" y="1632"/>
              <a:ext cx="163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T.</a:t>
              </a:r>
              <a:r>
                <a:rPr lang="fr-FR" altLang="en-US" sz="3200" b="0" i="1">
                  <a:solidFill>
                    <a:srgbClr val="270076"/>
                  </a:solidFill>
                </a:rPr>
                <a:t>type</a:t>
              </a:r>
              <a:r>
                <a:rPr lang="fr-FR" altLang="en-US" sz="3200" b="0">
                  <a:solidFill>
                    <a:srgbClr val="270076"/>
                  </a:solidFill>
                </a:rPr>
                <a:t> = </a:t>
              </a:r>
              <a:r>
                <a:rPr lang="fr-FR" altLang="en-US" sz="3200" b="0" i="1">
                  <a:solidFill>
                    <a:srgbClr val="3539EB"/>
                  </a:solidFill>
                </a:rPr>
                <a:t>real</a:t>
              </a:r>
              <a:endParaRPr lang="en-US" altLang="en-US" sz="3200" b="0" i="1">
                <a:solidFill>
                  <a:srgbClr val="3539EB"/>
                </a:solidFill>
              </a:endParaRPr>
            </a:p>
          </p:txBody>
        </p:sp>
        <p:sp>
          <p:nvSpPr>
            <p:cNvPr id="41998" name="Text Box 9"/>
            <p:cNvSpPr txBox="1">
              <a:spLocks noChangeArrowheads="1"/>
            </p:cNvSpPr>
            <p:nvPr/>
          </p:nvSpPr>
          <p:spPr bwMode="auto">
            <a:xfrm>
              <a:off x="3312" y="1632"/>
              <a:ext cx="129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3200" b="0">
                  <a:solidFill>
                    <a:srgbClr val="270076"/>
                  </a:solidFill>
                </a:rPr>
                <a:t>L.</a:t>
              </a:r>
              <a:r>
                <a:rPr lang="fr-FR" altLang="en-US" sz="3200" b="0" i="1">
                  <a:solidFill>
                    <a:srgbClr val="270076"/>
                  </a:solidFill>
                </a:rPr>
                <a:t>in = </a:t>
              </a:r>
              <a:r>
                <a:rPr lang="fr-FR" altLang="en-US" sz="3200" b="0" i="1">
                  <a:solidFill>
                    <a:srgbClr val="3539EB"/>
                  </a:solidFill>
                </a:rPr>
                <a:t>real</a:t>
              </a:r>
              <a:endParaRPr lang="en-US" altLang="en-US" sz="3200" b="0">
                <a:solidFill>
                  <a:srgbClr val="3539EB"/>
                </a:solidFill>
              </a:endParaRPr>
            </a:p>
          </p:txBody>
        </p:sp>
        <p:sp>
          <p:nvSpPr>
            <p:cNvPr id="41999" name="Text Box 10"/>
            <p:cNvSpPr txBox="1">
              <a:spLocks noChangeArrowheads="1"/>
            </p:cNvSpPr>
            <p:nvPr/>
          </p:nvSpPr>
          <p:spPr bwMode="auto">
            <a:xfrm>
              <a:off x="5280" y="1632"/>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a:solidFill>
                    <a:srgbClr val="270076"/>
                  </a:solidFill>
                </a:rPr>
                <a:t>;</a:t>
              </a:r>
              <a:endParaRPr lang="en-US" altLang="en-US" sz="3200">
                <a:solidFill>
                  <a:srgbClr val="270076"/>
                </a:solidFill>
              </a:endParaRPr>
            </a:p>
          </p:txBody>
        </p:sp>
        <p:sp>
          <p:nvSpPr>
            <p:cNvPr id="42000" name="Text Box 11"/>
            <p:cNvSpPr txBox="1">
              <a:spLocks noChangeArrowheads="1"/>
            </p:cNvSpPr>
            <p:nvPr/>
          </p:nvSpPr>
          <p:spPr bwMode="auto">
            <a:xfrm>
              <a:off x="2256" y="2304"/>
              <a:ext cx="129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3200" b="0">
                  <a:solidFill>
                    <a:srgbClr val="270076"/>
                  </a:solidFill>
                </a:rPr>
                <a:t>L.</a:t>
              </a:r>
              <a:r>
                <a:rPr lang="fr-FR" altLang="en-US" sz="3200" b="0" i="1">
                  <a:solidFill>
                    <a:srgbClr val="270076"/>
                  </a:solidFill>
                </a:rPr>
                <a:t>in = </a:t>
              </a:r>
              <a:r>
                <a:rPr lang="fr-FR" altLang="en-US" sz="3200" b="0" i="1">
                  <a:solidFill>
                    <a:srgbClr val="3539EB"/>
                  </a:solidFill>
                </a:rPr>
                <a:t>real</a:t>
              </a:r>
              <a:endParaRPr lang="en-US" altLang="en-US" sz="3200" b="0">
                <a:solidFill>
                  <a:srgbClr val="3539EB"/>
                </a:solidFill>
              </a:endParaRPr>
            </a:p>
          </p:txBody>
        </p:sp>
        <p:sp>
          <p:nvSpPr>
            <p:cNvPr id="42001" name="Text Box 12"/>
            <p:cNvSpPr txBox="1">
              <a:spLocks noChangeArrowheads="1"/>
            </p:cNvSpPr>
            <p:nvPr/>
          </p:nvSpPr>
          <p:spPr bwMode="auto">
            <a:xfrm>
              <a:off x="1152" y="2976"/>
              <a:ext cx="129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3200" b="0">
                  <a:solidFill>
                    <a:srgbClr val="270076"/>
                  </a:solidFill>
                </a:rPr>
                <a:t>L.</a:t>
              </a:r>
              <a:r>
                <a:rPr lang="fr-FR" altLang="en-US" sz="3200" b="0" i="1">
                  <a:solidFill>
                    <a:srgbClr val="270076"/>
                  </a:solidFill>
                </a:rPr>
                <a:t>in = </a:t>
              </a:r>
              <a:r>
                <a:rPr lang="fr-FR" altLang="en-US" sz="3200" b="0" i="1">
                  <a:solidFill>
                    <a:srgbClr val="3539EB"/>
                  </a:solidFill>
                </a:rPr>
                <a:t>real</a:t>
              </a:r>
              <a:endParaRPr lang="en-US" altLang="en-US" sz="3200" b="0">
                <a:solidFill>
                  <a:srgbClr val="3539EB"/>
                </a:solidFill>
              </a:endParaRPr>
            </a:p>
          </p:txBody>
        </p:sp>
        <p:sp>
          <p:nvSpPr>
            <p:cNvPr id="42002" name="Text Box 13"/>
            <p:cNvSpPr txBox="1">
              <a:spLocks noChangeArrowheads="1"/>
            </p:cNvSpPr>
            <p:nvPr/>
          </p:nvSpPr>
          <p:spPr bwMode="auto">
            <a:xfrm>
              <a:off x="768" y="2352"/>
              <a:ext cx="57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3200" b="0">
                  <a:solidFill>
                    <a:srgbClr val="270076"/>
                  </a:solidFill>
                </a:rPr>
                <a:t>real</a:t>
              </a:r>
              <a:endParaRPr lang="en-US" altLang="en-US" sz="3200" b="0">
                <a:solidFill>
                  <a:srgbClr val="270076"/>
                </a:solidFill>
              </a:endParaRPr>
            </a:p>
          </p:txBody>
        </p:sp>
        <p:sp>
          <p:nvSpPr>
            <p:cNvPr id="42003" name="Line 14"/>
            <p:cNvSpPr>
              <a:spLocks noChangeShapeType="1"/>
            </p:cNvSpPr>
            <p:nvPr/>
          </p:nvSpPr>
          <p:spPr bwMode="auto">
            <a:xfrm>
              <a:off x="1008" y="1968"/>
              <a:ext cx="0" cy="480"/>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004" name="Text Box 15"/>
            <p:cNvSpPr txBox="1">
              <a:spLocks noChangeArrowheads="1"/>
            </p:cNvSpPr>
            <p:nvPr/>
          </p:nvSpPr>
          <p:spPr bwMode="auto">
            <a:xfrm>
              <a:off x="1566" y="3651"/>
              <a:ext cx="43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Id</a:t>
              </a:r>
              <a:r>
                <a:rPr lang="fr-FR" altLang="en-US" sz="3200" b="0" baseline="-25000">
                  <a:solidFill>
                    <a:srgbClr val="270076"/>
                  </a:solidFill>
                </a:rPr>
                <a:t>1</a:t>
              </a:r>
              <a:endParaRPr lang="en-US" altLang="en-US" sz="3200" b="0" baseline="-25000">
                <a:solidFill>
                  <a:srgbClr val="270076"/>
                </a:solidFill>
              </a:endParaRPr>
            </a:p>
          </p:txBody>
        </p:sp>
        <p:sp>
          <p:nvSpPr>
            <p:cNvPr id="42005" name="Text Box 16"/>
            <p:cNvSpPr txBox="1">
              <a:spLocks noChangeArrowheads="1"/>
            </p:cNvSpPr>
            <p:nvPr/>
          </p:nvSpPr>
          <p:spPr bwMode="auto">
            <a:xfrm>
              <a:off x="2736" y="2976"/>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a:solidFill>
                    <a:srgbClr val="270076"/>
                  </a:solidFill>
                </a:rPr>
                <a:t>,</a:t>
              </a:r>
              <a:endParaRPr lang="en-US" altLang="en-US" sz="3200">
                <a:solidFill>
                  <a:srgbClr val="270076"/>
                </a:solidFill>
              </a:endParaRPr>
            </a:p>
          </p:txBody>
        </p:sp>
        <p:sp>
          <p:nvSpPr>
            <p:cNvPr id="42006" name="Text Box 17"/>
            <p:cNvSpPr txBox="1">
              <a:spLocks noChangeArrowheads="1"/>
            </p:cNvSpPr>
            <p:nvPr/>
          </p:nvSpPr>
          <p:spPr bwMode="auto">
            <a:xfrm>
              <a:off x="3696" y="2976"/>
              <a:ext cx="43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Id</a:t>
              </a:r>
              <a:r>
                <a:rPr lang="fr-FR" altLang="en-US" sz="3200" b="0" baseline="-25000">
                  <a:solidFill>
                    <a:srgbClr val="270076"/>
                  </a:solidFill>
                </a:rPr>
                <a:t>2</a:t>
              </a:r>
              <a:endParaRPr lang="en-US" altLang="en-US" sz="3200" b="0" baseline="-25000">
                <a:solidFill>
                  <a:srgbClr val="270076"/>
                </a:solidFill>
              </a:endParaRPr>
            </a:p>
          </p:txBody>
        </p:sp>
        <p:sp>
          <p:nvSpPr>
            <p:cNvPr id="42007" name="Text Box 18"/>
            <p:cNvSpPr txBox="1">
              <a:spLocks noChangeArrowheads="1"/>
            </p:cNvSpPr>
            <p:nvPr/>
          </p:nvSpPr>
          <p:spPr bwMode="auto">
            <a:xfrm>
              <a:off x="3840" y="2304"/>
              <a:ext cx="33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a:solidFill>
                    <a:srgbClr val="270076"/>
                  </a:solidFill>
                </a:rPr>
                <a:t>,</a:t>
              </a:r>
              <a:endParaRPr lang="en-US" altLang="en-US" sz="3200">
                <a:solidFill>
                  <a:srgbClr val="270076"/>
                </a:solidFill>
              </a:endParaRPr>
            </a:p>
          </p:txBody>
        </p:sp>
        <p:sp>
          <p:nvSpPr>
            <p:cNvPr id="42008" name="Text Box 19"/>
            <p:cNvSpPr txBox="1">
              <a:spLocks noChangeArrowheads="1"/>
            </p:cNvSpPr>
            <p:nvPr/>
          </p:nvSpPr>
          <p:spPr bwMode="auto">
            <a:xfrm>
              <a:off x="4704" y="2304"/>
              <a:ext cx="43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dirty="0">
                  <a:solidFill>
                    <a:srgbClr val="270076"/>
                  </a:solidFill>
                </a:rPr>
                <a:t>Id</a:t>
              </a:r>
              <a:r>
                <a:rPr lang="fr-FR" altLang="en-US" sz="3200" b="0" baseline="-25000" dirty="0">
                  <a:solidFill>
                    <a:srgbClr val="270076"/>
                  </a:solidFill>
                </a:rPr>
                <a:t>3</a:t>
              </a:r>
              <a:endParaRPr lang="en-US" altLang="en-US" sz="3200" b="0" baseline="-25000" dirty="0">
                <a:solidFill>
                  <a:srgbClr val="270076"/>
                </a:solidFill>
              </a:endParaRPr>
            </a:p>
          </p:txBody>
        </p:sp>
        <p:sp>
          <p:nvSpPr>
            <p:cNvPr id="42009" name="Line 20"/>
            <p:cNvSpPr>
              <a:spLocks noChangeShapeType="1"/>
            </p:cNvSpPr>
            <p:nvPr/>
          </p:nvSpPr>
          <p:spPr bwMode="auto">
            <a:xfrm flipV="1">
              <a:off x="1200" y="1296"/>
              <a:ext cx="1776" cy="384"/>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010" name="Line 22"/>
            <p:cNvSpPr>
              <a:spLocks noChangeShapeType="1"/>
            </p:cNvSpPr>
            <p:nvPr/>
          </p:nvSpPr>
          <p:spPr bwMode="auto">
            <a:xfrm>
              <a:off x="3168" y="1296"/>
              <a:ext cx="2160" cy="480"/>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011" name="Line 23"/>
            <p:cNvSpPr>
              <a:spLocks noChangeShapeType="1"/>
            </p:cNvSpPr>
            <p:nvPr/>
          </p:nvSpPr>
          <p:spPr bwMode="auto">
            <a:xfrm>
              <a:off x="3072" y="1344"/>
              <a:ext cx="768" cy="336"/>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012" name="Line 24"/>
            <p:cNvSpPr>
              <a:spLocks noChangeShapeType="1"/>
            </p:cNvSpPr>
            <p:nvPr/>
          </p:nvSpPr>
          <p:spPr bwMode="auto">
            <a:xfrm flipH="1">
              <a:off x="2976" y="1920"/>
              <a:ext cx="960" cy="43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013" name="Line 25"/>
            <p:cNvSpPr>
              <a:spLocks noChangeShapeType="1"/>
            </p:cNvSpPr>
            <p:nvPr/>
          </p:nvSpPr>
          <p:spPr bwMode="auto">
            <a:xfrm>
              <a:off x="3984" y="1920"/>
              <a:ext cx="0" cy="480"/>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014" name="Line 26"/>
            <p:cNvSpPr>
              <a:spLocks noChangeShapeType="1"/>
            </p:cNvSpPr>
            <p:nvPr/>
          </p:nvSpPr>
          <p:spPr bwMode="auto">
            <a:xfrm>
              <a:off x="3984" y="1920"/>
              <a:ext cx="912" cy="43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015" name="Line 27"/>
            <p:cNvSpPr>
              <a:spLocks noChangeShapeType="1"/>
            </p:cNvSpPr>
            <p:nvPr/>
          </p:nvSpPr>
          <p:spPr bwMode="auto">
            <a:xfrm>
              <a:off x="2880" y="2640"/>
              <a:ext cx="0" cy="480"/>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016" name="Line 28"/>
            <p:cNvSpPr>
              <a:spLocks noChangeShapeType="1"/>
            </p:cNvSpPr>
            <p:nvPr/>
          </p:nvSpPr>
          <p:spPr bwMode="auto">
            <a:xfrm flipH="1">
              <a:off x="1824" y="2640"/>
              <a:ext cx="1056" cy="43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017" name="Line 29"/>
            <p:cNvSpPr>
              <a:spLocks noChangeShapeType="1"/>
            </p:cNvSpPr>
            <p:nvPr/>
          </p:nvSpPr>
          <p:spPr bwMode="auto">
            <a:xfrm>
              <a:off x="2880" y="2640"/>
              <a:ext cx="1008" cy="43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018" name="Line 30"/>
            <p:cNvSpPr>
              <a:spLocks noChangeShapeType="1"/>
            </p:cNvSpPr>
            <p:nvPr/>
          </p:nvSpPr>
          <p:spPr bwMode="auto">
            <a:xfrm>
              <a:off x="1776" y="3312"/>
              <a:ext cx="0" cy="43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725476" name="Group 36"/>
          <p:cNvGrpSpPr>
            <a:grpSpLocks/>
          </p:cNvGrpSpPr>
          <p:nvPr/>
        </p:nvGrpSpPr>
        <p:grpSpPr bwMode="auto">
          <a:xfrm>
            <a:off x="1752600" y="3124200"/>
            <a:ext cx="3886200" cy="1600200"/>
            <a:chOff x="1104" y="1968"/>
            <a:chExt cx="2448" cy="1008"/>
          </a:xfrm>
        </p:grpSpPr>
        <p:sp>
          <p:nvSpPr>
            <p:cNvPr id="41992" name="Line 32"/>
            <p:cNvSpPr>
              <a:spLocks noChangeShapeType="1"/>
            </p:cNvSpPr>
            <p:nvPr/>
          </p:nvSpPr>
          <p:spPr bwMode="auto">
            <a:xfrm flipV="1">
              <a:off x="1104" y="1968"/>
              <a:ext cx="0" cy="432"/>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993" name="Line 33"/>
            <p:cNvSpPr>
              <a:spLocks noChangeShapeType="1"/>
            </p:cNvSpPr>
            <p:nvPr/>
          </p:nvSpPr>
          <p:spPr bwMode="auto">
            <a:xfrm>
              <a:off x="1248" y="1968"/>
              <a:ext cx="2112" cy="0"/>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994" name="Line 34"/>
            <p:cNvSpPr>
              <a:spLocks noChangeShapeType="1"/>
            </p:cNvSpPr>
            <p:nvPr/>
          </p:nvSpPr>
          <p:spPr bwMode="auto">
            <a:xfrm flipH="1">
              <a:off x="2640" y="1968"/>
              <a:ext cx="912" cy="384"/>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995" name="Line 35"/>
            <p:cNvSpPr>
              <a:spLocks noChangeShapeType="1"/>
            </p:cNvSpPr>
            <p:nvPr/>
          </p:nvSpPr>
          <p:spPr bwMode="auto">
            <a:xfrm flipH="1">
              <a:off x="1728" y="2688"/>
              <a:ext cx="768" cy="288"/>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1991" name="Text Box 39"/>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3. Chương trình dịch định hướng cú pháp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725476"/>
                                        </p:tgtEl>
                                        <p:attrNameLst>
                                          <p:attrName>style.visibility</p:attrName>
                                        </p:attrNameLst>
                                      </p:cBhvr>
                                      <p:to>
                                        <p:strVal val="visible"/>
                                      </p:to>
                                    </p:set>
                                    <p:animEffect transition="in" filter="checkerboard(across)">
                                      <p:cBhvr>
                                        <p:cTn id="7" dur="500"/>
                                        <p:tgtEl>
                                          <p:spTgt spid="1725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A6156ABE-5983-4394-B2AB-0A090ABD9E0D}" type="slidenum">
              <a:rPr lang="en-US" altLang="en-US" sz="1400" b="0"/>
              <a:pPr/>
              <a:t>37</a:t>
            </a:fld>
            <a:endParaRPr lang="en-US" altLang="en-US" sz="1400" b="0"/>
          </a:p>
        </p:txBody>
      </p:sp>
      <p:sp>
        <p:nvSpPr>
          <p:cNvPr id="43011" name="Rectangle 2"/>
          <p:cNvSpPr>
            <a:spLocks noGrp="1" noChangeArrowheads="1"/>
          </p:cNvSpPr>
          <p:nvPr>
            <p:ph type="title"/>
          </p:nvPr>
        </p:nvSpPr>
        <p:spPr/>
        <p:txBody>
          <a:bodyPr/>
          <a:lstStyle/>
          <a:p>
            <a:pPr eaLnBrk="1" hangingPunct="1"/>
            <a:r>
              <a:rPr lang="en-US" altLang="en-US" sz="2800"/>
              <a:t>Thuộc tính kế thừa </a:t>
            </a:r>
            <a:r>
              <a:rPr lang="en-US" altLang="en-US" sz="2800">
                <a:sym typeface="Symbol" panose="05050102010706020507" pitchFamily="18" charset="2"/>
              </a:rPr>
              <a:t></a:t>
            </a:r>
            <a:r>
              <a:rPr lang="en-US" altLang="en-US" sz="2800"/>
              <a:t>Ví dụ</a:t>
            </a:r>
            <a:endParaRPr lang="fr-FR" altLang="en-US" sz="2800"/>
          </a:p>
        </p:txBody>
      </p:sp>
      <p:sp>
        <p:nvSpPr>
          <p:cNvPr id="1746947" name="Rectangle 3"/>
          <p:cNvSpPr>
            <a:spLocks noGrp="1" noChangeArrowheads="1"/>
          </p:cNvSpPr>
          <p:nvPr>
            <p:ph type="body" sz="half" idx="1"/>
          </p:nvPr>
        </p:nvSpPr>
        <p:spPr>
          <a:xfrm>
            <a:off x="304800" y="4267200"/>
            <a:ext cx="8458200" cy="2362200"/>
          </a:xfrm>
        </p:spPr>
        <p:txBody>
          <a:bodyPr/>
          <a:lstStyle/>
          <a:p>
            <a:pPr marL="231775" indent="-231775" eaLnBrk="1" hangingPunct="1">
              <a:lnSpc>
                <a:spcPct val="105000"/>
              </a:lnSpc>
              <a:buFontTx/>
              <a:buNone/>
            </a:pPr>
            <a:r>
              <a:rPr lang="en-US" altLang="en-US" sz="2400"/>
              <a:t>if(Token == INT_TYPE){</a:t>
            </a:r>
          </a:p>
          <a:p>
            <a:pPr marL="231775" indent="-231775" eaLnBrk="1" hangingPunct="1">
              <a:lnSpc>
                <a:spcPct val="105000"/>
              </a:lnSpc>
              <a:buFontTx/>
              <a:buNone/>
            </a:pPr>
            <a:r>
              <a:rPr lang="en-US" altLang="en-US" sz="2400"/>
              <a:t>	  Type = INT_TYPE;</a:t>
            </a:r>
          </a:p>
          <a:p>
            <a:pPr marL="231775" indent="-231775" eaLnBrk="1" hangingPunct="1">
              <a:lnSpc>
                <a:spcPct val="105000"/>
              </a:lnSpc>
              <a:buFontTx/>
              <a:buNone/>
            </a:pPr>
            <a:r>
              <a:rPr lang="en-US" altLang="en-US" sz="2400"/>
              <a:t>	  Token= getToken();</a:t>
            </a:r>
          </a:p>
          <a:p>
            <a:pPr marL="231775" indent="-231775" eaLnBrk="1" hangingPunct="1">
              <a:lnSpc>
                <a:spcPct val="105000"/>
              </a:lnSpc>
              <a:buFontTx/>
              <a:buNone/>
            </a:pPr>
            <a:r>
              <a:rPr lang="en-US" altLang="en-US" sz="2400"/>
              <a:t>	  if (Token = IDENT)</a:t>
            </a:r>
          </a:p>
          <a:p>
            <a:pPr marL="231775" indent="-231775" eaLnBrk="1" hangingPunct="1">
              <a:lnSpc>
                <a:spcPct val="105000"/>
              </a:lnSpc>
              <a:buFontTx/>
              <a:buNone/>
            </a:pPr>
            <a:r>
              <a:rPr lang="en-US" altLang="en-US" sz="2400"/>
              <a:t>		 </a:t>
            </a:r>
            <a:r>
              <a:rPr lang="fr-FR" altLang="en-US" sz="2400">
                <a:solidFill>
                  <a:srgbClr val="FA0617"/>
                </a:solidFill>
              </a:rPr>
              <a:t>if(CheckIdent(Id) == 0) Enter(Id,Variable,INT_TYPE);</a:t>
            </a:r>
            <a:endParaRPr lang="en-US" altLang="en-US" sz="2400"/>
          </a:p>
        </p:txBody>
      </p:sp>
      <p:sp>
        <p:nvSpPr>
          <p:cNvPr id="43013" name="Text Box 5"/>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3. Chương trình dịch định hướng cú pháp</a:t>
            </a:r>
          </a:p>
        </p:txBody>
      </p:sp>
      <p:sp>
        <p:nvSpPr>
          <p:cNvPr id="43014" name="Rectangle 34"/>
          <p:cNvSpPr>
            <a:spLocks noGrp="1" noChangeArrowheads="1"/>
          </p:cNvSpPr>
          <p:nvPr>
            <p:ph sz="half" idx="2"/>
          </p:nvPr>
        </p:nvSpPr>
        <p:spPr>
          <a:xfrm>
            <a:off x="304800" y="914400"/>
            <a:ext cx="3886200" cy="1676400"/>
          </a:xfrm>
          <a:ln>
            <a:solidFill>
              <a:srgbClr val="270076"/>
            </a:solidFill>
            <a:miter lim="800000"/>
            <a:headEnd/>
            <a:tailEnd/>
          </a:ln>
        </p:spPr>
        <p:txBody>
          <a:bodyPr/>
          <a:lstStyle/>
          <a:p>
            <a:pPr eaLnBrk="1" hangingPunct="1"/>
            <a:r>
              <a:rPr lang="fr-FR" altLang="en-US" sz="2800"/>
              <a:t>D </a:t>
            </a:r>
            <a:r>
              <a:rPr lang="el-GR" altLang="en-US" sz="2800">
                <a:cs typeface="Arial" panose="020B0604020202020204" pitchFamily="34" charset="0"/>
                <a:sym typeface="Symbol" panose="05050102010706020507" pitchFamily="18" charset="2"/>
              </a:rPr>
              <a:t></a:t>
            </a:r>
            <a:r>
              <a:rPr lang="fr-FR" altLang="en-US" sz="2800">
                <a:cs typeface="Arial" panose="020B0604020202020204" pitchFamily="34" charset="0"/>
                <a:sym typeface="Symbol" panose="05050102010706020507" pitchFamily="18" charset="2"/>
              </a:rPr>
              <a:t> T L</a:t>
            </a:r>
          </a:p>
          <a:p>
            <a:pPr eaLnBrk="1" hangingPunct="1"/>
            <a:r>
              <a:rPr lang="fr-FR" altLang="en-US" sz="2800">
                <a:cs typeface="Arial" panose="020B0604020202020204" pitchFamily="34" charset="0"/>
                <a:sym typeface="Symbol" panose="05050102010706020507" pitchFamily="18" charset="2"/>
              </a:rPr>
              <a:t>T </a:t>
            </a:r>
            <a:r>
              <a:rPr lang="el-GR" altLang="en-US" sz="2800">
                <a:cs typeface="Arial" panose="020B0604020202020204" pitchFamily="34" charset="0"/>
                <a:sym typeface="Symbol" panose="05050102010706020507" pitchFamily="18" charset="2"/>
              </a:rPr>
              <a:t></a:t>
            </a:r>
            <a:r>
              <a:rPr lang="fr-FR" altLang="en-US" sz="2800">
                <a:cs typeface="Arial" panose="020B0604020202020204" pitchFamily="34" charset="0"/>
                <a:sym typeface="Symbol" panose="05050102010706020507" pitchFamily="18" charset="2"/>
              </a:rPr>
              <a:t> int |float</a:t>
            </a:r>
          </a:p>
          <a:p>
            <a:pPr eaLnBrk="1" hangingPunct="1"/>
            <a:r>
              <a:rPr lang="fr-FR" altLang="en-US" sz="2800">
                <a:cs typeface="Arial" panose="020B0604020202020204" pitchFamily="34" charset="0"/>
                <a:sym typeface="Symbol" panose="05050102010706020507" pitchFamily="18" charset="2"/>
              </a:rPr>
              <a:t>L </a:t>
            </a:r>
            <a:r>
              <a:rPr lang="el-GR" altLang="en-US" sz="2800">
                <a:cs typeface="Arial" panose="020B0604020202020204" pitchFamily="34" charset="0"/>
                <a:sym typeface="Symbol" panose="05050102010706020507" pitchFamily="18" charset="2"/>
              </a:rPr>
              <a:t></a:t>
            </a:r>
            <a:r>
              <a:rPr lang="fr-FR" altLang="en-US" sz="2800">
                <a:cs typeface="Arial" panose="020B0604020202020204" pitchFamily="34" charset="0"/>
                <a:sym typeface="Symbol" panose="05050102010706020507" pitchFamily="18" charset="2"/>
              </a:rPr>
              <a:t> L , Ident | Ident</a:t>
            </a:r>
            <a:endParaRPr lang="el-GR" altLang="en-US" sz="2800">
              <a:cs typeface="Arial" panose="020B0604020202020204" pitchFamily="34" charset="0"/>
              <a:sym typeface="Symbol" panose="05050102010706020507" pitchFamily="18" charset="2"/>
            </a:endParaRPr>
          </a:p>
        </p:txBody>
      </p:sp>
      <p:grpSp>
        <p:nvGrpSpPr>
          <p:cNvPr id="1747017" name="Group 73"/>
          <p:cNvGrpSpPr>
            <a:grpSpLocks/>
          </p:cNvGrpSpPr>
          <p:nvPr/>
        </p:nvGrpSpPr>
        <p:grpSpPr bwMode="auto">
          <a:xfrm>
            <a:off x="4419600" y="914400"/>
            <a:ext cx="4419600" cy="1676400"/>
            <a:chOff x="2784" y="576"/>
            <a:chExt cx="2784" cy="1056"/>
          </a:xfrm>
        </p:grpSpPr>
        <p:sp>
          <p:nvSpPr>
            <p:cNvPr id="43043" name="Rectangle 35"/>
            <p:cNvSpPr>
              <a:spLocks noChangeArrowheads="1"/>
            </p:cNvSpPr>
            <p:nvPr/>
          </p:nvSpPr>
          <p:spPr bwMode="auto">
            <a:xfrm>
              <a:off x="3360" y="576"/>
              <a:ext cx="2208" cy="1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rgbClr val="270076"/>
                  </a:solidFill>
                  <a:latin typeface="Arial" panose="020B0604020202020204" pitchFamily="34" charset="0"/>
                </a:defRPr>
              </a:lvl1pPr>
              <a:lvl2pPr marL="742950" indent="-285750">
                <a:spcBef>
                  <a:spcPct val="20000"/>
                </a:spcBef>
                <a:buChar char="–"/>
                <a:defRPr sz="2800">
                  <a:solidFill>
                    <a:srgbClr val="270076"/>
                  </a:solidFill>
                  <a:latin typeface="Arial" panose="020B0604020202020204" pitchFamily="34" charset="0"/>
                </a:defRPr>
              </a:lvl2pPr>
              <a:lvl3pPr marL="1143000" indent="-228600">
                <a:spcBef>
                  <a:spcPct val="20000"/>
                </a:spcBef>
                <a:buChar char="•"/>
                <a:defRPr sz="2400">
                  <a:solidFill>
                    <a:srgbClr val="270076"/>
                  </a:solidFill>
                  <a:latin typeface="Arial" panose="020B0604020202020204" pitchFamily="34" charset="0"/>
                </a:defRPr>
              </a:lvl3pPr>
              <a:lvl4pPr marL="1600200" indent="-228600">
                <a:spcBef>
                  <a:spcPct val="20000"/>
                </a:spcBef>
                <a:buChar char="–"/>
                <a:defRPr sz="2000">
                  <a:solidFill>
                    <a:srgbClr val="270076"/>
                  </a:solidFill>
                  <a:latin typeface="Arial" panose="020B0604020202020204" pitchFamily="34" charset="0"/>
                </a:defRPr>
              </a:lvl4pPr>
              <a:lvl5pPr marL="2057400" indent="-228600">
                <a:spcBef>
                  <a:spcPct val="20000"/>
                </a:spcBef>
                <a:buChar char="»"/>
                <a:defRPr sz="2000">
                  <a:solidFill>
                    <a:srgbClr val="270076"/>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270076"/>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270076"/>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270076"/>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270076"/>
                  </a:solidFill>
                  <a:latin typeface="Arial" panose="020B0604020202020204" pitchFamily="34" charset="0"/>
                </a:defRPr>
              </a:lvl9pPr>
            </a:lstStyle>
            <a:p>
              <a:pPr eaLnBrk="1" hangingPunct="1"/>
              <a:r>
                <a:rPr lang="fr-FR" altLang="en-US" sz="2800" b="0"/>
                <a:t>D </a:t>
              </a:r>
              <a:r>
                <a:rPr lang="el-GR" altLang="en-US" sz="2800" b="0">
                  <a:cs typeface="Arial" panose="020B0604020202020204" pitchFamily="34" charset="0"/>
                  <a:sym typeface="Symbol" panose="05050102010706020507" pitchFamily="18" charset="2"/>
                </a:rPr>
                <a:t></a:t>
              </a:r>
              <a:r>
                <a:rPr lang="fr-FR" altLang="en-US" sz="2800" b="0">
                  <a:cs typeface="Arial" panose="020B0604020202020204" pitchFamily="34" charset="0"/>
                  <a:sym typeface="Symbol" panose="05050102010706020507" pitchFamily="18" charset="2"/>
                </a:rPr>
                <a:t> T L</a:t>
              </a:r>
            </a:p>
            <a:p>
              <a:pPr eaLnBrk="1" hangingPunct="1"/>
              <a:r>
                <a:rPr lang="fr-FR" altLang="en-US" sz="2800" b="0">
                  <a:cs typeface="Arial" panose="020B0604020202020204" pitchFamily="34" charset="0"/>
                  <a:sym typeface="Symbol" panose="05050102010706020507" pitchFamily="18" charset="2"/>
                </a:rPr>
                <a:t>T </a:t>
              </a:r>
              <a:r>
                <a:rPr lang="el-GR" altLang="en-US" sz="2800" b="0">
                  <a:cs typeface="Arial" panose="020B0604020202020204" pitchFamily="34" charset="0"/>
                  <a:sym typeface="Symbol" panose="05050102010706020507" pitchFamily="18" charset="2"/>
                </a:rPr>
                <a:t></a:t>
              </a:r>
              <a:r>
                <a:rPr lang="fr-FR" altLang="en-US" sz="2800" b="0">
                  <a:cs typeface="Arial" panose="020B0604020202020204" pitchFamily="34" charset="0"/>
                  <a:sym typeface="Symbol" panose="05050102010706020507" pitchFamily="18" charset="2"/>
                </a:rPr>
                <a:t> int |float</a:t>
              </a:r>
            </a:p>
            <a:p>
              <a:pPr eaLnBrk="1" hangingPunct="1"/>
              <a:r>
                <a:rPr lang="fr-FR" altLang="en-US" sz="2800" b="0">
                  <a:cs typeface="Arial" panose="020B0604020202020204" pitchFamily="34" charset="0"/>
                  <a:sym typeface="Symbol" panose="05050102010706020507" pitchFamily="18" charset="2"/>
                </a:rPr>
                <a:t>L </a:t>
              </a:r>
              <a:r>
                <a:rPr lang="el-GR" altLang="en-US" sz="2800" b="0">
                  <a:cs typeface="Arial" panose="020B0604020202020204" pitchFamily="34" charset="0"/>
                  <a:sym typeface="Symbol" panose="05050102010706020507" pitchFamily="18" charset="2"/>
                </a:rPr>
                <a:t></a:t>
              </a:r>
              <a:r>
                <a:rPr lang="fr-FR" altLang="en-US" sz="2800" b="0">
                  <a:cs typeface="Arial" panose="020B0604020202020204" pitchFamily="34" charset="0"/>
                  <a:sym typeface="Symbol" panose="05050102010706020507" pitchFamily="18" charset="2"/>
                </a:rPr>
                <a:t> Ident {, Ident}</a:t>
              </a:r>
              <a:endParaRPr lang="el-GR" altLang="en-US" sz="2800" b="0">
                <a:cs typeface="Arial" panose="020B0604020202020204" pitchFamily="34" charset="0"/>
                <a:sym typeface="Symbol" panose="05050102010706020507" pitchFamily="18" charset="2"/>
              </a:endParaRPr>
            </a:p>
          </p:txBody>
        </p:sp>
        <p:sp>
          <p:nvSpPr>
            <p:cNvPr id="43044" name="AutoShape 36"/>
            <p:cNvSpPr>
              <a:spLocks noChangeArrowheads="1"/>
            </p:cNvSpPr>
            <p:nvPr/>
          </p:nvSpPr>
          <p:spPr bwMode="auto">
            <a:xfrm>
              <a:off x="2784" y="864"/>
              <a:ext cx="432" cy="384"/>
            </a:xfrm>
            <a:prstGeom prst="rightArrow">
              <a:avLst>
                <a:gd name="adj1" fmla="val 50000"/>
                <a:gd name="adj2" fmla="val 2812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grpSp>
      <p:grpSp>
        <p:nvGrpSpPr>
          <p:cNvPr id="1747016" name="Group 72"/>
          <p:cNvGrpSpPr>
            <a:grpSpLocks/>
          </p:cNvGrpSpPr>
          <p:nvPr/>
        </p:nvGrpSpPr>
        <p:grpSpPr bwMode="auto">
          <a:xfrm>
            <a:off x="1185863" y="2667000"/>
            <a:ext cx="7577137" cy="1800225"/>
            <a:chOff x="363" y="1605"/>
            <a:chExt cx="4773" cy="1134"/>
          </a:xfrm>
        </p:grpSpPr>
        <p:grpSp>
          <p:nvGrpSpPr>
            <p:cNvPr id="43017" name="Group 55"/>
            <p:cNvGrpSpPr>
              <a:grpSpLocks/>
            </p:cNvGrpSpPr>
            <p:nvPr/>
          </p:nvGrpSpPr>
          <p:grpSpPr bwMode="auto">
            <a:xfrm>
              <a:off x="885" y="2085"/>
              <a:ext cx="768" cy="336"/>
              <a:chOff x="411" y="1824"/>
              <a:chExt cx="768" cy="336"/>
            </a:xfrm>
          </p:grpSpPr>
          <p:sp>
            <p:nvSpPr>
              <p:cNvPr id="43041" name="AutoShape 38"/>
              <p:cNvSpPr>
                <a:spLocks noChangeArrowheads="1"/>
              </p:cNvSpPr>
              <p:nvPr/>
            </p:nvSpPr>
            <p:spPr bwMode="auto">
              <a:xfrm>
                <a:off x="411" y="1824"/>
                <a:ext cx="768" cy="336"/>
              </a:xfrm>
              <a:prstGeom prst="roundRect">
                <a:avLst>
                  <a:gd name="adj" fmla="val 500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43042" name="Text Box 39"/>
              <p:cNvSpPr txBox="1">
                <a:spLocks noChangeArrowheads="1"/>
              </p:cNvSpPr>
              <p:nvPr/>
            </p:nvSpPr>
            <p:spPr bwMode="auto">
              <a:xfrm>
                <a:off x="507" y="1824"/>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a:solidFill>
                      <a:srgbClr val="270076"/>
                    </a:solidFill>
                  </a:rPr>
                  <a:t>float</a:t>
                </a:r>
                <a:endParaRPr lang="en-US" altLang="en-US" sz="2400" b="0">
                  <a:solidFill>
                    <a:srgbClr val="270076"/>
                  </a:solidFill>
                </a:endParaRPr>
              </a:p>
            </p:txBody>
          </p:sp>
        </p:grpSp>
        <p:sp>
          <p:nvSpPr>
            <p:cNvPr id="43018" name="Oval 44"/>
            <p:cNvSpPr>
              <a:spLocks noChangeArrowheads="1"/>
            </p:cNvSpPr>
            <p:nvPr/>
          </p:nvSpPr>
          <p:spPr bwMode="auto">
            <a:xfrm rot="1749228">
              <a:off x="4272" y="2403"/>
              <a:ext cx="35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43019" name="Text Box 45"/>
            <p:cNvSpPr txBox="1">
              <a:spLocks noChangeArrowheads="1"/>
            </p:cNvSpPr>
            <p:nvPr/>
          </p:nvSpPr>
          <p:spPr bwMode="auto">
            <a:xfrm rot="10800000" flipH="1" flipV="1">
              <a:off x="4359" y="2346"/>
              <a:ext cx="19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2800">
                  <a:solidFill>
                    <a:srgbClr val="270076"/>
                  </a:solidFill>
                </a:rPr>
                <a:t>,</a:t>
              </a:r>
            </a:p>
          </p:txBody>
        </p:sp>
        <p:sp>
          <p:nvSpPr>
            <p:cNvPr id="43020" name="Line 47"/>
            <p:cNvSpPr>
              <a:spLocks noChangeShapeType="1"/>
            </p:cNvSpPr>
            <p:nvPr/>
          </p:nvSpPr>
          <p:spPr bwMode="auto">
            <a:xfrm>
              <a:off x="363" y="1998"/>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1" name="Line 48"/>
            <p:cNvSpPr>
              <a:spLocks noChangeShapeType="1"/>
            </p:cNvSpPr>
            <p:nvPr/>
          </p:nvSpPr>
          <p:spPr bwMode="auto">
            <a:xfrm>
              <a:off x="1920" y="2016"/>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2" name="Freeform 51"/>
            <p:cNvSpPr>
              <a:spLocks/>
            </p:cNvSpPr>
            <p:nvPr/>
          </p:nvSpPr>
          <p:spPr bwMode="auto">
            <a:xfrm>
              <a:off x="3120" y="2016"/>
              <a:ext cx="192" cy="528"/>
            </a:xfrm>
            <a:custGeom>
              <a:avLst/>
              <a:gdLst>
                <a:gd name="T0" fmla="*/ 192 w 96"/>
                <a:gd name="T1" fmla="*/ 528 h 528"/>
                <a:gd name="T2" fmla="*/ 0 w 96"/>
                <a:gd name="T3" fmla="*/ 528 h 528"/>
                <a:gd name="T4" fmla="*/ 0 w 96"/>
                <a:gd name="T5" fmla="*/ 0 h 528"/>
                <a:gd name="T6" fmla="*/ 0 60000 65536"/>
                <a:gd name="T7" fmla="*/ 0 60000 65536"/>
                <a:gd name="T8" fmla="*/ 0 60000 65536"/>
              </a:gdLst>
              <a:ahLst/>
              <a:cxnLst>
                <a:cxn ang="T6">
                  <a:pos x="T0" y="T1"/>
                </a:cxn>
                <a:cxn ang="T7">
                  <a:pos x="T2" y="T3"/>
                </a:cxn>
                <a:cxn ang="T8">
                  <a:pos x="T4" y="T5"/>
                </a:cxn>
              </a:cxnLst>
              <a:rect l="0" t="0" r="r" b="b"/>
              <a:pathLst>
                <a:path w="96" h="528">
                  <a:moveTo>
                    <a:pt x="96" y="528"/>
                  </a:moveTo>
                  <a:lnTo>
                    <a:pt x="0" y="528"/>
                  </a:lnTo>
                  <a:lnTo>
                    <a:pt x="0" y="0"/>
                  </a:ln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3" name="Freeform 52"/>
            <p:cNvSpPr>
              <a:spLocks/>
            </p:cNvSpPr>
            <p:nvPr/>
          </p:nvSpPr>
          <p:spPr bwMode="auto">
            <a:xfrm>
              <a:off x="4656" y="2025"/>
              <a:ext cx="144" cy="528"/>
            </a:xfrm>
            <a:custGeom>
              <a:avLst/>
              <a:gdLst>
                <a:gd name="T0" fmla="*/ 144 w 144"/>
                <a:gd name="T1" fmla="*/ 0 h 528"/>
                <a:gd name="T2" fmla="*/ 144 w 144"/>
                <a:gd name="T3" fmla="*/ 528 h 528"/>
                <a:gd name="T4" fmla="*/ 0 w 144"/>
                <a:gd name="T5" fmla="*/ 528 h 528"/>
                <a:gd name="T6" fmla="*/ 0 60000 65536"/>
                <a:gd name="T7" fmla="*/ 0 60000 65536"/>
                <a:gd name="T8" fmla="*/ 0 60000 65536"/>
              </a:gdLst>
              <a:ahLst/>
              <a:cxnLst>
                <a:cxn ang="T6">
                  <a:pos x="T0" y="T1"/>
                </a:cxn>
                <a:cxn ang="T7">
                  <a:pos x="T2" y="T3"/>
                </a:cxn>
                <a:cxn ang="T8">
                  <a:pos x="T4" y="T5"/>
                </a:cxn>
              </a:cxnLst>
              <a:rect l="0" t="0" r="r" b="b"/>
              <a:pathLst>
                <a:path w="144" h="528">
                  <a:moveTo>
                    <a:pt x="144" y="0"/>
                  </a:moveTo>
                  <a:lnTo>
                    <a:pt x="144" y="528"/>
                  </a:lnTo>
                  <a:lnTo>
                    <a:pt x="0" y="52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4" name="Line 53"/>
            <p:cNvSpPr>
              <a:spLocks noChangeShapeType="1"/>
            </p:cNvSpPr>
            <p:nvPr/>
          </p:nvSpPr>
          <p:spPr bwMode="auto">
            <a:xfrm flipH="1">
              <a:off x="4059" y="2562"/>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3025" name="Group 56"/>
            <p:cNvGrpSpPr>
              <a:grpSpLocks/>
            </p:cNvGrpSpPr>
            <p:nvPr/>
          </p:nvGrpSpPr>
          <p:grpSpPr bwMode="auto">
            <a:xfrm>
              <a:off x="864" y="1605"/>
              <a:ext cx="768" cy="336"/>
              <a:chOff x="411" y="1824"/>
              <a:chExt cx="768" cy="336"/>
            </a:xfrm>
          </p:grpSpPr>
          <p:sp>
            <p:nvSpPr>
              <p:cNvPr id="43039" name="AutoShape 57"/>
              <p:cNvSpPr>
                <a:spLocks noChangeArrowheads="1"/>
              </p:cNvSpPr>
              <p:nvPr/>
            </p:nvSpPr>
            <p:spPr bwMode="auto">
              <a:xfrm>
                <a:off x="411" y="1824"/>
                <a:ext cx="768" cy="336"/>
              </a:xfrm>
              <a:prstGeom prst="roundRect">
                <a:avLst>
                  <a:gd name="adj" fmla="val 500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43040" name="Text Box 58"/>
              <p:cNvSpPr txBox="1">
                <a:spLocks noChangeArrowheads="1"/>
              </p:cNvSpPr>
              <p:nvPr/>
            </p:nvSpPr>
            <p:spPr bwMode="auto">
              <a:xfrm>
                <a:off x="507" y="1824"/>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a:solidFill>
                      <a:srgbClr val="270076"/>
                    </a:solidFill>
                  </a:rPr>
                  <a:t>int</a:t>
                </a:r>
                <a:endParaRPr lang="en-US" altLang="en-US" sz="2400" b="0">
                  <a:solidFill>
                    <a:srgbClr val="270076"/>
                  </a:solidFill>
                </a:endParaRPr>
              </a:p>
            </p:txBody>
          </p:sp>
        </p:grpSp>
        <p:grpSp>
          <p:nvGrpSpPr>
            <p:cNvPr id="43026" name="Group 59"/>
            <p:cNvGrpSpPr>
              <a:grpSpLocks/>
            </p:cNvGrpSpPr>
            <p:nvPr/>
          </p:nvGrpSpPr>
          <p:grpSpPr bwMode="auto">
            <a:xfrm>
              <a:off x="2208" y="1845"/>
              <a:ext cx="768" cy="336"/>
              <a:chOff x="411" y="1824"/>
              <a:chExt cx="768" cy="336"/>
            </a:xfrm>
          </p:grpSpPr>
          <p:sp>
            <p:nvSpPr>
              <p:cNvPr id="43037" name="AutoShape 60"/>
              <p:cNvSpPr>
                <a:spLocks noChangeArrowheads="1"/>
              </p:cNvSpPr>
              <p:nvPr/>
            </p:nvSpPr>
            <p:spPr bwMode="auto">
              <a:xfrm>
                <a:off x="411" y="1824"/>
                <a:ext cx="768" cy="336"/>
              </a:xfrm>
              <a:prstGeom prst="roundRect">
                <a:avLst>
                  <a:gd name="adj" fmla="val 500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43038" name="Text Box 61"/>
              <p:cNvSpPr txBox="1">
                <a:spLocks noChangeArrowheads="1"/>
              </p:cNvSpPr>
              <p:nvPr/>
            </p:nvSpPr>
            <p:spPr bwMode="auto">
              <a:xfrm>
                <a:off x="507" y="1824"/>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a:solidFill>
                      <a:srgbClr val="270076"/>
                    </a:solidFill>
                  </a:rPr>
                  <a:t>ident</a:t>
                </a:r>
                <a:endParaRPr lang="en-US" altLang="en-US" sz="2400" b="0">
                  <a:solidFill>
                    <a:srgbClr val="270076"/>
                  </a:solidFill>
                </a:endParaRPr>
              </a:p>
            </p:txBody>
          </p:sp>
        </p:grpSp>
        <p:sp>
          <p:nvSpPr>
            <p:cNvPr id="43027" name="Line 62"/>
            <p:cNvSpPr>
              <a:spLocks noChangeShapeType="1"/>
            </p:cNvSpPr>
            <p:nvPr/>
          </p:nvSpPr>
          <p:spPr bwMode="auto">
            <a:xfrm>
              <a:off x="576" y="1776"/>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8" name="Line 63"/>
            <p:cNvSpPr>
              <a:spLocks noChangeShapeType="1"/>
            </p:cNvSpPr>
            <p:nvPr/>
          </p:nvSpPr>
          <p:spPr bwMode="auto">
            <a:xfrm>
              <a:off x="597" y="2265"/>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9" name="Line 64"/>
            <p:cNvSpPr>
              <a:spLocks noChangeShapeType="1"/>
            </p:cNvSpPr>
            <p:nvPr/>
          </p:nvSpPr>
          <p:spPr bwMode="auto">
            <a:xfrm>
              <a:off x="1632" y="1776"/>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30" name="Line 65"/>
            <p:cNvSpPr>
              <a:spLocks noChangeShapeType="1"/>
            </p:cNvSpPr>
            <p:nvPr/>
          </p:nvSpPr>
          <p:spPr bwMode="auto">
            <a:xfrm>
              <a:off x="1653" y="2256"/>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31" name="Line 66"/>
            <p:cNvSpPr>
              <a:spLocks noChangeShapeType="1"/>
            </p:cNvSpPr>
            <p:nvPr/>
          </p:nvSpPr>
          <p:spPr bwMode="auto">
            <a:xfrm>
              <a:off x="576" y="1776"/>
              <a:ext cx="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32" name="Line 67"/>
            <p:cNvSpPr>
              <a:spLocks noChangeShapeType="1"/>
            </p:cNvSpPr>
            <p:nvPr/>
          </p:nvSpPr>
          <p:spPr bwMode="auto">
            <a:xfrm>
              <a:off x="1920" y="1776"/>
              <a:ext cx="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33" name="Line 68"/>
            <p:cNvSpPr>
              <a:spLocks noChangeShapeType="1"/>
            </p:cNvSpPr>
            <p:nvPr/>
          </p:nvSpPr>
          <p:spPr bwMode="auto">
            <a:xfrm>
              <a:off x="2976" y="2016"/>
              <a:ext cx="216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3034" name="Group 69"/>
            <p:cNvGrpSpPr>
              <a:grpSpLocks/>
            </p:cNvGrpSpPr>
            <p:nvPr/>
          </p:nvGrpSpPr>
          <p:grpSpPr bwMode="auto">
            <a:xfrm>
              <a:off x="3309" y="2391"/>
              <a:ext cx="768" cy="336"/>
              <a:chOff x="411" y="1824"/>
              <a:chExt cx="768" cy="336"/>
            </a:xfrm>
          </p:grpSpPr>
          <p:sp>
            <p:nvSpPr>
              <p:cNvPr id="43035" name="AutoShape 70"/>
              <p:cNvSpPr>
                <a:spLocks noChangeArrowheads="1"/>
              </p:cNvSpPr>
              <p:nvPr/>
            </p:nvSpPr>
            <p:spPr bwMode="auto">
              <a:xfrm>
                <a:off x="411" y="1824"/>
                <a:ext cx="768" cy="336"/>
              </a:xfrm>
              <a:prstGeom prst="roundRect">
                <a:avLst>
                  <a:gd name="adj" fmla="val 500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43036" name="Text Box 71"/>
              <p:cNvSpPr txBox="1">
                <a:spLocks noChangeArrowheads="1"/>
              </p:cNvSpPr>
              <p:nvPr/>
            </p:nvSpPr>
            <p:spPr bwMode="auto">
              <a:xfrm>
                <a:off x="507" y="1824"/>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a:solidFill>
                      <a:srgbClr val="270076"/>
                    </a:solidFill>
                  </a:rPr>
                  <a:t>ident</a:t>
                </a:r>
                <a:endParaRPr lang="en-US" altLang="en-US" sz="2400" b="0">
                  <a:solidFill>
                    <a:srgbClr val="270076"/>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1747017"/>
                                        </p:tgtEl>
                                        <p:attrNameLst>
                                          <p:attrName>style.visibility</p:attrName>
                                        </p:attrNameLst>
                                      </p:cBhvr>
                                      <p:to>
                                        <p:strVal val="visible"/>
                                      </p:to>
                                    </p:set>
                                    <p:animEffect transition="in" filter="slide(fromLeft)">
                                      <p:cBhvr>
                                        <p:cTn id="7" dur="500"/>
                                        <p:tgtEl>
                                          <p:spTgt spid="17470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747016"/>
                                        </p:tgtEl>
                                        <p:attrNameLst>
                                          <p:attrName>style.visibility</p:attrName>
                                        </p:attrNameLst>
                                      </p:cBhvr>
                                      <p:to>
                                        <p:strVal val="visible"/>
                                      </p:to>
                                    </p:set>
                                    <p:animEffect transition="in" filter="box(out)">
                                      <p:cBhvr>
                                        <p:cTn id="12" dur="500"/>
                                        <p:tgtEl>
                                          <p:spTgt spid="17470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46947">
                                            <p:txEl>
                                              <p:pRg st="0" end="0"/>
                                            </p:txEl>
                                          </p:spTgt>
                                        </p:tgtEl>
                                        <p:attrNameLst>
                                          <p:attrName>style.visibility</p:attrName>
                                        </p:attrNameLst>
                                      </p:cBhvr>
                                      <p:to>
                                        <p:strVal val="visible"/>
                                      </p:to>
                                    </p:set>
                                    <p:animEffect transition="in" filter="dissolve">
                                      <p:cBhvr>
                                        <p:cTn id="17" dur="500"/>
                                        <p:tgtEl>
                                          <p:spTgt spid="1746947">
                                            <p:txEl>
                                              <p:pRg st="0" end="0"/>
                                            </p:txEl>
                                          </p:spTgt>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746947">
                                            <p:txEl>
                                              <p:pRg st="1" end="1"/>
                                            </p:txEl>
                                          </p:spTgt>
                                        </p:tgtEl>
                                        <p:attrNameLst>
                                          <p:attrName>style.visibility</p:attrName>
                                        </p:attrNameLst>
                                      </p:cBhvr>
                                      <p:to>
                                        <p:strVal val="visible"/>
                                      </p:to>
                                    </p:set>
                                    <p:animEffect transition="in" filter="dissolve">
                                      <p:cBhvr>
                                        <p:cTn id="20" dur="500"/>
                                        <p:tgtEl>
                                          <p:spTgt spid="1746947">
                                            <p:txEl>
                                              <p:pRg st="1" end="1"/>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746947">
                                            <p:txEl>
                                              <p:pRg st="2" end="2"/>
                                            </p:txEl>
                                          </p:spTgt>
                                        </p:tgtEl>
                                        <p:attrNameLst>
                                          <p:attrName>style.visibility</p:attrName>
                                        </p:attrNameLst>
                                      </p:cBhvr>
                                      <p:to>
                                        <p:strVal val="visible"/>
                                      </p:to>
                                    </p:set>
                                    <p:animEffect transition="in" filter="dissolve">
                                      <p:cBhvr>
                                        <p:cTn id="23" dur="500"/>
                                        <p:tgtEl>
                                          <p:spTgt spid="1746947">
                                            <p:txEl>
                                              <p:pRg st="2" end="2"/>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746947">
                                            <p:txEl>
                                              <p:pRg st="3" end="3"/>
                                            </p:txEl>
                                          </p:spTgt>
                                        </p:tgtEl>
                                        <p:attrNameLst>
                                          <p:attrName>style.visibility</p:attrName>
                                        </p:attrNameLst>
                                      </p:cBhvr>
                                      <p:to>
                                        <p:strVal val="visible"/>
                                      </p:to>
                                    </p:set>
                                    <p:animEffect transition="in" filter="dissolve">
                                      <p:cBhvr>
                                        <p:cTn id="26" dur="500"/>
                                        <p:tgtEl>
                                          <p:spTgt spid="1746947">
                                            <p:txEl>
                                              <p:pRg st="3" end="3"/>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746947">
                                            <p:txEl>
                                              <p:pRg st="4" end="4"/>
                                            </p:txEl>
                                          </p:spTgt>
                                        </p:tgtEl>
                                        <p:attrNameLst>
                                          <p:attrName>style.visibility</p:attrName>
                                        </p:attrNameLst>
                                      </p:cBhvr>
                                      <p:to>
                                        <p:strVal val="visible"/>
                                      </p:to>
                                    </p:set>
                                    <p:animEffect transition="in" filter="dissolve">
                                      <p:cBhvr>
                                        <p:cTn id="29" dur="500"/>
                                        <p:tgtEl>
                                          <p:spTgt spid="17469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6947"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F6298144-4067-4BD2-9C8D-F481857E34E2}" type="slidenum">
              <a:rPr lang="en-US" altLang="en-US" sz="1400" b="0"/>
              <a:pPr/>
              <a:t>38</a:t>
            </a:fld>
            <a:endParaRPr lang="en-US" altLang="en-US" sz="1400" b="0"/>
          </a:p>
        </p:txBody>
      </p:sp>
      <p:sp>
        <p:nvSpPr>
          <p:cNvPr id="44035" name="Rectangle 2"/>
          <p:cNvSpPr>
            <a:spLocks noGrp="1" noChangeArrowheads="1"/>
          </p:cNvSpPr>
          <p:nvPr>
            <p:ph type="title"/>
          </p:nvPr>
        </p:nvSpPr>
        <p:spPr/>
        <p:txBody>
          <a:bodyPr/>
          <a:lstStyle/>
          <a:p>
            <a:pPr eaLnBrk="1" hangingPunct="1"/>
            <a:r>
              <a:rPr lang="fr-FR" altLang="en-US"/>
              <a:t>Lưu trữ thông tin về phạm vi</a:t>
            </a:r>
            <a:endParaRPr lang="fr-FR" altLang="en-US">
              <a:sym typeface="Symbol" panose="05050102010706020507" pitchFamily="18" charset="2"/>
            </a:endParaRPr>
          </a:p>
        </p:txBody>
      </p:sp>
      <p:sp>
        <p:nvSpPr>
          <p:cNvPr id="44036" name="Rectangle 3"/>
          <p:cNvSpPr>
            <a:spLocks noGrp="1" noChangeArrowheads="1"/>
          </p:cNvSpPr>
          <p:nvPr>
            <p:ph type="body" sz="half" idx="1"/>
          </p:nvPr>
        </p:nvSpPr>
        <p:spPr>
          <a:xfrm>
            <a:off x="152400" y="1066800"/>
            <a:ext cx="8839200" cy="5486400"/>
          </a:xfrm>
        </p:spPr>
        <p:txBody>
          <a:bodyPr/>
          <a:lstStyle/>
          <a:p>
            <a:pPr marL="231775" indent="-231775" eaLnBrk="1" hangingPunct="1">
              <a:lnSpc>
                <a:spcPct val="105000"/>
              </a:lnSpc>
            </a:pPr>
            <a:r>
              <a:rPr lang="fr-FR" altLang="en-US" sz="2800" dirty="0" err="1"/>
              <a:t>Văn</a:t>
            </a:r>
            <a:r>
              <a:rPr lang="fr-FR" altLang="en-US" sz="2800" dirty="0"/>
              <a:t> </a:t>
            </a:r>
            <a:r>
              <a:rPr lang="fr-FR" altLang="en-US" sz="2800" dirty="0" err="1"/>
              <a:t>phạm</a:t>
            </a:r>
            <a:r>
              <a:rPr lang="fr-FR" altLang="en-US" sz="2800" dirty="0"/>
              <a:t> </a:t>
            </a:r>
            <a:r>
              <a:rPr lang="fr-FR" altLang="en-US" sz="2800" dirty="0" err="1"/>
              <a:t>cho</a:t>
            </a:r>
            <a:r>
              <a:rPr lang="fr-FR" altLang="en-US" sz="2800" dirty="0"/>
              <a:t> </a:t>
            </a:r>
            <a:r>
              <a:rPr lang="fr-FR" altLang="en-US" sz="2800" dirty="0" err="1"/>
              <a:t>phép</a:t>
            </a:r>
            <a:r>
              <a:rPr lang="fr-FR" altLang="en-US" sz="2800" dirty="0"/>
              <a:t> </a:t>
            </a:r>
            <a:r>
              <a:rPr lang="fr-FR" altLang="en-US" sz="2800" dirty="0" err="1"/>
              <a:t>các</a:t>
            </a:r>
            <a:r>
              <a:rPr lang="fr-FR" altLang="en-US" sz="2800" dirty="0"/>
              <a:t> </a:t>
            </a:r>
            <a:r>
              <a:rPr lang="fr-FR" altLang="en-US" sz="2800" dirty="0" err="1"/>
              <a:t>chương</a:t>
            </a:r>
            <a:r>
              <a:rPr lang="fr-FR" altLang="en-US" sz="2800" dirty="0"/>
              <a:t> </a:t>
            </a:r>
            <a:r>
              <a:rPr lang="fr-FR" altLang="en-US" sz="2800" dirty="0" err="1"/>
              <a:t>trình</a:t>
            </a:r>
            <a:r>
              <a:rPr lang="fr-FR" altLang="en-US" sz="2800" dirty="0"/>
              <a:t> con </a:t>
            </a:r>
            <a:r>
              <a:rPr lang="fr-FR" altLang="en-US" sz="2800" dirty="0" err="1"/>
              <a:t>bao</a:t>
            </a:r>
            <a:r>
              <a:rPr lang="fr-FR" altLang="en-US" sz="2800" dirty="0"/>
              <a:t> </a:t>
            </a:r>
            <a:r>
              <a:rPr lang="fr-FR" altLang="en-US" sz="2800" dirty="0" err="1"/>
              <a:t>nhau</a:t>
            </a:r>
            <a:endParaRPr lang="fr-FR" altLang="en-US" sz="2800" dirty="0"/>
          </a:p>
          <a:p>
            <a:pPr marL="914400" lvl="1" indent="-334963" eaLnBrk="1" hangingPunct="1">
              <a:lnSpc>
                <a:spcPct val="105000"/>
              </a:lnSpc>
            </a:pPr>
            <a:r>
              <a:rPr lang="fr-FR" altLang="en-US" sz="2400" dirty="0"/>
              <a:t>Khi </a:t>
            </a:r>
            <a:r>
              <a:rPr lang="fr-FR" altLang="en-US" sz="2400" dirty="0" err="1"/>
              <a:t>bắt</a:t>
            </a:r>
            <a:r>
              <a:rPr lang="fr-FR" altLang="en-US" sz="2400" dirty="0"/>
              <a:t> </a:t>
            </a:r>
            <a:r>
              <a:rPr lang="fr-FR" altLang="en-US" sz="2400" dirty="0" err="1"/>
              <a:t>đầu</a:t>
            </a:r>
            <a:r>
              <a:rPr lang="fr-FR" altLang="en-US" sz="2400" dirty="0"/>
              <a:t> </a:t>
            </a:r>
            <a:r>
              <a:rPr lang="fr-FR" altLang="en-US" sz="2400" dirty="0" err="1"/>
              <a:t>phân</a:t>
            </a:r>
            <a:r>
              <a:rPr lang="fr-FR" altLang="en-US" sz="2400" dirty="0"/>
              <a:t> </a:t>
            </a:r>
            <a:r>
              <a:rPr lang="fr-FR" altLang="en-US" sz="2400" dirty="0" err="1"/>
              <a:t>tích</a:t>
            </a:r>
            <a:r>
              <a:rPr lang="fr-FR" altLang="en-US" sz="2400" dirty="0"/>
              <a:t> </a:t>
            </a:r>
            <a:r>
              <a:rPr lang="fr-FR" altLang="en-US" sz="2400" dirty="0" err="1"/>
              <a:t>chương</a:t>
            </a:r>
            <a:r>
              <a:rPr lang="fr-FR" altLang="en-US" sz="2400" dirty="0"/>
              <a:t> </a:t>
            </a:r>
            <a:r>
              <a:rPr lang="fr-FR" altLang="en-US" sz="2400" dirty="0" err="1"/>
              <a:t>trình</a:t>
            </a:r>
            <a:r>
              <a:rPr lang="fr-FR" altLang="en-US" sz="2400" dirty="0"/>
              <a:t> con, </a:t>
            </a:r>
            <a:r>
              <a:rPr lang="fr-FR" altLang="en-US" sz="2400" dirty="0" err="1"/>
              <a:t>phần</a:t>
            </a:r>
            <a:r>
              <a:rPr lang="fr-FR" altLang="en-US" sz="2400" dirty="0"/>
              <a:t> </a:t>
            </a:r>
            <a:r>
              <a:rPr lang="fr-FR" altLang="en-US" sz="2400" dirty="0" err="1"/>
              <a:t>khai</a:t>
            </a:r>
            <a:r>
              <a:rPr lang="fr-FR" altLang="en-US" sz="2400" dirty="0"/>
              <a:t> </a:t>
            </a:r>
            <a:r>
              <a:rPr lang="fr-FR" altLang="en-US" sz="2400" dirty="0" err="1"/>
              <a:t>báo</a:t>
            </a:r>
            <a:r>
              <a:rPr lang="fr-FR" altLang="en-US" sz="2400" dirty="0"/>
              <a:t> </a:t>
            </a:r>
            <a:r>
              <a:rPr lang="fr-FR" altLang="en-US" sz="2400" dirty="0" err="1"/>
              <a:t>của</a:t>
            </a:r>
            <a:r>
              <a:rPr lang="fr-FR" altLang="en-US" sz="2400" dirty="0"/>
              <a:t> </a:t>
            </a:r>
            <a:r>
              <a:rPr lang="fr-FR" altLang="en-US" sz="2400" dirty="0" err="1"/>
              <a:t>chương</a:t>
            </a:r>
            <a:r>
              <a:rPr lang="fr-FR" altLang="en-US" sz="2400" dirty="0"/>
              <a:t> </a:t>
            </a:r>
            <a:r>
              <a:rPr lang="fr-FR" altLang="en-US" sz="2400" dirty="0" err="1"/>
              <a:t>trình</a:t>
            </a:r>
            <a:r>
              <a:rPr lang="fr-FR" altLang="en-US" sz="2400" dirty="0"/>
              <a:t> </a:t>
            </a:r>
            <a:r>
              <a:rPr lang="fr-FR" altLang="en-US" sz="2400" dirty="0" err="1"/>
              <a:t>bao</a:t>
            </a:r>
            <a:r>
              <a:rPr lang="fr-FR" altLang="en-US" sz="2400" dirty="0"/>
              <a:t> </a:t>
            </a:r>
            <a:r>
              <a:rPr lang="fr-FR" altLang="en-US" sz="2400" dirty="0" err="1"/>
              <a:t>tạm</a:t>
            </a:r>
            <a:r>
              <a:rPr lang="fr-FR" altLang="en-US" sz="2400" dirty="0"/>
              <a:t> </a:t>
            </a:r>
            <a:r>
              <a:rPr lang="fr-FR" altLang="en-US" sz="2400" dirty="0" err="1"/>
              <a:t>dừng</a:t>
            </a:r>
            <a:endParaRPr lang="fr-FR" altLang="en-US" sz="2400" dirty="0"/>
          </a:p>
          <a:p>
            <a:pPr marL="914400" lvl="1" indent="-334963" eaLnBrk="1" hangingPunct="1">
              <a:lnSpc>
                <a:spcPct val="105000"/>
              </a:lnSpc>
            </a:pPr>
            <a:r>
              <a:rPr lang="fr-FR" altLang="en-US" sz="2400" dirty="0" err="1"/>
              <a:t>Dùng</a:t>
            </a:r>
            <a:r>
              <a:rPr lang="fr-FR" altLang="en-US" sz="2400" dirty="0"/>
              <a:t> </a:t>
            </a:r>
            <a:r>
              <a:rPr lang="fr-FR" altLang="en-US" sz="2400" dirty="0" err="1"/>
              <a:t>một</a:t>
            </a:r>
            <a:r>
              <a:rPr lang="fr-FR" altLang="en-US" sz="2400" dirty="0"/>
              <a:t> </a:t>
            </a:r>
            <a:r>
              <a:rPr lang="fr-FR" altLang="en-US" sz="2400" dirty="0" err="1"/>
              <a:t>bảng</a:t>
            </a:r>
            <a:r>
              <a:rPr lang="fr-FR" altLang="en-US" sz="2400" dirty="0"/>
              <a:t> </a:t>
            </a:r>
            <a:r>
              <a:rPr lang="fr-FR" altLang="en-US" sz="2400" dirty="0" err="1"/>
              <a:t>ký</a:t>
            </a:r>
            <a:r>
              <a:rPr lang="fr-FR" altLang="en-US" sz="2400" dirty="0"/>
              <a:t> </a:t>
            </a:r>
            <a:r>
              <a:rPr lang="fr-FR" altLang="en-US" sz="2400" dirty="0" err="1"/>
              <a:t>hiệu</a:t>
            </a:r>
            <a:r>
              <a:rPr lang="fr-FR" altLang="en-US" sz="2400" dirty="0"/>
              <a:t> </a:t>
            </a:r>
            <a:r>
              <a:rPr lang="fr-FR" altLang="en-US" sz="2400" dirty="0" err="1"/>
              <a:t>riêng</a:t>
            </a:r>
            <a:r>
              <a:rPr lang="fr-FR" altLang="en-US" sz="2400" dirty="0"/>
              <a:t> </a:t>
            </a:r>
            <a:r>
              <a:rPr lang="fr-FR" altLang="en-US" sz="2400" dirty="0" err="1"/>
              <a:t>cho</a:t>
            </a:r>
            <a:r>
              <a:rPr lang="fr-FR" altLang="en-US" sz="2400" dirty="0"/>
              <a:t> </a:t>
            </a:r>
            <a:r>
              <a:rPr lang="fr-FR" altLang="en-US" sz="2400" dirty="0" err="1"/>
              <a:t>mỗi</a:t>
            </a:r>
            <a:r>
              <a:rPr lang="fr-FR" altLang="en-US" sz="2400" dirty="0"/>
              <a:t> </a:t>
            </a:r>
            <a:r>
              <a:rPr lang="fr-FR" altLang="en-US" sz="2400" dirty="0" err="1"/>
              <a:t>chương</a:t>
            </a:r>
            <a:r>
              <a:rPr lang="fr-FR" altLang="en-US" sz="2400" dirty="0"/>
              <a:t> </a:t>
            </a:r>
            <a:r>
              <a:rPr lang="fr-FR" altLang="en-US" sz="2400" dirty="0" err="1"/>
              <a:t>trình</a:t>
            </a:r>
            <a:r>
              <a:rPr lang="fr-FR" altLang="en-US" sz="2400" dirty="0"/>
              <a:t> con</a:t>
            </a:r>
            <a:endParaRPr lang="en-US" altLang="en-US" sz="2400" dirty="0"/>
          </a:p>
          <a:p>
            <a:pPr marL="231775" indent="-231775" eaLnBrk="1" hangingPunct="1">
              <a:lnSpc>
                <a:spcPct val="105000"/>
              </a:lnSpc>
            </a:pPr>
            <a:r>
              <a:rPr lang="en-US" altLang="en-US" sz="2800" dirty="0" err="1"/>
              <a:t>Văn</a:t>
            </a:r>
            <a:r>
              <a:rPr lang="en-US" altLang="en-US" sz="2800" dirty="0"/>
              <a:t> </a:t>
            </a:r>
            <a:r>
              <a:rPr lang="en-US" altLang="en-US" sz="2800" dirty="0" err="1"/>
              <a:t>phạm</a:t>
            </a:r>
            <a:r>
              <a:rPr lang="en-US" altLang="en-US" sz="2800" dirty="0"/>
              <a:t> </a:t>
            </a:r>
            <a:r>
              <a:rPr lang="en-US" altLang="en-US" sz="2800" dirty="0" err="1"/>
              <a:t>của</a:t>
            </a:r>
            <a:r>
              <a:rPr lang="en-US" altLang="en-US" sz="2800" dirty="0"/>
              <a:t> </a:t>
            </a:r>
            <a:r>
              <a:rPr lang="en-US" altLang="en-US" sz="2800" dirty="0" err="1"/>
              <a:t>khai</a:t>
            </a:r>
            <a:r>
              <a:rPr lang="en-US" altLang="en-US" sz="2800" dirty="0"/>
              <a:t> </a:t>
            </a:r>
            <a:r>
              <a:rPr lang="en-US" altLang="en-US" sz="2800" dirty="0" err="1"/>
              <a:t>báo</a:t>
            </a:r>
            <a:r>
              <a:rPr lang="en-US" altLang="en-US" sz="2800" dirty="0"/>
              <a:t> </a:t>
            </a:r>
            <a:r>
              <a:rPr lang="en-US" altLang="en-US" sz="2800" dirty="0" err="1"/>
              <a:t>này</a:t>
            </a:r>
            <a:r>
              <a:rPr lang="en-US" altLang="en-US" sz="2800" dirty="0"/>
              <a:t>:</a:t>
            </a:r>
          </a:p>
          <a:p>
            <a:pPr marL="231775" indent="-231775" eaLnBrk="1" hangingPunct="1">
              <a:lnSpc>
                <a:spcPct val="105000"/>
              </a:lnSpc>
              <a:buFontTx/>
              <a:buNone/>
            </a:pPr>
            <a:r>
              <a:rPr lang="en-US" altLang="en-US" sz="2800" b="1" dirty="0"/>
              <a:t>          P </a:t>
            </a:r>
            <a:r>
              <a:rPr lang="en-US" altLang="en-US" sz="2800" b="1" dirty="0">
                <a:sym typeface="Symbol" panose="05050102010706020507" pitchFamily="18" charset="2"/>
              </a:rPr>
              <a:t> D ; S	</a:t>
            </a:r>
            <a:r>
              <a:rPr lang="en-US" altLang="en-US" sz="2800" dirty="0">
                <a:solidFill>
                  <a:schemeClr val="bg2"/>
                </a:solidFill>
                <a:sym typeface="Symbol" panose="05050102010706020507" pitchFamily="18" charset="2"/>
              </a:rPr>
              <a:t>//D: Description, S : Statement</a:t>
            </a:r>
          </a:p>
          <a:p>
            <a:pPr marL="231775" indent="-231775" eaLnBrk="1" hangingPunct="1">
              <a:lnSpc>
                <a:spcPct val="105000"/>
              </a:lnSpc>
              <a:buFontTx/>
              <a:buNone/>
            </a:pPr>
            <a:r>
              <a:rPr lang="en-US" altLang="en-US" sz="2800" b="1" dirty="0">
                <a:sym typeface="Symbol" panose="05050102010706020507" pitchFamily="18" charset="2"/>
              </a:rPr>
              <a:t>          D  D; D | id : T | </a:t>
            </a:r>
            <a:r>
              <a:rPr lang="en-US" altLang="en-US" sz="2800" b="1" dirty="0">
                <a:solidFill>
                  <a:schemeClr val="accent2"/>
                </a:solidFill>
                <a:sym typeface="Symbol" panose="05050102010706020507" pitchFamily="18" charset="2"/>
              </a:rPr>
              <a:t>proc id ; </a:t>
            </a:r>
            <a:r>
              <a:rPr lang="en-US" altLang="en-US" sz="2800" b="1" dirty="0">
                <a:sym typeface="Symbol" panose="05050102010706020507" pitchFamily="18" charset="2"/>
              </a:rPr>
              <a:t>D</a:t>
            </a:r>
            <a:r>
              <a:rPr lang="en-US" altLang="en-US" sz="2800" b="1" baseline="-25000" dirty="0">
                <a:sym typeface="Symbol" panose="05050102010706020507" pitchFamily="18" charset="2"/>
              </a:rPr>
              <a:t>1</a:t>
            </a:r>
            <a:r>
              <a:rPr lang="en-US" altLang="en-US" sz="2800" b="1" dirty="0">
                <a:sym typeface="Symbol" panose="05050102010706020507" pitchFamily="18" charset="2"/>
              </a:rPr>
              <a:t> </a:t>
            </a:r>
            <a:r>
              <a:rPr lang="en-US" altLang="en-US" sz="2800" b="1" dirty="0">
                <a:solidFill>
                  <a:schemeClr val="accent2"/>
                </a:solidFill>
                <a:sym typeface="Symbol" panose="05050102010706020507" pitchFamily="18" charset="2"/>
              </a:rPr>
              <a:t>;</a:t>
            </a:r>
            <a:r>
              <a:rPr lang="en-US" altLang="en-US" sz="2800" b="1" dirty="0">
                <a:sym typeface="Symbol" panose="05050102010706020507" pitchFamily="18" charset="2"/>
              </a:rPr>
              <a:t> S </a:t>
            </a:r>
            <a:r>
              <a:rPr lang="en-US" altLang="en-US" sz="2800" dirty="0">
                <a:solidFill>
                  <a:schemeClr val="bg2"/>
                </a:solidFill>
                <a:sym typeface="Symbol" panose="05050102010706020507" pitchFamily="18" charset="2"/>
              </a:rPr>
              <a:t>//D</a:t>
            </a:r>
            <a:r>
              <a:rPr lang="en-US" altLang="en-US" sz="2800" baseline="-25000" dirty="0">
                <a:solidFill>
                  <a:schemeClr val="bg2"/>
                </a:solidFill>
                <a:sym typeface="Symbol" panose="05050102010706020507" pitchFamily="18" charset="2"/>
              </a:rPr>
              <a:t>1</a:t>
            </a:r>
            <a:r>
              <a:rPr lang="en-US" altLang="en-US" sz="2800" dirty="0">
                <a:solidFill>
                  <a:schemeClr val="bg2"/>
                </a:solidFill>
                <a:sym typeface="Symbol" panose="05050102010706020507" pitchFamily="18" charset="2"/>
              </a:rPr>
              <a:t>D</a:t>
            </a:r>
          </a:p>
          <a:p>
            <a:pPr marL="231775" indent="-231775" eaLnBrk="1" hangingPunct="1">
              <a:lnSpc>
                <a:spcPct val="105000"/>
              </a:lnSpc>
            </a:pPr>
            <a:r>
              <a:rPr lang="en-US" altLang="en-US" sz="2800" dirty="0" err="1"/>
              <a:t>Khi</a:t>
            </a:r>
            <a:r>
              <a:rPr lang="en-US" altLang="en-US" sz="2800" dirty="0"/>
              <a:t> </a:t>
            </a:r>
            <a:r>
              <a:rPr lang="en-US" altLang="en-US" sz="2800" dirty="0" err="1"/>
              <a:t>khai</a:t>
            </a:r>
            <a:r>
              <a:rPr lang="en-US" altLang="en-US" sz="2800" dirty="0"/>
              <a:t> </a:t>
            </a:r>
            <a:r>
              <a:rPr lang="en-US" altLang="en-US" sz="2800" dirty="0" err="1"/>
              <a:t>báo</a:t>
            </a:r>
            <a:r>
              <a:rPr lang="en-US" altLang="en-US" sz="2800" dirty="0"/>
              <a:t> </a:t>
            </a:r>
            <a:r>
              <a:rPr lang="en-US" altLang="en-US" sz="2800" dirty="0" err="1"/>
              <a:t>chương</a:t>
            </a:r>
            <a:r>
              <a:rPr lang="en-US" altLang="en-US" sz="2800" dirty="0"/>
              <a:t> </a:t>
            </a:r>
            <a:r>
              <a:rPr lang="en-US" altLang="en-US" sz="2800" dirty="0" err="1"/>
              <a:t>trình</a:t>
            </a:r>
            <a:r>
              <a:rPr lang="en-US" altLang="en-US" sz="2800" dirty="0"/>
              <a:t> con </a:t>
            </a:r>
            <a:r>
              <a:rPr lang="en-US" altLang="en-US" sz="2800" dirty="0">
                <a:solidFill>
                  <a:srgbClr val="2C1EDC"/>
                </a:solidFill>
              </a:rPr>
              <a:t>D </a:t>
            </a:r>
            <a:r>
              <a:rPr lang="en-US" altLang="en-US" sz="2800" b="1" dirty="0">
                <a:solidFill>
                  <a:srgbClr val="2C1EDC"/>
                </a:solidFill>
                <a:sym typeface="Symbol" panose="05050102010706020507" pitchFamily="18" charset="2"/>
              </a:rPr>
              <a:t> proc</a:t>
            </a:r>
            <a:r>
              <a:rPr lang="en-US" altLang="en-US" sz="2800" dirty="0">
                <a:solidFill>
                  <a:srgbClr val="2C1EDC"/>
                </a:solidFill>
                <a:sym typeface="Symbol" panose="05050102010706020507" pitchFamily="18" charset="2"/>
              </a:rPr>
              <a:t> id D1; S</a:t>
            </a:r>
            <a:r>
              <a:rPr lang="en-US" altLang="en-US" sz="2800" b="1" dirty="0">
                <a:sym typeface="Symbol" panose="05050102010706020507" pitchFamily="18" charset="2"/>
              </a:rPr>
              <a:t> </a:t>
            </a:r>
            <a:r>
              <a:rPr lang="en-US" altLang="en-US" sz="2800" dirty="0" err="1">
                <a:sym typeface="Symbol" panose="05050102010706020507" pitchFamily="18" charset="2"/>
              </a:rPr>
              <a:t>được</a:t>
            </a:r>
            <a:r>
              <a:rPr lang="en-US" altLang="en-US" sz="2800" dirty="0">
                <a:sym typeface="Symbol" panose="05050102010706020507" pitchFamily="18" charset="2"/>
              </a:rPr>
              <a:t> </a:t>
            </a:r>
            <a:r>
              <a:rPr lang="en-US" altLang="en-US" sz="2800" dirty="0" err="1">
                <a:sym typeface="Symbol" panose="05050102010706020507" pitchFamily="18" charset="2"/>
              </a:rPr>
              <a:t>phân</a:t>
            </a:r>
            <a:r>
              <a:rPr lang="en-US" altLang="en-US" sz="2800" dirty="0">
                <a:sym typeface="Symbol" panose="05050102010706020507" pitchFamily="18" charset="2"/>
              </a:rPr>
              <a:t> </a:t>
            </a:r>
            <a:r>
              <a:rPr lang="en-US" altLang="en-US" sz="2800" dirty="0" err="1">
                <a:sym typeface="Symbol" panose="05050102010706020507" pitchFamily="18" charset="2"/>
              </a:rPr>
              <a:t>tích</a:t>
            </a:r>
            <a:r>
              <a:rPr lang="en-US" altLang="en-US" sz="2800" dirty="0">
                <a:sym typeface="Symbol" panose="05050102010706020507" pitchFamily="18" charset="2"/>
              </a:rPr>
              <a:t> </a:t>
            </a:r>
            <a:r>
              <a:rPr lang="en-US" altLang="en-US" sz="2800" dirty="0" err="1">
                <a:sym typeface="Symbol" panose="05050102010706020507" pitchFamily="18" charset="2"/>
              </a:rPr>
              <a:t>thì</a:t>
            </a:r>
            <a:r>
              <a:rPr lang="en-US" altLang="en-US" sz="2800" dirty="0">
                <a:sym typeface="Symbol" panose="05050102010706020507" pitchFamily="18" charset="2"/>
              </a:rPr>
              <a:t> </a:t>
            </a:r>
            <a:r>
              <a:rPr lang="en-US" altLang="en-US" sz="2800" dirty="0" err="1">
                <a:sym typeface="Symbol" panose="05050102010706020507" pitchFamily="18" charset="2"/>
              </a:rPr>
              <a:t>các</a:t>
            </a:r>
            <a:r>
              <a:rPr lang="en-US" altLang="en-US" sz="2800" dirty="0">
                <a:sym typeface="Symbol" panose="05050102010706020507" pitchFamily="18" charset="2"/>
              </a:rPr>
              <a:t> </a:t>
            </a:r>
            <a:r>
              <a:rPr lang="en-US" altLang="en-US" sz="2800" dirty="0" err="1">
                <a:sym typeface="Symbol" panose="05050102010706020507" pitchFamily="18" charset="2"/>
              </a:rPr>
              <a:t>khai</a:t>
            </a:r>
            <a:r>
              <a:rPr lang="en-US" altLang="en-US" sz="2800" dirty="0">
                <a:sym typeface="Symbol" panose="05050102010706020507" pitchFamily="18" charset="2"/>
              </a:rPr>
              <a:t> </a:t>
            </a:r>
            <a:r>
              <a:rPr lang="en-US" altLang="en-US" sz="2800" dirty="0" err="1">
                <a:sym typeface="Symbol" panose="05050102010706020507" pitchFamily="18" charset="2"/>
              </a:rPr>
              <a:t>báo</a:t>
            </a:r>
            <a:r>
              <a:rPr lang="en-US" altLang="en-US" sz="2800" dirty="0">
                <a:sym typeface="Symbol" panose="05050102010706020507" pitchFamily="18" charset="2"/>
              </a:rPr>
              <a:t> </a:t>
            </a:r>
            <a:r>
              <a:rPr lang="en-US" altLang="en-US" sz="2800" dirty="0" err="1">
                <a:sym typeface="Symbol" panose="05050102010706020507" pitchFamily="18" charset="2"/>
              </a:rPr>
              <a:t>trong</a:t>
            </a:r>
            <a:r>
              <a:rPr lang="en-US" altLang="en-US" sz="2800" dirty="0">
                <a:sym typeface="Symbol" panose="05050102010706020507" pitchFamily="18" charset="2"/>
              </a:rPr>
              <a:t> D</a:t>
            </a:r>
            <a:r>
              <a:rPr lang="en-US" altLang="en-US" sz="2800" baseline="-25000" dirty="0">
                <a:sym typeface="Symbol" panose="05050102010706020507" pitchFamily="18" charset="2"/>
              </a:rPr>
              <a:t>1</a:t>
            </a:r>
            <a:r>
              <a:rPr lang="en-US" altLang="en-US" sz="2800" dirty="0">
                <a:sym typeface="Symbol" panose="05050102010706020507" pitchFamily="18" charset="2"/>
              </a:rPr>
              <a:t> </a:t>
            </a:r>
            <a:r>
              <a:rPr lang="en-US" altLang="en-US" sz="2800" dirty="0" err="1">
                <a:sym typeface="Symbol" panose="05050102010706020507" pitchFamily="18" charset="2"/>
              </a:rPr>
              <a:t>được</a:t>
            </a:r>
            <a:r>
              <a:rPr lang="en-US" altLang="en-US" sz="2800" dirty="0">
                <a:sym typeface="Symbol" panose="05050102010706020507" pitchFamily="18" charset="2"/>
              </a:rPr>
              <a:t> </a:t>
            </a:r>
            <a:r>
              <a:rPr lang="en-US" altLang="en-US" sz="2800" dirty="0" err="1">
                <a:sym typeface="Symbol" panose="05050102010706020507" pitchFamily="18" charset="2"/>
              </a:rPr>
              <a:t>lưu</a:t>
            </a:r>
            <a:r>
              <a:rPr lang="en-US" altLang="en-US" sz="2800" dirty="0">
                <a:sym typeface="Symbol" panose="05050102010706020507" pitchFamily="18" charset="2"/>
              </a:rPr>
              <a:t> </a:t>
            </a:r>
            <a:r>
              <a:rPr lang="en-US" altLang="en-US" sz="2800" dirty="0" err="1">
                <a:sym typeface="Symbol" panose="05050102010706020507" pitchFamily="18" charset="2"/>
              </a:rPr>
              <a:t>trong</a:t>
            </a:r>
            <a:r>
              <a:rPr lang="en-US" altLang="en-US" sz="2800" dirty="0">
                <a:sym typeface="Symbol" panose="05050102010706020507" pitchFamily="18" charset="2"/>
              </a:rPr>
              <a:t> </a:t>
            </a:r>
            <a:r>
              <a:rPr lang="en-US" altLang="en-US" sz="2800" dirty="0" err="1">
                <a:sym typeface="Symbol" panose="05050102010706020507" pitchFamily="18" charset="2"/>
              </a:rPr>
              <a:t>bảng</a:t>
            </a:r>
            <a:r>
              <a:rPr lang="en-US" altLang="en-US" sz="2800" dirty="0">
                <a:sym typeface="Symbol" panose="05050102010706020507" pitchFamily="18" charset="2"/>
              </a:rPr>
              <a:t> </a:t>
            </a:r>
            <a:r>
              <a:rPr lang="en-US" altLang="en-US" sz="2800" dirty="0" err="1">
                <a:sym typeface="Symbol" panose="05050102010706020507" pitchFamily="18" charset="2"/>
              </a:rPr>
              <a:t>kí</a:t>
            </a:r>
            <a:r>
              <a:rPr lang="en-US" altLang="en-US" sz="2800" dirty="0">
                <a:sym typeface="Symbol" panose="05050102010706020507" pitchFamily="18" charset="2"/>
              </a:rPr>
              <a:t> </a:t>
            </a:r>
            <a:r>
              <a:rPr lang="en-US" altLang="en-US" sz="2800" dirty="0" err="1">
                <a:sym typeface="Symbol" panose="05050102010706020507" pitchFamily="18" charset="2"/>
              </a:rPr>
              <a:t>hiệu</a:t>
            </a:r>
            <a:r>
              <a:rPr lang="en-US" altLang="en-US" sz="2800" dirty="0">
                <a:sym typeface="Symbol" panose="05050102010706020507" pitchFamily="18" charset="2"/>
              </a:rPr>
              <a:t> </a:t>
            </a:r>
            <a:r>
              <a:rPr lang="en-US" altLang="en-US" sz="2800" dirty="0" err="1">
                <a:sym typeface="Symbol" panose="05050102010706020507" pitchFamily="18" charset="2"/>
              </a:rPr>
              <a:t>mới</a:t>
            </a:r>
            <a:r>
              <a:rPr lang="en-US" altLang="en-US" sz="2800" dirty="0">
                <a:sym typeface="Symbol" panose="05050102010706020507" pitchFamily="18" charset="2"/>
              </a:rPr>
              <a:t>.</a:t>
            </a:r>
            <a:endParaRPr lang="en-US" altLang="en-US" dirty="0"/>
          </a:p>
        </p:txBody>
      </p:sp>
      <p:sp>
        <p:nvSpPr>
          <p:cNvPr id="44037"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3. Chương trình dịch định hướng cú pháp</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45F91613-66ED-4383-BBB0-8E5552571EA3}" type="slidenum">
              <a:rPr lang="en-US" altLang="en-US" sz="1400" b="0"/>
              <a:pPr/>
              <a:t>39</a:t>
            </a:fld>
            <a:endParaRPr lang="en-US" altLang="en-US" sz="1400" b="0"/>
          </a:p>
        </p:txBody>
      </p:sp>
      <p:sp>
        <p:nvSpPr>
          <p:cNvPr id="45059" name="Rectangle 2"/>
          <p:cNvSpPr>
            <a:spLocks noGrp="1" noChangeArrowheads="1"/>
          </p:cNvSpPr>
          <p:nvPr>
            <p:ph type="title"/>
          </p:nvPr>
        </p:nvSpPr>
        <p:spPr/>
        <p:txBody>
          <a:bodyPr/>
          <a:lstStyle/>
          <a:p>
            <a:pPr eaLnBrk="1" hangingPunct="1"/>
            <a:r>
              <a:rPr lang="fr-FR" altLang="en-US"/>
              <a:t>Lưu trữ thông tin về phạm vi</a:t>
            </a:r>
            <a:r>
              <a:rPr lang="fr-FR" altLang="en-US">
                <a:sym typeface="Symbol" panose="05050102010706020507" pitchFamily="18" charset="2"/>
              </a:rPr>
              <a:t>Ví dụ</a:t>
            </a:r>
          </a:p>
        </p:txBody>
      </p:sp>
      <p:sp>
        <p:nvSpPr>
          <p:cNvPr id="45060" name="Rectangle 3"/>
          <p:cNvSpPr>
            <a:spLocks noChangeArrowheads="1"/>
          </p:cNvSpPr>
          <p:nvPr/>
        </p:nvSpPr>
        <p:spPr bwMode="auto">
          <a:xfrm>
            <a:off x="533400" y="895350"/>
            <a:ext cx="80772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81000" indent="-381000">
              <a:spcBef>
                <a:spcPct val="20000"/>
              </a:spcBef>
              <a:buChar char="•"/>
              <a:defRPr sz="3200">
                <a:solidFill>
                  <a:srgbClr val="270076"/>
                </a:solidFill>
                <a:latin typeface="Arial" panose="020B0604020202020204" pitchFamily="34" charset="0"/>
              </a:defRPr>
            </a:lvl1pPr>
            <a:lvl2pPr marL="742950" indent="-285750">
              <a:spcBef>
                <a:spcPct val="20000"/>
              </a:spcBef>
              <a:buChar char="–"/>
              <a:defRPr sz="2800">
                <a:solidFill>
                  <a:srgbClr val="270076"/>
                </a:solidFill>
                <a:latin typeface="Arial" panose="020B0604020202020204" pitchFamily="34" charset="0"/>
              </a:defRPr>
            </a:lvl2pPr>
            <a:lvl3pPr marL="1143000" indent="-228600">
              <a:spcBef>
                <a:spcPct val="20000"/>
              </a:spcBef>
              <a:buChar char="•"/>
              <a:defRPr sz="2400">
                <a:solidFill>
                  <a:srgbClr val="270076"/>
                </a:solidFill>
                <a:latin typeface="Arial" panose="020B0604020202020204" pitchFamily="34" charset="0"/>
              </a:defRPr>
            </a:lvl3pPr>
            <a:lvl4pPr marL="1600200" indent="-228600">
              <a:spcBef>
                <a:spcPct val="20000"/>
              </a:spcBef>
              <a:buChar char="–"/>
              <a:defRPr sz="2000">
                <a:solidFill>
                  <a:srgbClr val="270076"/>
                </a:solidFill>
                <a:latin typeface="Arial" panose="020B0604020202020204" pitchFamily="34" charset="0"/>
              </a:defRPr>
            </a:lvl4pPr>
            <a:lvl5pPr marL="2057400" indent="-228600">
              <a:spcBef>
                <a:spcPct val="20000"/>
              </a:spcBef>
              <a:buChar char="»"/>
              <a:defRPr sz="2000">
                <a:solidFill>
                  <a:srgbClr val="270076"/>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270076"/>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270076"/>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270076"/>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270076"/>
                </a:solidFill>
                <a:latin typeface="Arial" panose="020B0604020202020204" pitchFamily="34" charset="0"/>
              </a:defRPr>
            </a:lvl9pPr>
          </a:lstStyle>
          <a:p>
            <a:pPr eaLnBrk="1" hangingPunct="1">
              <a:spcBef>
                <a:spcPct val="5000"/>
              </a:spcBef>
              <a:buFont typeface="Wingdings" panose="05000000000000000000" pitchFamily="2" charset="2"/>
              <a:buAutoNum type="arabicParenR"/>
            </a:pPr>
            <a:r>
              <a:rPr lang="en-US" altLang="en-US" sz="2400">
                <a:solidFill>
                  <a:srgbClr val="1E23E6"/>
                </a:solidFill>
              </a:rPr>
              <a:t>Program</a:t>
            </a:r>
            <a:r>
              <a:rPr lang="en-US" altLang="en-US" sz="2400" b="0"/>
              <a:t> sort;	//</a:t>
            </a:r>
            <a:r>
              <a:rPr lang="en-US" altLang="en-US" sz="2400" b="0">
                <a:solidFill>
                  <a:schemeClr val="bg2"/>
                </a:solidFill>
              </a:rPr>
              <a:t>Chương trình Quicksort</a:t>
            </a:r>
          </a:p>
          <a:p>
            <a:pPr eaLnBrk="1" hangingPunct="1">
              <a:spcBef>
                <a:spcPct val="5000"/>
              </a:spcBef>
              <a:buFont typeface="Wingdings" panose="05000000000000000000" pitchFamily="2" charset="2"/>
              <a:buAutoNum type="arabicParenR"/>
            </a:pPr>
            <a:r>
              <a:rPr lang="en-US" altLang="en-US" sz="2400" b="0" i="1"/>
              <a:t>Var  a: array[0..10] of integer;</a:t>
            </a:r>
          </a:p>
          <a:p>
            <a:pPr eaLnBrk="1" hangingPunct="1">
              <a:spcBef>
                <a:spcPct val="5000"/>
              </a:spcBef>
              <a:buFont typeface="Wingdings" panose="05000000000000000000" pitchFamily="2" charset="2"/>
              <a:buAutoNum type="arabicParenR"/>
            </a:pPr>
            <a:r>
              <a:rPr lang="en-US" altLang="en-US" sz="2400" b="0" i="1"/>
              <a:t>        x: integer;</a:t>
            </a:r>
          </a:p>
          <a:p>
            <a:pPr eaLnBrk="1" hangingPunct="1">
              <a:spcBef>
                <a:spcPct val="5000"/>
              </a:spcBef>
              <a:buFont typeface="Wingdings" panose="05000000000000000000" pitchFamily="2" charset="2"/>
              <a:buAutoNum type="arabicParenR"/>
            </a:pPr>
            <a:r>
              <a:rPr lang="en-US" altLang="en-US" sz="2400" b="0"/>
              <a:t>      </a:t>
            </a:r>
            <a:r>
              <a:rPr lang="en-US" altLang="en-US" sz="2400">
                <a:solidFill>
                  <a:srgbClr val="1E23E6"/>
                </a:solidFill>
              </a:rPr>
              <a:t>Procedure</a:t>
            </a:r>
            <a:r>
              <a:rPr lang="en-US" altLang="en-US" sz="2400" b="0"/>
              <a:t> readarray;</a:t>
            </a:r>
          </a:p>
          <a:p>
            <a:pPr eaLnBrk="1" hangingPunct="1">
              <a:spcBef>
                <a:spcPct val="5000"/>
              </a:spcBef>
              <a:buFont typeface="Wingdings" panose="05000000000000000000" pitchFamily="2" charset="2"/>
              <a:buAutoNum type="arabicParenR"/>
            </a:pPr>
            <a:r>
              <a:rPr lang="en-US" altLang="en-US" sz="2400" b="0"/>
              <a:t>         </a:t>
            </a:r>
            <a:r>
              <a:rPr lang="en-US" altLang="en-US" sz="2400" b="0" i="1"/>
              <a:t>Var i: integer;</a:t>
            </a:r>
          </a:p>
          <a:p>
            <a:pPr eaLnBrk="1" hangingPunct="1">
              <a:spcBef>
                <a:spcPct val="5000"/>
              </a:spcBef>
              <a:buFont typeface="Wingdings" panose="05000000000000000000" pitchFamily="2" charset="2"/>
              <a:buAutoNum type="arabicParenR"/>
            </a:pPr>
            <a:r>
              <a:rPr lang="en-US" altLang="en-US" sz="2400" b="0" i="1"/>
              <a:t>         Begin …… end {readarray};</a:t>
            </a:r>
          </a:p>
          <a:p>
            <a:pPr eaLnBrk="1" hangingPunct="1">
              <a:spcBef>
                <a:spcPct val="5000"/>
              </a:spcBef>
              <a:buFont typeface="Wingdings" panose="05000000000000000000" pitchFamily="2" charset="2"/>
              <a:buAutoNum type="arabicParenR"/>
            </a:pPr>
            <a:r>
              <a:rPr lang="en-US" altLang="en-US" sz="2400" b="0"/>
              <a:t>     </a:t>
            </a:r>
            <a:r>
              <a:rPr lang="en-US" altLang="en-US" sz="2400">
                <a:solidFill>
                  <a:srgbClr val="1E23E6"/>
                </a:solidFill>
              </a:rPr>
              <a:t>Procedure</a:t>
            </a:r>
            <a:r>
              <a:rPr lang="en-US" altLang="en-US" sz="2400" b="0"/>
              <a:t> exchange(i, j: integer);</a:t>
            </a:r>
          </a:p>
          <a:p>
            <a:pPr eaLnBrk="1" hangingPunct="1">
              <a:spcBef>
                <a:spcPct val="5000"/>
              </a:spcBef>
              <a:buFont typeface="Wingdings" panose="05000000000000000000" pitchFamily="2" charset="2"/>
              <a:buAutoNum type="arabicParenR"/>
            </a:pPr>
            <a:r>
              <a:rPr lang="en-US" altLang="en-US" sz="2400" b="0"/>
              <a:t>         </a:t>
            </a:r>
            <a:r>
              <a:rPr lang="en-US" altLang="en-US" sz="2400" b="0" i="1"/>
              <a:t>Begin {exchange} end;</a:t>
            </a:r>
          </a:p>
          <a:p>
            <a:pPr eaLnBrk="1" hangingPunct="1">
              <a:spcBef>
                <a:spcPct val="5000"/>
              </a:spcBef>
              <a:buFont typeface="Wingdings" panose="05000000000000000000" pitchFamily="2" charset="2"/>
              <a:buAutoNum type="arabicParenR"/>
            </a:pPr>
            <a:r>
              <a:rPr lang="en-US" altLang="en-US" sz="2400" b="0"/>
              <a:t>     </a:t>
            </a:r>
            <a:r>
              <a:rPr lang="en-US" altLang="en-US" sz="2400">
                <a:solidFill>
                  <a:srgbClr val="1E23E6"/>
                </a:solidFill>
              </a:rPr>
              <a:t>Procedure</a:t>
            </a:r>
            <a:r>
              <a:rPr lang="en-US" altLang="en-US" sz="2400" b="0"/>
              <a:t> quicksort(m, n: integer);</a:t>
            </a:r>
          </a:p>
          <a:p>
            <a:pPr eaLnBrk="1" hangingPunct="1">
              <a:spcBef>
                <a:spcPct val="5000"/>
              </a:spcBef>
              <a:buFont typeface="Wingdings" panose="05000000000000000000" pitchFamily="2" charset="2"/>
              <a:buAutoNum type="arabicParenR"/>
            </a:pPr>
            <a:r>
              <a:rPr lang="en-US" altLang="en-US" sz="2400" b="0"/>
              <a:t>         </a:t>
            </a:r>
            <a:r>
              <a:rPr lang="en-US" altLang="en-US" sz="2400" b="0" i="1"/>
              <a:t>Var k, v: integer;</a:t>
            </a:r>
          </a:p>
          <a:p>
            <a:pPr eaLnBrk="1" hangingPunct="1">
              <a:spcBef>
                <a:spcPct val="5000"/>
              </a:spcBef>
              <a:buFont typeface="Wingdings" panose="05000000000000000000" pitchFamily="2" charset="2"/>
              <a:buAutoNum type="arabicParenR"/>
            </a:pPr>
            <a:r>
              <a:rPr lang="en-US" altLang="en-US" sz="2400" b="0"/>
              <a:t>         </a:t>
            </a:r>
            <a:r>
              <a:rPr lang="en-US" altLang="en-US" sz="2400">
                <a:solidFill>
                  <a:srgbClr val="1E23E6"/>
                </a:solidFill>
              </a:rPr>
              <a:t>Function</a:t>
            </a:r>
            <a:r>
              <a:rPr lang="en-US" altLang="en-US" sz="2400" b="0"/>
              <a:t> partition(y,z: integer): integer;</a:t>
            </a:r>
          </a:p>
          <a:p>
            <a:pPr eaLnBrk="1" hangingPunct="1">
              <a:spcBef>
                <a:spcPct val="5000"/>
              </a:spcBef>
              <a:buFont typeface="Wingdings" panose="05000000000000000000" pitchFamily="2" charset="2"/>
              <a:buAutoNum type="arabicParenR"/>
            </a:pPr>
            <a:r>
              <a:rPr lang="en-US" altLang="en-US" sz="2400" b="0"/>
              <a:t>             Var I, j : integer;</a:t>
            </a:r>
          </a:p>
          <a:p>
            <a:pPr eaLnBrk="1" hangingPunct="1">
              <a:spcBef>
                <a:spcPct val="5000"/>
              </a:spcBef>
              <a:buFont typeface="Wingdings" panose="05000000000000000000" pitchFamily="2" charset="2"/>
              <a:buAutoNum type="arabicParenR"/>
            </a:pPr>
            <a:r>
              <a:rPr lang="en-US" altLang="en-US" sz="2400" b="0"/>
              <a:t>            </a:t>
            </a:r>
            <a:r>
              <a:rPr lang="en-US" altLang="en-US" sz="2400" b="0" i="1"/>
              <a:t>Begin ……exchange(i,j) end; {partition}</a:t>
            </a:r>
          </a:p>
          <a:p>
            <a:pPr eaLnBrk="1" hangingPunct="1">
              <a:spcBef>
                <a:spcPct val="5000"/>
              </a:spcBef>
              <a:buFont typeface="Wingdings" panose="05000000000000000000" pitchFamily="2" charset="2"/>
              <a:buAutoNum type="arabicParenR"/>
            </a:pPr>
            <a:r>
              <a:rPr lang="en-US" altLang="en-US" sz="2400" b="0" i="1"/>
              <a:t>     Begin … end; {quicksort}</a:t>
            </a:r>
          </a:p>
          <a:p>
            <a:pPr eaLnBrk="1" hangingPunct="1">
              <a:spcBef>
                <a:spcPct val="5000"/>
              </a:spcBef>
              <a:buFont typeface="Wingdings" panose="05000000000000000000" pitchFamily="2" charset="2"/>
              <a:buAutoNum type="arabicParenR"/>
            </a:pPr>
            <a:r>
              <a:rPr lang="en-US" altLang="en-US" sz="2400" b="0" i="1"/>
              <a:t>Begin … end; {sort}</a:t>
            </a:r>
          </a:p>
        </p:txBody>
      </p:sp>
      <p:sp>
        <p:nvSpPr>
          <p:cNvPr id="45061" name="Text Box 5"/>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3. Chương trình dịch định hướng cú pháp</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3F0394C8-2EB8-4E9F-B7C3-BA7C2A04352D}" type="slidenum">
              <a:rPr lang="en-US" altLang="en-US" sz="1400" b="0"/>
              <a:pPr/>
              <a:t>40</a:t>
            </a:fld>
            <a:endParaRPr lang="en-US" altLang="en-US" sz="1400" b="0"/>
          </a:p>
        </p:txBody>
      </p:sp>
      <p:sp>
        <p:nvSpPr>
          <p:cNvPr id="46083" name="Rectangle 2"/>
          <p:cNvSpPr>
            <a:spLocks noGrp="1" noChangeArrowheads="1"/>
          </p:cNvSpPr>
          <p:nvPr>
            <p:ph type="title"/>
          </p:nvPr>
        </p:nvSpPr>
        <p:spPr/>
        <p:txBody>
          <a:bodyPr/>
          <a:lstStyle/>
          <a:p>
            <a:pPr eaLnBrk="1" hangingPunct="1"/>
            <a:r>
              <a:rPr lang="fr-FR" altLang="en-US"/>
              <a:t>Lưu trữ thông tin về phạm vi</a:t>
            </a:r>
            <a:r>
              <a:rPr lang="fr-FR" altLang="en-US">
                <a:sym typeface="Symbol" panose="05050102010706020507" pitchFamily="18" charset="2"/>
              </a:rPr>
              <a:t>Ví dụ</a:t>
            </a:r>
          </a:p>
        </p:txBody>
      </p:sp>
      <p:sp>
        <p:nvSpPr>
          <p:cNvPr id="46084" name="Rectangle 3"/>
          <p:cNvSpPr>
            <a:spLocks noGrp="1" noChangeArrowheads="1"/>
          </p:cNvSpPr>
          <p:nvPr>
            <p:ph type="body" sz="half" idx="1"/>
          </p:nvPr>
        </p:nvSpPr>
        <p:spPr>
          <a:xfrm>
            <a:off x="152400" y="914400"/>
            <a:ext cx="6858000" cy="533400"/>
          </a:xfrm>
        </p:spPr>
        <p:txBody>
          <a:bodyPr/>
          <a:lstStyle/>
          <a:p>
            <a:pPr marL="231775" indent="-231775" eaLnBrk="1" hangingPunct="1">
              <a:lnSpc>
                <a:spcPct val="105000"/>
              </a:lnSpc>
            </a:pPr>
            <a:r>
              <a:rPr lang="fr-FR" altLang="en-US" sz="2800"/>
              <a:t>Các bảng ký hiệu của chương trình sort</a:t>
            </a:r>
            <a:endParaRPr lang="en-US" altLang="en-US" sz="2800"/>
          </a:p>
        </p:txBody>
      </p:sp>
      <p:pic>
        <p:nvPicPr>
          <p:cNvPr id="4608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447800"/>
            <a:ext cx="80772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6" name="Text Box 6"/>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3. Chương trình dịch định hướng cú pháp</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297A6479-5728-4052-B9AF-694F6F684F4B}" type="slidenum">
              <a:rPr lang="en-US" altLang="en-US" sz="1400" b="0"/>
              <a:pPr/>
              <a:t>41</a:t>
            </a:fld>
            <a:endParaRPr lang="en-US" altLang="en-US" sz="1400" b="0"/>
          </a:p>
        </p:txBody>
      </p:sp>
      <p:sp>
        <p:nvSpPr>
          <p:cNvPr id="47107" name="Rectangle 2"/>
          <p:cNvSpPr>
            <a:spLocks noGrp="1" noChangeArrowheads="1"/>
          </p:cNvSpPr>
          <p:nvPr>
            <p:ph type="title"/>
          </p:nvPr>
        </p:nvSpPr>
        <p:spPr/>
        <p:txBody>
          <a:bodyPr/>
          <a:lstStyle/>
          <a:p>
            <a:pPr eaLnBrk="1" hangingPunct="1"/>
            <a:r>
              <a:rPr lang="fr-FR" altLang="en-US"/>
              <a:t>Quy tắc ngữ nghĩa </a:t>
            </a:r>
            <a:r>
              <a:rPr lang="fr-FR" altLang="en-US">
                <a:sym typeface="Symbol" panose="05050102010706020507" pitchFamily="18" charset="2"/>
              </a:rPr>
              <a:t></a:t>
            </a:r>
            <a:r>
              <a:rPr lang="fr-FR" altLang="en-US"/>
              <a:t>Các thao tác</a:t>
            </a:r>
            <a:endParaRPr lang="fr-FR" altLang="en-US">
              <a:sym typeface="Symbol" panose="05050102010706020507" pitchFamily="18" charset="2"/>
            </a:endParaRPr>
          </a:p>
        </p:txBody>
      </p:sp>
      <p:sp>
        <p:nvSpPr>
          <p:cNvPr id="47108" name="Rectangle 3"/>
          <p:cNvSpPr>
            <a:spLocks noGrp="1" noChangeArrowheads="1"/>
          </p:cNvSpPr>
          <p:nvPr>
            <p:ph type="body" sz="half" idx="1"/>
          </p:nvPr>
        </p:nvSpPr>
        <p:spPr>
          <a:xfrm>
            <a:off x="152400" y="914400"/>
            <a:ext cx="8839200" cy="5867400"/>
          </a:xfrm>
        </p:spPr>
        <p:txBody>
          <a:bodyPr/>
          <a:lstStyle/>
          <a:p>
            <a:pPr marL="231775" indent="-231775" eaLnBrk="1" hangingPunct="1">
              <a:lnSpc>
                <a:spcPct val="110000"/>
              </a:lnSpc>
            </a:pPr>
            <a:r>
              <a:rPr lang="en-US" altLang="en-US" sz="2800" b="1"/>
              <a:t>mktable(previous)</a:t>
            </a:r>
            <a:r>
              <a:rPr lang="en-US" altLang="en-US" sz="2800"/>
              <a:t> – tạo một bảng kí hiệu mới, bảng này có </a:t>
            </a:r>
            <a:r>
              <a:rPr lang="en-US" altLang="en-US" sz="2800" i="1">
                <a:solidFill>
                  <a:srgbClr val="1E23E6"/>
                </a:solidFill>
              </a:rPr>
              <a:t>previous</a:t>
            </a:r>
            <a:r>
              <a:rPr lang="en-US" altLang="en-US" sz="2800"/>
              <a:t> chỉ đến bảng cha của nó.</a:t>
            </a:r>
          </a:p>
          <a:p>
            <a:pPr marL="231775" indent="-231775" eaLnBrk="1" hangingPunct="1">
              <a:lnSpc>
                <a:spcPct val="110000"/>
              </a:lnSpc>
            </a:pPr>
            <a:r>
              <a:rPr lang="en-US" altLang="en-US" sz="2800" b="1"/>
              <a:t>enter(table,name,type,offset)</a:t>
            </a:r>
            <a:r>
              <a:rPr lang="en-US" altLang="en-US" sz="2800"/>
              <a:t> – thêm một đối tượng mới có tên </a:t>
            </a:r>
            <a:r>
              <a:rPr lang="en-US" altLang="en-US" sz="2800" i="1">
                <a:solidFill>
                  <a:srgbClr val="1E23E6"/>
                </a:solidFill>
              </a:rPr>
              <a:t>name</a:t>
            </a:r>
            <a:r>
              <a:rPr lang="en-US" altLang="en-US" sz="2800"/>
              <a:t>  vào bảng kí hiệu được chỉ ra bởi </a:t>
            </a:r>
            <a:r>
              <a:rPr lang="en-US" altLang="en-US" sz="2800" i="1">
                <a:solidFill>
                  <a:srgbClr val="1E23E6"/>
                </a:solidFill>
              </a:rPr>
              <a:t>table</a:t>
            </a:r>
            <a:r>
              <a:rPr lang="en-US" altLang="en-US" sz="2800"/>
              <a:t> và đặt kiểu là </a:t>
            </a:r>
            <a:r>
              <a:rPr lang="en-US" altLang="en-US" sz="2800" i="1">
                <a:solidFill>
                  <a:srgbClr val="1E23E6"/>
                </a:solidFill>
              </a:rPr>
              <a:t>type</a:t>
            </a:r>
            <a:r>
              <a:rPr lang="en-US" altLang="en-US" sz="2800"/>
              <a:t> và địa chỉ tương đối là </a:t>
            </a:r>
            <a:r>
              <a:rPr lang="en-US" altLang="en-US" sz="2800" i="1">
                <a:solidFill>
                  <a:srgbClr val="1E23E6"/>
                </a:solidFill>
              </a:rPr>
              <a:t>offset</a:t>
            </a:r>
            <a:r>
              <a:rPr lang="en-US" altLang="en-US" sz="2800"/>
              <a:t> vào các trường tương ứng.</a:t>
            </a:r>
          </a:p>
          <a:p>
            <a:pPr marL="231775" indent="-231775" eaLnBrk="1" hangingPunct="1">
              <a:lnSpc>
                <a:spcPct val="110000"/>
              </a:lnSpc>
            </a:pPr>
            <a:r>
              <a:rPr lang="en-US" altLang="en-US" sz="2800" b="1"/>
              <a:t>enterproc(table,name,newbtable)</a:t>
            </a:r>
            <a:r>
              <a:rPr lang="en-US" altLang="en-US" sz="2800"/>
              <a:t> – tạo một phần tử mới trong bảng </a:t>
            </a:r>
            <a:r>
              <a:rPr lang="en-US" altLang="en-US" sz="2800">
                <a:solidFill>
                  <a:srgbClr val="1E23E6"/>
                </a:solidFill>
              </a:rPr>
              <a:t>table</a:t>
            </a:r>
            <a:r>
              <a:rPr lang="en-US" altLang="en-US" sz="2800"/>
              <a:t> cho chương trình con </a:t>
            </a:r>
            <a:r>
              <a:rPr lang="en-US" altLang="en-US" sz="2800">
                <a:solidFill>
                  <a:srgbClr val="1E23E6"/>
                </a:solidFill>
              </a:rPr>
              <a:t>name</a:t>
            </a:r>
            <a:r>
              <a:rPr lang="en-US" altLang="en-US" sz="2800"/>
              <a:t>, </a:t>
            </a:r>
            <a:r>
              <a:rPr lang="en-US" altLang="en-US" sz="2800">
                <a:solidFill>
                  <a:srgbClr val="1E23E6"/>
                </a:solidFill>
              </a:rPr>
              <a:t>newtable</a:t>
            </a:r>
            <a:r>
              <a:rPr lang="en-US" altLang="en-US" sz="2800"/>
              <a:t> trỏ tới bảng kí hiệu của CTC này.</a:t>
            </a:r>
          </a:p>
          <a:p>
            <a:pPr marL="231775" indent="-231775" eaLnBrk="1" hangingPunct="1">
              <a:lnSpc>
                <a:spcPct val="110000"/>
              </a:lnSpc>
            </a:pPr>
            <a:r>
              <a:rPr lang="en-US" altLang="en-US" sz="2800" b="1"/>
              <a:t>addwidth(table,width)</a:t>
            </a:r>
            <a:r>
              <a:rPr lang="en-US" altLang="en-US" sz="2800"/>
              <a:t> – ghi tổng kích thước của tất cả các p/tử trong bảng kí hiệu vào header của bảng.</a:t>
            </a:r>
          </a:p>
        </p:txBody>
      </p:sp>
      <p:sp>
        <p:nvSpPr>
          <p:cNvPr id="47109" name="Text Box 5"/>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3. Chương trình dịch định hướng cú pháp</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28DB0194-0AAF-4753-A60B-57FA8B674048}" type="slidenum">
              <a:rPr lang="en-US" altLang="en-US" sz="1400" b="0"/>
              <a:pPr/>
              <a:t>42</a:t>
            </a:fld>
            <a:endParaRPr lang="en-US" altLang="en-US" sz="1400" b="0"/>
          </a:p>
        </p:txBody>
      </p:sp>
      <p:sp>
        <p:nvSpPr>
          <p:cNvPr id="48131" name="Rectangle 2"/>
          <p:cNvSpPr>
            <a:spLocks noGrp="1" noChangeArrowheads="1"/>
          </p:cNvSpPr>
          <p:nvPr>
            <p:ph type="title"/>
          </p:nvPr>
        </p:nvSpPr>
        <p:spPr/>
        <p:txBody>
          <a:bodyPr/>
          <a:lstStyle/>
          <a:p>
            <a:pPr eaLnBrk="1" hangingPunct="1"/>
            <a:r>
              <a:rPr lang="fr-FR" altLang="en-US"/>
              <a:t>Khai báo trong chương trình con</a:t>
            </a:r>
            <a:endParaRPr lang="fr-FR" altLang="en-US">
              <a:sym typeface="Symbol" panose="05050102010706020507" pitchFamily="18" charset="2"/>
            </a:endParaRPr>
          </a:p>
        </p:txBody>
      </p:sp>
      <p:graphicFrame>
        <p:nvGraphicFramePr>
          <p:cNvPr id="1751076" name="Group 36"/>
          <p:cNvGraphicFramePr>
            <a:graphicFrameLocks noGrp="1"/>
          </p:cNvGraphicFramePr>
          <p:nvPr>
            <p:ph sz="half" idx="2"/>
            <p:extLst>
              <p:ext uri="{D42A27DB-BD31-4B8C-83A1-F6EECF244321}">
                <p14:modId xmlns:p14="http://schemas.microsoft.com/office/powerpoint/2010/main" val="976814561"/>
              </p:ext>
            </p:extLst>
          </p:nvPr>
        </p:nvGraphicFramePr>
        <p:xfrm>
          <a:off x="304800" y="838200"/>
          <a:ext cx="8610600" cy="5981700"/>
        </p:xfrm>
        <a:graphic>
          <a:graphicData uri="http://schemas.openxmlformats.org/drawingml/2006/table">
            <a:tbl>
              <a:tblPr/>
              <a:tblGrid>
                <a:gridCol w="2133600">
                  <a:extLst>
                    <a:ext uri="{9D8B030D-6E8A-4147-A177-3AD203B41FA5}">
                      <a16:colId xmlns:a16="http://schemas.microsoft.com/office/drawing/2014/main" val="20000"/>
                    </a:ext>
                  </a:extLst>
                </a:gridCol>
                <a:gridCol w="6477000">
                  <a:extLst>
                    <a:ext uri="{9D8B030D-6E8A-4147-A177-3AD203B41FA5}">
                      <a16:colId xmlns:a16="http://schemas.microsoft.com/office/drawing/2014/main" val="20001"/>
                    </a:ext>
                  </a:extLst>
                </a:gridCol>
              </a:tblGrid>
              <a:tr h="457239">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270076"/>
                          </a:solidFill>
                          <a:effectLst/>
                          <a:latin typeface="Arial" panose="020B0604020202020204" pitchFamily="34" charset="0"/>
                        </a:rPr>
                        <a:t>Sản xuất</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270076"/>
                          </a:solidFill>
                          <a:effectLst/>
                          <a:latin typeface="Arial" panose="020B0604020202020204" pitchFamily="34" charset="0"/>
                        </a:rPr>
                        <a:t>Quy tắc ngữ nghĩa</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23030">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15000"/>
                        </a:spcBef>
                        <a:spcAft>
                          <a:spcPct val="0"/>
                        </a:spcAft>
                        <a:buClrTx/>
                        <a:buSzTx/>
                        <a:buFontTx/>
                        <a:buNone/>
                        <a:tabLst/>
                      </a:pP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P </a:t>
                      </a:r>
                      <a:r>
                        <a:rPr kumimoji="0" lang="fr-FR" altLang="en-US" sz="2400" b="0" i="0" u="none" strike="noStrike" cap="none" normalizeH="0" baseline="0" dirty="0">
                          <a:ln>
                            <a:noFill/>
                          </a:ln>
                          <a:solidFill>
                            <a:srgbClr val="3539EB"/>
                          </a:solidFill>
                          <a:effectLst/>
                          <a:latin typeface="Arial" panose="020B0604020202020204" pitchFamily="34" charset="0"/>
                          <a:sym typeface="Symbol" panose="05050102010706020507" pitchFamily="18" charset="2"/>
                        </a:rPr>
                        <a:t>M</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D ; S</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15000"/>
                        </a:spcBef>
                        <a:spcAft>
                          <a:spcPct val="0"/>
                        </a:spcAft>
                        <a:buClrTx/>
                        <a:buSzTx/>
                        <a:buFontTx/>
                        <a:buNone/>
                        <a:tabLst/>
                      </a:pP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addwidth</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a:t>
                      </a: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top</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(tblptr), </a:t>
                      </a: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top</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(offset)); </a:t>
                      </a: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pop</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(tblptr); </a:t>
                      </a: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pop</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(offset) </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2505">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15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M </a:t>
                      </a:r>
                      <a:r>
                        <a:rPr kumimoji="0" lang="fr-FR"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 </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79000"/>
                        </a:lnSpc>
                        <a:spcBef>
                          <a:spcPct val="20000"/>
                        </a:spcBef>
                        <a:spcAft>
                          <a:spcPct val="0"/>
                        </a:spcAft>
                        <a:buClrTx/>
                        <a:buSzTx/>
                        <a:buFontTx/>
                        <a:buNone/>
                        <a:tabLst/>
                      </a:pP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t:=</a:t>
                      </a: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mktable</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(null);  </a:t>
                      </a:r>
                    </a:p>
                    <a:p>
                      <a:pPr marL="0" marR="0" lvl="0" indent="0" algn="l" defTabSz="914400" rtl="0" eaLnBrk="1" fontAlgn="base" latinLnBrk="0" hangingPunct="1">
                        <a:lnSpc>
                          <a:spcPct val="79000"/>
                        </a:lnSpc>
                        <a:spcBef>
                          <a:spcPct val="20000"/>
                        </a:spcBef>
                        <a:spcAft>
                          <a:spcPct val="0"/>
                        </a:spcAft>
                        <a:buClrTx/>
                        <a:buSzTx/>
                        <a:buFontTx/>
                        <a:buNone/>
                        <a:tabLst/>
                      </a:pP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push</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(t, tblptr);   </a:t>
                      </a: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push</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(0, offset)</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3115">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15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D </a:t>
                      </a:r>
                      <a:r>
                        <a:rPr kumimoji="0" lang="fr-FR"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 D ; D</a:t>
                      </a:r>
                      <a:endPar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endParaRP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15000"/>
                        </a:spcBef>
                        <a:spcAft>
                          <a:spcPct val="0"/>
                        </a:spcAft>
                        <a:buClrTx/>
                        <a:buSzTx/>
                        <a:buFontTx/>
                        <a:buNone/>
                        <a:tabLst/>
                      </a:pPr>
                      <a:endParaRPr kumimoji="0" lang="fr-FR" altLang="en-US" sz="2400" b="0" i="1" u="none" strike="noStrike" cap="none" normalizeH="0" baseline="0">
                        <a:ln>
                          <a:noFill/>
                        </a:ln>
                        <a:solidFill>
                          <a:srgbClr val="270076"/>
                        </a:solidFill>
                        <a:effectLst/>
                        <a:latin typeface="Arial" panose="020B0604020202020204" pitchFamily="34" charset="0"/>
                      </a:endParaRP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104613">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15000"/>
                        </a:spcBef>
                        <a:spcAft>
                          <a:spcPct val="0"/>
                        </a:spcAft>
                        <a:buClrTx/>
                        <a:buSzTx/>
                        <a:buFontTx/>
                        <a:buNone/>
                        <a:tabLst/>
                      </a:pPr>
                      <a:r>
                        <a:rPr kumimoji="0" lang="en-US"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D </a:t>
                      </a:r>
                      <a:r>
                        <a:rPr kumimoji="0" lang="en-US" altLang="en-US" sz="2400" b="1" i="0" u="none" strike="noStrike" cap="none" normalizeH="0" baseline="0" dirty="0">
                          <a:ln>
                            <a:noFill/>
                          </a:ln>
                          <a:solidFill>
                            <a:srgbClr val="1E23E6"/>
                          </a:solidFill>
                          <a:effectLst/>
                          <a:latin typeface="Arial" panose="020B0604020202020204" pitchFamily="34" charset="0"/>
                          <a:sym typeface="Symbol" panose="05050102010706020507" pitchFamily="18" charset="2"/>
                        </a:rPr>
                        <a:t>proc id</a:t>
                      </a:r>
                      <a:r>
                        <a:rPr kumimoji="0" lang="en-US" altLang="en-US" sz="2400" b="0" i="0" u="none" strike="noStrike" cap="none" normalizeH="0" baseline="0" dirty="0">
                          <a:ln>
                            <a:noFill/>
                          </a:ln>
                          <a:solidFill>
                            <a:schemeClr val="accent2"/>
                          </a:solidFill>
                          <a:effectLst/>
                          <a:latin typeface="Arial" panose="020B0604020202020204" pitchFamily="34" charset="0"/>
                          <a:sym typeface="Symbol" panose="05050102010706020507" pitchFamily="18" charset="2"/>
                        </a:rPr>
                        <a:t>;    </a:t>
                      </a:r>
                    </a:p>
                    <a:p>
                      <a:pPr marL="0" marR="0" lvl="0" indent="0" algn="l" defTabSz="914400" rtl="0" eaLnBrk="1" fontAlgn="base" latinLnBrk="0" hangingPunct="1">
                        <a:lnSpc>
                          <a:spcPct val="100000"/>
                        </a:lnSpc>
                        <a:spcBef>
                          <a:spcPct val="15000"/>
                        </a:spcBef>
                        <a:spcAft>
                          <a:spcPct val="0"/>
                        </a:spcAft>
                        <a:buClrTx/>
                        <a:buSzTx/>
                        <a:buFontTx/>
                        <a:buNone/>
                        <a:tabLst/>
                      </a:pPr>
                      <a:r>
                        <a:rPr kumimoji="0" lang="en-US" altLang="en-US" sz="2400" b="0" i="0" u="none" strike="noStrike" cap="none" normalizeH="0" baseline="0" dirty="0">
                          <a:ln>
                            <a:noFill/>
                          </a:ln>
                          <a:solidFill>
                            <a:schemeClr val="accent2"/>
                          </a:solidFill>
                          <a:effectLst/>
                          <a:latin typeface="Arial" panose="020B0604020202020204" pitchFamily="34" charset="0"/>
                          <a:sym typeface="Symbol" panose="05050102010706020507" pitchFamily="18" charset="2"/>
                        </a:rPr>
                        <a:t>       </a:t>
                      </a:r>
                      <a:r>
                        <a:rPr kumimoji="0" lang="en-US" altLang="en-US" sz="2400" b="0" i="0" u="none" strike="noStrike" cap="none" normalizeH="0" baseline="0" dirty="0">
                          <a:ln>
                            <a:noFill/>
                          </a:ln>
                          <a:solidFill>
                            <a:srgbClr val="3539EB"/>
                          </a:solidFill>
                          <a:effectLst/>
                          <a:latin typeface="Arial" panose="020B0604020202020204" pitchFamily="34" charset="0"/>
                          <a:sym typeface="Symbol" panose="05050102010706020507" pitchFamily="18" charset="2"/>
                        </a:rPr>
                        <a:t>N</a:t>
                      </a:r>
                      <a:r>
                        <a:rPr kumimoji="0" lang="en-US"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D</a:t>
                      </a:r>
                      <a:r>
                        <a:rPr kumimoji="0" lang="en-US" altLang="en-US" sz="2400" b="0" i="0" u="none" strike="noStrike" cap="none" normalizeH="0" baseline="-25000" dirty="0">
                          <a:ln>
                            <a:noFill/>
                          </a:ln>
                          <a:solidFill>
                            <a:srgbClr val="270076"/>
                          </a:solidFill>
                          <a:effectLst/>
                          <a:latin typeface="Arial" panose="020B0604020202020204" pitchFamily="34" charset="0"/>
                          <a:sym typeface="Symbol" panose="05050102010706020507" pitchFamily="18" charset="2"/>
                        </a:rPr>
                        <a:t>1</a:t>
                      </a:r>
                      <a:r>
                        <a:rPr kumimoji="0" lang="en-US" altLang="en-US" sz="2400" b="0" i="0" u="none" strike="noStrike" cap="none" normalizeH="0" baseline="0" dirty="0">
                          <a:ln>
                            <a:noFill/>
                          </a:ln>
                          <a:solidFill>
                            <a:schemeClr val="accent2"/>
                          </a:solidFill>
                          <a:effectLst/>
                          <a:latin typeface="Arial" panose="020B0604020202020204" pitchFamily="34" charset="0"/>
                          <a:sym typeface="Symbol" panose="05050102010706020507" pitchFamily="18" charset="2"/>
                        </a:rPr>
                        <a:t>;</a:t>
                      </a:r>
                      <a:r>
                        <a:rPr kumimoji="0" lang="en-US"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S</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79000"/>
                        </a:lnSpc>
                        <a:spcBef>
                          <a:spcPct val="20000"/>
                        </a:spcBef>
                        <a:spcAft>
                          <a:spcPct val="0"/>
                        </a:spcAft>
                        <a:buClrTx/>
                        <a:buSzTx/>
                        <a:buFontTx/>
                        <a:buNone/>
                        <a:tabLst/>
                      </a:pPr>
                      <a:r>
                        <a:rPr kumimoji="0" lang="en-US"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t:=</a:t>
                      </a:r>
                      <a:r>
                        <a:rPr kumimoji="0" lang="en-US" altLang="en-US" sz="2400" b="0" i="1" u="none" strike="noStrike" cap="none" normalizeH="0" baseline="0" dirty="0">
                          <a:ln>
                            <a:noFill/>
                          </a:ln>
                          <a:solidFill>
                            <a:srgbClr val="270076"/>
                          </a:solidFill>
                          <a:effectLst/>
                          <a:latin typeface="Arial" panose="020B0604020202020204" pitchFamily="34" charset="0"/>
                          <a:sym typeface="Symbol" panose="05050102010706020507" pitchFamily="18" charset="2"/>
                        </a:rPr>
                        <a:t>top</a:t>
                      </a:r>
                      <a:r>
                        <a:rPr kumimoji="0" lang="en-US"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(tblpr); </a:t>
                      </a:r>
                      <a:r>
                        <a:rPr kumimoji="0" lang="en-US" altLang="en-US" sz="2400" b="0" i="1"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addwidth</a:t>
                      </a:r>
                      <a:r>
                        <a:rPr kumimoji="0" lang="en-US"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a:t>
                      </a:r>
                      <a:r>
                        <a:rPr kumimoji="0" lang="en-US"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t,</a:t>
                      </a:r>
                      <a:r>
                        <a:rPr kumimoji="0" lang="en-US" altLang="en-US" sz="2400" b="0" i="1"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top</a:t>
                      </a:r>
                      <a:r>
                        <a:rPr kumimoji="0" lang="en-US"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(offset));</a:t>
                      </a:r>
                    </a:p>
                    <a:p>
                      <a:pPr marL="0" marR="0" lvl="0" indent="0" algn="l" defTabSz="914400" rtl="0" eaLnBrk="1" fontAlgn="base" latinLnBrk="0" hangingPunct="1">
                        <a:lnSpc>
                          <a:spcPct val="79000"/>
                        </a:lnSpc>
                        <a:spcBef>
                          <a:spcPct val="20000"/>
                        </a:spcBef>
                        <a:spcAft>
                          <a:spcPct val="0"/>
                        </a:spcAft>
                        <a:buClrTx/>
                        <a:buSzTx/>
                        <a:buFontTx/>
                        <a:buNone/>
                        <a:tabLst/>
                      </a:pPr>
                      <a:r>
                        <a:rPr kumimoji="0" lang="en-US" altLang="en-US" sz="2400" b="0" i="1" u="none" strike="noStrike" cap="none" normalizeH="0" baseline="0" dirty="0">
                          <a:ln>
                            <a:noFill/>
                          </a:ln>
                          <a:solidFill>
                            <a:srgbClr val="270076"/>
                          </a:solidFill>
                          <a:effectLst/>
                          <a:latin typeface="Arial" panose="020B0604020202020204" pitchFamily="34" charset="0"/>
                          <a:sym typeface="Symbol" panose="05050102010706020507" pitchFamily="18" charset="2"/>
                        </a:rPr>
                        <a:t>pop</a:t>
                      </a:r>
                      <a:r>
                        <a:rPr kumimoji="0" lang="en-US"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a:t>
                      </a:r>
                      <a:r>
                        <a:rPr kumimoji="0" lang="en-US"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tblptr</a:t>
                      </a:r>
                      <a:r>
                        <a:rPr kumimoji="0" lang="en-US"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a:t>
                      </a:r>
                      <a:r>
                        <a:rPr kumimoji="0" lang="en-US" altLang="en-US" sz="2400" b="0" i="1" u="none" strike="noStrike" cap="none" normalizeH="0" baseline="0" dirty="0">
                          <a:ln>
                            <a:noFill/>
                          </a:ln>
                          <a:solidFill>
                            <a:srgbClr val="270076"/>
                          </a:solidFill>
                          <a:effectLst/>
                          <a:latin typeface="Arial" panose="020B0604020202020204" pitchFamily="34" charset="0"/>
                          <a:sym typeface="Symbol" panose="05050102010706020507" pitchFamily="18" charset="2"/>
                        </a:rPr>
                        <a:t>pop</a:t>
                      </a:r>
                      <a:r>
                        <a:rPr kumimoji="0" lang="en-US"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(offset);</a:t>
                      </a:r>
                    </a:p>
                    <a:p>
                      <a:pPr marL="0" marR="0" lvl="0" indent="0" algn="l" defTabSz="914400" rtl="0" eaLnBrk="1" fontAlgn="base" latinLnBrk="0" hangingPunct="1">
                        <a:lnSpc>
                          <a:spcPct val="79000"/>
                        </a:lnSpc>
                        <a:spcBef>
                          <a:spcPct val="20000"/>
                        </a:spcBef>
                        <a:spcAft>
                          <a:spcPct val="0"/>
                        </a:spcAft>
                        <a:buClrTx/>
                        <a:buSzTx/>
                        <a:buFontTx/>
                        <a:buNone/>
                        <a:tabLst/>
                      </a:pPr>
                      <a:r>
                        <a:rPr kumimoji="0" lang="en-US" altLang="en-US" sz="2400" b="0" i="1"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enterproc</a:t>
                      </a:r>
                      <a:r>
                        <a:rPr kumimoji="0" lang="en-US"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a:t>
                      </a:r>
                      <a:r>
                        <a:rPr kumimoji="0" lang="en-US" altLang="en-US" sz="2400" b="0" i="1" u="none" strike="noStrike" cap="none" normalizeH="0" baseline="0" dirty="0">
                          <a:ln>
                            <a:noFill/>
                          </a:ln>
                          <a:solidFill>
                            <a:srgbClr val="270076"/>
                          </a:solidFill>
                          <a:effectLst/>
                          <a:latin typeface="Arial" panose="020B0604020202020204" pitchFamily="34" charset="0"/>
                          <a:sym typeface="Symbol" panose="05050102010706020507" pitchFamily="18" charset="2"/>
                        </a:rPr>
                        <a:t>top</a:t>
                      </a:r>
                      <a:r>
                        <a:rPr kumimoji="0" lang="en-US"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a:t>
                      </a:r>
                      <a:r>
                        <a:rPr kumimoji="0" lang="en-US"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tblptr</a:t>
                      </a:r>
                      <a:r>
                        <a:rPr kumimoji="0" lang="en-US"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a:t>
                      </a:r>
                      <a:r>
                        <a:rPr kumimoji="0" lang="en-US" altLang="en-US" sz="2400" b="0" i="0" u="none" strike="noStrike" cap="none" normalizeH="0" baseline="0" dirty="0">
                          <a:ln>
                            <a:noFill/>
                          </a:ln>
                          <a:solidFill>
                            <a:schemeClr val="accent2"/>
                          </a:solidFill>
                          <a:effectLst/>
                          <a:latin typeface="Arial" panose="020B0604020202020204" pitchFamily="34" charset="0"/>
                          <a:sym typeface="Symbol" panose="05050102010706020507" pitchFamily="18" charset="2"/>
                        </a:rPr>
                        <a:t>id</a:t>
                      </a:r>
                      <a:r>
                        <a:rPr kumimoji="0" lang="en-US"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.name, t)</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42505">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15000"/>
                        </a:spcBef>
                        <a:spcAft>
                          <a:spcPct val="0"/>
                        </a:spcAft>
                        <a:buClrTx/>
                        <a:buSzTx/>
                        <a:buFontTx/>
                        <a:buNone/>
                        <a:tabLst/>
                      </a:pPr>
                      <a:r>
                        <a:rPr kumimoji="0" lang="en-US"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N  </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79000"/>
                        </a:lnSpc>
                        <a:spcBef>
                          <a:spcPct val="20000"/>
                        </a:spcBef>
                        <a:spcAft>
                          <a:spcPct val="0"/>
                        </a:spcAft>
                        <a:buClrTx/>
                        <a:buSzTx/>
                        <a:buFontTx/>
                        <a:buNone/>
                        <a:tabLst/>
                      </a:pP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t:=</a:t>
                      </a: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mktable</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a:t>
                      </a: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top</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(tblptr)); </a:t>
                      </a:r>
                    </a:p>
                    <a:p>
                      <a:pPr marL="0" marR="0" lvl="0" indent="0" algn="l" defTabSz="914400" rtl="0" eaLnBrk="1" fontAlgn="base" latinLnBrk="0" hangingPunct="1">
                        <a:lnSpc>
                          <a:spcPct val="79000"/>
                        </a:lnSpc>
                        <a:spcBef>
                          <a:spcPct val="20000"/>
                        </a:spcBef>
                        <a:spcAft>
                          <a:spcPct val="0"/>
                        </a:spcAft>
                        <a:buClrTx/>
                        <a:buSzTx/>
                        <a:buFontTx/>
                        <a:buNone/>
                        <a:tabLst/>
                      </a:pP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push</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(t,tblptr);    </a:t>
                      </a: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push</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(0,offset);</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42505">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15000"/>
                        </a:spcBef>
                        <a:spcAft>
                          <a:spcPct val="0"/>
                        </a:spcAft>
                        <a:buClrTx/>
                        <a:buSzTx/>
                        <a:buFontTx/>
                        <a:buNone/>
                        <a:tabLst/>
                      </a:pP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D  </a:t>
                      </a:r>
                      <a:r>
                        <a:rPr kumimoji="0" lang="en-US" altLang="en-US" sz="2400" b="0" i="0" u="none" strike="noStrike" cap="none" normalizeH="0" baseline="0">
                          <a:ln>
                            <a:noFill/>
                          </a:ln>
                          <a:solidFill>
                            <a:schemeClr val="accent2"/>
                          </a:solidFill>
                          <a:effectLst/>
                          <a:latin typeface="Arial" panose="020B0604020202020204" pitchFamily="34" charset="0"/>
                          <a:sym typeface="Symbol" panose="05050102010706020507" pitchFamily="18" charset="2"/>
                        </a:rPr>
                        <a:t>id : </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T</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79000"/>
                        </a:lnSpc>
                        <a:spcBef>
                          <a:spcPct val="20000"/>
                        </a:spcBef>
                        <a:spcAft>
                          <a:spcPct val="0"/>
                        </a:spcAft>
                        <a:buClrTx/>
                        <a:buSzTx/>
                        <a:buFontTx/>
                        <a:buNone/>
                        <a:tabLst/>
                      </a:pP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enter</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a:t>
                      </a: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top</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(tblptr),</a:t>
                      </a:r>
                      <a:r>
                        <a:rPr kumimoji="0" lang="en-US" altLang="en-US" sz="2400" b="0" i="0" u="none" strike="noStrike" cap="none" normalizeH="0" baseline="0">
                          <a:ln>
                            <a:noFill/>
                          </a:ln>
                          <a:solidFill>
                            <a:schemeClr val="accent2"/>
                          </a:solidFill>
                          <a:effectLst/>
                          <a:latin typeface="Arial" panose="020B0604020202020204" pitchFamily="34" charset="0"/>
                          <a:sym typeface="Symbol" panose="05050102010706020507" pitchFamily="18" charset="2"/>
                        </a:rPr>
                        <a:t>id</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.name,T.</a:t>
                      </a: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type</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 </a:t>
                      </a: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top</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(offset);</a:t>
                      </a:r>
                    </a:p>
                    <a:p>
                      <a:pPr marL="0" marR="0" lvl="0" indent="0" algn="l" defTabSz="914400" rtl="0" eaLnBrk="1" fontAlgn="base" latinLnBrk="0" hangingPunct="1">
                        <a:lnSpc>
                          <a:spcPct val="79000"/>
                        </a:lnSpc>
                        <a:spcBef>
                          <a:spcPct val="20000"/>
                        </a:spcBef>
                        <a:spcAft>
                          <a:spcPct val="0"/>
                        </a:spcAft>
                        <a:buClrTx/>
                        <a:buSzTx/>
                        <a:buFontTx/>
                        <a:buNone/>
                        <a:tabLst/>
                      </a:pP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top</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(offset):=</a:t>
                      </a: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top</a:t>
                      </a:r>
                      <a:r>
                        <a:rPr kumimoji="0" lang="en-US"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(offset) + T.</a:t>
                      </a:r>
                      <a:r>
                        <a:rPr kumimoji="0" lang="en-US" altLang="en-US" sz="2400" b="0" i="1" u="none" strike="noStrike" cap="none" normalizeH="0" baseline="0">
                          <a:ln>
                            <a:noFill/>
                          </a:ln>
                          <a:solidFill>
                            <a:srgbClr val="270076"/>
                          </a:solidFill>
                          <a:effectLst/>
                          <a:latin typeface="Arial" panose="020B0604020202020204" pitchFamily="34" charset="0"/>
                          <a:sym typeface="Symbol" panose="05050102010706020507" pitchFamily="18" charset="2"/>
                        </a:rPr>
                        <a:t>width</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896188">
                <a:tc gridSpan="2">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1" i="0" u="none" strike="noStrike" cap="none" normalizeH="0" baseline="0" dirty="0" err="1">
                          <a:ln>
                            <a:noFill/>
                          </a:ln>
                          <a:solidFill>
                            <a:srgbClr val="1E23E6"/>
                          </a:solidFill>
                          <a:effectLst/>
                          <a:latin typeface="Arial" panose="020B0604020202020204" pitchFamily="34" charset="0"/>
                          <a:sym typeface="Symbol" panose="05050102010706020507" pitchFamily="18" charset="2"/>
                        </a:rPr>
                        <a:t>Tblptr</a:t>
                      </a:r>
                      <a:r>
                        <a:rPr kumimoji="0" lang="fr-FR" altLang="en-US" sz="2400" b="1" i="0" u="none" strike="noStrike" cap="none" normalizeH="0" baseline="0" dirty="0">
                          <a:ln>
                            <a:noFill/>
                          </a:ln>
                          <a:solidFill>
                            <a:srgbClr val="1E23E6"/>
                          </a:solidFill>
                          <a:effectLst/>
                          <a:latin typeface="Arial" panose="020B0604020202020204" pitchFamily="34" charset="0"/>
                          <a:sym typeface="Symbol" panose="05050102010706020507" pitchFamily="18" charset="2"/>
                        </a:rPr>
                        <a:t>:</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là Stack </a:t>
                      </a:r>
                      <a:r>
                        <a:rPr kumimoji="0" lang="fr-FR"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dùng</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a:t>
                      </a:r>
                      <a:r>
                        <a:rPr kumimoji="0" lang="fr-FR"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chứa</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a:t>
                      </a:r>
                      <a:r>
                        <a:rPr kumimoji="0" lang="fr-FR"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các</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con </a:t>
                      </a:r>
                      <a:r>
                        <a:rPr kumimoji="0" lang="fr-FR"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trỏ</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a:t>
                      </a:r>
                      <a:r>
                        <a:rPr kumimoji="0" lang="fr-FR"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trỏ</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a:t>
                      </a:r>
                      <a:r>
                        <a:rPr kumimoji="0" lang="fr-FR"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tới</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a:t>
                      </a:r>
                      <a:r>
                        <a:rPr kumimoji="0" lang="fr-FR"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bảng</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a:t>
                      </a:r>
                      <a:r>
                        <a:rPr kumimoji="0" lang="fr-FR"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ký</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a:t>
                      </a:r>
                      <a:r>
                        <a:rPr kumimoji="0" lang="fr-FR"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hiệu</a:t>
                      </a:r>
                      <a:endPar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1" i="0" u="none" strike="noStrike" cap="none" normalizeH="0" baseline="0" dirty="0">
                          <a:ln>
                            <a:noFill/>
                          </a:ln>
                          <a:solidFill>
                            <a:srgbClr val="1E23E6"/>
                          </a:solidFill>
                          <a:effectLst/>
                          <a:latin typeface="Arial" panose="020B0604020202020204" pitchFamily="34" charset="0"/>
                          <a:sym typeface="Symbol" panose="05050102010706020507" pitchFamily="18" charset="2"/>
                        </a:rPr>
                        <a:t>Offset:</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Là Stack </a:t>
                      </a:r>
                      <a:r>
                        <a:rPr kumimoji="0" lang="fr-FR"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dùng</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a:t>
                      </a:r>
                      <a:r>
                        <a:rPr kumimoji="0" lang="fr-FR"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lưu</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a:t>
                      </a:r>
                      <a:r>
                        <a:rPr kumimoji="0" lang="fr-FR"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trữ</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a:t>
                      </a:r>
                      <a:r>
                        <a:rPr kumimoji="0" lang="fr-FR"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các</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Offset</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7"/>
                  </a:ext>
                </a:extLst>
              </a:tr>
            </a:tbl>
          </a:graphicData>
        </a:graphic>
      </p:graphicFrame>
      <p:sp>
        <p:nvSpPr>
          <p:cNvPr id="48160" name="Text Box 32"/>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3. Chương trình dịch định hướng cú pháp</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776DDDCF-2617-465C-8F89-CA528247F725}" type="slidenum">
              <a:rPr lang="en-US" altLang="en-US" sz="1400" b="0"/>
              <a:pPr/>
              <a:t>43</a:t>
            </a:fld>
            <a:endParaRPr lang="en-US" altLang="en-US" sz="1400" b="0"/>
          </a:p>
        </p:txBody>
      </p:sp>
      <p:sp>
        <p:nvSpPr>
          <p:cNvPr id="50179" name="Rectangle 2"/>
          <p:cNvSpPr>
            <a:spLocks noGrp="1" noChangeArrowheads="1"/>
          </p:cNvSpPr>
          <p:nvPr>
            <p:ph type="title"/>
          </p:nvPr>
        </p:nvSpPr>
        <p:spPr/>
        <p:txBody>
          <a:bodyPr/>
          <a:lstStyle/>
          <a:p>
            <a:pPr eaLnBrk="1" hangingPunct="1"/>
            <a:r>
              <a:rPr lang="fr-FR" altLang="en-US"/>
              <a:t>Xử lý các khai báo trong chương trình con</a:t>
            </a:r>
          </a:p>
        </p:txBody>
      </p:sp>
      <p:sp>
        <p:nvSpPr>
          <p:cNvPr id="50180" name="Rectangle 3"/>
          <p:cNvSpPr>
            <a:spLocks noGrp="1" noChangeArrowheads="1"/>
          </p:cNvSpPr>
          <p:nvPr>
            <p:ph type="body" sz="half" idx="1"/>
          </p:nvPr>
        </p:nvSpPr>
        <p:spPr>
          <a:xfrm>
            <a:off x="152400" y="838200"/>
            <a:ext cx="8839200" cy="5791200"/>
          </a:xfrm>
        </p:spPr>
        <p:txBody>
          <a:bodyPr/>
          <a:lstStyle/>
          <a:p>
            <a:pPr marL="231775" indent="-231775" eaLnBrk="1" hangingPunct="1"/>
            <a:r>
              <a:rPr lang="en-US" altLang="en-US" sz="2800"/>
              <a:t>Sản xuất:</a:t>
            </a:r>
            <a:r>
              <a:rPr lang="en-US" altLang="en-US" sz="2800" b="1"/>
              <a:t> P</a:t>
            </a:r>
            <a:r>
              <a:rPr lang="en-US" altLang="en-US" sz="2800" b="1">
                <a:sym typeface="Symbol" panose="05050102010706020507" pitchFamily="18" charset="2"/>
              </a:rPr>
              <a:t>MD</a:t>
            </a:r>
            <a:r>
              <a:rPr lang="en-US" altLang="en-US" sz="2800">
                <a:sym typeface="Symbol" panose="05050102010706020507" pitchFamily="18" charset="2"/>
              </a:rPr>
              <a:t> : </a:t>
            </a:r>
          </a:p>
          <a:p>
            <a:pPr marL="914400" lvl="1" indent="-334963" eaLnBrk="1" hangingPunct="1"/>
            <a:r>
              <a:rPr lang="en-US" altLang="en-US" sz="2400">
                <a:sym typeface="Symbol" panose="05050102010706020507" pitchFamily="18" charset="2"/>
              </a:rPr>
              <a:t>Hoạt động của cây con M được thực hiện trước </a:t>
            </a:r>
          </a:p>
          <a:p>
            <a:pPr marL="231775" indent="-231775" eaLnBrk="1" hangingPunct="1"/>
            <a:r>
              <a:rPr lang="en-US" altLang="en-US" sz="2800"/>
              <a:t>Sản xuất:</a:t>
            </a:r>
            <a:r>
              <a:rPr lang="en-US" altLang="en-US" sz="2800" b="1"/>
              <a:t> </a:t>
            </a:r>
            <a:r>
              <a:rPr lang="en-US" altLang="en-US" sz="2800" b="1">
                <a:sym typeface="Symbol" panose="05050102010706020507" pitchFamily="18" charset="2"/>
              </a:rPr>
              <a:t>M  :  </a:t>
            </a:r>
          </a:p>
          <a:p>
            <a:pPr marL="914400" lvl="1" indent="-334963" eaLnBrk="1" hangingPunct="1"/>
            <a:r>
              <a:rPr lang="fr-FR" altLang="en-US" sz="2400">
                <a:sym typeface="Symbol" panose="05050102010706020507" pitchFamily="18" charset="2"/>
              </a:rPr>
              <a:t>Tạo bảng ký hiệu</a:t>
            </a:r>
            <a:r>
              <a:rPr lang="fr-FR" altLang="en-US" sz="2400" b="1">
                <a:sym typeface="Symbol" panose="05050102010706020507" pitchFamily="18" charset="2"/>
              </a:rPr>
              <a:t> </a:t>
            </a:r>
            <a:r>
              <a:rPr lang="en-US" altLang="en-US" sz="2400">
                <a:sym typeface="Symbol" panose="05050102010706020507" pitchFamily="18" charset="2"/>
              </a:rPr>
              <a:t>cho phạm vi ngoài cùng (</a:t>
            </a:r>
            <a:r>
              <a:rPr lang="en-US" altLang="en-US" sz="2400" i="1">
                <a:sym typeface="Symbol" panose="05050102010706020507" pitchFamily="18" charset="2"/>
              </a:rPr>
              <a:t>chương trình sort</a:t>
            </a:r>
            <a:r>
              <a:rPr lang="en-US" altLang="en-US" sz="2400">
                <a:sym typeface="Symbol" panose="05050102010706020507" pitchFamily="18" charset="2"/>
              </a:rPr>
              <a:t>)</a:t>
            </a:r>
            <a:r>
              <a:rPr lang="fr-FR" altLang="en-US" sz="2400" b="1">
                <a:sym typeface="Symbol" panose="05050102010706020507" pitchFamily="18" charset="2"/>
              </a:rPr>
              <a:t> </a:t>
            </a:r>
            <a:r>
              <a:rPr lang="en-US" altLang="en-US" sz="2400">
                <a:sym typeface="Symbol" panose="05050102010706020507" pitchFamily="18" charset="2"/>
              </a:rPr>
              <a:t>bằng lệnh </a:t>
            </a:r>
            <a:r>
              <a:rPr lang="en-US" altLang="en-US" sz="2400" b="1" i="1">
                <a:solidFill>
                  <a:srgbClr val="1E23E6"/>
                </a:solidFill>
                <a:sym typeface="Symbol" panose="05050102010706020507" pitchFamily="18" charset="2"/>
              </a:rPr>
              <a:t>mktable(nil)</a:t>
            </a:r>
            <a:r>
              <a:rPr lang="en-US" altLang="en-US" sz="2400" b="1" i="1">
                <a:solidFill>
                  <a:srgbClr val="666633"/>
                </a:solidFill>
                <a:sym typeface="Symbol" panose="05050102010706020507" pitchFamily="18" charset="2"/>
              </a:rPr>
              <a:t> //</a:t>
            </a:r>
            <a:r>
              <a:rPr lang="en-US" altLang="en-US" sz="2400" b="1" i="1">
                <a:solidFill>
                  <a:schemeClr val="bg2"/>
                </a:solidFill>
                <a:sym typeface="Symbol" panose="05050102010706020507" pitchFamily="18" charset="2"/>
              </a:rPr>
              <a:t>Không có SymTab cha</a:t>
            </a:r>
            <a:endParaRPr lang="en-US" altLang="en-US" sz="2400" b="1">
              <a:solidFill>
                <a:schemeClr val="bg2"/>
              </a:solidFill>
              <a:sym typeface="Symbol" panose="05050102010706020507" pitchFamily="18" charset="2"/>
            </a:endParaRPr>
          </a:p>
          <a:p>
            <a:pPr marL="914400" lvl="1" indent="-334963" eaLnBrk="1" hangingPunct="1"/>
            <a:r>
              <a:rPr lang="en-US" altLang="en-US" sz="2400">
                <a:sym typeface="Symbol" panose="05050102010706020507" pitchFamily="18" charset="2"/>
              </a:rPr>
              <a:t>Khởi tạo stack </a:t>
            </a:r>
            <a:r>
              <a:rPr lang="en-US" altLang="en-US" sz="2400" b="1" i="1">
                <a:solidFill>
                  <a:srgbClr val="1E23E6"/>
                </a:solidFill>
                <a:sym typeface="Symbol" panose="05050102010706020507" pitchFamily="18" charset="2"/>
              </a:rPr>
              <a:t>tblptr</a:t>
            </a:r>
            <a:r>
              <a:rPr lang="en-US" altLang="en-US" sz="2400">
                <a:sym typeface="Symbol" panose="05050102010706020507" pitchFamily="18" charset="2"/>
              </a:rPr>
              <a:t> với bảng ký hiệu vừa tạo ra</a:t>
            </a:r>
          </a:p>
          <a:p>
            <a:pPr marL="914400" lvl="1" indent="-334963" eaLnBrk="1" hangingPunct="1"/>
            <a:r>
              <a:rPr lang="en-US" altLang="en-US" sz="2400">
                <a:sym typeface="Symbol" panose="05050102010706020507" pitchFamily="18" charset="2"/>
              </a:rPr>
              <a:t>Đặt offset = 0.</a:t>
            </a:r>
          </a:p>
          <a:p>
            <a:pPr marL="231775" indent="-231775" eaLnBrk="1" hangingPunct="1"/>
            <a:r>
              <a:rPr lang="en-US" altLang="en-US" sz="2800"/>
              <a:t>Sản xuất:</a:t>
            </a:r>
            <a:r>
              <a:rPr lang="en-US" altLang="en-US" sz="2800" b="1"/>
              <a:t> </a:t>
            </a:r>
            <a:r>
              <a:rPr lang="en-US" altLang="en-US" sz="2800" b="1">
                <a:sym typeface="Symbol" panose="05050102010706020507" pitchFamily="18" charset="2"/>
              </a:rPr>
              <a:t>N  :</a:t>
            </a:r>
            <a:r>
              <a:rPr lang="en-US" altLang="en-US" sz="2800">
                <a:sym typeface="Symbol" panose="05050102010706020507" pitchFamily="18" charset="2"/>
              </a:rPr>
              <a:t> </a:t>
            </a:r>
          </a:p>
          <a:p>
            <a:pPr marL="914400" lvl="1" indent="-334963" eaLnBrk="1" hangingPunct="1"/>
            <a:r>
              <a:rPr lang="en-US" altLang="en-US" sz="2400">
                <a:sym typeface="Symbol" panose="05050102010706020507" pitchFamily="18" charset="2"/>
              </a:rPr>
              <a:t>Tạo ra một bảng mới </a:t>
            </a:r>
            <a:r>
              <a:rPr lang="en-US" altLang="en-US" sz="2400" b="1" i="1">
                <a:solidFill>
                  <a:srgbClr val="1E23E6"/>
                </a:solidFill>
                <a:sym typeface="Symbol" panose="05050102010706020507" pitchFamily="18" charset="2"/>
              </a:rPr>
              <a:t>mktable</a:t>
            </a:r>
            <a:r>
              <a:rPr lang="en-US" altLang="en-US" sz="2400" b="1">
                <a:solidFill>
                  <a:srgbClr val="1E23E6"/>
                </a:solidFill>
                <a:sym typeface="Symbol" panose="05050102010706020507" pitchFamily="18" charset="2"/>
              </a:rPr>
              <a:t>(</a:t>
            </a:r>
            <a:r>
              <a:rPr lang="en-US" altLang="en-US" sz="2400" b="1" i="1">
                <a:solidFill>
                  <a:srgbClr val="1E23E6"/>
                </a:solidFill>
                <a:sym typeface="Symbol" panose="05050102010706020507" pitchFamily="18" charset="2"/>
              </a:rPr>
              <a:t>top</a:t>
            </a:r>
            <a:r>
              <a:rPr lang="en-US" altLang="en-US" sz="2400" b="1">
                <a:solidFill>
                  <a:srgbClr val="1E23E6"/>
                </a:solidFill>
                <a:sym typeface="Symbol" panose="05050102010706020507" pitchFamily="18" charset="2"/>
              </a:rPr>
              <a:t>(tblptr))</a:t>
            </a:r>
          </a:p>
          <a:p>
            <a:pPr marL="1373188" lvl="2" eaLnBrk="1" hangingPunct="1"/>
            <a:r>
              <a:rPr lang="en-US" altLang="en-US" sz="2000">
                <a:sym typeface="Symbol" panose="05050102010706020507" pitchFamily="18" charset="2"/>
              </a:rPr>
              <a:t>Tham số </a:t>
            </a:r>
            <a:r>
              <a:rPr lang="en-US" altLang="en-US" sz="2000" b="1" i="1">
                <a:solidFill>
                  <a:srgbClr val="1E23E6"/>
                </a:solidFill>
                <a:sym typeface="Symbol" panose="05050102010706020507" pitchFamily="18" charset="2"/>
              </a:rPr>
              <a:t>top</a:t>
            </a:r>
            <a:r>
              <a:rPr lang="en-US" altLang="en-US" sz="2000" b="1">
                <a:solidFill>
                  <a:srgbClr val="1E23E6"/>
                </a:solidFill>
                <a:sym typeface="Symbol" panose="05050102010706020507" pitchFamily="18" charset="2"/>
              </a:rPr>
              <a:t>(tblptr)</a:t>
            </a:r>
            <a:r>
              <a:rPr lang="en-US" altLang="en-US" sz="2000" b="1">
                <a:sym typeface="Symbol" panose="05050102010706020507" pitchFamily="18" charset="2"/>
              </a:rPr>
              <a:t> </a:t>
            </a:r>
            <a:r>
              <a:rPr lang="en-US" altLang="en-US" sz="2000">
                <a:sym typeface="Symbol" panose="05050102010706020507" pitchFamily="18" charset="2"/>
              </a:rPr>
              <a:t>cho giá trị con trỏ tới bảng cha</a:t>
            </a:r>
          </a:p>
          <a:p>
            <a:pPr marL="914400" lvl="1" indent="-334963" eaLnBrk="1" hangingPunct="1"/>
            <a:r>
              <a:rPr lang="en-US" altLang="en-US" sz="2400">
                <a:sym typeface="Symbol" panose="05050102010706020507" pitchFamily="18" charset="2"/>
              </a:rPr>
              <a:t>Thêm bảng mới vào đỉnh stack</a:t>
            </a:r>
            <a:r>
              <a:rPr lang="en-US" altLang="en-US" sz="2400" b="1">
                <a:sym typeface="Symbol" panose="05050102010706020507" pitchFamily="18" charset="2"/>
              </a:rPr>
              <a:t> </a:t>
            </a:r>
            <a:r>
              <a:rPr lang="en-US" altLang="en-US" sz="2400" b="1">
                <a:solidFill>
                  <a:srgbClr val="1E23E6"/>
                </a:solidFill>
                <a:sym typeface="Symbol" panose="05050102010706020507" pitchFamily="18" charset="2"/>
              </a:rPr>
              <a:t>tblptr</a:t>
            </a:r>
            <a:r>
              <a:rPr lang="en-US" altLang="en-US" sz="2400">
                <a:sym typeface="Symbol" panose="05050102010706020507" pitchFamily="18" charset="2"/>
              </a:rPr>
              <a:t> //</a:t>
            </a:r>
            <a:r>
              <a:rPr lang="en-US" altLang="en-US" sz="2400">
                <a:solidFill>
                  <a:schemeClr val="bg2"/>
                </a:solidFill>
                <a:sym typeface="Symbol" panose="05050102010706020507" pitchFamily="18" charset="2"/>
              </a:rPr>
              <a:t>push(t,tblptr)</a:t>
            </a:r>
          </a:p>
          <a:p>
            <a:pPr marL="914400" lvl="1" indent="-334963" eaLnBrk="1" hangingPunct="1"/>
            <a:r>
              <a:rPr lang="en-US" altLang="en-US" sz="2400">
                <a:sym typeface="Symbol" panose="05050102010706020507" pitchFamily="18" charset="2"/>
              </a:rPr>
              <a:t>0 được đẩy vào stack</a:t>
            </a:r>
            <a:r>
              <a:rPr lang="en-US" altLang="en-US" sz="2400" b="1" i="1">
                <a:solidFill>
                  <a:srgbClr val="1E23E6"/>
                </a:solidFill>
                <a:sym typeface="Symbol" panose="05050102010706020507" pitchFamily="18" charset="2"/>
              </a:rPr>
              <a:t> offset</a:t>
            </a:r>
            <a:r>
              <a:rPr lang="en-US" altLang="en-US" sz="2400">
                <a:sym typeface="Symbol" panose="05050102010706020507" pitchFamily="18" charset="2"/>
              </a:rPr>
              <a:t> 	//</a:t>
            </a:r>
            <a:r>
              <a:rPr lang="en-US" altLang="en-US" sz="2400">
                <a:solidFill>
                  <a:schemeClr val="bg2"/>
                </a:solidFill>
                <a:sym typeface="Symbol" panose="05050102010706020507" pitchFamily="18" charset="2"/>
              </a:rPr>
              <a:t>push(0,Offset)</a:t>
            </a:r>
            <a:endParaRPr lang="en-US" altLang="en-US" sz="2400">
              <a:sym typeface="Symbol" panose="05050102010706020507" pitchFamily="18" charset="2"/>
            </a:endParaRPr>
          </a:p>
          <a:p>
            <a:pPr marL="914400" lvl="1" indent="-334963" eaLnBrk="1" hangingPunct="1">
              <a:buFontTx/>
              <a:buNone/>
            </a:pPr>
            <a:r>
              <a:rPr lang="en-US" altLang="en-US" sz="2400" i="1">
                <a:solidFill>
                  <a:schemeClr val="bg2"/>
                </a:solidFill>
                <a:sym typeface="Symbol" panose="05050102010706020507" pitchFamily="18" charset="2"/>
              </a:rPr>
              <a:t>N đóng vai trò tương tự M khi một khai báo CTC xuất hiện</a:t>
            </a:r>
          </a:p>
        </p:txBody>
      </p:sp>
      <p:sp>
        <p:nvSpPr>
          <p:cNvPr id="50181" name="Text Box 5"/>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3. Chương trình dịch định hướng cú pháp</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8A7ADCF1-1D73-4B58-9053-4F1420C5E810}" type="slidenum">
              <a:rPr lang="en-US" altLang="en-US" sz="1400" b="0"/>
              <a:pPr/>
              <a:t>44</a:t>
            </a:fld>
            <a:endParaRPr lang="en-US" altLang="en-US" sz="1400" b="0"/>
          </a:p>
        </p:txBody>
      </p:sp>
      <p:sp>
        <p:nvSpPr>
          <p:cNvPr id="51203" name="Rectangle 2"/>
          <p:cNvSpPr>
            <a:spLocks noGrp="1" noChangeArrowheads="1"/>
          </p:cNvSpPr>
          <p:nvPr>
            <p:ph type="title"/>
          </p:nvPr>
        </p:nvSpPr>
        <p:spPr/>
        <p:txBody>
          <a:bodyPr/>
          <a:lstStyle/>
          <a:p>
            <a:pPr eaLnBrk="1" hangingPunct="1"/>
            <a:r>
              <a:rPr lang="fr-FR" altLang="en-US"/>
              <a:t>Xử lý các khai báo trong chương trình con</a:t>
            </a:r>
          </a:p>
        </p:txBody>
      </p:sp>
      <p:sp>
        <p:nvSpPr>
          <p:cNvPr id="51204" name="Rectangle 3"/>
          <p:cNvSpPr>
            <a:spLocks noGrp="1" noChangeArrowheads="1"/>
          </p:cNvSpPr>
          <p:nvPr>
            <p:ph type="body" sz="half" idx="1"/>
          </p:nvPr>
        </p:nvSpPr>
        <p:spPr>
          <a:xfrm>
            <a:off x="152400" y="914400"/>
            <a:ext cx="8839200" cy="5638800"/>
          </a:xfrm>
        </p:spPr>
        <p:txBody>
          <a:bodyPr/>
          <a:lstStyle/>
          <a:p>
            <a:pPr marL="231775" indent="-231775" eaLnBrk="1" hangingPunct="1">
              <a:lnSpc>
                <a:spcPct val="90000"/>
              </a:lnSpc>
            </a:pPr>
            <a:r>
              <a:rPr lang="en-US" altLang="en-US" sz="2800" dirty="0" err="1">
                <a:sym typeface="Symbol" panose="05050102010706020507" pitchFamily="18" charset="2"/>
              </a:rPr>
              <a:t>Với</a:t>
            </a:r>
            <a:r>
              <a:rPr lang="en-US" altLang="en-US" sz="2800" dirty="0">
                <a:sym typeface="Symbol" panose="05050102010706020507" pitchFamily="18" charset="2"/>
              </a:rPr>
              <a:t> </a:t>
            </a:r>
            <a:r>
              <a:rPr lang="en-US" altLang="en-US" sz="2800" dirty="0" err="1">
                <a:sym typeface="Symbol" panose="05050102010706020507" pitchFamily="18" charset="2"/>
              </a:rPr>
              <a:t>mỗi</a:t>
            </a:r>
            <a:r>
              <a:rPr lang="en-US" altLang="en-US" sz="2800" dirty="0">
                <a:sym typeface="Symbol" panose="05050102010706020507" pitchFamily="18" charset="2"/>
              </a:rPr>
              <a:t> </a:t>
            </a:r>
            <a:r>
              <a:rPr lang="en-US" altLang="en-US" sz="2800" dirty="0" err="1">
                <a:sym typeface="Symbol" panose="05050102010706020507" pitchFamily="18" charset="2"/>
              </a:rPr>
              <a:t>khai</a:t>
            </a:r>
            <a:r>
              <a:rPr lang="en-US" altLang="en-US" sz="2800" dirty="0">
                <a:sym typeface="Symbol" panose="05050102010706020507" pitchFamily="18" charset="2"/>
              </a:rPr>
              <a:t> </a:t>
            </a:r>
            <a:r>
              <a:rPr lang="en-US" altLang="en-US" sz="2800" dirty="0" err="1">
                <a:sym typeface="Symbol" panose="05050102010706020507" pitchFamily="18" charset="2"/>
              </a:rPr>
              <a:t>báo</a:t>
            </a:r>
            <a:r>
              <a:rPr lang="en-US" altLang="en-US" sz="2800" dirty="0">
                <a:sym typeface="Symbol" panose="05050102010706020507" pitchFamily="18" charset="2"/>
              </a:rPr>
              <a:t> </a:t>
            </a:r>
            <a:r>
              <a:rPr lang="en-US" altLang="en-US" sz="2800" b="1" dirty="0">
                <a:sym typeface="Symbol" panose="05050102010706020507" pitchFamily="18" charset="2"/>
              </a:rPr>
              <a:t>id: T</a:t>
            </a:r>
            <a:r>
              <a:rPr lang="en-US" altLang="en-US" sz="2800" dirty="0">
                <a:sym typeface="Symbol" panose="05050102010706020507" pitchFamily="18" charset="2"/>
              </a:rPr>
              <a:t> </a:t>
            </a:r>
          </a:p>
          <a:p>
            <a:pPr marL="914400" lvl="1" indent="-334963" eaLnBrk="1" hangingPunct="1">
              <a:lnSpc>
                <a:spcPct val="90000"/>
              </a:lnSpc>
            </a:pPr>
            <a:r>
              <a:rPr lang="en-US" altLang="en-US" sz="2400" dirty="0" err="1">
                <a:sym typeface="Symbol" panose="05050102010706020507" pitchFamily="18" charset="2"/>
              </a:rPr>
              <a:t>một</a:t>
            </a:r>
            <a:r>
              <a:rPr lang="en-US" altLang="en-US" sz="2400" dirty="0">
                <a:sym typeface="Symbol" panose="05050102010706020507" pitchFamily="18" charset="2"/>
              </a:rPr>
              <a:t> </a:t>
            </a:r>
            <a:r>
              <a:rPr lang="en-US" altLang="en-US" sz="2400" dirty="0" err="1">
                <a:sym typeface="Symbol" panose="05050102010706020507" pitchFamily="18" charset="2"/>
              </a:rPr>
              <a:t>phần</a:t>
            </a:r>
            <a:r>
              <a:rPr lang="en-US" altLang="en-US" sz="2400" dirty="0">
                <a:sym typeface="Symbol" panose="05050102010706020507" pitchFamily="18" charset="2"/>
              </a:rPr>
              <a:t> </a:t>
            </a:r>
            <a:r>
              <a:rPr lang="en-US" altLang="en-US" sz="2400" dirty="0" err="1">
                <a:sym typeface="Symbol" panose="05050102010706020507" pitchFamily="18" charset="2"/>
              </a:rPr>
              <a:t>tử</a:t>
            </a:r>
            <a:r>
              <a:rPr lang="en-US" altLang="en-US" sz="2400" dirty="0">
                <a:sym typeface="Symbol" panose="05050102010706020507" pitchFamily="18" charset="2"/>
              </a:rPr>
              <a:t> </a:t>
            </a:r>
            <a:r>
              <a:rPr lang="en-US" altLang="en-US" sz="2400" dirty="0" err="1">
                <a:sym typeface="Symbol" panose="05050102010706020507" pitchFamily="18" charset="2"/>
              </a:rPr>
              <a:t>mới</a:t>
            </a:r>
            <a:r>
              <a:rPr lang="en-US" altLang="en-US" sz="2400" dirty="0">
                <a:sym typeface="Symbol" panose="05050102010706020507" pitchFamily="18" charset="2"/>
              </a:rPr>
              <a:t> </a:t>
            </a:r>
            <a:r>
              <a:rPr lang="en-US" altLang="en-US" sz="2400" dirty="0" err="1">
                <a:sym typeface="Symbol" panose="05050102010706020507" pitchFamily="18" charset="2"/>
              </a:rPr>
              <a:t>được</a:t>
            </a:r>
            <a:r>
              <a:rPr lang="en-US" altLang="en-US" sz="2400" dirty="0">
                <a:sym typeface="Symbol" panose="05050102010706020507" pitchFamily="18" charset="2"/>
              </a:rPr>
              <a:t> </a:t>
            </a:r>
            <a:r>
              <a:rPr lang="en-US" altLang="en-US" sz="2400" dirty="0" err="1">
                <a:sym typeface="Symbol" panose="05050102010706020507" pitchFamily="18" charset="2"/>
              </a:rPr>
              <a:t>tạo</a:t>
            </a:r>
            <a:r>
              <a:rPr lang="en-US" altLang="en-US" sz="2400" dirty="0">
                <a:sym typeface="Symbol" panose="05050102010706020507" pitchFamily="18" charset="2"/>
              </a:rPr>
              <a:t> </a:t>
            </a:r>
            <a:r>
              <a:rPr lang="en-US" altLang="en-US" sz="2400" dirty="0" err="1">
                <a:sym typeface="Symbol" panose="05050102010706020507" pitchFamily="18" charset="2"/>
              </a:rPr>
              <a:t>ra</a:t>
            </a:r>
            <a:r>
              <a:rPr lang="en-US" altLang="en-US" sz="2400" dirty="0">
                <a:sym typeface="Symbol" panose="05050102010706020507" pitchFamily="18" charset="2"/>
              </a:rPr>
              <a:t> </a:t>
            </a:r>
            <a:r>
              <a:rPr lang="en-US" altLang="en-US" sz="2400" dirty="0" err="1">
                <a:sym typeface="Symbol" panose="05050102010706020507" pitchFamily="18" charset="2"/>
              </a:rPr>
              <a:t>cho</a:t>
            </a:r>
            <a:r>
              <a:rPr lang="en-US" altLang="en-US" sz="2400" dirty="0">
                <a:solidFill>
                  <a:srgbClr val="2C1EDC"/>
                </a:solidFill>
                <a:sym typeface="Symbol" panose="05050102010706020507" pitchFamily="18" charset="2"/>
              </a:rPr>
              <a:t> id</a:t>
            </a:r>
            <a:r>
              <a:rPr lang="en-US" altLang="en-US" sz="2400" dirty="0">
                <a:sym typeface="Symbol" panose="05050102010706020507" pitchFamily="18" charset="2"/>
              </a:rPr>
              <a:t> </a:t>
            </a:r>
            <a:r>
              <a:rPr lang="en-US" altLang="en-US" sz="2400" dirty="0" err="1">
                <a:sym typeface="Symbol" panose="05050102010706020507" pitchFamily="18" charset="2"/>
              </a:rPr>
              <a:t>trong</a:t>
            </a:r>
            <a:r>
              <a:rPr lang="en-US" altLang="en-US" sz="2400" dirty="0">
                <a:sym typeface="Symbol" panose="05050102010706020507" pitchFamily="18" charset="2"/>
              </a:rPr>
              <a:t> </a:t>
            </a:r>
            <a:r>
              <a:rPr lang="en-US" altLang="en-US" sz="2400" dirty="0" err="1">
                <a:sym typeface="Symbol" panose="05050102010706020507" pitchFamily="18" charset="2"/>
              </a:rPr>
              <a:t>bảng</a:t>
            </a:r>
            <a:r>
              <a:rPr lang="en-US" altLang="en-US" sz="2400" dirty="0">
                <a:sym typeface="Symbol" panose="05050102010706020507" pitchFamily="18" charset="2"/>
              </a:rPr>
              <a:t> </a:t>
            </a:r>
            <a:r>
              <a:rPr lang="en-US" altLang="en-US" sz="2400" dirty="0" err="1">
                <a:sym typeface="Symbol" panose="05050102010706020507" pitchFamily="18" charset="2"/>
              </a:rPr>
              <a:t>kí</a:t>
            </a:r>
            <a:r>
              <a:rPr lang="en-US" altLang="en-US" sz="2400" dirty="0">
                <a:sym typeface="Symbol" panose="05050102010706020507" pitchFamily="18" charset="2"/>
              </a:rPr>
              <a:t> </a:t>
            </a:r>
            <a:r>
              <a:rPr lang="en-US" altLang="en-US" sz="2400" dirty="0" err="1">
                <a:sym typeface="Symbol" panose="05050102010706020507" pitchFamily="18" charset="2"/>
              </a:rPr>
              <a:t>hiệu</a:t>
            </a:r>
            <a:r>
              <a:rPr lang="en-US" altLang="en-US" sz="2400" dirty="0">
                <a:sym typeface="Symbol" panose="05050102010706020507" pitchFamily="18" charset="2"/>
              </a:rPr>
              <a:t> </a:t>
            </a:r>
            <a:r>
              <a:rPr lang="en-US" altLang="en-US" sz="2400" dirty="0" err="1">
                <a:sym typeface="Symbol" panose="05050102010706020507" pitchFamily="18" charset="2"/>
              </a:rPr>
              <a:t>hiện</a:t>
            </a:r>
            <a:r>
              <a:rPr lang="en-US" altLang="en-US" sz="2400" dirty="0">
                <a:sym typeface="Symbol" panose="05050102010706020507" pitchFamily="18" charset="2"/>
              </a:rPr>
              <a:t> </a:t>
            </a:r>
            <a:r>
              <a:rPr lang="en-US" altLang="en-US" sz="2400" dirty="0" err="1">
                <a:sym typeface="Symbol" panose="05050102010706020507" pitchFamily="18" charset="2"/>
              </a:rPr>
              <a:t>hành</a:t>
            </a:r>
            <a:r>
              <a:rPr lang="en-US" altLang="en-US" sz="2400" dirty="0">
                <a:sym typeface="Symbol" panose="05050102010706020507" pitchFamily="18" charset="2"/>
              </a:rPr>
              <a:t> (</a:t>
            </a:r>
            <a:r>
              <a:rPr lang="en-US" altLang="en-US" sz="2400" i="1" dirty="0">
                <a:solidFill>
                  <a:srgbClr val="2C1EDC"/>
                </a:solidFill>
                <a:sym typeface="Symbol" panose="05050102010706020507" pitchFamily="18" charset="2"/>
              </a:rPr>
              <a:t>top(</a:t>
            </a:r>
            <a:r>
              <a:rPr lang="en-US" altLang="en-US" sz="2400" i="1" dirty="0" err="1">
                <a:solidFill>
                  <a:srgbClr val="2C1EDC"/>
                </a:solidFill>
                <a:sym typeface="Symbol" panose="05050102010706020507" pitchFamily="18" charset="2"/>
              </a:rPr>
              <a:t>tblptr</a:t>
            </a:r>
            <a:r>
              <a:rPr lang="en-US" altLang="en-US" sz="2400" i="1" dirty="0">
                <a:solidFill>
                  <a:srgbClr val="2C1EDC"/>
                </a:solidFill>
                <a:sym typeface="Symbol" panose="05050102010706020507" pitchFamily="18" charset="2"/>
              </a:rPr>
              <a:t>)</a:t>
            </a:r>
            <a:r>
              <a:rPr lang="en-US" altLang="en-US" sz="2400" dirty="0">
                <a:sym typeface="Symbol" panose="05050102010706020507" pitchFamily="18" charset="2"/>
              </a:rPr>
              <a:t>)</a:t>
            </a:r>
          </a:p>
          <a:p>
            <a:pPr marL="914400" lvl="1" indent="-334963" eaLnBrk="1" hangingPunct="1">
              <a:lnSpc>
                <a:spcPct val="90000"/>
              </a:lnSpc>
            </a:pPr>
            <a:r>
              <a:rPr lang="en-US" altLang="en-US" sz="2400" dirty="0">
                <a:sym typeface="Symbol" panose="05050102010706020507" pitchFamily="18" charset="2"/>
              </a:rPr>
              <a:t>Stack </a:t>
            </a:r>
            <a:r>
              <a:rPr lang="en-US" altLang="en-US" sz="2400" dirty="0" err="1">
                <a:sym typeface="Symbol" panose="05050102010706020507" pitchFamily="18" charset="2"/>
              </a:rPr>
              <a:t>tblptr</a:t>
            </a:r>
            <a:r>
              <a:rPr lang="en-US" altLang="en-US" sz="2400" dirty="0">
                <a:sym typeface="Symbol" panose="05050102010706020507" pitchFamily="18" charset="2"/>
              </a:rPr>
              <a:t> </a:t>
            </a:r>
            <a:r>
              <a:rPr lang="en-US" altLang="en-US" sz="2400" dirty="0" err="1">
                <a:sym typeface="Symbol" panose="05050102010706020507" pitchFamily="18" charset="2"/>
              </a:rPr>
              <a:t>không</a:t>
            </a:r>
            <a:r>
              <a:rPr lang="en-US" altLang="en-US" sz="2400" dirty="0">
                <a:sym typeface="Symbol" panose="05050102010706020507" pitchFamily="18" charset="2"/>
              </a:rPr>
              <a:t> </a:t>
            </a:r>
            <a:r>
              <a:rPr lang="en-US" altLang="en-US" sz="2400" dirty="0" err="1">
                <a:sym typeface="Symbol" panose="05050102010706020507" pitchFamily="18" charset="2"/>
              </a:rPr>
              <a:t>đổi</a:t>
            </a:r>
            <a:r>
              <a:rPr lang="en-US" altLang="en-US" sz="2400" dirty="0">
                <a:sym typeface="Symbol" panose="05050102010706020507" pitchFamily="18" charset="2"/>
              </a:rPr>
              <a:t>, </a:t>
            </a:r>
          </a:p>
          <a:p>
            <a:pPr marL="914400" lvl="1" indent="-334963" eaLnBrk="1" hangingPunct="1">
              <a:lnSpc>
                <a:spcPct val="90000"/>
              </a:lnSpc>
            </a:pPr>
            <a:r>
              <a:rPr lang="en-US" altLang="en-US" sz="2400" dirty="0" err="1">
                <a:sym typeface="Symbol" panose="05050102010706020507" pitchFamily="18" charset="2"/>
              </a:rPr>
              <a:t>Giá</a:t>
            </a:r>
            <a:r>
              <a:rPr lang="en-US" altLang="en-US" sz="2400" dirty="0">
                <a:sym typeface="Symbol" panose="05050102010706020507" pitchFamily="18" charset="2"/>
              </a:rPr>
              <a:t> </a:t>
            </a:r>
            <a:r>
              <a:rPr lang="en-US" altLang="en-US" sz="2400" dirty="0" err="1">
                <a:sym typeface="Symbol" panose="05050102010706020507" pitchFamily="18" charset="2"/>
              </a:rPr>
              <a:t>trị</a:t>
            </a:r>
            <a:r>
              <a:rPr lang="en-US" altLang="en-US" sz="2400" dirty="0">
                <a:sym typeface="Symbol" panose="05050102010706020507" pitchFamily="18" charset="2"/>
              </a:rPr>
              <a:t> </a:t>
            </a:r>
            <a:r>
              <a:rPr lang="en-US" altLang="en-US" sz="2400" b="1" dirty="0">
                <a:solidFill>
                  <a:srgbClr val="2C1EDC"/>
                </a:solidFill>
                <a:sym typeface="Symbol" panose="05050102010706020507" pitchFamily="18" charset="2"/>
              </a:rPr>
              <a:t>top(offset)</a:t>
            </a:r>
            <a:r>
              <a:rPr lang="en-US" altLang="en-US" sz="2400" dirty="0">
                <a:sym typeface="Symbol" panose="05050102010706020507" pitchFamily="18" charset="2"/>
              </a:rPr>
              <a:t> </a:t>
            </a:r>
            <a:r>
              <a:rPr lang="en-US" altLang="en-US" sz="2400" dirty="0" err="1">
                <a:sym typeface="Symbol" panose="05050102010706020507" pitchFamily="18" charset="2"/>
              </a:rPr>
              <a:t>được</a:t>
            </a:r>
            <a:r>
              <a:rPr lang="en-US" altLang="en-US" sz="2400" dirty="0">
                <a:sym typeface="Symbol" panose="05050102010706020507" pitchFamily="18" charset="2"/>
              </a:rPr>
              <a:t> </a:t>
            </a:r>
            <a:r>
              <a:rPr lang="en-US" altLang="en-US" sz="2400" dirty="0" err="1">
                <a:sym typeface="Symbol" panose="05050102010706020507" pitchFamily="18" charset="2"/>
              </a:rPr>
              <a:t>tăng</a:t>
            </a:r>
            <a:r>
              <a:rPr lang="en-US" altLang="en-US" sz="2400" dirty="0">
                <a:sym typeface="Symbol" panose="05050102010706020507" pitchFamily="18" charset="2"/>
              </a:rPr>
              <a:t> </a:t>
            </a:r>
            <a:r>
              <a:rPr lang="en-US" altLang="en-US" sz="2400" dirty="0" err="1">
                <a:sym typeface="Symbol" panose="05050102010706020507" pitchFamily="18" charset="2"/>
              </a:rPr>
              <a:t>lên</a:t>
            </a:r>
            <a:r>
              <a:rPr lang="en-US" altLang="en-US" sz="2400" dirty="0">
                <a:sym typeface="Symbol" panose="05050102010706020507" pitchFamily="18" charset="2"/>
              </a:rPr>
              <a:t> </a:t>
            </a:r>
            <a:r>
              <a:rPr lang="en-US" altLang="en-US" sz="2400" dirty="0" err="1">
                <a:sym typeface="Symbol" panose="05050102010706020507" pitchFamily="18" charset="2"/>
              </a:rPr>
              <a:t>bởi</a:t>
            </a:r>
            <a:r>
              <a:rPr lang="en-US" altLang="en-US" sz="2400" dirty="0">
                <a:sym typeface="Symbol" panose="05050102010706020507" pitchFamily="18" charset="2"/>
              </a:rPr>
              <a:t> </a:t>
            </a:r>
            <a:r>
              <a:rPr lang="en-US" altLang="en-US" sz="2400" dirty="0" err="1">
                <a:solidFill>
                  <a:srgbClr val="2C1EDC"/>
                </a:solidFill>
                <a:sym typeface="Symbol" panose="05050102010706020507" pitchFamily="18" charset="2"/>
              </a:rPr>
              <a:t>T.width</a:t>
            </a:r>
            <a:r>
              <a:rPr lang="en-US" altLang="en-US" sz="2400" dirty="0">
                <a:sym typeface="Symbol" panose="05050102010706020507" pitchFamily="18" charset="2"/>
              </a:rPr>
              <a:t>.</a:t>
            </a:r>
          </a:p>
          <a:p>
            <a:pPr marL="231775" indent="-231775" eaLnBrk="1" hangingPunct="1">
              <a:lnSpc>
                <a:spcPct val="90000"/>
              </a:lnSpc>
            </a:pPr>
            <a:r>
              <a:rPr lang="en-US" altLang="en-US" sz="2800" dirty="0" err="1">
                <a:sym typeface="Symbol" panose="05050102010706020507" pitchFamily="18" charset="2"/>
              </a:rPr>
              <a:t>Khi</a:t>
            </a:r>
            <a:r>
              <a:rPr lang="en-US" altLang="en-US" sz="2800" dirty="0">
                <a:sym typeface="Symbol" panose="05050102010706020507" pitchFamily="18" charset="2"/>
              </a:rPr>
              <a:t> </a:t>
            </a:r>
            <a:r>
              <a:rPr lang="en-US" altLang="en-US" sz="2800" b="1" dirty="0">
                <a:sym typeface="Symbol" panose="05050102010706020507" pitchFamily="18" charset="2"/>
              </a:rPr>
              <a:t>D </a:t>
            </a:r>
            <a:r>
              <a:rPr lang="en-US" altLang="en-US" sz="2800" b="1" dirty="0">
                <a:solidFill>
                  <a:schemeClr val="accent2"/>
                </a:solidFill>
                <a:sym typeface="Symbol" panose="05050102010706020507" pitchFamily="18" charset="2"/>
              </a:rPr>
              <a:t>proc id ; </a:t>
            </a:r>
            <a:r>
              <a:rPr lang="en-US" altLang="en-US" sz="2800" b="1" dirty="0">
                <a:sym typeface="Symbol" panose="05050102010706020507" pitchFamily="18" charset="2"/>
              </a:rPr>
              <a:t>N D</a:t>
            </a:r>
            <a:r>
              <a:rPr lang="en-US" altLang="en-US" sz="2800" b="1" baseline="-25000" dirty="0">
                <a:sym typeface="Symbol" panose="05050102010706020507" pitchFamily="18" charset="2"/>
              </a:rPr>
              <a:t>1 </a:t>
            </a:r>
            <a:r>
              <a:rPr lang="en-US" altLang="en-US" sz="2800" b="1" dirty="0">
                <a:solidFill>
                  <a:schemeClr val="accent2"/>
                </a:solidFill>
                <a:sym typeface="Symbol" panose="05050102010706020507" pitchFamily="18" charset="2"/>
              </a:rPr>
              <a:t>;</a:t>
            </a:r>
            <a:r>
              <a:rPr lang="en-US" altLang="en-US" sz="2800" b="1" dirty="0">
                <a:sym typeface="Symbol" panose="05050102010706020507" pitchFamily="18" charset="2"/>
              </a:rPr>
              <a:t> S </a:t>
            </a:r>
            <a:r>
              <a:rPr lang="en-US" altLang="en-US" sz="2800" dirty="0" err="1">
                <a:sym typeface="Symbol" panose="05050102010706020507" pitchFamily="18" charset="2"/>
              </a:rPr>
              <a:t>diễn</a:t>
            </a:r>
            <a:r>
              <a:rPr lang="en-US" altLang="en-US" sz="2800" dirty="0">
                <a:sym typeface="Symbol" panose="05050102010706020507" pitchFamily="18" charset="2"/>
              </a:rPr>
              <a:t> </a:t>
            </a:r>
            <a:r>
              <a:rPr lang="en-US" altLang="en-US" sz="2800" dirty="0" err="1">
                <a:sym typeface="Symbol" panose="05050102010706020507" pitchFamily="18" charset="2"/>
              </a:rPr>
              <a:t>ra</a:t>
            </a:r>
            <a:r>
              <a:rPr lang="en-US" altLang="en-US" sz="2800" dirty="0">
                <a:sym typeface="Symbol" panose="05050102010706020507" pitchFamily="18" charset="2"/>
              </a:rPr>
              <a:t> </a:t>
            </a:r>
          </a:p>
          <a:p>
            <a:pPr marL="914400" lvl="1" indent="-334963" eaLnBrk="1" hangingPunct="1">
              <a:lnSpc>
                <a:spcPct val="90000"/>
              </a:lnSpc>
            </a:pPr>
            <a:r>
              <a:rPr lang="en-US" altLang="en-US" sz="2400" dirty="0" err="1">
                <a:sym typeface="Symbol" panose="05050102010706020507" pitchFamily="18" charset="2"/>
              </a:rPr>
              <a:t>Kích</a:t>
            </a:r>
            <a:r>
              <a:rPr lang="en-US" altLang="en-US" sz="2400" dirty="0">
                <a:sym typeface="Symbol" panose="05050102010706020507" pitchFamily="18" charset="2"/>
              </a:rPr>
              <a:t> </a:t>
            </a:r>
            <a:r>
              <a:rPr lang="en-US" altLang="en-US" sz="2400" dirty="0" err="1">
                <a:sym typeface="Symbol" panose="05050102010706020507" pitchFamily="18" charset="2"/>
              </a:rPr>
              <a:t>thước</a:t>
            </a:r>
            <a:r>
              <a:rPr lang="en-US" altLang="en-US" sz="2400" dirty="0">
                <a:sym typeface="Symbol" panose="05050102010706020507" pitchFamily="18" charset="2"/>
              </a:rPr>
              <a:t> </a:t>
            </a:r>
            <a:r>
              <a:rPr lang="en-US" altLang="en-US" sz="2400" dirty="0" err="1">
                <a:sym typeface="Symbol" panose="05050102010706020507" pitchFamily="18" charset="2"/>
              </a:rPr>
              <a:t>của</a:t>
            </a:r>
            <a:r>
              <a:rPr lang="en-US" altLang="en-US" sz="2400" dirty="0">
                <a:sym typeface="Symbol" panose="05050102010706020507" pitchFamily="18" charset="2"/>
              </a:rPr>
              <a:t> </a:t>
            </a:r>
            <a:r>
              <a:rPr lang="en-US" altLang="en-US" sz="2400" dirty="0" err="1">
                <a:sym typeface="Symbol" panose="05050102010706020507" pitchFamily="18" charset="2"/>
              </a:rPr>
              <a:t>tất</a:t>
            </a:r>
            <a:r>
              <a:rPr lang="en-US" altLang="en-US" sz="2400" dirty="0">
                <a:sym typeface="Symbol" panose="05050102010706020507" pitchFamily="18" charset="2"/>
              </a:rPr>
              <a:t> </a:t>
            </a:r>
            <a:r>
              <a:rPr lang="en-US" altLang="en-US" sz="2400" dirty="0" err="1">
                <a:sym typeface="Symbol" panose="05050102010706020507" pitchFamily="18" charset="2"/>
              </a:rPr>
              <a:t>cả</a:t>
            </a:r>
            <a:r>
              <a:rPr lang="en-US" altLang="en-US" sz="2400" dirty="0">
                <a:sym typeface="Symbol" panose="05050102010706020507" pitchFamily="18" charset="2"/>
              </a:rPr>
              <a:t> </a:t>
            </a:r>
            <a:r>
              <a:rPr lang="en-US" altLang="en-US" sz="2400" dirty="0" err="1">
                <a:sym typeface="Symbol" panose="05050102010706020507" pitchFamily="18" charset="2"/>
              </a:rPr>
              <a:t>các</a:t>
            </a:r>
            <a:r>
              <a:rPr lang="en-US" altLang="en-US" sz="2400" dirty="0">
                <a:sym typeface="Symbol" panose="05050102010706020507" pitchFamily="18" charset="2"/>
              </a:rPr>
              <a:t> </a:t>
            </a:r>
            <a:r>
              <a:rPr lang="en-US" altLang="en-US" sz="2400" dirty="0" err="1">
                <a:sym typeface="Symbol" panose="05050102010706020507" pitchFamily="18" charset="2"/>
              </a:rPr>
              <a:t>đối</a:t>
            </a:r>
            <a:r>
              <a:rPr lang="en-US" altLang="en-US" sz="2400" dirty="0">
                <a:sym typeface="Symbol" panose="05050102010706020507" pitchFamily="18" charset="2"/>
              </a:rPr>
              <a:t> </a:t>
            </a:r>
            <a:r>
              <a:rPr lang="en-US" altLang="en-US" sz="2400" dirty="0" err="1">
                <a:sym typeface="Symbol" panose="05050102010706020507" pitchFamily="18" charset="2"/>
              </a:rPr>
              <a:t>tượng</a:t>
            </a:r>
            <a:r>
              <a:rPr lang="en-US" altLang="en-US" sz="2400" dirty="0">
                <a:sym typeface="Symbol" panose="05050102010706020507" pitchFamily="18" charset="2"/>
              </a:rPr>
              <a:t> </a:t>
            </a:r>
            <a:r>
              <a:rPr lang="en-US" altLang="en-US" sz="2400" dirty="0" err="1">
                <a:sym typeface="Symbol" panose="05050102010706020507" pitchFamily="18" charset="2"/>
              </a:rPr>
              <a:t>dữ</a:t>
            </a:r>
            <a:r>
              <a:rPr lang="en-US" altLang="en-US" sz="2400" dirty="0">
                <a:sym typeface="Symbol" panose="05050102010706020507" pitchFamily="18" charset="2"/>
              </a:rPr>
              <a:t> </a:t>
            </a:r>
            <a:r>
              <a:rPr lang="en-US" altLang="en-US" sz="2400" dirty="0" err="1">
                <a:sym typeface="Symbol" panose="05050102010706020507" pitchFamily="18" charset="2"/>
              </a:rPr>
              <a:t>liệu</a:t>
            </a:r>
            <a:r>
              <a:rPr lang="en-US" altLang="en-US" sz="2400" dirty="0">
                <a:sym typeface="Symbol" panose="05050102010706020507" pitchFamily="18" charset="2"/>
              </a:rPr>
              <a:t> </a:t>
            </a:r>
            <a:r>
              <a:rPr lang="en-US" altLang="en-US" sz="2400" dirty="0" err="1">
                <a:sym typeface="Symbol" panose="05050102010706020507" pitchFamily="18" charset="2"/>
              </a:rPr>
              <a:t>khai</a:t>
            </a:r>
            <a:r>
              <a:rPr lang="en-US" altLang="en-US" sz="2400" dirty="0">
                <a:sym typeface="Symbol" panose="05050102010706020507" pitchFamily="18" charset="2"/>
              </a:rPr>
              <a:t> </a:t>
            </a:r>
            <a:r>
              <a:rPr lang="en-US" altLang="en-US" sz="2400" dirty="0" err="1">
                <a:sym typeface="Symbol" panose="05050102010706020507" pitchFamily="18" charset="2"/>
              </a:rPr>
              <a:t>báo</a:t>
            </a:r>
            <a:r>
              <a:rPr lang="en-US" altLang="en-US" sz="2400" dirty="0">
                <a:sym typeface="Symbol" panose="05050102010706020507" pitchFamily="18" charset="2"/>
              </a:rPr>
              <a:t> </a:t>
            </a:r>
            <a:r>
              <a:rPr lang="en-US" altLang="en-US" sz="2400" dirty="0" err="1">
                <a:sym typeface="Symbol" panose="05050102010706020507" pitchFamily="18" charset="2"/>
              </a:rPr>
              <a:t>trong</a:t>
            </a:r>
            <a:r>
              <a:rPr lang="en-US" altLang="en-US" sz="2400" dirty="0">
                <a:sym typeface="Symbol" panose="05050102010706020507" pitchFamily="18" charset="2"/>
              </a:rPr>
              <a:t> D</a:t>
            </a:r>
            <a:r>
              <a:rPr lang="en-US" altLang="en-US" sz="2400" baseline="-25000" dirty="0">
                <a:sym typeface="Symbol" panose="05050102010706020507" pitchFamily="18" charset="2"/>
              </a:rPr>
              <a:t>1</a:t>
            </a:r>
            <a:r>
              <a:rPr lang="en-US" altLang="en-US" sz="2400" dirty="0">
                <a:sym typeface="Symbol" panose="05050102010706020507" pitchFamily="18" charset="2"/>
              </a:rPr>
              <a:t> </a:t>
            </a:r>
            <a:r>
              <a:rPr lang="en-US" altLang="en-US" sz="2400" dirty="0" err="1">
                <a:sym typeface="Symbol" panose="05050102010706020507" pitchFamily="18" charset="2"/>
              </a:rPr>
              <a:t>sẽ</a:t>
            </a:r>
            <a:r>
              <a:rPr lang="en-US" altLang="en-US" sz="2400" dirty="0">
                <a:sym typeface="Symbol" panose="05050102010706020507" pitchFamily="18" charset="2"/>
              </a:rPr>
              <a:t> </a:t>
            </a:r>
            <a:r>
              <a:rPr lang="en-US" altLang="en-US" sz="2400" dirty="0" err="1">
                <a:sym typeface="Symbol" panose="05050102010706020507" pitchFamily="18" charset="2"/>
              </a:rPr>
              <a:t>nằm</a:t>
            </a:r>
            <a:r>
              <a:rPr lang="en-US" altLang="en-US" sz="2400" dirty="0">
                <a:sym typeface="Symbol" panose="05050102010706020507" pitchFamily="18" charset="2"/>
              </a:rPr>
              <a:t> </a:t>
            </a:r>
            <a:r>
              <a:rPr lang="en-US" altLang="en-US" sz="2400" dirty="0" err="1">
                <a:sym typeface="Symbol" panose="05050102010706020507" pitchFamily="18" charset="2"/>
              </a:rPr>
              <a:t>trên</a:t>
            </a:r>
            <a:r>
              <a:rPr lang="en-US" altLang="en-US" sz="2400" dirty="0">
                <a:sym typeface="Symbol" panose="05050102010706020507" pitchFamily="18" charset="2"/>
              </a:rPr>
              <a:t> </a:t>
            </a:r>
            <a:r>
              <a:rPr lang="en-US" altLang="en-US" sz="2400" dirty="0" err="1">
                <a:sym typeface="Symbol" panose="05050102010706020507" pitchFamily="18" charset="2"/>
              </a:rPr>
              <a:t>đỉnh</a:t>
            </a:r>
            <a:r>
              <a:rPr lang="en-US" altLang="en-US" sz="2400" dirty="0">
                <a:sym typeface="Symbol" panose="05050102010706020507" pitchFamily="18" charset="2"/>
              </a:rPr>
              <a:t> stack </a:t>
            </a:r>
            <a:r>
              <a:rPr lang="en-US" altLang="en-US" sz="2400" dirty="0">
                <a:solidFill>
                  <a:srgbClr val="2C1EDC"/>
                </a:solidFill>
                <a:sym typeface="Symbol" panose="05050102010706020507" pitchFamily="18" charset="2"/>
              </a:rPr>
              <a:t>offset</a:t>
            </a:r>
            <a:r>
              <a:rPr lang="en-US" altLang="en-US" sz="2400" dirty="0">
                <a:sym typeface="Symbol" panose="05050102010706020507" pitchFamily="18" charset="2"/>
              </a:rPr>
              <a:t>. </a:t>
            </a:r>
          </a:p>
          <a:p>
            <a:pPr marL="914400" lvl="1" indent="-334963" eaLnBrk="1" hangingPunct="1">
              <a:lnSpc>
                <a:spcPct val="90000"/>
              </a:lnSpc>
            </a:pPr>
            <a:r>
              <a:rPr lang="en-US" altLang="en-US" sz="2400" dirty="0" err="1">
                <a:sym typeface="Symbol" panose="05050102010706020507" pitchFamily="18" charset="2"/>
              </a:rPr>
              <a:t>Kích</a:t>
            </a:r>
            <a:r>
              <a:rPr lang="en-US" altLang="en-US" sz="2400" dirty="0">
                <a:sym typeface="Symbol" panose="05050102010706020507" pitchFamily="18" charset="2"/>
              </a:rPr>
              <a:t> </a:t>
            </a:r>
            <a:r>
              <a:rPr lang="en-US" altLang="en-US" sz="2400" dirty="0" err="1">
                <a:sym typeface="Symbol" panose="05050102010706020507" pitchFamily="18" charset="2"/>
              </a:rPr>
              <a:t>thước</a:t>
            </a:r>
            <a:r>
              <a:rPr lang="en-US" altLang="en-US" sz="2400" dirty="0">
                <a:sym typeface="Symbol" panose="05050102010706020507" pitchFamily="18" charset="2"/>
              </a:rPr>
              <a:t> </a:t>
            </a:r>
            <a:r>
              <a:rPr lang="en-US" altLang="en-US" sz="2400" dirty="0" err="1">
                <a:sym typeface="Symbol" panose="05050102010706020507" pitchFamily="18" charset="2"/>
              </a:rPr>
              <a:t>này</a:t>
            </a:r>
            <a:r>
              <a:rPr lang="en-US" altLang="en-US" sz="2400" dirty="0">
                <a:sym typeface="Symbol" panose="05050102010706020507" pitchFamily="18" charset="2"/>
              </a:rPr>
              <a:t> </a:t>
            </a:r>
            <a:r>
              <a:rPr lang="en-US" altLang="en-US" sz="2400" dirty="0" err="1">
                <a:sym typeface="Symbol" panose="05050102010706020507" pitchFamily="18" charset="2"/>
              </a:rPr>
              <a:t>được</a:t>
            </a:r>
            <a:r>
              <a:rPr lang="en-US" altLang="en-US" sz="2400" dirty="0">
                <a:sym typeface="Symbol" panose="05050102010706020507" pitchFamily="18" charset="2"/>
              </a:rPr>
              <a:t> </a:t>
            </a:r>
            <a:r>
              <a:rPr lang="en-US" altLang="en-US" sz="2400" dirty="0" err="1">
                <a:sym typeface="Symbol" panose="05050102010706020507" pitchFamily="18" charset="2"/>
              </a:rPr>
              <a:t>lưu</a:t>
            </a:r>
            <a:r>
              <a:rPr lang="en-US" altLang="en-US" sz="2400" dirty="0">
                <a:sym typeface="Symbol" panose="05050102010706020507" pitchFamily="18" charset="2"/>
              </a:rPr>
              <a:t> </a:t>
            </a:r>
            <a:r>
              <a:rPr lang="en-US" altLang="en-US" sz="2400" dirty="0" err="1">
                <a:sym typeface="Symbol" panose="05050102010706020507" pitchFamily="18" charset="2"/>
              </a:rPr>
              <a:t>trữ</a:t>
            </a:r>
            <a:r>
              <a:rPr lang="en-US" altLang="en-US" sz="2400" dirty="0">
                <a:sym typeface="Symbol" panose="05050102010706020507" pitchFamily="18" charset="2"/>
              </a:rPr>
              <a:t> </a:t>
            </a:r>
            <a:r>
              <a:rPr lang="en-US" altLang="en-US" sz="2400" dirty="0" err="1">
                <a:sym typeface="Symbol" panose="05050102010706020507" pitchFamily="18" charset="2"/>
              </a:rPr>
              <a:t>bằng</a:t>
            </a:r>
            <a:r>
              <a:rPr lang="en-US" altLang="en-US" sz="2400" dirty="0">
                <a:sym typeface="Symbol" panose="05050102010706020507" pitchFamily="18" charset="2"/>
              </a:rPr>
              <a:t> </a:t>
            </a:r>
            <a:r>
              <a:rPr lang="en-US" altLang="en-US" sz="2400" dirty="0" err="1">
                <a:sym typeface="Symbol" panose="05050102010706020507" pitchFamily="18" charset="2"/>
              </a:rPr>
              <a:t>cách</a:t>
            </a:r>
            <a:r>
              <a:rPr lang="en-US" altLang="en-US" sz="2400" dirty="0">
                <a:sym typeface="Symbol" panose="05050102010706020507" pitchFamily="18" charset="2"/>
              </a:rPr>
              <a:t> </a:t>
            </a:r>
            <a:r>
              <a:rPr lang="en-US" altLang="en-US" sz="2400" dirty="0" err="1">
                <a:sym typeface="Symbol" panose="05050102010706020507" pitchFamily="18" charset="2"/>
              </a:rPr>
              <a:t>dùng</a:t>
            </a:r>
            <a:r>
              <a:rPr lang="en-US" altLang="en-US" sz="2400" dirty="0">
                <a:sym typeface="Symbol" panose="05050102010706020507" pitchFamily="18" charset="2"/>
              </a:rPr>
              <a:t> </a:t>
            </a:r>
            <a:r>
              <a:rPr lang="en-US" altLang="en-US" sz="2400" dirty="0" err="1">
                <a:sym typeface="Symbol" panose="05050102010706020507" pitchFamily="18" charset="2"/>
              </a:rPr>
              <a:t>Addwidth</a:t>
            </a:r>
            <a:r>
              <a:rPr lang="en-US" altLang="en-US" sz="2400" dirty="0">
                <a:sym typeface="Symbol" panose="05050102010706020507" pitchFamily="18" charset="2"/>
              </a:rPr>
              <a:t>(), </a:t>
            </a:r>
          </a:p>
          <a:p>
            <a:pPr marL="914400" lvl="1" indent="-334963" eaLnBrk="1" hangingPunct="1">
              <a:lnSpc>
                <a:spcPct val="90000"/>
              </a:lnSpc>
            </a:pPr>
            <a:r>
              <a:rPr lang="en-US" altLang="en-US" sz="2400" dirty="0" err="1">
                <a:sym typeface="Symbol" panose="05050102010706020507" pitchFamily="18" charset="2"/>
              </a:rPr>
              <a:t>Các</a:t>
            </a:r>
            <a:r>
              <a:rPr lang="en-US" altLang="en-US" sz="2400" dirty="0">
                <a:sym typeface="Symbol" panose="05050102010706020507" pitchFamily="18" charset="2"/>
              </a:rPr>
              <a:t> stack </a:t>
            </a:r>
            <a:r>
              <a:rPr lang="en-US" altLang="en-US" sz="2400" dirty="0" err="1">
                <a:solidFill>
                  <a:srgbClr val="2C1EDC"/>
                </a:solidFill>
                <a:sym typeface="Symbol" panose="05050102010706020507" pitchFamily="18" charset="2"/>
              </a:rPr>
              <a:t>tblptr</a:t>
            </a:r>
            <a:r>
              <a:rPr lang="en-US" altLang="en-US" sz="2400" dirty="0">
                <a:sym typeface="Symbol" panose="05050102010706020507" pitchFamily="18" charset="2"/>
              </a:rPr>
              <a:t> </a:t>
            </a:r>
            <a:r>
              <a:rPr lang="en-US" altLang="en-US" sz="2400" dirty="0" err="1">
                <a:sym typeface="Symbol" panose="05050102010706020507" pitchFamily="18" charset="2"/>
              </a:rPr>
              <a:t>và</a:t>
            </a:r>
            <a:r>
              <a:rPr lang="en-US" altLang="en-US" sz="2400" dirty="0">
                <a:sym typeface="Symbol" panose="05050102010706020507" pitchFamily="18" charset="2"/>
              </a:rPr>
              <a:t> </a:t>
            </a:r>
            <a:r>
              <a:rPr lang="en-US" altLang="en-US" sz="2400" dirty="0">
                <a:solidFill>
                  <a:srgbClr val="2C1EDC"/>
                </a:solidFill>
                <a:sym typeface="Symbol" panose="05050102010706020507" pitchFamily="18" charset="2"/>
              </a:rPr>
              <a:t>offset</a:t>
            </a:r>
            <a:r>
              <a:rPr lang="en-US" altLang="en-US" sz="2400" dirty="0">
                <a:sym typeface="Symbol" panose="05050102010706020507" pitchFamily="18" charset="2"/>
              </a:rPr>
              <a:t> </a:t>
            </a:r>
            <a:r>
              <a:rPr lang="en-US" altLang="en-US" sz="2400" dirty="0" err="1">
                <a:sym typeface="Symbol" panose="05050102010706020507" pitchFamily="18" charset="2"/>
              </a:rPr>
              <a:t>bị</a:t>
            </a:r>
            <a:r>
              <a:rPr lang="en-US" altLang="en-US" sz="2400" dirty="0">
                <a:sym typeface="Symbol" panose="05050102010706020507" pitchFamily="18" charset="2"/>
              </a:rPr>
              <a:t> </a:t>
            </a:r>
            <a:r>
              <a:rPr lang="en-US" altLang="en-US" sz="2400" dirty="0" err="1">
                <a:sym typeface="Symbol" panose="05050102010706020507" pitchFamily="18" charset="2"/>
              </a:rPr>
              <a:t>lấy</a:t>
            </a:r>
            <a:r>
              <a:rPr lang="en-US" altLang="en-US" sz="2400" dirty="0">
                <a:sym typeface="Symbol" panose="05050102010706020507" pitchFamily="18" charset="2"/>
              </a:rPr>
              <a:t> </a:t>
            </a:r>
            <a:r>
              <a:rPr lang="en-US" altLang="en-US" sz="2400" dirty="0" err="1">
                <a:sym typeface="Symbol" panose="05050102010706020507" pitchFamily="18" charset="2"/>
              </a:rPr>
              <a:t>mất</a:t>
            </a:r>
            <a:r>
              <a:rPr lang="en-US" altLang="en-US" sz="2400" dirty="0">
                <a:sym typeface="Symbol" panose="05050102010706020507" pitchFamily="18" charset="2"/>
              </a:rPr>
              <a:t> </a:t>
            </a:r>
            <a:r>
              <a:rPr lang="en-US" altLang="en-US" sz="2400" dirty="0" err="1">
                <a:sym typeface="Symbol" panose="05050102010706020507" pitchFamily="18" charset="2"/>
              </a:rPr>
              <a:t>phần</a:t>
            </a:r>
            <a:r>
              <a:rPr lang="en-US" altLang="en-US" sz="2400" dirty="0">
                <a:sym typeface="Symbol" panose="05050102010706020507" pitchFamily="18" charset="2"/>
              </a:rPr>
              <a:t> </a:t>
            </a:r>
            <a:r>
              <a:rPr lang="en-US" altLang="en-US" sz="2400" dirty="0" err="1">
                <a:sym typeface="Symbol" panose="05050102010706020507" pitchFamily="18" charset="2"/>
              </a:rPr>
              <a:t>tử</a:t>
            </a:r>
            <a:r>
              <a:rPr lang="en-US" altLang="en-US" sz="2400" dirty="0">
                <a:sym typeface="Symbol" panose="05050102010706020507" pitchFamily="18" charset="2"/>
              </a:rPr>
              <a:t> </a:t>
            </a:r>
            <a:r>
              <a:rPr lang="en-US" altLang="en-US" sz="2400" dirty="0" err="1">
                <a:sym typeface="Symbol" panose="05050102010706020507" pitchFamily="18" charset="2"/>
              </a:rPr>
              <a:t>trên</a:t>
            </a:r>
            <a:r>
              <a:rPr lang="en-US" altLang="en-US" sz="2400" dirty="0">
                <a:sym typeface="Symbol" panose="05050102010706020507" pitchFamily="18" charset="2"/>
              </a:rPr>
              <a:t> </a:t>
            </a:r>
            <a:r>
              <a:rPr lang="en-US" altLang="en-US" sz="2400" dirty="0" err="1">
                <a:sym typeface="Symbol" panose="05050102010706020507" pitchFamily="18" charset="2"/>
              </a:rPr>
              <a:t>cùng</a:t>
            </a:r>
            <a:r>
              <a:rPr lang="en-US" altLang="en-US" sz="2400" dirty="0">
                <a:sym typeface="Symbol" panose="05050102010706020507" pitchFamily="18" charset="2"/>
              </a:rPr>
              <a:t> (</a:t>
            </a:r>
            <a:r>
              <a:rPr lang="en-US" altLang="en-US" sz="2400" dirty="0">
                <a:solidFill>
                  <a:srgbClr val="2C1EDC"/>
                </a:solidFill>
                <a:sym typeface="Symbol" panose="05050102010706020507" pitchFamily="18" charset="2"/>
              </a:rPr>
              <a:t>pop()</a:t>
            </a:r>
            <a:r>
              <a:rPr lang="en-US" altLang="en-US" sz="2400" dirty="0">
                <a:sym typeface="Symbol" panose="05050102010706020507" pitchFamily="18" charset="2"/>
              </a:rPr>
              <a:t> ) </a:t>
            </a:r>
          </a:p>
          <a:p>
            <a:pPr marL="914400" lvl="1" indent="-334963" eaLnBrk="1" hangingPunct="1">
              <a:lnSpc>
                <a:spcPct val="90000"/>
              </a:lnSpc>
            </a:pPr>
            <a:r>
              <a:rPr lang="en-US" altLang="en-US" sz="2400" dirty="0">
                <a:sym typeface="Symbol" panose="05050102010706020507" pitchFamily="18" charset="2"/>
              </a:rPr>
              <a:t>Thao </a:t>
            </a:r>
            <a:r>
              <a:rPr lang="en-US" altLang="en-US" sz="2400" dirty="0" err="1">
                <a:sym typeface="Symbol" panose="05050102010706020507" pitchFamily="18" charset="2"/>
              </a:rPr>
              <a:t>tác</a:t>
            </a:r>
            <a:r>
              <a:rPr lang="en-US" altLang="en-US" sz="2400" dirty="0">
                <a:sym typeface="Symbol" panose="05050102010706020507" pitchFamily="18" charset="2"/>
              </a:rPr>
              <a:t> </a:t>
            </a:r>
            <a:r>
              <a:rPr lang="en-US" altLang="en-US" sz="2400" dirty="0" err="1">
                <a:sym typeface="Symbol" panose="05050102010706020507" pitchFamily="18" charset="2"/>
              </a:rPr>
              <a:t>thực</a:t>
            </a:r>
            <a:r>
              <a:rPr lang="en-US" altLang="en-US" sz="2400" dirty="0">
                <a:sym typeface="Symbol" panose="05050102010706020507" pitchFamily="18" charset="2"/>
              </a:rPr>
              <a:t> </a:t>
            </a:r>
            <a:r>
              <a:rPr lang="en-US" altLang="en-US" sz="2400" dirty="0" err="1">
                <a:sym typeface="Symbol" panose="05050102010706020507" pitchFamily="18" charset="2"/>
              </a:rPr>
              <a:t>hiện</a:t>
            </a:r>
            <a:r>
              <a:rPr lang="en-US" altLang="en-US" sz="2400" dirty="0">
                <a:sym typeface="Symbol" panose="05050102010706020507" pitchFamily="18" charset="2"/>
              </a:rPr>
              <a:t> </a:t>
            </a:r>
            <a:r>
              <a:rPr lang="en-US" altLang="en-US" sz="2400" dirty="0" err="1">
                <a:sym typeface="Symbol" panose="05050102010706020507" pitchFamily="18" charset="2"/>
              </a:rPr>
              <a:t>trên</a:t>
            </a:r>
            <a:r>
              <a:rPr lang="en-US" altLang="en-US" sz="2400" dirty="0">
                <a:sym typeface="Symbol" panose="05050102010706020507" pitchFamily="18" charset="2"/>
              </a:rPr>
              <a:t> </a:t>
            </a:r>
            <a:r>
              <a:rPr lang="en-US" altLang="en-US" sz="2400" dirty="0" err="1">
                <a:sym typeface="Symbol" panose="05050102010706020507" pitchFamily="18" charset="2"/>
              </a:rPr>
              <a:t>các</a:t>
            </a:r>
            <a:r>
              <a:rPr lang="en-US" altLang="en-US" sz="2400" dirty="0">
                <a:sym typeface="Symbol" panose="05050102010706020507" pitchFamily="18" charset="2"/>
              </a:rPr>
              <a:t> </a:t>
            </a:r>
            <a:r>
              <a:rPr lang="en-US" altLang="en-US" sz="2400" dirty="0" err="1">
                <a:sym typeface="Symbol" panose="05050102010706020507" pitchFamily="18" charset="2"/>
              </a:rPr>
              <a:t>khai</a:t>
            </a:r>
            <a:r>
              <a:rPr lang="en-US" altLang="en-US" sz="2400" dirty="0">
                <a:sym typeface="Symbol" panose="05050102010706020507" pitchFamily="18" charset="2"/>
              </a:rPr>
              <a:t> </a:t>
            </a:r>
            <a:r>
              <a:rPr lang="en-US" altLang="en-US" sz="2400" dirty="0" err="1">
                <a:sym typeface="Symbol" panose="05050102010706020507" pitchFamily="18" charset="2"/>
              </a:rPr>
              <a:t>báo</a:t>
            </a:r>
            <a:r>
              <a:rPr lang="en-US" altLang="en-US" sz="2400" dirty="0">
                <a:sym typeface="Symbol" panose="05050102010706020507" pitchFamily="18" charset="2"/>
              </a:rPr>
              <a:t> </a:t>
            </a:r>
            <a:r>
              <a:rPr lang="en-US" altLang="en-US" sz="2400" dirty="0" err="1">
                <a:sym typeface="Symbol" panose="05050102010706020507" pitchFamily="18" charset="2"/>
              </a:rPr>
              <a:t>của</a:t>
            </a:r>
            <a:r>
              <a:rPr lang="en-US" altLang="en-US" sz="2400" dirty="0">
                <a:sym typeface="Symbol" panose="05050102010706020507" pitchFamily="18" charset="2"/>
              </a:rPr>
              <a:t> </a:t>
            </a:r>
            <a:r>
              <a:rPr lang="en-US" altLang="en-US" sz="2400" dirty="0" err="1">
                <a:sym typeface="Symbol" panose="05050102010706020507" pitchFamily="18" charset="2"/>
              </a:rPr>
              <a:t>chương</a:t>
            </a:r>
            <a:r>
              <a:rPr lang="en-US" altLang="en-US" sz="2400" dirty="0">
                <a:sym typeface="Symbol" panose="05050102010706020507" pitchFamily="18" charset="2"/>
              </a:rPr>
              <a:t> </a:t>
            </a:r>
            <a:r>
              <a:rPr lang="en-US" altLang="en-US" sz="2400" dirty="0" err="1">
                <a:sym typeface="Symbol" panose="05050102010706020507" pitchFamily="18" charset="2"/>
              </a:rPr>
              <a:t>trình</a:t>
            </a:r>
            <a:r>
              <a:rPr lang="en-US" altLang="en-US" sz="2400" dirty="0">
                <a:sym typeface="Symbol" panose="05050102010706020507" pitchFamily="18" charset="2"/>
              </a:rPr>
              <a:t> con.</a:t>
            </a:r>
          </a:p>
        </p:txBody>
      </p:sp>
      <p:sp>
        <p:nvSpPr>
          <p:cNvPr id="51205" name="Text Box 5"/>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3. Chương trình dịch định hướng cú pháp</a:t>
            </a:r>
          </a:p>
        </p:txBody>
      </p:sp>
    </p:spTree>
    <p:extLst>
      <p:ext uri="{BB962C8B-B14F-4D97-AF65-F5344CB8AC3E}">
        <p14:creationId xmlns:p14="http://schemas.microsoft.com/office/powerpoint/2010/main" val="807140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8A7ADCF1-1D73-4B58-9053-4F1420C5E810}" type="slidenum">
              <a:rPr lang="en-US" altLang="en-US" sz="1400" b="0"/>
              <a:pPr/>
              <a:t>45</a:t>
            </a:fld>
            <a:endParaRPr lang="en-US" altLang="en-US" sz="1400" b="0"/>
          </a:p>
        </p:txBody>
      </p:sp>
      <p:sp>
        <p:nvSpPr>
          <p:cNvPr id="51203" name="Rectangle 2"/>
          <p:cNvSpPr>
            <a:spLocks noGrp="1" noChangeArrowheads="1"/>
          </p:cNvSpPr>
          <p:nvPr>
            <p:ph type="title"/>
          </p:nvPr>
        </p:nvSpPr>
        <p:spPr/>
        <p:txBody>
          <a:bodyPr/>
          <a:lstStyle/>
          <a:p>
            <a:pPr eaLnBrk="1" hangingPunct="1"/>
            <a:r>
              <a:rPr lang="fr-FR" altLang="en-US" dirty="0" err="1"/>
              <a:t>Ví</a:t>
            </a:r>
            <a:r>
              <a:rPr lang="fr-FR" altLang="en-US" dirty="0"/>
              <a:t> </a:t>
            </a:r>
            <a:r>
              <a:rPr lang="fr-FR" altLang="en-US" dirty="0" err="1"/>
              <a:t>dụ</a:t>
            </a:r>
            <a:endParaRPr lang="fr-FR" altLang="en-US" dirty="0"/>
          </a:p>
        </p:txBody>
      </p:sp>
      <p:sp>
        <p:nvSpPr>
          <p:cNvPr id="51204" name="Rectangle 3"/>
          <p:cNvSpPr>
            <a:spLocks noGrp="1" noChangeArrowheads="1"/>
          </p:cNvSpPr>
          <p:nvPr>
            <p:ph type="body" sz="half" idx="1"/>
          </p:nvPr>
        </p:nvSpPr>
        <p:spPr>
          <a:xfrm>
            <a:off x="336884" y="940636"/>
            <a:ext cx="2667000" cy="5565776"/>
          </a:xfrm>
          <a:ln>
            <a:solidFill>
              <a:srgbClr val="3539EB"/>
            </a:solidFill>
          </a:ln>
        </p:spPr>
        <p:txBody>
          <a:bodyPr/>
          <a:lstStyle/>
          <a:p>
            <a:pPr marL="231775" indent="-231775" eaLnBrk="1" hangingPunct="1">
              <a:lnSpc>
                <a:spcPct val="105000"/>
              </a:lnSpc>
              <a:buFontTx/>
              <a:buNone/>
            </a:pPr>
            <a:r>
              <a:rPr lang="en-US" altLang="en-US" sz="2800" dirty="0"/>
              <a:t>X: float;</a:t>
            </a:r>
          </a:p>
          <a:p>
            <a:pPr marL="231775" indent="-231775" eaLnBrk="1" hangingPunct="1">
              <a:lnSpc>
                <a:spcPct val="105000"/>
              </a:lnSpc>
              <a:buFontTx/>
              <a:buNone/>
            </a:pPr>
            <a:r>
              <a:rPr lang="en-US" altLang="en-US" sz="2800" dirty="0"/>
              <a:t>Y: Int;</a:t>
            </a:r>
          </a:p>
          <a:p>
            <a:pPr marL="231775" indent="-231775" eaLnBrk="1" hangingPunct="1">
              <a:lnSpc>
                <a:spcPct val="105000"/>
              </a:lnSpc>
              <a:buFontTx/>
              <a:buNone/>
            </a:pPr>
            <a:r>
              <a:rPr lang="en-US" altLang="en-US" sz="2800" dirty="0"/>
              <a:t>Proc A;</a:t>
            </a:r>
          </a:p>
          <a:p>
            <a:pPr marL="231775" indent="-231775" eaLnBrk="1" hangingPunct="1">
              <a:lnSpc>
                <a:spcPct val="105000"/>
              </a:lnSpc>
              <a:buFontTx/>
              <a:buNone/>
            </a:pPr>
            <a:r>
              <a:rPr lang="en-US" altLang="en-US" sz="2800" dirty="0"/>
              <a:t>     X:int;</a:t>
            </a:r>
          </a:p>
          <a:p>
            <a:pPr marL="231775" indent="-231775" eaLnBrk="1" hangingPunct="1">
              <a:lnSpc>
                <a:spcPct val="105000"/>
              </a:lnSpc>
              <a:buFontTx/>
              <a:buNone/>
            </a:pPr>
            <a:r>
              <a:rPr lang="en-US" altLang="en-US" sz="2800" dirty="0"/>
              <a:t>	   N : float;</a:t>
            </a:r>
          </a:p>
          <a:p>
            <a:pPr marL="231775" indent="-231775" eaLnBrk="1" hangingPunct="1">
              <a:lnSpc>
                <a:spcPct val="105000"/>
              </a:lnSpc>
              <a:buFontTx/>
              <a:buNone/>
            </a:pPr>
            <a:r>
              <a:rPr lang="en-US" altLang="en-US" sz="2800" dirty="0"/>
              <a:t>	   Proc B;</a:t>
            </a:r>
          </a:p>
          <a:p>
            <a:pPr marL="231775" indent="-231775" eaLnBrk="1" hangingPunct="1">
              <a:lnSpc>
                <a:spcPct val="105000"/>
              </a:lnSpc>
              <a:buFontTx/>
              <a:buNone/>
            </a:pPr>
            <a:r>
              <a:rPr lang="en-US" altLang="en-US" sz="2800" dirty="0"/>
              <a:t>	       X:int;</a:t>
            </a:r>
          </a:p>
          <a:p>
            <a:pPr marL="231775" indent="-231775" eaLnBrk="1" hangingPunct="1">
              <a:lnSpc>
                <a:spcPct val="105000"/>
              </a:lnSpc>
              <a:buFontTx/>
              <a:buNone/>
            </a:pPr>
            <a:r>
              <a:rPr lang="en-US" altLang="en-US" sz="2800" dirty="0"/>
              <a:t>	       S</a:t>
            </a:r>
            <a:r>
              <a:rPr lang="en-US" altLang="en-US" sz="2800" baseline="-25000" dirty="0"/>
              <a:t>B</a:t>
            </a:r>
          </a:p>
          <a:p>
            <a:pPr marL="231775" indent="-231775" eaLnBrk="1" hangingPunct="1">
              <a:lnSpc>
                <a:spcPct val="105000"/>
              </a:lnSpc>
              <a:buFontTx/>
              <a:buNone/>
            </a:pPr>
            <a:r>
              <a:rPr lang="en-US" altLang="en-US" sz="2800" dirty="0"/>
              <a:t>      S</a:t>
            </a:r>
            <a:r>
              <a:rPr lang="en-US" altLang="en-US" sz="2800" baseline="-25000" dirty="0"/>
              <a:t>A</a:t>
            </a:r>
          </a:p>
          <a:p>
            <a:pPr marL="231775" indent="-231775" eaLnBrk="1" hangingPunct="1">
              <a:lnSpc>
                <a:spcPct val="105000"/>
              </a:lnSpc>
              <a:buFontTx/>
              <a:buNone/>
            </a:pPr>
            <a:r>
              <a:rPr lang="en-US" altLang="en-US" sz="2800" dirty="0"/>
              <a:t>S</a:t>
            </a:r>
          </a:p>
        </p:txBody>
      </p:sp>
      <p:sp>
        <p:nvSpPr>
          <p:cNvPr id="51205" name="Text Box 5"/>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3. Chương trình dịch định hướng cú pháp</a:t>
            </a:r>
          </a:p>
        </p:txBody>
      </p:sp>
      <p:sp>
        <p:nvSpPr>
          <p:cNvPr id="6" name="Rectangle 3">
            <a:extLst>
              <a:ext uri="{FF2B5EF4-FFF2-40B4-BE49-F238E27FC236}">
                <a16:creationId xmlns:a16="http://schemas.microsoft.com/office/drawing/2014/main" id="{A75E3E44-84EF-4146-96E1-B62606D74023}"/>
              </a:ext>
            </a:extLst>
          </p:cNvPr>
          <p:cNvSpPr txBox="1">
            <a:spLocks noChangeArrowheads="1"/>
          </p:cNvSpPr>
          <p:nvPr/>
        </p:nvSpPr>
        <p:spPr bwMode="auto">
          <a:xfrm>
            <a:off x="3429000" y="2116364"/>
            <a:ext cx="4876800" cy="433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rgbClr val="270076"/>
                </a:solidFill>
                <a:latin typeface="+mn-lt"/>
                <a:ea typeface="+mn-ea"/>
                <a:cs typeface="+mn-cs"/>
              </a:defRPr>
            </a:lvl1pPr>
            <a:lvl2pPr marL="742950" indent="-285750" algn="l" rtl="0" fontAlgn="base">
              <a:spcBef>
                <a:spcPct val="20000"/>
              </a:spcBef>
              <a:spcAft>
                <a:spcPct val="0"/>
              </a:spcAft>
              <a:buChar char="–"/>
              <a:defRPr sz="2800" kern="1200">
                <a:solidFill>
                  <a:srgbClr val="270076"/>
                </a:solidFill>
                <a:latin typeface="+mn-lt"/>
                <a:ea typeface="+mn-ea"/>
                <a:cs typeface="+mn-cs"/>
              </a:defRPr>
            </a:lvl2pPr>
            <a:lvl3pPr marL="1143000" indent="-228600" algn="l" rtl="0" fontAlgn="base">
              <a:spcBef>
                <a:spcPct val="20000"/>
              </a:spcBef>
              <a:spcAft>
                <a:spcPct val="0"/>
              </a:spcAft>
              <a:buChar char="•"/>
              <a:defRPr sz="2400" kern="1200">
                <a:solidFill>
                  <a:srgbClr val="270076"/>
                </a:solidFill>
                <a:latin typeface="+mn-lt"/>
                <a:ea typeface="+mn-ea"/>
                <a:cs typeface="+mn-cs"/>
              </a:defRPr>
            </a:lvl3pPr>
            <a:lvl4pPr marL="1600200" indent="-228600" algn="l" rtl="0" fontAlgn="base">
              <a:spcBef>
                <a:spcPct val="20000"/>
              </a:spcBef>
              <a:spcAft>
                <a:spcPct val="0"/>
              </a:spcAft>
              <a:buChar char="–"/>
              <a:defRPr sz="2000" kern="1200">
                <a:solidFill>
                  <a:srgbClr val="270076"/>
                </a:solidFill>
                <a:latin typeface="+mn-lt"/>
                <a:ea typeface="+mn-ea"/>
                <a:cs typeface="+mn-cs"/>
              </a:defRPr>
            </a:lvl4pPr>
            <a:lvl5pPr marL="2057400" indent="-228600" algn="l" rtl="0" fontAlgn="base">
              <a:spcBef>
                <a:spcPct val="20000"/>
              </a:spcBef>
              <a:spcAft>
                <a:spcPct val="0"/>
              </a:spcAft>
              <a:buChar char="»"/>
              <a:defRPr sz="2000" kern="1200">
                <a:solidFill>
                  <a:srgbClr val="27007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Arial" panose="020B0604020202020204" pitchFamily="34" charset="0"/>
              <a:buChar char="-"/>
            </a:pPr>
            <a:r>
              <a:rPr lang="en-US" b="0" dirty="0" err="1"/>
              <a:t>Xây</a:t>
            </a:r>
            <a:r>
              <a:rPr lang="en-US" b="0" dirty="0"/>
              <a:t> </a:t>
            </a:r>
            <a:r>
              <a:rPr lang="en-US" b="0" dirty="0" err="1"/>
              <a:t>dựng</a:t>
            </a:r>
            <a:r>
              <a:rPr lang="en-US" b="0" dirty="0"/>
              <a:t> </a:t>
            </a:r>
            <a:r>
              <a:rPr lang="en-US" b="0" dirty="0" err="1"/>
              <a:t>cây</a:t>
            </a:r>
            <a:r>
              <a:rPr lang="en-US" b="0" dirty="0"/>
              <a:t> </a:t>
            </a:r>
            <a:r>
              <a:rPr lang="en-US" b="0" dirty="0" err="1"/>
              <a:t>phân</a:t>
            </a:r>
            <a:r>
              <a:rPr lang="en-US" b="0" dirty="0"/>
              <a:t> </a:t>
            </a:r>
            <a:r>
              <a:rPr lang="en-US" b="0" dirty="0" err="1"/>
              <a:t>tích</a:t>
            </a:r>
            <a:r>
              <a:rPr lang="en-US" b="0" dirty="0"/>
              <a:t> </a:t>
            </a:r>
            <a:r>
              <a:rPr lang="en-US" b="0" dirty="0" err="1"/>
              <a:t>có</a:t>
            </a:r>
            <a:r>
              <a:rPr lang="en-US" b="0" dirty="0"/>
              <a:t> </a:t>
            </a:r>
            <a:r>
              <a:rPr lang="en-US" b="0" dirty="0" err="1"/>
              <a:t>chú</a:t>
            </a:r>
            <a:r>
              <a:rPr lang="en-US" b="0" dirty="0"/>
              <a:t> </a:t>
            </a:r>
            <a:r>
              <a:rPr lang="en-US" b="0" dirty="0" err="1"/>
              <a:t>giải</a:t>
            </a:r>
            <a:r>
              <a:rPr lang="en-US" b="0" dirty="0"/>
              <a:t> </a:t>
            </a:r>
            <a:r>
              <a:rPr lang="en-US" b="0" dirty="0" err="1"/>
              <a:t>cho</a:t>
            </a:r>
            <a:r>
              <a:rPr lang="en-US" b="0" dirty="0"/>
              <a:t> </a:t>
            </a:r>
            <a:r>
              <a:rPr lang="en-US" b="0" dirty="0" err="1"/>
              <a:t>chương</a:t>
            </a:r>
            <a:r>
              <a:rPr lang="en-US" b="0" dirty="0"/>
              <a:t> </a:t>
            </a:r>
            <a:r>
              <a:rPr lang="en-US" b="0" dirty="0" err="1"/>
              <a:t>trình</a:t>
            </a:r>
            <a:r>
              <a:rPr lang="en-US" b="0" dirty="0"/>
              <a:t> </a:t>
            </a:r>
            <a:r>
              <a:rPr lang="en-US" b="0" dirty="0" err="1"/>
              <a:t>hình</a:t>
            </a:r>
            <a:r>
              <a:rPr lang="en-US" b="0" dirty="0"/>
              <a:t> </a:t>
            </a:r>
            <a:r>
              <a:rPr lang="en-US" b="0" dirty="0" err="1"/>
              <a:t>bên</a:t>
            </a:r>
            <a:r>
              <a:rPr lang="en-US" b="0" dirty="0"/>
              <a:t>.</a:t>
            </a:r>
          </a:p>
          <a:p>
            <a:pPr>
              <a:lnSpc>
                <a:spcPct val="150000"/>
              </a:lnSpc>
              <a:buFont typeface="Arial" panose="020B0604020202020204" pitchFamily="34" charset="0"/>
              <a:buChar char="-"/>
            </a:pPr>
            <a:r>
              <a:rPr lang="en-US" b="0" dirty="0" err="1"/>
              <a:t>Xây</a:t>
            </a:r>
            <a:r>
              <a:rPr lang="en-US" b="0" dirty="0"/>
              <a:t> </a:t>
            </a:r>
            <a:r>
              <a:rPr lang="en-US" b="0" dirty="0" err="1"/>
              <a:t>dựng</a:t>
            </a:r>
            <a:r>
              <a:rPr lang="en-US" b="0" dirty="0"/>
              <a:t> </a:t>
            </a:r>
            <a:r>
              <a:rPr lang="en-US" b="0" dirty="0" err="1"/>
              <a:t>bảng</a:t>
            </a:r>
            <a:r>
              <a:rPr lang="en-US" b="0" dirty="0"/>
              <a:t> </a:t>
            </a:r>
            <a:r>
              <a:rPr lang="en-US" b="0" dirty="0" err="1"/>
              <a:t>ký</a:t>
            </a:r>
            <a:r>
              <a:rPr lang="en-US" b="0" dirty="0"/>
              <a:t> </a:t>
            </a:r>
            <a:r>
              <a:rPr lang="en-US" b="0" dirty="0" err="1"/>
              <a:t>hiệu</a:t>
            </a:r>
            <a:r>
              <a:rPr lang="en-US" b="0" dirty="0"/>
              <a:t>, </a:t>
            </a:r>
            <a:r>
              <a:rPr lang="en-US" b="0" dirty="0" err="1"/>
              <a:t>có</a:t>
            </a:r>
            <a:r>
              <a:rPr lang="en-US" b="0" dirty="0"/>
              <a:t> </a:t>
            </a:r>
            <a:r>
              <a:rPr lang="en-US" b="0" dirty="0" err="1"/>
              <a:t>chỉ</a:t>
            </a:r>
            <a:r>
              <a:rPr lang="en-US" b="0" dirty="0"/>
              <a:t> </a:t>
            </a:r>
            <a:r>
              <a:rPr lang="en-US" b="0" dirty="0" err="1"/>
              <a:t>rõ</a:t>
            </a:r>
            <a:r>
              <a:rPr lang="en-US" b="0" dirty="0"/>
              <a:t> </a:t>
            </a:r>
            <a:r>
              <a:rPr lang="en-US" b="0" dirty="0" err="1"/>
              <a:t>vị</a:t>
            </a:r>
            <a:r>
              <a:rPr lang="en-US" b="0" dirty="0"/>
              <a:t> </a:t>
            </a:r>
            <a:r>
              <a:rPr lang="en-US" b="0" dirty="0" err="1"/>
              <a:t>trí</a:t>
            </a:r>
            <a:r>
              <a:rPr lang="en-US" b="0" dirty="0"/>
              <a:t> </a:t>
            </a:r>
            <a:r>
              <a:rPr lang="en-US" b="0" dirty="0" err="1"/>
              <a:t>các</a:t>
            </a:r>
            <a:r>
              <a:rPr lang="en-US" b="0" dirty="0"/>
              <a:t> </a:t>
            </a:r>
            <a:r>
              <a:rPr lang="en-US" b="0" dirty="0" err="1"/>
              <a:t>biến</a:t>
            </a:r>
            <a:endParaRPr lang="en-US" b="0" dirty="0"/>
          </a:p>
        </p:txBody>
      </p:sp>
      <p:sp>
        <p:nvSpPr>
          <p:cNvPr id="2" name="TextBox 1">
            <a:extLst>
              <a:ext uri="{FF2B5EF4-FFF2-40B4-BE49-F238E27FC236}">
                <a16:creationId xmlns:a16="http://schemas.microsoft.com/office/drawing/2014/main" id="{87F6AFF2-D68F-171D-FF14-3C1C641AA2D0}"/>
              </a:ext>
            </a:extLst>
          </p:cNvPr>
          <p:cNvSpPr txBox="1"/>
          <p:nvPr/>
        </p:nvSpPr>
        <p:spPr>
          <a:xfrm>
            <a:off x="3244518" y="956678"/>
            <a:ext cx="5791200" cy="965008"/>
          </a:xfrm>
          <a:prstGeom prst="rect">
            <a:avLst/>
          </a:prstGeom>
          <a:noFill/>
          <a:ln>
            <a:solidFill>
              <a:srgbClr val="B205FF"/>
            </a:solidFill>
          </a:ln>
        </p:spPr>
        <p:txBody>
          <a:bodyPr wrap="square" rtlCol="0">
            <a:spAutoFit/>
          </a:bodyPr>
          <a:lstStyle/>
          <a:p>
            <a:pPr marL="231775" indent="-231775" eaLnBrk="1" hangingPunct="1">
              <a:lnSpc>
                <a:spcPct val="105000"/>
              </a:lnSpc>
              <a:buFontTx/>
              <a:buNone/>
            </a:pPr>
            <a:r>
              <a:rPr lang="en-US" altLang="en-US" sz="2800" b="1" dirty="0">
                <a:solidFill>
                  <a:srgbClr val="3539EB"/>
                </a:solidFill>
              </a:rPr>
              <a:t>P </a:t>
            </a:r>
            <a:r>
              <a:rPr lang="en-US" altLang="en-US" sz="2800" b="1" dirty="0">
                <a:solidFill>
                  <a:srgbClr val="3539EB"/>
                </a:solidFill>
                <a:sym typeface="Symbol" panose="05050102010706020507" pitchFamily="18" charset="2"/>
              </a:rPr>
              <a:t> D ; S	</a:t>
            </a:r>
            <a:endParaRPr lang="en-US" altLang="en-US" sz="2800" dirty="0">
              <a:solidFill>
                <a:srgbClr val="3539EB"/>
              </a:solidFill>
              <a:sym typeface="Symbol" panose="05050102010706020507" pitchFamily="18" charset="2"/>
            </a:endParaRPr>
          </a:p>
          <a:p>
            <a:pPr marL="231775" indent="-231775" eaLnBrk="1" hangingPunct="1">
              <a:lnSpc>
                <a:spcPct val="105000"/>
              </a:lnSpc>
              <a:buFontTx/>
              <a:buNone/>
            </a:pPr>
            <a:r>
              <a:rPr lang="en-US" altLang="en-US" sz="2800" b="1" dirty="0">
                <a:solidFill>
                  <a:srgbClr val="3539EB"/>
                </a:solidFill>
                <a:sym typeface="Symbol" panose="05050102010706020507" pitchFamily="18" charset="2"/>
              </a:rPr>
              <a:t>D  D; D | id : T | proc id ; D</a:t>
            </a:r>
            <a:r>
              <a:rPr lang="en-US" altLang="en-US" sz="2800" b="1" baseline="-25000" dirty="0">
                <a:solidFill>
                  <a:srgbClr val="3539EB"/>
                </a:solidFill>
                <a:sym typeface="Symbol" panose="05050102010706020507" pitchFamily="18" charset="2"/>
              </a:rPr>
              <a:t>1</a:t>
            </a:r>
            <a:r>
              <a:rPr lang="en-US" altLang="en-US" sz="2800" b="1" dirty="0">
                <a:solidFill>
                  <a:srgbClr val="3539EB"/>
                </a:solidFill>
                <a:sym typeface="Symbol" panose="05050102010706020507" pitchFamily="18" charset="2"/>
              </a:rPr>
              <a:t> ; S</a:t>
            </a:r>
            <a:endParaRPr lang="en-US" sz="2800" dirty="0">
              <a:solidFill>
                <a:srgbClr val="3539EB"/>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0725D769-3A7B-44D9-8AD7-390709E62CE5}" type="slidenum">
              <a:rPr lang="en-US" altLang="en-US" sz="1400" b="0"/>
              <a:pPr/>
              <a:t>46</a:t>
            </a:fld>
            <a:endParaRPr lang="en-US" altLang="en-US" sz="1400" b="0"/>
          </a:p>
        </p:txBody>
      </p:sp>
      <p:sp>
        <p:nvSpPr>
          <p:cNvPr id="1745922" name="Rectangle 2"/>
          <p:cNvSpPr>
            <a:spLocks noChangeArrowheads="1"/>
          </p:cNvSpPr>
          <p:nvPr/>
        </p:nvSpPr>
        <p:spPr bwMode="auto">
          <a:xfrm>
            <a:off x="0" y="4114800"/>
            <a:ext cx="9144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52228" name="Rectangle 3"/>
          <p:cNvSpPr>
            <a:spLocks noGrp="1" noChangeArrowheads="1"/>
          </p:cNvSpPr>
          <p:nvPr>
            <p:ph type="title"/>
          </p:nvPr>
        </p:nvSpPr>
        <p:spPr>
          <a:xfrm>
            <a:off x="0" y="0"/>
            <a:ext cx="9144000" cy="800100"/>
          </a:xfrm>
        </p:spPr>
        <p:txBody>
          <a:bodyPr/>
          <a:lstStyle/>
          <a:p>
            <a:pPr eaLnBrk="1" hangingPunct="1"/>
            <a:r>
              <a:rPr lang="en-US" altLang="en-US" sz="4000"/>
              <a:t>Chương 4: Phân tích ngữ nghĩa</a:t>
            </a:r>
          </a:p>
        </p:txBody>
      </p:sp>
      <p:sp>
        <p:nvSpPr>
          <p:cNvPr id="52229" name="Rectangle 4"/>
          <p:cNvSpPr>
            <a:spLocks noGrp="1" noChangeArrowheads="1"/>
          </p:cNvSpPr>
          <p:nvPr>
            <p:ph type="body" idx="1"/>
          </p:nvPr>
        </p:nvSpPr>
        <p:spPr>
          <a:xfrm>
            <a:off x="266700" y="1219200"/>
            <a:ext cx="8724900" cy="5029200"/>
          </a:xfrm>
        </p:spPr>
        <p:txBody>
          <a:bodyPr/>
          <a:lstStyle/>
          <a:p>
            <a:pPr marL="609600" indent="-609600" eaLnBrk="1" hangingPunct="1">
              <a:spcBef>
                <a:spcPct val="100000"/>
              </a:spcBef>
              <a:buFontTx/>
              <a:buAutoNum type="arabicPeriod"/>
            </a:pPr>
            <a:r>
              <a:rPr lang="en-US" altLang="en-US">
                <a:solidFill>
                  <a:srgbClr val="1E0068"/>
                </a:solidFill>
              </a:rPr>
              <a:t>Giới thiệu</a:t>
            </a:r>
          </a:p>
          <a:p>
            <a:pPr marL="609600" indent="-609600" eaLnBrk="1" hangingPunct="1">
              <a:spcBef>
                <a:spcPct val="100000"/>
              </a:spcBef>
              <a:buFontTx/>
              <a:buAutoNum type="arabicPeriod"/>
            </a:pPr>
            <a:r>
              <a:rPr lang="en-US" altLang="en-US">
                <a:solidFill>
                  <a:srgbClr val="1E0068"/>
                </a:solidFill>
              </a:rPr>
              <a:t>Bảng ký hiệu</a:t>
            </a:r>
          </a:p>
          <a:p>
            <a:pPr marL="609600" indent="-609600" eaLnBrk="1" hangingPunct="1">
              <a:spcBef>
                <a:spcPct val="100000"/>
              </a:spcBef>
              <a:buFontTx/>
              <a:buAutoNum type="arabicPeriod"/>
            </a:pPr>
            <a:r>
              <a:rPr lang="fr-FR" altLang="en-US"/>
              <a:t>Chương trình dịch định hướng cú pháp</a:t>
            </a:r>
          </a:p>
          <a:p>
            <a:pPr marL="609600" indent="-609600" eaLnBrk="1" hangingPunct="1">
              <a:spcBef>
                <a:spcPct val="100000"/>
              </a:spcBef>
              <a:buFontTx/>
              <a:buAutoNum type="arabicPeriod"/>
            </a:pPr>
            <a:r>
              <a:rPr lang="fr-FR" altLang="en-US"/>
              <a:t>Kiểm tra kiểu</a:t>
            </a:r>
          </a:p>
          <a:p>
            <a:pPr marL="609600" indent="-609600" eaLnBrk="1" hangingPunct="1">
              <a:spcBef>
                <a:spcPct val="100000"/>
              </a:spcBef>
              <a:buFontTx/>
              <a:buAutoNum type="arabicPeriod"/>
            </a:pPr>
            <a:r>
              <a:rPr lang="en-US" altLang="en-US">
                <a:solidFill>
                  <a:srgbClr val="1E0068"/>
                </a:solidFill>
              </a:rPr>
              <a:t>Xử lý sai sót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45922"/>
                                        </p:tgtEl>
                                        <p:attrNameLst>
                                          <p:attrName>style.visibility</p:attrName>
                                        </p:attrNameLst>
                                      </p:cBhvr>
                                      <p:to>
                                        <p:strVal val="visible"/>
                                      </p:to>
                                    </p:set>
                                    <p:animEffect transition="in" filter="dissolve">
                                      <p:cBhvr>
                                        <p:cTn id="7" dur="500"/>
                                        <p:tgtEl>
                                          <p:spTgt spid="1745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92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D0024795-CCAD-4E02-A572-DCCE11FB4FD1}" type="slidenum">
              <a:rPr lang="en-US" altLang="en-US" sz="1400" b="0"/>
              <a:pPr/>
              <a:t>47</a:t>
            </a:fld>
            <a:endParaRPr lang="en-US" altLang="en-US" sz="1400" b="0"/>
          </a:p>
        </p:txBody>
      </p:sp>
      <p:sp>
        <p:nvSpPr>
          <p:cNvPr id="53251" name="Rectangle 2"/>
          <p:cNvSpPr>
            <a:spLocks noGrp="1" noChangeArrowheads="1"/>
          </p:cNvSpPr>
          <p:nvPr>
            <p:ph type="title"/>
          </p:nvPr>
        </p:nvSpPr>
        <p:spPr/>
        <p:txBody>
          <a:bodyPr/>
          <a:lstStyle/>
          <a:p>
            <a:pPr eaLnBrk="1" hangingPunct="1"/>
            <a:r>
              <a:rPr lang="en-US" altLang="en-US"/>
              <a:t>Kiểm tra kiểu</a:t>
            </a:r>
            <a:endParaRPr lang="en-US" altLang="en-US">
              <a:sym typeface="Symbol" panose="05050102010706020507" pitchFamily="18" charset="2"/>
            </a:endParaRPr>
          </a:p>
        </p:txBody>
      </p:sp>
      <p:sp>
        <p:nvSpPr>
          <p:cNvPr id="53252"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sp>
        <p:nvSpPr>
          <p:cNvPr id="53253" name="Rectangle 4"/>
          <p:cNvSpPr>
            <a:spLocks noGrp="1" noChangeArrowheads="1"/>
          </p:cNvSpPr>
          <p:nvPr>
            <p:ph type="body" idx="1"/>
          </p:nvPr>
        </p:nvSpPr>
        <p:spPr>
          <a:xfrm>
            <a:off x="228600" y="914400"/>
            <a:ext cx="8724900" cy="5715000"/>
          </a:xfrm>
          <a:noFill/>
        </p:spPr>
        <p:txBody>
          <a:bodyPr lIns="0" rIns="0"/>
          <a:lstStyle/>
          <a:p>
            <a:pPr marL="347663" indent="-347663" eaLnBrk="1" hangingPunct="1">
              <a:lnSpc>
                <a:spcPct val="110000"/>
              </a:lnSpc>
            </a:pPr>
            <a:r>
              <a:rPr lang="en-US" altLang="en-US" sz="2800"/>
              <a:t>Có hai phương pháp kiểm tra kiểu</a:t>
            </a:r>
          </a:p>
          <a:p>
            <a:pPr marL="347663" indent="-347663" eaLnBrk="1" hangingPunct="1">
              <a:lnSpc>
                <a:spcPct val="110000"/>
              </a:lnSpc>
            </a:pPr>
            <a:r>
              <a:rPr lang="en-US" altLang="en-US" sz="2800"/>
              <a:t>Kiểm tra tĩnh : áp dụng trong thời gian dịch</a:t>
            </a:r>
          </a:p>
          <a:p>
            <a:pPr marL="854075" lvl="1" indent="-287338" eaLnBrk="1" hangingPunct="1">
              <a:lnSpc>
                <a:spcPct val="110000"/>
              </a:lnSpc>
            </a:pPr>
            <a:r>
              <a:rPr lang="en-US" altLang="en-US" sz="2400"/>
              <a:t>Trong nhiều ngôn ngữ (C hay Pascal,..) kiểm tra kiểu là tĩnh và được dùng để kiểm tra tính đúng đắn của chương trình trước khi nó đươc thực hiện</a:t>
            </a:r>
          </a:p>
          <a:p>
            <a:pPr marL="347663" indent="-347663" eaLnBrk="1" hangingPunct="1">
              <a:lnSpc>
                <a:spcPct val="110000"/>
              </a:lnSpc>
            </a:pPr>
            <a:r>
              <a:rPr lang="en-US" altLang="en-US" sz="2800"/>
              <a:t>Kiểm tra động : thực hiện trong thời gian thực thi</a:t>
            </a:r>
          </a:p>
          <a:p>
            <a:pPr marL="854075" lvl="1" indent="-287338" eaLnBrk="1" hangingPunct="1">
              <a:lnSpc>
                <a:spcPct val="110000"/>
              </a:lnSpc>
            </a:pPr>
            <a:r>
              <a:rPr lang="fr-FR" altLang="en-US" sz="2400"/>
              <a:t>Một số phép kiểm tra chi có thể thực hiện động </a:t>
            </a:r>
          </a:p>
          <a:p>
            <a:pPr marL="1204913" lvl="2" indent="-231775" eaLnBrk="1" hangingPunct="1">
              <a:lnSpc>
                <a:spcPct val="110000"/>
              </a:lnSpc>
            </a:pPr>
            <a:r>
              <a:rPr lang="fr-FR" altLang="en-US" sz="2000"/>
              <a:t>int Tab[255], i; </a:t>
            </a:r>
            <a:r>
              <a:rPr lang="fr-FR" altLang="en-US" sz="2000">
                <a:sym typeface="Symbol" panose="05050102010706020507" pitchFamily="18" charset="2"/>
              </a:rPr>
              <a:t></a:t>
            </a:r>
            <a:r>
              <a:rPr lang="fr-FR" altLang="en-US" sz="2000"/>
              <a:t> khi thực hiện Tab[i] có thể nằm ngoài phạm vi</a:t>
            </a:r>
            <a:endParaRPr lang="en-US" altLang="en-US" sz="2000"/>
          </a:p>
          <a:p>
            <a:pPr marL="347663" indent="-347663" eaLnBrk="1" hangingPunct="1">
              <a:lnSpc>
                <a:spcPct val="110000"/>
              </a:lnSpc>
            </a:pPr>
            <a:r>
              <a:rPr lang="en-US" altLang="en-US" sz="2800"/>
              <a:t>Bộ kiểm tra kiểu được xây dựng dựa trên</a:t>
            </a:r>
          </a:p>
          <a:p>
            <a:pPr marL="854075" lvl="1" indent="-287338" eaLnBrk="1" hangingPunct="1">
              <a:lnSpc>
                <a:spcPct val="110000"/>
              </a:lnSpc>
            </a:pPr>
            <a:r>
              <a:rPr lang="en-US" altLang="en-US" sz="2400"/>
              <a:t>Các </a:t>
            </a:r>
            <a:r>
              <a:rPr lang="en-US" altLang="en-US" sz="2400" b="1">
                <a:solidFill>
                  <a:srgbClr val="3539EB"/>
                </a:solidFill>
              </a:rPr>
              <a:t>biểu thức kiểu</a:t>
            </a:r>
            <a:r>
              <a:rPr lang="en-US" altLang="en-US" sz="2400"/>
              <a:t> của ngôn ngữ</a:t>
            </a:r>
          </a:p>
          <a:p>
            <a:pPr marL="854075" lvl="1" indent="-287338" eaLnBrk="1" hangingPunct="1">
              <a:lnSpc>
                <a:spcPct val="110000"/>
              </a:lnSpc>
            </a:pPr>
            <a:r>
              <a:rPr lang="en-US" altLang="en-US" sz="2400"/>
              <a:t>Bộ </a:t>
            </a:r>
            <a:r>
              <a:rPr lang="en-US" altLang="en-US" sz="2400" b="1" i="1">
                <a:solidFill>
                  <a:srgbClr val="3539EB"/>
                </a:solidFill>
              </a:rPr>
              <a:t>luật để định kiểu</a:t>
            </a:r>
            <a:r>
              <a:rPr lang="en-US" altLang="en-US" sz="2400"/>
              <a:t> cho các cấu trúc</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BC71B15E-9BD5-49DE-BE3C-36249F11FC10}" type="slidenum">
              <a:rPr lang="en-US" altLang="en-US" sz="1400" b="0"/>
              <a:pPr/>
              <a:t>48</a:t>
            </a:fld>
            <a:endParaRPr lang="en-US" altLang="en-US" sz="1400" b="0"/>
          </a:p>
        </p:txBody>
      </p:sp>
      <p:sp>
        <p:nvSpPr>
          <p:cNvPr id="54275" name="Rectangle 2"/>
          <p:cNvSpPr>
            <a:spLocks noGrp="1" noChangeArrowheads="1"/>
          </p:cNvSpPr>
          <p:nvPr>
            <p:ph type="title"/>
          </p:nvPr>
        </p:nvSpPr>
        <p:spPr/>
        <p:txBody>
          <a:bodyPr/>
          <a:lstStyle/>
          <a:p>
            <a:pPr eaLnBrk="1" hangingPunct="1"/>
            <a:r>
              <a:rPr lang="en-US" altLang="en-US"/>
              <a:t>Biểu thức kiểu (type expression)</a:t>
            </a:r>
            <a:endParaRPr lang="en-US" altLang="en-US">
              <a:sym typeface="Symbol" panose="05050102010706020507" pitchFamily="18" charset="2"/>
            </a:endParaRPr>
          </a:p>
        </p:txBody>
      </p:sp>
      <p:sp>
        <p:nvSpPr>
          <p:cNvPr id="54276"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sp>
        <p:nvSpPr>
          <p:cNvPr id="54277" name="Rectangle 4"/>
          <p:cNvSpPr>
            <a:spLocks noGrp="1" noChangeArrowheads="1"/>
          </p:cNvSpPr>
          <p:nvPr>
            <p:ph type="body" idx="1"/>
          </p:nvPr>
        </p:nvSpPr>
        <p:spPr>
          <a:xfrm>
            <a:off x="228600" y="914400"/>
            <a:ext cx="8724900" cy="5715000"/>
          </a:xfrm>
          <a:noFill/>
        </p:spPr>
        <p:txBody>
          <a:bodyPr lIns="0" rIns="0"/>
          <a:lstStyle/>
          <a:p>
            <a:pPr marL="0" indent="0" eaLnBrk="1" hangingPunct="1">
              <a:lnSpc>
                <a:spcPct val="105000"/>
              </a:lnSpc>
              <a:buFontTx/>
              <a:buNone/>
            </a:pPr>
            <a:r>
              <a:rPr lang="en-US" altLang="en-US"/>
              <a:t>Là một kiểu dữ liệu chuẩn hoặc được xây dựng từ các kiểu dữ liệu khác bởi cấu trúc kiểu </a:t>
            </a:r>
          </a:p>
          <a:p>
            <a:pPr marL="623888" lvl="1" indent="-392113" eaLnBrk="1" hangingPunct="1">
              <a:lnSpc>
                <a:spcPct val="105000"/>
              </a:lnSpc>
              <a:buFontTx/>
              <a:buAutoNum type="arabicPeriod"/>
            </a:pPr>
            <a:r>
              <a:rPr lang="en-US" altLang="en-US"/>
              <a:t>Kiểu cơ sở (</a:t>
            </a:r>
            <a:r>
              <a:rPr lang="en-US" altLang="en-US" i="1">
                <a:solidFill>
                  <a:srgbClr val="3539EB"/>
                </a:solidFill>
              </a:rPr>
              <a:t>boolean, char, integer, real</a:t>
            </a:r>
            <a:r>
              <a:rPr lang="en-US" altLang="en-US"/>
              <a:t>) là biểu thức kiểu. </a:t>
            </a:r>
          </a:p>
          <a:p>
            <a:pPr marL="1204913" lvl="2" indent="-231775" eaLnBrk="1" hangingPunct="1">
              <a:lnSpc>
                <a:spcPct val="105000"/>
              </a:lnSpc>
              <a:buFontTx/>
              <a:buNone/>
            </a:pPr>
            <a:r>
              <a:rPr lang="en-US" altLang="en-US" sz="2800"/>
              <a:t>Chấp nhận các kiểu cơ sở đặc biệt:</a:t>
            </a:r>
            <a:r>
              <a:rPr lang="en-US" altLang="en-US"/>
              <a:t> </a:t>
            </a:r>
          </a:p>
          <a:p>
            <a:pPr marL="1204913" lvl="2" indent="-231775" eaLnBrk="1" hangingPunct="1">
              <a:lnSpc>
                <a:spcPct val="105000"/>
              </a:lnSpc>
            </a:pPr>
            <a:r>
              <a:rPr lang="en-US" altLang="en-US" b="1">
                <a:solidFill>
                  <a:srgbClr val="3539EB"/>
                </a:solidFill>
              </a:rPr>
              <a:t>type_error:</a:t>
            </a:r>
            <a:r>
              <a:rPr lang="en-US" altLang="en-US"/>
              <a:t> chỉ ra một lỗi trong quá trình kiểm tra kiểu</a:t>
            </a:r>
          </a:p>
          <a:p>
            <a:pPr marL="1204913" lvl="2" indent="-231775" eaLnBrk="1" hangingPunct="1">
              <a:lnSpc>
                <a:spcPct val="105000"/>
              </a:lnSpc>
            </a:pPr>
            <a:r>
              <a:rPr lang="en-US" altLang="en-US" b="1">
                <a:solidFill>
                  <a:srgbClr val="3539EB"/>
                </a:solidFill>
              </a:rPr>
              <a:t>void:</a:t>
            </a:r>
            <a:r>
              <a:rPr lang="en-US" altLang="en-US"/>
              <a:t> cho phép kiểm tra kiểu đối với lệnh. </a:t>
            </a:r>
          </a:p>
          <a:p>
            <a:pPr marL="623888" lvl="1" indent="-392113" eaLnBrk="1" hangingPunct="1">
              <a:lnSpc>
                <a:spcPct val="105000"/>
              </a:lnSpc>
              <a:buFontTx/>
              <a:buAutoNum type="arabicPeriod"/>
            </a:pPr>
            <a:r>
              <a:rPr lang="en-US" altLang="en-US"/>
              <a:t>Do biểu thức kiểu có thể được đặt tên </a:t>
            </a:r>
            <a:r>
              <a:rPr lang="en-US" altLang="en-US">
                <a:sym typeface="Symbol" panose="05050102010706020507" pitchFamily="18" charset="2"/>
              </a:rPr>
              <a:t> </a:t>
            </a:r>
            <a:r>
              <a:rPr lang="en-US" altLang="en-US"/>
              <a:t>Tên là biểu thức kiểu</a:t>
            </a:r>
          </a:p>
          <a:p>
            <a:pPr marL="623888" lvl="1" indent="-392113" eaLnBrk="1" hangingPunct="1">
              <a:lnSpc>
                <a:spcPct val="105000"/>
              </a:lnSpc>
              <a:buFontTx/>
              <a:buAutoNum type="arabicPeriod"/>
            </a:pPr>
            <a:r>
              <a:rPr lang="en-US" altLang="en-US"/>
              <a:t>Áp dụng toán tử xây dựng kiểu (</a:t>
            </a:r>
            <a:r>
              <a:rPr lang="en-US" altLang="en-US" i="1">
                <a:solidFill>
                  <a:srgbClr val="3539EB"/>
                </a:solidFill>
              </a:rPr>
              <a:t>cấu trúc kiểu</a:t>
            </a:r>
            <a:r>
              <a:rPr lang="en-US" altLang="en-US"/>
              <a:t>) vào các biểu thức kiểu tạo ra biểu thức kiểu</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6804B675-DB7A-4062-9698-6E3589FADF76}" type="slidenum">
              <a:rPr lang="en-US" altLang="en-US" sz="1400" b="0"/>
              <a:pPr/>
              <a:t>49</a:t>
            </a:fld>
            <a:endParaRPr lang="en-US" altLang="en-US" sz="1400" b="0"/>
          </a:p>
        </p:txBody>
      </p:sp>
      <p:sp>
        <p:nvSpPr>
          <p:cNvPr id="55299" name="Rectangle 2"/>
          <p:cNvSpPr>
            <a:spLocks noGrp="1" noChangeArrowheads="1"/>
          </p:cNvSpPr>
          <p:nvPr>
            <p:ph type="title"/>
          </p:nvPr>
        </p:nvSpPr>
        <p:spPr/>
        <p:txBody>
          <a:bodyPr/>
          <a:lstStyle/>
          <a:p>
            <a:pPr eaLnBrk="1" hangingPunct="1"/>
            <a:r>
              <a:rPr lang="en-US" altLang="en-US"/>
              <a:t>Cấu trúc kiểu</a:t>
            </a:r>
            <a:endParaRPr lang="en-US" altLang="en-US">
              <a:sym typeface="Symbol" panose="05050102010706020507" pitchFamily="18" charset="2"/>
            </a:endParaRPr>
          </a:p>
        </p:txBody>
      </p:sp>
      <p:sp>
        <p:nvSpPr>
          <p:cNvPr id="55300"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sp>
        <p:nvSpPr>
          <p:cNvPr id="55301" name="Rectangle 4"/>
          <p:cNvSpPr>
            <a:spLocks noGrp="1" noChangeArrowheads="1"/>
          </p:cNvSpPr>
          <p:nvPr>
            <p:ph type="body" idx="1"/>
          </p:nvPr>
        </p:nvSpPr>
        <p:spPr>
          <a:xfrm>
            <a:off x="228600" y="914400"/>
            <a:ext cx="8724900" cy="5715000"/>
          </a:xfrm>
          <a:noFill/>
        </p:spPr>
        <p:txBody>
          <a:bodyPr lIns="0" rIns="0"/>
          <a:lstStyle/>
          <a:p>
            <a:pPr marL="347663" indent="-347663" eaLnBrk="1" hangingPunct="1">
              <a:lnSpc>
                <a:spcPct val="110000"/>
              </a:lnSpc>
            </a:pPr>
            <a:r>
              <a:rPr lang="en-US" altLang="en-US" b="1" u="sng"/>
              <a:t>Mảng (</a:t>
            </a:r>
            <a:r>
              <a:rPr lang="en-US" altLang="en-US" b="1" i="1" u="sng"/>
              <a:t>Array):</a:t>
            </a:r>
            <a:r>
              <a:rPr lang="en-US" altLang="en-US" i="1"/>
              <a:t> </a:t>
            </a:r>
          </a:p>
          <a:p>
            <a:pPr marL="854075" lvl="1" indent="-392113" eaLnBrk="1" hangingPunct="1">
              <a:lnSpc>
                <a:spcPct val="110000"/>
              </a:lnSpc>
            </a:pPr>
            <a:r>
              <a:rPr lang="en-US" altLang="en-US"/>
              <a:t>Nếu </a:t>
            </a:r>
            <a:r>
              <a:rPr lang="en-US" altLang="en-US" b="1">
                <a:solidFill>
                  <a:srgbClr val="3539EB"/>
                </a:solidFill>
              </a:rPr>
              <a:t>T</a:t>
            </a:r>
            <a:r>
              <a:rPr lang="en-US" altLang="en-US"/>
              <a:t> là biểu thưc kiểu thì </a:t>
            </a:r>
            <a:r>
              <a:rPr lang="en-US" altLang="en-US" b="1" i="1">
                <a:solidFill>
                  <a:srgbClr val="3539EB"/>
                </a:solidFill>
              </a:rPr>
              <a:t>array</a:t>
            </a:r>
            <a:r>
              <a:rPr lang="en-US" altLang="en-US" b="1">
                <a:solidFill>
                  <a:srgbClr val="3539EB"/>
                </a:solidFill>
              </a:rPr>
              <a:t>(I,T)</a:t>
            </a:r>
            <a:r>
              <a:rPr lang="en-US" altLang="en-US"/>
              <a:t> là biểu thức kiểu biểu diễn một mảng với các phần tử kiểu </a:t>
            </a:r>
            <a:r>
              <a:rPr lang="en-US" altLang="en-US" b="1">
                <a:solidFill>
                  <a:srgbClr val="3539EB"/>
                </a:solidFill>
              </a:rPr>
              <a:t>T</a:t>
            </a:r>
            <a:r>
              <a:rPr lang="en-US" altLang="en-US"/>
              <a:t> và chỉ số trong miền</a:t>
            </a:r>
            <a:r>
              <a:rPr lang="en-US" altLang="en-US" b="1">
                <a:solidFill>
                  <a:srgbClr val="3539EB"/>
                </a:solidFill>
              </a:rPr>
              <a:t> I</a:t>
            </a:r>
          </a:p>
          <a:p>
            <a:pPr marL="1204913" lvl="2" indent="-231775" eaLnBrk="1" hangingPunct="1">
              <a:lnSpc>
                <a:spcPct val="110000"/>
              </a:lnSpc>
            </a:pPr>
            <a:r>
              <a:rPr lang="en-US" altLang="en-US"/>
              <a:t>Khai báo: array [10] of integer </a:t>
            </a:r>
          </a:p>
          <a:p>
            <a:pPr marL="1204913" lvl="2" indent="-231775" eaLnBrk="1" hangingPunct="1">
              <a:lnSpc>
                <a:spcPct val="110000"/>
              </a:lnSpc>
            </a:pPr>
            <a:r>
              <a:rPr lang="en-US" altLang="en-US"/>
              <a:t>có kiểu:   array(1..10,int); //</a:t>
            </a:r>
            <a:r>
              <a:rPr lang="en-US" altLang="en-US" i="1">
                <a:solidFill>
                  <a:schemeClr val="bg2"/>
                </a:solidFill>
              </a:rPr>
              <a:t>array(10,int)</a:t>
            </a:r>
          </a:p>
          <a:p>
            <a:pPr marL="1204913" lvl="2" indent="-231775" eaLnBrk="1" hangingPunct="1">
              <a:lnSpc>
                <a:spcPct val="110000"/>
              </a:lnSpc>
            </a:pPr>
            <a:r>
              <a:rPr lang="en-US" altLang="en-US"/>
              <a:t>Ví dụ: Array[10] of Array[20] of integer</a:t>
            </a:r>
          </a:p>
          <a:p>
            <a:pPr marL="1662113" lvl="3" indent="-231775" eaLnBrk="1" hangingPunct="1">
              <a:lnSpc>
                <a:spcPct val="110000"/>
              </a:lnSpc>
            </a:pPr>
            <a:r>
              <a:rPr lang="en-US" altLang="en-US"/>
              <a:t>Array(10,Array(20,int))</a:t>
            </a:r>
          </a:p>
          <a:p>
            <a:pPr marL="347663" indent="-347663" eaLnBrk="1" hangingPunct="1">
              <a:lnSpc>
                <a:spcPct val="110000"/>
              </a:lnSpc>
            </a:pPr>
            <a:r>
              <a:rPr lang="en-US" altLang="en-US" b="1" u="sng"/>
              <a:t>Tích Descarter:</a:t>
            </a:r>
            <a:r>
              <a:rPr lang="en-US" altLang="en-US"/>
              <a:t>  </a:t>
            </a:r>
          </a:p>
          <a:p>
            <a:pPr marL="854075" lvl="1" indent="-392113" eaLnBrk="1" hangingPunct="1">
              <a:lnSpc>
                <a:spcPct val="110000"/>
              </a:lnSpc>
            </a:pPr>
            <a:r>
              <a:rPr lang="en-US" altLang="en-US"/>
              <a:t>Nếu  </a:t>
            </a:r>
            <a:r>
              <a:rPr lang="en-US" altLang="en-US" b="1">
                <a:solidFill>
                  <a:srgbClr val="3539EB"/>
                </a:solidFill>
              </a:rPr>
              <a:t>T</a:t>
            </a:r>
            <a:r>
              <a:rPr lang="en-US" altLang="en-US" b="1" baseline="-25000">
                <a:solidFill>
                  <a:srgbClr val="3539EB"/>
                </a:solidFill>
              </a:rPr>
              <a:t>1 </a:t>
            </a:r>
            <a:r>
              <a:rPr lang="en-US" altLang="en-US"/>
              <a:t>và </a:t>
            </a:r>
            <a:r>
              <a:rPr lang="en-US" altLang="en-US" b="1">
                <a:solidFill>
                  <a:srgbClr val="3539EB"/>
                </a:solidFill>
              </a:rPr>
              <a:t>T</a:t>
            </a:r>
            <a:r>
              <a:rPr lang="en-US" altLang="en-US" b="1" baseline="-25000">
                <a:solidFill>
                  <a:srgbClr val="3539EB"/>
                </a:solidFill>
              </a:rPr>
              <a:t>2</a:t>
            </a:r>
            <a:r>
              <a:rPr lang="en-US" altLang="en-US"/>
              <a:t> là các biểu thức kiểu thì tích  Descarter </a:t>
            </a:r>
            <a:r>
              <a:rPr lang="en-US" altLang="en-US" b="1">
                <a:solidFill>
                  <a:srgbClr val="3539EB"/>
                </a:solidFill>
              </a:rPr>
              <a:t>T1× T2</a:t>
            </a:r>
            <a:r>
              <a:rPr lang="en-US" altLang="en-US"/>
              <a:t> là biểu thức kiểu</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4F05138A-17F1-434B-BD31-0225468BFAD7}" type="slidenum">
              <a:rPr lang="en-US" altLang="en-US" sz="1400" b="0"/>
              <a:pPr/>
              <a:t>50</a:t>
            </a:fld>
            <a:endParaRPr lang="en-US" altLang="en-US" sz="1400" b="0"/>
          </a:p>
        </p:txBody>
      </p:sp>
      <p:sp>
        <p:nvSpPr>
          <p:cNvPr id="56323" name="Rectangle 2"/>
          <p:cNvSpPr>
            <a:spLocks noGrp="1" noChangeArrowheads="1"/>
          </p:cNvSpPr>
          <p:nvPr>
            <p:ph type="title"/>
          </p:nvPr>
        </p:nvSpPr>
        <p:spPr/>
        <p:txBody>
          <a:bodyPr/>
          <a:lstStyle/>
          <a:p>
            <a:pPr eaLnBrk="1" hangingPunct="1"/>
            <a:r>
              <a:rPr lang="en-US" altLang="en-US"/>
              <a:t>Cấu trúc kiểu</a:t>
            </a:r>
            <a:endParaRPr lang="en-US" altLang="en-US">
              <a:sym typeface="Symbol" panose="05050102010706020507" pitchFamily="18" charset="2"/>
            </a:endParaRPr>
          </a:p>
        </p:txBody>
      </p:sp>
      <p:sp>
        <p:nvSpPr>
          <p:cNvPr id="56324"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sp>
        <p:nvSpPr>
          <p:cNvPr id="56325" name="Rectangle 4"/>
          <p:cNvSpPr>
            <a:spLocks noGrp="1" noChangeArrowheads="1"/>
          </p:cNvSpPr>
          <p:nvPr>
            <p:ph type="body" idx="1"/>
          </p:nvPr>
        </p:nvSpPr>
        <p:spPr>
          <a:xfrm>
            <a:off x="228600" y="914400"/>
            <a:ext cx="8724900" cy="5715000"/>
          </a:xfrm>
          <a:noFill/>
        </p:spPr>
        <p:txBody>
          <a:bodyPr lIns="0" rIns="0"/>
          <a:lstStyle/>
          <a:p>
            <a:pPr marL="347663" indent="-347663" eaLnBrk="1" hangingPunct="1"/>
            <a:r>
              <a:rPr lang="en-US" altLang="en-US" b="1"/>
              <a:t>Bản ghi (</a:t>
            </a:r>
            <a:r>
              <a:rPr lang="en-US" altLang="en-US" b="1" i="1"/>
              <a:t>Record):</a:t>
            </a:r>
            <a:r>
              <a:rPr lang="en-US" altLang="en-US" i="1"/>
              <a:t> </a:t>
            </a:r>
            <a:r>
              <a:rPr lang="en-US" altLang="en-US"/>
              <a:t> </a:t>
            </a:r>
          </a:p>
          <a:p>
            <a:pPr marL="854075" lvl="1" indent="-392113" eaLnBrk="1" hangingPunct="1"/>
            <a:r>
              <a:rPr lang="en-US" altLang="en-US"/>
              <a:t>Là tích descarter các kiểu của các trường bên trong</a:t>
            </a:r>
          </a:p>
          <a:p>
            <a:pPr marL="854075" lvl="1" indent="-392113" eaLnBrk="1" hangingPunct="1"/>
            <a:r>
              <a:rPr lang="fr-FR" altLang="en-US"/>
              <a:t>Ví dụ:</a:t>
            </a:r>
            <a:endParaRPr lang="en-US" altLang="en-US"/>
          </a:p>
          <a:p>
            <a:pPr marL="347663" indent="-347663" eaLnBrk="1" hangingPunct="1">
              <a:buFontTx/>
              <a:buNone/>
            </a:pPr>
            <a:r>
              <a:rPr lang="en-US" altLang="en-US"/>
              <a:t>		struct{</a:t>
            </a:r>
          </a:p>
          <a:p>
            <a:pPr marL="347663" indent="-347663" eaLnBrk="1" hangingPunct="1">
              <a:buFontTx/>
              <a:buNone/>
            </a:pPr>
            <a:r>
              <a:rPr lang="en-US" altLang="en-US"/>
              <a:t>			double r;</a:t>
            </a:r>
          </a:p>
          <a:p>
            <a:pPr marL="347663" indent="-347663" eaLnBrk="1" hangingPunct="1">
              <a:buFontTx/>
              <a:buNone/>
            </a:pPr>
            <a:r>
              <a:rPr lang="en-US" altLang="en-US"/>
              <a:t>			int i;</a:t>
            </a:r>
          </a:p>
          <a:p>
            <a:pPr marL="347663" indent="-347663" eaLnBrk="1" hangingPunct="1">
              <a:buFontTx/>
              <a:buNone/>
            </a:pPr>
            <a:r>
              <a:rPr lang="en-US" altLang="en-US"/>
              <a:t>		}</a:t>
            </a:r>
          </a:p>
          <a:p>
            <a:pPr marL="347663" indent="-347663" eaLnBrk="1" hangingPunct="1">
              <a:buFontTx/>
              <a:buNone/>
            </a:pPr>
            <a:r>
              <a:rPr lang="en-US" altLang="en-US"/>
              <a:t>	Có kiểu ((r x double) x (i x int))</a:t>
            </a:r>
            <a:r>
              <a:rPr lang="en-US" altLang="en-US" sz="4400"/>
              <a:t> </a:t>
            </a:r>
          </a:p>
          <a:p>
            <a:pPr marL="2497138" lvl="3" indent="-900113" eaLnBrk="1" hangingPunct="1">
              <a:buFontTx/>
              <a:buNone/>
            </a:pPr>
            <a:endParaRPr lang="en-US"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D96DA8EA-B58A-442F-BAA2-4E0F30D9219C}" type="slidenum">
              <a:rPr lang="en-US" altLang="en-US" sz="1400" b="0"/>
              <a:pPr/>
              <a:t>51</a:t>
            </a:fld>
            <a:endParaRPr lang="en-US" altLang="en-US" sz="1400" b="0"/>
          </a:p>
        </p:txBody>
      </p:sp>
      <p:sp>
        <p:nvSpPr>
          <p:cNvPr id="57347" name="Rectangle 2"/>
          <p:cNvSpPr>
            <a:spLocks noGrp="1" noChangeArrowheads="1"/>
          </p:cNvSpPr>
          <p:nvPr>
            <p:ph type="title"/>
          </p:nvPr>
        </p:nvSpPr>
        <p:spPr/>
        <p:txBody>
          <a:bodyPr/>
          <a:lstStyle/>
          <a:p>
            <a:pPr eaLnBrk="1" hangingPunct="1"/>
            <a:r>
              <a:rPr lang="en-US" altLang="en-US"/>
              <a:t>Cấu trúc kiểu</a:t>
            </a:r>
            <a:endParaRPr lang="en-US" altLang="en-US">
              <a:sym typeface="Symbol" panose="05050102010706020507" pitchFamily="18" charset="2"/>
            </a:endParaRPr>
          </a:p>
        </p:txBody>
      </p:sp>
      <p:sp>
        <p:nvSpPr>
          <p:cNvPr id="57348"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sp>
        <p:nvSpPr>
          <p:cNvPr id="57349" name="Rectangle 4"/>
          <p:cNvSpPr>
            <a:spLocks noGrp="1" noChangeArrowheads="1"/>
          </p:cNvSpPr>
          <p:nvPr>
            <p:ph type="body" idx="1"/>
          </p:nvPr>
        </p:nvSpPr>
        <p:spPr>
          <a:xfrm>
            <a:off x="228600" y="914400"/>
            <a:ext cx="8724900" cy="5715000"/>
          </a:xfrm>
          <a:noFill/>
        </p:spPr>
        <p:txBody>
          <a:bodyPr lIns="0" rIns="0"/>
          <a:lstStyle/>
          <a:p>
            <a:pPr marL="347663" indent="-347663" eaLnBrk="1" hangingPunct="1"/>
            <a:r>
              <a:rPr lang="en-US" altLang="en-US" b="1" i="1" dirty="0"/>
              <a:t>Con </a:t>
            </a:r>
            <a:r>
              <a:rPr lang="en-US" altLang="en-US" b="1" i="1" dirty="0" err="1"/>
              <a:t>trỏ</a:t>
            </a:r>
            <a:r>
              <a:rPr lang="en-US" altLang="en-US" b="1" i="1" dirty="0"/>
              <a:t>:</a:t>
            </a:r>
            <a:r>
              <a:rPr lang="en-US" altLang="en-US" i="1" dirty="0"/>
              <a:t> </a:t>
            </a:r>
          </a:p>
          <a:p>
            <a:pPr marL="854075" lvl="1" indent="-392113" eaLnBrk="1" hangingPunct="1"/>
            <a:r>
              <a:rPr lang="en-US" altLang="en-US" dirty="0" err="1"/>
              <a:t>Nêu</a:t>
            </a:r>
            <a:r>
              <a:rPr lang="en-US" altLang="en-US" dirty="0"/>
              <a:t> </a:t>
            </a:r>
            <a:r>
              <a:rPr lang="en-US" altLang="en-US" dirty="0">
                <a:solidFill>
                  <a:srgbClr val="3539EB"/>
                </a:solidFill>
              </a:rPr>
              <a:t>T</a:t>
            </a:r>
            <a:r>
              <a:rPr lang="en-US" altLang="en-US" dirty="0"/>
              <a:t> </a:t>
            </a:r>
            <a:r>
              <a:rPr lang="en-US" altLang="en-US" dirty="0" err="1"/>
              <a:t>là</a:t>
            </a:r>
            <a:r>
              <a:rPr lang="en-US" altLang="en-US" dirty="0"/>
              <a:t> </a:t>
            </a:r>
            <a:r>
              <a:rPr lang="en-US" altLang="en-US" dirty="0" err="1"/>
              <a:t>biểu</a:t>
            </a:r>
            <a:r>
              <a:rPr lang="en-US" altLang="en-US" dirty="0"/>
              <a:t> </a:t>
            </a:r>
            <a:r>
              <a:rPr lang="en-US" altLang="en-US" dirty="0" err="1"/>
              <a:t>thức</a:t>
            </a:r>
            <a:r>
              <a:rPr lang="en-US" altLang="en-US" dirty="0"/>
              <a:t> </a:t>
            </a:r>
            <a:r>
              <a:rPr lang="en-US" altLang="en-US" dirty="0" err="1"/>
              <a:t>kiểu</a:t>
            </a:r>
            <a:r>
              <a:rPr lang="en-US" altLang="en-US" dirty="0"/>
              <a:t> </a:t>
            </a:r>
            <a:r>
              <a:rPr lang="en-US" altLang="en-US" dirty="0" err="1"/>
              <a:t>thì</a:t>
            </a:r>
            <a:r>
              <a:rPr lang="en-US" altLang="en-US" dirty="0"/>
              <a:t> </a:t>
            </a:r>
            <a:r>
              <a:rPr lang="en-US" altLang="en-US" dirty="0">
                <a:solidFill>
                  <a:srgbClr val="3539EB"/>
                </a:solidFill>
              </a:rPr>
              <a:t>pointer(T)</a:t>
            </a:r>
            <a:r>
              <a:rPr lang="en-US" altLang="en-US" dirty="0"/>
              <a:t> </a:t>
            </a:r>
            <a:r>
              <a:rPr lang="en-US" altLang="en-US" dirty="0" err="1"/>
              <a:t>là</a:t>
            </a:r>
            <a:r>
              <a:rPr lang="en-US" altLang="en-US" dirty="0"/>
              <a:t> </a:t>
            </a:r>
            <a:r>
              <a:rPr lang="en-US" altLang="en-US" dirty="0" err="1"/>
              <a:t>biểu</a:t>
            </a:r>
            <a:r>
              <a:rPr lang="en-US" altLang="en-US" dirty="0"/>
              <a:t> </a:t>
            </a:r>
            <a:r>
              <a:rPr lang="en-US" altLang="en-US" dirty="0" err="1"/>
              <a:t>thức</a:t>
            </a:r>
            <a:r>
              <a:rPr lang="en-US" altLang="en-US" dirty="0"/>
              <a:t> </a:t>
            </a:r>
            <a:r>
              <a:rPr lang="en-US" altLang="en-US" dirty="0" err="1"/>
              <a:t>kiểu</a:t>
            </a:r>
            <a:r>
              <a:rPr lang="en-US" altLang="en-US" dirty="0"/>
              <a:t> </a:t>
            </a:r>
          </a:p>
          <a:p>
            <a:pPr marL="347663" indent="-347663" eaLnBrk="1" hangingPunct="1"/>
            <a:r>
              <a:rPr lang="en-US" altLang="en-US" b="1" dirty="0" err="1"/>
              <a:t>Hàm</a:t>
            </a:r>
            <a:endParaRPr lang="en-US" altLang="en-US" b="1" dirty="0"/>
          </a:p>
          <a:p>
            <a:pPr marL="854075" lvl="1" indent="-392113" eaLnBrk="1" hangingPunct="1"/>
            <a:r>
              <a:rPr lang="en-US" altLang="en-US" i="1" dirty="0" err="1"/>
              <a:t>Nếu</a:t>
            </a:r>
            <a:r>
              <a:rPr lang="en-US" altLang="en-US" i="1" dirty="0"/>
              <a:t> D </a:t>
            </a:r>
            <a:r>
              <a:rPr lang="en-US" altLang="en-US" i="1" dirty="0" err="1"/>
              <a:t>là</a:t>
            </a:r>
            <a:r>
              <a:rPr lang="en-US" altLang="en-US" i="1" dirty="0"/>
              <a:t> </a:t>
            </a:r>
            <a:r>
              <a:rPr lang="en-US" altLang="en-US" i="1" dirty="0" err="1"/>
              <a:t>miền</a:t>
            </a:r>
            <a:r>
              <a:rPr lang="en-US" altLang="en-US" i="1" dirty="0"/>
              <a:t> </a:t>
            </a:r>
            <a:r>
              <a:rPr lang="en-US" altLang="en-US" i="1" dirty="0" err="1"/>
              <a:t>xác</a:t>
            </a:r>
            <a:r>
              <a:rPr lang="en-US" altLang="en-US" i="1" dirty="0"/>
              <a:t> </a:t>
            </a:r>
            <a:r>
              <a:rPr lang="en-US" altLang="en-US" i="1" dirty="0" err="1"/>
              <a:t>định</a:t>
            </a:r>
            <a:r>
              <a:rPr lang="en-US" altLang="en-US" i="1" dirty="0"/>
              <a:t> </a:t>
            </a:r>
            <a:r>
              <a:rPr lang="en-US" altLang="en-US" i="1" dirty="0" err="1"/>
              <a:t>và</a:t>
            </a:r>
            <a:r>
              <a:rPr lang="en-US" altLang="en-US" i="1" dirty="0"/>
              <a:t> </a:t>
            </a:r>
            <a:r>
              <a:rPr lang="en-US" altLang="en-US" i="1" dirty="0">
                <a:solidFill>
                  <a:srgbClr val="3539EB"/>
                </a:solidFill>
              </a:rPr>
              <a:t>R </a:t>
            </a:r>
            <a:r>
              <a:rPr lang="en-US" altLang="en-US" i="1" dirty="0" err="1"/>
              <a:t>là</a:t>
            </a:r>
            <a:r>
              <a:rPr lang="en-US" altLang="en-US" i="1" dirty="0"/>
              <a:t> </a:t>
            </a:r>
            <a:r>
              <a:rPr lang="en-US" altLang="en-US" i="1" dirty="0" err="1"/>
              <a:t>miền</a:t>
            </a:r>
            <a:r>
              <a:rPr lang="en-US" altLang="en-US" i="1" dirty="0"/>
              <a:t> </a:t>
            </a:r>
            <a:r>
              <a:rPr lang="en-US" altLang="en-US" i="1" dirty="0" err="1"/>
              <a:t>giá</a:t>
            </a:r>
            <a:r>
              <a:rPr lang="en-US" altLang="en-US" i="1" dirty="0"/>
              <a:t> </a:t>
            </a:r>
            <a:r>
              <a:rPr lang="en-US" altLang="en-US" i="1" dirty="0" err="1"/>
              <a:t>trị</a:t>
            </a:r>
            <a:r>
              <a:rPr lang="en-US" altLang="en-US" i="1" dirty="0"/>
              <a:t> </a:t>
            </a:r>
            <a:r>
              <a:rPr lang="en-US" altLang="en-US" i="1" dirty="0" err="1"/>
              <a:t>của</a:t>
            </a:r>
            <a:r>
              <a:rPr lang="en-US" altLang="en-US" i="1" dirty="0"/>
              <a:t> </a:t>
            </a:r>
            <a:r>
              <a:rPr lang="en-US" altLang="en-US" i="1" dirty="0" err="1"/>
              <a:t>hàm</a:t>
            </a:r>
            <a:r>
              <a:rPr lang="en-US" altLang="en-US" i="1" dirty="0"/>
              <a:t> </a:t>
            </a:r>
            <a:r>
              <a:rPr lang="en-US" altLang="en-US" i="1" dirty="0" err="1"/>
              <a:t>thì</a:t>
            </a:r>
            <a:r>
              <a:rPr lang="en-US" altLang="en-US" i="1" dirty="0"/>
              <a:t> </a:t>
            </a:r>
            <a:r>
              <a:rPr lang="en-US" altLang="en-US" i="1" dirty="0" err="1"/>
              <a:t>kiểu</a:t>
            </a:r>
            <a:r>
              <a:rPr lang="en-US" altLang="en-US" i="1" dirty="0"/>
              <a:t> </a:t>
            </a:r>
            <a:r>
              <a:rPr lang="en-US" altLang="en-US" i="1" dirty="0" err="1"/>
              <a:t>của</a:t>
            </a:r>
            <a:r>
              <a:rPr lang="en-US" altLang="en-US" i="1" dirty="0"/>
              <a:t> </a:t>
            </a:r>
            <a:r>
              <a:rPr lang="en-US" altLang="en-US" i="1" dirty="0" err="1"/>
              <a:t>hàm</a:t>
            </a:r>
            <a:r>
              <a:rPr lang="en-US" altLang="en-US" i="1" dirty="0"/>
              <a:t> </a:t>
            </a:r>
            <a:r>
              <a:rPr lang="en-US" altLang="en-US" i="1" dirty="0" err="1"/>
              <a:t>được</a:t>
            </a:r>
            <a:r>
              <a:rPr lang="en-US" altLang="en-US" i="1" dirty="0"/>
              <a:t> </a:t>
            </a:r>
            <a:r>
              <a:rPr lang="en-US" altLang="en-US" i="1" dirty="0" err="1"/>
              <a:t>biểu</a:t>
            </a:r>
            <a:r>
              <a:rPr lang="en-US" altLang="en-US" i="1" dirty="0"/>
              <a:t> </a:t>
            </a:r>
            <a:r>
              <a:rPr lang="en-US" altLang="en-US" i="1" dirty="0" err="1"/>
              <a:t>diễn</a:t>
            </a:r>
            <a:r>
              <a:rPr lang="en-US" altLang="en-US" i="1" dirty="0"/>
              <a:t> </a:t>
            </a:r>
            <a:r>
              <a:rPr lang="en-US" altLang="en-US" i="1" dirty="0" err="1"/>
              <a:t>là</a:t>
            </a:r>
            <a:r>
              <a:rPr lang="en-US" altLang="en-US" i="1" dirty="0"/>
              <a:t> </a:t>
            </a:r>
            <a:r>
              <a:rPr lang="en-US" altLang="en-US" b="1" dirty="0">
                <a:solidFill>
                  <a:srgbClr val="3539EB"/>
                </a:solidFill>
              </a:rPr>
              <a:t>D </a:t>
            </a:r>
            <a:r>
              <a:rPr lang="en-US" altLang="en-US" b="1" dirty="0">
                <a:solidFill>
                  <a:srgbClr val="3539EB"/>
                </a:solidFill>
                <a:sym typeface="Symbol" panose="05050102010706020507" pitchFamily="18" charset="2"/>
              </a:rPr>
              <a:t></a:t>
            </a:r>
            <a:r>
              <a:rPr lang="en-US" altLang="en-US" b="1" dirty="0">
                <a:solidFill>
                  <a:srgbClr val="3539EB"/>
                </a:solidFill>
              </a:rPr>
              <a:t> R</a:t>
            </a:r>
            <a:r>
              <a:rPr lang="en-US" altLang="en-US" dirty="0"/>
              <a:t>.</a:t>
            </a:r>
          </a:p>
          <a:p>
            <a:pPr marL="347663" indent="-347663" eaLnBrk="1" hangingPunct="1">
              <a:buFontTx/>
              <a:buNone/>
            </a:pPr>
            <a:r>
              <a:rPr lang="en-US" altLang="en-US" dirty="0"/>
              <a:t>		</a:t>
            </a:r>
            <a:r>
              <a:rPr lang="en-US" altLang="en-US" sz="2800" dirty="0" err="1"/>
              <a:t>Ví</a:t>
            </a:r>
            <a:r>
              <a:rPr lang="en-US" altLang="en-US" sz="2800" dirty="0"/>
              <a:t> </a:t>
            </a:r>
            <a:r>
              <a:rPr lang="en-US" altLang="en-US" sz="2800" dirty="0" err="1"/>
              <a:t>dụ</a:t>
            </a:r>
            <a:r>
              <a:rPr lang="en-US" altLang="en-US" sz="2800" dirty="0"/>
              <a:t> </a:t>
            </a:r>
            <a:endParaRPr lang="en-US" altLang="en-US" dirty="0"/>
          </a:p>
          <a:p>
            <a:pPr marL="1204913" lvl="2" indent="-231775" eaLnBrk="1" hangingPunct="1"/>
            <a:r>
              <a:rPr lang="en-US" altLang="en-US" dirty="0"/>
              <a:t>int  f(char a, char b) </a:t>
            </a:r>
            <a:r>
              <a:rPr lang="en-US" altLang="en-US" dirty="0">
                <a:sym typeface="Symbol" panose="05050102010706020507" pitchFamily="18" charset="2"/>
              </a:rPr>
              <a:t></a:t>
            </a:r>
            <a:r>
              <a:rPr lang="en-US" altLang="en-US" dirty="0" err="1"/>
              <a:t>Có</a:t>
            </a:r>
            <a:r>
              <a:rPr lang="en-US" altLang="en-US" dirty="0"/>
              <a:t> </a:t>
            </a:r>
            <a:r>
              <a:rPr lang="en-US" altLang="en-US" dirty="0" err="1"/>
              <a:t>kiểu</a:t>
            </a:r>
            <a:r>
              <a:rPr lang="en-US" altLang="en-US" dirty="0"/>
              <a:t>: </a:t>
            </a:r>
            <a:r>
              <a:rPr lang="en-US" altLang="en-US" i="1" dirty="0"/>
              <a:t>char </a:t>
            </a:r>
            <a:r>
              <a:rPr lang="en-US" altLang="en-US" dirty="0"/>
              <a:t>× </a:t>
            </a:r>
            <a:r>
              <a:rPr lang="en-US" altLang="en-US" i="1" dirty="0"/>
              <a:t>char </a:t>
            </a:r>
            <a:r>
              <a:rPr lang="en-US" altLang="en-US" dirty="0">
                <a:sym typeface="Symbol" panose="05050102010706020507" pitchFamily="18" charset="2"/>
              </a:rPr>
              <a:t></a:t>
            </a:r>
            <a:r>
              <a:rPr lang="en-US" altLang="en-US" i="1" dirty="0"/>
              <a:t> int</a:t>
            </a:r>
            <a:r>
              <a:rPr lang="en-US" altLang="en-US" dirty="0"/>
              <a:t>.</a:t>
            </a:r>
          </a:p>
          <a:p>
            <a:pPr marL="1204913" lvl="2" indent="-231775" eaLnBrk="1" hangingPunct="1"/>
            <a:r>
              <a:rPr lang="fr-FR" altLang="en-US" dirty="0" err="1"/>
              <a:t>int</a:t>
            </a:r>
            <a:r>
              <a:rPr lang="fr-FR" altLang="en-US" dirty="0"/>
              <a:t> * f(</a:t>
            </a:r>
            <a:r>
              <a:rPr lang="fr-FR" altLang="en-US" dirty="0" err="1"/>
              <a:t>int</a:t>
            </a:r>
            <a:r>
              <a:rPr lang="fr-FR" altLang="en-US" dirty="0"/>
              <a:t> a, </a:t>
            </a:r>
            <a:r>
              <a:rPr lang="fr-FR" altLang="en-US" dirty="0" err="1"/>
              <a:t>int</a:t>
            </a:r>
            <a:r>
              <a:rPr lang="fr-FR" altLang="en-US" dirty="0"/>
              <a:t> b) </a:t>
            </a:r>
            <a:r>
              <a:rPr lang="en-US" altLang="en-US" dirty="0">
                <a:sym typeface="Symbol" panose="05050102010706020507" pitchFamily="18" charset="2"/>
              </a:rPr>
              <a:t> </a:t>
            </a:r>
            <a:r>
              <a:rPr lang="en-US" altLang="en-US" dirty="0" err="1">
                <a:sym typeface="Symbol" panose="05050102010706020507" pitchFamily="18" charset="2"/>
              </a:rPr>
              <a:t>có</a:t>
            </a:r>
            <a:r>
              <a:rPr lang="en-US" altLang="en-US" dirty="0">
                <a:sym typeface="Symbol" panose="05050102010706020507" pitchFamily="18" charset="2"/>
              </a:rPr>
              <a:t> </a:t>
            </a:r>
            <a:r>
              <a:rPr lang="en-US" altLang="en-US" dirty="0" err="1">
                <a:sym typeface="Symbol" panose="05050102010706020507" pitchFamily="18" charset="2"/>
              </a:rPr>
              <a:t>kiểu</a:t>
            </a:r>
            <a:r>
              <a:rPr lang="en-US" altLang="en-US" dirty="0">
                <a:sym typeface="Symbol" panose="05050102010706020507" pitchFamily="18" charset="2"/>
              </a:rPr>
              <a:t> int x int  pointer(int)</a:t>
            </a:r>
            <a:endParaRPr lang="en-US" altLang="en-US" dirty="0"/>
          </a:p>
          <a:p>
            <a:pPr marL="2497138" lvl="3" indent="-381000" eaLnBrk="1" hangingPunct="1">
              <a:buFontTx/>
              <a:buNone/>
            </a:pPr>
            <a:endParaRPr lang="en-US"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0283133F-7486-4698-A6C0-EB084DBD2362}" type="slidenum">
              <a:rPr lang="en-US" altLang="en-US" sz="1400" b="0"/>
              <a:pPr/>
              <a:t>52</a:t>
            </a:fld>
            <a:endParaRPr lang="en-US" altLang="en-US" sz="1400" b="0"/>
          </a:p>
        </p:txBody>
      </p:sp>
      <p:sp>
        <p:nvSpPr>
          <p:cNvPr id="58371" name="Rectangle 2"/>
          <p:cNvSpPr>
            <a:spLocks noGrp="1" noChangeArrowheads="1"/>
          </p:cNvSpPr>
          <p:nvPr>
            <p:ph type="title"/>
          </p:nvPr>
        </p:nvSpPr>
        <p:spPr/>
        <p:txBody>
          <a:bodyPr/>
          <a:lstStyle/>
          <a:p>
            <a:pPr eaLnBrk="1" hangingPunct="1"/>
            <a:r>
              <a:rPr lang="en-US" altLang="en-US"/>
              <a:t>Hệ thống kiểu</a:t>
            </a:r>
            <a:endParaRPr lang="en-US" altLang="en-US">
              <a:sym typeface="Symbol" panose="05050102010706020507" pitchFamily="18" charset="2"/>
            </a:endParaRPr>
          </a:p>
        </p:txBody>
      </p:sp>
      <p:sp>
        <p:nvSpPr>
          <p:cNvPr id="58372"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sp>
        <p:nvSpPr>
          <p:cNvPr id="58373" name="Rectangle 4"/>
          <p:cNvSpPr>
            <a:spLocks noGrp="1" noChangeArrowheads="1"/>
          </p:cNvSpPr>
          <p:nvPr>
            <p:ph type="body" idx="1"/>
          </p:nvPr>
        </p:nvSpPr>
        <p:spPr>
          <a:xfrm>
            <a:off x="228600" y="914400"/>
            <a:ext cx="8724900" cy="5715000"/>
          </a:xfrm>
          <a:noFill/>
        </p:spPr>
        <p:txBody>
          <a:bodyPr lIns="0" rIns="0"/>
          <a:lstStyle/>
          <a:p>
            <a:pPr marL="347663" indent="-347663" eaLnBrk="1" hangingPunct="1">
              <a:lnSpc>
                <a:spcPct val="140000"/>
              </a:lnSpc>
              <a:spcBef>
                <a:spcPct val="50000"/>
              </a:spcBef>
            </a:pPr>
            <a:r>
              <a:rPr lang="en-US" altLang="en-US"/>
              <a:t>Tập các luật để ấn định các biểu thức kiểu vào các phần khác nhau của chương trình</a:t>
            </a:r>
          </a:p>
          <a:p>
            <a:pPr marL="347663" indent="-347663" eaLnBrk="1" hangingPunct="1">
              <a:lnSpc>
                <a:spcPct val="140000"/>
              </a:lnSpc>
              <a:spcBef>
                <a:spcPct val="50000"/>
              </a:spcBef>
            </a:pPr>
            <a:r>
              <a:rPr lang="en-US" altLang="en-US"/>
              <a:t>Bộ kiểm tra kiểu thực hiện một hệ thống kiểu</a:t>
            </a:r>
          </a:p>
          <a:p>
            <a:pPr marL="347663" indent="-347663" eaLnBrk="1" hangingPunct="1">
              <a:lnSpc>
                <a:spcPct val="140000"/>
              </a:lnSpc>
              <a:spcBef>
                <a:spcPct val="50000"/>
              </a:spcBef>
            </a:pPr>
            <a:r>
              <a:rPr lang="en-US" altLang="en-US"/>
              <a:t>Được định nghĩa thông qua định nghĩa tựa cú pháp</a:t>
            </a:r>
          </a:p>
          <a:p>
            <a:pPr marL="347663" indent="-347663" eaLnBrk="1" hangingPunct="1">
              <a:lnSpc>
                <a:spcPct val="140000"/>
              </a:lnSpc>
              <a:spcBef>
                <a:spcPct val="50000"/>
              </a:spcBef>
            </a:pPr>
            <a:endParaRPr lang="en-US"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47634AC8-6E66-42C5-86D4-ABAEE75A4767}" type="slidenum">
              <a:rPr lang="en-US" altLang="en-US" sz="1400" b="0"/>
              <a:pPr/>
              <a:t>53</a:t>
            </a:fld>
            <a:endParaRPr lang="en-US" altLang="en-US" sz="1400" b="0"/>
          </a:p>
        </p:txBody>
      </p:sp>
      <p:sp>
        <p:nvSpPr>
          <p:cNvPr id="59395" name="Rectangle 2"/>
          <p:cNvSpPr>
            <a:spLocks noGrp="1" noChangeArrowheads="1"/>
          </p:cNvSpPr>
          <p:nvPr>
            <p:ph type="title"/>
          </p:nvPr>
        </p:nvSpPr>
        <p:spPr/>
        <p:txBody>
          <a:bodyPr/>
          <a:lstStyle/>
          <a:p>
            <a:pPr eaLnBrk="1" hangingPunct="1"/>
            <a:r>
              <a:rPr lang="en-US" altLang="en-US"/>
              <a:t>Bộ kiểm tra kiểu đơn giản</a:t>
            </a:r>
            <a:endParaRPr lang="en-US" altLang="en-US">
              <a:sym typeface="Symbol" panose="05050102010706020507" pitchFamily="18" charset="2"/>
            </a:endParaRPr>
          </a:p>
        </p:txBody>
      </p:sp>
      <p:sp>
        <p:nvSpPr>
          <p:cNvPr id="59396"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sp>
        <p:nvSpPr>
          <p:cNvPr id="59397" name="Rectangle 4"/>
          <p:cNvSpPr>
            <a:spLocks noGrp="1" noChangeArrowheads="1"/>
          </p:cNvSpPr>
          <p:nvPr>
            <p:ph type="body" idx="1"/>
          </p:nvPr>
        </p:nvSpPr>
        <p:spPr>
          <a:xfrm>
            <a:off x="228600" y="914400"/>
            <a:ext cx="8724900" cy="5715000"/>
          </a:xfrm>
          <a:noFill/>
        </p:spPr>
        <p:txBody>
          <a:bodyPr lIns="0" rIns="0"/>
          <a:lstStyle/>
          <a:p>
            <a:pPr marL="0" indent="0" eaLnBrk="1" hangingPunct="1">
              <a:lnSpc>
                <a:spcPct val="110000"/>
              </a:lnSpc>
              <a:buFontTx/>
              <a:buNone/>
            </a:pPr>
            <a:r>
              <a:rPr lang="fr-FR" altLang="en-US" dirty="0" err="1"/>
              <a:t>Xét</a:t>
            </a:r>
            <a:r>
              <a:rPr lang="fr-FR" altLang="en-US" dirty="0"/>
              <a:t> </a:t>
            </a:r>
            <a:r>
              <a:rPr lang="fr-FR" altLang="en-US" dirty="0" err="1"/>
              <a:t>văn</a:t>
            </a:r>
            <a:r>
              <a:rPr lang="fr-FR" altLang="en-US" dirty="0"/>
              <a:t> </a:t>
            </a:r>
            <a:r>
              <a:rPr lang="fr-FR" altLang="en-US" dirty="0" err="1"/>
              <a:t>phạm</a:t>
            </a:r>
            <a:endParaRPr lang="fr-FR" altLang="en-US" dirty="0"/>
          </a:p>
          <a:p>
            <a:pPr marL="992188" lvl="2" indent="58738" eaLnBrk="1" hangingPunct="1">
              <a:lnSpc>
                <a:spcPct val="110000"/>
              </a:lnSpc>
              <a:buFontTx/>
              <a:buNone/>
            </a:pPr>
            <a:r>
              <a:rPr lang="en-US" altLang="en-US" sz="2800" dirty="0"/>
              <a:t>P → D;E</a:t>
            </a:r>
          </a:p>
          <a:p>
            <a:pPr marL="992188" lvl="2" indent="58738" eaLnBrk="1" hangingPunct="1">
              <a:lnSpc>
                <a:spcPct val="110000"/>
              </a:lnSpc>
              <a:buFontTx/>
              <a:buNone/>
            </a:pPr>
            <a:r>
              <a:rPr lang="en-US" altLang="en-US" sz="2800" dirty="0"/>
              <a:t>D → D;D | id : T</a:t>
            </a:r>
          </a:p>
          <a:p>
            <a:pPr marL="992188" lvl="2" indent="58738" eaLnBrk="1" hangingPunct="1">
              <a:lnSpc>
                <a:spcPct val="110000"/>
              </a:lnSpc>
              <a:buFontTx/>
              <a:buNone/>
            </a:pPr>
            <a:r>
              <a:rPr lang="en-US" altLang="en-US" sz="2800" dirty="0"/>
              <a:t>T → </a:t>
            </a:r>
            <a:r>
              <a:rPr lang="en-US" altLang="en-US" sz="2800" dirty="0">
                <a:solidFill>
                  <a:srgbClr val="3539EB"/>
                </a:solidFill>
              </a:rPr>
              <a:t>char </a:t>
            </a:r>
            <a:r>
              <a:rPr lang="en-US" altLang="en-US" sz="2800" dirty="0"/>
              <a:t>| </a:t>
            </a:r>
            <a:r>
              <a:rPr lang="en-US" altLang="en-US" sz="2800" dirty="0" err="1">
                <a:solidFill>
                  <a:srgbClr val="3539EB"/>
                </a:solidFill>
              </a:rPr>
              <a:t>int</a:t>
            </a:r>
            <a:r>
              <a:rPr lang="en-US" altLang="en-US" sz="2800" dirty="0">
                <a:solidFill>
                  <a:srgbClr val="3539EB"/>
                </a:solidFill>
              </a:rPr>
              <a:t> </a:t>
            </a:r>
            <a:r>
              <a:rPr lang="en-US" altLang="en-US" sz="2800" dirty="0"/>
              <a:t>| </a:t>
            </a:r>
            <a:r>
              <a:rPr lang="en-US" altLang="en-US" sz="2800" dirty="0">
                <a:solidFill>
                  <a:srgbClr val="3539EB"/>
                </a:solidFill>
              </a:rPr>
              <a:t>array</a:t>
            </a:r>
            <a:r>
              <a:rPr lang="en-US" altLang="en-US" sz="2800" dirty="0"/>
              <a:t>[</a:t>
            </a:r>
            <a:r>
              <a:rPr lang="en-US" altLang="en-US" sz="2800" dirty="0" err="1"/>
              <a:t>num</a:t>
            </a:r>
            <a:r>
              <a:rPr lang="en-US" altLang="en-US" sz="2800" dirty="0"/>
              <a:t>] of T | ^T</a:t>
            </a:r>
            <a:endParaRPr lang="pt-BR" altLang="en-US" sz="2800" dirty="0"/>
          </a:p>
          <a:p>
            <a:pPr marL="992188" lvl="2" indent="58738" eaLnBrk="1" hangingPunct="1">
              <a:lnSpc>
                <a:spcPct val="110000"/>
              </a:lnSpc>
              <a:buFontTx/>
              <a:buNone/>
            </a:pPr>
            <a:r>
              <a:rPr lang="pt-BR" altLang="en-US" sz="2800" dirty="0"/>
              <a:t>E → literal | num | id | E mod E | E[E] | E^</a:t>
            </a:r>
            <a:endParaRPr lang="en-US" altLang="en-US" sz="2800" dirty="0"/>
          </a:p>
          <a:p>
            <a:pPr marL="0" indent="0" eaLnBrk="1" hangingPunct="1">
              <a:lnSpc>
                <a:spcPct val="110000"/>
              </a:lnSpc>
              <a:buFontTx/>
              <a:buNone/>
            </a:pPr>
            <a:r>
              <a:rPr lang="fr-FR" altLang="en-US" dirty="0" err="1"/>
              <a:t>Văn</a:t>
            </a:r>
            <a:r>
              <a:rPr lang="fr-FR" altLang="en-US" dirty="0"/>
              <a:t> </a:t>
            </a:r>
            <a:r>
              <a:rPr lang="fr-FR" altLang="en-US" dirty="0" err="1"/>
              <a:t>pham</a:t>
            </a:r>
            <a:r>
              <a:rPr lang="fr-FR" altLang="en-US" dirty="0"/>
              <a:t> </a:t>
            </a:r>
            <a:r>
              <a:rPr lang="fr-FR" altLang="en-US" dirty="0" err="1"/>
              <a:t>sinh</a:t>
            </a:r>
            <a:r>
              <a:rPr lang="fr-FR" altLang="en-US" dirty="0"/>
              <a:t> ra </a:t>
            </a:r>
            <a:r>
              <a:rPr lang="fr-FR" altLang="en-US" dirty="0" err="1"/>
              <a:t>chương</a:t>
            </a:r>
            <a:r>
              <a:rPr lang="fr-FR" altLang="en-US" dirty="0"/>
              <a:t> </a:t>
            </a:r>
            <a:r>
              <a:rPr lang="fr-FR" altLang="en-US" dirty="0" err="1"/>
              <a:t>trình</a:t>
            </a:r>
            <a:r>
              <a:rPr lang="fr-FR" altLang="en-US" dirty="0"/>
              <a:t> </a:t>
            </a:r>
            <a:r>
              <a:rPr lang="fr-FR" altLang="en-US" dirty="0" err="1"/>
              <a:t>bắt</a:t>
            </a:r>
            <a:r>
              <a:rPr lang="fr-FR" altLang="en-US" dirty="0"/>
              <a:t> </a:t>
            </a:r>
            <a:r>
              <a:rPr lang="fr-FR" altLang="en-US" dirty="0" err="1"/>
              <a:t>đầu</a:t>
            </a:r>
            <a:r>
              <a:rPr lang="fr-FR" altLang="en-US" dirty="0"/>
              <a:t> </a:t>
            </a:r>
            <a:r>
              <a:rPr lang="fr-FR" altLang="en-US" dirty="0" err="1"/>
              <a:t>bởi</a:t>
            </a:r>
            <a:r>
              <a:rPr lang="fr-FR" altLang="en-US" dirty="0"/>
              <a:t> </a:t>
            </a:r>
            <a:r>
              <a:rPr lang="fr-FR" altLang="en-US" dirty="0" err="1"/>
              <a:t>các</a:t>
            </a:r>
            <a:r>
              <a:rPr lang="fr-FR" altLang="en-US" dirty="0"/>
              <a:t> </a:t>
            </a:r>
            <a:r>
              <a:rPr lang="fr-FR" altLang="en-US" dirty="0" err="1"/>
              <a:t>khai</a:t>
            </a:r>
            <a:r>
              <a:rPr lang="fr-FR" altLang="en-US" dirty="0"/>
              <a:t> </a:t>
            </a:r>
            <a:r>
              <a:rPr lang="fr-FR" altLang="en-US" dirty="0" err="1"/>
              <a:t>báo</a:t>
            </a:r>
            <a:r>
              <a:rPr lang="fr-FR" altLang="en-US" dirty="0"/>
              <a:t> </a:t>
            </a:r>
            <a:r>
              <a:rPr lang="fr-FR" altLang="en-US" dirty="0">
                <a:solidFill>
                  <a:srgbClr val="3539EB"/>
                </a:solidFill>
              </a:rPr>
              <a:t>D</a:t>
            </a:r>
            <a:r>
              <a:rPr lang="fr-FR" altLang="en-US" dirty="0"/>
              <a:t> </a:t>
            </a:r>
            <a:r>
              <a:rPr lang="fr-FR" altLang="en-US" dirty="0" err="1"/>
              <a:t>và</a:t>
            </a:r>
            <a:r>
              <a:rPr lang="fr-FR" altLang="en-US" dirty="0"/>
              <a:t> </a:t>
            </a:r>
            <a:r>
              <a:rPr lang="fr-FR" altLang="en-US" dirty="0" err="1"/>
              <a:t>sau</a:t>
            </a:r>
            <a:r>
              <a:rPr lang="fr-FR" altLang="en-US" dirty="0"/>
              <a:t> </a:t>
            </a:r>
            <a:r>
              <a:rPr lang="fr-FR" altLang="en-US" dirty="0" err="1"/>
              <a:t>đó</a:t>
            </a:r>
            <a:r>
              <a:rPr lang="fr-FR" altLang="en-US" dirty="0"/>
              <a:t> là </a:t>
            </a:r>
            <a:r>
              <a:rPr lang="fr-FR" altLang="en-US" dirty="0" err="1"/>
              <a:t>một</a:t>
            </a:r>
            <a:r>
              <a:rPr lang="fr-FR" altLang="en-US" dirty="0"/>
              <a:t> </a:t>
            </a:r>
            <a:r>
              <a:rPr lang="fr-FR" altLang="en-US" dirty="0" err="1"/>
              <a:t>biểu</a:t>
            </a:r>
            <a:r>
              <a:rPr lang="fr-FR" altLang="en-US" dirty="0"/>
              <a:t> </a:t>
            </a:r>
            <a:r>
              <a:rPr lang="fr-FR" altLang="en-US" dirty="0" err="1"/>
              <a:t>thức</a:t>
            </a:r>
            <a:r>
              <a:rPr lang="fr-FR" altLang="en-US" dirty="0"/>
              <a:t> </a:t>
            </a:r>
            <a:r>
              <a:rPr lang="fr-FR" altLang="en-US" dirty="0">
                <a:solidFill>
                  <a:srgbClr val="3539EB"/>
                </a:solidFill>
              </a:rPr>
              <a:t>E</a:t>
            </a:r>
          </a:p>
          <a:p>
            <a:pPr marL="508000" lvl="1" indent="304800" eaLnBrk="1" hangingPunct="1">
              <a:lnSpc>
                <a:spcPct val="110000"/>
              </a:lnSpc>
            </a:pPr>
            <a:r>
              <a:rPr lang="fr-FR" altLang="en-US" dirty="0" err="1"/>
              <a:t>Giả</a:t>
            </a:r>
            <a:r>
              <a:rPr lang="fr-FR" altLang="en-US" dirty="0"/>
              <a:t> </a:t>
            </a:r>
            <a:r>
              <a:rPr lang="fr-FR" altLang="en-US" dirty="0" err="1"/>
              <a:t>thiết</a:t>
            </a:r>
            <a:r>
              <a:rPr lang="fr-FR" altLang="en-US" dirty="0"/>
              <a:t> </a:t>
            </a:r>
            <a:r>
              <a:rPr lang="fr-FR" altLang="en-US" dirty="0" err="1"/>
              <a:t>chỉ</a:t>
            </a:r>
            <a:r>
              <a:rPr lang="fr-FR" altLang="en-US" dirty="0"/>
              <a:t> </a:t>
            </a:r>
            <a:r>
              <a:rPr lang="fr-FR" altLang="en-US" dirty="0" err="1"/>
              <a:t>số</a:t>
            </a:r>
            <a:r>
              <a:rPr lang="fr-FR" altLang="en-US" dirty="0"/>
              <a:t> </a:t>
            </a:r>
            <a:r>
              <a:rPr lang="fr-FR" altLang="en-US" dirty="0" err="1"/>
              <a:t>mảng</a:t>
            </a:r>
            <a:r>
              <a:rPr lang="fr-FR" altLang="en-US" dirty="0"/>
              <a:t> </a:t>
            </a:r>
            <a:r>
              <a:rPr lang="fr-FR" altLang="en-US" dirty="0" err="1"/>
              <a:t>bắt</a:t>
            </a:r>
            <a:r>
              <a:rPr lang="fr-FR" altLang="en-US" dirty="0"/>
              <a:t> </a:t>
            </a:r>
            <a:r>
              <a:rPr lang="fr-FR" altLang="en-US" dirty="0" err="1"/>
              <a:t>đầu</a:t>
            </a:r>
            <a:r>
              <a:rPr lang="fr-FR" altLang="en-US" dirty="0"/>
              <a:t> </a:t>
            </a:r>
            <a:r>
              <a:rPr lang="fr-FR" altLang="en-US" dirty="0" err="1"/>
              <a:t>từ</a:t>
            </a:r>
            <a:r>
              <a:rPr lang="fr-FR" altLang="en-US" dirty="0"/>
              <a:t> 1	</a:t>
            </a:r>
            <a:endParaRPr lang="en-US" altLang="en-US" sz="3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34FBA4A6-7363-4EBD-BF97-E835407D4AB0}" type="slidenum">
              <a:rPr lang="en-US" altLang="en-US" sz="1400" b="0"/>
              <a:pPr/>
              <a:t>54</a:t>
            </a:fld>
            <a:endParaRPr lang="en-US" altLang="en-US" sz="1400" b="0"/>
          </a:p>
        </p:txBody>
      </p:sp>
      <p:sp>
        <p:nvSpPr>
          <p:cNvPr id="61443" name="Rectangle 2"/>
          <p:cNvSpPr>
            <a:spLocks noGrp="1" noChangeArrowheads="1"/>
          </p:cNvSpPr>
          <p:nvPr>
            <p:ph type="title"/>
          </p:nvPr>
        </p:nvSpPr>
        <p:spPr/>
        <p:txBody>
          <a:bodyPr/>
          <a:lstStyle/>
          <a:p>
            <a:pPr eaLnBrk="1" hangingPunct="1"/>
            <a:r>
              <a:rPr lang="en-US" altLang="en-US" sz="2800" b="1"/>
              <a:t>Bộ kiểm tra kiểu của định danh</a:t>
            </a:r>
            <a:r>
              <a:rPr lang="en-US" altLang="en-US" sz="2800" b="1">
                <a:sym typeface="Symbol" panose="05050102010706020507" pitchFamily="18" charset="2"/>
              </a:rPr>
              <a:t>Ví dụ</a:t>
            </a:r>
            <a:endParaRPr lang="en-US" altLang="en-US" sz="2800" b="1"/>
          </a:p>
        </p:txBody>
      </p:sp>
      <p:sp>
        <p:nvSpPr>
          <p:cNvPr id="61444"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sp>
        <p:nvSpPr>
          <p:cNvPr id="2" name="Content Placeholder 1"/>
          <p:cNvSpPr>
            <a:spLocks noGrp="1"/>
          </p:cNvSpPr>
          <p:nvPr>
            <p:ph sz="half" idx="2"/>
          </p:nvPr>
        </p:nvSpPr>
        <p:spPr>
          <a:xfrm>
            <a:off x="381000" y="990600"/>
            <a:ext cx="2438400" cy="1752600"/>
          </a:xfrm>
          <a:ln>
            <a:solidFill>
              <a:schemeClr val="accent6"/>
            </a:solidFill>
          </a:ln>
        </p:spPr>
        <p:txBody>
          <a:bodyPr/>
          <a:lstStyle/>
          <a:p>
            <a:pPr marL="0" indent="0" eaLnBrk="1" hangingPunct="1">
              <a:buFontTx/>
              <a:buNone/>
              <a:defRPr/>
            </a:pPr>
            <a:r>
              <a:rPr lang="en-US" dirty="0"/>
              <a:t>N : integer;</a:t>
            </a:r>
          </a:p>
          <a:p>
            <a:pPr marL="0" indent="0" eaLnBrk="1" hangingPunct="1">
              <a:buFontTx/>
              <a:buNone/>
              <a:defRPr/>
            </a:pPr>
            <a:r>
              <a:rPr lang="en-US" dirty="0" err="1"/>
              <a:t>Ch</a:t>
            </a:r>
            <a:r>
              <a:rPr lang="en-US" dirty="0"/>
              <a:t> : Char;</a:t>
            </a:r>
          </a:p>
          <a:p>
            <a:pPr marL="0" indent="0" eaLnBrk="1" hangingPunct="1">
              <a:buFontTx/>
              <a:buNone/>
              <a:defRPr/>
            </a:pPr>
            <a:r>
              <a:rPr lang="en-US" dirty="0"/>
              <a:t>N Mod </a:t>
            </a:r>
            <a:r>
              <a:rPr lang="en-US" dirty="0" err="1"/>
              <a:t>Ch</a:t>
            </a:r>
            <a:endParaRPr lang="en-US" dirty="0"/>
          </a:p>
          <a:p>
            <a:pPr marL="0" indent="0" eaLnBrk="1" hangingPunct="1">
              <a:buFontTx/>
              <a:buNone/>
              <a:defRPr/>
            </a:pPr>
            <a:endParaRPr lang="en-US" dirty="0"/>
          </a:p>
        </p:txBody>
      </p:sp>
      <p:grpSp>
        <p:nvGrpSpPr>
          <p:cNvPr id="61446" name="Group 2"/>
          <p:cNvGrpSpPr>
            <a:grpSpLocks/>
          </p:cNvGrpSpPr>
          <p:nvPr/>
        </p:nvGrpSpPr>
        <p:grpSpPr bwMode="auto">
          <a:xfrm>
            <a:off x="838200" y="1600200"/>
            <a:ext cx="8026400" cy="4760912"/>
            <a:chOff x="990600" y="1269571"/>
            <a:chExt cx="8025677" cy="4760178"/>
          </a:xfrm>
        </p:grpSpPr>
        <p:sp>
          <p:nvSpPr>
            <p:cNvPr id="61447" name="Text Box 7"/>
            <p:cNvSpPr txBox="1">
              <a:spLocks noChangeArrowheads="1"/>
            </p:cNvSpPr>
            <p:nvPr/>
          </p:nvSpPr>
          <p:spPr bwMode="auto">
            <a:xfrm>
              <a:off x="5559060" y="1269571"/>
              <a:ext cx="32375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3200" b="0">
                  <a:solidFill>
                    <a:srgbClr val="270076"/>
                  </a:solidFill>
                </a:rPr>
                <a:t>P</a:t>
              </a:r>
              <a:endParaRPr lang="en-US" altLang="en-US" sz="3200" b="0">
                <a:solidFill>
                  <a:srgbClr val="270076"/>
                </a:solidFill>
              </a:endParaRPr>
            </a:p>
          </p:txBody>
        </p:sp>
        <p:sp>
          <p:nvSpPr>
            <p:cNvPr id="61448" name="Text Box 10"/>
            <p:cNvSpPr txBox="1">
              <a:spLocks noChangeArrowheads="1"/>
            </p:cNvSpPr>
            <p:nvPr/>
          </p:nvSpPr>
          <p:spPr bwMode="auto">
            <a:xfrm>
              <a:off x="7494163" y="2234330"/>
              <a:ext cx="32375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E</a:t>
              </a:r>
              <a:endParaRPr lang="en-US" altLang="en-US" sz="3200" b="0">
                <a:solidFill>
                  <a:srgbClr val="270076"/>
                </a:solidFill>
              </a:endParaRPr>
            </a:p>
          </p:txBody>
        </p:sp>
        <p:sp>
          <p:nvSpPr>
            <p:cNvPr id="61449" name="Line 14"/>
            <p:cNvSpPr>
              <a:spLocks noChangeShapeType="1"/>
            </p:cNvSpPr>
            <p:nvPr/>
          </p:nvSpPr>
          <p:spPr bwMode="auto">
            <a:xfrm>
              <a:off x="5508505" y="3652683"/>
              <a:ext cx="726215" cy="550544"/>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50" name="Text Box 15"/>
            <p:cNvSpPr txBox="1">
              <a:spLocks noChangeArrowheads="1"/>
            </p:cNvSpPr>
            <p:nvPr/>
          </p:nvSpPr>
          <p:spPr bwMode="auto">
            <a:xfrm>
              <a:off x="4099503" y="4203227"/>
              <a:ext cx="91560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Id</a:t>
              </a:r>
              <a:endParaRPr lang="en-US" altLang="en-US" sz="3200" b="0" baseline="-25000">
                <a:solidFill>
                  <a:srgbClr val="270076"/>
                </a:solidFill>
              </a:endParaRPr>
            </a:p>
          </p:txBody>
        </p:sp>
        <p:sp>
          <p:nvSpPr>
            <p:cNvPr id="61451" name="Line 20"/>
            <p:cNvSpPr>
              <a:spLocks noChangeShapeType="1"/>
            </p:cNvSpPr>
            <p:nvPr/>
          </p:nvSpPr>
          <p:spPr bwMode="auto">
            <a:xfrm flipV="1">
              <a:off x="3942603" y="1752109"/>
              <a:ext cx="1700612" cy="514660"/>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52" name="Line 22"/>
            <p:cNvSpPr>
              <a:spLocks noChangeShapeType="1"/>
            </p:cNvSpPr>
            <p:nvPr/>
          </p:nvSpPr>
          <p:spPr bwMode="auto">
            <a:xfrm>
              <a:off x="5882813" y="1752110"/>
              <a:ext cx="1598542" cy="548978"/>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53" name="Line 23"/>
            <p:cNvSpPr>
              <a:spLocks noChangeShapeType="1"/>
            </p:cNvSpPr>
            <p:nvPr/>
          </p:nvSpPr>
          <p:spPr bwMode="auto">
            <a:xfrm flipH="1">
              <a:off x="5729911" y="1798998"/>
              <a:ext cx="7750" cy="434536"/>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54" name="Line 24"/>
            <p:cNvSpPr>
              <a:spLocks noChangeShapeType="1"/>
            </p:cNvSpPr>
            <p:nvPr/>
          </p:nvSpPr>
          <p:spPr bwMode="auto">
            <a:xfrm flipH="1">
              <a:off x="2556594" y="2702736"/>
              <a:ext cx="1173528" cy="465259"/>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55" name="Line 26"/>
            <p:cNvSpPr>
              <a:spLocks noChangeShapeType="1"/>
            </p:cNvSpPr>
            <p:nvPr/>
          </p:nvSpPr>
          <p:spPr bwMode="auto">
            <a:xfrm>
              <a:off x="4147095" y="2708868"/>
              <a:ext cx="943536" cy="504249"/>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56" name="Line 30"/>
            <p:cNvSpPr>
              <a:spLocks noChangeShapeType="1"/>
            </p:cNvSpPr>
            <p:nvPr/>
          </p:nvSpPr>
          <p:spPr bwMode="auto">
            <a:xfrm flipH="1">
              <a:off x="4617814" y="3652683"/>
              <a:ext cx="629548" cy="596038"/>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57" name="Text Box 10"/>
            <p:cNvSpPr txBox="1">
              <a:spLocks noChangeArrowheads="1"/>
            </p:cNvSpPr>
            <p:nvPr/>
          </p:nvSpPr>
          <p:spPr bwMode="auto">
            <a:xfrm>
              <a:off x="5559060" y="2090569"/>
              <a:ext cx="32375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a:solidFill>
                    <a:srgbClr val="FF0000"/>
                  </a:solidFill>
                </a:rPr>
                <a:t>;</a:t>
              </a:r>
              <a:endParaRPr lang="en-US" altLang="en-US" sz="3200">
                <a:solidFill>
                  <a:srgbClr val="FF0000"/>
                </a:solidFill>
              </a:endParaRPr>
            </a:p>
          </p:txBody>
        </p:sp>
        <p:sp>
          <p:nvSpPr>
            <p:cNvPr id="61458" name="Text Box 10"/>
            <p:cNvSpPr txBox="1">
              <a:spLocks noChangeArrowheads="1"/>
            </p:cNvSpPr>
            <p:nvPr/>
          </p:nvSpPr>
          <p:spPr bwMode="auto">
            <a:xfrm>
              <a:off x="3764694" y="2195222"/>
              <a:ext cx="32375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D</a:t>
              </a:r>
              <a:endParaRPr lang="en-US" altLang="en-US" sz="3200" b="0">
                <a:solidFill>
                  <a:srgbClr val="270076"/>
                </a:solidFill>
              </a:endParaRPr>
            </a:p>
          </p:txBody>
        </p:sp>
        <p:sp>
          <p:nvSpPr>
            <p:cNvPr id="61459" name="Line 23"/>
            <p:cNvSpPr>
              <a:spLocks noChangeShapeType="1"/>
            </p:cNvSpPr>
            <p:nvPr/>
          </p:nvSpPr>
          <p:spPr bwMode="auto">
            <a:xfrm>
              <a:off x="3936814" y="2703856"/>
              <a:ext cx="3589" cy="45520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60" name="Text Box 10"/>
            <p:cNvSpPr txBox="1">
              <a:spLocks noChangeArrowheads="1"/>
            </p:cNvSpPr>
            <p:nvPr/>
          </p:nvSpPr>
          <p:spPr bwMode="auto">
            <a:xfrm>
              <a:off x="3804759" y="2998811"/>
              <a:ext cx="32375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a:solidFill>
                    <a:srgbClr val="FF0000"/>
                  </a:solidFill>
                </a:rPr>
                <a:t>;</a:t>
              </a:r>
              <a:endParaRPr lang="en-US" altLang="en-US" sz="3200">
                <a:solidFill>
                  <a:srgbClr val="FF0000"/>
                </a:solidFill>
              </a:endParaRPr>
            </a:p>
          </p:txBody>
        </p:sp>
        <p:sp>
          <p:nvSpPr>
            <p:cNvPr id="61461" name="Text Box 10"/>
            <p:cNvSpPr txBox="1">
              <a:spLocks noChangeArrowheads="1"/>
            </p:cNvSpPr>
            <p:nvPr/>
          </p:nvSpPr>
          <p:spPr bwMode="auto">
            <a:xfrm>
              <a:off x="2194930" y="3156798"/>
              <a:ext cx="32375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D</a:t>
              </a:r>
              <a:endParaRPr lang="en-US" altLang="en-US" sz="3200" b="0">
                <a:solidFill>
                  <a:srgbClr val="270076"/>
                </a:solidFill>
              </a:endParaRPr>
            </a:p>
          </p:txBody>
        </p:sp>
        <p:sp>
          <p:nvSpPr>
            <p:cNvPr id="61462" name="Text Box 10"/>
            <p:cNvSpPr txBox="1">
              <a:spLocks noChangeArrowheads="1"/>
            </p:cNvSpPr>
            <p:nvPr/>
          </p:nvSpPr>
          <p:spPr bwMode="auto">
            <a:xfrm>
              <a:off x="5183989" y="3140142"/>
              <a:ext cx="32375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D</a:t>
              </a:r>
              <a:endParaRPr lang="en-US" altLang="en-US" sz="3200" b="0">
                <a:solidFill>
                  <a:srgbClr val="270076"/>
                </a:solidFill>
              </a:endParaRPr>
            </a:p>
          </p:txBody>
        </p:sp>
        <p:sp>
          <p:nvSpPr>
            <p:cNvPr id="61463" name="Text Box 10"/>
            <p:cNvSpPr txBox="1">
              <a:spLocks noChangeArrowheads="1"/>
            </p:cNvSpPr>
            <p:nvPr/>
          </p:nvSpPr>
          <p:spPr bwMode="auto">
            <a:xfrm>
              <a:off x="5264908" y="4160254"/>
              <a:ext cx="32375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a:solidFill>
                    <a:srgbClr val="FF0000"/>
                  </a:solidFill>
                </a:rPr>
                <a:t>:</a:t>
              </a:r>
              <a:endParaRPr lang="en-US" altLang="en-US" sz="3200">
                <a:solidFill>
                  <a:srgbClr val="FF0000"/>
                </a:solidFill>
              </a:endParaRPr>
            </a:p>
          </p:txBody>
        </p:sp>
        <p:sp>
          <p:nvSpPr>
            <p:cNvPr id="61464" name="Text Box 10"/>
            <p:cNvSpPr txBox="1">
              <a:spLocks noChangeArrowheads="1"/>
            </p:cNvSpPr>
            <p:nvPr/>
          </p:nvSpPr>
          <p:spPr bwMode="auto">
            <a:xfrm>
              <a:off x="6125761" y="4170803"/>
              <a:ext cx="32375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T</a:t>
              </a:r>
              <a:endParaRPr lang="en-US" altLang="en-US" sz="3200" b="0">
                <a:solidFill>
                  <a:srgbClr val="270076"/>
                </a:solidFill>
              </a:endParaRPr>
            </a:p>
          </p:txBody>
        </p:sp>
        <p:sp>
          <p:nvSpPr>
            <p:cNvPr id="61465" name="Line 23"/>
            <p:cNvSpPr>
              <a:spLocks noChangeShapeType="1"/>
            </p:cNvSpPr>
            <p:nvPr/>
          </p:nvSpPr>
          <p:spPr bwMode="auto">
            <a:xfrm>
              <a:off x="5395456" y="3683646"/>
              <a:ext cx="3589" cy="45520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66" name="Line 23"/>
            <p:cNvSpPr>
              <a:spLocks noChangeShapeType="1"/>
            </p:cNvSpPr>
            <p:nvPr/>
          </p:nvSpPr>
          <p:spPr bwMode="auto">
            <a:xfrm>
              <a:off x="6287637" y="4784866"/>
              <a:ext cx="3589" cy="45520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67" name="Line 23"/>
            <p:cNvSpPr>
              <a:spLocks noChangeShapeType="1"/>
            </p:cNvSpPr>
            <p:nvPr/>
          </p:nvSpPr>
          <p:spPr bwMode="auto">
            <a:xfrm>
              <a:off x="4520879" y="4784866"/>
              <a:ext cx="3589" cy="45520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68" name="Text Box 15"/>
            <p:cNvSpPr txBox="1">
              <a:spLocks noChangeArrowheads="1"/>
            </p:cNvSpPr>
            <p:nvPr/>
          </p:nvSpPr>
          <p:spPr bwMode="auto">
            <a:xfrm>
              <a:off x="4063075" y="5333209"/>
              <a:ext cx="91560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FF0000"/>
                  </a:solidFill>
                </a:rPr>
                <a:t>Ch</a:t>
              </a:r>
              <a:endParaRPr lang="en-US" altLang="en-US" sz="3200" b="0" baseline="-25000">
                <a:solidFill>
                  <a:srgbClr val="FF0000"/>
                </a:solidFill>
              </a:endParaRPr>
            </a:p>
          </p:txBody>
        </p:sp>
        <p:sp>
          <p:nvSpPr>
            <p:cNvPr id="61469" name="Text Box 15"/>
            <p:cNvSpPr txBox="1">
              <a:spLocks noChangeArrowheads="1"/>
            </p:cNvSpPr>
            <p:nvPr/>
          </p:nvSpPr>
          <p:spPr bwMode="auto">
            <a:xfrm>
              <a:off x="5508505" y="5387579"/>
              <a:ext cx="15347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FF0000"/>
                  </a:solidFill>
                </a:rPr>
                <a:t>Char</a:t>
              </a:r>
              <a:endParaRPr lang="en-US" altLang="en-US" sz="3200" b="0" baseline="-25000">
                <a:solidFill>
                  <a:srgbClr val="FF0000"/>
                </a:solidFill>
              </a:endParaRPr>
            </a:p>
          </p:txBody>
        </p:sp>
        <p:sp>
          <p:nvSpPr>
            <p:cNvPr id="61470" name="Line 14"/>
            <p:cNvSpPr>
              <a:spLocks noChangeShapeType="1"/>
            </p:cNvSpPr>
            <p:nvPr/>
          </p:nvSpPr>
          <p:spPr bwMode="auto">
            <a:xfrm>
              <a:off x="2436030" y="3710078"/>
              <a:ext cx="726215" cy="550544"/>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71" name="Text Box 15"/>
            <p:cNvSpPr txBox="1">
              <a:spLocks noChangeArrowheads="1"/>
            </p:cNvSpPr>
            <p:nvPr/>
          </p:nvSpPr>
          <p:spPr bwMode="auto">
            <a:xfrm>
              <a:off x="1027028" y="4260622"/>
              <a:ext cx="91560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Id</a:t>
              </a:r>
              <a:endParaRPr lang="en-US" altLang="en-US" sz="3200" b="0" baseline="-25000">
                <a:solidFill>
                  <a:srgbClr val="270076"/>
                </a:solidFill>
              </a:endParaRPr>
            </a:p>
          </p:txBody>
        </p:sp>
        <p:sp>
          <p:nvSpPr>
            <p:cNvPr id="61472" name="Line 30"/>
            <p:cNvSpPr>
              <a:spLocks noChangeShapeType="1"/>
            </p:cNvSpPr>
            <p:nvPr/>
          </p:nvSpPr>
          <p:spPr bwMode="auto">
            <a:xfrm flipH="1">
              <a:off x="1545339" y="3710078"/>
              <a:ext cx="629548" cy="596038"/>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73" name="Text Box 10"/>
            <p:cNvSpPr txBox="1">
              <a:spLocks noChangeArrowheads="1"/>
            </p:cNvSpPr>
            <p:nvPr/>
          </p:nvSpPr>
          <p:spPr bwMode="auto">
            <a:xfrm>
              <a:off x="2192433" y="4217649"/>
              <a:ext cx="32375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a:solidFill>
                    <a:srgbClr val="FF0000"/>
                  </a:solidFill>
                </a:rPr>
                <a:t>:</a:t>
              </a:r>
              <a:endParaRPr lang="en-US" altLang="en-US" sz="3200">
                <a:solidFill>
                  <a:srgbClr val="FF0000"/>
                </a:solidFill>
              </a:endParaRPr>
            </a:p>
          </p:txBody>
        </p:sp>
        <p:sp>
          <p:nvSpPr>
            <p:cNvPr id="61474" name="Text Box 10"/>
            <p:cNvSpPr txBox="1">
              <a:spLocks noChangeArrowheads="1"/>
            </p:cNvSpPr>
            <p:nvPr/>
          </p:nvSpPr>
          <p:spPr bwMode="auto">
            <a:xfrm>
              <a:off x="3053286" y="4228198"/>
              <a:ext cx="32375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T</a:t>
              </a:r>
              <a:endParaRPr lang="en-US" altLang="en-US" sz="3200" b="0">
                <a:solidFill>
                  <a:srgbClr val="270076"/>
                </a:solidFill>
              </a:endParaRPr>
            </a:p>
          </p:txBody>
        </p:sp>
        <p:sp>
          <p:nvSpPr>
            <p:cNvPr id="61475" name="Line 23"/>
            <p:cNvSpPr>
              <a:spLocks noChangeShapeType="1"/>
            </p:cNvSpPr>
            <p:nvPr/>
          </p:nvSpPr>
          <p:spPr bwMode="auto">
            <a:xfrm>
              <a:off x="2322981" y="3741041"/>
              <a:ext cx="3589" cy="45520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76" name="Line 23"/>
            <p:cNvSpPr>
              <a:spLocks noChangeShapeType="1"/>
            </p:cNvSpPr>
            <p:nvPr/>
          </p:nvSpPr>
          <p:spPr bwMode="auto">
            <a:xfrm>
              <a:off x="3215162" y="4842261"/>
              <a:ext cx="3589" cy="45520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77" name="Line 23"/>
            <p:cNvSpPr>
              <a:spLocks noChangeShapeType="1"/>
            </p:cNvSpPr>
            <p:nvPr/>
          </p:nvSpPr>
          <p:spPr bwMode="auto">
            <a:xfrm>
              <a:off x="1448404" y="4842261"/>
              <a:ext cx="3589" cy="45520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78" name="Text Box 15"/>
            <p:cNvSpPr txBox="1">
              <a:spLocks noChangeArrowheads="1"/>
            </p:cNvSpPr>
            <p:nvPr/>
          </p:nvSpPr>
          <p:spPr bwMode="auto">
            <a:xfrm>
              <a:off x="990600" y="5390604"/>
              <a:ext cx="91560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FF0000"/>
                  </a:solidFill>
                </a:rPr>
                <a:t>N</a:t>
              </a:r>
              <a:endParaRPr lang="en-US" altLang="en-US" sz="3200" b="0" baseline="-25000">
                <a:solidFill>
                  <a:srgbClr val="FF0000"/>
                </a:solidFill>
              </a:endParaRPr>
            </a:p>
          </p:txBody>
        </p:sp>
        <p:sp>
          <p:nvSpPr>
            <p:cNvPr id="61479" name="Text Box 15"/>
            <p:cNvSpPr txBox="1">
              <a:spLocks noChangeArrowheads="1"/>
            </p:cNvSpPr>
            <p:nvPr/>
          </p:nvSpPr>
          <p:spPr bwMode="auto">
            <a:xfrm>
              <a:off x="2436030" y="5444974"/>
              <a:ext cx="153471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FF0000"/>
                  </a:solidFill>
                </a:rPr>
                <a:t>Integer</a:t>
              </a:r>
              <a:endParaRPr lang="en-US" altLang="en-US" sz="3200" b="0" baseline="-25000">
                <a:solidFill>
                  <a:srgbClr val="FF0000"/>
                </a:solidFill>
              </a:endParaRPr>
            </a:p>
          </p:txBody>
        </p:sp>
        <p:sp>
          <p:nvSpPr>
            <p:cNvPr id="61480" name="Line 14"/>
            <p:cNvSpPr>
              <a:spLocks noChangeShapeType="1"/>
            </p:cNvSpPr>
            <p:nvPr/>
          </p:nvSpPr>
          <p:spPr bwMode="auto">
            <a:xfrm>
              <a:off x="7783425" y="2819491"/>
              <a:ext cx="779132" cy="393626"/>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81" name="Text Box 15"/>
            <p:cNvSpPr txBox="1">
              <a:spLocks noChangeArrowheads="1"/>
            </p:cNvSpPr>
            <p:nvPr/>
          </p:nvSpPr>
          <p:spPr bwMode="auto">
            <a:xfrm>
              <a:off x="6374423" y="3156624"/>
              <a:ext cx="91560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E</a:t>
              </a:r>
              <a:endParaRPr lang="en-US" altLang="en-US" sz="3200" b="0" baseline="-25000">
                <a:solidFill>
                  <a:srgbClr val="270076"/>
                </a:solidFill>
              </a:endParaRPr>
            </a:p>
          </p:txBody>
        </p:sp>
        <p:sp>
          <p:nvSpPr>
            <p:cNvPr id="61482" name="Line 30"/>
            <p:cNvSpPr>
              <a:spLocks noChangeShapeType="1"/>
            </p:cNvSpPr>
            <p:nvPr/>
          </p:nvSpPr>
          <p:spPr bwMode="auto">
            <a:xfrm flipH="1">
              <a:off x="6865415" y="2819491"/>
              <a:ext cx="656867" cy="393626"/>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83" name="Text Box 10"/>
            <p:cNvSpPr txBox="1">
              <a:spLocks noChangeArrowheads="1"/>
            </p:cNvSpPr>
            <p:nvPr/>
          </p:nvSpPr>
          <p:spPr bwMode="auto">
            <a:xfrm>
              <a:off x="7129722" y="3187815"/>
              <a:ext cx="103870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FF0000"/>
                  </a:solidFill>
                </a:rPr>
                <a:t>Mod</a:t>
              </a:r>
              <a:endParaRPr lang="en-US" altLang="en-US" sz="3200" b="0">
                <a:solidFill>
                  <a:srgbClr val="FF0000"/>
                </a:solidFill>
              </a:endParaRPr>
            </a:p>
          </p:txBody>
        </p:sp>
        <p:sp>
          <p:nvSpPr>
            <p:cNvPr id="61484" name="Text Box 10"/>
            <p:cNvSpPr txBox="1">
              <a:spLocks noChangeArrowheads="1"/>
            </p:cNvSpPr>
            <p:nvPr/>
          </p:nvSpPr>
          <p:spPr bwMode="auto">
            <a:xfrm>
              <a:off x="8400681" y="3124200"/>
              <a:ext cx="32375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E</a:t>
              </a:r>
              <a:endParaRPr lang="en-US" altLang="en-US" sz="3200" b="0">
                <a:solidFill>
                  <a:srgbClr val="270076"/>
                </a:solidFill>
              </a:endParaRPr>
            </a:p>
          </p:txBody>
        </p:sp>
        <p:sp>
          <p:nvSpPr>
            <p:cNvPr id="61485" name="Line 23"/>
            <p:cNvSpPr>
              <a:spLocks noChangeShapeType="1"/>
            </p:cNvSpPr>
            <p:nvPr/>
          </p:nvSpPr>
          <p:spPr bwMode="auto">
            <a:xfrm>
              <a:off x="8558474" y="3772590"/>
              <a:ext cx="3589" cy="45520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86" name="Line 23"/>
            <p:cNvSpPr>
              <a:spLocks noChangeShapeType="1"/>
            </p:cNvSpPr>
            <p:nvPr/>
          </p:nvSpPr>
          <p:spPr bwMode="auto">
            <a:xfrm>
              <a:off x="7665505" y="2857809"/>
              <a:ext cx="3589" cy="45520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87" name="Text Box 15"/>
            <p:cNvSpPr txBox="1">
              <a:spLocks noChangeArrowheads="1"/>
            </p:cNvSpPr>
            <p:nvPr/>
          </p:nvSpPr>
          <p:spPr bwMode="auto">
            <a:xfrm>
              <a:off x="8100670" y="4170803"/>
              <a:ext cx="91560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FF0000"/>
                  </a:solidFill>
                </a:rPr>
                <a:t>Ch</a:t>
              </a:r>
              <a:endParaRPr lang="en-US" altLang="en-US" sz="3200" b="0" baseline="-25000">
                <a:solidFill>
                  <a:srgbClr val="FF0000"/>
                </a:solidFill>
              </a:endParaRPr>
            </a:p>
          </p:txBody>
        </p:sp>
        <p:sp>
          <p:nvSpPr>
            <p:cNvPr id="61488" name="Line 23"/>
            <p:cNvSpPr>
              <a:spLocks noChangeShapeType="1"/>
            </p:cNvSpPr>
            <p:nvPr/>
          </p:nvSpPr>
          <p:spPr bwMode="auto">
            <a:xfrm>
              <a:off x="6865415" y="3696418"/>
              <a:ext cx="3589" cy="45520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89" name="Text Box 15"/>
            <p:cNvSpPr txBox="1">
              <a:spLocks noChangeArrowheads="1"/>
            </p:cNvSpPr>
            <p:nvPr/>
          </p:nvSpPr>
          <p:spPr bwMode="auto">
            <a:xfrm>
              <a:off x="6392621" y="4161020"/>
              <a:ext cx="91560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FF0000"/>
                  </a:solidFill>
                </a:rPr>
                <a:t>N</a:t>
              </a:r>
              <a:endParaRPr lang="en-US" altLang="en-US" sz="3200" b="0" baseline="-25000">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446"/>
                                        </p:tgtEl>
                                        <p:attrNameLst>
                                          <p:attrName>style.visibility</p:attrName>
                                        </p:attrNameLst>
                                      </p:cBhvr>
                                      <p:to>
                                        <p:strVal val="visible"/>
                                      </p:to>
                                    </p:set>
                                    <p:animEffect transition="in" filter="fade">
                                      <p:cBhvr>
                                        <p:cTn id="7" dur="500"/>
                                        <p:tgtEl>
                                          <p:spTgt spid="61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A2B36C5C-8011-4092-A5AE-63EF33740C34}" type="slidenum">
              <a:rPr lang="en-US" altLang="en-US" sz="1400" b="0"/>
              <a:pPr/>
              <a:t>55</a:t>
            </a:fld>
            <a:endParaRPr lang="en-US" altLang="en-US" sz="1400" b="0"/>
          </a:p>
        </p:txBody>
      </p:sp>
      <p:sp>
        <p:nvSpPr>
          <p:cNvPr id="60419" name="Rectangle 2"/>
          <p:cNvSpPr>
            <a:spLocks noGrp="1" noChangeArrowheads="1"/>
          </p:cNvSpPr>
          <p:nvPr>
            <p:ph type="title"/>
          </p:nvPr>
        </p:nvSpPr>
        <p:spPr/>
        <p:txBody>
          <a:bodyPr/>
          <a:lstStyle/>
          <a:p>
            <a:pPr eaLnBrk="1" hangingPunct="1"/>
            <a:r>
              <a:rPr lang="en-US" altLang="en-US" sz="2800" b="1"/>
              <a:t>Bộ kiểm tra kiểu của định danh</a:t>
            </a:r>
          </a:p>
        </p:txBody>
      </p:sp>
      <p:sp>
        <p:nvSpPr>
          <p:cNvPr id="60420"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graphicFrame>
        <p:nvGraphicFramePr>
          <p:cNvPr id="1726542" name="Group 78"/>
          <p:cNvGraphicFramePr>
            <a:graphicFrameLocks noGrp="1"/>
          </p:cNvGraphicFramePr>
          <p:nvPr>
            <p:ph sz="half" idx="2"/>
          </p:nvPr>
        </p:nvGraphicFramePr>
        <p:xfrm>
          <a:off x="152400" y="914400"/>
          <a:ext cx="8839200" cy="5516826"/>
        </p:xfrm>
        <a:graphic>
          <a:graphicData uri="http://schemas.openxmlformats.org/drawingml/2006/table">
            <a:tbl>
              <a:tblPr/>
              <a:tblGrid>
                <a:gridCol w="3503613">
                  <a:extLst>
                    <a:ext uri="{9D8B030D-6E8A-4147-A177-3AD203B41FA5}">
                      <a16:colId xmlns:a16="http://schemas.microsoft.com/office/drawing/2014/main" val="20000"/>
                    </a:ext>
                  </a:extLst>
                </a:gridCol>
                <a:gridCol w="5335587">
                  <a:extLst>
                    <a:ext uri="{9D8B030D-6E8A-4147-A177-3AD203B41FA5}">
                      <a16:colId xmlns:a16="http://schemas.microsoft.com/office/drawing/2014/main" val="20001"/>
                    </a:ext>
                  </a:extLst>
                </a:gridCol>
              </a:tblGrid>
              <a:tr h="518130">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dirty="0" err="1">
                          <a:ln>
                            <a:noFill/>
                          </a:ln>
                          <a:solidFill>
                            <a:srgbClr val="270076"/>
                          </a:solidFill>
                          <a:effectLst/>
                          <a:latin typeface="Arial" panose="020B0604020202020204" pitchFamily="34" charset="0"/>
                        </a:rPr>
                        <a:t>Sản</a:t>
                      </a:r>
                      <a:r>
                        <a:rPr kumimoji="0" lang="en-US" altLang="en-US" sz="2800" b="1" i="0" u="none" strike="noStrike" cap="none" normalizeH="0" baseline="0" dirty="0">
                          <a:ln>
                            <a:noFill/>
                          </a:ln>
                          <a:solidFill>
                            <a:srgbClr val="270076"/>
                          </a:solidFill>
                          <a:effectLst/>
                          <a:latin typeface="Arial" panose="020B0604020202020204" pitchFamily="34" charset="0"/>
                        </a:rPr>
                        <a:t> </a:t>
                      </a:r>
                      <a:r>
                        <a:rPr kumimoji="0" lang="en-US" altLang="en-US" sz="2800" b="1" i="0" u="none" strike="noStrike" cap="none" normalizeH="0" baseline="0" dirty="0" err="1">
                          <a:ln>
                            <a:noFill/>
                          </a:ln>
                          <a:solidFill>
                            <a:srgbClr val="270076"/>
                          </a:solidFill>
                          <a:effectLst/>
                          <a:latin typeface="Arial" panose="020B0604020202020204" pitchFamily="34" charset="0"/>
                        </a:rPr>
                        <a:t>xuất</a:t>
                      </a:r>
                      <a:endParaRPr kumimoji="0" lang="en-US" altLang="en-US" sz="2800" b="1" i="0" u="none" strike="noStrike" cap="none" normalizeH="0" baseline="0" dirty="0">
                        <a:ln>
                          <a:noFill/>
                        </a:ln>
                        <a:solidFill>
                          <a:srgbClr val="270076"/>
                        </a:solidFill>
                        <a:effectLst/>
                        <a:latin typeface="Arial" panose="020B0604020202020204" pitchFamily="34" charset="0"/>
                      </a:endParaRP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rgbClr val="270076"/>
                          </a:solidFill>
                          <a:effectLst/>
                          <a:latin typeface="Arial" panose="020B0604020202020204" pitchFamily="34" charset="0"/>
                        </a:rPr>
                        <a:t>Quy tắc ngữ nghĩa</a:t>
                      </a: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30">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P </a:t>
                      </a:r>
                      <a:r>
                        <a:rPr kumimoji="0" lang="fr-FR"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 D ; E</a:t>
                      </a: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800" b="0" i="0" u="none" strike="noStrike" cap="none" normalizeH="0" baseline="0">
                        <a:ln>
                          <a:noFill/>
                        </a:ln>
                        <a:solidFill>
                          <a:srgbClr val="270076"/>
                        </a:solidFill>
                        <a:effectLst/>
                        <a:latin typeface="Arial" panose="020B0604020202020204" pitchFamily="34" charset="0"/>
                      </a:endParaRP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30">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D </a:t>
                      </a:r>
                      <a:r>
                        <a:rPr kumimoji="0" lang="fr-FR"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 D ; D</a:t>
                      </a:r>
                      <a:endParaRPr kumimoji="0" lang="en-US"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endParaRP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800" b="0" i="1" u="none" strike="noStrike" cap="none" normalizeH="0" baseline="0">
                        <a:ln>
                          <a:noFill/>
                        </a:ln>
                        <a:solidFill>
                          <a:srgbClr val="270076"/>
                        </a:solidFill>
                        <a:effectLst/>
                        <a:latin typeface="Arial" panose="020B0604020202020204" pitchFamily="34" charset="0"/>
                      </a:endParaRP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30">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D </a:t>
                      </a:r>
                      <a:r>
                        <a:rPr kumimoji="0" lang="fr-FR"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 Id : T</a:t>
                      </a:r>
                      <a:endParaRPr kumimoji="0" lang="en-US"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endParaRP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dirty="0" err="1">
                          <a:ln>
                            <a:noFill/>
                          </a:ln>
                          <a:solidFill>
                            <a:srgbClr val="270076"/>
                          </a:solidFill>
                          <a:effectLst/>
                          <a:latin typeface="Arial" panose="020B0604020202020204" pitchFamily="34" charset="0"/>
                        </a:rPr>
                        <a:t>addType</a:t>
                      </a:r>
                      <a:r>
                        <a:rPr kumimoji="0" lang="fr-FR" altLang="en-US" sz="2800" b="0" i="0" u="none" strike="noStrike" cap="none" normalizeH="0" baseline="0" dirty="0">
                          <a:ln>
                            <a:noFill/>
                          </a:ln>
                          <a:solidFill>
                            <a:srgbClr val="270076"/>
                          </a:solidFill>
                          <a:effectLst/>
                          <a:latin typeface="Arial" panose="020B0604020202020204" pitchFamily="34" charset="0"/>
                        </a:rPr>
                        <a:t>(</a:t>
                      </a:r>
                      <a:r>
                        <a:rPr kumimoji="0" lang="fr-FR" altLang="en-US" sz="2800" b="0" i="0" u="none" strike="noStrike" cap="none" normalizeH="0" baseline="0" dirty="0" err="1">
                          <a:ln>
                            <a:noFill/>
                          </a:ln>
                          <a:solidFill>
                            <a:srgbClr val="270076"/>
                          </a:solidFill>
                          <a:effectLst/>
                          <a:latin typeface="Arial" panose="020B0604020202020204" pitchFamily="34" charset="0"/>
                        </a:rPr>
                        <a:t>Id.</a:t>
                      </a:r>
                      <a:r>
                        <a:rPr kumimoji="0" lang="fr-FR" altLang="en-US" sz="2800" b="0" i="1" u="none" strike="noStrike" cap="none" normalizeH="0" baseline="0" dirty="0" err="1">
                          <a:ln>
                            <a:noFill/>
                          </a:ln>
                          <a:solidFill>
                            <a:srgbClr val="270076"/>
                          </a:solidFill>
                          <a:effectLst/>
                          <a:latin typeface="Arial" panose="020B0604020202020204" pitchFamily="34" charset="0"/>
                        </a:rPr>
                        <a:t>entry</a:t>
                      </a:r>
                      <a:r>
                        <a:rPr kumimoji="0" lang="fr-FR" altLang="en-US" sz="2800" b="0" i="0" u="none" strike="noStrike" cap="none" normalizeH="0" baseline="0" dirty="0">
                          <a:ln>
                            <a:noFill/>
                          </a:ln>
                          <a:solidFill>
                            <a:srgbClr val="270076"/>
                          </a:solidFill>
                          <a:effectLst/>
                          <a:latin typeface="Arial" panose="020B0604020202020204" pitchFamily="34" charset="0"/>
                        </a:rPr>
                        <a:t>, </a:t>
                      </a:r>
                      <a:r>
                        <a:rPr kumimoji="0" lang="fr-FR" altLang="en-US" sz="2800" b="0" i="0" u="none" strike="noStrike" cap="none" normalizeH="0" baseline="0" dirty="0" err="1">
                          <a:ln>
                            <a:noFill/>
                          </a:ln>
                          <a:solidFill>
                            <a:srgbClr val="270076"/>
                          </a:solidFill>
                          <a:effectLst/>
                          <a:latin typeface="Arial" panose="020B0604020202020204" pitchFamily="34" charset="0"/>
                        </a:rPr>
                        <a:t>T.</a:t>
                      </a:r>
                      <a:r>
                        <a:rPr kumimoji="0" lang="fr-FR" altLang="en-US" sz="2800" b="0" i="1" u="none" strike="noStrike" cap="none" normalizeH="0" baseline="0" dirty="0" err="1">
                          <a:ln>
                            <a:noFill/>
                          </a:ln>
                          <a:solidFill>
                            <a:srgbClr val="270076"/>
                          </a:solidFill>
                          <a:effectLst/>
                          <a:latin typeface="Arial" panose="020B0604020202020204" pitchFamily="34" charset="0"/>
                        </a:rPr>
                        <a:t>type</a:t>
                      </a:r>
                      <a:r>
                        <a:rPr kumimoji="0" lang="fr-FR" altLang="en-US" sz="2800" b="0" i="0" u="none" strike="noStrike" cap="none" normalizeH="0" baseline="0" dirty="0">
                          <a:ln>
                            <a:noFill/>
                          </a:ln>
                          <a:solidFill>
                            <a:srgbClr val="270076"/>
                          </a:solidFill>
                          <a:effectLst/>
                          <a:latin typeface="Arial" panose="020B0604020202020204" pitchFamily="34" charset="0"/>
                        </a:rPr>
                        <a:t>)</a:t>
                      </a:r>
                      <a:endParaRPr kumimoji="0" lang="en-US" altLang="en-US" sz="2800" b="0" i="0" u="none" strike="noStrike" cap="none" normalizeH="0" baseline="0" dirty="0">
                        <a:ln>
                          <a:noFill/>
                        </a:ln>
                        <a:solidFill>
                          <a:srgbClr val="270076"/>
                        </a:solidFill>
                        <a:effectLst/>
                        <a:latin typeface="Arial" panose="020B0604020202020204" pitchFamily="34" charset="0"/>
                      </a:endParaRP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30">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T </a:t>
                      </a:r>
                      <a:r>
                        <a:rPr kumimoji="0" lang="fr-FR"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 char</a:t>
                      </a:r>
                      <a:endParaRPr kumimoji="0" lang="en-US"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endParaRP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T</a:t>
                      </a:r>
                      <a:r>
                        <a:rPr kumimoji="0" lang="fr-FR" altLang="en-US" sz="2800" b="0" i="1" u="none" strike="noStrike" cap="none" normalizeH="0" baseline="0">
                          <a:ln>
                            <a:noFill/>
                          </a:ln>
                          <a:solidFill>
                            <a:srgbClr val="270076"/>
                          </a:solidFill>
                          <a:effectLst/>
                          <a:latin typeface="Arial" panose="020B0604020202020204" pitchFamily="34" charset="0"/>
                        </a:rPr>
                        <a:t>.type = char</a:t>
                      </a:r>
                      <a:endParaRPr kumimoji="0" lang="en-US" altLang="en-US" sz="2800" b="0" i="1" u="none" strike="noStrike" cap="none" normalizeH="0" baseline="0">
                        <a:ln>
                          <a:noFill/>
                        </a:ln>
                        <a:solidFill>
                          <a:srgbClr val="270076"/>
                        </a:solidFill>
                        <a:effectLst/>
                        <a:latin typeface="Arial" panose="020B0604020202020204" pitchFamily="34" charset="0"/>
                      </a:endParaRP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30">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T </a:t>
                      </a:r>
                      <a:r>
                        <a:rPr kumimoji="0" lang="fr-FR"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 integer</a:t>
                      </a:r>
                      <a:endParaRPr kumimoji="0" lang="en-US"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endParaRP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T</a:t>
                      </a:r>
                      <a:r>
                        <a:rPr kumimoji="0" lang="fr-FR" altLang="en-US" sz="2800" b="0" i="1" u="none" strike="noStrike" cap="none" normalizeH="0" baseline="0">
                          <a:ln>
                            <a:noFill/>
                          </a:ln>
                          <a:solidFill>
                            <a:srgbClr val="270076"/>
                          </a:solidFill>
                          <a:effectLst/>
                          <a:latin typeface="Arial" panose="020B0604020202020204" pitchFamily="34" charset="0"/>
                        </a:rPr>
                        <a:t>.type = integer</a:t>
                      </a:r>
                      <a:endParaRPr kumimoji="0" lang="en-US" altLang="en-US" sz="2800" b="0" i="1" u="none" strike="noStrike" cap="none" normalizeH="0" baseline="0">
                        <a:ln>
                          <a:noFill/>
                        </a:ln>
                        <a:solidFill>
                          <a:srgbClr val="270076"/>
                        </a:solidFill>
                        <a:effectLst/>
                        <a:latin typeface="Arial" panose="020B0604020202020204" pitchFamily="34" charset="0"/>
                      </a:endParaRP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30">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T </a:t>
                      </a:r>
                      <a:r>
                        <a:rPr kumimoji="0" lang="fr-FR"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 ^T</a:t>
                      </a:r>
                      <a:r>
                        <a:rPr kumimoji="0" lang="fr-FR" altLang="en-US" sz="2800" b="0" i="0" u="none" strike="noStrike" cap="none" normalizeH="0" baseline="-25000">
                          <a:ln>
                            <a:noFill/>
                          </a:ln>
                          <a:solidFill>
                            <a:srgbClr val="270076"/>
                          </a:solidFill>
                          <a:effectLst/>
                          <a:latin typeface="Arial" panose="020B0604020202020204" pitchFamily="34" charset="0"/>
                          <a:sym typeface="Symbol" panose="05050102010706020507" pitchFamily="18" charset="2"/>
                        </a:rPr>
                        <a:t>1</a:t>
                      </a:r>
                      <a:endParaRPr kumimoji="0" lang="en-US" altLang="en-US" sz="2800" b="0" i="0" u="none" strike="noStrike" cap="none" normalizeH="0" baseline="-25000">
                        <a:ln>
                          <a:noFill/>
                        </a:ln>
                        <a:solidFill>
                          <a:srgbClr val="270076"/>
                        </a:solidFill>
                        <a:effectLst/>
                        <a:latin typeface="Arial" panose="020B0604020202020204" pitchFamily="34" charset="0"/>
                        <a:sym typeface="Symbol" panose="05050102010706020507" pitchFamily="18" charset="2"/>
                      </a:endParaRP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T</a:t>
                      </a:r>
                      <a:r>
                        <a:rPr kumimoji="0" lang="fr-FR" altLang="en-US" sz="2800" b="0" i="1" u="none" strike="noStrike" cap="none" normalizeH="0" baseline="0">
                          <a:ln>
                            <a:noFill/>
                          </a:ln>
                          <a:solidFill>
                            <a:srgbClr val="270076"/>
                          </a:solidFill>
                          <a:effectLst/>
                          <a:latin typeface="Arial" panose="020B0604020202020204" pitchFamily="34" charset="0"/>
                        </a:rPr>
                        <a:t>.type = pointer(</a:t>
                      </a:r>
                      <a:r>
                        <a:rPr kumimoji="0" lang="fr-FR" altLang="en-US" sz="2800" b="0" i="0" u="none" strike="noStrike" cap="none" normalizeH="0" baseline="0">
                          <a:ln>
                            <a:noFill/>
                          </a:ln>
                          <a:solidFill>
                            <a:srgbClr val="270076"/>
                          </a:solidFill>
                          <a:effectLst/>
                          <a:latin typeface="Arial" panose="020B0604020202020204" pitchFamily="34" charset="0"/>
                        </a:rPr>
                        <a:t>T1.</a:t>
                      </a:r>
                      <a:r>
                        <a:rPr kumimoji="0" lang="fr-FR" altLang="en-US" sz="2800" b="0" i="1" u="none" strike="noStrike" cap="none" normalizeH="0" baseline="0">
                          <a:ln>
                            <a:noFill/>
                          </a:ln>
                          <a:solidFill>
                            <a:srgbClr val="270076"/>
                          </a:solidFill>
                          <a:effectLst/>
                          <a:latin typeface="Arial" panose="020B0604020202020204" pitchFamily="34" charset="0"/>
                        </a:rPr>
                        <a:t>type)</a:t>
                      </a:r>
                      <a:endParaRPr kumimoji="0" lang="en-US" altLang="en-US" sz="2800" b="0" i="1" u="none" strike="noStrike" cap="none" normalizeH="0" baseline="0">
                        <a:ln>
                          <a:noFill/>
                        </a:ln>
                        <a:solidFill>
                          <a:srgbClr val="270076"/>
                        </a:solidFill>
                        <a:effectLst/>
                        <a:latin typeface="Arial" panose="020B0604020202020204" pitchFamily="34" charset="0"/>
                      </a:endParaRP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30">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T </a:t>
                      </a:r>
                      <a:r>
                        <a:rPr kumimoji="0" lang="fr-FR"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array[num] of T</a:t>
                      </a:r>
                      <a:r>
                        <a:rPr kumimoji="0" lang="fr-FR" altLang="en-US" sz="2800" b="0" i="0" u="none" strike="noStrike" cap="none" normalizeH="0" baseline="-25000">
                          <a:ln>
                            <a:noFill/>
                          </a:ln>
                          <a:solidFill>
                            <a:srgbClr val="270076"/>
                          </a:solidFill>
                          <a:effectLst/>
                          <a:latin typeface="Arial" panose="020B0604020202020204" pitchFamily="34" charset="0"/>
                          <a:sym typeface="Symbol" panose="05050102010706020507" pitchFamily="18" charset="2"/>
                        </a:rPr>
                        <a:t>1</a:t>
                      </a:r>
                      <a:endParaRPr kumimoji="0" lang="en-US" altLang="en-US" sz="2800" b="0" i="0" u="none" strike="noStrike" cap="none" normalizeH="0" baseline="-25000">
                        <a:ln>
                          <a:noFill/>
                        </a:ln>
                        <a:solidFill>
                          <a:srgbClr val="270076"/>
                        </a:solidFill>
                        <a:effectLst/>
                        <a:latin typeface="Arial" panose="020B0604020202020204" pitchFamily="34" charset="0"/>
                        <a:sym typeface="Symbol" panose="05050102010706020507" pitchFamily="18" charset="2"/>
                      </a:endParaRP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600" b="0" i="0" u="none" strike="noStrike" cap="none" normalizeH="0" baseline="0">
                          <a:ln>
                            <a:noFill/>
                          </a:ln>
                          <a:solidFill>
                            <a:srgbClr val="270076"/>
                          </a:solidFill>
                          <a:effectLst/>
                          <a:latin typeface="Arial" panose="020B0604020202020204" pitchFamily="34" charset="0"/>
                        </a:rPr>
                        <a:t>T</a:t>
                      </a:r>
                      <a:r>
                        <a:rPr kumimoji="0" lang="fr-FR" altLang="en-US" sz="2600" b="0" i="1" u="none" strike="noStrike" cap="none" normalizeH="0" baseline="0">
                          <a:ln>
                            <a:noFill/>
                          </a:ln>
                          <a:solidFill>
                            <a:srgbClr val="270076"/>
                          </a:solidFill>
                          <a:effectLst/>
                          <a:latin typeface="Arial" panose="020B0604020202020204" pitchFamily="34" charset="0"/>
                        </a:rPr>
                        <a:t>.Type = array(1..num.val,T</a:t>
                      </a:r>
                      <a:r>
                        <a:rPr kumimoji="0" lang="fr-FR" altLang="en-US" sz="2600" b="0" i="1" u="none" strike="noStrike" cap="none" normalizeH="0" baseline="-25000">
                          <a:ln>
                            <a:noFill/>
                          </a:ln>
                          <a:solidFill>
                            <a:srgbClr val="270076"/>
                          </a:solidFill>
                          <a:effectLst/>
                          <a:latin typeface="Arial" panose="020B0604020202020204" pitchFamily="34" charset="0"/>
                        </a:rPr>
                        <a:t>1</a:t>
                      </a:r>
                      <a:r>
                        <a:rPr kumimoji="0" lang="fr-FR" altLang="en-US" sz="2600" b="0" i="1" u="none" strike="noStrike" cap="none" normalizeH="0" baseline="0">
                          <a:ln>
                            <a:noFill/>
                          </a:ln>
                          <a:solidFill>
                            <a:srgbClr val="270076"/>
                          </a:solidFill>
                          <a:effectLst/>
                          <a:latin typeface="Arial" panose="020B0604020202020204" pitchFamily="34" charset="0"/>
                        </a:rPr>
                        <a:t>.type)</a:t>
                      </a:r>
                      <a:endParaRPr kumimoji="0" lang="en-US" altLang="en-US" sz="2600" b="0" i="1" u="none" strike="noStrike" cap="none" normalizeH="0" baseline="0">
                        <a:ln>
                          <a:noFill/>
                        </a:ln>
                        <a:solidFill>
                          <a:srgbClr val="270076"/>
                        </a:solidFill>
                        <a:effectLst/>
                        <a:latin typeface="Arial" panose="020B0604020202020204" pitchFamily="34" charset="0"/>
                      </a:endParaRP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371521">
                <a:tc gridSpan="2">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Do </a:t>
                      </a:r>
                      <a:r>
                        <a:rPr kumimoji="0" lang="fr-FR" altLang="en-US" sz="2800" b="1" i="0" u="none" strike="noStrike" cap="none" normalizeH="0" baseline="0">
                          <a:ln>
                            <a:noFill/>
                          </a:ln>
                          <a:solidFill>
                            <a:srgbClr val="3539EB"/>
                          </a:solidFill>
                          <a:effectLst/>
                          <a:latin typeface="Arial" panose="020B0604020202020204" pitchFamily="34" charset="0"/>
                        </a:rPr>
                        <a:t>P </a:t>
                      </a:r>
                      <a:r>
                        <a:rPr kumimoji="0" lang="fr-FR" altLang="en-US" sz="2800" b="1" i="0" u="none" strike="noStrike" cap="none" normalizeH="0" baseline="0">
                          <a:ln>
                            <a:noFill/>
                          </a:ln>
                          <a:solidFill>
                            <a:srgbClr val="3539EB"/>
                          </a:solidFill>
                          <a:effectLst/>
                          <a:latin typeface="Arial" panose="020B0604020202020204" pitchFamily="34" charset="0"/>
                          <a:sym typeface="Symbol" panose="05050102010706020507" pitchFamily="18" charset="2"/>
                        </a:rPr>
                        <a:t> D ; E</a:t>
                      </a:r>
                      <a:r>
                        <a:rPr kumimoji="0" lang="fr-FR"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 nên kiểu của các định danh được khai báo đều được lưu trong bảng ký hiệu trước khi biểu thức </a:t>
                      </a:r>
                      <a:r>
                        <a:rPr kumimoji="0" lang="fr-FR" altLang="en-US" sz="2800" b="1" i="0" u="none" strike="noStrike" cap="none" normalizeH="0" baseline="0">
                          <a:ln>
                            <a:noFill/>
                          </a:ln>
                          <a:solidFill>
                            <a:srgbClr val="3539EB"/>
                          </a:solidFill>
                          <a:effectLst/>
                          <a:latin typeface="Arial" panose="020B0604020202020204" pitchFamily="34" charset="0"/>
                          <a:sym typeface="Symbol" panose="05050102010706020507" pitchFamily="18" charset="2"/>
                        </a:rPr>
                        <a:t>E</a:t>
                      </a:r>
                      <a:r>
                        <a:rPr kumimoji="0" lang="fr-FR"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 được kiểm tra kiểu</a:t>
                      </a:r>
                      <a:endParaRPr kumimoji="0" lang="en-US"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endParaRP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9ABABB94-6605-4666-A4FA-7809A7C8FBCF}" type="slidenum">
              <a:rPr lang="en-US" altLang="en-US" sz="1400" b="0"/>
              <a:pPr/>
              <a:t>56</a:t>
            </a:fld>
            <a:endParaRPr lang="en-US" altLang="en-US" sz="1400" b="0"/>
          </a:p>
        </p:txBody>
      </p:sp>
      <p:sp>
        <p:nvSpPr>
          <p:cNvPr id="62467" name="Rectangle 2"/>
          <p:cNvSpPr>
            <a:spLocks noGrp="1" noChangeArrowheads="1"/>
          </p:cNvSpPr>
          <p:nvPr>
            <p:ph type="title"/>
          </p:nvPr>
        </p:nvSpPr>
        <p:spPr/>
        <p:txBody>
          <a:bodyPr/>
          <a:lstStyle/>
          <a:p>
            <a:pPr eaLnBrk="1" hangingPunct="1"/>
            <a:r>
              <a:rPr lang="en-US" altLang="en-US" sz="2800" b="1" dirty="0" err="1"/>
              <a:t>Bộ</a:t>
            </a:r>
            <a:r>
              <a:rPr lang="en-US" altLang="en-US" sz="2800" b="1" dirty="0"/>
              <a:t> </a:t>
            </a:r>
            <a:r>
              <a:rPr lang="en-US" altLang="en-US" sz="2800" b="1" dirty="0" err="1"/>
              <a:t>kiểm</a:t>
            </a:r>
            <a:r>
              <a:rPr lang="en-US" altLang="en-US" sz="2800" b="1" dirty="0"/>
              <a:t> </a:t>
            </a:r>
            <a:r>
              <a:rPr lang="en-US" altLang="en-US" sz="2800" b="1" dirty="0" err="1"/>
              <a:t>tra</a:t>
            </a:r>
            <a:r>
              <a:rPr lang="en-US" altLang="en-US" sz="2800" b="1" dirty="0"/>
              <a:t> </a:t>
            </a:r>
            <a:r>
              <a:rPr lang="en-US" altLang="en-US" sz="2800" b="1" dirty="0" err="1"/>
              <a:t>kiểu</a:t>
            </a:r>
            <a:r>
              <a:rPr lang="en-US" altLang="en-US" sz="2800" b="1" dirty="0"/>
              <a:t> </a:t>
            </a:r>
            <a:r>
              <a:rPr lang="en-US" altLang="en-US" sz="2800" b="1" dirty="0" err="1"/>
              <a:t>của</a:t>
            </a:r>
            <a:r>
              <a:rPr lang="en-US" altLang="en-US" sz="2800" b="1" dirty="0"/>
              <a:t> </a:t>
            </a:r>
            <a:r>
              <a:rPr lang="en-US" altLang="en-US" sz="2800" b="1" dirty="0" err="1"/>
              <a:t>định</a:t>
            </a:r>
            <a:r>
              <a:rPr lang="en-US" altLang="en-US" sz="2800" b="1" dirty="0"/>
              <a:t> </a:t>
            </a:r>
            <a:r>
              <a:rPr lang="en-US" altLang="en-US" sz="2800" b="1" dirty="0" err="1"/>
              <a:t>danh</a:t>
            </a:r>
            <a:r>
              <a:rPr lang="en-US" altLang="en-US" sz="2800" b="1" dirty="0" err="1">
                <a:sym typeface="Symbol" panose="05050102010706020507" pitchFamily="18" charset="2"/>
              </a:rPr>
              <a:t>Ví</a:t>
            </a:r>
            <a:r>
              <a:rPr lang="en-US" altLang="en-US" sz="2800" b="1" dirty="0">
                <a:sym typeface="Symbol" panose="05050102010706020507" pitchFamily="18" charset="2"/>
              </a:rPr>
              <a:t> </a:t>
            </a:r>
            <a:r>
              <a:rPr lang="en-US" altLang="en-US" sz="2800" b="1" dirty="0" err="1">
                <a:sym typeface="Symbol" panose="05050102010706020507" pitchFamily="18" charset="2"/>
              </a:rPr>
              <a:t>dụ</a:t>
            </a:r>
            <a:endParaRPr lang="en-US" altLang="en-US" sz="2800" b="1" dirty="0"/>
          </a:p>
        </p:txBody>
      </p:sp>
      <p:sp>
        <p:nvSpPr>
          <p:cNvPr id="62468"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grpSp>
        <p:nvGrpSpPr>
          <p:cNvPr id="2" name="Group 1"/>
          <p:cNvGrpSpPr/>
          <p:nvPr/>
        </p:nvGrpSpPr>
        <p:grpSpPr>
          <a:xfrm>
            <a:off x="2976563" y="1052513"/>
            <a:ext cx="4014787" cy="1544637"/>
            <a:chOff x="2976563" y="1052513"/>
            <a:chExt cx="4014787" cy="1544637"/>
          </a:xfrm>
        </p:grpSpPr>
        <p:sp>
          <p:nvSpPr>
            <p:cNvPr id="62469" name="Text Box 7"/>
            <p:cNvSpPr txBox="1">
              <a:spLocks noChangeArrowheads="1"/>
            </p:cNvSpPr>
            <p:nvPr/>
          </p:nvSpPr>
          <p:spPr bwMode="auto">
            <a:xfrm>
              <a:off x="4752975" y="1052513"/>
              <a:ext cx="3206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3200" b="0">
                  <a:solidFill>
                    <a:srgbClr val="270076"/>
                  </a:solidFill>
                </a:rPr>
                <a:t>P</a:t>
              </a:r>
              <a:endParaRPr lang="en-US" altLang="en-US" sz="3200" b="0">
                <a:solidFill>
                  <a:srgbClr val="270076"/>
                </a:solidFill>
              </a:endParaRPr>
            </a:p>
          </p:txBody>
        </p:sp>
        <p:sp>
          <p:nvSpPr>
            <p:cNvPr id="62470" name="Text Box 10"/>
            <p:cNvSpPr txBox="1">
              <a:spLocks noChangeArrowheads="1"/>
            </p:cNvSpPr>
            <p:nvPr/>
          </p:nvSpPr>
          <p:spPr bwMode="auto">
            <a:xfrm>
              <a:off x="6670675" y="2017713"/>
              <a:ext cx="3206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dirty="0">
                  <a:solidFill>
                    <a:srgbClr val="270076"/>
                  </a:solidFill>
                </a:rPr>
                <a:t>E</a:t>
              </a:r>
              <a:endParaRPr lang="en-US" altLang="en-US" sz="3200" b="0" dirty="0">
                <a:solidFill>
                  <a:srgbClr val="270076"/>
                </a:solidFill>
              </a:endParaRPr>
            </a:p>
          </p:txBody>
        </p:sp>
        <p:sp>
          <p:nvSpPr>
            <p:cNvPr id="62473" name="Line 20"/>
            <p:cNvSpPr>
              <a:spLocks noChangeShapeType="1"/>
            </p:cNvSpPr>
            <p:nvPr/>
          </p:nvSpPr>
          <p:spPr bwMode="auto">
            <a:xfrm flipV="1">
              <a:off x="3152775" y="1535113"/>
              <a:ext cx="1684338" cy="514350"/>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74" name="Line 22"/>
            <p:cNvSpPr>
              <a:spLocks noChangeShapeType="1"/>
            </p:cNvSpPr>
            <p:nvPr/>
          </p:nvSpPr>
          <p:spPr bwMode="auto">
            <a:xfrm>
              <a:off x="5073650" y="1535113"/>
              <a:ext cx="1584325" cy="549275"/>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75" name="Line 23"/>
            <p:cNvSpPr>
              <a:spLocks noChangeShapeType="1"/>
            </p:cNvSpPr>
            <p:nvPr/>
          </p:nvSpPr>
          <p:spPr bwMode="auto">
            <a:xfrm flipH="1">
              <a:off x="4922838" y="1581150"/>
              <a:ext cx="7937" cy="434975"/>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79" name="Text Box 10"/>
            <p:cNvSpPr txBox="1">
              <a:spLocks noChangeArrowheads="1"/>
            </p:cNvSpPr>
            <p:nvPr/>
          </p:nvSpPr>
          <p:spPr bwMode="auto">
            <a:xfrm>
              <a:off x="4752975" y="1873250"/>
              <a:ext cx="320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a:solidFill>
                    <a:srgbClr val="FF0000"/>
                  </a:solidFill>
                </a:rPr>
                <a:t>;</a:t>
              </a:r>
              <a:endParaRPr lang="en-US" altLang="en-US" sz="3200">
                <a:solidFill>
                  <a:srgbClr val="FF0000"/>
                </a:solidFill>
              </a:endParaRPr>
            </a:p>
          </p:txBody>
        </p:sp>
        <p:sp>
          <p:nvSpPr>
            <p:cNvPr id="62480" name="Text Box 10"/>
            <p:cNvSpPr txBox="1">
              <a:spLocks noChangeArrowheads="1"/>
            </p:cNvSpPr>
            <p:nvPr/>
          </p:nvSpPr>
          <p:spPr bwMode="auto">
            <a:xfrm>
              <a:off x="2976563" y="1978025"/>
              <a:ext cx="320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D</a:t>
              </a:r>
              <a:endParaRPr lang="en-US" altLang="en-US" sz="3200" b="0">
                <a:solidFill>
                  <a:srgbClr val="270076"/>
                </a:solidFill>
              </a:endParaRPr>
            </a:p>
          </p:txBody>
        </p:sp>
      </p:grpSp>
      <p:grpSp>
        <p:nvGrpSpPr>
          <p:cNvPr id="3" name="Group 2"/>
          <p:cNvGrpSpPr/>
          <p:nvPr/>
        </p:nvGrpSpPr>
        <p:grpSpPr>
          <a:xfrm>
            <a:off x="1420813" y="2486025"/>
            <a:ext cx="3281362" cy="1033463"/>
            <a:chOff x="1420813" y="2486025"/>
            <a:chExt cx="3281362" cy="1033463"/>
          </a:xfrm>
        </p:grpSpPr>
        <p:sp>
          <p:nvSpPr>
            <p:cNvPr id="62476" name="Line 24"/>
            <p:cNvSpPr>
              <a:spLocks noChangeShapeType="1"/>
            </p:cNvSpPr>
            <p:nvPr/>
          </p:nvSpPr>
          <p:spPr bwMode="auto">
            <a:xfrm flipH="1">
              <a:off x="1779588" y="2486025"/>
              <a:ext cx="1162050" cy="465138"/>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77" name="Line 26"/>
            <p:cNvSpPr>
              <a:spLocks noChangeShapeType="1"/>
            </p:cNvSpPr>
            <p:nvPr/>
          </p:nvSpPr>
          <p:spPr bwMode="auto">
            <a:xfrm>
              <a:off x="3354388" y="2492375"/>
              <a:ext cx="935037" cy="503238"/>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81" name="Line 23"/>
            <p:cNvSpPr>
              <a:spLocks noChangeShapeType="1"/>
            </p:cNvSpPr>
            <p:nvPr/>
          </p:nvSpPr>
          <p:spPr bwMode="auto">
            <a:xfrm>
              <a:off x="3146425" y="2486025"/>
              <a:ext cx="4763"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82" name="Text Box 10"/>
            <p:cNvSpPr txBox="1">
              <a:spLocks noChangeArrowheads="1"/>
            </p:cNvSpPr>
            <p:nvPr/>
          </p:nvSpPr>
          <p:spPr bwMode="auto">
            <a:xfrm>
              <a:off x="3016250" y="2781300"/>
              <a:ext cx="320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a:solidFill>
                    <a:srgbClr val="FF0000"/>
                  </a:solidFill>
                </a:rPr>
                <a:t>;</a:t>
              </a:r>
              <a:endParaRPr lang="en-US" altLang="en-US" sz="3200">
                <a:solidFill>
                  <a:srgbClr val="FF0000"/>
                </a:solidFill>
              </a:endParaRPr>
            </a:p>
          </p:txBody>
        </p:sp>
        <p:sp>
          <p:nvSpPr>
            <p:cNvPr id="62483" name="Text Box 10"/>
            <p:cNvSpPr txBox="1">
              <a:spLocks noChangeArrowheads="1"/>
            </p:cNvSpPr>
            <p:nvPr/>
          </p:nvSpPr>
          <p:spPr bwMode="auto">
            <a:xfrm>
              <a:off x="1420813" y="2940050"/>
              <a:ext cx="320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D</a:t>
              </a:r>
              <a:endParaRPr lang="en-US" altLang="en-US" sz="3200" b="0">
                <a:solidFill>
                  <a:srgbClr val="270076"/>
                </a:solidFill>
              </a:endParaRPr>
            </a:p>
          </p:txBody>
        </p:sp>
        <p:sp>
          <p:nvSpPr>
            <p:cNvPr id="62484" name="Text Box 10"/>
            <p:cNvSpPr txBox="1">
              <a:spLocks noChangeArrowheads="1"/>
            </p:cNvSpPr>
            <p:nvPr/>
          </p:nvSpPr>
          <p:spPr bwMode="auto">
            <a:xfrm>
              <a:off x="4381500" y="2922588"/>
              <a:ext cx="3206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D</a:t>
              </a:r>
              <a:endParaRPr lang="en-US" altLang="en-US" sz="3200" b="0">
                <a:solidFill>
                  <a:srgbClr val="270076"/>
                </a:solidFill>
              </a:endParaRPr>
            </a:p>
          </p:txBody>
        </p:sp>
      </p:grpSp>
      <p:grpSp>
        <p:nvGrpSpPr>
          <p:cNvPr id="4" name="Group 3"/>
          <p:cNvGrpSpPr/>
          <p:nvPr/>
        </p:nvGrpSpPr>
        <p:grpSpPr>
          <a:xfrm>
            <a:off x="265113" y="3492500"/>
            <a:ext cx="2327275" cy="1130300"/>
            <a:chOff x="265113" y="3492500"/>
            <a:chExt cx="2327275" cy="1130300"/>
          </a:xfrm>
        </p:grpSpPr>
        <p:sp>
          <p:nvSpPr>
            <p:cNvPr id="62490" name="Line 14"/>
            <p:cNvSpPr>
              <a:spLocks noChangeShapeType="1"/>
            </p:cNvSpPr>
            <p:nvPr/>
          </p:nvSpPr>
          <p:spPr bwMode="auto">
            <a:xfrm>
              <a:off x="1660525" y="3492500"/>
              <a:ext cx="719138" cy="55086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91" name="Text Box 15"/>
            <p:cNvSpPr txBox="1">
              <a:spLocks noChangeArrowheads="1"/>
            </p:cNvSpPr>
            <p:nvPr/>
          </p:nvSpPr>
          <p:spPr bwMode="auto">
            <a:xfrm>
              <a:off x="265113" y="4043363"/>
              <a:ext cx="9064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Id</a:t>
              </a:r>
              <a:endParaRPr lang="en-US" altLang="en-US" sz="3200" b="0" baseline="-25000">
                <a:solidFill>
                  <a:srgbClr val="270076"/>
                </a:solidFill>
              </a:endParaRPr>
            </a:p>
          </p:txBody>
        </p:sp>
        <p:sp>
          <p:nvSpPr>
            <p:cNvPr id="62492" name="Line 30"/>
            <p:cNvSpPr>
              <a:spLocks noChangeShapeType="1"/>
            </p:cNvSpPr>
            <p:nvPr/>
          </p:nvSpPr>
          <p:spPr bwMode="auto">
            <a:xfrm flipH="1">
              <a:off x="777875" y="3492500"/>
              <a:ext cx="623888" cy="596900"/>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93" name="Text Box 10"/>
            <p:cNvSpPr txBox="1">
              <a:spLocks noChangeArrowheads="1"/>
            </p:cNvSpPr>
            <p:nvPr/>
          </p:nvSpPr>
          <p:spPr bwMode="auto">
            <a:xfrm>
              <a:off x="1419225" y="4000500"/>
              <a:ext cx="320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a:solidFill>
                    <a:srgbClr val="FF0000"/>
                  </a:solidFill>
                </a:rPr>
                <a:t>:</a:t>
              </a:r>
              <a:endParaRPr lang="en-US" altLang="en-US" sz="3200">
                <a:solidFill>
                  <a:srgbClr val="FF0000"/>
                </a:solidFill>
              </a:endParaRPr>
            </a:p>
          </p:txBody>
        </p:sp>
        <p:sp>
          <p:nvSpPr>
            <p:cNvPr id="62494" name="Text Box 10"/>
            <p:cNvSpPr txBox="1">
              <a:spLocks noChangeArrowheads="1"/>
            </p:cNvSpPr>
            <p:nvPr/>
          </p:nvSpPr>
          <p:spPr bwMode="auto">
            <a:xfrm>
              <a:off x="2271713" y="4011613"/>
              <a:ext cx="3206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T</a:t>
              </a:r>
              <a:endParaRPr lang="en-US" altLang="en-US" sz="3200" b="0">
                <a:solidFill>
                  <a:srgbClr val="270076"/>
                </a:solidFill>
              </a:endParaRPr>
            </a:p>
          </p:txBody>
        </p:sp>
        <p:sp>
          <p:nvSpPr>
            <p:cNvPr id="62495" name="Line 23"/>
            <p:cNvSpPr>
              <a:spLocks noChangeShapeType="1"/>
            </p:cNvSpPr>
            <p:nvPr/>
          </p:nvSpPr>
          <p:spPr bwMode="auto">
            <a:xfrm>
              <a:off x="1547813" y="3524250"/>
              <a:ext cx="4762"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 name="Group 4"/>
          <p:cNvGrpSpPr/>
          <p:nvPr/>
        </p:nvGrpSpPr>
        <p:grpSpPr>
          <a:xfrm>
            <a:off x="228600" y="4625975"/>
            <a:ext cx="906463" cy="1127125"/>
            <a:chOff x="228600" y="4625975"/>
            <a:chExt cx="906463" cy="1127125"/>
          </a:xfrm>
        </p:grpSpPr>
        <p:sp>
          <p:nvSpPr>
            <p:cNvPr id="62497" name="Line 23"/>
            <p:cNvSpPr>
              <a:spLocks noChangeShapeType="1"/>
            </p:cNvSpPr>
            <p:nvPr/>
          </p:nvSpPr>
          <p:spPr bwMode="auto">
            <a:xfrm>
              <a:off x="682625" y="4625975"/>
              <a:ext cx="3175" cy="454025"/>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98" name="Text Box 15"/>
            <p:cNvSpPr txBox="1">
              <a:spLocks noChangeArrowheads="1"/>
            </p:cNvSpPr>
            <p:nvPr/>
          </p:nvSpPr>
          <p:spPr bwMode="auto">
            <a:xfrm>
              <a:off x="228600" y="5173663"/>
              <a:ext cx="9064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FF0000"/>
                  </a:solidFill>
                </a:rPr>
                <a:t>N</a:t>
              </a:r>
              <a:endParaRPr lang="en-US" altLang="en-US" sz="3200" b="0" baseline="-25000">
                <a:solidFill>
                  <a:srgbClr val="FF0000"/>
                </a:solidFill>
              </a:endParaRPr>
            </a:p>
          </p:txBody>
        </p:sp>
      </p:grpSp>
      <p:grpSp>
        <p:nvGrpSpPr>
          <p:cNvPr id="14" name="Group 13"/>
          <p:cNvGrpSpPr/>
          <p:nvPr/>
        </p:nvGrpSpPr>
        <p:grpSpPr>
          <a:xfrm>
            <a:off x="1660525" y="4625975"/>
            <a:ext cx="1519238" cy="1187450"/>
            <a:chOff x="1660525" y="4625975"/>
            <a:chExt cx="1519238" cy="1187450"/>
          </a:xfrm>
        </p:grpSpPr>
        <p:sp>
          <p:nvSpPr>
            <p:cNvPr id="62496" name="Line 23"/>
            <p:cNvSpPr>
              <a:spLocks noChangeShapeType="1"/>
            </p:cNvSpPr>
            <p:nvPr/>
          </p:nvSpPr>
          <p:spPr bwMode="auto">
            <a:xfrm>
              <a:off x="2432050" y="4625975"/>
              <a:ext cx="3175" cy="454025"/>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99" name="Text Box 15"/>
            <p:cNvSpPr txBox="1">
              <a:spLocks noChangeArrowheads="1"/>
            </p:cNvSpPr>
            <p:nvPr/>
          </p:nvSpPr>
          <p:spPr bwMode="auto">
            <a:xfrm>
              <a:off x="1660525" y="5227638"/>
              <a:ext cx="1519238"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dirty="0" err="1">
                  <a:solidFill>
                    <a:srgbClr val="FF0000"/>
                  </a:solidFill>
                </a:rPr>
                <a:t>Integer</a:t>
              </a:r>
              <a:endParaRPr lang="en-US" altLang="en-US" sz="3200" b="0" baseline="-25000" dirty="0">
                <a:solidFill>
                  <a:srgbClr val="FF0000"/>
                </a:solidFill>
              </a:endParaRPr>
            </a:p>
          </p:txBody>
        </p:sp>
      </p:grpSp>
      <p:graphicFrame>
        <p:nvGraphicFramePr>
          <p:cNvPr id="61" name="Group 48"/>
          <p:cNvGraphicFramePr>
            <a:graphicFrameLocks noGrp="1"/>
          </p:cNvGraphicFramePr>
          <p:nvPr>
            <p:ph sz="half" idx="2"/>
            <p:extLst>
              <p:ext uri="{D42A27DB-BD31-4B8C-83A1-F6EECF244321}">
                <p14:modId xmlns:p14="http://schemas.microsoft.com/office/powerpoint/2010/main" val="3870998418"/>
              </p:ext>
            </p:extLst>
          </p:nvPr>
        </p:nvGraphicFramePr>
        <p:xfrm>
          <a:off x="6019800" y="3556000"/>
          <a:ext cx="2971799" cy="1066800"/>
        </p:xfrm>
        <a:graphic>
          <a:graphicData uri="http://schemas.openxmlformats.org/drawingml/2006/table">
            <a:tbl>
              <a:tblPr/>
              <a:tblGrid>
                <a:gridCol w="990600">
                  <a:extLst>
                    <a:ext uri="{9D8B030D-6E8A-4147-A177-3AD203B41FA5}">
                      <a16:colId xmlns:a16="http://schemas.microsoft.com/office/drawing/2014/main" val="20000"/>
                    </a:ext>
                  </a:extLst>
                </a:gridCol>
                <a:gridCol w="1141610">
                  <a:extLst>
                    <a:ext uri="{9D8B030D-6E8A-4147-A177-3AD203B41FA5}">
                      <a16:colId xmlns:a16="http://schemas.microsoft.com/office/drawing/2014/main" val="20001"/>
                    </a:ext>
                  </a:extLst>
                </a:gridCol>
                <a:gridCol w="839589">
                  <a:extLst>
                    <a:ext uri="{9D8B030D-6E8A-4147-A177-3AD203B41FA5}">
                      <a16:colId xmlns:a16="http://schemas.microsoft.com/office/drawing/2014/main" val="20002"/>
                    </a:ext>
                  </a:extLst>
                </a:gridCol>
              </a:tblGrid>
              <a:tr h="533400">
                <a:tc gridSpan="3">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fr-FR" altLang="en-US" sz="2400" b="0" i="0" u="none" strike="noStrike" cap="none" normalizeH="0" baseline="0" dirty="0" err="1">
                          <a:ln>
                            <a:noFill/>
                          </a:ln>
                          <a:solidFill>
                            <a:srgbClr val="270076"/>
                          </a:solidFill>
                          <a:effectLst/>
                          <a:latin typeface="Arial" panose="020B0604020202020204" pitchFamily="34" charset="0"/>
                        </a:rPr>
                        <a:t>SymTab</a:t>
                      </a:r>
                      <a:endParaRPr kumimoji="0" lang="en-US" altLang="en-US" sz="24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4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3400">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Name</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ObjType</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Type</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extLst>
                  <a:ext uri="{0D108BD9-81ED-4DB2-BD59-A6C34878D82A}">
                    <a16:rowId xmlns:a16="http://schemas.microsoft.com/office/drawing/2014/main" val="10001"/>
                  </a:ext>
                </a:extLst>
              </a:tr>
            </a:tbl>
          </a:graphicData>
        </a:graphic>
      </p:graphicFrame>
      <p:grpSp>
        <p:nvGrpSpPr>
          <p:cNvPr id="11" name="Group 10"/>
          <p:cNvGrpSpPr/>
          <p:nvPr/>
        </p:nvGrpSpPr>
        <p:grpSpPr>
          <a:xfrm>
            <a:off x="6019800" y="4621812"/>
            <a:ext cx="2978462" cy="462653"/>
            <a:chOff x="6019800" y="4621812"/>
            <a:chExt cx="2978462" cy="462653"/>
          </a:xfrm>
        </p:grpSpPr>
        <p:sp>
          <p:nvSpPr>
            <p:cNvPr id="10" name="TextBox 9"/>
            <p:cNvSpPr txBox="1"/>
            <p:nvPr/>
          </p:nvSpPr>
          <p:spPr>
            <a:xfrm>
              <a:off x="6019800" y="4622800"/>
              <a:ext cx="990600" cy="461665"/>
            </a:xfrm>
            <a:prstGeom prst="rect">
              <a:avLst/>
            </a:prstGeom>
            <a:noFill/>
            <a:ln w="28575">
              <a:solidFill>
                <a:srgbClr val="002060"/>
              </a:solidFill>
            </a:ln>
          </p:spPr>
          <p:txBody>
            <a:bodyPr wrap="square" rtlCol="0">
              <a:spAutoFit/>
            </a:bodyPr>
            <a:lstStyle/>
            <a:p>
              <a:pPr algn="ctr"/>
              <a:r>
                <a:rPr lang="en-US" sz="2400" dirty="0">
                  <a:solidFill>
                    <a:srgbClr val="7030A0"/>
                  </a:solidFill>
                </a:rPr>
                <a:t>N</a:t>
              </a:r>
            </a:p>
          </p:txBody>
        </p:sp>
        <p:sp>
          <p:nvSpPr>
            <p:cNvPr id="46" name="TextBox 45"/>
            <p:cNvSpPr txBox="1"/>
            <p:nvPr/>
          </p:nvSpPr>
          <p:spPr>
            <a:xfrm>
              <a:off x="7010400" y="4622800"/>
              <a:ext cx="1143000" cy="461665"/>
            </a:xfrm>
            <a:prstGeom prst="rect">
              <a:avLst/>
            </a:prstGeom>
            <a:noFill/>
            <a:ln w="28575">
              <a:solidFill>
                <a:srgbClr val="002060"/>
              </a:solidFill>
            </a:ln>
          </p:spPr>
          <p:txBody>
            <a:bodyPr wrap="square" rtlCol="0">
              <a:spAutoFit/>
            </a:bodyPr>
            <a:lstStyle/>
            <a:p>
              <a:pPr algn="ctr"/>
              <a:r>
                <a:rPr lang="en-US" sz="2400" b="0" dirty="0" err="1">
                  <a:solidFill>
                    <a:srgbClr val="7030A0"/>
                  </a:solidFill>
                </a:rPr>
                <a:t>Var</a:t>
              </a:r>
              <a:endParaRPr lang="en-US" sz="2400" b="0" dirty="0">
                <a:solidFill>
                  <a:srgbClr val="7030A0"/>
                </a:solidFill>
              </a:endParaRPr>
            </a:p>
          </p:txBody>
        </p:sp>
        <p:sp>
          <p:nvSpPr>
            <p:cNvPr id="47" name="TextBox 46"/>
            <p:cNvSpPr txBox="1"/>
            <p:nvPr/>
          </p:nvSpPr>
          <p:spPr>
            <a:xfrm>
              <a:off x="8153399" y="4621812"/>
              <a:ext cx="844863" cy="461665"/>
            </a:xfrm>
            <a:prstGeom prst="rect">
              <a:avLst/>
            </a:prstGeom>
            <a:noFill/>
            <a:ln w="28575">
              <a:solidFill>
                <a:srgbClr val="002060"/>
              </a:solidFill>
            </a:ln>
          </p:spPr>
          <p:txBody>
            <a:bodyPr wrap="square" rtlCol="0">
              <a:spAutoFit/>
            </a:bodyPr>
            <a:lstStyle/>
            <a:p>
              <a:pPr algn="ctr"/>
              <a:endParaRPr lang="en-US" sz="2400" dirty="0">
                <a:solidFill>
                  <a:srgbClr val="7030A0"/>
                </a:solidFill>
              </a:endParaRPr>
            </a:p>
          </p:txBody>
        </p:sp>
      </p:grpSp>
      <p:grpSp>
        <p:nvGrpSpPr>
          <p:cNvPr id="13" name="Group 12"/>
          <p:cNvGrpSpPr/>
          <p:nvPr/>
        </p:nvGrpSpPr>
        <p:grpSpPr>
          <a:xfrm>
            <a:off x="673309" y="4859793"/>
            <a:ext cx="5605773" cy="1876853"/>
            <a:chOff x="629587" y="4831625"/>
            <a:chExt cx="5605773" cy="1876853"/>
          </a:xfrm>
        </p:grpSpPr>
        <p:sp>
          <p:nvSpPr>
            <p:cNvPr id="7" name="TextBox 6"/>
            <p:cNvSpPr txBox="1"/>
            <p:nvPr/>
          </p:nvSpPr>
          <p:spPr>
            <a:xfrm>
              <a:off x="2168525" y="6246813"/>
              <a:ext cx="3305175" cy="461665"/>
            </a:xfrm>
            <a:prstGeom prst="rect">
              <a:avLst/>
            </a:prstGeom>
            <a:noFill/>
            <a:ln>
              <a:solidFill>
                <a:srgbClr val="002060"/>
              </a:solidFill>
            </a:ln>
          </p:spPr>
          <p:txBody>
            <a:bodyPr wrap="square" rtlCol="0">
              <a:spAutoFit/>
            </a:bodyPr>
            <a:lstStyle/>
            <a:p>
              <a:r>
                <a:rPr lang="en-US" sz="2400" b="0" dirty="0">
                  <a:solidFill>
                    <a:srgbClr val="002060"/>
                  </a:solidFill>
                </a:rPr>
                <a:t>Enter(Id, </a:t>
              </a:r>
              <a:r>
                <a:rPr lang="en-US" sz="2400" b="0" dirty="0" err="1">
                  <a:solidFill>
                    <a:srgbClr val="002060"/>
                  </a:solidFill>
                </a:rPr>
                <a:t>ObjectType</a:t>
              </a:r>
              <a:r>
                <a:rPr lang="en-US" sz="2400" b="0" dirty="0">
                  <a:solidFill>
                    <a:srgbClr val="002060"/>
                  </a:solidFill>
                </a:rPr>
                <a:t>)</a:t>
              </a:r>
            </a:p>
          </p:txBody>
        </p:sp>
        <p:sp>
          <p:nvSpPr>
            <p:cNvPr id="9" name="Freeform 8"/>
            <p:cNvSpPr/>
            <p:nvPr/>
          </p:nvSpPr>
          <p:spPr bwMode="auto">
            <a:xfrm>
              <a:off x="629587" y="5681272"/>
              <a:ext cx="1550050" cy="824459"/>
            </a:xfrm>
            <a:custGeom>
              <a:avLst/>
              <a:gdLst>
                <a:gd name="connsiteX0" fmla="*/ 0 w 1663908"/>
                <a:gd name="connsiteY0" fmla="*/ 0 h 824459"/>
                <a:gd name="connsiteX1" fmla="*/ 284813 w 1663908"/>
                <a:gd name="connsiteY1" fmla="*/ 644577 h 824459"/>
                <a:gd name="connsiteX2" fmla="*/ 1663908 w 1663908"/>
                <a:gd name="connsiteY2" fmla="*/ 824459 h 824459"/>
              </a:gdLst>
              <a:ahLst/>
              <a:cxnLst>
                <a:cxn ang="0">
                  <a:pos x="connsiteX0" y="connsiteY0"/>
                </a:cxn>
                <a:cxn ang="0">
                  <a:pos x="connsiteX1" y="connsiteY1"/>
                </a:cxn>
                <a:cxn ang="0">
                  <a:pos x="connsiteX2" y="connsiteY2"/>
                </a:cxn>
              </a:cxnLst>
              <a:rect l="l" t="t" r="r" b="b"/>
              <a:pathLst>
                <a:path w="1663908" h="824459">
                  <a:moveTo>
                    <a:pt x="0" y="0"/>
                  </a:moveTo>
                  <a:cubicBezTo>
                    <a:pt x="3747" y="253583"/>
                    <a:pt x="7495" y="507167"/>
                    <a:pt x="284813" y="644577"/>
                  </a:cubicBezTo>
                  <a:cubicBezTo>
                    <a:pt x="562131" y="781987"/>
                    <a:pt x="1113019" y="803223"/>
                    <a:pt x="1663908" y="824459"/>
                  </a:cubicBezTo>
                </a:path>
              </a:pathLst>
            </a:custGeom>
            <a:noFill/>
            <a:ln w="28575" cap="flat" cmpd="sng" algn="ctr">
              <a:solidFill>
                <a:srgbClr val="3539EB"/>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rgbClr val="002060"/>
                </a:solidFill>
                <a:effectLst/>
                <a:latin typeface="Arial" panose="020B0604020202020204" pitchFamily="34" charset="0"/>
              </a:endParaRPr>
            </a:p>
          </p:txBody>
        </p:sp>
        <p:sp>
          <p:nvSpPr>
            <p:cNvPr id="12" name="Freeform 11"/>
            <p:cNvSpPr/>
            <p:nvPr/>
          </p:nvSpPr>
          <p:spPr bwMode="auto">
            <a:xfrm>
              <a:off x="4831009" y="4831625"/>
              <a:ext cx="1404351" cy="1639513"/>
            </a:xfrm>
            <a:custGeom>
              <a:avLst/>
              <a:gdLst>
                <a:gd name="connsiteX0" fmla="*/ 645343 w 1404351"/>
                <a:gd name="connsiteY0" fmla="*/ 1639513 h 1639513"/>
                <a:gd name="connsiteX1" fmla="*/ 1388921 w 1404351"/>
                <a:gd name="connsiteY1" fmla="*/ 1398353 h 1639513"/>
                <a:gd name="connsiteX2" fmla="*/ 32393 w 1404351"/>
                <a:gd name="connsiteY2" fmla="*/ 624630 h 1639513"/>
                <a:gd name="connsiteX3" fmla="*/ 484569 w 1404351"/>
                <a:gd name="connsiteY3" fmla="*/ 82019 h 1639513"/>
                <a:gd name="connsiteX4" fmla="*/ 1167857 w 1404351"/>
                <a:gd name="connsiteY4" fmla="*/ 11680 h 1639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351" h="1639513">
                  <a:moveTo>
                    <a:pt x="645343" y="1639513"/>
                  </a:moveTo>
                  <a:cubicBezTo>
                    <a:pt x="1068211" y="1603506"/>
                    <a:pt x="1491079" y="1567500"/>
                    <a:pt x="1388921" y="1398353"/>
                  </a:cubicBezTo>
                  <a:cubicBezTo>
                    <a:pt x="1286763" y="1229206"/>
                    <a:pt x="183118" y="844019"/>
                    <a:pt x="32393" y="624630"/>
                  </a:cubicBezTo>
                  <a:cubicBezTo>
                    <a:pt x="-118332" y="405241"/>
                    <a:pt x="295325" y="184177"/>
                    <a:pt x="484569" y="82019"/>
                  </a:cubicBezTo>
                  <a:cubicBezTo>
                    <a:pt x="673813" y="-20139"/>
                    <a:pt x="920835" y="-4230"/>
                    <a:pt x="1167857" y="11680"/>
                  </a:cubicBezTo>
                </a:path>
              </a:pathLst>
            </a:custGeom>
            <a:noFill/>
            <a:ln w="28575" cap="flat" cmpd="sng" algn="ctr">
              <a:solidFill>
                <a:srgbClr val="B205FF"/>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rgbClr val="002060"/>
                </a:solidFill>
                <a:effectLst/>
                <a:latin typeface="Arial" panose="020B0604020202020204" pitchFamily="34" charset="0"/>
              </a:endParaRPr>
            </a:p>
          </p:txBody>
        </p:sp>
      </p:grpSp>
      <p:grpSp>
        <p:nvGrpSpPr>
          <p:cNvPr id="18" name="Group 17"/>
          <p:cNvGrpSpPr/>
          <p:nvPr/>
        </p:nvGrpSpPr>
        <p:grpSpPr>
          <a:xfrm>
            <a:off x="2574790" y="5725408"/>
            <a:ext cx="3078163" cy="969916"/>
            <a:chOff x="2743200" y="5778500"/>
            <a:chExt cx="3078163" cy="969916"/>
          </a:xfrm>
        </p:grpSpPr>
        <p:sp>
          <p:nvSpPr>
            <p:cNvPr id="15" name="TextBox 14"/>
            <p:cNvSpPr txBox="1"/>
            <p:nvPr/>
          </p:nvSpPr>
          <p:spPr>
            <a:xfrm>
              <a:off x="3146425" y="6286751"/>
              <a:ext cx="2674938" cy="461665"/>
            </a:xfrm>
            <a:prstGeom prst="rect">
              <a:avLst/>
            </a:prstGeom>
            <a:noFill/>
            <a:ln>
              <a:solidFill>
                <a:srgbClr val="002060"/>
              </a:solidFill>
            </a:ln>
          </p:spPr>
          <p:txBody>
            <a:bodyPr wrap="square" rtlCol="0">
              <a:spAutoFit/>
            </a:bodyPr>
            <a:lstStyle/>
            <a:p>
              <a:pPr algn="ctr"/>
              <a:r>
                <a:rPr lang="en-US" sz="2400" b="0" dirty="0" err="1"/>
                <a:t>T.Type</a:t>
              </a:r>
              <a:r>
                <a:rPr lang="en-US" sz="2400" b="0" dirty="0"/>
                <a:t>=Integer</a:t>
              </a:r>
            </a:p>
          </p:txBody>
        </p:sp>
        <p:cxnSp>
          <p:nvCxnSpPr>
            <p:cNvPr id="17" name="Straight Arrow Connector 16"/>
            <p:cNvCxnSpPr/>
            <p:nvPr/>
          </p:nvCxnSpPr>
          <p:spPr bwMode="auto">
            <a:xfrm>
              <a:off x="2743200" y="5778500"/>
              <a:ext cx="981869" cy="500063"/>
            </a:xfrm>
            <a:prstGeom prst="straightConnector1">
              <a:avLst/>
            </a:prstGeom>
            <a:solidFill>
              <a:schemeClr val="accent1"/>
            </a:solidFill>
            <a:ln w="9525" cap="flat" cmpd="sng" algn="ctr">
              <a:solidFill>
                <a:srgbClr val="00206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2" name="Group 21"/>
          <p:cNvGrpSpPr/>
          <p:nvPr/>
        </p:nvGrpSpPr>
        <p:grpSpPr>
          <a:xfrm>
            <a:off x="1764632" y="3272589"/>
            <a:ext cx="6866021" cy="3422831"/>
            <a:chOff x="1764632" y="3272589"/>
            <a:chExt cx="6866021" cy="3422831"/>
          </a:xfrm>
        </p:grpSpPr>
        <p:sp>
          <p:nvSpPr>
            <p:cNvPr id="19" name="TextBox 18"/>
            <p:cNvSpPr txBox="1"/>
            <p:nvPr/>
          </p:nvSpPr>
          <p:spPr>
            <a:xfrm>
              <a:off x="2876550" y="6172200"/>
              <a:ext cx="4373562" cy="523220"/>
            </a:xfrm>
            <a:prstGeom prst="rect">
              <a:avLst/>
            </a:prstGeom>
            <a:noFill/>
            <a:ln>
              <a:solidFill>
                <a:srgbClr val="002060"/>
              </a:solidFill>
            </a:ln>
          </p:spPr>
          <p:txBody>
            <a:bodyPr wrap="square" rtlCol="0">
              <a:spAutoFit/>
            </a:bodyPr>
            <a:lstStyle/>
            <a:p>
              <a:r>
                <a:rPr lang="fr-FR" altLang="en-US" sz="2800" b="0" dirty="0" err="1">
                  <a:solidFill>
                    <a:srgbClr val="002060"/>
                  </a:solidFill>
                </a:rPr>
                <a:t>addType</a:t>
              </a:r>
              <a:r>
                <a:rPr lang="fr-FR" altLang="en-US" sz="2800" b="0" dirty="0">
                  <a:solidFill>
                    <a:srgbClr val="002060"/>
                  </a:solidFill>
                </a:rPr>
                <a:t>(</a:t>
              </a:r>
              <a:r>
                <a:rPr lang="fr-FR" altLang="en-US" sz="2800" b="0" dirty="0" err="1">
                  <a:solidFill>
                    <a:srgbClr val="002060"/>
                  </a:solidFill>
                </a:rPr>
                <a:t>Id.</a:t>
              </a:r>
              <a:r>
                <a:rPr lang="fr-FR" altLang="en-US" sz="2800" b="0" i="1" dirty="0" err="1">
                  <a:solidFill>
                    <a:srgbClr val="002060"/>
                  </a:solidFill>
                </a:rPr>
                <a:t>entry</a:t>
              </a:r>
              <a:r>
                <a:rPr lang="fr-FR" altLang="en-US" sz="2800" b="0" dirty="0">
                  <a:solidFill>
                    <a:srgbClr val="002060"/>
                  </a:solidFill>
                </a:rPr>
                <a:t>, </a:t>
              </a:r>
              <a:r>
                <a:rPr lang="fr-FR" altLang="en-US" sz="2800" b="0" dirty="0" err="1">
                  <a:solidFill>
                    <a:srgbClr val="002060"/>
                  </a:solidFill>
                </a:rPr>
                <a:t>T.</a:t>
              </a:r>
              <a:r>
                <a:rPr lang="fr-FR" altLang="en-US" sz="2800" b="0" i="1" dirty="0" err="1">
                  <a:solidFill>
                    <a:srgbClr val="002060"/>
                  </a:solidFill>
                </a:rPr>
                <a:t>type</a:t>
              </a:r>
              <a:r>
                <a:rPr lang="fr-FR" altLang="en-US" sz="2800" b="0" dirty="0">
                  <a:solidFill>
                    <a:srgbClr val="002060"/>
                  </a:solidFill>
                </a:rPr>
                <a:t>)</a:t>
              </a:r>
              <a:endParaRPr lang="en-US" altLang="en-US" sz="2800" b="0" dirty="0">
                <a:solidFill>
                  <a:srgbClr val="002060"/>
                </a:solidFill>
              </a:endParaRPr>
            </a:p>
          </p:txBody>
        </p:sp>
        <p:sp>
          <p:nvSpPr>
            <p:cNvPr id="20" name="Freeform 19"/>
            <p:cNvSpPr/>
            <p:nvPr/>
          </p:nvSpPr>
          <p:spPr bwMode="auto">
            <a:xfrm>
              <a:off x="1764632" y="3272589"/>
              <a:ext cx="1588168" cy="2903622"/>
            </a:xfrm>
            <a:custGeom>
              <a:avLst/>
              <a:gdLst>
                <a:gd name="connsiteX0" fmla="*/ 0 w 1588168"/>
                <a:gd name="connsiteY0" fmla="*/ 0 h 2903622"/>
                <a:gd name="connsiteX1" fmla="*/ 1219200 w 1588168"/>
                <a:gd name="connsiteY1" fmla="*/ 737937 h 2903622"/>
                <a:gd name="connsiteX2" fmla="*/ 1588168 w 1588168"/>
                <a:gd name="connsiteY2" fmla="*/ 2903622 h 2903622"/>
              </a:gdLst>
              <a:ahLst/>
              <a:cxnLst>
                <a:cxn ang="0">
                  <a:pos x="connsiteX0" y="connsiteY0"/>
                </a:cxn>
                <a:cxn ang="0">
                  <a:pos x="connsiteX1" y="connsiteY1"/>
                </a:cxn>
                <a:cxn ang="0">
                  <a:pos x="connsiteX2" y="connsiteY2"/>
                </a:cxn>
              </a:cxnLst>
              <a:rect l="l" t="t" r="r" b="b"/>
              <a:pathLst>
                <a:path w="1588168" h="2903622">
                  <a:moveTo>
                    <a:pt x="0" y="0"/>
                  </a:moveTo>
                  <a:cubicBezTo>
                    <a:pt x="477252" y="127000"/>
                    <a:pt x="954505" y="254000"/>
                    <a:pt x="1219200" y="737937"/>
                  </a:cubicBezTo>
                  <a:cubicBezTo>
                    <a:pt x="1483895" y="1221874"/>
                    <a:pt x="1536031" y="2062748"/>
                    <a:pt x="1588168" y="2903622"/>
                  </a:cubicBezTo>
                </a:path>
              </a:pathLst>
            </a:custGeom>
            <a:noFill/>
            <a:ln w="28575" cap="flat" cmpd="sng" algn="ctr">
              <a:solidFill>
                <a:srgbClr val="3539EB"/>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Arial" panose="020B0604020202020204" pitchFamily="34" charset="0"/>
              </a:endParaRPr>
            </a:p>
          </p:txBody>
        </p:sp>
        <p:sp>
          <p:nvSpPr>
            <p:cNvPr id="21" name="Freeform 20"/>
            <p:cNvSpPr/>
            <p:nvPr/>
          </p:nvSpPr>
          <p:spPr bwMode="auto">
            <a:xfrm>
              <a:off x="7251032" y="5117432"/>
              <a:ext cx="1379621" cy="1357325"/>
            </a:xfrm>
            <a:custGeom>
              <a:avLst/>
              <a:gdLst>
                <a:gd name="connsiteX0" fmla="*/ 0 w 1379621"/>
                <a:gd name="connsiteY0" fmla="*/ 1347536 h 1378757"/>
                <a:gd name="connsiteX1" fmla="*/ 1106905 w 1379621"/>
                <a:gd name="connsiteY1" fmla="*/ 1203157 h 1378757"/>
                <a:gd name="connsiteX2" fmla="*/ 1379621 w 1379621"/>
                <a:gd name="connsiteY2" fmla="*/ 0 h 1378757"/>
              </a:gdLst>
              <a:ahLst/>
              <a:cxnLst>
                <a:cxn ang="0">
                  <a:pos x="connsiteX0" y="connsiteY0"/>
                </a:cxn>
                <a:cxn ang="0">
                  <a:pos x="connsiteX1" y="connsiteY1"/>
                </a:cxn>
                <a:cxn ang="0">
                  <a:pos x="connsiteX2" y="connsiteY2"/>
                </a:cxn>
              </a:cxnLst>
              <a:rect l="l" t="t" r="r" b="b"/>
              <a:pathLst>
                <a:path w="1379621" h="1378757">
                  <a:moveTo>
                    <a:pt x="0" y="1347536"/>
                  </a:moveTo>
                  <a:cubicBezTo>
                    <a:pt x="438484" y="1387641"/>
                    <a:pt x="876968" y="1427746"/>
                    <a:pt x="1106905" y="1203157"/>
                  </a:cubicBezTo>
                  <a:cubicBezTo>
                    <a:pt x="1336842" y="978568"/>
                    <a:pt x="1358231" y="489284"/>
                    <a:pt x="1379621" y="0"/>
                  </a:cubicBezTo>
                </a:path>
              </a:pathLst>
            </a:custGeom>
            <a:noFill/>
            <a:ln w="28575" cap="flat" cmpd="sng" algn="ctr">
              <a:solidFill>
                <a:srgbClr val="3539EB"/>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Arial" panose="020B0604020202020204" pitchFamily="34" charset="0"/>
              </a:endParaRPr>
            </a:p>
          </p:txBody>
        </p:sp>
      </p:grpSp>
      <p:sp>
        <p:nvSpPr>
          <p:cNvPr id="23" name="TextBox 22"/>
          <p:cNvSpPr txBox="1"/>
          <p:nvPr/>
        </p:nvSpPr>
        <p:spPr>
          <a:xfrm>
            <a:off x="8309812" y="4622695"/>
            <a:ext cx="609599" cy="461665"/>
          </a:xfrm>
          <a:prstGeom prst="rect">
            <a:avLst/>
          </a:prstGeom>
          <a:noFill/>
        </p:spPr>
        <p:txBody>
          <a:bodyPr wrap="square" rtlCol="0">
            <a:spAutoFit/>
          </a:bodyPr>
          <a:lstStyle/>
          <a:p>
            <a:r>
              <a:rPr lang="en-US" sz="2400" dirty="0" err="1">
                <a:solidFill>
                  <a:srgbClr val="002060"/>
                </a:solidFill>
              </a:rPr>
              <a:t>Int</a:t>
            </a:r>
            <a:endParaRPr lang="en-US" sz="2400" dirty="0">
              <a:solidFill>
                <a:srgbClr val="002060"/>
              </a:solidFill>
            </a:endParaRPr>
          </a:p>
        </p:txBody>
      </p:sp>
      <p:grpSp>
        <p:nvGrpSpPr>
          <p:cNvPr id="25" name="Group 24"/>
          <p:cNvGrpSpPr/>
          <p:nvPr/>
        </p:nvGrpSpPr>
        <p:grpSpPr>
          <a:xfrm>
            <a:off x="3271838" y="3435350"/>
            <a:ext cx="2951162" cy="2319338"/>
            <a:chOff x="3271838" y="3435350"/>
            <a:chExt cx="2951162" cy="2319338"/>
          </a:xfrm>
        </p:grpSpPr>
        <p:sp>
          <p:nvSpPr>
            <p:cNvPr id="62489" name="Text Box 15"/>
            <p:cNvSpPr txBox="1">
              <a:spLocks noChangeArrowheads="1"/>
            </p:cNvSpPr>
            <p:nvPr/>
          </p:nvSpPr>
          <p:spPr bwMode="auto">
            <a:xfrm>
              <a:off x="4703763" y="5170488"/>
              <a:ext cx="1519237"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FF0000"/>
                  </a:solidFill>
                </a:rPr>
                <a:t>Char</a:t>
              </a:r>
              <a:endParaRPr lang="en-US" altLang="en-US" sz="3200" b="0" baseline="-25000">
                <a:solidFill>
                  <a:srgbClr val="FF0000"/>
                </a:solidFill>
              </a:endParaRPr>
            </a:p>
          </p:txBody>
        </p:sp>
        <p:sp>
          <p:nvSpPr>
            <p:cNvPr id="62471" name="Line 14"/>
            <p:cNvSpPr>
              <a:spLocks noChangeShapeType="1"/>
            </p:cNvSpPr>
            <p:nvPr/>
          </p:nvSpPr>
          <p:spPr bwMode="auto">
            <a:xfrm>
              <a:off x="4703763" y="3435350"/>
              <a:ext cx="719137" cy="55086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72" name="Text Box 15"/>
            <p:cNvSpPr txBox="1">
              <a:spLocks noChangeArrowheads="1"/>
            </p:cNvSpPr>
            <p:nvPr/>
          </p:nvSpPr>
          <p:spPr bwMode="auto">
            <a:xfrm>
              <a:off x="3308350" y="3986213"/>
              <a:ext cx="9064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Id</a:t>
              </a:r>
              <a:endParaRPr lang="en-US" altLang="en-US" sz="3200" b="0" baseline="-25000">
                <a:solidFill>
                  <a:srgbClr val="270076"/>
                </a:solidFill>
              </a:endParaRPr>
            </a:p>
          </p:txBody>
        </p:sp>
        <p:sp>
          <p:nvSpPr>
            <p:cNvPr id="62478" name="Line 30"/>
            <p:cNvSpPr>
              <a:spLocks noChangeShapeType="1"/>
            </p:cNvSpPr>
            <p:nvPr/>
          </p:nvSpPr>
          <p:spPr bwMode="auto">
            <a:xfrm flipH="1">
              <a:off x="3821113" y="3435350"/>
              <a:ext cx="623887" cy="596900"/>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85" name="Text Box 10"/>
            <p:cNvSpPr txBox="1">
              <a:spLocks noChangeArrowheads="1"/>
            </p:cNvSpPr>
            <p:nvPr/>
          </p:nvSpPr>
          <p:spPr bwMode="auto">
            <a:xfrm>
              <a:off x="4462463" y="3943350"/>
              <a:ext cx="320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a:solidFill>
                    <a:srgbClr val="FF0000"/>
                  </a:solidFill>
                </a:rPr>
                <a:t>:</a:t>
              </a:r>
              <a:endParaRPr lang="en-US" altLang="en-US" sz="3200">
                <a:solidFill>
                  <a:srgbClr val="FF0000"/>
                </a:solidFill>
              </a:endParaRPr>
            </a:p>
          </p:txBody>
        </p:sp>
        <p:sp>
          <p:nvSpPr>
            <p:cNvPr id="62486" name="Line 23"/>
            <p:cNvSpPr>
              <a:spLocks noChangeShapeType="1"/>
            </p:cNvSpPr>
            <p:nvPr/>
          </p:nvSpPr>
          <p:spPr bwMode="auto">
            <a:xfrm>
              <a:off x="4591050" y="3467100"/>
              <a:ext cx="4763" cy="454025"/>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87" name="Line 23"/>
            <p:cNvSpPr>
              <a:spLocks noChangeShapeType="1"/>
            </p:cNvSpPr>
            <p:nvPr/>
          </p:nvSpPr>
          <p:spPr bwMode="auto">
            <a:xfrm>
              <a:off x="3725863" y="4567238"/>
              <a:ext cx="3175" cy="45561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88" name="Text Box 15"/>
            <p:cNvSpPr txBox="1">
              <a:spLocks noChangeArrowheads="1"/>
            </p:cNvSpPr>
            <p:nvPr/>
          </p:nvSpPr>
          <p:spPr bwMode="auto">
            <a:xfrm>
              <a:off x="3271838" y="5116513"/>
              <a:ext cx="9064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dirty="0" err="1">
                  <a:solidFill>
                    <a:srgbClr val="FF0000"/>
                  </a:solidFill>
                </a:rPr>
                <a:t>Ch</a:t>
              </a:r>
              <a:endParaRPr lang="en-US" altLang="en-US" sz="3200" b="0" baseline="-25000" dirty="0">
                <a:solidFill>
                  <a:srgbClr val="FF0000"/>
                </a:solidFill>
              </a:endParaRPr>
            </a:p>
          </p:txBody>
        </p:sp>
        <p:sp>
          <p:nvSpPr>
            <p:cNvPr id="62" name="Text Box 15"/>
            <p:cNvSpPr txBox="1">
              <a:spLocks noChangeArrowheads="1"/>
            </p:cNvSpPr>
            <p:nvPr/>
          </p:nvSpPr>
          <p:spPr bwMode="auto">
            <a:xfrm>
              <a:off x="5221016" y="3993018"/>
              <a:ext cx="40686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dirty="0">
                  <a:solidFill>
                    <a:srgbClr val="002060"/>
                  </a:solidFill>
                </a:rPr>
                <a:t>T</a:t>
              </a:r>
              <a:endParaRPr lang="en-US" altLang="en-US" sz="3200" b="0" baseline="-25000" dirty="0">
                <a:solidFill>
                  <a:srgbClr val="002060"/>
                </a:solidFill>
              </a:endParaRPr>
            </a:p>
          </p:txBody>
        </p:sp>
        <p:sp>
          <p:nvSpPr>
            <p:cNvPr id="63" name="Line 23"/>
            <p:cNvSpPr>
              <a:spLocks noChangeShapeType="1"/>
            </p:cNvSpPr>
            <p:nvPr/>
          </p:nvSpPr>
          <p:spPr bwMode="auto">
            <a:xfrm>
              <a:off x="5395307" y="4553280"/>
              <a:ext cx="3175" cy="45561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64" name="Group 63"/>
          <p:cNvGrpSpPr/>
          <p:nvPr/>
        </p:nvGrpSpPr>
        <p:grpSpPr>
          <a:xfrm>
            <a:off x="6019800" y="5088527"/>
            <a:ext cx="2978462" cy="462653"/>
            <a:chOff x="6019800" y="4621812"/>
            <a:chExt cx="2978462" cy="462653"/>
          </a:xfrm>
        </p:grpSpPr>
        <p:sp>
          <p:nvSpPr>
            <p:cNvPr id="65" name="TextBox 64"/>
            <p:cNvSpPr txBox="1"/>
            <p:nvPr/>
          </p:nvSpPr>
          <p:spPr>
            <a:xfrm>
              <a:off x="6019800" y="4622800"/>
              <a:ext cx="990600" cy="461665"/>
            </a:xfrm>
            <a:prstGeom prst="rect">
              <a:avLst/>
            </a:prstGeom>
            <a:noFill/>
            <a:ln w="28575">
              <a:solidFill>
                <a:srgbClr val="002060"/>
              </a:solidFill>
            </a:ln>
          </p:spPr>
          <p:txBody>
            <a:bodyPr wrap="square" rtlCol="0">
              <a:spAutoFit/>
            </a:bodyPr>
            <a:lstStyle/>
            <a:p>
              <a:pPr algn="ctr"/>
              <a:r>
                <a:rPr lang="en-US" sz="2400" dirty="0" err="1">
                  <a:solidFill>
                    <a:srgbClr val="7030A0"/>
                  </a:solidFill>
                </a:rPr>
                <a:t>Ch</a:t>
              </a:r>
              <a:endParaRPr lang="en-US" sz="2400" dirty="0">
                <a:solidFill>
                  <a:srgbClr val="7030A0"/>
                </a:solidFill>
              </a:endParaRPr>
            </a:p>
          </p:txBody>
        </p:sp>
        <p:sp>
          <p:nvSpPr>
            <p:cNvPr id="66" name="TextBox 65"/>
            <p:cNvSpPr txBox="1"/>
            <p:nvPr/>
          </p:nvSpPr>
          <p:spPr>
            <a:xfrm>
              <a:off x="7010400" y="4622800"/>
              <a:ext cx="1143000" cy="461665"/>
            </a:xfrm>
            <a:prstGeom prst="rect">
              <a:avLst/>
            </a:prstGeom>
            <a:noFill/>
            <a:ln w="28575">
              <a:solidFill>
                <a:srgbClr val="002060"/>
              </a:solidFill>
            </a:ln>
          </p:spPr>
          <p:txBody>
            <a:bodyPr wrap="square" rtlCol="0">
              <a:spAutoFit/>
            </a:bodyPr>
            <a:lstStyle/>
            <a:p>
              <a:pPr algn="ctr"/>
              <a:r>
                <a:rPr lang="en-US" sz="2400" b="0" dirty="0" err="1">
                  <a:solidFill>
                    <a:srgbClr val="7030A0"/>
                  </a:solidFill>
                </a:rPr>
                <a:t>Var</a:t>
              </a:r>
              <a:endParaRPr lang="en-US" sz="2400" b="0" dirty="0">
                <a:solidFill>
                  <a:srgbClr val="7030A0"/>
                </a:solidFill>
              </a:endParaRPr>
            </a:p>
          </p:txBody>
        </p:sp>
        <p:sp>
          <p:nvSpPr>
            <p:cNvPr id="67" name="TextBox 66"/>
            <p:cNvSpPr txBox="1"/>
            <p:nvPr/>
          </p:nvSpPr>
          <p:spPr>
            <a:xfrm>
              <a:off x="8153399" y="4621812"/>
              <a:ext cx="844863" cy="461665"/>
            </a:xfrm>
            <a:prstGeom prst="rect">
              <a:avLst/>
            </a:prstGeom>
            <a:noFill/>
            <a:ln w="28575">
              <a:solidFill>
                <a:srgbClr val="002060"/>
              </a:solidFill>
            </a:ln>
          </p:spPr>
          <p:txBody>
            <a:bodyPr wrap="square" rtlCol="0">
              <a:spAutoFit/>
            </a:bodyPr>
            <a:lstStyle/>
            <a:p>
              <a:pPr algn="ctr"/>
              <a:endParaRPr lang="en-US" sz="2400" b="0" dirty="0">
                <a:solidFill>
                  <a:srgbClr val="7030A0"/>
                </a:solidFill>
                <a:latin typeface="Arial Narrow" panose="020B0606020202030204" pitchFamily="34" charset="0"/>
              </a:endParaRPr>
            </a:p>
          </p:txBody>
        </p:sp>
      </p:grpSp>
      <p:sp>
        <p:nvSpPr>
          <p:cNvPr id="69" name="TextBox 68"/>
          <p:cNvSpPr txBox="1"/>
          <p:nvPr/>
        </p:nvSpPr>
        <p:spPr>
          <a:xfrm>
            <a:off x="8145445" y="5088527"/>
            <a:ext cx="1006475" cy="461665"/>
          </a:xfrm>
          <a:prstGeom prst="rect">
            <a:avLst/>
          </a:prstGeom>
          <a:noFill/>
        </p:spPr>
        <p:txBody>
          <a:bodyPr wrap="square" rtlCol="0">
            <a:spAutoFit/>
          </a:bodyPr>
          <a:lstStyle/>
          <a:p>
            <a:r>
              <a:rPr lang="en-US" sz="2400" dirty="0">
                <a:solidFill>
                  <a:srgbClr val="002060"/>
                </a:solidFill>
              </a:rPr>
              <a:t>Char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3"/>
                                        </p:tgtEl>
                                        <p:attrNameLst>
                                          <p:attrName>style.visibility</p:attrName>
                                        </p:attrNameLst>
                                      </p:cBhvr>
                                      <p:to>
                                        <p:strVal val="hidden"/>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1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xit" presetSubtype="8" fill="hold" nodeType="clickEffect">
                                  <p:stCondLst>
                                    <p:cond delay="0"/>
                                  </p:stCondLst>
                                  <p:childTnLst>
                                    <p:animEffect transition="out" filter="wipe(left)">
                                      <p:cBhvr>
                                        <p:cTn id="35" dur="250"/>
                                        <p:tgtEl>
                                          <p:spTgt spid="18"/>
                                        </p:tgtEl>
                                      </p:cBhvr>
                                    </p:animEffect>
                                    <p:set>
                                      <p:cBhvr>
                                        <p:cTn id="36" dur="1" fill="hold">
                                          <p:stCondLst>
                                            <p:cond delay="249"/>
                                          </p:stCondLst>
                                        </p:cTn>
                                        <p:tgtEl>
                                          <p:spTgt spid="18"/>
                                        </p:tgtEl>
                                        <p:attrNameLst>
                                          <p:attrName>style.visibility</p:attrName>
                                        </p:attrNameLst>
                                      </p:cBhvr>
                                      <p:to>
                                        <p:strVal val="hidden"/>
                                      </p:to>
                                    </p:set>
                                  </p:childTnLst>
                                </p:cTn>
                              </p:par>
                            </p:childTnLst>
                          </p:cTn>
                        </p:par>
                        <p:par>
                          <p:cTn id="37" fill="hold">
                            <p:stCondLst>
                              <p:cond delay="250"/>
                            </p:stCondLst>
                            <p:childTnLst>
                              <p:par>
                                <p:cTn id="38" presetID="10" presetClass="entr" presetSubtype="0" fill="hold" nodeType="after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 calcmode="lin" valueType="num">
                                      <p:cBhvr additive="base">
                                        <p:cTn id="45" dur="250" fill="hold"/>
                                        <p:tgtEl>
                                          <p:spTgt spid="23"/>
                                        </p:tgtEl>
                                        <p:attrNameLst>
                                          <p:attrName>ppt_x</p:attrName>
                                        </p:attrNameLst>
                                      </p:cBhvr>
                                      <p:tavLst>
                                        <p:tav tm="0">
                                          <p:val>
                                            <p:strVal val="1+#ppt_w/2"/>
                                          </p:val>
                                        </p:tav>
                                        <p:tav tm="100000">
                                          <p:val>
                                            <p:strVal val="#ppt_x"/>
                                          </p:val>
                                        </p:tav>
                                      </p:tavLst>
                                    </p:anim>
                                    <p:anim calcmode="lin" valueType="num">
                                      <p:cBhvr additive="base">
                                        <p:cTn id="46" dur="25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nodeType="clickEffect">
                                  <p:stCondLst>
                                    <p:cond delay="0"/>
                                  </p:stCondLst>
                                  <p:childTnLst>
                                    <p:animEffect transition="out" filter="fade">
                                      <p:cBhvr>
                                        <p:cTn id="50" dur="500"/>
                                        <p:tgtEl>
                                          <p:spTgt spid="22"/>
                                        </p:tgtEl>
                                      </p:cBhvr>
                                    </p:animEffect>
                                    <p:set>
                                      <p:cBhvr>
                                        <p:cTn id="51" dur="1" fill="hold">
                                          <p:stCondLst>
                                            <p:cond delay="499"/>
                                          </p:stCondLst>
                                        </p:cTn>
                                        <p:tgtEl>
                                          <p:spTgt spid="22"/>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500"/>
                                        <p:tgtEl>
                                          <p:spTgt spid="25"/>
                                        </p:tgtEl>
                                      </p:cBhvr>
                                    </p:animEffect>
                                  </p:childTnLst>
                                </p:cTn>
                              </p:par>
                            </p:childTnLst>
                          </p:cTn>
                        </p:par>
                        <p:par>
                          <p:cTn id="57" fill="hold">
                            <p:stCondLst>
                              <p:cond delay="500"/>
                            </p:stCondLst>
                            <p:childTnLst>
                              <p:par>
                                <p:cTn id="58" presetID="1" presetClass="entr" presetSubtype="0" fill="hold" nodeType="afterEffect">
                                  <p:stCondLst>
                                    <p:cond delay="0"/>
                                  </p:stCondLst>
                                  <p:childTnLst>
                                    <p:set>
                                      <p:cBhvr>
                                        <p:cTn id="59" dur="1" fill="hold">
                                          <p:stCondLst>
                                            <p:cond delay="0"/>
                                          </p:stCondLst>
                                        </p:cTn>
                                        <p:tgtEl>
                                          <p:spTgt spid="64"/>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 presetClass="entr" presetSubtype="2" fill="hold" grpId="0" nodeType="clickEffect">
                                  <p:stCondLst>
                                    <p:cond delay="0"/>
                                  </p:stCondLst>
                                  <p:childTnLst>
                                    <p:set>
                                      <p:cBhvr>
                                        <p:cTn id="63" dur="1" fill="hold">
                                          <p:stCondLst>
                                            <p:cond delay="0"/>
                                          </p:stCondLst>
                                        </p:cTn>
                                        <p:tgtEl>
                                          <p:spTgt spid="69"/>
                                        </p:tgtEl>
                                        <p:attrNameLst>
                                          <p:attrName>style.visibility</p:attrName>
                                        </p:attrNameLst>
                                      </p:cBhvr>
                                      <p:to>
                                        <p:strVal val="visible"/>
                                      </p:to>
                                    </p:set>
                                    <p:anim calcmode="lin" valueType="num">
                                      <p:cBhvr additive="base">
                                        <p:cTn id="64" dur="250" fill="hold"/>
                                        <p:tgtEl>
                                          <p:spTgt spid="69"/>
                                        </p:tgtEl>
                                        <p:attrNameLst>
                                          <p:attrName>ppt_x</p:attrName>
                                        </p:attrNameLst>
                                      </p:cBhvr>
                                      <p:tavLst>
                                        <p:tav tm="0">
                                          <p:val>
                                            <p:strVal val="1+#ppt_w/2"/>
                                          </p:val>
                                        </p:tav>
                                        <p:tav tm="100000">
                                          <p:val>
                                            <p:strVal val="#ppt_x"/>
                                          </p:val>
                                        </p:tav>
                                      </p:tavLst>
                                    </p:anim>
                                    <p:anim calcmode="lin" valueType="num">
                                      <p:cBhvr additive="base">
                                        <p:cTn id="65" dur="250" fill="hold"/>
                                        <p:tgtEl>
                                          <p:spTgt spid="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6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DA5626AC-2398-429F-A321-343E292E3CBA}" type="slidenum">
              <a:rPr lang="en-US" altLang="en-US" sz="1400" b="0"/>
              <a:pPr/>
              <a:t>57</a:t>
            </a:fld>
            <a:endParaRPr lang="en-US" altLang="en-US" sz="1400" b="0"/>
          </a:p>
        </p:txBody>
      </p:sp>
      <p:sp>
        <p:nvSpPr>
          <p:cNvPr id="63491" name="Rectangle 2"/>
          <p:cNvSpPr>
            <a:spLocks noGrp="1" noChangeArrowheads="1"/>
          </p:cNvSpPr>
          <p:nvPr>
            <p:ph type="title"/>
          </p:nvPr>
        </p:nvSpPr>
        <p:spPr/>
        <p:txBody>
          <a:bodyPr/>
          <a:lstStyle/>
          <a:p>
            <a:pPr eaLnBrk="1" hangingPunct="1"/>
            <a:r>
              <a:rPr lang="en-US" altLang="en-US" sz="2800" b="1"/>
              <a:t>Bộ kiểm tra kiểu của biểu thức</a:t>
            </a:r>
          </a:p>
        </p:txBody>
      </p:sp>
      <p:sp>
        <p:nvSpPr>
          <p:cNvPr id="63492"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pic>
        <p:nvPicPr>
          <p:cNvPr id="6349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827088"/>
            <a:ext cx="8382000" cy="51165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63494" name="Text Box 5"/>
          <p:cNvSpPr txBox="1">
            <a:spLocks noChangeArrowheads="1"/>
          </p:cNvSpPr>
          <p:nvPr/>
        </p:nvSpPr>
        <p:spPr bwMode="auto">
          <a:xfrm>
            <a:off x="533400" y="6096000"/>
            <a:ext cx="830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2400" b="0">
                <a:solidFill>
                  <a:srgbClr val="270076"/>
                </a:solidFill>
              </a:rPr>
              <a:t>Hàm </a:t>
            </a:r>
            <a:r>
              <a:rPr lang="fr-FR" altLang="en-US" sz="2400" b="0">
                <a:solidFill>
                  <a:srgbClr val="3539EB"/>
                </a:solidFill>
              </a:rPr>
              <a:t>lookup(idx)</a:t>
            </a:r>
            <a:r>
              <a:rPr lang="fr-FR" altLang="en-US" sz="2400" b="0">
                <a:solidFill>
                  <a:srgbClr val="270076"/>
                </a:solidFill>
              </a:rPr>
              <a:t> trả về kiểu trong bảng ký hiệu tại vị trí </a:t>
            </a:r>
            <a:r>
              <a:rPr lang="fr-FR" altLang="en-US" sz="2400" b="0">
                <a:solidFill>
                  <a:srgbClr val="3539EB"/>
                </a:solidFill>
              </a:rPr>
              <a:t>idx</a:t>
            </a:r>
            <a:endParaRPr lang="en-US" altLang="en-US" sz="2400" b="0">
              <a:solidFill>
                <a:srgbClr val="3539EB"/>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34FBA4A6-7363-4EBD-BF97-E835407D4AB0}" type="slidenum">
              <a:rPr lang="en-US" altLang="en-US" sz="1400" b="0"/>
              <a:pPr/>
              <a:t>58</a:t>
            </a:fld>
            <a:endParaRPr lang="en-US" altLang="en-US" sz="1400" b="0"/>
          </a:p>
        </p:txBody>
      </p:sp>
      <p:sp>
        <p:nvSpPr>
          <p:cNvPr id="61443" name="Rectangle 2"/>
          <p:cNvSpPr>
            <a:spLocks noGrp="1" noChangeArrowheads="1"/>
          </p:cNvSpPr>
          <p:nvPr>
            <p:ph type="title"/>
          </p:nvPr>
        </p:nvSpPr>
        <p:spPr/>
        <p:txBody>
          <a:bodyPr/>
          <a:lstStyle/>
          <a:p>
            <a:pPr eaLnBrk="1" hangingPunct="1"/>
            <a:r>
              <a:rPr lang="en-US" altLang="en-US" sz="2800" b="1"/>
              <a:t>Bộ kiểm tra kiểu của định danh</a:t>
            </a:r>
            <a:r>
              <a:rPr lang="en-US" altLang="en-US" sz="2800" b="1">
                <a:sym typeface="Symbol" panose="05050102010706020507" pitchFamily="18" charset="2"/>
              </a:rPr>
              <a:t>Ví dụ</a:t>
            </a:r>
            <a:endParaRPr lang="en-US" altLang="en-US" sz="2800" b="1"/>
          </a:p>
        </p:txBody>
      </p:sp>
      <p:sp>
        <p:nvSpPr>
          <p:cNvPr id="61444"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sp>
        <p:nvSpPr>
          <p:cNvPr id="2" name="Content Placeholder 1"/>
          <p:cNvSpPr>
            <a:spLocks noGrp="1"/>
          </p:cNvSpPr>
          <p:nvPr>
            <p:ph sz="half" idx="2"/>
          </p:nvPr>
        </p:nvSpPr>
        <p:spPr>
          <a:xfrm>
            <a:off x="533400" y="862503"/>
            <a:ext cx="8077200" cy="627068"/>
          </a:xfrm>
          <a:ln>
            <a:solidFill>
              <a:schemeClr val="accent6"/>
            </a:solidFill>
          </a:ln>
        </p:spPr>
        <p:txBody>
          <a:bodyPr/>
          <a:lstStyle/>
          <a:p>
            <a:pPr marL="0" indent="0" algn="ctr" eaLnBrk="1" hangingPunct="1">
              <a:buFontTx/>
              <a:buNone/>
              <a:defRPr/>
            </a:pPr>
            <a:r>
              <a:rPr lang="en-US" dirty="0"/>
              <a:t>N : integer; </a:t>
            </a:r>
            <a:r>
              <a:rPr lang="en-US" dirty="0" err="1"/>
              <a:t>Ch</a:t>
            </a:r>
            <a:r>
              <a:rPr lang="en-US" dirty="0"/>
              <a:t> : Char;  N Mod </a:t>
            </a:r>
            <a:r>
              <a:rPr lang="en-US" dirty="0" err="1"/>
              <a:t>Ch</a:t>
            </a:r>
            <a:endParaRPr lang="en-US" dirty="0"/>
          </a:p>
        </p:txBody>
      </p:sp>
      <p:grpSp>
        <p:nvGrpSpPr>
          <p:cNvPr id="4" name="Group 3"/>
          <p:cNvGrpSpPr/>
          <p:nvPr/>
        </p:nvGrpSpPr>
        <p:grpSpPr>
          <a:xfrm>
            <a:off x="2282831" y="1638014"/>
            <a:ext cx="4037552" cy="1646361"/>
            <a:chOff x="2317324" y="1754325"/>
            <a:chExt cx="4037552" cy="1646361"/>
          </a:xfrm>
        </p:grpSpPr>
        <p:sp>
          <p:nvSpPr>
            <p:cNvPr id="61447" name="Text Box 7"/>
            <p:cNvSpPr txBox="1">
              <a:spLocks noChangeArrowheads="1"/>
            </p:cNvSpPr>
            <p:nvPr/>
          </p:nvSpPr>
          <p:spPr bwMode="auto">
            <a:xfrm>
              <a:off x="4095818" y="1754325"/>
              <a:ext cx="323781" cy="579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3200" b="0">
                  <a:solidFill>
                    <a:srgbClr val="270076"/>
                  </a:solidFill>
                </a:rPr>
                <a:t>P</a:t>
              </a:r>
              <a:endParaRPr lang="en-US" altLang="en-US" sz="3200" b="0">
                <a:solidFill>
                  <a:srgbClr val="270076"/>
                </a:solidFill>
              </a:endParaRPr>
            </a:p>
          </p:txBody>
        </p:sp>
        <p:sp>
          <p:nvSpPr>
            <p:cNvPr id="61448" name="Text Box 10"/>
            <p:cNvSpPr txBox="1">
              <a:spLocks noChangeArrowheads="1"/>
            </p:cNvSpPr>
            <p:nvPr/>
          </p:nvSpPr>
          <p:spPr bwMode="auto">
            <a:xfrm>
              <a:off x="6031095" y="2719233"/>
              <a:ext cx="323781" cy="579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E</a:t>
              </a:r>
              <a:endParaRPr lang="en-US" altLang="en-US" sz="3200" b="0">
                <a:solidFill>
                  <a:srgbClr val="270076"/>
                </a:solidFill>
              </a:endParaRPr>
            </a:p>
          </p:txBody>
        </p:sp>
        <p:sp>
          <p:nvSpPr>
            <p:cNvPr id="61451" name="Line 20"/>
            <p:cNvSpPr>
              <a:spLocks noChangeShapeType="1"/>
            </p:cNvSpPr>
            <p:nvPr/>
          </p:nvSpPr>
          <p:spPr bwMode="auto">
            <a:xfrm flipV="1">
              <a:off x="2484322" y="2236937"/>
              <a:ext cx="1617482" cy="62883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52" name="Line 22"/>
            <p:cNvSpPr>
              <a:spLocks noChangeShapeType="1"/>
            </p:cNvSpPr>
            <p:nvPr/>
          </p:nvSpPr>
          <p:spPr bwMode="auto">
            <a:xfrm>
              <a:off x="4419600" y="2236938"/>
              <a:ext cx="1598686" cy="54906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53" name="Line 23"/>
            <p:cNvSpPr>
              <a:spLocks noChangeShapeType="1"/>
            </p:cNvSpPr>
            <p:nvPr/>
          </p:nvSpPr>
          <p:spPr bwMode="auto">
            <a:xfrm flipH="1">
              <a:off x="4266684" y="2283834"/>
              <a:ext cx="7751" cy="43460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57" name="Text Box 10"/>
            <p:cNvSpPr txBox="1">
              <a:spLocks noChangeArrowheads="1"/>
            </p:cNvSpPr>
            <p:nvPr/>
          </p:nvSpPr>
          <p:spPr bwMode="auto">
            <a:xfrm>
              <a:off x="4095818" y="2575450"/>
              <a:ext cx="323781" cy="579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a:solidFill>
                    <a:srgbClr val="FF0000"/>
                  </a:solidFill>
                </a:rPr>
                <a:t>;</a:t>
              </a:r>
              <a:endParaRPr lang="en-US" altLang="en-US" sz="3200">
                <a:solidFill>
                  <a:srgbClr val="FF0000"/>
                </a:solidFill>
              </a:endParaRPr>
            </a:p>
          </p:txBody>
        </p:sp>
        <p:sp>
          <p:nvSpPr>
            <p:cNvPr id="61458" name="Text Box 10"/>
            <p:cNvSpPr txBox="1">
              <a:spLocks noChangeArrowheads="1"/>
            </p:cNvSpPr>
            <p:nvPr/>
          </p:nvSpPr>
          <p:spPr bwMode="auto">
            <a:xfrm>
              <a:off x="2317324" y="2821159"/>
              <a:ext cx="323781" cy="579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dirty="0">
                  <a:solidFill>
                    <a:srgbClr val="270076"/>
                  </a:solidFill>
                </a:rPr>
                <a:t>D</a:t>
              </a:r>
              <a:endParaRPr lang="en-US" altLang="en-US" sz="3200" b="0" dirty="0">
                <a:solidFill>
                  <a:srgbClr val="270076"/>
                </a:solidFill>
              </a:endParaRPr>
            </a:p>
          </p:txBody>
        </p:sp>
      </p:grpSp>
      <p:grpSp>
        <p:nvGrpSpPr>
          <p:cNvPr id="10" name="Group 9"/>
          <p:cNvGrpSpPr/>
          <p:nvPr/>
        </p:nvGrpSpPr>
        <p:grpSpPr>
          <a:xfrm>
            <a:off x="4638248" y="3304484"/>
            <a:ext cx="2915098" cy="1008843"/>
            <a:chOff x="4638248" y="3304484"/>
            <a:chExt cx="2915098" cy="1008843"/>
          </a:xfrm>
        </p:grpSpPr>
        <p:sp>
          <p:nvSpPr>
            <p:cNvPr id="61480" name="Line 14"/>
            <p:cNvSpPr>
              <a:spLocks noChangeShapeType="1"/>
            </p:cNvSpPr>
            <p:nvPr/>
          </p:nvSpPr>
          <p:spPr bwMode="auto">
            <a:xfrm>
              <a:off x="6320383" y="3304484"/>
              <a:ext cx="779202" cy="393687"/>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81" name="Text Box 15"/>
            <p:cNvSpPr txBox="1">
              <a:spLocks noChangeArrowheads="1"/>
            </p:cNvSpPr>
            <p:nvPr/>
          </p:nvSpPr>
          <p:spPr bwMode="auto">
            <a:xfrm>
              <a:off x="4638248" y="3733800"/>
              <a:ext cx="915689" cy="579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dirty="0">
                  <a:solidFill>
                    <a:srgbClr val="270076"/>
                  </a:solidFill>
                </a:rPr>
                <a:t>E</a:t>
              </a:r>
              <a:endParaRPr lang="en-US" altLang="en-US" sz="3200" b="0" baseline="-25000" dirty="0">
                <a:solidFill>
                  <a:srgbClr val="270076"/>
                </a:solidFill>
              </a:endParaRPr>
            </a:p>
          </p:txBody>
        </p:sp>
        <p:sp>
          <p:nvSpPr>
            <p:cNvPr id="61482" name="Line 30"/>
            <p:cNvSpPr>
              <a:spLocks noChangeShapeType="1"/>
            </p:cNvSpPr>
            <p:nvPr/>
          </p:nvSpPr>
          <p:spPr bwMode="auto">
            <a:xfrm flipH="1">
              <a:off x="5142478" y="3304484"/>
              <a:ext cx="916738" cy="493596"/>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83" name="Text Box 10"/>
            <p:cNvSpPr txBox="1">
              <a:spLocks noChangeArrowheads="1"/>
            </p:cNvSpPr>
            <p:nvPr/>
          </p:nvSpPr>
          <p:spPr bwMode="auto">
            <a:xfrm>
              <a:off x="5666621" y="3672865"/>
              <a:ext cx="1038801" cy="584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FF0000"/>
                  </a:solidFill>
                </a:rPr>
                <a:t>Mod</a:t>
              </a:r>
              <a:endParaRPr lang="en-US" altLang="en-US" sz="3200" b="0">
                <a:solidFill>
                  <a:srgbClr val="FF0000"/>
                </a:solidFill>
              </a:endParaRPr>
            </a:p>
          </p:txBody>
        </p:sp>
        <p:sp>
          <p:nvSpPr>
            <p:cNvPr id="61484" name="Text Box 10"/>
            <p:cNvSpPr txBox="1">
              <a:spLocks noChangeArrowheads="1"/>
            </p:cNvSpPr>
            <p:nvPr/>
          </p:nvSpPr>
          <p:spPr bwMode="auto">
            <a:xfrm>
              <a:off x="7229565" y="3696838"/>
              <a:ext cx="323781" cy="579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a:solidFill>
                    <a:srgbClr val="270076"/>
                  </a:solidFill>
                </a:rPr>
                <a:t>E</a:t>
              </a:r>
              <a:endParaRPr lang="en-US" altLang="en-US" sz="3200" b="0">
                <a:solidFill>
                  <a:srgbClr val="270076"/>
                </a:solidFill>
              </a:endParaRPr>
            </a:p>
          </p:txBody>
        </p:sp>
        <p:sp>
          <p:nvSpPr>
            <p:cNvPr id="61486" name="Line 23"/>
            <p:cNvSpPr>
              <a:spLocks noChangeShapeType="1"/>
            </p:cNvSpPr>
            <p:nvPr/>
          </p:nvSpPr>
          <p:spPr bwMode="auto">
            <a:xfrm>
              <a:off x="6202452" y="3342808"/>
              <a:ext cx="3589" cy="45527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2" name="Group 11"/>
          <p:cNvGrpSpPr/>
          <p:nvPr/>
        </p:nvGrpSpPr>
        <p:grpSpPr>
          <a:xfrm>
            <a:off x="6929527" y="4345328"/>
            <a:ext cx="915689" cy="1023101"/>
            <a:chOff x="6929527" y="4345328"/>
            <a:chExt cx="915689" cy="1023101"/>
          </a:xfrm>
        </p:grpSpPr>
        <p:sp>
          <p:nvSpPr>
            <p:cNvPr id="61485" name="Line 23"/>
            <p:cNvSpPr>
              <a:spLocks noChangeShapeType="1"/>
            </p:cNvSpPr>
            <p:nvPr/>
          </p:nvSpPr>
          <p:spPr bwMode="auto">
            <a:xfrm>
              <a:off x="7387373" y="4345328"/>
              <a:ext cx="0" cy="443574"/>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87" name="Text Box 15"/>
            <p:cNvSpPr txBox="1">
              <a:spLocks noChangeArrowheads="1"/>
            </p:cNvSpPr>
            <p:nvPr/>
          </p:nvSpPr>
          <p:spPr bwMode="auto">
            <a:xfrm>
              <a:off x="6929527" y="4788902"/>
              <a:ext cx="915689" cy="579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dirty="0" err="1">
                  <a:solidFill>
                    <a:srgbClr val="FF0000"/>
                  </a:solidFill>
                </a:rPr>
                <a:t>Ch</a:t>
              </a:r>
              <a:endParaRPr lang="en-US" altLang="en-US" sz="3200" b="0" baseline="-25000" dirty="0">
                <a:solidFill>
                  <a:srgbClr val="FF0000"/>
                </a:solidFill>
              </a:endParaRPr>
            </a:p>
          </p:txBody>
        </p:sp>
      </p:grpSp>
      <p:grpSp>
        <p:nvGrpSpPr>
          <p:cNvPr id="11" name="Group 10"/>
          <p:cNvGrpSpPr/>
          <p:nvPr/>
        </p:nvGrpSpPr>
        <p:grpSpPr>
          <a:xfrm>
            <a:off x="4656448" y="4324228"/>
            <a:ext cx="915689" cy="1044201"/>
            <a:chOff x="4656448" y="4324228"/>
            <a:chExt cx="915689" cy="1044201"/>
          </a:xfrm>
        </p:grpSpPr>
        <p:sp>
          <p:nvSpPr>
            <p:cNvPr id="61488" name="Line 23"/>
            <p:cNvSpPr>
              <a:spLocks noChangeShapeType="1"/>
            </p:cNvSpPr>
            <p:nvPr/>
          </p:nvSpPr>
          <p:spPr bwMode="auto">
            <a:xfrm>
              <a:off x="5129284" y="4324228"/>
              <a:ext cx="3589" cy="45527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89" name="Text Box 15"/>
            <p:cNvSpPr txBox="1">
              <a:spLocks noChangeArrowheads="1"/>
            </p:cNvSpPr>
            <p:nvPr/>
          </p:nvSpPr>
          <p:spPr bwMode="auto">
            <a:xfrm>
              <a:off x="4656448" y="4788902"/>
              <a:ext cx="915689" cy="579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3200" b="0" dirty="0">
                  <a:solidFill>
                    <a:srgbClr val="FF0000"/>
                  </a:solidFill>
                </a:rPr>
                <a:t>N</a:t>
              </a:r>
              <a:endParaRPr lang="en-US" altLang="en-US" sz="3200" b="0" baseline="-25000" dirty="0">
                <a:solidFill>
                  <a:srgbClr val="FF0000"/>
                </a:solidFill>
              </a:endParaRPr>
            </a:p>
          </p:txBody>
        </p:sp>
      </p:grpSp>
      <p:graphicFrame>
        <p:nvGraphicFramePr>
          <p:cNvPr id="50" name="Group 48"/>
          <p:cNvGraphicFramePr>
            <a:graphicFrameLocks/>
          </p:cNvGraphicFramePr>
          <p:nvPr>
            <p:extLst>
              <p:ext uri="{D42A27DB-BD31-4B8C-83A1-F6EECF244321}">
                <p14:modId xmlns:p14="http://schemas.microsoft.com/office/powerpoint/2010/main" val="2106888503"/>
              </p:ext>
            </p:extLst>
          </p:nvPr>
        </p:nvGraphicFramePr>
        <p:xfrm>
          <a:off x="495300" y="4497550"/>
          <a:ext cx="2971799" cy="2048992"/>
        </p:xfrm>
        <a:graphic>
          <a:graphicData uri="http://schemas.openxmlformats.org/drawingml/2006/table">
            <a:tbl>
              <a:tblPr/>
              <a:tblGrid>
                <a:gridCol w="990600">
                  <a:extLst>
                    <a:ext uri="{9D8B030D-6E8A-4147-A177-3AD203B41FA5}">
                      <a16:colId xmlns:a16="http://schemas.microsoft.com/office/drawing/2014/main" val="20000"/>
                    </a:ext>
                  </a:extLst>
                </a:gridCol>
                <a:gridCol w="1141610">
                  <a:extLst>
                    <a:ext uri="{9D8B030D-6E8A-4147-A177-3AD203B41FA5}">
                      <a16:colId xmlns:a16="http://schemas.microsoft.com/office/drawing/2014/main" val="20001"/>
                    </a:ext>
                  </a:extLst>
                </a:gridCol>
                <a:gridCol w="839589">
                  <a:extLst>
                    <a:ext uri="{9D8B030D-6E8A-4147-A177-3AD203B41FA5}">
                      <a16:colId xmlns:a16="http://schemas.microsoft.com/office/drawing/2014/main" val="20002"/>
                    </a:ext>
                  </a:extLst>
                </a:gridCol>
              </a:tblGrid>
              <a:tr h="323913">
                <a:tc gridSpan="3">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fr-FR" altLang="en-US" sz="2400" b="0" i="0" u="none" strike="noStrike" cap="none" normalizeH="0" baseline="0" dirty="0" err="1">
                          <a:ln>
                            <a:noFill/>
                          </a:ln>
                          <a:solidFill>
                            <a:srgbClr val="270076"/>
                          </a:solidFill>
                          <a:effectLst/>
                          <a:latin typeface="Arial" panose="020B0604020202020204" pitchFamily="34" charset="0"/>
                        </a:rPr>
                        <a:t>SymTab</a:t>
                      </a:r>
                      <a:endParaRPr kumimoji="0" lang="en-US" altLang="en-US" sz="24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4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9106">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Name</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ObjType</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Type</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extLst>
                  <a:ext uri="{0D108BD9-81ED-4DB2-BD59-A6C34878D82A}">
                    <a16:rowId xmlns:a16="http://schemas.microsoft.com/office/drawing/2014/main" val="10001"/>
                  </a:ext>
                </a:extLst>
              </a:tr>
              <a:tr h="546464">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N</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Var</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Int</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6222">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Ch</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Var</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Char</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 name="Down Arrow 5"/>
          <p:cNvSpPr/>
          <p:nvPr/>
        </p:nvSpPr>
        <p:spPr bwMode="auto">
          <a:xfrm rot="1578075">
            <a:off x="1744756" y="3292240"/>
            <a:ext cx="421279" cy="1039822"/>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Arial" panose="020B0604020202020204" pitchFamily="34" charset="0"/>
            </a:endParaRPr>
          </a:p>
        </p:txBody>
      </p:sp>
      <p:grpSp>
        <p:nvGrpSpPr>
          <p:cNvPr id="24" name="Group 23"/>
          <p:cNvGrpSpPr/>
          <p:nvPr/>
        </p:nvGrpSpPr>
        <p:grpSpPr>
          <a:xfrm>
            <a:off x="3477876" y="4320635"/>
            <a:ext cx="4732381" cy="1639128"/>
            <a:chOff x="3477876" y="4320635"/>
            <a:chExt cx="4732381" cy="1639128"/>
          </a:xfrm>
        </p:grpSpPr>
        <p:sp>
          <p:nvSpPr>
            <p:cNvPr id="13" name="TextBox 12"/>
            <p:cNvSpPr txBox="1"/>
            <p:nvPr/>
          </p:nvSpPr>
          <p:spPr>
            <a:xfrm>
              <a:off x="4430509" y="5498098"/>
              <a:ext cx="3779748" cy="461665"/>
            </a:xfrm>
            <a:prstGeom prst="rect">
              <a:avLst/>
            </a:prstGeom>
            <a:noFill/>
            <a:ln>
              <a:solidFill>
                <a:srgbClr val="3539EB"/>
              </a:solidFill>
            </a:ln>
          </p:spPr>
          <p:txBody>
            <a:bodyPr wrap="square" rtlCol="0">
              <a:spAutoFit/>
            </a:bodyPr>
            <a:lstStyle/>
            <a:p>
              <a:r>
                <a:rPr lang="en-US" sz="2400" b="0" dirty="0" err="1">
                  <a:solidFill>
                    <a:srgbClr val="002060"/>
                  </a:solidFill>
                </a:rPr>
                <a:t>E.Type</a:t>
              </a:r>
              <a:r>
                <a:rPr lang="en-US" sz="2400" b="0" dirty="0">
                  <a:solidFill>
                    <a:srgbClr val="002060"/>
                  </a:solidFill>
                </a:rPr>
                <a:t> = lookup(</a:t>
              </a:r>
              <a:r>
                <a:rPr lang="en-US" sz="2400" b="0" dirty="0" err="1">
                  <a:solidFill>
                    <a:srgbClr val="002060"/>
                  </a:solidFill>
                </a:rPr>
                <a:t>Id.Entry</a:t>
              </a:r>
              <a:r>
                <a:rPr lang="en-US" sz="2400" b="0" dirty="0">
                  <a:solidFill>
                    <a:srgbClr val="002060"/>
                  </a:solidFill>
                </a:rPr>
                <a:t>)</a:t>
              </a:r>
            </a:p>
          </p:txBody>
        </p:sp>
        <p:cxnSp>
          <p:nvCxnSpPr>
            <p:cNvPr id="16" name="Straight Arrow Connector 15"/>
            <p:cNvCxnSpPr>
              <a:endCxn id="13" idx="1"/>
            </p:cNvCxnSpPr>
            <p:nvPr/>
          </p:nvCxnSpPr>
          <p:spPr bwMode="auto">
            <a:xfrm>
              <a:off x="3477876" y="5728930"/>
              <a:ext cx="952633" cy="1"/>
            </a:xfrm>
            <a:prstGeom prst="straightConnector1">
              <a:avLst/>
            </a:prstGeom>
            <a:solidFill>
              <a:schemeClr val="accent1"/>
            </a:solidFill>
            <a:ln w="9525" cap="flat" cmpd="sng" algn="ctr">
              <a:solidFill>
                <a:srgbClr val="3539EB"/>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Straight Arrow Connector 17"/>
            <p:cNvCxnSpPr/>
            <p:nvPr/>
          </p:nvCxnSpPr>
          <p:spPr bwMode="auto">
            <a:xfrm flipH="1" flipV="1">
              <a:off x="5334000" y="4320635"/>
              <a:ext cx="783147" cy="1177463"/>
            </a:xfrm>
            <a:prstGeom prst="straightConnector1">
              <a:avLst/>
            </a:prstGeom>
            <a:solidFill>
              <a:schemeClr val="accent1"/>
            </a:solidFill>
            <a:ln w="9525" cap="flat" cmpd="sng" algn="ctr">
              <a:solidFill>
                <a:srgbClr val="3539EB"/>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5" name="TextBox 24"/>
          <p:cNvSpPr txBox="1"/>
          <p:nvPr/>
        </p:nvSpPr>
        <p:spPr>
          <a:xfrm>
            <a:off x="3840667" y="5487349"/>
            <a:ext cx="2510850" cy="461665"/>
          </a:xfrm>
          <a:prstGeom prst="rect">
            <a:avLst/>
          </a:prstGeom>
          <a:noFill/>
          <a:ln>
            <a:solidFill>
              <a:srgbClr val="3539EB"/>
            </a:solidFill>
          </a:ln>
        </p:spPr>
        <p:txBody>
          <a:bodyPr wrap="square" rtlCol="0">
            <a:spAutoFit/>
          </a:bodyPr>
          <a:lstStyle/>
          <a:p>
            <a:r>
              <a:rPr lang="en-US" sz="2400" b="0" dirty="0" err="1">
                <a:solidFill>
                  <a:srgbClr val="002060"/>
                </a:solidFill>
              </a:rPr>
              <a:t>E.Type</a:t>
            </a:r>
            <a:r>
              <a:rPr lang="en-US" sz="2400" b="0" dirty="0">
                <a:solidFill>
                  <a:srgbClr val="002060"/>
                </a:solidFill>
              </a:rPr>
              <a:t> = Integer</a:t>
            </a:r>
          </a:p>
        </p:txBody>
      </p:sp>
      <p:sp>
        <p:nvSpPr>
          <p:cNvPr id="74" name="TextBox 73"/>
          <p:cNvSpPr txBox="1"/>
          <p:nvPr/>
        </p:nvSpPr>
        <p:spPr>
          <a:xfrm>
            <a:off x="6532591" y="5503440"/>
            <a:ext cx="2399829" cy="461665"/>
          </a:xfrm>
          <a:prstGeom prst="rect">
            <a:avLst/>
          </a:prstGeom>
          <a:noFill/>
          <a:ln>
            <a:solidFill>
              <a:srgbClr val="3539EB"/>
            </a:solidFill>
          </a:ln>
        </p:spPr>
        <p:txBody>
          <a:bodyPr wrap="square" rtlCol="0">
            <a:spAutoFit/>
          </a:bodyPr>
          <a:lstStyle/>
          <a:p>
            <a:pPr algn="ctr"/>
            <a:r>
              <a:rPr lang="en-US" sz="2400" b="0" dirty="0" err="1">
                <a:solidFill>
                  <a:srgbClr val="002060"/>
                </a:solidFill>
              </a:rPr>
              <a:t>E.Type</a:t>
            </a:r>
            <a:r>
              <a:rPr lang="en-US" sz="2400" b="0" dirty="0">
                <a:solidFill>
                  <a:srgbClr val="002060"/>
                </a:solidFill>
              </a:rPr>
              <a:t> = Char</a:t>
            </a:r>
          </a:p>
        </p:txBody>
      </p:sp>
      <p:grpSp>
        <p:nvGrpSpPr>
          <p:cNvPr id="28" name="Group 27"/>
          <p:cNvGrpSpPr/>
          <p:nvPr/>
        </p:nvGrpSpPr>
        <p:grpSpPr>
          <a:xfrm>
            <a:off x="3646416" y="3064041"/>
            <a:ext cx="5410201" cy="3678290"/>
            <a:chOff x="3646416" y="3064041"/>
            <a:chExt cx="5410201" cy="3678290"/>
          </a:xfrm>
        </p:grpSpPr>
        <p:sp>
          <p:nvSpPr>
            <p:cNvPr id="26" name="TextBox 25"/>
            <p:cNvSpPr txBox="1"/>
            <p:nvPr/>
          </p:nvSpPr>
          <p:spPr>
            <a:xfrm>
              <a:off x="3646416" y="6096000"/>
              <a:ext cx="5410201" cy="646331"/>
            </a:xfrm>
            <a:prstGeom prst="rect">
              <a:avLst/>
            </a:prstGeom>
            <a:noFill/>
            <a:ln>
              <a:solidFill>
                <a:srgbClr val="3539EB"/>
              </a:solidFill>
            </a:ln>
          </p:spPr>
          <p:txBody>
            <a:bodyPr wrap="square" rtlCol="0">
              <a:spAutoFit/>
            </a:bodyPr>
            <a:lstStyle/>
            <a:p>
              <a:r>
                <a:rPr lang="en-US" sz="1800" b="0" dirty="0" err="1">
                  <a:solidFill>
                    <a:srgbClr val="002060"/>
                  </a:solidFill>
                </a:rPr>
                <a:t>E.Type</a:t>
              </a:r>
              <a:r>
                <a:rPr lang="en-US" sz="1800" b="0" dirty="0">
                  <a:solidFill>
                    <a:srgbClr val="002060"/>
                  </a:solidFill>
                </a:rPr>
                <a:t> = </a:t>
              </a:r>
              <a:r>
                <a:rPr lang="en-US" sz="1800" dirty="0">
                  <a:solidFill>
                    <a:srgbClr val="002060"/>
                  </a:solidFill>
                </a:rPr>
                <a:t>If</a:t>
              </a:r>
              <a:r>
                <a:rPr lang="en-US" sz="1800" b="0" dirty="0">
                  <a:solidFill>
                    <a:srgbClr val="002060"/>
                  </a:solidFill>
                </a:rPr>
                <a:t> E1.Type=</a:t>
              </a:r>
              <a:r>
                <a:rPr lang="en-US" sz="1800" b="0" dirty="0" err="1">
                  <a:solidFill>
                    <a:srgbClr val="002060"/>
                  </a:solidFill>
                </a:rPr>
                <a:t>int</a:t>
              </a:r>
              <a:r>
                <a:rPr lang="en-US" sz="1800" b="0" dirty="0">
                  <a:solidFill>
                    <a:srgbClr val="002060"/>
                  </a:solidFill>
                </a:rPr>
                <a:t>  AND E2.Type=</a:t>
              </a:r>
              <a:r>
                <a:rPr lang="en-US" sz="1800" b="0" dirty="0" err="1">
                  <a:solidFill>
                    <a:srgbClr val="002060"/>
                  </a:solidFill>
                </a:rPr>
                <a:t>int</a:t>
              </a:r>
              <a:r>
                <a:rPr lang="en-US" sz="1800" b="0" dirty="0">
                  <a:solidFill>
                    <a:srgbClr val="002060"/>
                  </a:solidFill>
                </a:rPr>
                <a:t> </a:t>
              </a:r>
              <a:r>
                <a:rPr lang="en-US" sz="1800" dirty="0">
                  <a:solidFill>
                    <a:srgbClr val="002060"/>
                  </a:solidFill>
                </a:rPr>
                <a:t>Then</a:t>
              </a:r>
              <a:r>
                <a:rPr lang="en-US" sz="1800" b="0" dirty="0">
                  <a:solidFill>
                    <a:srgbClr val="002060"/>
                  </a:solidFill>
                </a:rPr>
                <a:t> </a:t>
              </a:r>
              <a:r>
                <a:rPr lang="en-US" sz="1800" b="0" dirty="0" err="1">
                  <a:solidFill>
                    <a:srgbClr val="002060"/>
                  </a:solidFill>
                </a:rPr>
                <a:t>Int</a:t>
              </a:r>
              <a:r>
                <a:rPr lang="en-US" sz="1800" b="0" dirty="0">
                  <a:solidFill>
                    <a:srgbClr val="002060"/>
                  </a:solidFill>
                </a:rPr>
                <a:t> </a:t>
              </a:r>
            </a:p>
            <a:p>
              <a:r>
                <a:rPr lang="en-US" sz="1800" b="0" dirty="0">
                  <a:solidFill>
                    <a:srgbClr val="002060"/>
                  </a:solidFill>
                </a:rPr>
                <a:t>                </a:t>
              </a:r>
              <a:r>
                <a:rPr lang="en-US" sz="1800" dirty="0">
                  <a:solidFill>
                    <a:srgbClr val="002060"/>
                  </a:solidFill>
                </a:rPr>
                <a:t>Else</a:t>
              </a:r>
              <a:r>
                <a:rPr lang="en-US" sz="1800" b="0" dirty="0">
                  <a:solidFill>
                    <a:srgbClr val="002060"/>
                  </a:solidFill>
                </a:rPr>
                <a:t> </a:t>
              </a:r>
              <a:r>
                <a:rPr lang="en-US" sz="1800" b="0" dirty="0" err="1">
                  <a:solidFill>
                    <a:srgbClr val="002060"/>
                  </a:solidFill>
                </a:rPr>
                <a:t>Type_Error</a:t>
              </a:r>
              <a:endParaRPr lang="en-US" sz="1800" b="0" dirty="0">
                <a:solidFill>
                  <a:srgbClr val="002060"/>
                </a:solidFill>
              </a:endParaRPr>
            </a:p>
          </p:txBody>
        </p:sp>
        <p:sp>
          <p:nvSpPr>
            <p:cNvPr id="27" name="Freeform 26"/>
            <p:cNvSpPr/>
            <p:nvPr/>
          </p:nvSpPr>
          <p:spPr bwMode="auto">
            <a:xfrm>
              <a:off x="3705726" y="3064041"/>
              <a:ext cx="2213811" cy="3031959"/>
            </a:xfrm>
            <a:custGeom>
              <a:avLst/>
              <a:gdLst>
                <a:gd name="connsiteX0" fmla="*/ 2213811 w 2213811"/>
                <a:gd name="connsiteY0" fmla="*/ 0 h 3096126"/>
                <a:gd name="connsiteX1" fmla="*/ 545432 w 2213811"/>
                <a:gd name="connsiteY1" fmla="*/ 786063 h 3096126"/>
                <a:gd name="connsiteX2" fmla="*/ 0 w 2213811"/>
                <a:gd name="connsiteY2" fmla="*/ 3096126 h 3096126"/>
              </a:gdLst>
              <a:ahLst/>
              <a:cxnLst>
                <a:cxn ang="0">
                  <a:pos x="connsiteX0" y="connsiteY0"/>
                </a:cxn>
                <a:cxn ang="0">
                  <a:pos x="connsiteX1" y="connsiteY1"/>
                </a:cxn>
                <a:cxn ang="0">
                  <a:pos x="connsiteX2" y="connsiteY2"/>
                </a:cxn>
              </a:cxnLst>
              <a:rect l="l" t="t" r="r" b="b"/>
              <a:pathLst>
                <a:path w="2213811" h="3096126">
                  <a:moveTo>
                    <a:pt x="2213811" y="0"/>
                  </a:moveTo>
                  <a:cubicBezTo>
                    <a:pt x="1564105" y="135021"/>
                    <a:pt x="914400" y="270042"/>
                    <a:pt x="545432" y="786063"/>
                  </a:cubicBezTo>
                  <a:cubicBezTo>
                    <a:pt x="176464" y="1302084"/>
                    <a:pt x="88232" y="2199105"/>
                    <a:pt x="0" y="3096126"/>
                  </a:cubicBezTo>
                </a:path>
              </a:pathLst>
            </a:custGeom>
            <a:noFill/>
            <a:ln w="28575" cap="flat" cmpd="sng" algn="ctr">
              <a:solidFill>
                <a:srgbClr val="3539EB"/>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Arial" panose="020B0604020202020204" pitchFamily="34" charset="0"/>
              </a:endParaRPr>
            </a:p>
          </p:txBody>
        </p:sp>
      </p:grpSp>
      <p:grpSp>
        <p:nvGrpSpPr>
          <p:cNvPr id="31" name="Group 30"/>
          <p:cNvGrpSpPr/>
          <p:nvPr/>
        </p:nvGrpSpPr>
        <p:grpSpPr>
          <a:xfrm>
            <a:off x="6348486" y="1804356"/>
            <a:ext cx="2643114" cy="869731"/>
            <a:chOff x="6348486" y="1804356"/>
            <a:chExt cx="2643114" cy="869731"/>
          </a:xfrm>
        </p:grpSpPr>
        <p:sp>
          <p:nvSpPr>
            <p:cNvPr id="29" name="TextBox 28"/>
            <p:cNvSpPr txBox="1"/>
            <p:nvPr/>
          </p:nvSpPr>
          <p:spPr>
            <a:xfrm>
              <a:off x="6379563" y="1804356"/>
              <a:ext cx="2612037" cy="400110"/>
            </a:xfrm>
            <a:prstGeom prst="rect">
              <a:avLst/>
            </a:prstGeom>
            <a:noFill/>
            <a:ln>
              <a:solidFill>
                <a:srgbClr val="3539EB"/>
              </a:solidFill>
            </a:ln>
          </p:spPr>
          <p:txBody>
            <a:bodyPr wrap="square" rtlCol="0">
              <a:spAutoFit/>
            </a:bodyPr>
            <a:lstStyle/>
            <a:p>
              <a:r>
                <a:rPr lang="en-US" sz="2000" b="0" dirty="0" err="1">
                  <a:solidFill>
                    <a:srgbClr val="002060"/>
                  </a:solidFill>
                </a:rPr>
                <a:t>E.Type</a:t>
              </a:r>
              <a:r>
                <a:rPr lang="en-US" sz="2000" b="0" dirty="0">
                  <a:solidFill>
                    <a:srgbClr val="002060"/>
                  </a:solidFill>
                </a:rPr>
                <a:t> = </a:t>
              </a:r>
              <a:r>
                <a:rPr lang="en-US" sz="2000" b="0" dirty="0" err="1">
                  <a:solidFill>
                    <a:srgbClr val="002060"/>
                  </a:solidFill>
                </a:rPr>
                <a:t>Type_Error</a:t>
              </a:r>
              <a:endParaRPr lang="en-US" sz="2000" b="0" dirty="0">
                <a:solidFill>
                  <a:srgbClr val="002060"/>
                </a:solidFill>
              </a:endParaRPr>
            </a:p>
          </p:txBody>
        </p:sp>
        <p:sp>
          <p:nvSpPr>
            <p:cNvPr id="30" name="Right Arrow 29"/>
            <p:cNvSpPr/>
            <p:nvPr/>
          </p:nvSpPr>
          <p:spPr bwMode="auto">
            <a:xfrm rot="19962085">
              <a:off x="6348486" y="2402998"/>
              <a:ext cx="841705" cy="271089"/>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535519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nodeType="with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fade">
                                      <p:cBhvr>
                                        <p:cTn id="14" dur="500"/>
                                        <p:tgtEl>
                                          <p:spTgt spid="50"/>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500"/>
                                        <p:tgtEl>
                                          <p:spTgt spid="6"/>
                                        </p:tgtEl>
                                      </p:cBhvr>
                                    </p:animEffect>
                                    <p:set>
                                      <p:cBhvr>
                                        <p:cTn id="19" dur="1" fill="hold">
                                          <p:stCondLst>
                                            <p:cond delay="499"/>
                                          </p:stCondLst>
                                        </p:cTn>
                                        <p:tgtEl>
                                          <p:spTgt spid="6"/>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5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nodeType="clickEffect">
                                  <p:stCondLst>
                                    <p:cond delay="0"/>
                                  </p:stCondLst>
                                  <p:childTnLst>
                                    <p:animEffect transition="out" filter="fade">
                                      <p:cBhvr>
                                        <p:cTn id="35" dur="500"/>
                                        <p:tgtEl>
                                          <p:spTgt spid="24"/>
                                        </p:tgtEl>
                                      </p:cBhvr>
                                    </p:animEffect>
                                    <p:set>
                                      <p:cBhvr>
                                        <p:cTn id="36" dur="1" fill="hold">
                                          <p:stCondLst>
                                            <p:cond delay="499"/>
                                          </p:stCondLst>
                                        </p:cTn>
                                        <p:tgtEl>
                                          <p:spTgt spid="24"/>
                                        </p:tgtEl>
                                        <p:attrNameLst>
                                          <p:attrName>style.visibility</p:attrName>
                                        </p:attrNameLst>
                                      </p:cBhvr>
                                      <p:to>
                                        <p:strVal val="hidden"/>
                                      </p:to>
                                    </p:set>
                                  </p:childTnLst>
                                </p:cTn>
                              </p:par>
                            </p:childTnLst>
                          </p:cTn>
                        </p:par>
                        <p:par>
                          <p:cTn id="37" fill="hold">
                            <p:stCondLst>
                              <p:cond delay="500"/>
                            </p:stCondLst>
                            <p:childTnLst>
                              <p:par>
                                <p:cTn id="38" presetID="10" presetClass="entr" presetSubtype="0" fill="hold" grpId="0" nodeType="after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74"/>
                                        </p:tgtEl>
                                        <p:attrNameLst>
                                          <p:attrName>style.visibility</p:attrName>
                                        </p:attrNameLst>
                                      </p:cBhvr>
                                      <p:to>
                                        <p:strVal val="visible"/>
                                      </p:to>
                                    </p:set>
                                    <p:animEffect transition="in" filter="fade">
                                      <p:cBhvr>
                                        <p:cTn id="49" dur="500"/>
                                        <p:tgtEl>
                                          <p:spTgt spid="7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5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47" presetClass="entr" presetSubtype="0" fill="hold" nodeType="click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1000"/>
                                        <p:tgtEl>
                                          <p:spTgt spid="31"/>
                                        </p:tgtEl>
                                      </p:cBhvr>
                                    </p:animEffect>
                                    <p:anim calcmode="lin" valueType="num">
                                      <p:cBhvr>
                                        <p:cTn id="60" dur="1000" fill="hold"/>
                                        <p:tgtEl>
                                          <p:spTgt spid="31"/>
                                        </p:tgtEl>
                                        <p:attrNameLst>
                                          <p:attrName>ppt_x</p:attrName>
                                        </p:attrNameLst>
                                      </p:cBhvr>
                                      <p:tavLst>
                                        <p:tav tm="0">
                                          <p:val>
                                            <p:strVal val="#ppt_x"/>
                                          </p:val>
                                        </p:tav>
                                        <p:tav tm="100000">
                                          <p:val>
                                            <p:strVal val="#ppt_x"/>
                                          </p:val>
                                        </p:tav>
                                      </p:tavLst>
                                    </p:anim>
                                    <p:anim calcmode="lin" valueType="num">
                                      <p:cBhvr>
                                        <p:cTn id="61"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25" grpId="0" animBg="1"/>
      <p:bldP spid="7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34FBA4A6-7363-4EBD-BF97-E835407D4AB0}" type="slidenum">
              <a:rPr lang="en-US" altLang="en-US" sz="1400" b="0"/>
              <a:pPr/>
              <a:t>59</a:t>
            </a:fld>
            <a:endParaRPr lang="en-US" altLang="en-US" sz="1400" b="0"/>
          </a:p>
        </p:txBody>
      </p:sp>
      <p:sp>
        <p:nvSpPr>
          <p:cNvPr id="61443" name="Rectangle 2"/>
          <p:cNvSpPr>
            <a:spLocks noGrp="1" noChangeArrowheads="1"/>
          </p:cNvSpPr>
          <p:nvPr>
            <p:ph type="title"/>
          </p:nvPr>
        </p:nvSpPr>
        <p:spPr/>
        <p:txBody>
          <a:bodyPr/>
          <a:lstStyle/>
          <a:p>
            <a:pPr eaLnBrk="1" hangingPunct="1"/>
            <a:r>
              <a:rPr lang="en-US" altLang="en-US" sz="2800" b="1" dirty="0" err="1"/>
              <a:t>Bộ</a:t>
            </a:r>
            <a:r>
              <a:rPr lang="en-US" altLang="en-US" sz="2800" b="1" dirty="0"/>
              <a:t> </a:t>
            </a:r>
            <a:r>
              <a:rPr lang="en-US" altLang="en-US" sz="2800" b="1" dirty="0" err="1"/>
              <a:t>kiểm</a:t>
            </a:r>
            <a:r>
              <a:rPr lang="en-US" altLang="en-US" sz="2800" b="1" dirty="0"/>
              <a:t> </a:t>
            </a:r>
            <a:r>
              <a:rPr lang="en-US" altLang="en-US" sz="2800" b="1" dirty="0" err="1"/>
              <a:t>tra</a:t>
            </a:r>
            <a:r>
              <a:rPr lang="en-US" altLang="en-US" sz="2800" b="1" dirty="0"/>
              <a:t> </a:t>
            </a:r>
            <a:r>
              <a:rPr lang="en-US" altLang="en-US" sz="2800" b="1" dirty="0" err="1"/>
              <a:t>kiểu</a:t>
            </a:r>
            <a:r>
              <a:rPr lang="en-US" altLang="en-US" sz="2800" b="1" dirty="0"/>
              <a:t> </a:t>
            </a:r>
            <a:r>
              <a:rPr lang="en-US" altLang="en-US" sz="2800" b="1" dirty="0" err="1"/>
              <a:t>của</a:t>
            </a:r>
            <a:r>
              <a:rPr lang="en-US" altLang="en-US" sz="2800" b="1" dirty="0"/>
              <a:t> </a:t>
            </a:r>
            <a:r>
              <a:rPr lang="en-US" altLang="en-US" sz="2800" b="1" dirty="0" err="1"/>
              <a:t>định</a:t>
            </a:r>
            <a:r>
              <a:rPr lang="en-US" altLang="en-US" sz="2800" b="1" dirty="0"/>
              <a:t> </a:t>
            </a:r>
            <a:r>
              <a:rPr lang="en-US" altLang="en-US" sz="2800" b="1" dirty="0" err="1"/>
              <a:t>danh</a:t>
            </a:r>
            <a:r>
              <a:rPr lang="en-US" altLang="en-US" sz="2800" b="1" dirty="0" err="1">
                <a:sym typeface="Symbol" panose="05050102010706020507" pitchFamily="18" charset="2"/>
              </a:rPr>
              <a:t>Ví</a:t>
            </a:r>
            <a:r>
              <a:rPr lang="en-US" altLang="en-US" sz="2800" b="1" dirty="0">
                <a:sym typeface="Symbol" panose="05050102010706020507" pitchFamily="18" charset="2"/>
              </a:rPr>
              <a:t> </a:t>
            </a:r>
            <a:r>
              <a:rPr lang="en-US" altLang="en-US" sz="2800" b="1" dirty="0" err="1">
                <a:sym typeface="Symbol" panose="05050102010706020507" pitchFamily="18" charset="2"/>
              </a:rPr>
              <a:t>dụ</a:t>
            </a:r>
            <a:r>
              <a:rPr lang="en-US" altLang="en-US" sz="2800" b="1" dirty="0">
                <a:sym typeface="Symbol" panose="05050102010706020507" pitchFamily="18" charset="2"/>
              </a:rPr>
              <a:t> 2</a:t>
            </a:r>
            <a:endParaRPr lang="en-US" altLang="en-US" sz="2800" b="1" dirty="0"/>
          </a:p>
        </p:txBody>
      </p:sp>
      <p:sp>
        <p:nvSpPr>
          <p:cNvPr id="61444"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sp>
        <p:nvSpPr>
          <p:cNvPr id="2" name="Content Placeholder 1"/>
          <p:cNvSpPr>
            <a:spLocks noGrp="1"/>
          </p:cNvSpPr>
          <p:nvPr>
            <p:ph sz="half" idx="2"/>
          </p:nvPr>
        </p:nvSpPr>
        <p:spPr>
          <a:xfrm>
            <a:off x="106830" y="908656"/>
            <a:ext cx="5186683" cy="1404871"/>
          </a:xfrm>
          <a:ln>
            <a:solidFill>
              <a:schemeClr val="accent6"/>
            </a:solidFill>
          </a:ln>
        </p:spPr>
        <p:txBody>
          <a:bodyPr/>
          <a:lstStyle/>
          <a:p>
            <a:pPr marL="0" indent="0" eaLnBrk="1" hangingPunct="1">
              <a:buFontTx/>
              <a:buNone/>
              <a:defRPr/>
            </a:pPr>
            <a:r>
              <a:rPr lang="en-US" sz="2400" dirty="0"/>
              <a:t>N : integer;</a:t>
            </a:r>
          </a:p>
          <a:p>
            <a:pPr marL="0" indent="0" eaLnBrk="1" hangingPunct="1">
              <a:buFontTx/>
              <a:buNone/>
              <a:defRPr/>
            </a:pPr>
            <a:r>
              <a:rPr lang="en-US" sz="2400" dirty="0"/>
              <a:t>A : Array[10] of Array[20] of Integer;</a:t>
            </a:r>
          </a:p>
          <a:p>
            <a:pPr marL="0" indent="0" eaLnBrk="1" hangingPunct="1">
              <a:buFontTx/>
              <a:buNone/>
              <a:defRPr/>
            </a:pPr>
            <a:r>
              <a:rPr lang="en-US" sz="2400" dirty="0"/>
              <a:t>A[10][10] Mod 100</a:t>
            </a:r>
          </a:p>
        </p:txBody>
      </p:sp>
      <p:graphicFrame>
        <p:nvGraphicFramePr>
          <p:cNvPr id="41" name="Group 48"/>
          <p:cNvGraphicFramePr>
            <a:graphicFrameLocks/>
          </p:cNvGraphicFramePr>
          <p:nvPr>
            <p:extLst>
              <p:ext uri="{D42A27DB-BD31-4B8C-83A1-F6EECF244321}">
                <p14:modId xmlns:p14="http://schemas.microsoft.com/office/powerpoint/2010/main" val="1587611871"/>
              </p:ext>
            </p:extLst>
          </p:nvPr>
        </p:nvGraphicFramePr>
        <p:xfrm>
          <a:off x="257495" y="4413415"/>
          <a:ext cx="3833257" cy="2253636"/>
        </p:xfrm>
        <a:graphic>
          <a:graphicData uri="http://schemas.openxmlformats.org/drawingml/2006/table">
            <a:tbl>
              <a:tblPr/>
              <a:tblGrid>
                <a:gridCol w="780848">
                  <a:extLst>
                    <a:ext uri="{9D8B030D-6E8A-4147-A177-3AD203B41FA5}">
                      <a16:colId xmlns:a16="http://schemas.microsoft.com/office/drawing/2014/main" val="20000"/>
                    </a:ext>
                  </a:extLst>
                </a:gridCol>
                <a:gridCol w="780849">
                  <a:extLst>
                    <a:ext uri="{9D8B030D-6E8A-4147-A177-3AD203B41FA5}">
                      <a16:colId xmlns:a16="http://schemas.microsoft.com/office/drawing/2014/main" val="20001"/>
                    </a:ext>
                  </a:extLst>
                </a:gridCol>
                <a:gridCol w="2271560">
                  <a:extLst>
                    <a:ext uri="{9D8B030D-6E8A-4147-A177-3AD203B41FA5}">
                      <a16:colId xmlns:a16="http://schemas.microsoft.com/office/drawing/2014/main" val="20002"/>
                    </a:ext>
                  </a:extLst>
                </a:gridCol>
              </a:tblGrid>
              <a:tr h="458950">
                <a:tc gridSpan="3">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fr-FR" altLang="en-US" sz="2400" b="0" i="0" u="none" strike="noStrike" cap="none" normalizeH="0" baseline="0" dirty="0" err="1">
                          <a:ln>
                            <a:noFill/>
                          </a:ln>
                          <a:solidFill>
                            <a:srgbClr val="270076"/>
                          </a:solidFill>
                          <a:effectLst/>
                          <a:latin typeface="Arial" panose="020B0604020202020204" pitchFamily="34" charset="0"/>
                        </a:rPr>
                        <a:t>SymTab</a:t>
                      </a:r>
                      <a:endParaRPr kumimoji="0" lang="en-US" altLang="en-US" sz="24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4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9106">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Name</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Obj</a:t>
                      </a:r>
                      <a:endParaRPr kumimoji="0" lang="en-US" altLang="en-US" sz="2000" b="0" i="0" u="none" strike="noStrike" cap="none" normalizeH="0" baseline="0" dirty="0">
                        <a:ln>
                          <a:noFill/>
                        </a:ln>
                        <a:solidFill>
                          <a:srgbClr val="270076"/>
                        </a:solidFill>
                        <a:effectLst/>
                        <a:latin typeface="Arial" panose="020B0604020202020204" pitchFamily="34"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Type</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Type</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extLst>
                  <a:ext uri="{0D108BD9-81ED-4DB2-BD59-A6C34878D82A}">
                    <a16:rowId xmlns:a16="http://schemas.microsoft.com/office/drawing/2014/main" val="10001"/>
                  </a:ext>
                </a:extLst>
              </a:tr>
              <a:tr h="546464">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N</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Var</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Int</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6222">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A</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Var</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Arr</a:t>
                      </a:r>
                      <a:r>
                        <a:rPr kumimoji="0" lang="en-US" altLang="en-US" sz="2000" b="0" i="0" u="none" strike="noStrike" cap="none" normalizeH="0" baseline="0" dirty="0">
                          <a:ln>
                            <a:noFill/>
                          </a:ln>
                          <a:solidFill>
                            <a:srgbClr val="270076"/>
                          </a:solidFill>
                          <a:effectLst/>
                          <a:latin typeface="Arial" panose="020B0604020202020204" pitchFamily="34" charset="0"/>
                        </a:rPr>
                        <a:t> (10,Arr(20,int))</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19" name="Group 18"/>
          <p:cNvGrpSpPr/>
          <p:nvPr/>
        </p:nvGrpSpPr>
        <p:grpSpPr>
          <a:xfrm>
            <a:off x="3557200" y="2286951"/>
            <a:ext cx="5364323" cy="4252927"/>
            <a:chOff x="3775929" y="2281535"/>
            <a:chExt cx="5364323" cy="4252927"/>
          </a:xfrm>
        </p:grpSpPr>
        <p:sp>
          <p:nvSpPr>
            <p:cNvPr id="56" name="Text Box 10"/>
            <p:cNvSpPr txBox="1">
              <a:spLocks noChangeArrowheads="1"/>
            </p:cNvSpPr>
            <p:nvPr/>
          </p:nvSpPr>
          <p:spPr bwMode="auto">
            <a:xfrm>
              <a:off x="5966737" y="3809387"/>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T</a:t>
              </a:r>
              <a:endParaRPr lang="en-US" altLang="en-US" sz="2400" b="0" dirty="0">
                <a:solidFill>
                  <a:srgbClr val="270076"/>
                </a:solidFill>
              </a:endParaRPr>
            </a:p>
          </p:txBody>
        </p:sp>
        <p:sp>
          <p:nvSpPr>
            <p:cNvPr id="55" name="Text Box 10"/>
            <p:cNvSpPr txBox="1">
              <a:spLocks noChangeArrowheads="1"/>
            </p:cNvSpPr>
            <p:nvPr/>
          </p:nvSpPr>
          <p:spPr bwMode="auto">
            <a:xfrm>
              <a:off x="4703027" y="3710006"/>
              <a:ext cx="59048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Id</a:t>
              </a:r>
              <a:endParaRPr lang="en-US" altLang="en-US" sz="2400" b="0" dirty="0">
                <a:solidFill>
                  <a:srgbClr val="270076"/>
                </a:solidFill>
              </a:endParaRPr>
            </a:p>
          </p:txBody>
        </p:sp>
        <p:grpSp>
          <p:nvGrpSpPr>
            <p:cNvPr id="5" name="Group 4"/>
            <p:cNvGrpSpPr/>
            <p:nvPr/>
          </p:nvGrpSpPr>
          <p:grpSpPr>
            <a:xfrm>
              <a:off x="4237409" y="2281535"/>
              <a:ext cx="1477591" cy="1223665"/>
              <a:chOff x="4237409" y="2281535"/>
              <a:chExt cx="1477591" cy="1223665"/>
            </a:xfrm>
          </p:grpSpPr>
          <p:sp>
            <p:nvSpPr>
              <p:cNvPr id="43" name="Line 24"/>
              <p:cNvSpPr>
                <a:spLocks noChangeShapeType="1"/>
              </p:cNvSpPr>
              <p:nvPr/>
            </p:nvSpPr>
            <p:spPr bwMode="auto">
              <a:xfrm flipH="1">
                <a:off x="4410713" y="2688238"/>
                <a:ext cx="522288" cy="428787"/>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4" name="Line 26"/>
              <p:cNvSpPr>
                <a:spLocks noChangeShapeType="1"/>
              </p:cNvSpPr>
              <p:nvPr/>
            </p:nvSpPr>
            <p:spPr bwMode="auto">
              <a:xfrm>
                <a:off x="5010154" y="2693901"/>
                <a:ext cx="494821" cy="44199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5" name="Line 23"/>
              <p:cNvSpPr>
                <a:spLocks noChangeShapeType="1"/>
              </p:cNvSpPr>
              <p:nvPr/>
            </p:nvSpPr>
            <p:spPr bwMode="auto">
              <a:xfrm>
                <a:off x="4948082" y="2717714"/>
                <a:ext cx="4763"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6" name="Text Box 10"/>
              <p:cNvSpPr txBox="1">
                <a:spLocks noChangeArrowheads="1"/>
              </p:cNvSpPr>
              <p:nvPr/>
            </p:nvSpPr>
            <p:spPr bwMode="auto">
              <a:xfrm>
                <a:off x="4787744" y="2985068"/>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dirty="0">
                    <a:solidFill>
                      <a:srgbClr val="FF0000"/>
                    </a:solidFill>
                  </a:rPr>
                  <a:t>;</a:t>
                </a:r>
                <a:endParaRPr lang="en-US" altLang="en-US" sz="2400" dirty="0">
                  <a:solidFill>
                    <a:srgbClr val="FF0000"/>
                  </a:solidFill>
                </a:endParaRPr>
              </a:p>
            </p:txBody>
          </p:sp>
          <p:sp>
            <p:nvSpPr>
              <p:cNvPr id="47" name="Text Box 10"/>
              <p:cNvSpPr txBox="1">
                <a:spLocks noChangeArrowheads="1"/>
              </p:cNvSpPr>
              <p:nvPr/>
            </p:nvSpPr>
            <p:spPr bwMode="auto">
              <a:xfrm>
                <a:off x="4237409" y="2985068"/>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D</a:t>
                </a:r>
                <a:endParaRPr lang="en-US" altLang="en-US" sz="2400" b="0" dirty="0">
                  <a:solidFill>
                    <a:srgbClr val="270076"/>
                  </a:solidFill>
                </a:endParaRPr>
              </a:p>
            </p:txBody>
          </p:sp>
          <p:sp>
            <p:nvSpPr>
              <p:cNvPr id="48" name="Text Box 10"/>
              <p:cNvSpPr txBox="1">
                <a:spLocks noChangeArrowheads="1"/>
              </p:cNvSpPr>
              <p:nvPr/>
            </p:nvSpPr>
            <p:spPr bwMode="auto">
              <a:xfrm>
                <a:off x="4800600" y="2281535"/>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D</a:t>
                </a:r>
                <a:endParaRPr lang="en-US" altLang="en-US" sz="2400" b="0" dirty="0">
                  <a:solidFill>
                    <a:srgbClr val="270076"/>
                  </a:solidFill>
                </a:endParaRPr>
              </a:p>
            </p:txBody>
          </p:sp>
          <p:sp>
            <p:nvSpPr>
              <p:cNvPr id="49" name="Text Box 10"/>
              <p:cNvSpPr txBox="1">
                <a:spLocks noChangeArrowheads="1"/>
              </p:cNvSpPr>
              <p:nvPr/>
            </p:nvSpPr>
            <p:spPr bwMode="auto">
              <a:xfrm>
                <a:off x="5394325" y="3043535"/>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D</a:t>
                </a:r>
                <a:endParaRPr lang="en-US" altLang="en-US" sz="2400" b="0" dirty="0">
                  <a:solidFill>
                    <a:srgbClr val="270076"/>
                  </a:solidFill>
                </a:endParaRPr>
              </a:p>
            </p:txBody>
          </p:sp>
        </p:grpSp>
        <p:sp>
          <p:nvSpPr>
            <p:cNvPr id="51" name="Line 24"/>
            <p:cNvSpPr>
              <a:spLocks noChangeShapeType="1"/>
            </p:cNvSpPr>
            <p:nvPr/>
          </p:nvSpPr>
          <p:spPr bwMode="auto">
            <a:xfrm flipH="1">
              <a:off x="4966169" y="3388597"/>
              <a:ext cx="522288" cy="428787"/>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52" name="Line 26"/>
            <p:cNvSpPr>
              <a:spLocks noChangeShapeType="1"/>
            </p:cNvSpPr>
            <p:nvPr/>
          </p:nvSpPr>
          <p:spPr bwMode="auto">
            <a:xfrm>
              <a:off x="5565610" y="3394260"/>
              <a:ext cx="494821" cy="44199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53" name="Line 23"/>
            <p:cNvSpPr>
              <a:spLocks noChangeShapeType="1"/>
            </p:cNvSpPr>
            <p:nvPr/>
          </p:nvSpPr>
          <p:spPr bwMode="auto">
            <a:xfrm>
              <a:off x="5503538" y="3418073"/>
              <a:ext cx="4763"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54" name="Text Box 10"/>
            <p:cNvSpPr txBox="1">
              <a:spLocks noChangeArrowheads="1"/>
            </p:cNvSpPr>
            <p:nvPr/>
          </p:nvSpPr>
          <p:spPr bwMode="auto">
            <a:xfrm>
              <a:off x="5343200" y="3685427"/>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dirty="0">
                  <a:solidFill>
                    <a:srgbClr val="FF0000"/>
                  </a:solidFill>
                </a:rPr>
                <a:t>:</a:t>
              </a:r>
              <a:endParaRPr lang="en-US" altLang="en-US" sz="2400" dirty="0">
                <a:solidFill>
                  <a:srgbClr val="FF0000"/>
                </a:solidFill>
              </a:endParaRPr>
            </a:p>
          </p:txBody>
        </p:sp>
        <p:grpSp>
          <p:nvGrpSpPr>
            <p:cNvPr id="7" name="Group 6"/>
            <p:cNvGrpSpPr/>
            <p:nvPr/>
          </p:nvGrpSpPr>
          <p:grpSpPr>
            <a:xfrm>
              <a:off x="4290610" y="4170099"/>
              <a:ext cx="606582" cy="875052"/>
              <a:chOff x="4290610" y="4170099"/>
              <a:chExt cx="606582" cy="875052"/>
            </a:xfrm>
          </p:grpSpPr>
          <p:sp>
            <p:nvSpPr>
              <p:cNvPr id="57" name="Line 23"/>
              <p:cNvSpPr>
                <a:spLocks noChangeShapeType="1"/>
              </p:cNvSpPr>
              <p:nvPr/>
            </p:nvSpPr>
            <p:spPr bwMode="auto">
              <a:xfrm flipH="1">
                <a:off x="4450948" y="4170099"/>
                <a:ext cx="446244" cy="41570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58" name="Text Box 10"/>
              <p:cNvSpPr txBox="1">
                <a:spLocks noChangeArrowheads="1"/>
              </p:cNvSpPr>
              <p:nvPr/>
            </p:nvSpPr>
            <p:spPr bwMode="auto">
              <a:xfrm>
                <a:off x="4290610" y="4583486"/>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dirty="0">
                    <a:solidFill>
                      <a:srgbClr val="FF0000"/>
                    </a:solidFill>
                  </a:rPr>
                  <a:t>A</a:t>
                </a:r>
                <a:endParaRPr lang="en-US" altLang="en-US" sz="2400" dirty="0">
                  <a:solidFill>
                    <a:srgbClr val="FF0000"/>
                  </a:solidFill>
                </a:endParaRPr>
              </a:p>
            </p:txBody>
          </p:sp>
        </p:grpSp>
        <p:grpSp>
          <p:nvGrpSpPr>
            <p:cNvPr id="9" name="Group 8"/>
            <p:cNvGrpSpPr/>
            <p:nvPr/>
          </p:nvGrpSpPr>
          <p:grpSpPr>
            <a:xfrm>
              <a:off x="4750234" y="4217458"/>
              <a:ext cx="2726647" cy="1603727"/>
              <a:chOff x="4750234" y="4217458"/>
              <a:chExt cx="2726647" cy="1603727"/>
            </a:xfrm>
          </p:grpSpPr>
          <p:sp>
            <p:nvSpPr>
              <p:cNvPr id="59" name="Line 24"/>
              <p:cNvSpPr>
                <a:spLocks noChangeShapeType="1"/>
              </p:cNvSpPr>
              <p:nvPr/>
            </p:nvSpPr>
            <p:spPr bwMode="auto">
              <a:xfrm flipH="1">
                <a:off x="5031260" y="4217458"/>
                <a:ext cx="1091323" cy="36834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60" name="Line 26"/>
              <p:cNvSpPr>
                <a:spLocks noChangeShapeType="1"/>
              </p:cNvSpPr>
              <p:nvPr/>
            </p:nvSpPr>
            <p:spPr bwMode="auto">
              <a:xfrm>
                <a:off x="6137664" y="4237712"/>
                <a:ext cx="1100696" cy="441120"/>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61" name="Line 23"/>
              <p:cNvSpPr>
                <a:spLocks noChangeShapeType="1"/>
              </p:cNvSpPr>
              <p:nvPr/>
            </p:nvSpPr>
            <p:spPr bwMode="auto">
              <a:xfrm>
                <a:off x="6137664" y="4246935"/>
                <a:ext cx="448128" cy="41368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63" name="Text Box 10"/>
              <p:cNvSpPr txBox="1">
                <a:spLocks noChangeArrowheads="1"/>
              </p:cNvSpPr>
              <p:nvPr/>
            </p:nvSpPr>
            <p:spPr bwMode="auto">
              <a:xfrm>
                <a:off x="4750234" y="4537953"/>
                <a:ext cx="206057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err="1">
                    <a:solidFill>
                      <a:srgbClr val="FF0000"/>
                    </a:solidFill>
                  </a:rPr>
                  <a:t>Arr</a:t>
                </a:r>
                <a:r>
                  <a:rPr lang="fr-FR" altLang="en-US" sz="2400" b="0" dirty="0">
                    <a:solidFill>
                      <a:srgbClr val="FF0000"/>
                    </a:solidFill>
                  </a:rPr>
                  <a:t> [ </a:t>
                </a:r>
                <a:r>
                  <a:rPr lang="fr-FR" altLang="en-US" sz="2400" b="0" dirty="0" err="1">
                    <a:solidFill>
                      <a:srgbClr val="270076"/>
                    </a:solidFill>
                  </a:rPr>
                  <a:t>Num</a:t>
                </a:r>
                <a:r>
                  <a:rPr lang="fr-FR" altLang="en-US" sz="2400" b="0" dirty="0">
                    <a:solidFill>
                      <a:srgbClr val="270076"/>
                    </a:solidFill>
                  </a:rPr>
                  <a:t> </a:t>
                </a:r>
                <a:r>
                  <a:rPr lang="fr-FR" altLang="en-US" sz="2400" b="0" dirty="0">
                    <a:solidFill>
                      <a:srgbClr val="FF0000"/>
                    </a:solidFill>
                  </a:rPr>
                  <a:t>] of</a:t>
                </a:r>
                <a:endParaRPr lang="en-US" altLang="en-US" sz="2400" b="0" dirty="0">
                  <a:solidFill>
                    <a:srgbClr val="FF0000"/>
                  </a:solidFill>
                </a:endParaRPr>
              </a:p>
            </p:txBody>
          </p:sp>
          <p:sp>
            <p:nvSpPr>
              <p:cNvPr id="64" name="Text Box 10"/>
              <p:cNvSpPr txBox="1">
                <a:spLocks noChangeArrowheads="1"/>
              </p:cNvSpPr>
              <p:nvPr/>
            </p:nvSpPr>
            <p:spPr bwMode="auto">
              <a:xfrm>
                <a:off x="7156206" y="4536395"/>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T</a:t>
                </a:r>
                <a:endParaRPr lang="en-US" altLang="en-US" sz="2400" b="0" dirty="0">
                  <a:solidFill>
                    <a:srgbClr val="270076"/>
                  </a:solidFill>
                </a:endParaRPr>
              </a:p>
            </p:txBody>
          </p:sp>
          <p:sp>
            <p:nvSpPr>
              <p:cNvPr id="66" name="Text Box 10"/>
              <p:cNvSpPr txBox="1">
                <a:spLocks noChangeArrowheads="1"/>
              </p:cNvSpPr>
              <p:nvPr/>
            </p:nvSpPr>
            <p:spPr bwMode="auto">
              <a:xfrm>
                <a:off x="5537716" y="5359520"/>
                <a:ext cx="5999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FF0000"/>
                    </a:solidFill>
                  </a:rPr>
                  <a:t>10</a:t>
                </a:r>
                <a:endParaRPr lang="en-US" altLang="en-US" sz="2400" b="0" dirty="0">
                  <a:solidFill>
                    <a:srgbClr val="FF0000"/>
                  </a:solidFill>
                </a:endParaRPr>
              </a:p>
            </p:txBody>
          </p:sp>
          <p:sp>
            <p:nvSpPr>
              <p:cNvPr id="67" name="Line 23"/>
              <p:cNvSpPr>
                <a:spLocks noChangeShapeType="1"/>
              </p:cNvSpPr>
              <p:nvPr/>
            </p:nvSpPr>
            <p:spPr bwMode="auto">
              <a:xfrm>
                <a:off x="5837254" y="4992476"/>
                <a:ext cx="4763"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68" name="Line 23"/>
              <p:cNvSpPr>
                <a:spLocks noChangeShapeType="1"/>
              </p:cNvSpPr>
              <p:nvPr/>
            </p:nvSpPr>
            <p:spPr bwMode="auto">
              <a:xfrm flipH="1">
                <a:off x="5455253" y="4241540"/>
                <a:ext cx="682411" cy="391034"/>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69" name="Line 23"/>
              <p:cNvSpPr>
                <a:spLocks noChangeShapeType="1"/>
              </p:cNvSpPr>
              <p:nvPr/>
            </p:nvSpPr>
            <p:spPr bwMode="auto">
              <a:xfrm flipH="1">
                <a:off x="5868749" y="4276548"/>
                <a:ext cx="229590" cy="380108"/>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grpSp>
        <p:grpSp>
          <p:nvGrpSpPr>
            <p:cNvPr id="8" name="Group 7"/>
            <p:cNvGrpSpPr/>
            <p:nvPr/>
          </p:nvGrpSpPr>
          <p:grpSpPr>
            <a:xfrm>
              <a:off x="6072703" y="4959541"/>
              <a:ext cx="3067549" cy="1574921"/>
              <a:chOff x="6072703" y="4959541"/>
              <a:chExt cx="3067549" cy="1574921"/>
            </a:xfrm>
          </p:grpSpPr>
          <p:sp>
            <p:nvSpPr>
              <p:cNvPr id="72" name="Line 24"/>
              <p:cNvSpPr>
                <a:spLocks noChangeShapeType="1"/>
              </p:cNvSpPr>
              <p:nvPr/>
            </p:nvSpPr>
            <p:spPr bwMode="auto">
              <a:xfrm flipH="1">
                <a:off x="6241732" y="4970217"/>
                <a:ext cx="1091323" cy="36834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73" name="Line 26"/>
              <p:cNvSpPr>
                <a:spLocks noChangeShapeType="1"/>
              </p:cNvSpPr>
              <p:nvPr/>
            </p:nvSpPr>
            <p:spPr bwMode="auto">
              <a:xfrm>
                <a:off x="7303313" y="4959541"/>
                <a:ext cx="1100696" cy="441120"/>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75" name="Line 23"/>
              <p:cNvSpPr>
                <a:spLocks noChangeShapeType="1"/>
              </p:cNvSpPr>
              <p:nvPr/>
            </p:nvSpPr>
            <p:spPr bwMode="auto">
              <a:xfrm>
                <a:off x="7348136" y="4999694"/>
                <a:ext cx="448128" cy="41368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76" name="Text Box 10"/>
              <p:cNvSpPr txBox="1">
                <a:spLocks noChangeArrowheads="1"/>
              </p:cNvSpPr>
              <p:nvPr/>
            </p:nvSpPr>
            <p:spPr bwMode="auto">
              <a:xfrm>
                <a:off x="6072703" y="5268605"/>
                <a:ext cx="206057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err="1">
                    <a:solidFill>
                      <a:srgbClr val="FF0000"/>
                    </a:solidFill>
                  </a:rPr>
                  <a:t>Arr</a:t>
                </a:r>
                <a:r>
                  <a:rPr lang="fr-FR" altLang="en-US" sz="2400" b="0" dirty="0">
                    <a:solidFill>
                      <a:srgbClr val="FF0000"/>
                    </a:solidFill>
                  </a:rPr>
                  <a:t> [ </a:t>
                </a:r>
                <a:r>
                  <a:rPr lang="fr-FR" altLang="en-US" sz="2400" b="0" dirty="0" err="1">
                    <a:solidFill>
                      <a:srgbClr val="270076"/>
                    </a:solidFill>
                  </a:rPr>
                  <a:t>Num</a:t>
                </a:r>
                <a:r>
                  <a:rPr lang="fr-FR" altLang="en-US" sz="2400" b="0" dirty="0">
                    <a:solidFill>
                      <a:srgbClr val="270076"/>
                    </a:solidFill>
                  </a:rPr>
                  <a:t> </a:t>
                </a:r>
                <a:r>
                  <a:rPr lang="fr-FR" altLang="en-US" sz="2400" b="0" dirty="0">
                    <a:solidFill>
                      <a:srgbClr val="FF0000"/>
                    </a:solidFill>
                  </a:rPr>
                  <a:t>] of</a:t>
                </a:r>
                <a:endParaRPr lang="en-US" altLang="en-US" sz="2400" b="0" dirty="0">
                  <a:solidFill>
                    <a:srgbClr val="FF0000"/>
                  </a:solidFill>
                </a:endParaRPr>
              </a:p>
            </p:txBody>
          </p:sp>
          <p:sp>
            <p:nvSpPr>
              <p:cNvPr id="77" name="Text Box 10"/>
              <p:cNvSpPr txBox="1">
                <a:spLocks noChangeArrowheads="1"/>
              </p:cNvSpPr>
              <p:nvPr/>
            </p:nvSpPr>
            <p:spPr bwMode="auto">
              <a:xfrm>
                <a:off x="8269097" y="5309401"/>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T</a:t>
                </a:r>
                <a:endParaRPr lang="en-US" altLang="en-US" sz="2400" b="0" dirty="0">
                  <a:solidFill>
                    <a:srgbClr val="270076"/>
                  </a:solidFill>
                </a:endParaRPr>
              </a:p>
            </p:txBody>
          </p:sp>
          <p:sp>
            <p:nvSpPr>
              <p:cNvPr id="78" name="Line 23"/>
              <p:cNvSpPr>
                <a:spLocks noChangeShapeType="1"/>
              </p:cNvSpPr>
              <p:nvPr/>
            </p:nvSpPr>
            <p:spPr bwMode="auto">
              <a:xfrm flipH="1">
                <a:off x="6665725" y="4994299"/>
                <a:ext cx="682411" cy="391034"/>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79" name="Line 23"/>
              <p:cNvSpPr>
                <a:spLocks noChangeShapeType="1"/>
              </p:cNvSpPr>
              <p:nvPr/>
            </p:nvSpPr>
            <p:spPr bwMode="auto">
              <a:xfrm flipH="1">
                <a:off x="7079221" y="5029307"/>
                <a:ext cx="229590" cy="380108"/>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80" name="Text Box 10"/>
              <p:cNvSpPr txBox="1">
                <a:spLocks noChangeArrowheads="1"/>
              </p:cNvSpPr>
              <p:nvPr/>
            </p:nvSpPr>
            <p:spPr bwMode="auto">
              <a:xfrm>
                <a:off x="6845104" y="6072797"/>
                <a:ext cx="5999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FF0000"/>
                    </a:solidFill>
                  </a:rPr>
                  <a:t>20</a:t>
                </a:r>
                <a:endParaRPr lang="en-US" altLang="en-US" sz="2400" b="0" dirty="0">
                  <a:solidFill>
                    <a:srgbClr val="FF0000"/>
                  </a:solidFill>
                </a:endParaRPr>
              </a:p>
            </p:txBody>
          </p:sp>
          <p:sp>
            <p:nvSpPr>
              <p:cNvPr id="81" name="Line 23"/>
              <p:cNvSpPr>
                <a:spLocks noChangeShapeType="1"/>
              </p:cNvSpPr>
              <p:nvPr/>
            </p:nvSpPr>
            <p:spPr bwMode="auto">
              <a:xfrm>
                <a:off x="7135889" y="5681087"/>
                <a:ext cx="4763"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82" name="Text Box 10"/>
              <p:cNvSpPr txBox="1">
                <a:spLocks noChangeArrowheads="1"/>
              </p:cNvSpPr>
              <p:nvPr/>
            </p:nvSpPr>
            <p:spPr bwMode="auto">
              <a:xfrm>
                <a:off x="7962743" y="6058638"/>
                <a:ext cx="11775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err="1">
                    <a:solidFill>
                      <a:srgbClr val="FF0000"/>
                    </a:solidFill>
                  </a:rPr>
                  <a:t>Integer</a:t>
                </a:r>
                <a:endParaRPr lang="en-US" altLang="en-US" sz="2400" b="0" dirty="0">
                  <a:solidFill>
                    <a:srgbClr val="FF0000"/>
                  </a:solidFill>
                </a:endParaRPr>
              </a:p>
            </p:txBody>
          </p:sp>
          <p:sp>
            <p:nvSpPr>
              <p:cNvPr id="83" name="Line 23"/>
              <p:cNvSpPr>
                <a:spLocks noChangeShapeType="1"/>
              </p:cNvSpPr>
              <p:nvPr/>
            </p:nvSpPr>
            <p:spPr bwMode="auto">
              <a:xfrm>
                <a:off x="8450709" y="5688564"/>
                <a:ext cx="4763"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grpSp>
        <p:grpSp>
          <p:nvGrpSpPr>
            <p:cNvPr id="3" name="Group 2"/>
            <p:cNvGrpSpPr/>
            <p:nvPr/>
          </p:nvGrpSpPr>
          <p:grpSpPr>
            <a:xfrm>
              <a:off x="3775929" y="3374855"/>
              <a:ext cx="1030126" cy="758494"/>
              <a:chOff x="3775929" y="3374855"/>
              <a:chExt cx="1030126" cy="758494"/>
            </a:xfrm>
          </p:grpSpPr>
          <p:sp>
            <p:nvSpPr>
              <p:cNvPr id="84" name="Line 24"/>
              <p:cNvSpPr>
                <a:spLocks noChangeShapeType="1"/>
              </p:cNvSpPr>
              <p:nvPr/>
            </p:nvSpPr>
            <p:spPr bwMode="auto">
              <a:xfrm flipH="1">
                <a:off x="4047129" y="3374855"/>
                <a:ext cx="287781" cy="33515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85" name="Line 26"/>
              <p:cNvSpPr>
                <a:spLocks noChangeShapeType="1"/>
              </p:cNvSpPr>
              <p:nvPr/>
            </p:nvSpPr>
            <p:spPr bwMode="auto">
              <a:xfrm>
                <a:off x="4412065" y="3380517"/>
                <a:ext cx="233653" cy="329489"/>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86" name="Line 23"/>
              <p:cNvSpPr>
                <a:spLocks noChangeShapeType="1"/>
              </p:cNvSpPr>
              <p:nvPr/>
            </p:nvSpPr>
            <p:spPr bwMode="auto">
              <a:xfrm flipH="1">
                <a:off x="4349992" y="3404330"/>
                <a:ext cx="1" cy="33923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87" name="Text Box 10"/>
              <p:cNvSpPr txBox="1">
                <a:spLocks noChangeArrowheads="1"/>
              </p:cNvSpPr>
              <p:nvPr/>
            </p:nvSpPr>
            <p:spPr bwMode="auto">
              <a:xfrm>
                <a:off x="4189655" y="3671684"/>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dirty="0">
                    <a:solidFill>
                      <a:srgbClr val="FF0000"/>
                    </a:solidFill>
                  </a:rPr>
                  <a:t>:</a:t>
                </a:r>
                <a:endParaRPr lang="en-US" altLang="en-US" sz="2400" dirty="0">
                  <a:solidFill>
                    <a:srgbClr val="FF0000"/>
                  </a:solidFill>
                </a:endParaRPr>
              </a:p>
            </p:txBody>
          </p:sp>
          <p:sp>
            <p:nvSpPr>
              <p:cNvPr id="88" name="Text Box 10"/>
              <p:cNvSpPr txBox="1">
                <a:spLocks noChangeArrowheads="1"/>
              </p:cNvSpPr>
              <p:nvPr/>
            </p:nvSpPr>
            <p:spPr bwMode="auto">
              <a:xfrm>
                <a:off x="3775929" y="3646118"/>
                <a:ext cx="59048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Id</a:t>
                </a:r>
                <a:endParaRPr lang="en-US" altLang="en-US" sz="2400" b="0" dirty="0">
                  <a:solidFill>
                    <a:srgbClr val="270076"/>
                  </a:solidFill>
                </a:endParaRPr>
              </a:p>
            </p:txBody>
          </p:sp>
          <p:sp>
            <p:nvSpPr>
              <p:cNvPr id="89" name="Text Box 10"/>
              <p:cNvSpPr txBox="1">
                <a:spLocks noChangeArrowheads="1"/>
              </p:cNvSpPr>
              <p:nvPr/>
            </p:nvSpPr>
            <p:spPr bwMode="auto">
              <a:xfrm>
                <a:off x="4485380" y="3645879"/>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T</a:t>
                </a:r>
                <a:endParaRPr lang="en-US" altLang="en-US" sz="2400" b="0" dirty="0">
                  <a:solidFill>
                    <a:srgbClr val="270076"/>
                  </a:solidFill>
                </a:endParaRPr>
              </a:p>
            </p:txBody>
          </p:sp>
        </p:grpSp>
      </p:grpSp>
      <p:sp>
        <p:nvSpPr>
          <p:cNvPr id="14" name="TextBox 13"/>
          <p:cNvSpPr txBox="1"/>
          <p:nvPr/>
        </p:nvSpPr>
        <p:spPr>
          <a:xfrm>
            <a:off x="7058957" y="4621291"/>
            <a:ext cx="2055064" cy="400110"/>
          </a:xfrm>
          <a:prstGeom prst="rect">
            <a:avLst/>
          </a:prstGeom>
          <a:noFill/>
        </p:spPr>
        <p:txBody>
          <a:bodyPr wrap="square" rtlCol="0">
            <a:spAutoFit/>
          </a:bodyPr>
          <a:lstStyle/>
          <a:p>
            <a:r>
              <a:rPr lang="en-US" sz="2000" b="0" dirty="0">
                <a:solidFill>
                  <a:srgbClr val="7030A0"/>
                </a:solidFill>
              </a:rPr>
              <a:t>.type= </a:t>
            </a:r>
            <a:r>
              <a:rPr lang="en-US" sz="2000" b="0" dirty="0" err="1">
                <a:solidFill>
                  <a:srgbClr val="7030A0"/>
                </a:solidFill>
              </a:rPr>
              <a:t>arr</a:t>
            </a:r>
            <a:r>
              <a:rPr lang="en-US" sz="2000" b="0" dirty="0">
                <a:solidFill>
                  <a:srgbClr val="7030A0"/>
                </a:solidFill>
              </a:rPr>
              <a:t>(20,int)</a:t>
            </a:r>
          </a:p>
        </p:txBody>
      </p:sp>
      <p:sp>
        <p:nvSpPr>
          <p:cNvPr id="94" name="TextBox 93"/>
          <p:cNvSpPr txBox="1"/>
          <p:nvPr/>
        </p:nvSpPr>
        <p:spPr>
          <a:xfrm>
            <a:off x="5879609" y="3920117"/>
            <a:ext cx="3041913" cy="400110"/>
          </a:xfrm>
          <a:prstGeom prst="rect">
            <a:avLst/>
          </a:prstGeom>
          <a:noFill/>
        </p:spPr>
        <p:txBody>
          <a:bodyPr wrap="square" rtlCol="0">
            <a:spAutoFit/>
          </a:bodyPr>
          <a:lstStyle/>
          <a:p>
            <a:r>
              <a:rPr lang="en-US" sz="2000" b="0" dirty="0">
                <a:solidFill>
                  <a:srgbClr val="7030A0"/>
                </a:solidFill>
              </a:rPr>
              <a:t>.type= </a:t>
            </a:r>
            <a:r>
              <a:rPr lang="en-US" sz="2000" b="0" dirty="0" err="1">
                <a:solidFill>
                  <a:srgbClr val="7030A0"/>
                </a:solidFill>
              </a:rPr>
              <a:t>arr</a:t>
            </a:r>
            <a:r>
              <a:rPr lang="en-US" sz="2000" b="0" dirty="0">
                <a:solidFill>
                  <a:srgbClr val="7030A0"/>
                </a:solidFill>
              </a:rPr>
              <a:t>(10, T1.Type)</a:t>
            </a:r>
          </a:p>
        </p:txBody>
      </p:sp>
      <p:sp>
        <p:nvSpPr>
          <p:cNvPr id="95" name="TextBox 94"/>
          <p:cNvSpPr txBox="1"/>
          <p:nvPr/>
        </p:nvSpPr>
        <p:spPr>
          <a:xfrm>
            <a:off x="5429842" y="3078998"/>
            <a:ext cx="3349370" cy="400110"/>
          </a:xfrm>
          <a:prstGeom prst="rect">
            <a:avLst/>
          </a:prstGeom>
          <a:noFill/>
        </p:spPr>
        <p:txBody>
          <a:bodyPr wrap="square" rtlCol="0">
            <a:spAutoFit/>
          </a:bodyPr>
          <a:lstStyle/>
          <a:p>
            <a:r>
              <a:rPr lang="fr-FR" altLang="en-US" sz="2000" b="0" dirty="0" err="1">
                <a:solidFill>
                  <a:srgbClr val="270076"/>
                </a:solidFill>
              </a:rPr>
              <a:t>addType</a:t>
            </a:r>
            <a:r>
              <a:rPr lang="fr-FR" altLang="en-US" sz="2000" b="0" dirty="0">
                <a:solidFill>
                  <a:srgbClr val="270076"/>
                </a:solidFill>
              </a:rPr>
              <a:t>(</a:t>
            </a:r>
            <a:r>
              <a:rPr lang="fr-FR" altLang="en-US" sz="2000" b="0" dirty="0" err="1">
                <a:solidFill>
                  <a:srgbClr val="270076"/>
                </a:solidFill>
              </a:rPr>
              <a:t>Id.</a:t>
            </a:r>
            <a:r>
              <a:rPr lang="fr-FR" altLang="en-US" sz="2000" b="0" i="1" dirty="0" err="1">
                <a:solidFill>
                  <a:srgbClr val="270076"/>
                </a:solidFill>
              </a:rPr>
              <a:t>entry</a:t>
            </a:r>
            <a:r>
              <a:rPr lang="fr-FR" altLang="en-US" sz="2000" b="0" dirty="0">
                <a:solidFill>
                  <a:srgbClr val="270076"/>
                </a:solidFill>
              </a:rPr>
              <a:t>, </a:t>
            </a:r>
            <a:r>
              <a:rPr lang="fr-FR" altLang="en-US" sz="2000" b="0" dirty="0" err="1">
                <a:solidFill>
                  <a:srgbClr val="270076"/>
                </a:solidFill>
              </a:rPr>
              <a:t>T.</a:t>
            </a:r>
            <a:r>
              <a:rPr lang="fr-FR" altLang="en-US" sz="2000" b="0" i="1" dirty="0" err="1">
                <a:solidFill>
                  <a:srgbClr val="270076"/>
                </a:solidFill>
              </a:rPr>
              <a:t>type</a:t>
            </a:r>
            <a:r>
              <a:rPr lang="fr-FR" altLang="en-US" sz="2000" b="0" dirty="0">
                <a:solidFill>
                  <a:srgbClr val="270076"/>
                </a:solidFill>
              </a:rPr>
              <a:t>)</a:t>
            </a:r>
            <a:endParaRPr lang="en-US" altLang="en-US" sz="2000" b="0" dirty="0">
              <a:solidFill>
                <a:srgbClr val="270076"/>
              </a:solidFill>
            </a:endParaRPr>
          </a:p>
        </p:txBody>
      </p:sp>
    </p:spTree>
    <p:extLst>
      <p:ext uri="{BB962C8B-B14F-4D97-AF65-F5344CB8AC3E}">
        <p14:creationId xmlns:p14="http://schemas.microsoft.com/office/powerpoint/2010/main" val="451912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1+#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7" presetClass="entr" presetSubtype="0" fill="hold" grpId="0" nodeType="clickEffect">
                                  <p:stCondLst>
                                    <p:cond delay="0"/>
                                  </p:stCondLst>
                                  <p:childTnLst>
                                    <p:set>
                                      <p:cBhvr>
                                        <p:cTn id="12" dur="1" fill="hold">
                                          <p:stCondLst>
                                            <p:cond delay="0"/>
                                          </p:stCondLst>
                                        </p:cTn>
                                        <p:tgtEl>
                                          <p:spTgt spid="94"/>
                                        </p:tgtEl>
                                        <p:attrNameLst>
                                          <p:attrName>style.visibility</p:attrName>
                                        </p:attrNameLst>
                                      </p:cBhvr>
                                      <p:to>
                                        <p:strVal val="visible"/>
                                      </p:to>
                                    </p:set>
                                    <p:animEffect transition="in" filter="fade">
                                      <p:cBhvr>
                                        <p:cTn id="13" dur="1000"/>
                                        <p:tgtEl>
                                          <p:spTgt spid="94"/>
                                        </p:tgtEl>
                                      </p:cBhvr>
                                    </p:animEffect>
                                    <p:anim calcmode="lin" valueType="num">
                                      <p:cBhvr>
                                        <p:cTn id="14" dur="1000" fill="hold"/>
                                        <p:tgtEl>
                                          <p:spTgt spid="94"/>
                                        </p:tgtEl>
                                        <p:attrNameLst>
                                          <p:attrName>ppt_x</p:attrName>
                                        </p:attrNameLst>
                                      </p:cBhvr>
                                      <p:tavLst>
                                        <p:tav tm="0">
                                          <p:val>
                                            <p:strVal val="#ppt_x"/>
                                          </p:val>
                                        </p:tav>
                                        <p:tav tm="100000">
                                          <p:val>
                                            <p:strVal val="#ppt_x"/>
                                          </p:val>
                                        </p:tav>
                                      </p:tavLst>
                                    </p:anim>
                                    <p:anim calcmode="lin" valueType="num">
                                      <p:cBhvr>
                                        <p:cTn id="15" dur="1000" fill="hold"/>
                                        <p:tgtEl>
                                          <p:spTgt spid="9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5"/>
                                        </p:tgtEl>
                                        <p:attrNameLst>
                                          <p:attrName>style.visibility</p:attrName>
                                        </p:attrNameLst>
                                      </p:cBhvr>
                                      <p:to>
                                        <p:strVal val="visible"/>
                                      </p:to>
                                    </p:set>
                                    <p:animEffect transition="in" filter="fade">
                                      <p:cBhvr>
                                        <p:cTn id="20" dur="500"/>
                                        <p:tgtEl>
                                          <p:spTgt spid="9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94" grpId="0"/>
      <p:bldP spid="9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34FBA4A6-7363-4EBD-BF97-E835407D4AB0}" type="slidenum">
              <a:rPr lang="en-US" altLang="en-US" sz="1400" b="0"/>
              <a:pPr/>
              <a:t>60</a:t>
            </a:fld>
            <a:endParaRPr lang="en-US" altLang="en-US" sz="1400" b="0"/>
          </a:p>
        </p:txBody>
      </p:sp>
      <p:sp>
        <p:nvSpPr>
          <p:cNvPr id="61443" name="Rectangle 2"/>
          <p:cNvSpPr>
            <a:spLocks noGrp="1" noChangeArrowheads="1"/>
          </p:cNvSpPr>
          <p:nvPr>
            <p:ph type="title"/>
          </p:nvPr>
        </p:nvSpPr>
        <p:spPr/>
        <p:txBody>
          <a:bodyPr/>
          <a:lstStyle/>
          <a:p>
            <a:pPr eaLnBrk="1" hangingPunct="1"/>
            <a:r>
              <a:rPr lang="en-US" altLang="en-US" sz="2800" b="1" dirty="0" err="1"/>
              <a:t>Bộ</a:t>
            </a:r>
            <a:r>
              <a:rPr lang="en-US" altLang="en-US" sz="2800" b="1" dirty="0"/>
              <a:t> </a:t>
            </a:r>
            <a:r>
              <a:rPr lang="en-US" altLang="en-US" sz="2800" b="1" dirty="0" err="1"/>
              <a:t>kiểm</a:t>
            </a:r>
            <a:r>
              <a:rPr lang="en-US" altLang="en-US" sz="2800" b="1" dirty="0"/>
              <a:t> </a:t>
            </a:r>
            <a:r>
              <a:rPr lang="en-US" altLang="en-US" sz="2800" b="1" dirty="0" err="1"/>
              <a:t>tra</a:t>
            </a:r>
            <a:r>
              <a:rPr lang="en-US" altLang="en-US" sz="2800" b="1" dirty="0"/>
              <a:t> </a:t>
            </a:r>
            <a:r>
              <a:rPr lang="en-US" altLang="en-US" sz="2800" b="1" dirty="0" err="1"/>
              <a:t>kiểu</a:t>
            </a:r>
            <a:r>
              <a:rPr lang="en-US" altLang="en-US" sz="2800" b="1" dirty="0"/>
              <a:t> </a:t>
            </a:r>
            <a:r>
              <a:rPr lang="en-US" altLang="en-US" sz="2800" b="1" dirty="0" err="1"/>
              <a:t>của</a:t>
            </a:r>
            <a:r>
              <a:rPr lang="en-US" altLang="en-US" sz="2800" b="1" dirty="0"/>
              <a:t> </a:t>
            </a:r>
            <a:r>
              <a:rPr lang="en-US" altLang="en-US" sz="2800" b="1" dirty="0" err="1"/>
              <a:t>định</a:t>
            </a:r>
            <a:r>
              <a:rPr lang="en-US" altLang="en-US" sz="2800" b="1" dirty="0"/>
              <a:t> </a:t>
            </a:r>
            <a:r>
              <a:rPr lang="en-US" altLang="en-US" sz="2800" b="1" dirty="0" err="1"/>
              <a:t>danh</a:t>
            </a:r>
            <a:r>
              <a:rPr lang="en-US" altLang="en-US" sz="2800" b="1" dirty="0" err="1">
                <a:sym typeface="Symbol" panose="05050102010706020507" pitchFamily="18" charset="2"/>
              </a:rPr>
              <a:t>Ví</a:t>
            </a:r>
            <a:r>
              <a:rPr lang="en-US" altLang="en-US" sz="2800" b="1" dirty="0">
                <a:sym typeface="Symbol" panose="05050102010706020507" pitchFamily="18" charset="2"/>
              </a:rPr>
              <a:t> </a:t>
            </a:r>
            <a:r>
              <a:rPr lang="en-US" altLang="en-US" sz="2800" b="1" dirty="0" err="1">
                <a:sym typeface="Symbol" panose="05050102010706020507" pitchFamily="18" charset="2"/>
              </a:rPr>
              <a:t>dụ</a:t>
            </a:r>
            <a:r>
              <a:rPr lang="en-US" altLang="en-US" sz="2800" b="1" dirty="0">
                <a:sym typeface="Symbol" panose="05050102010706020507" pitchFamily="18" charset="2"/>
              </a:rPr>
              <a:t> 2</a:t>
            </a:r>
            <a:endParaRPr lang="en-US" altLang="en-US" sz="2800" b="1" dirty="0"/>
          </a:p>
        </p:txBody>
      </p:sp>
      <p:sp>
        <p:nvSpPr>
          <p:cNvPr id="61444"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sp>
        <p:nvSpPr>
          <p:cNvPr id="2" name="Content Placeholder 1"/>
          <p:cNvSpPr>
            <a:spLocks noGrp="1"/>
          </p:cNvSpPr>
          <p:nvPr>
            <p:ph sz="half" idx="2"/>
          </p:nvPr>
        </p:nvSpPr>
        <p:spPr>
          <a:xfrm>
            <a:off x="106830" y="908656"/>
            <a:ext cx="5186683" cy="1404871"/>
          </a:xfrm>
          <a:ln>
            <a:solidFill>
              <a:schemeClr val="accent6"/>
            </a:solidFill>
          </a:ln>
        </p:spPr>
        <p:txBody>
          <a:bodyPr/>
          <a:lstStyle/>
          <a:p>
            <a:pPr marL="0" indent="0" eaLnBrk="1" hangingPunct="1">
              <a:buFontTx/>
              <a:buNone/>
              <a:defRPr/>
            </a:pPr>
            <a:r>
              <a:rPr lang="en-US" sz="2400" dirty="0"/>
              <a:t>N : integer;</a:t>
            </a:r>
          </a:p>
          <a:p>
            <a:pPr marL="0" indent="0" eaLnBrk="1" hangingPunct="1">
              <a:buFontTx/>
              <a:buNone/>
              <a:defRPr/>
            </a:pPr>
            <a:r>
              <a:rPr lang="en-US" sz="2400" dirty="0"/>
              <a:t>A : Array[10] of Array[20] of Integer;</a:t>
            </a:r>
          </a:p>
          <a:p>
            <a:pPr marL="0" indent="0" eaLnBrk="1" hangingPunct="1">
              <a:buFontTx/>
              <a:buNone/>
              <a:defRPr/>
            </a:pPr>
            <a:r>
              <a:rPr lang="en-US" sz="2400" dirty="0"/>
              <a:t>A[5][10] Mod 100</a:t>
            </a:r>
          </a:p>
        </p:txBody>
      </p:sp>
      <p:graphicFrame>
        <p:nvGraphicFramePr>
          <p:cNvPr id="41" name="Group 48"/>
          <p:cNvGraphicFramePr>
            <a:graphicFrameLocks/>
          </p:cNvGraphicFramePr>
          <p:nvPr>
            <p:extLst>
              <p:ext uri="{D42A27DB-BD31-4B8C-83A1-F6EECF244321}">
                <p14:modId xmlns:p14="http://schemas.microsoft.com/office/powerpoint/2010/main" val="2118291925"/>
              </p:ext>
            </p:extLst>
          </p:nvPr>
        </p:nvGraphicFramePr>
        <p:xfrm>
          <a:off x="93398" y="2720219"/>
          <a:ext cx="3833257" cy="2253636"/>
        </p:xfrm>
        <a:graphic>
          <a:graphicData uri="http://schemas.openxmlformats.org/drawingml/2006/table">
            <a:tbl>
              <a:tblPr/>
              <a:tblGrid>
                <a:gridCol w="780848">
                  <a:extLst>
                    <a:ext uri="{9D8B030D-6E8A-4147-A177-3AD203B41FA5}">
                      <a16:colId xmlns:a16="http://schemas.microsoft.com/office/drawing/2014/main" val="20000"/>
                    </a:ext>
                  </a:extLst>
                </a:gridCol>
                <a:gridCol w="780849">
                  <a:extLst>
                    <a:ext uri="{9D8B030D-6E8A-4147-A177-3AD203B41FA5}">
                      <a16:colId xmlns:a16="http://schemas.microsoft.com/office/drawing/2014/main" val="20001"/>
                    </a:ext>
                  </a:extLst>
                </a:gridCol>
                <a:gridCol w="2271560">
                  <a:extLst>
                    <a:ext uri="{9D8B030D-6E8A-4147-A177-3AD203B41FA5}">
                      <a16:colId xmlns:a16="http://schemas.microsoft.com/office/drawing/2014/main" val="20002"/>
                    </a:ext>
                  </a:extLst>
                </a:gridCol>
              </a:tblGrid>
              <a:tr h="458950">
                <a:tc gridSpan="3">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fr-FR" altLang="en-US" sz="2400" b="0" i="0" u="none" strike="noStrike" cap="none" normalizeH="0" baseline="0" dirty="0" err="1">
                          <a:ln>
                            <a:noFill/>
                          </a:ln>
                          <a:solidFill>
                            <a:srgbClr val="270076"/>
                          </a:solidFill>
                          <a:effectLst/>
                          <a:latin typeface="Arial" panose="020B0604020202020204" pitchFamily="34" charset="0"/>
                        </a:rPr>
                        <a:t>SymTab</a:t>
                      </a:r>
                      <a:endParaRPr kumimoji="0" lang="en-US" altLang="en-US" sz="24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4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9106">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Name</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Obj</a:t>
                      </a:r>
                      <a:endParaRPr kumimoji="0" lang="en-US" altLang="en-US" sz="2000" b="0" i="0" u="none" strike="noStrike" cap="none" normalizeH="0" baseline="0" dirty="0">
                        <a:ln>
                          <a:noFill/>
                        </a:ln>
                        <a:solidFill>
                          <a:srgbClr val="270076"/>
                        </a:solidFill>
                        <a:effectLst/>
                        <a:latin typeface="Arial" panose="020B0604020202020204" pitchFamily="34"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Type</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Type</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extLst>
                  <a:ext uri="{0D108BD9-81ED-4DB2-BD59-A6C34878D82A}">
                    <a16:rowId xmlns:a16="http://schemas.microsoft.com/office/drawing/2014/main" val="10001"/>
                  </a:ext>
                </a:extLst>
              </a:tr>
              <a:tr h="546464">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N</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Var</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Int</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6222">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A</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Var</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Arr</a:t>
                      </a:r>
                      <a:r>
                        <a:rPr kumimoji="0" lang="en-US" altLang="en-US" sz="2000" b="0" i="0" u="none" strike="noStrike" cap="none" normalizeH="0" baseline="0" dirty="0">
                          <a:ln>
                            <a:noFill/>
                          </a:ln>
                          <a:solidFill>
                            <a:srgbClr val="270076"/>
                          </a:solidFill>
                          <a:effectLst/>
                          <a:latin typeface="Arial" panose="020B0604020202020204" pitchFamily="34" charset="0"/>
                        </a:rPr>
                        <a:t> (10,Arr(20,int))</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5" name="Line 14"/>
          <p:cNvSpPr>
            <a:spLocks noChangeShapeType="1"/>
          </p:cNvSpPr>
          <p:nvPr/>
        </p:nvSpPr>
        <p:spPr bwMode="auto">
          <a:xfrm>
            <a:off x="7315200" y="1210160"/>
            <a:ext cx="779202" cy="393687"/>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70" name="Text Box 15"/>
          <p:cNvSpPr txBox="1">
            <a:spLocks noChangeArrowheads="1"/>
          </p:cNvSpPr>
          <p:nvPr/>
        </p:nvSpPr>
        <p:spPr bwMode="auto">
          <a:xfrm>
            <a:off x="5633065" y="1639476"/>
            <a:ext cx="91568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800" b="0" dirty="0">
                <a:solidFill>
                  <a:srgbClr val="270076"/>
                </a:solidFill>
              </a:rPr>
              <a:t>E</a:t>
            </a:r>
            <a:endParaRPr lang="en-US" altLang="en-US" sz="2800" b="0" baseline="-25000" dirty="0">
              <a:solidFill>
                <a:srgbClr val="270076"/>
              </a:solidFill>
            </a:endParaRPr>
          </a:p>
        </p:txBody>
      </p:sp>
      <p:sp>
        <p:nvSpPr>
          <p:cNvPr id="71" name="Line 30"/>
          <p:cNvSpPr>
            <a:spLocks noChangeShapeType="1"/>
          </p:cNvSpPr>
          <p:nvPr/>
        </p:nvSpPr>
        <p:spPr bwMode="auto">
          <a:xfrm flipH="1">
            <a:off x="6137295" y="1210160"/>
            <a:ext cx="916738" cy="493596"/>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74" name="Text Box 10"/>
          <p:cNvSpPr txBox="1">
            <a:spLocks noChangeArrowheads="1"/>
          </p:cNvSpPr>
          <p:nvPr/>
        </p:nvSpPr>
        <p:spPr bwMode="auto">
          <a:xfrm>
            <a:off x="6661438" y="1578541"/>
            <a:ext cx="103880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800" b="0">
                <a:solidFill>
                  <a:srgbClr val="FF0000"/>
                </a:solidFill>
              </a:rPr>
              <a:t>Mod</a:t>
            </a:r>
            <a:endParaRPr lang="en-US" altLang="en-US" sz="2800" b="0">
              <a:solidFill>
                <a:srgbClr val="FF0000"/>
              </a:solidFill>
            </a:endParaRPr>
          </a:p>
        </p:txBody>
      </p:sp>
      <p:sp>
        <p:nvSpPr>
          <p:cNvPr id="90" name="Text Box 10"/>
          <p:cNvSpPr txBox="1">
            <a:spLocks noChangeArrowheads="1"/>
          </p:cNvSpPr>
          <p:nvPr/>
        </p:nvSpPr>
        <p:spPr bwMode="auto">
          <a:xfrm>
            <a:off x="8224382" y="1602514"/>
            <a:ext cx="32378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800" b="0" dirty="0">
                <a:solidFill>
                  <a:srgbClr val="270076"/>
                </a:solidFill>
              </a:rPr>
              <a:t>E</a:t>
            </a:r>
            <a:endParaRPr lang="en-US" altLang="en-US" sz="2800" b="0" dirty="0">
              <a:solidFill>
                <a:srgbClr val="270076"/>
              </a:solidFill>
            </a:endParaRPr>
          </a:p>
        </p:txBody>
      </p:sp>
      <p:sp>
        <p:nvSpPr>
          <p:cNvPr id="91" name="Line 23"/>
          <p:cNvSpPr>
            <a:spLocks noChangeShapeType="1"/>
          </p:cNvSpPr>
          <p:nvPr/>
        </p:nvSpPr>
        <p:spPr bwMode="auto">
          <a:xfrm>
            <a:off x="7197269" y="1248484"/>
            <a:ext cx="3589" cy="45527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2" name="Text Box 10"/>
          <p:cNvSpPr txBox="1">
            <a:spLocks noChangeArrowheads="1"/>
          </p:cNvSpPr>
          <p:nvPr/>
        </p:nvSpPr>
        <p:spPr bwMode="auto">
          <a:xfrm>
            <a:off x="7054033" y="778239"/>
            <a:ext cx="32378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800" b="0" dirty="0">
                <a:solidFill>
                  <a:srgbClr val="270076"/>
                </a:solidFill>
              </a:rPr>
              <a:t>E</a:t>
            </a:r>
            <a:endParaRPr lang="en-US" altLang="en-US" sz="2800" b="0" dirty="0">
              <a:solidFill>
                <a:srgbClr val="270076"/>
              </a:solidFill>
            </a:endParaRPr>
          </a:p>
        </p:txBody>
      </p:sp>
      <p:sp>
        <p:nvSpPr>
          <p:cNvPr id="93" name="Text Box 10"/>
          <p:cNvSpPr txBox="1">
            <a:spLocks noChangeArrowheads="1"/>
          </p:cNvSpPr>
          <p:nvPr/>
        </p:nvSpPr>
        <p:spPr bwMode="auto">
          <a:xfrm>
            <a:off x="7816698" y="2430731"/>
            <a:ext cx="103880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800" b="0" dirty="0">
                <a:solidFill>
                  <a:srgbClr val="FF0000"/>
                </a:solidFill>
              </a:rPr>
              <a:t>100</a:t>
            </a:r>
            <a:endParaRPr lang="en-US" altLang="en-US" sz="2800" b="0" dirty="0">
              <a:solidFill>
                <a:srgbClr val="FF0000"/>
              </a:solidFill>
            </a:endParaRPr>
          </a:p>
        </p:txBody>
      </p:sp>
      <p:sp>
        <p:nvSpPr>
          <p:cNvPr id="96" name="Line 23"/>
          <p:cNvSpPr>
            <a:spLocks noChangeShapeType="1"/>
          </p:cNvSpPr>
          <p:nvPr/>
        </p:nvSpPr>
        <p:spPr bwMode="auto">
          <a:xfrm>
            <a:off x="8352529" y="2100674"/>
            <a:ext cx="3589" cy="45527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8" name="Line 30"/>
          <p:cNvSpPr>
            <a:spLocks noChangeShapeType="1"/>
          </p:cNvSpPr>
          <p:nvPr/>
        </p:nvSpPr>
        <p:spPr bwMode="auto">
          <a:xfrm flipH="1">
            <a:off x="5238901" y="2096529"/>
            <a:ext cx="666063" cy="5150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9" name="Text Box 15"/>
          <p:cNvSpPr txBox="1">
            <a:spLocks noChangeArrowheads="1"/>
          </p:cNvSpPr>
          <p:nvPr/>
        </p:nvSpPr>
        <p:spPr bwMode="auto">
          <a:xfrm>
            <a:off x="4728415" y="2555946"/>
            <a:ext cx="25902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800" b="0" dirty="0">
                <a:solidFill>
                  <a:srgbClr val="270076"/>
                </a:solidFill>
              </a:rPr>
              <a:t>E   </a:t>
            </a:r>
            <a:r>
              <a:rPr lang="fr-FR" altLang="en-US" sz="2800" dirty="0">
                <a:solidFill>
                  <a:srgbClr val="FF0000"/>
                </a:solidFill>
              </a:rPr>
              <a:t>[</a:t>
            </a:r>
            <a:r>
              <a:rPr lang="fr-FR" altLang="en-US" sz="2800" b="0" dirty="0">
                <a:solidFill>
                  <a:srgbClr val="270076"/>
                </a:solidFill>
              </a:rPr>
              <a:t>    E    </a:t>
            </a:r>
            <a:r>
              <a:rPr lang="fr-FR" altLang="en-US" sz="2800" dirty="0">
                <a:solidFill>
                  <a:srgbClr val="FF0000"/>
                </a:solidFill>
              </a:rPr>
              <a:t>]</a:t>
            </a:r>
            <a:endParaRPr lang="en-US" altLang="en-US" sz="2800" baseline="-25000" dirty="0">
              <a:solidFill>
                <a:srgbClr val="FF0000"/>
              </a:solidFill>
            </a:endParaRPr>
          </a:p>
        </p:txBody>
      </p:sp>
      <p:sp>
        <p:nvSpPr>
          <p:cNvPr id="100" name="Line 14"/>
          <p:cNvSpPr>
            <a:spLocks noChangeShapeType="1"/>
          </p:cNvSpPr>
          <p:nvPr/>
        </p:nvSpPr>
        <p:spPr bwMode="auto">
          <a:xfrm>
            <a:off x="6150325" y="2153784"/>
            <a:ext cx="732065" cy="438938"/>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101" name="Line 23"/>
          <p:cNvSpPr>
            <a:spLocks noChangeShapeType="1"/>
          </p:cNvSpPr>
          <p:nvPr/>
        </p:nvSpPr>
        <p:spPr bwMode="auto">
          <a:xfrm>
            <a:off x="6060611" y="2169722"/>
            <a:ext cx="323758" cy="441819"/>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102" name="Line 23"/>
          <p:cNvSpPr>
            <a:spLocks noChangeShapeType="1"/>
          </p:cNvSpPr>
          <p:nvPr/>
        </p:nvSpPr>
        <p:spPr bwMode="auto">
          <a:xfrm flipH="1">
            <a:off x="5679838" y="2141096"/>
            <a:ext cx="310367" cy="470446"/>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103" name="Line 30"/>
          <p:cNvSpPr>
            <a:spLocks noChangeShapeType="1"/>
          </p:cNvSpPr>
          <p:nvPr/>
        </p:nvSpPr>
        <p:spPr bwMode="auto">
          <a:xfrm flipH="1">
            <a:off x="4334573" y="2988842"/>
            <a:ext cx="666063" cy="5150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104" name="Text Box 15"/>
          <p:cNvSpPr txBox="1">
            <a:spLocks noChangeArrowheads="1"/>
          </p:cNvSpPr>
          <p:nvPr/>
        </p:nvSpPr>
        <p:spPr bwMode="auto">
          <a:xfrm>
            <a:off x="3824087" y="3448259"/>
            <a:ext cx="25902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800" b="0" dirty="0">
                <a:solidFill>
                  <a:srgbClr val="270076"/>
                </a:solidFill>
              </a:rPr>
              <a:t>E   </a:t>
            </a:r>
            <a:r>
              <a:rPr lang="fr-FR" altLang="en-US" sz="2800" dirty="0">
                <a:solidFill>
                  <a:srgbClr val="FF0000"/>
                </a:solidFill>
              </a:rPr>
              <a:t>[</a:t>
            </a:r>
            <a:r>
              <a:rPr lang="fr-FR" altLang="en-US" sz="2800" b="0" dirty="0">
                <a:solidFill>
                  <a:srgbClr val="270076"/>
                </a:solidFill>
              </a:rPr>
              <a:t>    E    </a:t>
            </a:r>
            <a:r>
              <a:rPr lang="fr-FR" altLang="en-US" sz="2800" dirty="0">
                <a:solidFill>
                  <a:srgbClr val="FF0000"/>
                </a:solidFill>
              </a:rPr>
              <a:t>]</a:t>
            </a:r>
            <a:endParaRPr lang="en-US" altLang="en-US" sz="2800" baseline="-25000" dirty="0">
              <a:solidFill>
                <a:srgbClr val="FF0000"/>
              </a:solidFill>
            </a:endParaRPr>
          </a:p>
        </p:txBody>
      </p:sp>
      <p:sp>
        <p:nvSpPr>
          <p:cNvPr id="105" name="Line 14"/>
          <p:cNvSpPr>
            <a:spLocks noChangeShapeType="1"/>
          </p:cNvSpPr>
          <p:nvPr/>
        </p:nvSpPr>
        <p:spPr bwMode="auto">
          <a:xfrm>
            <a:off x="5245997" y="3046097"/>
            <a:ext cx="732065" cy="438938"/>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106" name="Line 23"/>
          <p:cNvSpPr>
            <a:spLocks noChangeShapeType="1"/>
          </p:cNvSpPr>
          <p:nvPr/>
        </p:nvSpPr>
        <p:spPr bwMode="auto">
          <a:xfrm>
            <a:off x="5156283" y="3062035"/>
            <a:ext cx="323758" cy="441819"/>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107" name="Line 23"/>
          <p:cNvSpPr>
            <a:spLocks noChangeShapeType="1"/>
          </p:cNvSpPr>
          <p:nvPr/>
        </p:nvSpPr>
        <p:spPr bwMode="auto">
          <a:xfrm flipH="1">
            <a:off x="4775510" y="3033409"/>
            <a:ext cx="310367" cy="470446"/>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108" name="Text Box 10"/>
          <p:cNvSpPr txBox="1">
            <a:spLocks noChangeArrowheads="1"/>
          </p:cNvSpPr>
          <p:nvPr/>
        </p:nvSpPr>
        <p:spPr bwMode="auto">
          <a:xfrm>
            <a:off x="4077136" y="4204348"/>
            <a:ext cx="61522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800" b="0" dirty="0">
                <a:solidFill>
                  <a:srgbClr val="FF0000"/>
                </a:solidFill>
              </a:rPr>
              <a:t>A</a:t>
            </a:r>
            <a:endParaRPr lang="en-US" altLang="en-US" sz="2800" b="0" dirty="0">
              <a:solidFill>
                <a:srgbClr val="FF0000"/>
              </a:solidFill>
            </a:endParaRPr>
          </a:p>
        </p:txBody>
      </p:sp>
      <p:sp>
        <p:nvSpPr>
          <p:cNvPr id="109" name="Line 23"/>
          <p:cNvSpPr>
            <a:spLocks noChangeShapeType="1"/>
          </p:cNvSpPr>
          <p:nvPr/>
        </p:nvSpPr>
        <p:spPr bwMode="auto">
          <a:xfrm>
            <a:off x="4384747" y="3866755"/>
            <a:ext cx="3589" cy="45527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110" name="Text Box 10"/>
          <p:cNvSpPr txBox="1">
            <a:spLocks noChangeArrowheads="1"/>
          </p:cNvSpPr>
          <p:nvPr/>
        </p:nvSpPr>
        <p:spPr bwMode="auto">
          <a:xfrm>
            <a:off x="5997341" y="3507268"/>
            <a:ext cx="61522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800" b="0" dirty="0">
                <a:solidFill>
                  <a:srgbClr val="FF0000"/>
                </a:solidFill>
              </a:rPr>
              <a:t>10</a:t>
            </a:r>
            <a:endParaRPr lang="en-US" altLang="en-US" sz="2800" b="0" dirty="0">
              <a:solidFill>
                <a:srgbClr val="FF0000"/>
              </a:solidFill>
            </a:endParaRPr>
          </a:p>
        </p:txBody>
      </p:sp>
      <p:sp>
        <p:nvSpPr>
          <p:cNvPr id="111" name="Line 23"/>
          <p:cNvSpPr>
            <a:spLocks noChangeShapeType="1"/>
          </p:cNvSpPr>
          <p:nvPr/>
        </p:nvSpPr>
        <p:spPr bwMode="auto">
          <a:xfrm>
            <a:off x="6304952" y="3038519"/>
            <a:ext cx="3589" cy="45527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112" name="Text Box 10"/>
          <p:cNvSpPr txBox="1">
            <a:spLocks noChangeArrowheads="1"/>
          </p:cNvSpPr>
          <p:nvPr/>
        </p:nvSpPr>
        <p:spPr bwMode="auto">
          <a:xfrm>
            <a:off x="5064617" y="4213898"/>
            <a:ext cx="61522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800" b="0" dirty="0">
                <a:solidFill>
                  <a:srgbClr val="FF0000"/>
                </a:solidFill>
              </a:rPr>
              <a:t>5</a:t>
            </a:r>
            <a:endParaRPr lang="en-US" altLang="en-US" sz="2800" b="0" dirty="0">
              <a:solidFill>
                <a:srgbClr val="FF0000"/>
              </a:solidFill>
            </a:endParaRPr>
          </a:p>
        </p:txBody>
      </p:sp>
      <p:sp>
        <p:nvSpPr>
          <p:cNvPr id="113" name="Line 23"/>
          <p:cNvSpPr>
            <a:spLocks noChangeShapeType="1"/>
          </p:cNvSpPr>
          <p:nvPr/>
        </p:nvSpPr>
        <p:spPr bwMode="auto">
          <a:xfrm>
            <a:off x="5372228" y="3876305"/>
            <a:ext cx="3589" cy="45527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grpSp>
        <p:nvGrpSpPr>
          <p:cNvPr id="23" name="Group 22"/>
          <p:cNvGrpSpPr/>
          <p:nvPr/>
        </p:nvGrpSpPr>
        <p:grpSpPr>
          <a:xfrm>
            <a:off x="325925" y="3892054"/>
            <a:ext cx="5438298" cy="2098387"/>
            <a:chOff x="325925" y="3892054"/>
            <a:chExt cx="5438298" cy="2098387"/>
          </a:xfrm>
        </p:grpSpPr>
        <p:sp>
          <p:nvSpPr>
            <p:cNvPr id="114" name="TextBox 113"/>
            <p:cNvSpPr txBox="1"/>
            <p:nvPr/>
          </p:nvSpPr>
          <p:spPr>
            <a:xfrm>
              <a:off x="325925" y="5590331"/>
              <a:ext cx="4179826" cy="400110"/>
            </a:xfrm>
            <a:prstGeom prst="rect">
              <a:avLst/>
            </a:prstGeom>
            <a:noFill/>
          </p:spPr>
          <p:txBody>
            <a:bodyPr wrap="square" rtlCol="0">
              <a:spAutoFit/>
            </a:bodyPr>
            <a:lstStyle/>
            <a:p>
              <a:r>
                <a:rPr lang="en-US" sz="2000" b="0" dirty="0" err="1">
                  <a:solidFill>
                    <a:srgbClr val="7030A0"/>
                  </a:solidFill>
                </a:rPr>
                <a:t>E.type</a:t>
              </a:r>
              <a:r>
                <a:rPr lang="en-US" sz="2000" b="0" dirty="0">
                  <a:solidFill>
                    <a:srgbClr val="7030A0"/>
                  </a:solidFill>
                </a:rPr>
                <a:t>= </a:t>
              </a:r>
              <a:r>
                <a:rPr lang="en-US" sz="2000" b="0" dirty="0" err="1">
                  <a:solidFill>
                    <a:srgbClr val="7030A0"/>
                  </a:solidFill>
                </a:rPr>
                <a:t>A.type</a:t>
              </a:r>
              <a:r>
                <a:rPr lang="en-US" sz="2000" b="0" dirty="0">
                  <a:solidFill>
                    <a:srgbClr val="7030A0"/>
                  </a:solidFill>
                </a:rPr>
                <a:t>=</a:t>
              </a:r>
              <a:r>
                <a:rPr lang="en-US" sz="2000" b="0" dirty="0" err="1">
                  <a:solidFill>
                    <a:srgbClr val="7030A0"/>
                  </a:solidFill>
                </a:rPr>
                <a:t>arr</a:t>
              </a:r>
              <a:r>
                <a:rPr lang="en-US" sz="2000" b="0" dirty="0">
                  <a:solidFill>
                    <a:srgbClr val="7030A0"/>
                  </a:solidFill>
                </a:rPr>
                <a:t>(10,Arr(20,int))</a:t>
              </a:r>
            </a:p>
          </p:txBody>
        </p:sp>
        <p:sp>
          <p:nvSpPr>
            <p:cNvPr id="115" name="TextBox 114"/>
            <p:cNvSpPr txBox="1"/>
            <p:nvPr/>
          </p:nvSpPr>
          <p:spPr>
            <a:xfrm>
              <a:off x="4365010" y="5559953"/>
              <a:ext cx="1399213" cy="400110"/>
            </a:xfrm>
            <a:prstGeom prst="rect">
              <a:avLst/>
            </a:prstGeom>
            <a:noFill/>
          </p:spPr>
          <p:txBody>
            <a:bodyPr wrap="square" rtlCol="0">
              <a:spAutoFit/>
            </a:bodyPr>
            <a:lstStyle/>
            <a:p>
              <a:r>
                <a:rPr lang="en-US" sz="2000" b="0" dirty="0" err="1">
                  <a:solidFill>
                    <a:srgbClr val="7030A0"/>
                  </a:solidFill>
                </a:rPr>
                <a:t>E.type</a:t>
              </a:r>
              <a:r>
                <a:rPr lang="en-US" sz="2000" b="0" dirty="0">
                  <a:solidFill>
                    <a:srgbClr val="7030A0"/>
                  </a:solidFill>
                </a:rPr>
                <a:t>= </a:t>
              </a:r>
              <a:r>
                <a:rPr lang="en-US" sz="2000" b="0" dirty="0" err="1">
                  <a:solidFill>
                    <a:srgbClr val="7030A0"/>
                  </a:solidFill>
                </a:rPr>
                <a:t>int</a:t>
              </a:r>
              <a:endParaRPr lang="en-US" sz="2000" b="0" dirty="0">
                <a:solidFill>
                  <a:srgbClr val="7030A0"/>
                </a:solidFill>
              </a:endParaRPr>
            </a:p>
          </p:txBody>
        </p:sp>
        <p:cxnSp>
          <p:nvCxnSpPr>
            <p:cNvPr id="6" name="Straight Arrow Connector 5"/>
            <p:cNvCxnSpPr/>
            <p:nvPr/>
          </p:nvCxnSpPr>
          <p:spPr bwMode="auto">
            <a:xfrm flipH="1">
              <a:off x="3926655" y="3892634"/>
              <a:ext cx="264345" cy="1697697"/>
            </a:xfrm>
            <a:prstGeom prst="straightConnector1">
              <a:avLst/>
            </a:prstGeom>
            <a:solidFill>
              <a:schemeClr val="accent1"/>
            </a:solidFill>
            <a:ln w="9525" cap="flat" cmpd="sng" algn="ctr">
              <a:solidFill>
                <a:schemeClr val="tx1"/>
              </a:solidFill>
              <a:prstDash val="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Arrow Connector 10"/>
            <p:cNvCxnSpPr/>
            <p:nvPr/>
          </p:nvCxnSpPr>
          <p:spPr bwMode="auto">
            <a:xfrm flipH="1">
              <a:off x="4560147" y="3892054"/>
              <a:ext cx="693137" cy="1698277"/>
            </a:xfrm>
            <a:prstGeom prst="straightConnector1">
              <a:avLst/>
            </a:prstGeom>
            <a:solidFill>
              <a:schemeClr val="accent1"/>
            </a:solidFill>
            <a:ln w="9525" cap="flat" cmpd="sng" algn="ctr">
              <a:solidFill>
                <a:schemeClr val="tx1"/>
              </a:solidFill>
              <a:prstDash val="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8" name="Group 27"/>
          <p:cNvGrpSpPr/>
          <p:nvPr/>
        </p:nvGrpSpPr>
        <p:grpSpPr>
          <a:xfrm>
            <a:off x="6400177" y="2988253"/>
            <a:ext cx="2180347" cy="1897210"/>
            <a:chOff x="6400177" y="2988253"/>
            <a:chExt cx="2180347" cy="1897210"/>
          </a:xfrm>
        </p:grpSpPr>
        <p:sp>
          <p:nvSpPr>
            <p:cNvPr id="117" name="TextBox 116"/>
            <p:cNvSpPr txBox="1"/>
            <p:nvPr/>
          </p:nvSpPr>
          <p:spPr>
            <a:xfrm>
              <a:off x="7181311" y="4485353"/>
              <a:ext cx="1399213" cy="400110"/>
            </a:xfrm>
            <a:prstGeom prst="rect">
              <a:avLst/>
            </a:prstGeom>
            <a:noFill/>
          </p:spPr>
          <p:txBody>
            <a:bodyPr wrap="square" rtlCol="0">
              <a:spAutoFit/>
            </a:bodyPr>
            <a:lstStyle/>
            <a:p>
              <a:r>
                <a:rPr lang="en-US" sz="2000" b="0" dirty="0" err="1">
                  <a:solidFill>
                    <a:srgbClr val="7030A0"/>
                  </a:solidFill>
                </a:rPr>
                <a:t>E.type</a:t>
              </a:r>
              <a:r>
                <a:rPr lang="en-US" sz="2000" b="0" dirty="0">
                  <a:solidFill>
                    <a:srgbClr val="7030A0"/>
                  </a:solidFill>
                </a:rPr>
                <a:t>= </a:t>
              </a:r>
              <a:r>
                <a:rPr lang="en-US" sz="2000" b="0" dirty="0" err="1">
                  <a:solidFill>
                    <a:srgbClr val="7030A0"/>
                  </a:solidFill>
                </a:rPr>
                <a:t>int</a:t>
              </a:r>
              <a:endParaRPr lang="en-US" sz="2000" b="0" dirty="0">
                <a:solidFill>
                  <a:srgbClr val="7030A0"/>
                </a:solidFill>
              </a:endParaRPr>
            </a:p>
          </p:txBody>
        </p:sp>
        <p:cxnSp>
          <p:nvCxnSpPr>
            <p:cNvPr id="17" name="Straight Arrow Connector 16"/>
            <p:cNvCxnSpPr>
              <a:endCxn id="117" idx="0"/>
            </p:cNvCxnSpPr>
            <p:nvPr/>
          </p:nvCxnSpPr>
          <p:spPr bwMode="auto">
            <a:xfrm>
              <a:off x="6400177" y="2988253"/>
              <a:ext cx="1480741" cy="1497100"/>
            </a:xfrm>
            <a:prstGeom prst="straightConnector1">
              <a:avLst/>
            </a:prstGeom>
            <a:solidFill>
              <a:schemeClr val="accent1"/>
            </a:solidFill>
            <a:ln w="9525" cap="flat" cmpd="sng" algn="ctr">
              <a:solidFill>
                <a:schemeClr val="accent6">
                  <a:lumMod val="60000"/>
                  <a:lumOff val="40000"/>
                </a:schemeClr>
              </a:solidFill>
              <a:prstDash val="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7" name="Group 26"/>
          <p:cNvGrpSpPr/>
          <p:nvPr/>
        </p:nvGrpSpPr>
        <p:grpSpPr>
          <a:xfrm>
            <a:off x="4919881" y="2496171"/>
            <a:ext cx="3460047" cy="3540669"/>
            <a:chOff x="4919881" y="2496171"/>
            <a:chExt cx="3460047" cy="3540669"/>
          </a:xfrm>
        </p:grpSpPr>
        <p:sp>
          <p:nvSpPr>
            <p:cNvPr id="116" name="TextBox 115"/>
            <p:cNvSpPr txBox="1"/>
            <p:nvPr/>
          </p:nvSpPr>
          <p:spPr>
            <a:xfrm>
              <a:off x="6051917" y="5636730"/>
              <a:ext cx="2328011" cy="400110"/>
            </a:xfrm>
            <a:prstGeom prst="rect">
              <a:avLst/>
            </a:prstGeom>
            <a:noFill/>
          </p:spPr>
          <p:txBody>
            <a:bodyPr wrap="square" rtlCol="0">
              <a:spAutoFit/>
            </a:bodyPr>
            <a:lstStyle/>
            <a:p>
              <a:r>
                <a:rPr lang="en-US" sz="2000" b="0" dirty="0" err="1">
                  <a:solidFill>
                    <a:srgbClr val="7030A0"/>
                  </a:solidFill>
                </a:rPr>
                <a:t>E.type</a:t>
              </a:r>
              <a:r>
                <a:rPr lang="en-US" sz="2000" b="0" dirty="0">
                  <a:solidFill>
                    <a:srgbClr val="7030A0"/>
                  </a:solidFill>
                </a:rPr>
                <a:t>= </a:t>
              </a:r>
              <a:r>
                <a:rPr lang="en-US" sz="2000" b="0" dirty="0" err="1">
                  <a:solidFill>
                    <a:srgbClr val="7030A0"/>
                  </a:solidFill>
                </a:rPr>
                <a:t>Arr</a:t>
              </a:r>
              <a:r>
                <a:rPr lang="en-US" sz="2000" b="0" dirty="0">
                  <a:solidFill>
                    <a:srgbClr val="7030A0"/>
                  </a:solidFill>
                </a:rPr>
                <a:t>(20,int)</a:t>
              </a:r>
            </a:p>
          </p:txBody>
        </p:sp>
        <p:cxnSp>
          <p:nvCxnSpPr>
            <p:cNvPr id="21" name="Straight Arrow Connector 20"/>
            <p:cNvCxnSpPr>
              <a:stCxn id="25" idx="5"/>
              <a:endCxn id="116" idx="0"/>
            </p:cNvCxnSpPr>
            <p:nvPr/>
          </p:nvCxnSpPr>
          <p:spPr bwMode="auto">
            <a:xfrm>
              <a:off x="5510957" y="3026034"/>
              <a:ext cx="1704966" cy="2610696"/>
            </a:xfrm>
            <a:prstGeom prst="straightConnector1">
              <a:avLst/>
            </a:prstGeom>
            <a:solidFill>
              <a:schemeClr val="accent1"/>
            </a:solidFill>
            <a:ln w="9525" cap="flat" cmpd="sng" algn="ctr">
              <a:solidFill>
                <a:schemeClr val="accent6">
                  <a:lumMod val="60000"/>
                  <a:lumOff val="40000"/>
                </a:schemeClr>
              </a:solidFill>
              <a:prstDash val="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Oval 24"/>
            <p:cNvSpPr/>
            <p:nvPr/>
          </p:nvSpPr>
          <p:spPr bwMode="auto">
            <a:xfrm>
              <a:off x="4919881" y="2496171"/>
              <a:ext cx="692489" cy="620773"/>
            </a:xfrm>
            <a:prstGeom prst="ellipse">
              <a:avLst/>
            </a:prstGeom>
            <a:noFill/>
            <a:ln w="9525"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Arial" panose="020B0604020202020204" pitchFamily="34" charset="0"/>
              </a:endParaRPr>
            </a:p>
          </p:txBody>
        </p:sp>
      </p:grpSp>
      <p:grpSp>
        <p:nvGrpSpPr>
          <p:cNvPr id="30" name="Group 29"/>
          <p:cNvGrpSpPr/>
          <p:nvPr/>
        </p:nvGrpSpPr>
        <p:grpSpPr>
          <a:xfrm>
            <a:off x="5823772" y="1646374"/>
            <a:ext cx="3187031" cy="2285657"/>
            <a:chOff x="5823772" y="1646374"/>
            <a:chExt cx="3187031" cy="2285657"/>
          </a:xfrm>
        </p:grpSpPr>
        <p:sp>
          <p:nvSpPr>
            <p:cNvPr id="118" name="TextBox 117"/>
            <p:cNvSpPr txBox="1"/>
            <p:nvPr/>
          </p:nvSpPr>
          <p:spPr>
            <a:xfrm>
              <a:off x="7611590" y="3531921"/>
              <a:ext cx="1399213" cy="400110"/>
            </a:xfrm>
            <a:prstGeom prst="rect">
              <a:avLst/>
            </a:prstGeom>
            <a:noFill/>
          </p:spPr>
          <p:txBody>
            <a:bodyPr wrap="square" rtlCol="0">
              <a:spAutoFit/>
            </a:bodyPr>
            <a:lstStyle/>
            <a:p>
              <a:r>
                <a:rPr lang="en-US" sz="2000" b="0" dirty="0" err="1">
                  <a:solidFill>
                    <a:srgbClr val="7030A0"/>
                  </a:solidFill>
                </a:rPr>
                <a:t>E.type</a:t>
              </a:r>
              <a:r>
                <a:rPr lang="en-US" sz="2000" b="0" dirty="0">
                  <a:solidFill>
                    <a:srgbClr val="7030A0"/>
                  </a:solidFill>
                </a:rPr>
                <a:t>= </a:t>
              </a:r>
              <a:r>
                <a:rPr lang="en-US" sz="2000" b="0" dirty="0" err="1">
                  <a:solidFill>
                    <a:srgbClr val="7030A0"/>
                  </a:solidFill>
                </a:rPr>
                <a:t>int</a:t>
              </a:r>
              <a:endParaRPr lang="en-US" sz="2000" b="0" dirty="0">
                <a:solidFill>
                  <a:srgbClr val="7030A0"/>
                </a:solidFill>
              </a:endParaRPr>
            </a:p>
          </p:txBody>
        </p:sp>
        <p:cxnSp>
          <p:nvCxnSpPr>
            <p:cNvPr id="15" name="Straight Arrow Connector 14"/>
            <p:cNvCxnSpPr>
              <a:endCxn id="118" idx="0"/>
            </p:cNvCxnSpPr>
            <p:nvPr/>
          </p:nvCxnSpPr>
          <p:spPr bwMode="auto">
            <a:xfrm>
              <a:off x="6304951" y="1901086"/>
              <a:ext cx="2006246" cy="1630835"/>
            </a:xfrm>
            <a:prstGeom prst="straightConnector1">
              <a:avLst/>
            </a:prstGeom>
            <a:solidFill>
              <a:schemeClr val="accent1"/>
            </a:solidFill>
            <a:ln w="9525" cap="flat" cmpd="sng" algn="ctr">
              <a:solidFill>
                <a:schemeClr val="accent6">
                  <a:lumMod val="60000"/>
                  <a:lumOff val="40000"/>
                </a:schemeClr>
              </a:solidFill>
              <a:prstDash val="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Oval 28"/>
            <p:cNvSpPr/>
            <p:nvPr/>
          </p:nvSpPr>
          <p:spPr bwMode="auto">
            <a:xfrm>
              <a:off x="5823772" y="1646374"/>
              <a:ext cx="540728" cy="449263"/>
            </a:xfrm>
            <a:prstGeom prst="ellipse">
              <a:avLst/>
            </a:prstGeom>
            <a:noFill/>
            <a:ln w="9525" cap="flat" cmpd="sng" algn="ctr">
              <a:solidFill>
                <a:schemeClr val="accent6">
                  <a:lumMod val="60000"/>
                  <a:lumOff val="40000"/>
                </a:schemeClr>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1671605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0546F080-0219-4E50-BEB6-FC8B4FB7006C}" type="slidenum">
              <a:rPr lang="en-US" altLang="en-US" sz="1400" b="0"/>
              <a:pPr/>
              <a:t>61</a:t>
            </a:fld>
            <a:endParaRPr lang="en-US" altLang="en-US" sz="1400" b="0"/>
          </a:p>
        </p:txBody>
      </p:sp>
      <p:sp>
        <p:nvSpPr>
          <p:cNvPr id="64515" name="Rectangle 2"/>
          <p:cNvSpPr>
            <a:spLocks noGrp="1" noChangeArrowheads="1"/>
          </p:cNvSpPr>
          <p:nvPr>
            <p:ph type="title"/>
          </p:nvPr>
        </p:nvSpPr>
        <p:spPr/>
        <p:txBody>
          <a:bodyPr/>
          <a:lstStyle/>
          <a:p>
            <a:pPr eaLnBrk="1" hangingPunct="1"/>
            <a:r>
              <a:rPr lang="en-US" altLang="en-US" sz="2800" b="1"/>
              <a:t>Bộ kiểm tra kiểu của câu lệnh</a:t>
            </a:r>
          </a:p>
        </p:txBody>
      </p:sp>
      <p:sp>
        <p:nvSpPr>
          <p:cNvPr id="64516"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pic>
        <p:nvPicPr>
          <p:cNvPr id="6451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725738"/>
            <a:ext cx="8763000" cy="40560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64518" name="Text Box 5"/>
          <p:cNvSpPr txBox="1">
            <a:spLocks noChangeArrowheads="1"/>
          </p:cNvSpPr>
          <p:nvPr/>
        </p:nvSpPr>
        <p:spPr bwMode="auto">
          <a:xfrm>
            <a:off x="304800" y="990600"/>
            <a:ext cx="8534400" cy="169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7663" indent="-347663">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20000"/>
              </a:spcBef>
              <a:buFontTx/>
              <a:buChar char="•"/>
            </a:pPr>
            <a:r>
              <a:rPr lang="fr-FR" altLang="en-US" sz="2400" b="0">
                <a:solidFill>
                  <a:srgbClr val="270076"/>
                </a:solidFill>
              </a:rPr>
              <a:t>Với các câu lệnh không có giá trị (</a:t>
            </a:r>
            <a:r>
              <a:rPr lang="fr-FR" altLang="en-US" sz="2400" b="0" i="1">
                <a:solidFill>
                  <a:srgbClr val="3539EB"/>
                </a:solidFill>
              </a:rPr>
              <a:t>lệnh gán, lệnh gộp,..</a:t>
            </a:r>
            <a:r>
              <a:rPr lang="fr-FR" altLang="en-US" sz="2400" b="0">
                <a:solidFill>
                  <a:srgbClr val="270076"/>
                </a:solidFill>
              </a:rPr>
              <a:t>) sẽ có kiểu cơ sở </a:t>
            </a:r>
            <a:r>
              <a:rPr lang="fr-FR" altLang="en-US" sz="2400" b="0">
                <a:solidFill>
                  <a:srgbClr val="3539EB"/>
                </a:solidFill>
              </a:rPr>
              <a:t>void</a:t>
            </a:r>
          </a:p>
          <a:p>
            <a:pPr eaLnBrk="1" hangingPunct="1">
              <a:spcBef>
                <a:spcPct val="20000"/>
              </a:spcBef>
              <a:buFontTx/>
              <a:buChar char="•"/>
            </a:pPr>
            <a:r>
              <a:rPr lang="fr-FR" altLang="en-US" sz="2400" b="0">
                <a:solidFill>
                  <a:srgbClr val="270076"/>
                </a:solidFill>
              </a:rPr>
              <a:t>Lỗi trong câu lệnh thì kiểu của lệnh là:  </a:t>
            </a:r>
            <a:r>
              <a:rPr lang="fr-FR" altLang="en-US" sz="2400" b="0">
                <a:solidFill>
                  <a:srgbClr val="3539EB"/>
                </a:solidFill>
              </a:rPr>
              <a:t>type_error</a:t>
            </a:r>
          </a:p>
          <a:p>
            <a:pPr eaLnBrk="1" hangingPunct="1">
              <a:spcBef>
                <a:spcPct val="20000"/>
              </a:spcBef>
              <a:buFontTx/>
              <a:buChar char="•"/>
            </a:pPr>
            <a:r>
              <a:rPr lang="fr-FR" altLang="en-US" sz="2400" b="0">
                <a:solidFill>
                  <a:srgbClr val="270076"/>
                </a:solidFill>
              </a:rPr>
              <a:t>Một chương trình hoàn chỉnh có thêm luật </a:t>
            </a:r>
            <a:r>
              <a:rPr lang="fr-FR" altLang="en-US" sz="2400">
                <a:solidFill>
                  <a:srgbClr val="3539EB"/>
                </a:solidFill>
              </a:rPr>
              <a:t>P </a:t>
            </a:r>
            <a:r>
              <a:rPr lang="fr-FR" altLang="en-US" sz="2400">
                <a:solidFill>
                  <a:srgbClr val="3539EB"/>
                </a:solidFill>
                <a:sym typeface="Symbol" panose="05050102010706020507" pitchFamily="18" charset="2"/>
              </a:rPr>
              <a:t> D; 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0546F080-0219-4E50-BEB6-FC8B4FB7006C}" type="slidenum">
              <a:rPr lang="en-US" altLang="en-US" sz="1400" b="0"/>
              <a:pPr/>
              <a:t>62</a:t>
            </a:fld>
            <a:endParaRPr lang="en-US" altLang="en-US" sz="1400" b="0"/>
          </a:p>
        </p:txBody>
      </p:sp>
      <p:sp>
        <p:nvSpPr>
          <p:cNvPr id="64515" name="Rectangle 2"/>
          <p:cNvSpPr>
            <a:spLocks noGrp="1" noChangeArrowheads="1"/>
          </p:cNvSpPr>
          <p:nvPr>
            <p:ph type="title"/>
          </p:nvPr>
        </p:nvSpPr>
        <p:spPr/>
        <p:txBody>
          <a:bodyPr/>
          <a:lstStyle/>
          <a:p>
            <a:pPr eaLnBrk="1" hangingPunct="1"/>
            <a:r>
              <a:rPr lang="en-US" altLang="en-US" sz="2800" b="1" dirty="0" err="1"/>
              <a:t>Bộ</a:t>
            </a:r>
            <a:r>
              <a:rPr lang="en-US" altLang="en-US" sz="2800" b="1" dirty="0"/>
              <a:t> </a:t>
            </a:r>
            <a:r>
              <a:rPr lang="en-US" altLang="en-US" sz="2800" b="1" dirty="0" err="1"/>
              <a:t>kiểm</a:t>
            </a:r>
            <a:r>
              <a:rPr lang="en-US" altLang="en-US" sz="2800" b="1" dirty="0"/>
              <a:t> </a:t>
            </a:r>
            <a:r>
              <a:rPr lang="en-US" altLang="en-US" sz="2800" b="1" dirty="0" err="1"/>
              <a:t>tra</a:t>
            </a:r>
            <a:r>
              <a:rPr lang="en-US" altLang="en-US" sz="2800" b="1" dirty="0"/>
              <a:t> </a:t>
            </a:r>
            <a:r>
              <a:rPr lang="en-US" altLang="en-US" sz="2800" b="1" dirty="0" err="1"/>
              <a:t>kiểu</a:t>
            </a:r>
            <a:r>
              <a:rPr lang="en-US" altLang="en-US" sz="2800" b="1" dirty="0"/>
              <a:t> </a:t>
            </a:r>
            <a:r>
              <a:rPr lang="en-US" altLang="en-US" sz="2800" b="1" dirty="0" err="1"/>
              <a:t>của</a:t>
            </a:r>
            <a:r>
              <a:rPr lang="en-US" altLang="en-US" sz="2800" b="1" dirty="0"/>
              <a:t> </a:t>
            </a:r>
            <a:r>
              <a:rPr lang="en-US" altLang="en-US" sz="2800" b="1" dirty="0" err="1"/>
              <a:t>câu</a:t>
            </a:r>
            <a:r>
              <a:rPr lang="en-US" altLang="en-US" sz="2800" b="1" dirty="0"/>
              <a:t> </a:t>
            </a:r>
            <a:r>
              <a:rPr lang="en-US" altLang="en-US" sz="2800" b="1" dirty="0" err="1"/>
              <a:t>lệnh</a:t>
            </a:r>
            <a:r>
              <a:rPr lang="en-US" altLang="en-US" sz="2800" b="1" dirty="0">
                <a:sym typeface="Symbol" panose="05050102010706020507" pitchFamily="18" charset="2"/>
              </a:rPr>
              <a:t> </a:t>
            </a:r>
            <a:r>
              <a:rPr lang="en-US" altLang="en-US" sz="2800" b="1" dirty="0" err="1">
                <a:sym typeface="Symbol" panose="05050102010706020507" pitchFamily="18" charset="2"/>
              </a:rPr>
              <a:t>Ví</a:t>
            </a:r>
            <a:r>
              <a:rPr lang="en-US" altLang="en-US" sz="2800" b="1" dirty="0">
                <a:sym typeface="Symbol" panose="05050102010706020507" pitchFamily="18" charset="2"/>
              </a:rPr>
              <a:t> </a:t>
            </a:r>
            <a:r>
              <a:rPr lang="en-US" altLang="en-US" sz="2800" b="1" dirty="0" err="1">
                <a:sym typeface="Symbol" panose="05050102010706020507" pitchFamily="18" charset="2"/>
              </a:rPr>
              <a:t>dụ</a:t>
            </a:r>
            <a:r>
              <a:rPr lang="en-US" altLang="en-US" sz="2800" b="1" dirty="0">
                <a:sym typeface="Symbol" panose="05050102010706020507" pitchFamily="18" charset="2"/>
              </a:rPr>
              <a:t> </a:t>
            </a:r>
            <a:endParaRPr lang="en-US" altLang="en-US" sz="2800" b="1" dirty="0"/>
          </a:p>
        </p:txBody>
      </p:sp>
      <p:sp>
        <p:nvSpPr>
          <p:cNvPr id="64516"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sp>
        <p:nvSpPr>
          <p:cNvPr id="64518" name="Text Box 5"/>
          <p:cNvSpPr txBox="1">
            <a:spLocks noChangeArrowheads="1"/>
          </p:cNvSpPr>
          <p:nvPr/>
        </p:nvSpPr>
        <p:spPr bwMode="auto">
          <a:xfrm>
            <a:off x="215625" y="814489"/>
            <a:ext cx="3657600" cy="147117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7663" indent="-347663">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marL="0" indent="0" eaLnBrk="1" hangingPunct="1">
              <a:buFontTx/>
              <a:buNone/>
              <a:defRPr/>
            </a:pPr>
            <a:r>
              <a:rPr lang="en-US" sz="2800" b="0" dirty="0">
                <a:solidFill>
                  <a:srgbClr val="7030A0"/>
                </a:solidFill>
              </a:rPr>
              <a:t>N : integer;</a:t>
            </a:r>
          </a:p>
          <a:p>
            <a:pPr marL="0" indent="0" eaLnBrk="1" hangingPunct="1">
              <a:buFontTx/>
              <a:buNone/>
              <a:defRPr/>
            </a:pPr>
            <a:r>
              <a:rPr lang="en-US" sz="2800" b="0" dirty="0">
                <a:solidFill>
                  <a:srgbClr val="7030A0"/>
                </a:solidFill>
              </a:rPr>
              <a:t>A : Array[10] of Char;</a:t>
            </a:r>
          </a:p>
          <a:p>
            <a:pPr marL="0" indent="0" eaLnBrk="1" hangingPunct="1">
              <a:spcBef>
                <a:spcPct val="20000"/>
              </a:spcBef>
            </a:pPr>
            <a:r>
              <a:rPr lang="fr-FR" altLang="en-US" sz="2800" b="0" dirty="0">
                <a:solidFill>
                  <a:srgbClr val="7030A0"/>
                </a:solidFill>
                <a:sym typeface="Symbol" panose="05050102010706020507" pitchFamily="18" charset="2"/>
              </a:rPr>
              <a:t>N := A[5] </a:t>
            </a:r>
            <a:r>
              <a:rPr lang="fr-FR" altLang="en-US" sz="2800" b="0" dirty="0" err="1">
                <a:solidFill>
                  <a:srgbClr val="7030A0"/>
                </a:solidFill>
                <a:sym typeface="Symbol" panose="05050102010706020507" pitchFamily="18" charset="2"/>
              </a:rPr>
              <a:t>Mod</a:t>
            </a:r>
            <a:r>
              <a:rPr lang="fr-FR" altLang="en-US" sz="2800" b="0" dirty="0">
                <a:solidFill>
                  <a:srgbClr val="7030A0"/>
                </a:solidFill>
                <a:sym typeface="Symbol" panose="05050102010706020507" pitchFamily="18" charset="2"/>
              </a:rPr>
              <a:t> 10;</a:t>
            </a:r>
          </a:p>
        </p:txBody>
      </p:sp>
      <p:graphicFrame>
        <p:nvGraphicFramePr>
          <p:cNvPr id="14" name="Group 48"/>
          <p:cNvGraphicFramePr>
            <a:graphicFrameLocks/>
          </p:cNvGraphicFramePr>
          <p:nvPr>
            <p:extLst>
              <p:ext uri="{D42A27DB-BD31-4B8C-83A1-F6EECF244321}">
                <p14:modId xmlns:p14="http://schemas.microsoft.com/office/powerpoint/2010/main" val="95741945"/>
              </p:ext>
            </p:extLst>
          </p:nvPr>
        </p:nvGraphicFramePr>
        <p:xfrm>
          <a:off x="262262" y="4214344"/>
          <a:ext cx="3419308" cy="2253636"/>
        </p:xfrm>
        <a:graphic>
          <a:graphicData uri="http://schemas.openxmlformats.org/drawingml/2006/table">
            <a:tbl>
              <a:tblPr/>
              <a:tblGrid>
                <a:gridCol w="676108">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tblGrid>
              <a:tr h="458950">
                <a:tc gridSpan="3">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fr-FR" altLang="en-US" sz="2400" b="0" i="0" u="none" strike="noStrike" cap="none" normalizeH="0" baseline="0" dirty="0" err="1">
                          <a:ln>
                            <a:noFill/>
                          </a:ln>
                          <a:solidFill>
                            <a:srgbClr val="270076"/>
                          </a:solidFill>
                          <a:effectLst/>
                          <a:latin typeface="Arial" panose="020B0604020202020204" pitchFamily="34" charset="0"/>
                        </a:rPr>
                        <a:t>SymTab</a:t>
                      </a:r>
                      <a:endParaRPr kumimoji="0" lang="en-US" altLang="en-US" sz="24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4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9106">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Name</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Obj</a:t>
                      </a:r>
                      <a:endParaRPr kumimoji="0" lang="en-US" altLang="en-US" sz="2000" b="0" i="0" u="none" strike="noStrike" cap="none" normalizeH="0" baseline="0" dirty="0">
                        <a:ln>
                          <a:noFill/>
                        </a:ln>
                        <a:solidFill>
                          <a:srgbClr val="270076"/>
                        </a:solidFill>
                        <a:effectLst/>
                        <a:latin typeface="Arial" panose="020B0604020202020204" pitchFamily="34"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Type</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tc>
                  <a:txBody>
                    <a:bodyPr/>
                    <a:lstStyle>
                      <a:lvl1pPr>
                        <a:spcBef>
                          <a:spcPct val="20000"/>
                        </a:spcBef>
                        <a:defRPr sz="2800">
                          <a:solidFill>
                            <a:srgbClr val="270076"/>
                          </a:solidFill>
                          <a:latin typeface="Arial" panose="020B0604020202020204" pitchFamily="34" charset="0"/>
                        </a:defRPr>
                      </a:lvl1pPr>
                      <a:lvl2pPr>
                        <a:spcBef>
                          <a:spcPct val="20000"/>
                        </a:spcBef>
                        <a:defRPr sz="2400">
                          <a:solidFill>
                            <a:srgbClr val="270076"/>
                          </a:solidFill>
                          <a:latin typeface="Arial" panose="020B0604020202020204" pitchFamily="34" charset="0"/>
                        </a:defRPr>
                      </a:lvl2pPr>
                      <a:lvl3pPr>
                        <a:spcBef>
                          <a:spcPct val="20000"/>
                        </a:spcBef>
                        <a:defRPr sz="2000">
                          <a:solidFill>
                            <a:srgbClr val="270076"/>
                          </a:solidFill>
                          <a:latin typeface="Arial" panose="020B0604020202020204" pitchFamily="34" charset="0"/>
                        </a:defRPr>
                      </a:lvl3pPr>
                      <a:lvl4pPr>
                        <a:spcBef>
                          <a:spcPct val="20000"/>
                        </a:spcBef>
                        <a:defRPr>
                          <a:solidFill>
                            <a:srgbClr val="270076"/>
                          </a:solidFill>
                          <a:latin typeface="Arial" panose="020B0604020202020204" pitchFamily="34" charset="0"/>
                        </a:defRPr>
                      </a:lvl4pPr>
                      <a:lvl5pPr>
                        <a:spcBef>
                          <a:spcPct val="20000"/>
                        </a:spcBef>
                        <a:defRPr>
                          <a:solidFill>
                            <a:srgbClr val="270076"/>
                          </a:solidFill>
                          <a:latin typeface="Arial" panose="020B0604020202020204" pitchFamily="34" charset="0"/>
                        </a:defRPr>
                      </a:lvl5pPr>
                      <a:lvl6pPr fontAlgn="base">
                        <a:spcBef>
                          <a:spcPct val="20000"/>
                        </a:spcBef>
                        <a:spcAft>
                          <a:spcPct val="0"/>
                        </a:spcAft>
                        <a:defRPr>
                          <a:solidFill>
                            <a:srgbClr val="270076"/>
                          </a:solidFill>
                          <a:latin typeface="Arial" panose="020B0604020202020204" pitchFamily="34" charset="0"/>
                        </a:defRPr>
                      </a:lvl6pPr>
                      <a:lvl7pPr fontAlgn="base">
                        <a:spcBef>
                          <a:spcPct val="20000"/>
                        </a:spcBef>
                        <a:spcAft>
                          <a:spcPct val="0"/>
                        </a:spcAft>
                        <a:defRPr>
                          <a:solidFill>
                            <a:srgbClr val="270076"/>
                          </a:solidFill>
                          <a:latin typeface="Arial" panose="020B0604020202020204" pitchFamily="34" charset="0"/>
                        </a:defRPr>
                      </a:lvl7pPr>
                      <a:lvl8pPr fontAlgn="base">
                        <a:spcBef>
                          <a:spcPct val="20000"/>
                        </a:spcBef>
                        <a:spcAft>
                          <a:spcPct val="0"/>
                        </a:spcAft>
                        <a:defRPr>
                          <a:solidFill>
                            <a:srgbClr val="270076"/>
                          </a:solidFill>
                          <a:latin typeface="Arial" panose="020B0604020202020204" pitchFamily="34" charset="0"/>
                        </a:defRPr>
                      </a:lvl8pPr>
                      <a:lvl9pPr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Type</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B8FE"/>
                    </a:solidFill>
                  </a:tcPr>
                </a:tc>
                <a:extLst>
                  <a:ext uri="{0D108BD9-81ED-4DB2-BD59-A6C34878D82A}">
                    <a16:rowId xmlns:a16="http://schemas.microsoft.com/office/drawing/2014/main" val="10001"/>
                  </a:ext>
                </a:extLst>
              </a:tr>
              <a:tr h="546464">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N</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Var</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Int</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6222">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a:ln>
                            <a:noFill/>
                          </a:ln>
                          <a:solidFill>
                            <a:srgbClr val="270076"/>
                          </a:solidFill>
                          <a:effectLst/>
                          <a:latin typeface="Arial" panose="020B0604020202020204" pitchFamily="34" charset="0"/>
                        </a:rPr>
                        <a:t>A</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Var</a:t>
                      </a:r>
                      <a:endParaRPr kumimoji="0" lang="en-US" altLang="en-US" sz="2000" b="0" i="0" u="none" strike="noStrike" cap="none" normalizeH="0" baseline="0" dirty="0">
                        <a:ln>
                          <a:noFill/>
                        </a:ln>
                        <a:solidFill>
                          <a:srgbClr val="270076"/>
                        </a:solidFill>
                        <a:effectLst/>
                        <a:latin typeface="Arial" panose="020B0604020202020204" pitchFamily="34" charset="0"/>
                      </a:endParaRP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Tx/>
                        <a:buSzTx/>
                        <a:buFontTx/>
                        <a:buNone/>
                        <a:tabLst/>
                      </a:pPr>
                      <a:r>
                        <a:rPr kumimoji="0" lang="en-US" altLang="en-US" sz="2000" b="0" i="0" u="none" strike="noStrike" cap="none" normalizeH="0" baseline="0" dirty="0" err="1">
                          <a:ln>
                            <a:noFill/>
                          </a:ln>
                          <a:solidFill>
                            <a:srgbClr val="270076"/>
                          </a:solidFill>
                          <a:effectLst/>
                          <a:latin typeface="Arial" panose="020B0604020202020204" pitchFamily="34" charset="0"/>
                        </a:rPr>
                        <a:t>Arr</a:t>
                      </a:r>
                      <a:r>
                        <a:rPr kumimoji="0" lang="en-US" altLang="en-US" sz="2000" b="0" i="0" u="none" strike="noStrike" cap="none" normalizeH="0" baseline="0" dirty="0">
                          <a:ln>
                            <a:noFill/>
                          </a:ln>
                          <a:solidFill>
                            <a:srgbClr val="270076"/>
                          </a:solidFill>
                          <a:effectLst/>
                          <a:latin typeface="Arial" panose="020B0604020202020204" pitchFamily="34" charset="0"/>
                        </a:rPr>
                        <a:t> (10,Char)</a:t>
                      </a:r>
                    </a:p>
                  </a:txBody>
                  <a:tcPr marL="91382" marR="9138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6" name="Group 5"/>
          <p:cNvGrpSpPr/>
          <p:nvPr/>
        </p:nvGrpSpPr>
        <p:grpSpPr>
          <a:xfrm>
            <a:off x="3985014" y="1012787"/>
            <a:ext cx="3101586" cy="1414691"/>
            <a:chOff x="4158077" y="1127538"/>
            <a:chExt cx="3101586" cy="1414691"/>
          </a:xfrm>
        </p:grpSpPr>
        <p:sp>
          <p:nvSpPr>
            <p:cNvPr id="8" name="Line 24"/>
            <p:cNvSpPr>
              <a:spLocks noChangeShapeType="1"/>
            </p:cNvSpPr>
            <p:nvPr/>
          </p:nvSpPr>
          <p:spPr bwMode="auto">
            <a:xfrm flipH="1">
              <a:off x="4438474" y="1441188"/>
              <a:ext cx="1010308" cy="639376"/>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9" name="Line 26"/>
            <p:cNvSpPr>
              <a:spLocks noChangeShapeType="1"/>
            </p:cNvSpPr>
            <p:nvPr/>
          </p:nvSpPr>
          <p:spPr bwMode="auto">
            <a:xfrm>
              <a:off x="5688731" y="1456284"/>
              <a:ext cx="1315505" cy="65895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10" name="Line 23"/>
            <p:cNvSpPr>
              <a:spLocks noChangeShapeType="1"/>
            </p:cNvSpPr>
            <p:nvPr/>
          </p:nvSpPr>
          <p:spPr bwMode="auto">
            <a:xfrm>
              <a:off x="5548615" y="1481292"/>
              <a:ext cx="4763"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11" name="Text Box 10"/>
            <p:cNvSpPr txBox="1">
              <a:spLocks noChangeArrowheads="1"/>
            </p:cNvSpPr>
            <p:nvPr/>
          </p:nvSpPr>
          <p:spPr bwMode="auto">
            <a:xfrm>
              <a:off x="5374123" y="1977059"/>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dirty="0">
                  <a:solidFill>
                    <a:srgbClr val="FF0000"/>
                  </a:solidFill>
                </a:rPr>
                <a:t>;</a:t>
              </a:r>
              <a:endParaRPr lang="en-US" altLang="en-US" sz="2400" dirty="0">
                <a:solidFill>
                  <a:srgbClr val="FF0000"/>
                </a:solidFill>
              </a:endParaRPr>
            </a:p>
          </p:txBody>
        </p:sp>
        <p:sp>
          <p:nvSpPr>
            <p:cNvPr id="12" name="Text Box 10"/>
            <p:cNvSpPr txBox="1">
              <a:spLocks noChangeArrowheads="1"/>
            </p:cNvSpPr>
            <p:nvPr/>
          </p:nvSpPr>
          <p:spPr bwMode="auto">
            <a:xfrm>
              <a:off x="4158077" y="1956650"/>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D</a:t>
              </a:r>
              <a:endParaRPr lang="en-US" altLang="en-US" sz="2400" b="0" dirty="0">
                <a:solidFill>
                  <a:srgbClr val="270076"/>
                </a:solidFill>
              </a:endParaRPr>
            </a:p>
          </p:txBody>
        </p:sp>
        <p:sp>
          <p:nvSpPr>
            <p:cNvPr id="13" name="Text Box 10"/>
            <p:cNvSpPr txBox="1">
              <a:spLocks noChangeArrowheads="1"/>
            </p:cNvSpPr>
            <p:nvPr/>
          </p:nvSpPr>
          <p:spPr bwMode="auto">
            <a:xfrm>
              <a:off x="6938988" y="2080564"/>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S</a:t>
              </a:r>
              <a:endParaRPr lang="en-US" altLang="en-US" sz="2400" b="0" dirty="0">
                <a:solidFill>
                  <a:srgbClr val="270076"/>
                </a:solidFill>
              </a:endParaRPr>
            </a:p>
          </p:txBody>
        </p:sp>
        <p:sp>
          <p:nvSpPr>
            <p:cNvPr id="15" name="Text Box 10"/>
            <p:cNvSpPr txBox="1">
              <a:spLocks noChangeArrowheads="1"/>
            </p:cNvSpPr>
            <p:nvPr/>
          </p:nvSpPr>
          <p:spPr bwMode="auto">
            <a:xfrm>
              <a:off x="5433304" y="1127538"/>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P</a:t>
              </a:r>
              <a:endParaRPr lang="en-US" altLang="en-US" sz="2400" b="0" dirty="0">
                <a:solidFill>
                  <a:srgbClr val="270076"/>
                </a:solidFill>
              </a:endParaRPr>
            </a:p>
          </p:txBody>
        </p:sp>
      </p:grpSp>
      <p:grpSp>
        <p:nvGrpSpPr>
          <p:cNvPr id="64513" name="Group 64512"/>
          <p:cNvGrpSpPr/>
          <p:nvPr/>
        </p:nvGrpSpPr>
        <p:grpSpPr>
          <a:xfrm>
            <a:off x="5803280" y="2381503"/>
            <a:ext cx="3194766" cy="4193417"/>
            <a:chOff x="5924238" y="2550668"/>
            <a:chExt cx="3194766" cy="4193417"/>
          </a:xfrm>
        </p:grpSpPr>
        <p:sp>
          <p:nvSpPr>
            <p:cNvPr id="16" name="Line 24"/>
            <p:cNvSpPr>
              <a:spLocks noChangeShapeType="1"/>
            </p:cNvSpPr>
            <p:nvPr/>
          </p:nvSpPr>
          <p:spPr bwMode="auto">
            <a:xfrm flipH="1">
              <a:off x="6432132" y="2550668"/>
              <a:ext cx="695873" cy="64373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17" name="Line 26"/>
            <p:cNvSpPr>
              <a:spLocks noChangeShapeType="1"/>
            </p:cNvSpPr>
            <p:nvPr/>
          </p:nvSpPr>
          <p:spPr bwMode="auto">
            <a:xfrm>
              <a:off x="7143517" y="2565560"/>
              <a:ext cx="743211" cy="628840"/>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18" name="Line 23"/>
            <p:cNvSpPr>
              <a:spLocks noChangeShapeType="1"/>
            </p:cNvSpPr>
            <p:nvPr/>
          </p:nvSpPr>
          <p:spPr bwMode="auto">
            <a:xfrm>
              <a:off x="7123242" y="2560193"/>
              <a:ext cx="4763"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19" name="Text Box 10"/>
            <p:cNvSpPr txBox="1">
              <a:spLocks noChangeArrowheads="1"/>
            </p:cNvSpPr>
            <p:nvPr/>
          </p:nvSpPr>
          <p:spPr bwMode="auto">
            <a:xfrm>
              <a:off x="6752808" y="3015806"/>
              <a:ext cx="6346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dirty="0">
                  <a:solidFill>
                    <a:srgbClr val="FF0000"/>
                  </a:solidFill>
                </a:rPr>
                <a:t>:=</a:t>
              </a:r>
              <a:endParaRPr lang="en-US" altLang="en-US" sz="2400" dirty="0">
                <a:solidFill>
                  <a:srgbClr val="FF0000"/>
                </a:solidFill>
              </a:endParaRPr>
            </a:p>
          </p:txBody>
        </p:sp>
        <p:sp>
          <p:nvSpPr>
            <p:cNvPr id="20" name="Text Box 10"/>
            <p:cNvSpPr txBox="1">
              <a:spLocks noChangeArrowheads="1"/>
            </p:cNvSpPr>
            <p:nvPr/>
          </p:nvSpPr>
          <p:spPr bwMode="auto">
            <a:xfrm>
              <a:off x="6019460" y="3120085"/>
              <a:ext cx="5480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Id</a:t>
              </a:r>
              <a:endParaRPr lang="en-US" altLang="en-US" sz="2400" b="0" dirty="0">
                <a:solidFill>
                  <a:srgbClr val="270076"/>
                </a:solidFill>
              </a:endParaRPr>
            </a:p>
          </p:txBody>
        </p:sp>
        <p:sp>
          <p:nvSpPr>
            <p:cNvPr id="21" name="Text Box 10"/>
            <p:cNvSpPr txBox="1">
              <a:spLocks noChangeArrowheads="1"/>
            </p:cNvSpPr>
            <p:nvPr/>
          </p:nvSpPr>
          <p:spPr bwMode="auto">
            <a:xfrm>
              <a:off x="7732662" y="3062876"/>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E</a:t>
              </a:r>
              <a:endParaRPr lang="en-US" altLang="en-US" sz="2400" b="0" dirty="0">
                <a:solidFill>
                  <a:srgbClr val="270076"/>
                </a:solidFill>
              </a:endParaRPr>
            </a:p>
          </p:txBody>
        </p:sp>
        <p:sp>
          <p:nvSpPr>
            <p:cNvPr id="22" name="Line 24"/>
            <p:cNvSpPr>
              <a:spLocks noChangeShapeType="1"/>
            </p:cNvSpPr>
            <p:nvPr/>
          </p:nvSpPr>
          <p:spPr bwMode="auto">
            <a:xfrm flipH="1">
              <a:off x="7176723" y="3479793"/>
              <a:ext cx="695873" cy="64373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23" name="Line 26"/>
            <p:cNvSpPr>
              <a:spLocks noChangeShapeType="1"/>
            </p:cNvSpPr>
            <p:nvPr/>
          </p:nvSpPr>
          <p:spPr bwMode="auto">
            <a:xfrm>
              <a:off x="7888108" y="3494685"/>
              <a:ext cx="743211" cy="628840"/>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24" name="Line 23"/>
            <p:cNvSpPr>
              <a:spLocks noChangeShapeType="1"/>
            </p:cNvSpPr>
            <p:nvPr/>
          </p:nvSpPr>
          <p:spPr bwMode="auto">
            <a:xfrm>
              <a:off x="7867833" y="3489318"/>
              <a:ext cx="4763"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25" name="Text Box 10"/>
            <p:cNvSpPr txBox="1">
              <a:spLocks noChangeArrowheads="1"/>
            </p:cNvSpPr>
            <p:nvPr/>
          </p:nvSpPr>
          <p:spPr bwMode="auto">
            <a:xfrm>
              <a:off x="7387446" y="3942609"/>
              <a:ext cx="90906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dirty="0" err="1">
                  <a:solidFill>
                    <a:srgbClr val="FF0000"/>
                  </a:solidFill>
                </a:rPr>
                <a:t>Mod</a:t>
              </a:r>
              <a:endParaRPr lang="en-US" altLang="en-US" sz="2400" dirty="0">
                <a:solidFill>
                  <a:srgbClr val="FF0000"/>
                </a:solidFill>
              </a:endParaRPr>
            </a:p>
          </p:txBody>
        </p:sp>
        <p:sp>
          <p:nvSpPr>
            <p:cNvPr id="26" name="Text Box 10"/>
            <p:cNvSpPr txBox="1">
              <a:spLocks noChangeArrowheads="1"/>
            </p:cNvSpPr>
            <p:nvPr/>
          </p:nvSpPr>
          <p:spPr bwMode="auto">
            <a:xfrm>
              <a:off x="6764051" y="4049210"/>
              <a:ext cx="5480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E</a:t>
              </a:r>
              <a:endParaRPr lang="en-US" altLang="en-US" sz="2400" b="0" dirty="0">
                <a:solidFill>
                  <a:srgbClr val="270076"/>
                </a:solidFill>
              </a:endParaRPr>
            </a:p>
          </p:txBody>
        </p:sp>
        <p:sp>
          <p:nvSpPr>
            <p:cNvPr id="27" name="Text Box 10"/>
            <p:cNvSpPr txBox="1">
              <a:spLocks noChangeArrowheads="1"/>
            </p:cNvSpPr>
            <p:nvPr/>
          </p:nvSpPr>
          <p:spPr bwMode="auto">
            <a:xfrm>
              <a:off x="8477253" y="3992001"/>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E</a:t>
              </a:r>
              <a:endParaRPr lang="en-US" altLang="en-US" sz="2400" b="0" dirty="0">
                <a:solidFill>
                  <a:srgbClr val="270076"/>
                </a:solidFill>
              </a:endParaRPr>
            </a:p>
          </p:txBody>
        </p:sp>
        <p:sp>
          <p:nvSpPr>
            <p:cNvPr id="28" name="Text Box 15"/>
            <p:cNvSpPr txBox="1">
              <a:spLocks noChangeArrowheads="1"/>
            </p:cNvSpPr>
            <p:nvPr/>
          </p:nvSpPr>
          <p:spPr bwMode="auto">
            <a:xfrm>
              <a:off x="5934908" y="4744920"/>
              <a:ext cx="19610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E   </a:t>
              </a:r>
              <a:r>
                <a:rPr lang="fr-FR" altLang="en-US" sz="2400" dirty="0">
                  <a:solidFill>
                    <a:srgbClr val="FF0000"/>
                  </a:solidFill>
                </a:rPr>
                <a:t>[</a:t>
              </a:r>
              <a:r>
                <a:rPr lang="fr-FR" altLang="en-US" sz="2400" b="0" dirty="0">
                  <a:solidFill>
                    <a:srgbClr val="270076"/>
                  </a:solidFill>
                </a:rPr>
                <a:t>    E   </a:t>
              </a:r>
              <a:r>
                <a:rPr lang="fr-FR" altLang="en-US" sz="2400" dirty="0">
                  <a:solidFill>
                    <a:srgbClr val="FF0000"/>
                  </a:solidFill>
                </a:rPr>
                <a:t>]</a:t>
              </a:r>
              <a:endParaRPr lang="en-US" altLang="en-US" sz="2400" baseline="-25000" dirty="0">
                <a:solidFill>
                  <a:srgbClr val="FF0000"/>
                </a:solidFill>
              </a:endParaRPr>
            </a:p>
          </p:txBody>
        </p:sp>
        <p:sp>
          <p:nvSpPr>
            <p:cNvPr id="29" name="Line 24"/>
            <p:cNvSpPr>
              <a:spLocks noChangeShapeType="1"/>
            </p:cNvSpPr>
            <p:nvPr/>
          </p:nvSpPr>
          <p:spPr bwMode="auto">
            <a:xfrm flipH="1">
              <a:off x="6349842" y="4404274"/>
              <a:ext cx="565579" cy="359376"/>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30" name="Line 24"/>
            <p:cNvSpPr>
              <a:spLocks noChangeShapeType="1"/>
            </p:cNvSpPr>
            <p:nvPr/>
          </p:nvSpPr>
          <p:spPr bwMode="auto">
            <a:xfrm flipH="1">
              <a:off x="6694083" y="4453666"/>
              <a:ext cx="221337" cy="327482"/>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31" name="Line 24"/>
            <p:cNvSpPr>
              <a:spLocks noChangeShapeType="1"/>
            </p:cNvSpPr>
            <p:nvPr/>
          </p:nvSpPr>
          <p:spPr bwMode="auto">
            <a:xfrm flipH="1" flipV="1">
              <a:off x="6955767" y="4408030"/>
              <a:ext cx="187750" cy="355619"/>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32" name="Line 24"/>
            <p:cNvSpPr>
              <a:spLocks noChangeShapeType="1"/>
            </p:cNvSpPr>
            <p:nvPr/>
          </p:nvSpPr>
          <p:spPr bwMode="auto">
            <a:xfrm flipH="1" flipV="1">
              <a:off x="6985388" y="4404273"/>
              <a:ext cx="458249" cy="359375"/>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33" name="Line 23"/>
            <p:cNvSpPr>
              <a:spLocks noChangeShapeType="1"/>
            </p:cNvSpPr>
            <p:nvPr/>
          </p:nvSpPr>
          <p:spPr bwMode="auto">
            <a:xfrm>
              <a:off x="6265284" y="5134123"/>
              <a:ext cx="3578"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34" name="Text Box 10"/>
            <p:cNvSpPr txBox="1">
              <a:spLocks noChangeArrowheads="1"/>
            </p:cNvSpPr>
            <p:nvPr/>
          </p:nvSpPr>
          <p:spPr bwMode="auto">
            <a:xfrm>
              <a:off x="5924238" y="5480649"/>
              <a:ext cx="6346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7030A0"/>
                  </a:solidFill>
                </a:rPr>
                <a:t>Id</a:t>
              </a:r>
              <a:endParaRPr lang="en-US" altLang="en-US" sz="2400" b="0" dirty="0">
                <a:solidFill>
                  <a:srgbClr val="7030A0"/>
                </a:solidFill>
              </a:endParaRPr>
            </a:p>
          </p:txBody>
        </p:sp>
        <p:sp>
          <p:nvSpPr>
            <p:cNvPr id="35" name="Line 23"/>
            <p:cNvSpPr>
              <a:spLocks noChangeShapeType="1"/>
            </p:cNvSpPr>
            <p:nvPr/>
          </p:nvSpPr>
          <p:spPr bwMode="auto">
            <a:xfrm>
              <a:off x="7157981" y="5106626"/>
              <a:ext cx="4763"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36" name="Text Box 10"/>
            <p:cNvSpPr txBox="1">
              <a:spLocks noChangeArrowheads="1"/>
            </p:cNvSpPr>
            <p:nvPr/>
          </p:nvSpPr>
          <p:spPr bwMode="auto">
            <a:xfrm>
              <a:off x="6716738" y="5480648"/>
              <a:ext cx="9451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err="1">
                  <a:solidFill>
                    <a:srgbClr val="7030A0"/>
                  </a:solidFill>
                </a:rPr>
                <a:t>Num</a:t>
              </a:r>
              <a:endParaRPr lang="en-US" altLang="en-US" sz="2400" b="0" dirty="0">
                <a:solidFill>
                  <a:srgbClr val="7030A0"/>
                </a:solidFill>
              </a:endParaRPr>
            </a:p>
          </p:txBody>
        </p:sp>
        <p:sp>
          <p:nvSpPr>
            <p:cNvPr id="37" name="Line 23"/>
            <p:cNvSpPr>
              <a:spLocks noChangeShapeType="1"/>
            </p:cNvSpPr>
            <p:nvPr/>
          </p:nvSpPr>
          <p:spPr bwMode="auto">
            <a:xfrm>
              <a:off x="8633870" y="4363598"/>
              <a:ext cx="4763"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38" name="Text Box 10"/>
            <p:cNvSpPr txBox="1">
              <a:spLocks noChangeArrowheads="1"/>
            </p:cNvSpPr>
            <p:nvPr/>
          </p:nvSpPr>
          <p:spPr bwMode="auto">
            <a:xfrm>
              <a:off x="8263435" y="4676923"/>
              <a:ext cx="8555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err="1">
                  <a:solidFill>
                    <a:srgbClr val="7030A0"/>
                  </a:solidFill>
                </a:rPr>
                <a:t>Num</a:t>
              </a:r>
              <a:endParaRPr lang="en-US" altLang="en-US" sz="2400" b="0" dirty="0">
                <a:solidFill>
                  <a:srgbClr val="7030A0"/>
                </a:solidFill>
              </a:endParaRPr>
            </a:p>
          </p:txBody>
        </p:sp>
        <p:sp>
          <p:nvSpPr>
            <p:cNvPr id="40" name="Text Box 10"/>
            <p:cNvSpPr txBox="1">
              <a:spLocks noChangeArrowheads="1"/>
            </p:cNvSpPr>
            <p:nvPr/>
          </p:nvSpPr>
          <p:spPr bwMode="auto">
            <a:xfrm>
              <a:off x="5962804" y="3840909"/>
              <a:ext cx="6346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FF0000"/>
                  </a:solidFill>
                </a:rPr>
                <a:t>N</a:t>
              </a:r>
              <a:endParaRPr lang="en-US" altLang="en-US" sz="2400" b="0" dirty="0">
                <a:solidFill>
                  <a:srgbClr val="FF0000"/>
                </a:solidFill>
              </a:endParaRPr>
            </a:p>
          </p:txBody>
        </p:sp>
        <p:sp>
          <p:nvSpPr>
            <p:cNvPr id="41" name="Line 23"/>
            <p:cNvSpPr>
              <a:spLocks noChangeShapeType="1"/>
            </p:cNvSpPr>
            <p:nvPr/>
          </p:nvSpPr>
          <p:spPr bwMode="auto">
            <a:xfrm>
              <a:off x="6278376" y="5924330"/>
              <a:ext cx="3578"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2" name="Text Box 10"/>
            <p:cNvSpPr txBox="1">
              <a:spLocks noChangeArrowheads="1"/>
            </p:cNvSpPr>
            <p:nvPr/>
          </p:nvSpPr>
          <p:spPr bwMode="auto">
            <a:xfrm>
              <a:off x="5937330" y="6270856"/>
              <a:ext cx="6346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FF0000"/>
                  </a:solidFill>
                </a:rPr>
                <a:t>A</a:t>
              </a:r>
              <a:endParaRPr lang="en-US" altLang="en-US" sz="2400" b="0" dirty="0">
                <a:solidFill>
                  <a:srgbClr val="FF0000"/>
                </a:solidFill>
              </a:endParaRPr>
            </a:p>
          </p:txBody>
        </p:sp>
        <p:sp>
          <p:nvSpPr>
            <p:cNvPr id="43" name="Line 23"/>
            <p:cNvSpPr>
              <a:spLocks noChangeShapeType="1"/>
            </p:cNvSpPr>
            <p:nvPr/>
          </p:nvSpPr>
          <p:spPr bwMode="auto">
            <a:xfrm>
              <a:off x="7146969" y="5935894"/>
              <a:ext cx="3578"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4" name="Text Box 10"/>
            <p:cNvSpPr txBox="1">
              <a:spLocks noChangeArrowheads="1"/>
            </p:cNvSpPr>
            <p:nvPr/>
          </p:nvSpPr>
          <p:spPr bwMode="auto">
            <a:xfrm>
              <a:off x="6805923" y="6282420"/>
              <a:ext cx="6346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FF0000"/>
                  </a:solidFill>
                </a:rPr>
                <a:t>5</a:t>
              </a:r>
              <a:endParaRPr lang="en-US" altLang="en-US" sz="2400" b="0" dirty="0">
                <a:solidFill>
                  <a:srgbClr val="FF0000"/>
                </a:solidFill>
              </a:endParaRPr>
            </a:p>
          </p:txBody>
        </p:sp>
        <p:sp>
          <p:nvSpPr>
            <p:cNvPr id="45" name="Line 23"/>
            <p:cNvSpPr>
              <a:spLocks noChangeShapeType="1"/>
            </p:cNvSpPr>
            <p:nvPr/>
          </p:nvSpPr>
          <p:spPr bwMode="auto">
            <a:xfrm>
              <a:off x="8637557" y="5149810"/>
              <a:ext cx="3578"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6" name="Text Box 10"/>
            <p:cNvSpPr txBox="1">
              <a:spLocks noChangeArrowheads="1"/>
            </p:cNvSpPr>
            <p:nvPr/>
          </p:nvSpPr>
          <p:spPr bwMode="auto">
            <a:xfrm>
              <a:off x="8296511" y="5496336"/>
              <a:ext cx="6346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FF0000"/>
                  </a:solidFill>
                </a:rPr>
                <a:t>10</a:t>
              </a:r>
              <a:endParaRPr lang="en-US" altLang="en-US" sz="2400" b="0" dirty="0">
                <a:solidFill>
                  <a:srgbClr val="FF0000"/>
                </a:solidFill>
              </a:endParaRPr>
            </a:p>
          </p:txBody>
        </p:sp>
        <p:sp>
          <p:nvSpPr>
            <p:cNvPr id="39" name="Line 23"/>
            <p:cNvSpPr>
              <a:spLocks noChangeShapeType="1"/>
            </p:cNvSpPr>
            <p:nvPr/>
          </p:nvSpPr>
          <p:spPr bwMode="auto">
            <a:xfrm>
              <a:off x="6251961" y="3529673"/>
              <a:ext cx="3578"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grpSp>
      <p:grpSp>
        <p:nvGrpSpPr>
          <p:cNvPr id="64512" name="Group 64511"/>
          <p:cNvGrpSpPr/>
          <p:nvPr/>
        </p:nvGrpSpPr>
        <p:grpSpPr>
          <a:xfrm>
            <a:off x="2441270" y="2274550"/>
            <a:ext cx="3686244" cy="2460032"/>
            <a:chOff x="2673031" y="2321660"/>
            <a:chExt cx="3686244" cy="2460032"/>
          </a:xfrm>
        </p:grpSpPr>
        <p:sp>
          <p:nvSpPr>
            <p:cNvPr id="50" name="Line 23"/>
            <p:cNvSpPr>
              <a:spLocks noChangeShapeType="1"/>
            </p:cNvSpPr>
            <p:nvPr/>
          </p:nvSpPr>
          <p:spPr bwMode="auto">
            <a:xfrm>
              <a:off x="4296956" y="2326314"/>
              <a:ext cx="550156" cy="204598"/>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51" name="Line 23"/>
            <p:cNvSpPr>
              <a:spLocks noChangeShapeType="1"/>
            </p:cNvSpPr>
            <p:nvPr/>
          </p:nvSpPr>
          <p:spPr bwMode="auto">
            <a:xfrm flipH="1">
              <a:off x="3594097" y="2321660"/>
              <a:ext cx="690107" cy="213906"/>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52" name="Line 23"/>
            <p:cNvSpPr>
              <a:spLocks noChangeShapeType="1"/>
            </p:cNvSpPr>
            <p:nvPr/>
          </p:nvSpPr>
          <p:spPr bwMode="auto">
            <a:xfrm flipH="1">
              <a:off x="4277143" y="2321660"/>
              <a:ext cx="0" cy="253864"/>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7" name="Text Box 10"/>
            <p:cNvSpPr txBox="1">
              <a:spLocks noChangeArrowheads="1"/>
            </p:cNvSpPr>
            <p:nvPr/>
          </p:nvSpPr>
          <p:spPr bwMode="auto">
            <a:xfrm>
              <a:off x="3326954" y="2418315"/>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D</a:t>
              </a:r>
              <a:endParaRPr lang="en-US" altLang="en-US" sz="2400" b="0" dirty="0">
                <a:solidFill>
                  <a:srgbClr val="270076"/>
                </a:solidFill>
              </a:endParaRPr>
            </a:p>
          </p:txBody>
        </p:sp>
        <p:sp>
          <p:nvSpPr>
            <p:cNvPr id="48" name="Text Box 10"/>
            <p:cNvSpPr txBox="1">
              <a:spLocks noChangeArrowheads="1"/>
            </p:cNvSpPr>
            <p:nvPr/>
          </p:nvSpPr>
          <p:spPr bwMode="auto">
            <a:xfrm>
              <a:off x="4822829" y="2438911"/>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D</a:t>
              </a:r>
              <a:endParaRPr lang="en-US" altLang="en-US" sz="2400" b="0" dirty="0">
                <a:solidFill>
                  <a:srgbClr val="270076"/>
                </a:solidFill>
              </a:endParaRPr>
            </a:p>
          </p:txBody>
        </p:sp>
        <p:sp>
          <p:nvSpPr>
            <p:cNvPr id="49" name="Text Box 10"/>
            <p:cNvSpPr txBox="1">
              <a:spLocks noChangeArrowheads="1"/>
            </p:cNvSpPr>
            <p:nvPr/>
          </p:nvSpPr>
          <p:spPr bwMode="auto">
            <a:xfrm>
              <a:off x="4103110" y="2438911"/>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dirty="0">
                  <a:solidFill>
                    <a:srgbClr val="FF0000"/>
                  </a:solidFill>
                </a:rPr>
                <a:t>;</a:t>
              </a:r>
              <a:endParaRPr lang="en-US" altLang="en-US" sz="2400" dirty="0">
                <a:solidFill>
                  <a:srgbClr val="FF0000"/>
                </a:solidFill>
              </a:endParaRPr>
            </a:p>
          </p:txBody>
        </p:sp>
        <p:sp>
          <p:nvSpPr>
            <p:cNvPr id="53" name="Text Box 10"/>
            <p:cNvSpPr txBox="1">
              <a:spLocks noChangeArrowheads="1"/>
            </p:cNvSpPr>
            <p:nvPr/>
          </p:nvSpPr>
          <p:spPr bwMode="auto">
            <a:xfrm>
              <a:off x="2750195" y="2887904"/>
              <a:ext cx="4578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Id</a:t>
              </a:r>
              <a:endParaRPr lang="en-US" altLang="en-US" sz="2400" b="0" dirty="0">
                <a:solidFill>
                  <a:srgbClr val="270076"/>
                </a:solidFill>
              </a:endParaRPr>
            </a:p>
          </p:txBody>
        </p:sp>
        <p:sp>
          <p:nvSpPr>
            <p:cNvPr id="54" name="Text Box 10"/>
            <p:cNvSpPr txBox="1">
              <a:spLocks noChangeArrowheads="1"/>
            </p:cNvSpPr>
            <p:nvPr/>
          </p:nvSpPr>
          <p:spPr bwMode="auto">
            <a:xfrm>
              <a:off x="3684795" y="2933077"/>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T</a:t>
              </a:r>
              <a:endParaRPr lang="en-US" altLang="en-US" sz="2400" b="0" dirty="0">
                <a:solidFill>
                  <a:srgbClr val="270076"/>
                </a:solidFill>
              </a:endParaRPr>
            </a:p>
          </p:txBody>
        </p:sp>
        <p:sp>
          <p:nvSpPr>
            <p:cNvPr id="55" name="Text Box 10"/>
            <p:cNvSpPr txBox="1">
              <a:spLocks noChangeArrowheads="1"/>
            </p:cNvSpPr>
            <p:nvPr/>
          </p:nvSpPr>
          <p:spPr bwMode="auto">
            <a:xfrm>
              <a:off x="3249477" y="2933077"/>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dirty="0">
                  <a:solidFill>
                    <a:srgbClr val="FF0000"/>
                  </a:solidFill>
                </a:rPr>
                <a:t>:</a:t>
              </a:r>
              <a:endParaRPr lang="en-US" altLang="en-US" sz="2400" dirty="0">
                <a:solidFill>
                  <a:srgbClr val="FF0000"/>
                </a:solidFill>
              </a:endParaRPr>
            </a:p>
          </p:txBody>
        </p:sp>
        <p:sp>
          <p:nvSpPr>
            <p:cNvPr id="56" name="Line 23"/>
            <p:cNvSpPr>
              <a:spLocks noChangeShapeType="1"/>
            </p:cNvSpPr>
            <p:nvPr/>
          </p:nvSpPr>
          <p:spPr bwMode="auto">
            <a:xfrm>
              <a:off x="3443323" y="2820480"/>
              <a:ext cx="375654" cy="163756"/>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57" name="Line 23"/>
            <p:cNvSpPr>
              <a:spLocks noChangeShapeType="1"/>
            </p:cNvSpPr>
            <p:nvPr/>
          </p:nvSpPr>
          <p:spPr bwMode="auto">
            <a:xfrm flipH="1">
              <a:off x="3026473" y="2815826"/>
              <a:ext cx="404098" cy="168410"/>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58" name="Line 23"/>
            <p:cNvSpPr>
              <a:spLocks noChangeShapeType="1"/>
            </p:cNvSpPr>
            <p:nvPr/>
          </p:nvSpPr>
          <p:spPr bwMode="auto">
            <a:xfrm flipH="1">
              <a:off x="3423510" y="2815826"/>
              <a:ext cx="0" cy="253864"/>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59" name="Line 23"/>
            <p:cNvSpPr>
              <a:spLocks noChangeShapeType="1"/>
            </p:cNvSpPr>
            <p:nvPr/>
          </p:nvSpPr>
          <p:spPr bwMode="auto">
            <a:xfrm>
              <a:off x="2976265" y="3266696"/>
              <a:ext cx="3578"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60" name="Text Box 10"/>
            <p:cNvSpPr txBox="1">
              <a:spLocks noChangeArrowheads="1"/>
            </p:cNvSpPr>
            <p:nvPr/>
          </p:nvSpPr>
          <p:spPr bwMode="auto">
            <a:xfrm>
              <a:off x="2673031" y="3637295"/>
              <a:ext cx="6346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FF0000"/>
                  </a:solidFill>
                </a:rPr>
                <a:t>N</a:t>
              </a:r>
              <a:endParaRPr lang="en-US" altLang="en-US" sz="2400" b="0" dirty="0">
                <a:solidFill>
                  <a:srgbClr val="FF0000"/>
                </a:solidFill>
              </a:endParaRPr>
            </a:p>
          </p:txBody>
        </p:sp>
        <p:sp>
          <p:nvSpPr>
            <p:cNvPr id="61" name="Line 23"/>
            <p:cNvSpPr>
              <a:spLocks noChangeShapeType="1"/>
            </p:cNvSpPr>
            <p:nvPr/>
          </p:nvSpPr>
          <p:spPr bwMode="auto">
            <a:xfrm>
              <a:off x="3836945" y="3322069"/>
              <a:ext cx="3578"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62" name="Text Box 10"/>
            <p:cNvSpPr txBox="1">
              <a:spLocks noChangeArrowheads="1"/>
            </p:cNvSpPr>
            <p:nvPr/>
          </p:nvSpPr>
          <p:spPr bwMode="auto">
            <a:xfrm>
              <a:off x="3136460" y="3637295"/>
              <a:ext cx="12833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err="1">
                  <a:solidFill>
                    <a:srgbClr val="FF0000"/>
                  </a:solidFill>
                </a:rPr>
                <a:t>Integer</a:t>
              </a:r>
              <a:endParaRPr lang="en-US" altLang="en-US" sz="2400" b="0" dirty="0">
                <a:solidFill>
                  <a:srgbClr val="FF0000"/>
                </a:solidFill>
              </a:endParaRPr>
            </a:p>
          </p:txBody>
        </p:sp>
        <p:sp>
          <p:nvSpPr>
            <p:cNvPr id="63" name="Text Box 10"/>
            <p:cNvSpPr txBox="1">
              <a:spLocks noChangeArrowheads="1"/>
            </p:cNvSpPr>
            <p:nvPr/>
          </p:nvSpPr>
          <p:spPr bwMode="auto">
            <a:xfrm>
              <a:off x="4328867" y="2929251"/>
              <a:ext cx="4578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Id</a:t>
              </a:r>
              <a:endParaRPr lang="en-US" altLang="en-US" sz="2400" b="0" dirty="0">
                <a:solidFill>
                  <a:srgbClr val="270076"/>
                </a:solidFill>
              </a:endParaRPr>
            </a:p>
          </p:txBody>
        </p:sp>
        <p:sp>
          <p:nvSpPr>
            <p:cNvPr id="64" name="Text Box 10"/>
            <p:cNvSpPr txBox="1">
              <a:spLocks noChangeArrowheads="1"/>
            </p:cNvSpPr>
            <p:nvPr/>
          </p:nvSpPr>
          <p:spPr bwMode="auto">
            <a:xfrm>
              <a:off x="5263467" y="2974424"/>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T</a:t>
              </a:r>
              <a:endParaRPr lang="en-US" altLang="en-US" sz="2400" b="0" dirty="0">
                <a:solidFill>
                  <a:srgbClr val="270076"/>
                </a:solidFill>
              </a:endParaRPr>
            </a:p>
          </p:txBody>
        </p:sp>
        <p:sp>
          <p:nvSpPr>
            <p:cNvPr id="65" name="Text Box 10"/>
            <p:cNvSpPr txBox="1">
              <a:spLocks noChangeArrowheads="1"/>
            </p:cNvSpPr>
            <p:nvPr/>
          </p:nvSpPr>
          <p:spPr bwMode="auto">
            <a:xfrm>
              <a:off x="4828149" y="2974424"/>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dirty="0">
                  <a:solidFill>
                    <a:srgbClr val="FF0000"/>
                  </a:solidFill>
                </a:rPr>
                <a:t>:</a:t>
              </a:r>
              <a:endParaRPr lang="en-US" altLang="en-US" sz="2400" dirty="0">
                <a:solidFill>
                  <a:srgbClr val="FF0000"/>
                </a:solidFill>
              </a:endParaRPr>
            </a:p>
          </p:txBody>
        </p:sp>
        <p:sp>
          <p:nvSpPr>
            <p:cNvPr id="66" name="Line 23"/>
            <p:cNvSpPr>
              <a:spLocks noChangeShapeType="1"/>
            </p:cNvSpPr>
            <p:nvPr/>
          </p:nvSpPr>
          <p:spPr bwMode="auto">
            <a:xfrm>
              <a:off x="5021995" y="2861827"/>
              <a:ext cx="375654" cy="163756"/>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67" name="Line 23"/>
            <p:cNvSpPr>
              <a:spLocks noChangeShapeType="1"/>
            </p:cNvSpPr>
            <p:nvPr/>
          </p:nvSpPr>
          <p:spPr bwMode="auto">
            <a:xfrm flipH="1">
              <a:off x="4605145" y="2857173"/>
              <a:ext cx="404098" cy="168410"/>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68" name="Line 23"/>
            <p:cNvSpPr>
              <a:spLocks noChangeShapeType="1"/>
            </p:cNvSpPr>
            <p:nvPr/>
          </p:nvSpPr>
          <p:spPr bwMode="auto">
            <a:xfrm flipH="1">
              <a:off x="5002182" y="2857173"/>
              <a:ext cx="0" cy="253864"/>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70" name="Line 23"/>
            <p:cNvSpPr>
              <a:spLocks noChangeShapeType="1"/>
            </p:cNvSpPr>
            <p:nvPr/>
          </p:nvSpPr>
          <p:spPr bwMode="auto">
            <a:xfrm>
              <a:off x="4541205" y="3298533"/>
              <a:ext cx="3578"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71" name="Text Box 10"/>
            <p:cNvSpPr txBox="1">
              <a:spLocks noChangeArrowheads="1"/>
            </p:cNvSpPr>
            <p:nvPr/>
          </p:nvSpPr>
          <p:spPr bwMode="auto">
            <a:xfrm>
              <a:off x="4237971" y="3669132"/>
              <a:ext cx="6346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FF0000"/>
                  </a:solidFill>
                </a:rPr>
                <a:t>A</a:t>
              </a:r>
              <a:endParaRPr lang="en-US" altLang="en-US" sz="2400" b="0" dirty="0">
                <a:solidFill>
                  <a:srgbClr val="FF0000"/>
                </a:solidFill>
              </a:endParaRPr>
            </a:p>
          </p:txBody>
        </p:sp>
        <p:sp>
          <p:nvSpPr>
            <p:cNvPr id="74" name="Text Box 10"/>
            <p:cNvSpPr txBox="1">
              <a:spLocks noChangeArrowheads="1"/>
            </p:cNvSpPr>
            <p:nvPr/>
          </p:nvSpPr>
          <p:spPr bwMode="auto">
            <a:xfrm>
              <a:off x="4639064" y="3609047"/>
              <a:ext cx="11149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err="1">
                  <a:solidFill>
                    <a:srgbClr val="270076"/>
                  </a:solidFill>
                </a:rPr>
                <a:t>Arr</a:t>
              </a:r>
              <a:r>
                <a:rPr lang="fr-FR" altLang="en-US" sz="2400" b="0" dirty="0">
                  <a:solidFill>
                    <a:srgbClr val="270076"/>
                  </a:solidFill>
                </a:rPr>
                <a:t>[] of</a:t>
              </a:r>
              <a:endParaRPr lang="en-US" altLang="en-US" sz="2400" b="0" dirty="0">
                <a:solidFill>
                  <a:srgbClr val="270076"/>
                </a:solidFill>
              </a:endParaRPr>
            </a:p>
          </p:txBody>
        </p:sp>
        <p:sp>
          <p:nvSpPr>
            <p:cNvPr id="75" name="Text Box 10"/>
            <p:cNvSpPr txBox="1">
              <a:spLocks noChangeArrowheads="1"/>
            </p:cNvSpPr>
            <p:nvPr/>
          </p:nvSpPr>
          <p:spPr bwMode="auto">
            <a:xfrm>
              <a:off x="5672680" y="3609047"/>
              <a:ext cx="32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270076"/>
                  </a:solidFill>
                </a:rPr>
                <a:t>T</a:t>
              </a:r>
              <a:endParaRPr lang="en-US" altLang="en-US" sz="2400" b="0" dirty="0">
                <a:solidFill>
                  <a:srgbClr val="270076"/>
                </a:solidFill>
              </a:endParaRPr>
            </a:p>
          </p:txBody>
        </p:sp>
        <p:sp>
          <p:nvSpPr>
            <p:cNvPr id="77" name="Line 23"/>
            <p:cNvSpPr>
              <a:spLocks noChangeShapeType="1"/>
            </p:cNvSpPr>
            <p:nvPr/>
          </p:nvSpPr>
          <p:spPr bwMode="auto">
            <a:xfrm flipH="1">
              <a:off x="4949100" y="3381240"/>
              <a:ext cx="419110" cy="313261"/>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78" name="Line 23"/>
            <p:cNvSpPr>
              <a:spLocks noChangeShapeType="1"/>
            </p:cNvSpPr>
            <p:nvPr/>
          </p:nvSpPr>
          <p:spPr bwMode="auto">
            <a:xfrm>
              <a:off x="5393089" y="3365326"/>
              <a:ext cx="423554" cy="329176"/>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79" name="Line 23"/>
            <p:cNvSpPr>
              <a:spLocks noChangeShapeType="1"/>
            </p:cNvSpPr>
            <p:nvPr/>
          </p:nvSpPr>
          <p:spPr bwMode="auto">
            <a:xfrm>
              <a:off x="5838100" y="4032173"/>
              <a:ext cx="4763" cy="455613"/>
            </a:xfrm>
            <a:prstGeom prst="line">
              <a:avLst/>
            </a:prstGeom>
            <a:noFill/>
            <a:ln w="28575">
              <a:solidFill>
                <a:srgbClr val="27007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80" name="Text Box 10"/>
            <p:cNvSpPr txBox="1">
              <a:spLocks noChangeArrowheads="1"/>
            </p:cNvSpPr>
            <p:nvPr/>
          </p:nvSpPr>
          <p:spPr bwMode="auto">
            <a:xfrm>
              <a:off x="5247601" y="4320027"/>
              <a:ext cx="11116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dirty="0">
                  <a:solidFill>
                    <a:srgbClr val="FF0000"/>
                  </a:solidFill>
                </a:rPr>
                <a:t>char</a:t>
              </a:r>
              <a:endParaRPr lang="en-US" altLang="en-US" sz="2400" b="0" dirty="0">
                <a:solidFill>
                  <a:srgbClr val="FF0000"/>
                </a:solidFill>
              </a:endParaRPr>
            </a:p>
          </p:txBody>
        </p:sp>
      </p:grpSp>
      <p:grpSp>
        <p:nvGrpSpPr>
          <p:cNvPr id="64522" name="Group 64521"/>
          <p:cNvGrpSpPr/>
          <p:nvPr/>
        </p:nvGrpSpPr>
        <p:grpSpPr>
          <a:xfrm>
            <a:off x="4093780" y="4575494"/>
            <a:ext cx="2323568" cy="1780624"/>
            <a:chOff x="4093780" y="4575494"/>
            <a:chExt cx="2323568" cy="1780624"/>
          </a:xfrm>
        </p:grpSpPr>
        <p:sp>
          <p:nvSpPr>
            <p:cNvPr id="89" name="TextBox 88"/>
            <p:cNvSpPr txBox="1"/>
            <p:nvPr/>
          </p:nvSpPr>
          <p:spPr>
            <a:xfrm>
              <a:off x="4093780" y="5648232"/>
              <a:ext cx="1786776" cy="707886"/>
            </a:xfrm>
            <a:prstGeom prst="rect">
              <a:avLst/>
            </a:prstGeom>
            <a:noFill/>
          </p:spPr>
          <p:txBody>
            <a:bodyPr wrap="square" rtlCol="0">
              <a:spAutoFit/>
            </a:bodyPr>
            <a:lstStyle/>
            <a:p>
              <a:r>
                <a:rPr lang="en-US" sz="2000" b="0" dirty="0" err="1">
                  <a:solidFill>
                    <a:srgbClr val="7030A0"/>
                  </a:solidFill>
                </a:rPr>
                <a:t>E.type</a:t>
              </a:r>
              <a:r>
                <a:rPr lang="en-US" sz="2000" b="0" dirty="0">
                  <a:solidFill>
                    <a:srgbClr val="7030A0"/>
                  </a:solidFill>
                </a:rPr>
                <a:t>= array(10,char)</a:t>
              </a:r>
            </a:p>
          </p:txBody>
        </p:sp>
        <p:cxnSp>
          <p:nvCxnSpPr>
            <p:cNvPr id="90" name="Straight Arrow Connector 89"/>
            <p:cNvCxnSpPr>
              <a:stCxn id="92" idx="3"/>
              <a:endCxn id="89" idx="0"/>
            </p:cNvCxnSpPr>
            <p:nvPr/>
          </p:nvCxnSpPr>
          <p:spPr bwMode="auto">
            <a:xfrm flipH="1">
              <a:off x="4987168" y="4923496"/>
              <a:ext cx="1010992" cy="724736"/>
            </a:xfrm>
            <a:prstGeom prst="straightConnector1">
              <a:avLst/>
            </a:prstGeom>
            <a:solidFill>
              <a:schemeClr val="accent1"/>
            </a:solidFill>
            <a:ln w="9525" cap="flat" cmpd="sng" algn="ctr">
              <a:solidFill>
                <a:schemeClr val="accent6">
                  <a:lumMod val="60000"/>
                  <a:lumOff val="40000"/>
                </a:schemeClr>
              </a:solidFill>
              <a:prstDash val="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Oval 91"/>
            <p:cNvSpPr/>
            <p:nvPr/>
          </p:nvSpPr>
          <p:spPr bwMode="auto">
            <a:xfrm>
              <a:off x="5926239" y="4575494"/>
              <a:ext cx="491109" cy="407710"/>
            </a:xfrm>
            <a:prstGeom prst="ellipse">
              <a:avLst/>
            </a:prstGeom>
            <a:noFill/>
            <a:ln w="9525" cap="flat" cmpd="sng" algn="ctr">
              <a:solidFill>
                <a:schemeClr val="accent6">
                  <a:lumMod val="60000"/>
                  <a:lumOff val="40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Arial" panose="020B0604020202020204" pitchFamily="34" charset="0"/>
              </a:endParaRPr>
            </a:p>
          </p:txBody>
        </p:sp>
      </p:grpSp>
      <p:grpSp>
        <p:nvGrpSpPr>
          <p:cNvPr id="64530" name="Group 64529"/>
          <p:cNvGrpSpPr/>
          <p:nvPr/>
        </p:nvGrpSpPr>
        <p:grpSpPr>
          <a:xfrm>
            <a:off x="7266488" y="2157834"/>
            <a:ext cx="1725112" cy="1141464"/>
            <a:chOff x="7266488" y="2157834"/>
            <a:chExt cx="1725112" cy="1141464"/>
          </a:xfrm>
        </p:grpSpPr>
        <p:sp>
          <p:nvSpPr>
            <p:cNvPr id="98" name="TextBox 97"/>
            <p:cNvSpPr txBox="1"/>
            <p:nvPr/>
          </p:nvSpPr>
          <p:spPr>
            <a:xfrm>
              <a:off x="7266488" y="2157834"/>
              <a:ext cx="1725112" cy="400110"/>
            </a:xfrm>
            <a:prstGeom prst="rect">
              <a:avLst/>
            </a:prstGeom>
            <a:noFill/>
          </p:spPr>
          <p:txBody>
            <a:bodyPr wrap="square" rtlCol="0">
              <a:spAutoFit/>
            </a:bodyPr>
            <a:lstStyle/>
            <a:p>
              <a:r>
                <a:rPr lang="en-US" sz="2000" b="0" dirty="0" err="1">
                  <a:solidFill>
                    <a:srgbClr val="7030A0"/>
                  </a:solidFill>
                </a:rPr>
                <a:t>E.type</a:t>
              </a:r>
              <a:r>
                <a:rPr lang="en-US" sz="2000" b="0" dirty="0">
                  <a:solidFill>
                    <a:srgbClr val="7030A0"/>
                  </a:solidFill>
                </a:rPr>
                <a:t>= Error</a:t>
              </a:r>
            </a:p>
          </p:txBody>
        </p:sp>
        <p:sp>
          <p:nvSpPr>
            <p:cNvPr id="100" name="Oval 99"/>
            <p:cNvSpPr/>
            <p:nvPr/>
          </p:nvSpPr>
          <p:spPr bwMode="auto">
            <a:xfrm>
              <a:off x="7532218" y="2850035"/>
              <a:ext cx="540728" cy="449263"/>
            </a:xfrm>
            <a:prstGeom prst="ellipse">
              <a:avLst/>
            </a:prstGeom>
            <a:noFill/>
            <a:ln w="9525" cap="flat" cmpd="sng" algn="ctr">
              <a:solidFill>
                <a:schemeClr val="accent6">
                  <a:lumMod val="60000"/>
                  <a:lumOff val="40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Arial" panose="020B0604020202020204" pitchFamily="34" charset="0"/>
              </a:endParaRPr>
            </a:p>
          </p:txBody>
        </p:sp>
        <p:cxnSp>
          <p:nvCxnSpPr>
            <p:cNvPr id="102" name="Straight Arrow Connector 101"/>
            <p:cNvCxnSpPr>
              <a:stCxn id="21" idx="0"/>
            </p:cNvCxnSpPr>
            <p:nvPr/>
          </p:nvCxnSpPr>
          <p:spPr bwMode="auto">
            <a:xfrm flipV="1">
              <a:off x="7772042" y="2492287"/>
              <a:ext cx="400181" cy="401424"/>
            </a:xfrm>
            <a:prstGeom prst="straightConnector1">
              <a:avLst/>
            </a:prstGeom>
            <a:solidFill>
              <a:schemeClr val="accent1"/>
            </a:solidFill>
            <a:ln w="9525" cap="flat" cmpd="sng" algn="ctr">
              <a:solidFill>
                <a:schemeClr val="accent6">
                  <a:lumMod val="60000"/>
                  <a:lumOff val="40000"/>
                </a:schemeClr>
              </a:solidFill>
              <a:prstDash val="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4526" name="Group 64525"/>
          <p:cNvGrpSpPr/>
          <p:nvPr/>
        </p:nvGrpSpPr>
        <p:grpSpPr>
          <a:xfrm>
            <a:off x="6657554" y="3868815"/>
            <a:ext cx="2458736" cy="2490887"/>
            <a:chOff x="6631850" y="3868815"/>
            <a:chExt cx="2458736" cy="2490887"/>
          </a:xfrm>
        </p:grpSpPr>
        <p:sp>
          <p:nvSpPr>
            <p:cNvPr id="64519" name="Oval 64518"/>
            <p:cNvSpPr/>
            <p:nvPr/>
          </p:nvSpPr>
          <p:spPr bwMode="auto">
            <a:xfrm>
              <a:off x="6631850" y="3868815"/>
              <a:ext cx="491109" cy="407710"/>
            </a:xfrm>
            <a:prstGeom prst="ellipse">
              <a:avLst/>
            </a:prstGeom>
            <a:noFill/>
            <a:ln w="9525" cap="flat" cmpd="sng" algn="ctr">
              <a:solidFill>
                <a:schemeClr val="accent6">
                  <a:lumMod val="60000"/>
                  <a:lumOff val="40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Arial" panose="020B0604020202020204" pitchFamily="34" charset="0"/>
              </a:endParaRPr>
            </a:p>
          </p:txBody>
        </p:sp>
        <p:cxnSp>
          <p:nvCxnSpPr>
            <p:cNvPr id="99" name="Straight Arrow Connector 98"/>
            <p:cNvCxnSpPr>
              <a:stCxn id="64519" idx="6"/>
              <a:endCxn id="103" idx="0"/>
            </p:cNvCxnSpPr>
            <p:nvPr/>
          </p:nvCxnSpPr>
          <p:spPr bwMode="auto">
            <a:xfrm>
              <a:off x="7122959" y="4072670"/>
              <a:ext cx="1158759" cy="1886922"/>
            </a:xfrm>
            <a:prstGeom prst="straightConnector1">
              <a:avLst/>
            </a:prstGeom>
            <a:solidFill>
              <a:schemeClr val="accent1"/>
            </a:solidFill>
            <a:ln w="9525" cap="flat" cmpd="sng" algn="ctr">
              <a:solidFill>
                <a:schemeClr val="accent6">
                  <a:lumMod val="60000"/>
                  <a:lumOff val="40000"/>
                </a:schemeClr>
              </a:solidFill>
              <a:prstDash val="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3" name="TextBox 102"/>
            <p:cNvSpPr txBox="1"/>
            <p:nvPr/>
          </p:nvSpPr>
          <p:spPr>
            <a:xfrm>
              <a:off x="7472850" y="5959592"/>
              <a:ext cx="1617736" cy="400110"/>
            </a:xfrm>
            <a:prstGeom prst="rect">
              <a:avLst/>
            </a:prstGeom>
            <a:noFill/>
          </p:spPr>
          <p:txBody>
            <a:bodyPr wrap="square" rtlCol="0">
              <a:spAutoFit/>
            </a:bodyPr>
            <a:lstStyle/>
            <a:p>
              <a:r>
                <a:rPr lang="en-US" sz="2000" b="0" dirty="0" err="1">
                  <a:solidFill>
                    <a:srgbClr val="7030A0"/>
                  </a:solidFill>
                </a:rPr>
                <a:t>E.type</a:t>
              </a:r>
              <a:r>
                <a:rPr lang="en-US" sz="2000" b="0" dirty="0">
                  <a:solidFill>
                    <a:srgbClr val="7030A0"/>
                  </a:solidFill>
                </a:rPr>
                <a:t>= char</a:t>
              </a:r>
            </a:p>
          </p:txBody>
        </p:sp>
      </p:grpSp>
      <p:grpSp>
        <p:nvGrpSpPr>
          <p:cNvPr id="64531" name="Group 64530"/>
          <p:cNvGrpSpPr/>
          <p:nvPr/>
        </p:nvGrpSpPr>
        <p:grpSpPr>
          <a:xfrm>
            <a:off x="6437918" y="1243351"/>
            <a:ext cx="2553682" cy="1141464"/>
            <a:chOff x="6437918" y="1243351"/>
            <a:chExt cx="2553682" cy="1141464"/>
          </a:xfrm>
        </p:grpSpPr>
        <p:sp>
          <p:nvSpPr>
            <p:cNvPr id="110" name="TextBox 109"/>
            <p:cNvSpPr txBox="1"/>
            <p:nvPr/>
          </p:nvSpPr>
          <p:spPr>
            <a:xfrm>
              <a:off x="6437918" y="1243351"/>
              <a:ext cx="2553682" cy="400110"/>
            </a:xfrm>
            <a:prstGeom prst="rect">
              <a:avLst/>
            </a:prstGeom>
            <a:noFill/>
          </p:spPr>
          <p:txBody>
            <a:bodyPr wrap="square" rtlCol="0">
              <a:spAutoFit/>
            </a:bodyPr>
            <a:lstStyle/>
            <a:p>
              <a:r>
                <a:rPr lang="en-US" sz="2000" b="0" dirty="0" err="1">
                  <a:solidFill>
                    <a:srgbClr val="7030A0"/>
                  </a:solidFill>
                </a:rPr>
                <a:t>S.type</a:t>
              </a:r>
              <a:r>
                <a:rPr lang="en-US" sz="2000" b="0" dirty="0">
                  <a:solidFill>
                    <a:srgbClr val="7030A0"/>
                  </a:solidFill>
                </a:rPr>
                <a:t>= </a:t>
              </a:r>
              <a:r>
                <a:rPr lang="en-US" sz="2000" b="0" dirty="0" err="1">
                  <a:solidFill>
                    <a:srgbClr val="7030A0"/>
                  </a:solidFill>
                </a:rPr>
                <a:t>Type_Error</a:t>
              </a:r>
              <a:endParaRPr lang="en-US" sz="2000" b="0" dirty="0">
                <a:solidFill>
                  <a:srgbClr val="7030A0"/>
                </a:solidFill>
              </a:endParaRPr>
            </a:p>
          </p:txBody>
        </p:sp>
        <p:sp>
          <p:nvSpPr>
            <p:cNvPr id="111" name="Oval 110"/>
            <p:cNvSpPr/>
            <p:nvPr/>
          </p:nvSpPr>
          <p:spPr bwMode="auto">
            <a:xfrm>
              <a:off x="6703648" y="1935552"/>
              <a:ext cx="540728" cy="449263"/>
            </a:xfrm>
            <a:prstGeom prst="ellipse">
              <a:avLst/>
            </a:prstGeom>
            <a:noFill/>
            <a:ln w="9525" cap="flat" cmpd="sng" algn="ctr">
              <a:solidFill>
                <a:schemeClr val="accent6">
                  <a:lumMod val="60000"/>
                  <a:lumOff val="40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a:ln>
                  <a:noFill/>
                </a:ln>
                <a:solidFill>
                  <a:schemeClr val="tx1"/>
                </a:solidFill>
                <a:effectLst/>
                <a:latin typeface="Arial" panose="020B0604020202020204" pitchFamily="34" charset="0"/>
              </a:endParaRPr>
            </a:p>
          </p:txBody>
        </p:sp>
        <p:cxnSp>
          <p:nvCxnSpPr>
            <p:cNvPr id="112" name="Straight Arrow Connector 111"/>
            <p:cNvCxnSpPr/>
            <p:nvPr/>
          </p:nvCxnSpPr>
          <p:spPr bwMode="auto">
            <a:xfrm flipV="1">
              <a:off x="6943472" y="1577804"/>
              <a:ext cx="400181" cy="401424"/>
            </a:xfrm>
            <a:prstGeom prst="straightConnector1">
              <a:avLst/>
            </a:prstGeom>
            <a:solidFill>
              <a:schemeClr val="accent1"/>
            </a:solidFill>
            <a:ln w="9525" cap="flat" cmpd="sng" algn="ctr">
              <a:solidFill>
                <a:schemeClr val="accent6">
                  <a:lumMod val="60000"/>
                  <a:lumOff val="40000"/>
                </a:schemeClr>
              </a:solidFill>
              <a:prstDash val="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884512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4512"/>
                                        </p:tgtEl>
                                        <p:attrNameLst>
                                          <p:attrName>style.visibility</p:attrName>
                                        </p:attrNameLst>
                                      </p:cBhvr>
                                      <p:to>
                                        <p:strVal val="visible"/>
                                      </p:to>
                                    </p:set>
                                    <p:animEffect transition="in" filter="fade">
                                      <p:cBhvr>
                                        <p:cTn id="12" dur="500"/>
                                        <p:tgtEl>
                                          <p:spTgt spid="6451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64513"/>
                                        </p:tgtEl>
                                        <p:attrNameLst>
                                          <p:attrName>style.visibility</p:attrName>
                                        </p:attrNameLst>
                                      </p:cBhvr>
                                      <p:to>
                                        <p:strVal val="visible"/>
                                      </p:to>
                                    </p:set>
                                    <p:animEffect transition="in" filter="randombar(horizontal)">
                                      <p:cBhvr>
                                        <p:cTn id="23" dur="500"/>
                                        <p:tgtEl>
                                          <p:spTgt spid="64513"/>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64522"/>
                                        </p:tgtEl>
                                        <p:attrNameLst>
                                          <p:attrName>style.visibility</p:attrName>
                                        </p:attrNameLst>
                                      </p:cBhvr>
                                      <p:to>
                                        <p:strVal val="visible"/>
                                      </p:to>
                                    </p:set>
                                    <p:anim calcmode="lin" valueType="num">
                                      <p:cBhvr additive="base">
                                        <p:cTn id="28" dur="500" fill="hold"/>
                                        <p:tgtEl>
                                          <p:spTgt spid="64522"/>
                                        </p:tgtEl>
                                        <p:attrNameLst>
                                          <p:attrName>ppt_x</p:attrName>
                                        </p:attrNameLst>
                                      </p:cBhvr>
                                      <p:tavLst>
                                        <p:tav tm="0">
                                          <p:val>
                                            <p:strVal val="#ppt_x"/>
                                          </p:val>
                                        </p:tav>
                                        <p:tav tm="100000">
                                          <p:val>
                                            <p:strVal val="#ppt_x"/>
                                          </p:val>
                                        </p:tav>
                                      </p:tavLst>
                                    </p:anim>
                                    <p:anim calcmode="lin" valueType="num">
                                      <p:cBhvr additive="base">
                                        <p:cTn id="29" dur="500" fill="hold"/>
                                        <p:tgtEl>
                                          <p:spTgt spid="64522"/>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64526"/>
                                        </p:tgtEl>
                                        <p:attrNameLst>
                                          <p:attrName>style.visibility</p:attrName>
                                        </p:attrNameLst>
                                      </p:cBhvr>
                                      <p:to>
                                        <p:strVal val="visible"/>
                                      </p:to>
                                    </p:set>
                                    <p:animEffect transition="in" filter="fade">
                                      <p:cBhvr>
                                        <p:cTn id="34" dur="250"/>
                                        <p:tgtEl>
                                          <p:spTgt spid="64526"/>
                                        </p:tgtEl>
                                      </p:cBhvr>
                                    </p:animEffect>
                                    <p:anim calcmode="lin" valueType="num">
                                      <p:cBhvr>
                                        <p:cTn id="35" dur="250" fill="hold"/>
                                        <p:tgtEl>
                                          <p:spTgt spid="64526"/>
                                        </p:tgtEl>
                                        <p:attrNameLst>
                                          <p:attrName>ppt_x</p:attrName>
                                        </p:attrNameLst>
                                      </p:cBhvr>
                                      <p:tavLst>
                                        <p:tav tm="0">
                                          <p:val>
                                            <p:strVal val="#ppt_x"/>
                                          </p:val>
                                        </p:tav>
                                        <p:tav tm="100000">
                                          <p:val>
                                            <p:strVal val="#ppt_x"/>
                                          </p:val>
                                        </p:tav>
                                      </p:tavLst>
                                    </p:anim>
                                    <p:anim calcmode="lin" valueType="num">
                                      <p:cBhvr>
                                        <p:cTn id="36" dur="250" fill="hold"/>
                                        <p:tgtEl>
                                          <p:spTgt spid="64526"/>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nodeType="clickEffect">
                                  <p:stCondLst>
                                    <p:cond delay="0"/>
                                  </p:stCondLst>
                                  <p:childTnLst>
                                    <p:set>
                                      <p:cBhvr>
                                        <p:cTn id="40" dur="1" fill="hold">
                                          <p:stCondLst>
                                            <p:cond delay="0"/>
                                          </p:stCondLst>
                                        </p:cTn>
                                        <p:tgtEl>
                                          <p:spTgt spid="64530"/>
                                        </p:tgtEl>
                                        <p:attrNameLst>
                                          <p:attrName>style.visibility</p:attrName>
                                        </p:attrNameLst>
                                      </p:cBhvr>
                                      <p:to>
                                        <p:strVal val="visible"/>
                                      </p:to>
                                    </p:set>
                                    <p:anim calcmode="lin" valueType="num">
                                      <p:cBhvr additive="base">
                                        <p:cTn id="41" dur="500" fill="hold"/>
                                        <p:tgtEl>
                                          <p:spTgt spid="64530"/>
                                        </p:tgtEl>
                                        <p:attrNameLst>
                                          <p:attrName>ppt_x</p:attrName>
                                        </p:attrNameLst>
                                      </p:cBhvr>
                                      <p:tavLst>
                                        <p:tav tm="0">
                                          <p:val>
                                            <p:strVal val="1+#ppt_w/2"/>
                                          </p:val>
                                        </p:tav>
                                        <p:tav tm="100000">
                                          <p:val>
                                            <p:strVal val="#ppt_x"/>
                                          </p:val>
                                        </p:tav>
                                      </p:tavLst>
                                    </p:anim>
                                    <p:anim calcmode="lin" valueType="num">
                                      <p:cBhvr additive="base">
                                        <p:cTn id="42" dur="500" fill="hold"/>
                                        <p:tgtEl>
                                          <p:spTgt spid="64530"/>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64531"/>
                                        </p:tgtEl>
                                        <p:attrNameLst>
                                          <p:attrName>style.visibility</p:attrName>
                                        </p:attrNameLst>
                                      </p:cBhvr>
                                      <p:to>
                                        <p:strVal val="visible"/>
                                      </p:to>
                                    </p:set>
                                    <p:animEffect transition="in" filter="barn(inVertical)">
                                      <p:cBhvr>
                                        <p:cTn id="47" dur="250"/>
                                        <p:tgtEl>
                                          <p:spTgt spid="64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F3877CAC-4E33-45F9-8F37-EF4D404E14FF}" type="slidenum">
              <a:rPr lang="en-US" altLang="en-US" sz="1400" b="0"/>
              <a:pPr/>
              <a:t>63</a:t>
            </a:fld>
            <a:endParaRPr lang="en-US" altLang="en-US" sz="1400" b="0"/>
          </a:p>
        </p:txBody>
      </p:sp>
      <p:sp>
        <p:nvSpPr>
          <p:cNvPr id="65539" name="Rectangle 2"/>
          <p:cNvSpPr>
            <a:spLocks noGrp="1" noChangeArrowheads="1"/>
          </p:cNvSpPr>
          <p:nvPr>
            <p:ph type="title"/>
          </p:nvPr>
        </p:nvSpPr>
        <p:spPr/>
        <p:txBody>
          <a:bodyPr/>
          <a:lstStyle/>
          <a:p>
            <a:pPr eaLnBrk="1" hangingPunct="1"/>
            <a:r>
              <a:rPr lang="en-US" altLang="en-US" sz="2800" b="1"/>
              <a:t>Bộ kiểm tra kiểu của hàm</a:t>
            </a:r>
          </a:p>
        </p:txBody>
      </p:sp>
      <p:sp>
        <p:nvSpPr>
          <p:cNvPr id="65540"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graphicFrame>
        <p:nvGraphicFramePr>
          <p:cNvPr id="1729595" name="Group 59"/>
          <p:cNvGraphicFramePr>
            <a:graphicFrameLocks noGrp="1"/>
          </p:cNvGraphicFramePr>
          <p:nvPr>
            <p:ph sz="half" idx="2"/>
            <p:extLst>
              <p:ext uri="{D42A27DB-BD31-4B8C-83A1-F6EECF244321}">
                <p14:modId xmlns:p14="http://schemas.microsoft.com/office/powerpoint/2010/main" val="767970560"/>
              </p:ext>
            </p:extLst>
          </p:nvPr>
        </p:nvGraphicFramePr>
        <p:xfrm>
          <a:off x="228600" y="838200"/>
          <a:ext cx="8839200" cy="5913438"/>
        </p:xfrm>
        <a:graphic>
          <a:graphicData uri="http://schemas.openxmlformats.org/drawingml/2006/table">
            <a:tbl>
              <a:tblPr/>
              <a:tblGrid>
                <a:gridCol w="35814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518188">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dirty="0" err="1">
                          <a:ln>
                            <a:noFill/>
                          </a:ln>
                          <a:solidFill>
                            <a:srgbClr val="270076"/>
                          </a:solidFill>
                          <a:effectLst/>
                          <a:latin typeface="Arial" panose="020B0604020202020204" pitchFamily="34" charset="0"/>
                        </a:rPr>
                        <a:t>Sản</a:t>
                      </a:r>
                      <a:r>
                        <a:rPr kumimoji="0" lang="en-US" altLang="en-US" sz="2800" b="1" i="0" u="none" strike="noStrike" cap="none" normalizeH="0" baseline="0" dirty="0">
                          <a:ln>
                            <a:noFill/>
                          </a:ln>
                          <a:solidFill>
                            <a:srgbClr val="270076"/>
                          </a:solidFill>
                          <a:effectLst/>
                          <a:latin typeface="Arial" panose="020B0604020202020204" pitchFamily="34" charset="0"/>
                        </a:rPr>
                        <a:t> </a:t>
                      </a:r>
                      <a:r>
                        <a:rPr kumimoji="0" lang="en-US" altLang="en-US" sz="2800" b="1" i="0" u="none" strike="noStrike" cap="none" normalizeH="0" baseline="0" dirty="0" err="1">
                          <a:ln>
                            <a:noFill/>
                          </a:ln>
                          <a:solidFill>
                            <a:srgbClr val="270076"/>
                          </a:solidFill>
                          <a:effectLst/>
                          <a:latin typeface="Arial" panose="020B0604020202020204" pitchFamily="34" charset="0"/>
                        </a:rPr>
                        <a:t>xuất</a:t>
                      </a:r>
                      <a:endParaRPr kumimoji="0" lang="en-US" altLang="en-US" sz="2800" b="1" i="0" u="none" strike="noStrike" cap="none" normalizeH="0" baseline="0" dirty="0">
                        <a:ln>
                          <a:noFill/>
                        </a:ln>
                        <a:solidFill>
                          <a:srgbClr val="270076"/>
                        </a:solidFill>
                        <a:effectLst/>
                        <a:latin typeface="Arial" panose="020B0604020202020204" pitchFamily="34" charset="0"/>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rgbClr val="270076"/>
                          </a:solidFill>
                          <a:effectLst/>
                          <a:latin typeface="Arial" panose="020B0604020202020204" pitchFamily="34" charset="0"/>
                        </a:rPr>
                        <a:t>Quy tắc ngữ nghĩa</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30279">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D </a:t>
                      </a:r>
                      <a:r>
                        <a:rPr kumimoji="0" lang="fr-FR"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 Id : T</a:t>
                      </a:r>
                      <a:endParaRPr kumimoji="0" lang="en-US"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addType(Id.</a:t>
                      </a:r>
                      <a:r>
                        <a:rPr kumimoji="0" lang="fr-FR" altLang="en-US" sz="2800" b="0" i="1" u="none" strike="noStrike" cap="none" normalizeH="0" baseline="0">
                          <a:ln>
                            <a:noFill/>
                          </a:ln>
                          <a:solidFill>
                            <a:srgbClr val="270076"/>
                          </a:solidFill>
                          <a:effectLst/>
                          <a:latin typeface="Arial" panose="020B0604020202020204" pitchFamily="34" charset="0"/>
                        </a:rPr>
                        <a:t>entry</a:t>
                      </a:r>
                      <a:r>
                        <a:rPr kumimoji="0" lang="fr-FR" altLang="en-US" sz="2800" b="0" i="0" u="none" strike="noStrike" cap="none" normalizeH="0" baseline="0">
                          <a:ln>
                            <a:noFill/>
                          </a:ln>
                          <a:solidFill>
                            <a:srgbClr val="270076"/>
                          </a:solidFill>
                          <a:effectLst/>
                          <a:latin typeface="Arial" panose="020B0604020202020204" pitchFamily="34" charset="0"/>
                        </a:rPr>
                        <a:t>, T.</a:t>
                      </a:r>
                      <a:r>
                        <a:rPr kumimoji="0" lang="fr-FR" altLang="en-US" sz="2800" b="0" i="1" u="none" strike="noStrike" cap="none" normalizeH="0" baseline="0">
                          <a:ln>
                            <a:noFill/>
                          </a:ln>
                          <a:solidFill>
                            <a:srgbClr val="270076"/>
                          </a:solidFill>
                          <a:effectLst/>
                          <a:latin typeface="Arial" panose="020B0604020202020204" pitchFamily="34" charset="0"/>
                        </a:rPr>
                        <a:t>type</a:t>
                      </a:r>
                      <a:r>
                        <a:rPr kumimoji="0" lang="fr-FR" altLang="en-US" sz="2800" b="0" i="0" u="none" strike="noStrike" cap="none" normalizeH="0" baseline="0">
                          <a:ln>
                            <a:noFill/>
                          </a:ln>
                          <a:solidFill>
                            <a:srgbClr val="270076"/>
                          </a:solidFill>
                          <a:effectLst/>
                          <a:latin typeface="Arial" panose="020B0604020202020204" pitchFamily="34" charset="0"/>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D.</a:t>
                      </a:r>
                      <a:r>
                        <a:rPr kumimoji="0" lang="fr-FR" altLang="en-US" sz="2800" b="0" i="1" u="none" strike="noStrike" cap="none" normalizeH="0" baseline="0">
                          <a:ln>
                            <a:noFill/>
                          </a:ln>
                          <a:solidFill>
                            <a:srgbClr val="3539EB"/>
                          </a:solidFill>
                          <a:effectLst/>
                          <a:latin typeface="Arial" panose="020B0604020202020204" pitchFamily="34" charset="0"/>
                        </a:rPr>
                        <a:t>type</a:t>
                      </a:r>
                      <a:r>
                        <a:rPr kumimoji="0" lang="fr-FR" altLang="en-US" sz="2800" b="0" i="0" u="none" strike="noStrike" cap="none" normalizeH="0" baseline="0">
                          <a:ln>
                            <a:noFill/>
                          </a:ln>
                          <a:solidFill>
                            <a:srgbClr val="270076"/>
                          </a:solidFill>
                          <a:effectLst/>
                          <a:latin typeface="Arial" panose="020B0604020202020204" pitchFamily="34" charset="0"/>
                        </a:rPr>
                        <a:t> = T.</a:t>
                      </a:r>
                      <a:r>
                        <a:rPr kumimoji="0" lang="fr-FR" altLang="en-US" sz="2800" b="0" i="1" u="none" strike="noStrike" cap="none" normalizeH="0" baseline="0">
                          <a:ln>
                            <a:noFill/>
                          </a:ln>
                          <a:solidFill>
                            <a:srgbClr val="270076"/>
                          </a:solidFill>
                          <a:effectLst/>
                          <a:latin typeface="Arial" panose="020B0604020202020204" pitchFamily="34" charset="0"/>
                        </a:rPr>
                        <a:t>type</a:t>
                      </a:r>
                      <a:endParaRPr kumimoji="0" lang="en-US" altLang="en-US" sz="2800" b="0" i="0" u="none" strike="noStrike" cap="none" normalizeH="0" baseline="0">
                        <a:ln>
                          <a:noFill/>
                        </a:ln>
                        <a:solidFill>
                          <a:srgbClr val="270076"/>
                        </a:solidFill>
                        <a:effectLst/>
                        <a:latin typeface="Arial" panose="020B0604020202020204" pitchFamily="34" charset="0"/>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88">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D </a:t>
                      </a:r>
                      <a:r>
                        <a:rPr kumimoji="0" lang="fr-FR"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 D</a:t>
                      </a:r>
                      <a:r>
                        <a:rPr kumimoji="0" lang="fr-FR" altLang="en-US" sz="2800" b="0" i="0" u="none" strike="noStrike" cap="none" normalizeH="0" baseline="-25000">
                          <a:ln>
                            <a:noFill/>
                          </a:ln>
                          <a:solidFill>
                            <a:srgbClr val="270076"/>
                          </a:solidFill>
                          <a:effectLst/>
                          <a:latin typeface="Arial" panose="020B0604020202020204" pitchFamily="34" charset="0"/>
                          <a:sym typeface="Symbol" panose="05050102010706020507" pitchFamily="18" charset="2"/>
                        </a:rPr>
                        <a:t>1</a:t>
                      </a:r>
                      <a:r>
                        <a:rPr kumimoji="0" lang="fr-FR"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 ; D</a:t>
                      </a:r>
                      <a:r>
                        <a:rPr kumimoji="0" lang="fr-FR" altLang="en-US" sz="2800" b="0" i="0" u="none" strike="noStrike" cap="none" normalizeH="0" baseline="-25000">
                          <a:ln>
                            <a:noFill/>
                          </a:ln>
                          <a:solidFill>
                            <a:srgbClr val="270076"/>
                          </a:solidFill>
                          <a:effectLst/>
                          <a:latin typeface="Arial" panose="020B0604020202020204" pitchFamily="34" charset="0"/>
                          <a:sym typeface="Symbol" panose="05050102010706020507" pitchFamily="18" charset="2"/>
                        </a:rPr>
                        <a:t>2</a:t>
                      </a:r>
                      <a:endParaRPr kumimoji="0" lang="en-US" altLang="en-US" sz="2800" b="0" i="0" u="none" strike="noStrike" cap="none" normalizeH="0" baseline="-25000">
                        <a:ln>
                          <a:noFill/>
                        </a:ln>
                        <a:solidFill>
                          <a:srgbClr val="270076"/>
                        </a:solidFill>
                        <a:effectLst/>
                        <a:latin typeface="Arial" panose="020B0604020202020204" pitchFamily="34" charset="0"/>
                        <a:sym typeface="Symbol" panose="05050102010706020507" pitchFamily="18" charset="2"/>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D.</a:t>
                      </a:r>
                      <a:r>
                        <a:rPr kumimoji="0" lang="fr-FR" altLang="en-US" sz="2800" b="0" i="1" u="none" strike="noStrike" cap="none" normalizeH="0" baseline="0">
                          <a:ln>
                            <a:noFill/>
                          </a:ln>
                          <a:solidFill>
                            <a:srgbClr val="3539EB"/>
                          </a:solidFill>
                          <a:effectLst/>
                          <a:latin typeface="Arial" panose="020B0604020202020204" pitchFamily="34" charset="0"/>
                        </a:rPr>
                        <a:t>type</a:t>
                      </a:r>
                      <a:r>
                        <a:rPr kumimoji="0" lang="fr-FR" altLang="en-US" sz="2800" b="0" i="0" u="none" strike="noStrike" cap="none" normalizeH="0" baseline="0">
                          <a:ln>
                            <a:noFill/>
                          </a:ln>
                          <a:solidFill>
                            <a:srgbClr val="270076"/>
                          </a:solidFill>
                          <a:effectLst/>
                          <a:latin typeface="Arial" panose="020B0604020202020204" pitchFamily="34" charset="0"/>
                        </a:rPr>
                        <a:t> = D</a:t>
                      </a:r>
                      <a:r>
                        <a:rPr kumimoji="0" lang="fr-FR" altLang="en-US" sz="2800" b="0" i="0" u="none" strike="noStrike" cap="none" normalizeH="0" baseline="-25000">
                          <a:ln>
                            <a:noFill/>
                          </a:ln>
                          <a:solidFill>
                            <a:srgbClr val="270076"/>
                          </a:solidFill>
                          <a:effectLst/>
                          <a:latin typeface="Arial" panose="020B0604020202020204" pitchFamily="34" charset="0"/>
                        </a:rPr>
                        <a:t>1</a:t>
                      </a:r>
                      <a:r>
                        <a:rPr kumimoji="0" lang="fr-FR" altLang="en-US" sz="2800" b="0" i="0" u="none" strike="noStrike" cap="none" normalizeH="0" baseline="0">
                          <a:ln>
                            <a:noFill/>
                          </a:ln>
                          <a:solidFill>
                            <a:srgbClr val="270076"/>
                          </a:solidFill>
                          <a:effectLst/>
                          <a:latin typeface="Arial" panose="020B0604020202020204" pitchFamily="34" charset="0"/>
                        </a:rPr>
                        <a:t>.</a:t>
                      </a:r>
                      <a:r>
                        <a:rPr kumimoji="0" lang="fr-FR" altLang="en-US" sz="2800" b="0" i="1" u="none" strike="noStrike" cap="none" normalizeH="0" baseline="0">
                          <a:ln>
                            <a:noFill/>
                          </a:ln>
                          <a:solidFill>
                            <a:srgbClr val="270076"/>
                          </a:solidFill>
                          <a:effectLst/>
                          <a:latin typeface="Arial" panose="020B0604020202020204" pitchFamily="34" charset="0"/>
                        </a:rPr>
                        <a:t>type</a:t>
                      </a:r>
                      <a:r>
                        <a:rPr kumimoji="0" lang="fr-FR" altLang="en-US" sz="2800" b="0" i="0" u="none" strike="noStrike" cap="none" normalizeH="0" baseline="0">
                          <a:ln>
                            <a:noFill/>
                          </a:ln>
                          <a:solidFill>
                            <a:srgbClr val="270076"/>
                          </a:solidFill>
                          <a:effectLst/>
                          <a:latin typeface="Arial" panose="020B0604020202020204" pitchFamily="34" charset="0"/>
                        </a:rPr>
                        <a:t> x D</a:t>
                      </a:r>
                      <a:r>
                        <a:rPr kumimoji="0" lang="fr-FR" altLang="en-US" sz="2800" b="0" i="0" u="none" strike="noStrike" cap="none" normalizeH="0" baseline="-25000">
                          <a:ln>
                            <a:noFill/>
                          </a:ln>
                          <a:solidFill>
                            <a:srgbClr val="270076"/>
                          </a:solidFill>
                          <a:effectLst/>
                          <a:latin typeface="Arial" panose="020B0604020202020204" pitchFamily="34" charset="0"/>
                        </a:rPr>
                        <a:t>2</a:t>
                      </a:r>
                      <a:r>
                        <a:rPr kumimoji="0" lang="fr-FR" altLang="en-US" sz="2800" b="0" i="0" u="none" strike="noStrike" cap="none" normalizeH="0" baseline="0">
                          <a:ln>
                            <a:noFill/>
                          </a:ln>
                          <a:solidFill>
                            <a:srgbClr val="270076"/>
                          </a:solidFill>
                          <a:effectLst/>
                          <a:latin typeface="Arial" panose="020B0604020202020204" pitchFamily="34" charset="0"/>
                        </a:rPr>
                        <a:t>.</a:t>
                      </a:r>
                      <a:r>
                        <a:rPr kumimoji="0" lang="fr-FR" altLang="en-US" sz="2800" b="0" i="1" u="none" strike="noStrike" cap="none" normalizeH="0" baseline="0">
                          <a:ln>
                            <a:noFill/>
                          </a:ln>
                          <a:solidFill>
                            <a:srgbClr val="270076"/>
                          </a:solidFill>
                          <a:effectLst/>
                          <a:latin typeface="Arial" panose="020B0604020202020204" pitchFamily="34" charset="0"/>
                        </a:rPr>
                        <a:t>type</a:t>
                      </a:r>
                      <a:r>
                        <a:rPr kumimoji="0" lang="fr-FR" altLang="en-US" sz="2800" b="0" i="0" u="none" strike="noStrike" cap="none" normalizeH="0" baseline="0">
                          <a:ln>
                            <a:noFill/>
                          </a:ln>
                          <a:solidFill>
                            <a:srgbClr val="270076"/>
                          </a:solidFill>
                          <a:effectLst/>
                          <a:latin typeface="Arial" panose="020B0604020202020204" pitchFamily="34" charset="0"/>
                        </a:rPr>
                        <a:t> </a:t>
                      </a:r>
                      <a:endParaRPr kumimoji="0" lang="en-US" altLang="en-US" sz="2800" b="0" i="0" u="none" strike="noStrike" cap="none" normalizeH="0" baseline="0">
                        <a:ln>
                          <a:noFill/>
                        </a:ln>
                        <a:solidFill>
                          <a:srgbClr val="270076"/>
                        </a:solidFill>
                        <a:effectLst/>
                        <a:latin typeface="Arial" panose="020B0604020202020204" pitchFamily="34" charset="0"/>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88">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dirty="0">
                          <a:ln>
                            <a:noFill/>
                          </a:ln>
                          <a:solidFill>
                            <a:srgbClr val="270076"/>
                          </a:solidFill>
                          <a:effectLst/>
                          <a:latin typeface="Arial" panose="020B0604020202020204" pitchFamily="34" charset="0"/>
                        </a:rPr>
                        <a:t>D </a:t>
                      </a:r>
                      <a:r>
                        <a:rPr kumimoji="0" lang="fr-FR" altLang="en-US" sz="28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a:t>
                      </a:r>
                      <a:r>
                        <a:rPr kumimoji="0" lang="fr-FR" altLang="en-US" sz="2800" b="0" i="0" u="none" strike="noStrike" cap="none" normalizeH="0" baseline="0" dirty="0">
                          <a:ln>
                            <a:noFill/>
                          </a:ln>
                          <a:solidFill>
                            <a:srgbClr val="3539EB"/>
                          </a:solidFill>
                          <a:effectLst/>
                          <a:latin typeface="Arial" panose="020B0604020202020204" pitchFamily="34" charset="0"/>
                          <a:sym typeface="Symbol" panose="05050102010706020507" pitchFamily="18" charset="2"/>
                        </a:rPr>
                        <a:t>fun</a:t>
                      </a:r>
                      <a:r>
                        <a:rPr kumimoji="0" lang="fr-FR" altLang="en-US" sz="28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id(D):T; B</a:t>
                      </a:r>
                      <a:endParaRPr kumimoji="0" lang="en-US" altLang="en-US" sz="2800" b="0" i="0" u="none" strike="noStrike" cap="none" normalizeH="0" baseline="0" dirty="0">
                        <a:ln>
                          <a:noFill/>
                        </a:ln>
                        <a:solidFill>
                          <a:srgbClr val="270076"/>
                        </a:solidFill>
                        <a:effectLst/>
                        <a:latin typeface="Arial" panose="020B0604020202020204" pitchFamily="34" charset="0"/>
                        <a:sym typeface="Symbol" panose="05050102010706020507" pitchFamily="18" charset="2"/>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a:ln>
                            <a:noFill/>
                          </a:ln>
                          <a:solidFill>
                            <a:srgbClr val="270076"/>
                          </a:solidFill>
                          <a:effectLst/>
                          <a:latin typeface="Arial" panose="020B0604020202020204" pitchFamily="34" charset="0"/>
                        </a:rPr>
                        <a:t>addType(id.</a:t>
                      </a:r>
                      <a:r>
                        <a:rPr kumimoji="0" lang="fr-FR" altLang="en-US" sz="2400" b="0" i="1" u="none" strike="noStrike" cap="none" normalizeH="0" baseline="0">
                          <a:ln>
                            <a:noFill/>
                          </a:ln>
                          <a:solidFill>
                            <a:srgbClr val="270076"/>
                          </a:solidFill>
                          <a:effectLst/>
                          <a:latin typeface="Arial" panose="020B0604020202020204" pitchFamily="34" charset="0"/>
                        </a:rPr>
                        <a:t>entry</a:t>
                      </a:r>
                      <a:r>
                        <a:rPr kumimoji="0" lang="fr-FR" altLang="en-US" sz="2400" b="0" i="0" u="none" strike="noStrike" cap="none" normalizeH="0" baseline="0">
                          <a:ln>
                            <a:noFill/>
                          </a:ln>
                          <a:solidFill>
                            <a:srgbClr val="270076"/>
                          </a:solidFill>
                          <a:effectLst/>
                          <a:latin typeface="Arial" panose="020B0604020202020204" pitchFamily="34" charset="0"/>
                        </a:rPr>
                        <a:t>,D.</a:t>
                      </a:r>
                      <a:r>
                        <a:rPr kumimoji="0" lang="fr-FR" altLang="en-US" sz="2400" b="0" i="1" u="none" strike="noStrike" cap="none" normalizeH="0" baseline="0">
                          <a:ln>
                            <a:noFill/>
                          </a:ln>
                          <a:solidFill>
                            <a:srgbClr val="270076"/>
                          </a:solidFill>
                          <a:effectLst/>
                          <a:latin typeface="Arial" panose="020B0604020202020204" pitchFamily="34" charset="0"/>
                        </a:rPr>
                        <a:t>type</a:t>
                      </a:r>
                      <a:r>
                        <a:rPr kumimoji="0" lang="fr-FR" altLang="en-US" sz="2400" b="0" i="0" u="none" strike="noStrike" cap="none" normalizeH="0" baseline="0">
                          <a:ln>
                            <a:noFill/>
                          </a:ln>
                          <a:solidFill>
                            <a:srgbClr val="270076"/>
                          </a:solidFill>
                          <a:effectLst/>
                          <a:latin typeface="Arial" panose="020B0604020202020204" pitchFamily="34" charset="0"/>
                        </a:rPr>
                        <a:t> </a:t>
                      </a:r>
                      <a:r>
                        <a:rPr kumimoji="0" lang="fr-FR" altLang="en-US" sz="2400" b="0" i="0" u="none" strike="noStrike" cap="none" normalizeH="0" baseline="0">
                          <a:ln>
                            <a:noFill/>
                          </a:ln>
                          <a:solidFill>
                            <a:srgbClr val="270076"/>
                          </a:solidFill>
                          <a:effectLst/>
                          <a:latin typeface="Arial" panose="020B0604020202020204" pitchFamily="34" charset="0"/>
                          <a:sym typeface="Symbol" panose="05050102010706020507" pitchFamily="18" charset="2"/>
                        </a:rPr>
                        <a:t></a:t>
                      </a:r>
                      <a:r>
                        <a:rPr kumimoji="0" lang="fr-FR" altLang="en-US" sz="2400" b="0" i="0" u="none" strike="noStrike" cap="none" normalizeH="0" baseline="0">
                          <a:ln>
                            <a:noFill/>
                          </a:ln>
                          <a:solidFill>
                            <a:srgbClr val="270076"/>
                          </a:solidFill>
                          <a:effectLst/>
                          <a:latin typeface="Arial" panose="020B0604020202020204" pitchFamily="34" charset="0"/>
                        </a:rPr>
                        <a:t> T.</a:t>
                      </a:r>
                      <a:r>
                        <a:rPr kumimoji="0" lang="fr-FR" altLang="en-US" sz="2400" b="0" i="1" u="none" strike="noStrike" cap="none" normalizeH="0" baseline="0">
                          <a:ln>
                            <a:noFill/>
                          </a:ln>
                          <a:solidFill>
                            <a:srgbClr val="270076"/>
                          </a:solidFill>
                          <a:effectLst/>
                          <a:latin typeface="Arial" panose="020B0604020202020204" pitchFamily="34" charset="0"/>
                        </a:rPr>
                        <a:t>type</a:t>
                      </a:r>
                      <a:r>
                        <a:rPr kumimoji="0" lang="fr-FR" altLang="en-US" sz="2400" b="0" i="0" u="none" strike="noStrike" cap="none" normalizeH="0" baseline="0">
                          <a:ln>
                            <a:noFill/>
                          </a:ln>
                          <a:solidFill>
                            <a:srgbClr val="270076"/>
                          </a:solidFill>
                          <a:effectLst/>
                          <a:latin typeface="Arial" panose="020B0604020202020204" pitchFamily="34" charset="0"/>
                        </a:rPr>
                        <a:t>)</a:t>
                      </a:r>
                      <a:endParaRPr kumimoji="0" lang="en-US" altLang="en-US" sz="2400" b="0" i="0" u="none" strike="noStrike" cap="none" normalizeH="0" baseline="0">
                        <a:ln>
                          <a:noFill/>
                        </a:ln>
                        <a:solidFill>
                          <a:srgbClr val="270076"/>
                        </a:solidFill>
                        <a:effectLst/>
                        <a:latin typeface="Arial" panose="020B0604020202020204" pitchFamily="34" charset="0"/>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88">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B </a:t>
                      </a:r>
                      <a:r>
                        <a:rPr kumimoji="0" lang="fr-FR"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 { S }</a:t>
                      </a:r>
                      <a:endParaRPr kumimoji="0" lang="en-US"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r-FR" altLang="en-US" sz="2800" b="0" i="0" u="none" strike="noStrike" cap="none" normalizeH="0" baseline="0">
                        <a:ln>
                          <a:noFill/>
                        </a:ln>
                        <a:solidFill>
                          <a:srgbClr val="270076"/>
                        </a:solidFill>
                        <a:effectLst/>
                        <a:latin typeface="Arial" panose="020B0604020202020204" pitchFamily="34" charset="0"/>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774031">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dirty="0">
                          <a:ln>
                            <a:noFill/>
                          </a:ln>
                          <a:solidFill>
                            <a:srgbClr val="270076"/>
                          </a:solidFill>
                          <a:effectLst/>
                          <a:latin typeface="Arial" panose="020B0604020202020204" pitchFamily="34" charset="0"/>
                        </a:rPr>
                        <a:t>E </a:t>
                      </a:r>
                      <a:r>
                        <a:rPr kumimoji="0" lang="fr-FR" altLang="en-US" sz="28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Id(</a:t>
                      </a:r>
                      <a:r>
                        <a:rPr kumimoji="0" lang="fr-FR" altLang="en-US" sz="28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EList</a:t>
                      </a:r>
                      <a:r>
                        <a:rPr kumimoji="0" lang="fr-FR" altLang="en-US" sz="28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dirty="0">
                          <a:ln>
                            <a:noFill/>
                          </a:ln>
                          <a:solidFill>
                            <a:schemeClr val="bg2"/>
                          </a:solidFill>
                          <a:effectLst/>
                          <a:latin typeface="Arial" panose="020B0604020202020204" pitchFamily="34" charset="0"/>
                          <a:sym typeface="Symbol" panose="05050102010706020507" pitchFamily="18" charset="2"/>
                        </a:rPr>
                        <a:t>//</a:t>
                      </a:r>
                      <a:r>
                        <a:rPr kumimoji="0" lang="fr-FR" altLang="en-US" sz="2800" b="0" i="0" u="none" strike="noStrike" cap="none" normalizeH="0" baseline="0" dirty="0" err="1">
                          <a:ln>
                            <a:noFill/>
                          </a:ln>
                          <a:solidFill>
                            <a:schemeClr val="bg2"/>
                          </a:solidFill>
                          <a:effectLst/>
                          <a:latin typeface="Arial" panose="020B0604020202020204" pitchFamily="34" charset="0"/>
                          <a:sym typeface="Symbol" panose="05050102010706020507" pitchFamily="18" charset="2"/>
                        </a:rPr>
                        <a:t>gọi</a:t>
                      </a:r>
                      <a:r>
                        <a:rPr kumimoji="0" lang="fr-FR" altLang="en-US" sz="2800" b="0" i="0" u="none" strike="noStrike" cap="none" normalizeH="0" baseline="0" dirty="0">
                          <a:ln>
                            <a:noFill/>
                          </a:ln>
                          <a:solidFill>
                            <a:schemeClr val="bg2"/>
                          </a:solidFill>
                          <a:effectLst/>
                          <a:latin typeface="Arial" panose="020B0604020202020204" pitchFamily="34" charset="0"/>
                          <a:sym typeface="Symbol" panose="05050102010706020507" pitchFamily="18" charset="2"/>
                        </a:rPr>
                        <a:t> </a:t>
                      </a:r>
                      <a:r>
                        <a:rPr kumimoji="0" lang="fr-FR" altLang="en-US" sz="2800" b="0" i="0" u="none" strike="noStrike" cap="none" normalizeH="0" baseline="0" dirty="0" err="1">
                          <a:ln>
                            <a:noFill/>
                          </a:ln>
                          <a:solidFill>
                            <a:schemeClr val="bg2"/>
                          </a:solidFill>
                          <a:effectLst/>
                          <a:latin typeface="Arial" panose="020B0604020202020204" pitchFamily="34" charset="0"/>
                          <a:sym typeface="Symbol" panose="05050102010706020507" pitchFamily="18" charset="2"/>
                        </a:rPr>
                        <a:t>hàm</a:t>
                      </a:r>
                      <a:endParaRPr kumimoji="0" lang="en-US" altLang="en-US" sz="2800" b="0" i="0" u="none" strike="noStrike" cap="none" normalizeH="0" baseline="-25000" dirty="0">
                        <a:ln>
                          <a:noFill/>
                        </a:ln>
                        <a:solidFill>
                          <a:schemeClr val="bg2"/>
                        </a:solidFill>
                        <a:effectLst/>
                        <a:latin typeface="Arial" panose="020B0604020202020204" pitchFamily="34" charset="0"/>
                        <a:sym typeface="Symbol" panose="05050102010706020507" pitchFamily="18" charset="2"/>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dirty="0" err="1">
                          <a:ln>
                            <a:noFill/>
                          </a:ln>
                          <a:solidFill>
                            <a:srgbClr val="270076"/>
                          </a:solidFill>
                          <a:effectLst/>
                          <a:latin typeface="Arial" panose="020B0604020202020204" pitchFamily="34" charset="0"/>
                        </a:rPr>
                        <a:t>E.</a:t>
                      </a:r>
                      <a:r>
                        <a:rPr kumimoji="0" lang="fr-FR" altLang="en-US" sz="2400" b="0" i="1" u="none" strike="noStrike" cap="none" normalizeH="0" baseline="0" dirty="0" err="1">
                          <a:ln>
                            <a:noFill/>
                          </a:ln>
                          <a:solidFill>
                            <a:srgbClr val="3539EB"/>
                          </a:solidFill>
                          <a:effectLst/>
                          <a:latin typeface="Arial" panose="020B0604020202020204" pitchFamily="34" charset="0"/>
                        </a:rPr>
                        <a:t>type</a:t>
                      </a:r>
                      <a:r>
                        <a:rPr kumimoji="0" lang="fr-FR" altLang="en-US" sz="2400" b="0" i="0" u="none" strike="noStrike" cap="none" normalizeH="0" baseline="0" dirty="0">
                          <a:ln>
                            <a:noFill/>
                          </a:ln>
                          <a:solidFill>
                            <a:srgbClr val="270076"/>
                          </a:solidFill>
                          <a:effectLst/>
                          <a:latin typeface="Arial" panose="020B0604020202020204" pitchFamily="34" charset="0"/>
                        </a:rPr>
                        <a:t>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dirty="0">
                          <a:ln>
                            <a:noFill/>
                          </a:ln>
                          <a:solidFill>
                            <a:srgbClr val="270076"/>
                          </a:solidFill>
                          <a:effectLst/>
                          <a:latin typeface="Arial" panose="020B0604020202020204" pitchFamily="34" charset="0"/>
                        </a:rPr>
                        <a:t>    if  </a:t>
                      </a:r>
                      <a:r>
                        <a:rPr kumimoji="0" lang="fr-FR" altLang="en-US" sz="2400" b="1" i="0" u="none" strike="noStrike" cap="none" normalizeH="0" baseline="0" dirty="0" err="1">
                          <a:ln>
                            <a:noFill/>
                          </a:ln>
                          <a:solidFill>
                            <a:schemeClr val="accent2"/>
                          </a:solidFill>
                          <a:effectLst/>
                          <a:latin typeface="Arial" panose="020B0604020202020204" pitchFamily="34" charset="0"/>
                        </a:rPr>
                        <a:t>lookup</a:t>
                      </a:r>
                      <a:r>
                        <a:rPr kumimoji="0" lang="fr-FR" altLang="en-US" sz="2400" b="0" i="0" u="none" strike="noStrike" cap="none" normalizeH="0" baseline="0" dirty="0">
                          <a:ln>
                            <a:noFill/>
                          </a:ln>
                          <a:solidFill>
                            <a:srgbClr val="270076"/>
                          </a:solidFill>
                          <a:effectLst/>
                          <a:latin typeface="Arial" panose="020B0604020202020204" pitchFamily="34" charset="0"/>
                        </a:rPr>
                        <a:t>(</a:t>
                      </a:r>
                      <a:r>
                        <a:rPr kumimoji="0" lang="fr-FR" altLang="en-US" sz="2400" b="0" i="0" u="none" strike="noStrike" cap="none" normalizeH="0" baseline="0" dirty="0" err="1">
                          <a:ln>
                            <a:noFill/>
                          </a:ln>
                          <a:solidFill>
                            <a:srgbClr val="270076"/>
                          </a:solidFill>
                          <a:effectLst/>
                          <a:latin typeface="Arial" panose="020B0604020202020204" pitchFamily="34" charset="0"/>
                        </a:rPr>
                        <a:t>Id.entry</a:t>
                      </a:r>
                      <a:r>
                        <a:rPr kumimoji="0" lang="fr-FR" altLang="en-US" sz="2400" b="0" i="0" u="none" strike="noStrike" cap="none" normalizeH="0" baseline="0" dirty="0">
                          <a:ln>
                            <a:noFill/>
                          </a:ln>
                          <a:solidFill>
                            <a:srgbClr val="270076"/>
                          </a:solidFill>
                          <a:effectLst/>
                          <a:latin typeface="Arial" panose="020B0604020202020204" pitchFamily="34" charset="0"/>
                        </a:rPr>
                        <a:t>)= t1</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t2 AND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a:t>
                      </a:r>
                      <a:r>
                        <a:rPr kumimoji="0" lang="fr-FR"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EList.type</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=t1 </a:t>
                      </a:r>
                      <a:r>
                        <a:rPr kumimoji="0" lang="fr-FR"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then</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t2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a:t>
                      </a:r>
                      <a:r>
                        <a:rPr kumimoji="0" lang="fr-FR"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else</a:t>
                      </a:r>
                      <a:r>
                        <a:rPr kumimoji="0" lang="fr-FR"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rPr>
                        <a:t> </a:t>
                      </a:r>
                      <a:r>
                        <a:rPr kumimoji="0" lang="fr-FR" altLang="en-US" sz="2400" b="0" i="0" u="none" strike="noStrike" cap="none" normalizeH="0" baseline="0" dirty="0" err="1">
                          <a:ln>
                            <a:noFill/>
                          </a:ln>
                          <a:solidFill>
                            <a:srgbClr val="270076"/>
                          </a:solidFill>
                          <a:effectLst/>
                          <a:latin typeface="Arial" panose="020B0604020202020204" pitchFamily="34" charset="0"/>
                          <a:sym typeface="Symbol" panose="05050102010706020507" pitchFamily="18" charset="2"/>
                        </a:rPr>
                        <a:t>type_error</a:t>
                      </a:r>
                      <a:endParaRPr kumimoji="0" lang="en-US" altLang="en-US" sz="2400" b="0" i="0" u="none" strike="noStrike" cap="none" normalizeH="0" baseline="0" dirty="0">
                        <a:ln>
                          <a:noFill/>
                        </a:ln>
                        <a:solidFill>
                          <a:srgbClr val="270076"/>
                        </a:solidFill>
                        <a:effectLst/>
                        <a:latin typeface="Arial" panose="020B0604020202020204" pitchFamily="34" charset="0"/>
                        <a:sym typeface="Symbol" panose="05050102010706020507" pitchFamily="18" charset="2"/>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88">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EList </a:t>
                      </a:r>
                      <a:r>
                        <a:rPr kumimoji="0" lang="fr-FR"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 E</a:t>
                      </a:r>
                      <a:endParaRPr kumimoji="0" lang="en-US"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600" b="0" i="0" u="none" strike="noStrike" cap="none" normalizeH="0" baseline="0">
                          <a:ln>
                            <a:noFill/>
                          </a:ln>
                          <a:solidFill>
                            <a:srgbClr val="270076"/>
                          </a:solidFill>
                          <a:effectLst/>
                          <a:latin typeface="Arial" panose="020B0604020202020204" pitchFamily="34" charset="0"/>
                        </a:rPr>
                        <a:t>EList.</a:t>
                      </a:r>
                      <a:r>
                        <a:rPr kumimoji="0" lang="fr-FR" altLang="en-US" sz="2600" b="0" i="1" u="none" strike="noStrike" cap="none" normalizeH="0" baseline="0">
                          <a:ln>
                            <a:noFill/>
                          </a:ln>
                          <a:solidFill>
                            <a:srgbClr val="270076"/>
                          </a:solidFill>
                          <a:effectLst/>
                          <a:latin typeface="Arial" panose="020B0604020202020204" pitchFamily="34" charset="0"/>
                        </a:rPr>
                        <a:t>type</a:t>
                      </a:r>
                      <a:r>
                        <a:rPr kumimoji="0" lang="fr-FR" altLang="en-US" sz="2600" b="0" i="0" u="none" strike="noStrike" cap="none" normalizeH="0" baseline="0">
                          <a:ln>
                            <a:noFill/>
                          </a:ln>
                          <a:solidFill>
                            <a:srgbClr val="270076"/>
                          </a:solidFill>
                          <a:effectLst/>
                          <a:latin typeface="Arial" panose="020B0604020202020204" pitchFamily="34" charset="0"/>
                        </a:rPr>
                        <a:t> = E.</a:t>
                      </a:r>
                      <a:r>
                        <a:rPr kumimoji="0" lang="fr-FR" altLang="en-US" sz="2600" b="0" i="1" u="none" strike="noStrike" cap="none" normalizeH="0" baseline="0">
                          <a:ln>
                            <a:noFill/>
                          </a:ln>
                          <a:solidFill>
                            <a:srgbClr val="270076"/>
                          </a:solidFill>
                          <a:effectLst/>
                          <a:latin typeface="Arial" panose="020B0604020202020204" pitchFamily="34" charset="0"/>
                        </a:rPr>
                        <a:t>type</a:t>
                      </a:r>
                      <a:endParaRPr kumimoji="0" lang="en-US" altLang="en-US" sz="2600" b="0" i="0" u="none" strike="noStrike" cap="none" normalizeH="0" baseline="0">
                        <a:ln>
                          <a:noFill/>
                        </a:ln>
                        <a:solidFill>
                          <a:srgbClr val="270076"/>
                        </a:solidFill>
                        <a:effectLst/>
                        <a:latin typeface="Arial" panose="020B0604020202020204" pitchFamily="34" charset="0"/>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88">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800" b="0" i="0" u="none" strike="noStrike" cap="none" normalizeH="0" baseline="0">
                          <a:ln>
                            <a:noFill/>
                          </a:ln>
                          <a:solidFill>
                            <a:srgbClr val="270076"/>
                          </a:solidFill>
                          <a:effectLst/>
                          <a:latin typeface="Arial" panose="020B0604020202020204" pitchFamily="34" charset="0"/>
                        </a:rPr>
                        <a:t>EList </a:t>
                      </a:r>
                      <a:r>
                        <a:rPr kumimoji="0" lang="fr-FR"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 Elist</a:t>
                      </a:r>
                      <a:r>
                        <a:rPr kumimoji="0" lang="fr-FR" altLang="en-US" sz="2800" b="0" i="0" u="none" strike="noStrike" cap="none" normalizeH="0" baseline="-25000">
                          <a:ln>
                            <a:noFill/>
                          </a:ln>
                          <a:solidFill>
                            <a:srgbClr val="270076"/>
                          </a:solidFill>
                          <a:effectLst/>
                          <a:latin typeface="Arial" panose="020B0604020202020204" pitchFamily="34" charset="0"/>
                          <a:sym typeface="Symbol" panose="05050102010706020507" pitchFamily="18" charset="2"/>
                        </a:rPr>
                        <a:t>1 </a:t>
                      </a:r>
                      <a:r>
                        <a:rPr kumimoji="0" lang="fr-FR"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rPr>
                        <a:t>, E</a:t>
                      </a:r>
                      <a:endParaRPr kumimoji="0" lang="en-US" altLang="en-US" sz="2800" b="0" i="0" u="none" strike="noStrike" cap="none" normalizeH="0" baseline="0">
                        <a:ln>
                          <a:noFill/>
                        </a:ln>
                        <a:solidFill>
                          <a:srgbClr val="270076"/>
                        </a:solidFill>
                        <a:effectLst/>
                        <a:latin typeface="Arial" panose="020B0604020202020204" pitchFamily="34" charset="0"/>
                        <a:sym typeface="Symbol" panose="05050102010706020507" pitchFamily="18" charset="2"/>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rgbClr val="270076"/>
                          </a:solidFill>
                          <a:latin typeface="Arial" panose="020B0604020202020204" pitchFamily="34" charset="0"/>
                        </a:defRPr>
                      </a:lvl1pPr>
                      <a:lvl2pPr marL="742950" indent="-285750">
                        <a:spcBef>
                          <a:spcPct val="20000"/>
                        </a:spcBef>
                        <a:defRPr sz="2400">
                          <a:solidFill>
                            <a:srgbClr val="270076"/>
                          </a:solidFill>
                          <a:latin typeface="Arial" panose="020B0604020202020204" pitchFamily="34" charset="0"/>
                        </a:defRPr>
                      </a:lvl2pPr>
                      <a:lvl3pPr marL="1143000" indent="-228600">
                        <a:spcBef>
                          <a:spcPct val="20000"/>
                        </a:spcBef>
                        <a:defRPr sz="2000">
                          <a:solidFill>
                            <a:srgbClr val="270076"/>
                          </a:solidFill>
                          <a:latin typeface="Arial" panose="020B0604020202020204" pitchFamily="34" charset="0"/>
                        </a:defRPr>
                      </a:lvl3pPr>
                      <a:lvl4pPr marL="1600200" indent="-228600">
                        <a:spcBef>
                          <a:spcPct val="20000"/>
                        </a:spcBef>
                        <a:defRPr>
                          <a:solidFill>
                            <a:srgbClr val="270076"/>
                          </a:solidFill>
                          <a:latin typeface="Arial" panose="020B0604020202020204" pitchFamily="34" charset="0"/>
                        </a:defRPr>
                      </a:lvl4pPr>
                      <a:lvl5pPr marL="2057400" indent="-228600">
                        <a:spcBef>
                          <a:spcPct val="20000"/>
                        </a:spcBef>
                        <a:defRPr>
                          <a:solidFill>
                            <a:srgbClr val="270076"/>
                          </a:solidFill>
                          <a:latin typeface="Arial" panose="020B0604020202020204" pitchFamily="34" charset="0"/>
                        </a:defRPr>
                      </a:lvl5pPr>
                      <a:lvl6pPr marL="2514600" indent="-228600" fontAlgn="base">
                        <a:spcBef>
                          <a:spcPct val="20000"/>
                        </a:spcBef>
                        <a:spcAft>
                          <a:spcPct val="0"/>
                        </a:spcAft>
                        <a:defRPr>
                          <a:solidFill>
                            <a:srgbClr val="270076"/>
                          </a:solidFill>
                          <a:latin typeface="Arial" panose="020B0604020202020204" pitchFamily="34" charset="0"/>
                        </a:defRPr>
                      </a:lvl6pPr>
                      <a:lvl7pPr marL="2971800" indent="-228600" fontAlgn="base">
                        <a:spcBef>
                          <a:spcPct val="20000"/>
                        </a:spcBef>
                        <a:spcAft>
                          <a:spcPct val="0"/>
                        </a:spcAft>
                        <a:defRPr>
                          <a:solidFill>
                            <a:srgbClr val="270076"/>
                          </a:solidFill>
                          <a:latin typeface="Arial" panose="020B0604020202020204" pitchFamily="34" charset="0"/>
                        </a:defRPr>
                      </a:lvl7pPr>
                      <a:lvl8pPr marL="3429000" indent="-228600" fontAlgn="base">
                        <a:spcBef>
                          <a:spcPct val="20000"/>
                        </a:spcBef>
                        <a:spcAft>
                          <a:spcPct val="0"/>
                        </a:spcAft>
                        <a:defRPr>
                          <a:solidFill>
                            <a:srgbClr val="270076"/>
                          </a:solidFill>
                          <a:latin typeface="Arial" panose="020B0604020202020204" pitchFamily="34" charset="0"/>
                        </a:defRPr>
                      </a:lvl8pPr>
                      <a:lvl9pPr marL="3886200" indent="-228600" fontAlgn="base">
                        <a:spcBef>
                          <a:spcPct val="20000"/>
                        </a:spcBef>
                        <a:spcAft>
                          <a:spcPct val="0"/>
                        </a:spcAft>
                        <a:defRPr>
                          <a:solidFill>
                            <a:srgbClr val="270076"/>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altLang="en-US" sz="2600" b="0" i="0" u="none" strike="noStrike" cap="none" normalizeH="0" baseline="0" dirty="0" err="1">
                          <a:ln>
                            <a:noFill/>
                          </a:ln>
                          <a:solidFill>
                            <a:srgbClr val="270076"/>
                          </a:solidFill>
                          <a:effectLst/>
                          <a:latin typeface="Arial" panose="020B0604020202020204" pitchFamily="34" charset="0"/>
                        </a:rPr>
                        <a:t>EList.</a:t>
                      </a:r>
                      <a:r>
                        <a:rPr kumimoji="0" lang="fr-FR" altLang="en-US" sz="2600" b="0" i="1" u="none" strike="noStrike" cap="none" normalizeH="0" baseline="0" dirty="0" err="1">
                          <a:ln>
                            <a:noFill/>
                          </a:ln>
                          <a:solidFill>
                            <a:srgbClr val="270076"/>
                          </a:solidFill>
                          <a:effectLst/>
                          <a:latin typeface="Arial" panose="020B0604020202020204" pitchFamily="34" charset="0"/>
                        </a:rPr>
                        <a:t>type</a:t>
                      </a:r>
                      <a:r>
                        <a:rPr kumimoji="0" lang="fr-FR" altLang="en-US" sz="2600" b="0" i="0" u="none" strike="noStrike" cap="none" normalizeH="0" baseline="0" dirty="0">
                          <a:ln>
                            <a:noFill/>
                          </a:ln>
                          <a:solidFill>
                            <a:srgbClr val="270076"/>
                          </a:solidFill>
                          <a:effectLst/>
                          <a:latin typeface="Arial" panose="020B0604020202020204" pitchFamily="34" charset="0"/>
                        </a:rPr>
                        <a:t> = EList</a:t>
                      </a:r>
                      <a:r>
                        <a:rPr kumimoji="0" lang="fr-FR" altLang="en-US" sz="2600" b="0" i="0" u="none" strike="noStrike" cap="none" normalizeH="0" baseline="-25000" dirty="0">
                          <a:ln>
                            <a:noFill/>
                          </a:ln>
                          <a:solidFill>
                            <a:srgbClr val="270076"/>
                          </a:solidFill>
                          <a:effectLst/>
                          <a:latin typeface="Arial" panose="020B0604020202020204" pitchFamily="34" charset="0"/>
                        </a:rPr>
                        <a:t>1</a:t>
                      </a:r>
                      <a:r>
                        <a:rPr kumimoji="0" lang="fr-FR" altLang="en-US" sz="2600" b="0" i="0" u="none" strike="noStrike" cap="none" normalizeH="0" baseline="0" dirty="0">
                          <a:ln>
                            <a:noFill/>
                          </a:ln>
                          <a:solidFill>
                            <a:srgbClr val="270076"/>
                          </a:solidFill>
                          <a:effectLst/>
                          <a:latin typeface="Arial" panose="020B0604020202020204" pitchFamily="34" charset="0"/>
                        </a:rPr>
                        <a:t>.</a:t>
                      </a:r>
                      <a:r>
                        <a:rPr kumimoji="0" lang="fr-FR" altLang="en-US" sz="2600" b="0" i="1" u="none" strike="noStrike" cap="none" normalizeH="0" baseline="0" dirty="0">
                          <a:ln>
                            <a:noFill/>
                          </a:ln>
                          <a:solidFill>
                            <a:srgbClr val="270076"/>
                          </a:solidFill>
                          <a:effectLst/>
                          <a:latin typeface="Arial" panose="020B0604020202020204" pitchFamily="34" charset="0"/>
                        </a:rPr>
                        <a:t>type</a:t>
                      </a:r>
                      <a:r>
                        <a:rPr kumimoji="0" lang="fr-FR" altLang="en-US" sz="2600" b="0" i="0" u="none" strike="noStrike" cap="none" normalizeH="0" baseline="0" dirty="0">
                          <a:ln>
                            <a:noFill/>
                          </a:ln>
                          <a:solidFill>
                            <a:srgbClr val="270076"/>
                          </a:solidFill>
                          <a:effectLst/>
                          <a:latin typeface="Arial" panose="020B0604020202020204" pitchFamily="34" charset="0"/>
                        </a:rPr>
                        <a:t> x </a:t>
                      </a:r>
                      <a:r>
                        <a:rPr kumimoji="0" lang="fr-FR" altLang="en-US" sz="2600" b="0" i="0" u="none" strike="noStrike" cap="none" normalizeH="0" baseline="0" dirty="0" err="1">
                          <a:ln>
                            <a:noFill/>
                          </a:ln>
                          <a:solidFill>
                            <a:srgbClr val="270076"/>
                          </a:solidFill>
                          <a:effectLst/>
                          <a:latin typeface="Arial" panose="020B0604020202020204" pitchFamily="34" charset="0"/>
                        </a:rPr>
                        <a:t>E.</a:t>
                      </a:r>
                      <a:r>
                        <a:rPr kumimoji="0" lang="fr-FR" altLang="en-US" sz="2600" b="0" i="1" u="none" strike="noStrike" cap="none" normalizeH="0" baseline="0" dirty="0" err="1">
                          <a:ln>
                            <a:noFill/>
                          </a:ln>
                          <a:solidFill>
                            <a:srgbClr val="270076"/>
                          </a:solidFill>
                          <a:effectLst/>
                          <a:latin typeface="Arial" panose="020B0604020202020204" pitchFamily="34" charset="0"/>
                        </a:rPr>
                        <a:t>type</a:t>
                      </a:r>
                      <a:endParaRPr kumimoji="0" lang="en-US" altLang="en-US" sz="2600" b="0" i="1" u="none" strike="noStrike" cap="none" normalizeH="0" baseline="0" dirty="0">
                        <a:ln>
                          <a:noFill/>
                        </a:ln>
                        <a:solidFill>
                          <a:srgbClr val="270076"/>
                        </a:solidFill>
                        <a:effectLst/>
                        <a:latin typeface="Arial" panose="020B0604020202020204" pitchFamily="34" charset="0"/>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8A7ADCF1-1D73-4B58-9053-4F1420C5E810}" type="slidenum">
              <a:rPr lang="en-US" altLang="en-US" sz="1400" b="0"/>
              <a:pPr/>
              <a:t>64</a:t>
            </a:fld>
            <a:endParaRPr lang="en-US" altLang="en-US" sz="1400" b="0"/>
          </a:p>
        </p:txBody>
      </p:sp>
      <p:sp>
        <p:nvSpPr>
          <p:cNvPr id="51203" name="Rectangle 2"/>
          <p:cNvSpPr>
            <a:spLocks noGrp="1" noChangeArrowheads="1"/>
          </p:cNvSpPr>
          <p:nvPr>
            <p:ph type="title"/>
          </p:nvPr>
        </p:nvSpPr>
        <p:spPr/>
        <p:txBody>
          <a:bodyPr/>
          <a:lstStyle/>
          <a:p>
            <a:pPr eaLnBrk="1" hangingPunct="1"/>
            <a:r>
              <a:rPr lang="fr-FR" altLang="en-US" dirty="0" err="1"/>
              <a:t>Ví</a:t>
            </a:r>
            <a:r>
              <a:rPr lang="fr-FR" altLang="en-US" dirty="0"/>
              <a:t> </a:t>
            </a:r>
            <a:r>
              <a:rPr lang="fr-FR" altLang="en-US" dirty="0" err="1"/>
              <a:t>dụ</a:t>
            </a:r>
            <a:r>
              <a:rPr lang="fr-FR" altLang="en-US" dirty="0"/>
              <a:t>: </a:t>
            </a:r>
            <a:r>
              <a:rPr lang="fr-FR" altLang="en-US" dirty="0" err="1"/>
              <a:t>Kiểm</a:t>
            </a:r>
            <a:r>
              <a:rPr lang="fr-FR" altLang="en-US" dirty="0"/>
              <a:t> tra </a:t>
            </a:r>
            <a:r>
              <a:rPr lang="fr-FR" altLang="en-US" dirty="0" err="1"/>
              <a:t>kiểu</a:t>
            </a:r>
            <a:r>
              <a:rPr lang="fr-FR" altLang="en-US" dirty="0"/>
              <a:t> </a:t>
            </a:r>
            <a:r>
              <a:rPr lang="fr-FR" altLang="en-US" dirty="0" err="1"/>
              <a:t>cho</a:t>
            </a:r>
            <a:r>
              <a:rPr lang="fr-FR" altLang="en-US" dirty="0"/>
              <a:t> </a:t>
            </a:r>
            <a:r>
              <a:rPr lang="fr-FR" altLang="en-US" dirty="0" err="1"/>
              <a:t>chương</a:t>
            </a:r>
            <a:r>
              <a:rPr lang="fr-FR" altLang="en-US" dirty="0"/>
              <a:t> </a:t>
            </a:r>
            <a:r>
              <a:rPr lang="fr-FR" altLang="en-US" dirty="0" err="1"/>
              <a:t>trình</a:t>
            </a:r>
            <a:r>
              <a:rPr lang="fr-FR" altLang="en-US" dirty="0"/>
              <a:t> </a:t>
            </a:r>
            <a:r>
              <a:rPr lang="fr-FR" altLang="en-US" dirty="0" err="1"/>
              <a:t>sau</a:t>
            </a:r>
            <a:endParaRPr lang="fr-FR" altLang="en-US" dirty="0"/>
          </a:p>
        </p:txBody>
      </p:sp>
      <p:sp>
        <p:nvSpPr>
          <p:cNvPr id="51204" name="Rectangle 3"/>
          <p:cNvSpPr>
            <a:spLocks noGrp="1" noChangeArrowheads="1"/>
          </p:cNvSpPr>
          <p:nvPr>
            <p:ph type="body" sz="half" idx="1"/>
          </p:nvPr>
        </p:nvSpPr>
        <p:spPr>
          <a:xfrm>
            <a:off x="381000" y="1052512"/>
            <a:ext cx="7315200" cy="5280023"/>
          </a:xfrm>
        </p:spPr>
        <p:txBody>
          <a:bodyPr/>
          <a:lstStyle/>
          <a:p>
            <a:pPr marL="231775" indent="-231775" eaLnBrk="1" hangingPunct="1">
              <a:lnSpc>
                <a:spcPct val="105000"/>
              </a:lnSpc>
              <a:buFontTx/>
              <a:buNone/>
            </a:pPr>
            <a:r>
              <a:rPr lang="en-US" altLang="en-US" sz="2800" dirty="0"/>
              <a:t>M, N : Integer;</a:t>
            </a:r>
          </a:p>
          <a:p>
            <a:pPr marL="231775" indent="-231775" eaLnBrk="1" hangingPunct="1">
              <a:lnSpc>
                <a:spcPct val="105000"/>
              </a:lnSpc>
              <a:buFontTx/>
              <a:buNone/>
            </a:pPr>
            <a:r>
              <a:rPr lang="en-US" altLang="en-US" sz="2800" dirty="0"/>
              <a:t>A: Array[10] of Integer;</a:t>
            </a:r>
          </a:p>
          <a:p>
            <a:pPr marL="231775" indent="-231775" eaLnBrk="1" hangingPunct="1">
              <a:lnSpc>
                <a:spcPct val="105000"/>
              </a:lnSpc>
              <a:buFontTx/>
              <a:buNone/>
            </a:pPr>
            <a:r>
              <a:rPr lang="en-US" altLang="en-US" sz="2800" dirty="0"/>
              <a:t>X: Real;</a:t>
            </a:r>
          </a:p>
          <a:p>
            <a:pPr marL="231775" indent="-231775" eaLnBrk="1" hangingPunct="1">
              <a:lnSpc>
                <a:spcPct val="105000"/>
              </a:lnSpc>
              <a:buFontTx/>
              <a:buNone/>
            </a:pPr>
            <a:r>
              <a:rPr lang="en-US" altLang="en-US" sz="2800" dirty="0"/>
              <a:t>    Fun Foo( X: Integer, Y: Real): Integer;</a:t>
            </a:r>
          </a:p>
          <a:p>
            <a:pPr marL="231775" indent="-231775" eaLnBrk="1" hangingPunct="1">
              <a:lnSpc>
                <a:spcPct val="105000"/>
              </a:lnSpc>
              <a:buFontTx/>
              <a:buNone/>
            </a:pPr>
            <a:r>
              <a:rPr lang="en-US" altLang="en-US" sz="2800" dirty="0"/>
              <a:t>     A: Array[5] of Real;</a:t>
            </a:r>
          </a:p>
          <a:p>
            <a:pPr marL="231775" indent="-231775" eaLnBrk="1" hangingPunct="1">
              <a:lnSpc>
                <a:spcPct val="105000"/>
              </a:lnSpc>
              <a:buFontTx/>
              <a:buNone/>
            </a:pPr>
            <a:r>
              <a:rPr lang="en-US" altLang="en-US" sz="2800" dirty="0"/>
              <a:t>     N : Integer;</a:t>
            </a:r>
          </a:p>
          <a:p>
            <a:pPr marL="231775" indent="-231775" eaLnBrk="1" hangingPunct="1">
              <a:lnSpc>
                <a:spcPct val="105000"/>
              </a:lnSpc>
              <a:buFontTx/>
              <a:buNone/>
            </a:pPr>
            <a:r>
              <a:rPr lang="en-US" altLang="en-US" sz="2800" dirty="0"/>
              <a:t>     {  S  }</a:t>
            </a:r>
          </a:p>
          <a:p>
            <a:pPr marL="231775" indent="-231775" eaLnBrk="1" hangingPunct="1">
              <a:lnSpc>
                <a:spcPct val="105000"/>
              </a:lnSpc>
              <a:buFontTx/>
              <a:buNone/>
            </a:pPr>
            <a:r>
              <a:rPr lang="en-US" altLang="en-US" sz="2800" dirty="0"/>
              <a:t>   {</a:t>
            </a:r>
          </a:p>
          <a:p>
            <a:pPr marL="231775" indent="-231775" eaLnBrk="1" hangingPunct="1">
              <a:lnSpc>
                <a:spcPct val="105000"/>
              </a:lnSpc>
              <a:buFontTx/>
              <a:buNone/>
            </a:pPr>
            <a:r>
              <a:rPr lang="en-US" altLang="en-US" sz="2800" dirty="0"/>
              <a:t>         M := Foo( A[10+N], X);</a:t>
            </a:r>
          </a:p>
          <a:p>
            <a:pPr marL="231775" indent="-231775" eaLnBrk="1" hangingPunct="1">
              <a:lnSpc>
                <a:spcPct val="105000"/>
              </a:lnSpc>
              <a:buFontTx/>
              <a:buNone/>
            </a:pPr>
            <a:r>
              <a:rPr lang="en-US" altLang="en-US" sz="2800" dirty="0"/>
              <a:t>   }</a:t>
            </a:r>
          </a:p>
          <a:p>
            <a:pPr marL="231775" indent="-231775" eaLnBrk="1" hangingPunct="1">
              <a:lnSpc>
                <a:spcPct val="105000"/>
              </a:lnSpc>
              <a:buFontTx/>
              <a:buNone/>
            </a:pPr>
            <a:endParaRPr lang="en-US" altLang="en-US" sz="2800" dirty="0"/>
          </a:p>
          <a:p>
            <a:pPr marL="231775" indent="-231775" eaLnBrk="1" hangingPunct="1">
              <a:lnSpc>
                <a:spcPct val="105000"/>
              </a:lnSpc>
              <a:buFontTx/>
              <a:buNone/>
            </a:pPr>
            <a:endParaRPr lang="en-US" altLang="en-US" sz="2800" dirty="0"/>
          </a:p>
        </p:txBody>
      </p:sp>
      <p:sp>
        <p:nvSpPr>
          <p:cNvPr id="51205" name="Text Box 5"/>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3. Chương trình dịch định hướng cú pháp</a:t>
            </a:r>
          </a:p>
        </p:txBody>
      </p:sp>
    </p:spTree>
    <p:extLst>
      <p:ext uri="{BB962C8B-B14F-4D97-AF65-F5344CB8AC3E}">
        <p14:creationId xmlns:p14="http://schemas.microsoft.com/office/powerpoint/2010/main" val="41474473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D5B9AB63-174F-4E5C-9E35-BDDE17986855}" type="slidenum">
              <a:rPr lang="en-US" altLang="en-US" sz="1400" b="0"/>
              <a:pPr/>
              <a:t>65</a:t>
            </a:fld>
            <a:endParaRPr lang="en-US" altLang="en-US" sz="1400" b="0"/>
          </a:p>
        </p:txBody>
      </p:sp>
      <p:sp>
        <p:nvSpPr>
          <p:cNvPr id="66563" name="Rectangle 2"/>
          <p:cNvSpPr>
            <a:spLocks noGrp="1" noChangeArrowheads="1"/>
          </p:cNvSpPr>
          <p:nvPr>
            <p:ph type="title"/>
          </p:nvPr>
        </p:nvSpPr>
        <p:spPr/>
        <p:txBody>
          <a:bodyPr/>
          <a:lstStyle/>
          <a:p>
            <a:pPr eaLnBrk="1" hangingPunct="1"/>
            <a:r>
              <a:rPr lang="en-US" altLang="en-US"/>
              <a:t>Kiểm tra biểu thức kiểu tương đương</a:t>
            </a:r>
          </a:p>
        </p:txBody>
      </p:sp>
      <p:sp>
        <p:nvSpPr>
          <p:cNvPr id="66564"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sp>
        <p:nvSpPr>
          <p:cNvPr id="66565" name="Rectangle 3"/>
          <p:cNvSpPr>
            <a:spLocks noChangeArrowheads="1"/>
          </p:cNvSpPr>
          <p:nvPr/>
        </p:nvSpPr>
        <p:spPr bwMode="auto">
          <a:xfrm>
            <a:off x="457200" y="914400"/>
            <a:ext cx="82296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rgbClr val="270076"/>
                </a:solidFill>
                <a:latin typeface="Arial" panose="020B0604020202020204" pitchFamily="34" charset="0"/>
              </a:defRPr>
            </a:lvl1pPr>
            <a:lvl2pPr marL="742950" indent="-285750">
              <a:spcBef>
                <a:spcPct val="20000"/>
              </a:spcBef>
              <a:buChar char="–"/>
              <a:defRPr sz="2800">
                <a:solidFill>
                  <a:srgbClr val="270076"/>
                </a:solidFill>
                <a:latin typeface="Arial" panose="020B0604020202020204" pitchFamily="34" charset="0"/>
              </a:defRPr>
            </a:lvl2pPr>
            <a:lvl3pPr marL="1143000" indent="-228600">
              <a:spcBef>
                <a:spcPct val="20000"/>
              </a:spcBef>
              <a:buChar char="•"/>
              <a:defRPr sz="2400">
                <a:solidFill>
                  <a:srgbClr val="270076"/>
                </a:solidFill>
                <a:latin typeface="Arial" panose="020B0604020202020204" pitchFamily="34" charset="0"/>
              </a:defRPr>
            </a:lvl3pPr>
            <a:lvl4pPr marL="1600200" indent="-228600">
              <a:spcBef>
                <a:spcPct val="20000"/>
              </a:spcBef>
              <a:buChar char="–"/>
              <a:defRPr sz="2000">
                <a:solidFill>
                  <a:srgbClr val="270076"/>
                </a:solidFill>
                <a:latin typeface="Arial" panose="020B0604020202020204" pitchFamily="34" charset="0"/>
              </a:defRPr>
            </a:lvl4pPr>
            <a:lvl5pPr marL="2057400" indent="-228600">
              <a:spcBef>
                <a:spcPct val="20000"/>
              </a:spcBef>
              <a:buChar char="»"/>
              <a:defRPr sz="2000">
                <a:solidFill>
                  <a:srgbClr val="270076"/>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270076"/>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270076"/>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270076"/>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270076"/>
                </a:solidFill>
                <a:latin typeface="Arial" panose="020B0604020202020204" pitchFamily="34" charset="0"/>
              </a:defRPr>
            </a:lvl9pPr>
          </a:lstStyle>
          <a:p>
            <a:pPr eaLnBrk="1" hangingPunct="1">
              <a:lnSpc>
                <a:spcPct val="95000"/>
              </a:lnSpc>
              <a:buFontTx/>
              <a:buNone/>
            </a:pPr>
            <a:r>
              <a:rPr lang="fr-FR" altLang="en-US" sz="2400" b="0"/>
              <a:t>//</a:t>
            </a:r>
            <a:r>
              <a:rPr lang="fr-FR" altLang="en-US" sz="2400" b="0">
                <a:solidFill>
                  <a:schemeClr val="bg2"/>
                </a:solidFill>
              </a:rPr>
              <a:t>s và t là các biểu thức kiểu</a:t>
            </a:r>
            <a:endParaRPr lang="en-US" altLang="en-US" sz="2400" b="0">
              <a:solidFill>
                <a:schemeClr val="bg2"/>
              </a:solidFill>
            </a:endParaRPr>
          </a:p>
          <a:p>
            <a:pPr eaLnBrk="1" hangingPunct="1">
              <a:lnSpc>
                <a:spcPct val="95000"/>
              </a:lnSpc>
              <a:buFontTx/>
              <a:buNone/>
            </a:pPr>
            <a:r>
              <a:rPr lang="en-US" altLang="en-US" sz="2400" b="0"/>
              <a:t>function sequiv(s, t): boolean;</a:t>
            </a:r>
          </a:p>
          <a:p>
            <a:pPr eaLnBrk="1" hangingPunct="1">
              <a:lnSpc>
                <a:spcPct val="95000"/>
              </a:lnSpc>
              <a:buFontTx/>
              <a:buNone/>
            </a:pPr>
            <a:r>
              <a:rPr lang="en-US" altLang="en-US" sz="2400" b="0"/>
              <a:t>begin</a:t>
            </a:r>
          </a:p>
          <a:p>
            <a:pPr eaLnBrk="1" hangingPunct="1">
              <a:lnSpc>
                <a:spcPct val="95000"/>
              </a:lnSpc>
              <a:buFontTx/>
              <a:buNone/>
            </a:pPr>
            <a:r>
              <a:rPr lang="en-US" altLang="en-US" sz="2400" b="0"/>
              <a:t>    if </a:t>
            </a:r>
            <a:r>
              <a:rPr lang="en-US" altLang="en-US" sz="2400" b="0" i="1">
                <a:solidFill>
                  <a:srgbClr val="3539EB"/>
                </a:solidFill>
              </a:rPr>
              <a:t>s và t có cùng kiểu dữ liệu chuẩn</a:t>
            </a:r>
            <a:r>
              <a:rPr lang="en-US" altLang="en-US" sz="2400" b="0"/>
              <a:t> then   return true;</a:t>
            </a:r>
          </a:p>
          <a:p>
            <a:pPr eaLnBrk="1" hangingPunct="1">
              <a:lnSpc>
                <a:spcPct val="95000"/>
              </a:lnSpc>
              <a:buFontTx/>
              <a:buNone/>
            </a:pPr>
            <a:r>
              <a:rPr lang="en-US" altLang="en-US" sz="2400" b="0"/>
              <a:t>    else if s = array(s1, s2) and t  = array(t1, t2) then</a:t>
            </a:r>
          </a:p>
          <a:p>
            <a:pPr eaLnBrk="1" hangingPunct="1">
              <a:lnSpc>
                <a:spcPct val="95000"/>
              </a:lnSpc>
              <a:buFontTx/>
              <a:buNone/>
            </a:pPr>
            <a:r>
              <a:rPr lang="en-US" altLang="en-US" sz="2400" b="0"/>
              <a:t>          return sequiv(s1, t1) and sequiv(s2, t2)</a:t>
            </a:r>
          </a:p>
          <a:p>
            <a:pPr eaLnBrk="1" hangingPunct="1">
              <a:lnSpc>
                <a:spcPct val="95000"/>
              </a:lnSpc>
              <a:buFontTx/>
              <a:buNone/>
            </a:pPr>
            <a:r>
              <a:rPr lang="en-US" altLang="en-US" sz="2400" b="0"/>
              <a:t>    else if s = s1 x s2 and t  = t1 x t2 then</a:t>
            </a:r>
          </a:p>
          <a:p>
            <a:pPr eaLnBrk="1" hangingPunct="1">
              <a:lnSpc>
                <a:spcPct val="95000"/>
              </a:lnSpc>
              <a:buFontTx/>
              <a:buNone/>
            </a:pPr>
            <a:r>
              <a:rPr lang="en-US" altLang="en-US" sz="2400" b="0"/>
              <a:t>          return sequiv(s1, t1) and sequiv(s2, t2)</a:t>
            </a:r>
          </a:p>
          <a:p>
            <a:pPr eaLnBrk="1" hangingPunct="1">
              <a:lnSpc>
                <a:spcPct val="95000"/>
              </a:lnSpc>
              <a:buFontTx/>
              <a:buNone/>
            </a:pPr>
            <a:r>
              <a:rPr lang="en-US" altLang="en-US" sz="2400" b="0"/>
              <a:t>    else if s = pointer(s1) and t  = pointer(t1) then</a:t>
            </a:r>
          </a:p>
          <a:p>
            <a:pPr eaLnBrk="1" hangingPunct="1">
              <a:lnSpc>
                <a:spcPct val="95000"/>
              </a:lnSpc>
              <a:buFontTx/>
              <a:buNone/>
            </a:pPr>
            <a:r>
              <a:rPr lang="en-US" altLang="en-US" sz="2400" b="0"/>
              <a:t>          return sequiv(s1, t1) </a:t>
            </a:r>
          </a:p>
          <a:p>
            <a:pPr eaLnBrk="1" hangingPunct="1">
              <a:lnSpc>
                <a:spcPct val="95000"/>
              </a:lnSpc>
              <a:buFontTx/>
              <a:buNone/>
            </a:pPr>
            <a:r>
              <a:rPr lang="en-US" altLang="en-US" sz="2400" b="0"/>
              <a:t>    else if s = s1</a:t>
            </a:r>
            <a:r>
              <a:rPr lang="en-US" altLang="en-US" sz="2400" b="0">
                <a:sym typeface="Symbol" panose="05050102010706020507" pitchFamily="18" charset="2"/>
              </a:rPr>
              <a:t></a:t>
            </a:r>
            <a:r>
              <a:rPr lang="en-US" altLang="en-US" sz="2400" b="0"/>
              <a:t> s2 and t  = t1</a:t>
            </a:r>
            <a:r>
              <a:rPr lang="en-US" altLang="en-US" sz="2400" b="0">
                <a:sym typeface="Symbol" panose="05050102010706020507" pitchFamily="18" charset="2"/>
              </a:rPr>
              <a:t></a:t>
            </a:r>
            <a:r>
              <a:rPr lang="en-US" altLang="en-US" sz="2400" b="0"/>
              <a:t> t2 then</a:t>
            </a:r>
          </a:p>
          <a:p>
            <a:pPr eaLnBrk="1" hangingPunct="1">
              <a:lnSpc>
                <a:spcPct val="95000"/>
              </a:lnSpc>
              <a:buFontTx/>
              <a:buNone/>
            </a:pPr>
            <a:r>
              <a:rPr lang="en-US" altLang="en-US" sz="2400" b="0"/>
              <a:t>          return sequiv(s1, t1) and sequiv(s2, t2)</a:t>
            </a:r>
          </a:p>
          <a:p>
            <a:pPr eaLnBrk="1" hangingPunct="1">
              <a:lnSpc>
                <a:spcPct val="95000"/>
              </a:lnSpc>
              <a:buFontTx/>
              <a:buNone/>
            </a:pPr>
            <a:r>
              <a:rPr lang="en-US" altLang="en-US" sz="2400" b="0"/>
              <a:t>    else  return false;</a:t>
            </a:r>
          </a:p>
          <a:p>
            <a:pPr eaLnBrk="1" hangingPunct="1">
              <a:lnSpc>
                <a:spcPct val="95000"/>
              </a:lnSpc>
              <a:buFontTx/>
              <a:buNone/>
            </a:pPr>
            <a:r>
              <a:rPr lang="en-US" altLang="en-US" sz="2400" b="0"/>
              <a:t>end; </a:t>
            </a:r>
          </a:p>
        </p:txBody>
      </p:sp>
      <p:sp>
        <p:nvSpPr>
          <p:cNvPr id="66566" name="Text Box 7"/>
          <p:cNvSpPr txBox="1">
            <a:spLocks noChangeArrowheads="1"/>
          </p:cNvSpPr>
          <p:nvPr/>
        </p:nvSpPr>
        <p:spPr bwMode="auto">
          <a:xfrm>
            <a:off x="6096000" y="914400"/>
            <a:ext cx="2819400" cy="8636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2000" b="0"/>
              <a:t>VAR  A, B : MATRIX;</a:t>
            </a:r>
          </a:p>
          <a:p>
            <a:pPr eaLnBrk="1" hangingPunct="1">
              <a:spcBef>
                <a:spcPct val="50000"/>
              </a:spcBef>
            </a:pPr>
            <a:r>
              <a:rPr lang="fr-FR" altLang="en-US" sz="2000" b="0"/>
              <a:t>A và B có cùng kiểu?</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7F34DC21-5228-433D-ADA7-4922F91112BB}" type="slidenum">
              <a:rPr lang="en-US" altLang="en-US" sz="1400" b="0"/>
              <a:pPr/>
              <a:t>66</a:t>
            </a:fld>
            <a:endParaRPr lang="en-US" altLang="en-US" sz="1400" b="0"/>
          </a:p>
        </p:txBody>
      </p:sp>
      <p:sp>
        <p:nvSpPr>
          <p:cNvPr id="67587" name="Rectangle 2"/>
          <p:cNvSpPr>
            <a:spLocks noGrp="1" noChangeArrowheads="1"/>
          </p:cNvSpPr>
          <p:nvPr>
            <p:ph type="title"/>
          </p:nvPr>
        </p:nvSpPr>
        <p:spPr/>
        <p:txBody>
          <a:bodyPr/>
          <a:lstStyle/>
          <a:p>
            <a:pPr eaLnBrk="1" hangingPunct="1"/>
            <a:r>
              <a:rPr lang="en-US" altLang="en-US"/>
              <a:t>Chuyển kiểu</a:t>
            </a:r>
          </a:p>
        </p:txBody>
      </p:sp>
      <p:sp>
        <p:nvSpPr>
          <p:cNvPr id="67588" name="Text Box 3"/>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4. Kiểm tra kiểu</a:t>
            </a:r>
          </a:p>
        </p:txBody>
      </p:sp>
      <p:sp>
        <p:nvSpPr>
          <p:cNvPr id="67589" name="Rectangle 3"/>
          <p:cNvSpPr>
            <a:spLocks noChangeArrowheads="1"/>
          </p:cNvSpPr>
          <p:nvPr/>
        </p:nvSpPr>
        <p:spPr bwMode="auto">
          <a:xfrm>
            <a:off x="228600" y="83820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rgbClr val="270076"/>
                </a:solidFill>
                <a:latin typeface="Arial" panose="020B0604020202020204" pitchFamily="34" charset="0"/>
              </a:defRPr>
            </a:lvl1pPr>
            <a:lvl2pPr marL="742950" indent="-285750">
              <a:spcBef>
                <a:spcPct val="20000"/>
              </a:spcBef>
              <a:buChar char="–"/>
              <a:defRPr sz="2800">
                <a:solidFill>
                  <a:srgbClr val="270076"/>
                </a:solidFill>
                <a:latin typeface="Arial" panose="020B0604020202020204" pitchFamily="34" charset="0"/>
              </a:defRPr>
            </a:lvl2pPr>
            <a:lvl3pPr marL="1143000" indent="-228600">
              <a:spcBef>
                <a:spcPct val="20000"/>
              </a:spcBef>
              <a:buChar char="•"/>
              <a:defRPr sz="2400">
                <a:solidFill>
                  <a:srgbClr val="270076"/>
                </a:solidFill>
                <a:latin typeface="Arial" panose="020B0604020202020204" pitchFamily="34" charset="0"/>
              </a:defRPr>
            </a:lvl3pPr>
            <a:lvl4pPr marL="1600200" indent="-228600">
              <a:spcBef>
                <a:spcPct val="20000"/>
              </a:spcBef>
              <a:buChar char="–"/>
              <a:defRPr sz="2000">
                <a:solidFill>
                  <a:srgbClr val="270076"/>
                </a:solidFill>
                <a:latin typeface="Arial" panose="020B0604020202020204" pitchFamily="34" charset="0"/>
              </a:defRPr>
            </a:lvl4pPr>
            <a:lvl5pPr marL="2057400" indent="-228600">
              <a:spcBef>
                <a:spcPct val="20000"/>
              </a:spcBef>
              <a:buChar char="»"/>
              <a:defRPr sz="2000">
                <a:solidFill>
                  <a:srgbClr val="270076"/>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270076"/>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270076"/>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270076"/>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270076"/>
                </a:solidFill>
                <a:latin typeface="Arial" panose="020B0604020202020204" pitchFamily="34" charset="0"/>
              </a:defRPr>
            </a:lvl9pPr>
          </a:lstStyle>
          <a:p>
            <a:pPr eaLnBrk="1" hangingPunct="1">
              <a:spcBef>
                <a:spcPct val="5000"/>
              </a:spcBef>
              <a:buFontTx/>
              <a:buNone/>
            </a:pPr>
            <a:r>
              <a:rPr lang="fr-FR" altLang="en-US" sz="2400" b="0"/>
              <a:t>float x; int n; </a:t>
            </a:r>
          </a:p>
          <a:p>
            <a:pPr eaLnBrk="1" hangingPunct="1">
              <a:spcBef>
                <a:spcPct val="5000"/>
              </a:spcBef>
              <a:buFontTx/>
              <a:buNone/>
            </a:pPr>
            <a:r>
              <a:rPr lang="fr-FR" altLang="en-US" sz="2400" b="0"/>
              <a:t>x + n </a:t>
            </a:r>
            <a:r>
              <a:rPr lang="fr-FR" altLang="en-US" sz="2400" b="0">
                <a:sym typeface="Symbol" panose="05050102010706020507" pitchFamily="18" charset="2"/>
              </a:rPr>
              <a:t> Quy đổi về một kiểu</a:t>
            </a:r>
          </a:p>
        </p:txBody>
      </p:sp>
      <p:pic>
        <p:nvPicPr>
          <p:cNvPr id="6759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676400"/>
            <a:ext cx="8915400" cy="51990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13B60D14-D478-46CB-967E-CD2913BB558A}" type="slidenum">
              <a:rPr lang="en-US" altLang="en-US" sz="1400" b="0"/>
              <a:pPr/>
              <a:t>67</a:t>
            </a:fld>
            <a:endParaRPr lang="en-US" altLang="en-US" sz="1400" b="0"/>
          </a:p>
        </p:txBody>
      </p:sp>
      <p:sp>
        <p:nvSpPr>
          <p:cNvPr id="1709058" name="Rectangle 2"/>
          <p:cNvSpPr>
            <a:spLocks noChangeArrowheads="1"/>
          </p:cNvSpPr>
          <p:nvPr/>
        </p:nvSpPr>
        <p:spPr bwMode="auto">
          <a:xfrm>
            <a:off x="0" y="5105400"/>
            <a:ext cx="9144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68612" name="Rectangle 3"/>
          <p:cNvSpPr>
            <a:spLocks noGrp="1" noChangeArrowheads="1"/>
          </p:cNvSpPr>
          <p:nvPr>
            <p:ph type="title"/>
          </p:nvPr>
        </p:nvSpPr>
        <p:spPr>
          <a:xfrm>
            <a:off x="0" y="0"/>
            <a:ext cx="9144000" cy="800100"/>
          </a:xfrm>
        </p:spPr>
        <p:txBody>
          <a:bodyPr/>
          <a:lstStyle/>
          <a:p>
            <a:pPr eaLnBrk="1" hangingPunct="1"/>
            <a:r>
              <a:rPr lang="en-US" altLang="en-US" sz="4000"/>
              <a:t>Chương 4: Phân tích ngữ nghĩa</a:t>
            </a:r>
          </a:p>
        </p:txBody>
      </p:sp>
      <p:sp>
        <p:nvSpPr>
          <p:cNvPr id="68613" name="Rectangle 4"/>
          <p:cNvSpPr>
            <a:spLocks noGrp="1" noChangeArrowheads="1"/>
          </p:cNvSpPr>
          <p:nvPr>
            <p:ph type="body" idx="1"/>
          </p:nvPr>
        </p:nvSpPr>
        <p:spPr>
          <a:xfrm>
            <a:off x="266700" y="1219200"/>
            <a:ext cx="8724900" cy="5029200"/>
          </a:xfrm>
        </p:spPr>
        <p:txBody>
          <a:bodyPr/>
          <a:lstStyle/>
          <a:p>
            <a:pPr marL="609600" indent="-609600" eaLnBrk="1" hangingPunct="1">
              <a:spcBef>
                <a:spcPct val="100000"/>
              </a:spcBef>
              <a:buFontTx/>
              <a:buAutoNum type="arabicPeriod"/>
            </a:pPr>
            <a:r>
              <a:rPr lang="en-US" altLang="en-US">
                <a:solidFill>
                  <a:srgbClr val="1E0068"/>
                </a:solidFill>
              </a:rPr>
              <a:t>Giới thiệu</a:t>
            </a:r>
          </a:p>
          <a:p>
            <a:pPr marL="609600" indent="-609600" eaLnBrk="1" hangingPunct="1">
              <a:spcBef>
                <a:spcPct val="100000"/>
              </a:spcBef>
              <a:buFontTx/>
              <a:buAutoNum type="arabicPeriod"/>
            </a:pPr>
            <a:r>
              <a:rPr lang="en-US" altLang="en-US">
                <a:solidFill>
                  <a:srgbClr val="1E0068"/>
                </a:solidFill>
              </a:rPr>
              <a:t>Bảng ký hiệu</a:t>
            </a:r>
          </a:p>
          <a:p>
            <a:pPr marL="609600" indent="-609600" eaLnBrk="1" hangingPunct="1">
              <a:spcBef>
                <a:spcPct val="100000"/>
              </a:spcBef>
              <a:buFontTx/>
              <a:buAutoNum type="arabicPeriod"/>
            </a:pPr>
            <a:r>
              <a:rPr lang="fr-FR" altLang="en-US"/>
              <a:t>Kiểm tra kiểu</a:t>
            </a:r>
          </a:p>
          <a:p>
            <a:pPr marL="609600" indent="-609600" eaLnBrk="1" hangingPunct="1">
              <a:spcBef>
                <a:spcPct val="100000"/>
              </a:spcBef>
              <a:buFontTx/>
              <a:buAutoNum type="arabicPeriod"/>
            </a:pPr>
            <a:r>
              <a:rPr lang="fr-FR" altLang="en-US"/>
              <a:t>Chương trình dịch định hướng cú pháp</a:t>
            </a:r>
            <a:endParaRPr lang="en-US" altLang="en-US">
              <a:solidFill>
                <a:srgbClr val="1E0068"/>
              </a:solidFill>
            </a:endParaRPr>
          </a:p>
          <a:p>
            <a:pPr marL="609600" indent="-609600" eaLnBrk="1" hangingPunct="1">
              <a:spcBef>
                <a:spcPct val="100000"/>
              </a:spcBef>
              <a:buFontTx/>
              <a:buAutoNum type="arabicPeriod"/>
            </a:pPr>
            <a:r>
              <a:rPr lang="en-US" altLang="en-US">
                <a:solidFill>
                  <a:srgbClr val="1E0068"/>
                </a:solidFill>
              </a:rPr>
              <a:t>Xử lý sai sót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09058"/>
                                        </p:tgtEl>
                                        <p:attrNameLst>
                                          <p:attrName>style.visibility</p:attrName>
                                        </p:attrNameLst>
                                      </p:cBhvr>
                                      <p:to>
                                        <p:strVal val="visible"/>
                                      </p:to>
                                    </p:set>
                                    <p:animEffect transition="in" filter="dissolve">
                                      <p:cBhvr>
                                        <p:cTn id="7" dur="500"/>
                                        <p:tgtEl>
                                          <p:spTgt spid="1709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9058"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A9521915-1379-44E9-B205-2214ABF9C9CD}" type="slidenum">
              <a:rPr lang="en-US" altLang="en-US" sz="1400" b="0"/>
              <a:pPr/>
              <a:t>68</a:t>
            </a:fld>
            <a:endParaRPr lang="en-US" altLang="en-US" sz="1400" b="0"/>
          </a:p>
        </p:txBody>
      </p:sp>
      <p:sp>
        <p:nvSpPr>
          <p:cNvPr id="69635" name="Rectangle 2"/>
          <p:cNvSpPr>
            <a:spLocks noGrp="1" noChangeArrowheads="1"/>
          </p:cNvSpPr>
          <p:nvPr>
            <p:ph type="title"/>
          </p:nvPr>
        </p:nvSpPr>
        <p:spPr/>
        <p:txBody>
          <a:bodyPr/>
          <a:lstStyle/>
          <a:p>
            <a:pPr eaLnBrk="1" hangingPunct="1"/>
            <a:r>
              <a:rPr lang="en-US" altLang="en-US"/>
              <a:t>Giới thiệu</a:t>
            </a:r>
          </a:p>
        </p:txBody>
      </p:sp>
      <p:sp>
        <p:nvSpPr>
          <p:cNvPr id="1710083" name="Rectangle 3"/>
          <p:cNvSpPr>
            <a:spLocks noGrp="1" noChangeArrowheads="1"/>
          </p:cNvSpPr>
          <p:nvPr>
            <p:ph type="body" idx="1"/>
          </p:nvPr>
        </p:nvSpPr>
        <p:spPr>
          <a:xfrm>
            <a:off x="228600" y="866775"/>
            <a:ext cx="8728075" cy="5762625"/>
          </a:xfrm>
          <a:noFill/>
        </p:spPr>
        <p:txBody>
          <a:bodyPr lIns="0" rIns="0"/>
          <a:lstStyle/>
          <a:p>
            <a:pPr marL="347663" indent="-347663" algn="just" eaLnBrk="1" hangingPunct="1">
              <a:lnSpc>
                <a:spcPct val="110000"/>
              </a:lnSpc>
              <a:buFontTx/>
              <a:buNone/>
            </a:pPr>
            <a:r>
              <a:rPr lang="fr-FR" altLang="en-US">
                <a:sym typeface="Symbol" panose="05050102010706020507" pitchFamily="18" charset="2"/>
              </a:rPr>
              <a:t>Phân tích cú pháp nếu gặp lỗi</a:t>
            </a:r>
          </a:p>
          <a:p>
            <a:pPr marL="347663" indent="-347663" algn="just" eaLnBrk="1" hangingPunct="1">
              <a:lnSpc>
                <a:spcPct val="110000"/>
              </a:lnSpc>
            </a:pPr>
            <a:r>
              <a:rPr lang="fr-FR" altLang="en-US">
                <a:sym typeface="Symbol" panose="05050102010706020507" pitchFamily="18" charset="2"/>
              </a:rPr>
              <a:t>Gọi tới thủ tục </a:t>
            </a:r>
            <a:r>
              <a:rPr lang="fr-FR" altLang="en-US" b="1">
                <a:solidFill>
                  <a:srgbClr val="3539EB"/>
                </a:solidFill>
                <a:sym typeface="Symbol" panose="05050102010706020507" pitchFamily="18" charset="2"/>
              </a:rPr>
              <a:t>Error(…)</a:t>
            </a:r>
            <a:r>
              <a:rPr lang="fr-FR" altLang="en-US">
                <a:sym typeface="Symbol" panose="05050102010706020507" pitchFamily="18" charset="2"/>
              </a:rPr>
              <a:t> để báo lỗi</a:t>
            </a:r>
          </a:p>
          <a:p>
            <a:pPr marL="912813" lvl="1" indent="-450850" algn="just" eaLnBrk="1" hangingPunct="1">
              <a:lnSpc>
                <a:spcPct val="110000"/>
              </a:lnSpc>
            </a:pPr>
            <a:r>
              <a:rPr lang="fr-FR" altLang="en-US">
                <a:sym typeface="Symbol" panose="05050102010706020507" pitchFamily="18" charset="2"/>
              </a:rPr>
              <a:t>Thông báo kiểu của lỗi và vị trí của lỗi</a:t>
            </a:r>
          </a:p>
          <a:p>
            <a:pPr marL="347663" indent="-347663" algn="just" eaLnBrk="1" hangingPunct="1">
              <a:lnSpc>
                <a:spcPct val="110000"/>
              </a:lnSpc>
            </a:pPr>
            <a:r>
              <a:rPr lang="fr-FR" altLang="en-US">
                <a:sym typeface="Symbol" panose="05050102010706020507" pitchFamily="18" charset="2"/>
              </a:rPr>
              <a:t>Sau khi báo lỗi ngừng quá trình dịch lại</a:t>
            </a:r>
          </a:p>
          <a:p>
            <a:pPr marL="912813" lvl="1" indent="-450850" eaLnBrk="1" hangingPunct="1">
              <a:lnSpc>
                <a:spcPct val="110000"/>
              </a:lnSpc>
            </a:pPr>
            <a:r>
              <a:rPr lang="fr-FR" altLang="en-US">
                <a:sym typeface="Symbol" panose="05050102010706020507" pitchFamily="18" charset="2"/>
              </a:rPr>
              <a:t>Bởi văn bản nguồn không khớp với dự đoán  Chương trình dịch không biết đi theo hướng nào</a:t>
            </a:r>
          </a:p>
          <a:p>
            <a:pPr marL="1257300" lvl="2" eaLnBrk="1" hangingPunct="1">
              <a:lnSpc>
                <a:spcPct val="110000"/>
              </a:lnSpc>
            </a:pPr>
            <a:r>
              <a:rPr lang="fr-FR" altLang="en-US">
                <a:sym typeface="Symbol" panose="05050102010706020507" pitchFamily="18" charset="2"/>
              </a:rPr>
              <a:t>VD: gặp statement </a:t>
            </a:r>
            <a:r>
              <a:rPr lang="fr-FR" altLang="en-US" b="1">
                <a:solidFill>
                  <a:srgbClr val="FA0617"/>
                </a:solidFill>
                <a:sym typeface="Symbol" panose="05050102010706020507" pitchFamily="18" charset="2"/>
              </a:rPr>
              <a:t>(X):=10</a:t>
            </a:r>
            <a:r>
              <a:rPr lang="fr-FR" altLang="en-US">
                <a:sym typeface="Symbol" panose="05050102010706020507" pitchFamily="18" charset="2"/>
              </a:rPr>
              <a:t>; sẽ không biết đi nhánh nào</a:t>
            </a:r>
          </a:p>
          <a:p>
            <a:pPr marL="912813" lvl="1" indent="-450850" eaLnBrk="1" hangingPunct="1">
              <a:lnSpc>
                <a:spcPct val="110000"/>
              </a:lnSpc>
            </a:pPr>
            <a:r>
              <a:rPr lang="fr-FR" altLang="en-US">
                <a:sym typeface="Symbol" panose="05050102010706020507" pitchFamily="18" charset="2"/>
              </a:rPr>
              <a:t>Chương trình dịch có </a:t>
            </a:r>
            <a:r>
              <a:rPr lang="fr-FR" altLang="en-US" b="1">
                <a:solidFill>
                  <a:srgbClr val="3539EB"/>
                </a:solidFill>
                <a:sym typeface="Symbol" panose="05050102010706020507" pitchFamily="18" charset="2"/>
              </a:rPr>
              <a:t>n</a:t>
            </a:r>
            <a:r>
              <a:rPr lang="fr-FR" altLang="en-US">
                <a:sym typeface="Symbol" panose="05050102010706020507" pitchFamily="18" charset="2"/>
              </a:rPr>
              <a:t> lỗi  cần </a:t>
            </a:r>
            <a:r>
              <a:rPr lang="fr-FR" altLang="en-US" b="1">
                <a:solidFill>
                  <a:srgbClr val="3539EB"/>
                </a:solidFill>
                <a:sym typeface="Symbol" panose="05050102010706020507" pitchFamily="18" charset="2"/>
              </a:rPr>
              <a:t>n+1</a:t>
            </a:r>
            <a:r>
              <a:rPr lang="fr-FR" altLang="en-US">
                <a:sym typeface="Symbol" panose="05050102010706020507" pitchFamily="18" charset="2"/>
              </a:rPr>
              <a:t> lần dịch</a:t>
            </a:r>
          </a:p>
          <a:p>
            <a:pPr marL="1257300" lvl="2" eaLnBrk="1" hangingPunct="1">
              <a:lnSpc>
                <a:spcPct val="110000"/>
              </a:lnSpc>
            </a:pPr>
            <a:r>
              <a:rPr lang="fr-FR" altLang="en-US">
                <a:sym typeface="Symbol" panose="05050102010706020507" pitchFamily="18" charset="2"/>
              </a:rPr>
              <a:t>Tốn kém</a:t>
            </a:r>
          </a:p>
          <a:p>
            <a:pPr marL="1257300" lvl="2" eaLnBrk="1" hangingPunct="1">
              <a:lnSpc>
                <a:spcPct val="110000"/>
              </a:lnSpc>
            </a:pPr>
            <a:r>
              <a:rPr lang="fr-FR" altLang="en-US">
                <a:sym typeface="Symbol" panose="05050102010706020507" pitchFamily="18" charset="2"/>
              </a:rPr>
              <a:t>Cần điều chỉnh để CTD có thể hồi phục sau khi gặp lỗi</a:t>
            </a:r>
          </a:p>
        </p:txBody>
      </p:sp>
      <p:sp>
        <p:nvSpPr>
          <p:cNvPr id="69637"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5. Xử lý sai sót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710083">
                                            <p:txEl>
                                              <p:pRg st="3" end="3"/>
                                            </p:txEl>
                                          </p:spTgt>
                                        </p:tgtEl>
                                        <p:attrNameLst>
                                          <p:attrName>style.visibility</p:attrName>
                                        </p:attrNameLst>
                                      </p:cBhvr>
                                      <p:to>
                                        <p:strVal val="visible"/>
                                      </p:to>
                                    </p:set>
                                    <p:animEffect transition="in" filter="checkerboard(across)">
                                      <p:cBhvr>
                                        <p:cTn id="7" dur="500"/>
                                        <p:tgtEl>
                                          <p:spTgt spid="1710083">
                                            <p:txEl>
                                              <p:pRg st="3" end="3"/>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710083">
                                            <p:txEl>
                                              <p:pRg st="4" end="4"/>
                                            </p:txEl>
                                          </p:spTgt>
                                        </p:tgtEl>
                                        <p:attrNameLst>
                                          <p:attrName>style.visibility</p:attrName>
                                        </p:attrNameLst>
                                      </p:cBhvr>
                                      <p:to>
                                        <p:strVal val="visible"/>
                                      </p:to>
                                    </p:set>
                                    <p:animEffect transition="in" filter="checkerboard(across)">
                                      <p:cBhvr>
                                        <p:cTn id="10" dur="500"/>
                                        <p:tgtEl>
                                          <p:spTgt spid="1710083">
                                            <p:txEl>
                                              <p:pRg st="4" end="4"/>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1710083">
                                            <p:txEl>
                                              <p:pRg st="5" end="5"/>
                                            </p:txEl>
                                          </p:spTgt>
                                        </p:tgtEl>
                                        <p:attrNameLst>
                                          <p:attrName>style.visibility</p:attrName>
                                        </p:attrNameLst>
                                      </p:cBhvr>
                                      <p:to>
                                        <p:strVal val="visible"/>
                                      </p:to>
                                    </p:set>
                                    <p:animEffect transition="in" filter="checkerboard(across)">
                                      <p:cBhvr>
                                        <p:cTn id="13" dur="500"/>
                                        <p:tgtEl>
                                          <p:spTgt spid="1710083">
                                            <p:txEl>
                                              <p:pRg st="5" end="5"/>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1710083">
                                            <p:txEl>
                                              <p:pRg st="6" end="6"/>
                                            </p:txEl>
                                          </p:spTgt>
                                        </p:tgtEl>
                                        <p:attrNameLst>
                                          <p:attrName>style.visibility</p:attrName>
                                        </p:attrNameLst>
                                      </p:cBhvr>
                                      <p:to>
                                        <p:strVal val="visible"/>
                                      </p:to>
                                    </p:set>
                                    <p:animEffect transition="in" filter="checkerboard(across)">
                                      <p:cBhvr>
                                        <p:cTn id="16" dur="500"/>
                                        <p:tgtEl>
                                          <p:spTgt spid="1710083">
                                            <p:txEl>
                                              <p:pRg st="6" end="6"/>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1710083">
                                            <p:txEl>
                                              <p:pRg st="7" end="7"/>
                                            </p:txEl>
                                          </p:spTgt>
                                        </p:tgtEl>
                                        <p:attrNameLst>
                                          <p:attrName>style.visibility</p:attrName>
                                        </p:attrNameLst>
                                      </p:cBhvr>
                                      <p:to>
                                        <p:strVal val="visible"/>
                                      </p:to>
                                    </p:set>
                                    <p:animEffect transition="in" filter="checkerboard(across)">
                                      <p:cBhvr>
                                        <p:cTn id="19" dur="500"/>
                                        <p:tgtEl>
                                          <p:spTgt spid="1710083">
                                            <p:txEl>
                                              <p:pRg st="7" end="7"/>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1710083">
                                            <p:txEl>
                                              <p:pRg st="8" end="8"/>
                                            </p:txEl>
                                          </p:spTgt>
                                        </p:tgtEl>
                                        <p:attrNameLst>
                                          <p:attrName>style.visibility</p:attrName>
                                        </p:attrNameLst>
                                      </p:cBhvr>
                                      <p:to>
                                        <p:strVal val="visible"/>
                                      </p:to>
                                    </p:set>
                                    <p:animEffect transition="in" filter="checkerboard(across)">
                                      <p:cBhvr>
                                        <p:cTn id="22" dur="500"/>
                                        <p:tgtEl>
                                          <p:spTgt spid="171008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6D0B20F5-DDDB-47C7-BD2F-40D66C503EDB}" type="slidenum">
              <a:rPr lang="en-US" altLang="en-US" sz="1400" b="0"/>
              <a:pPr/>
              <a:t>69</a:t>
            </a:fld>
            <a:endParaRPr lang="en-US" altLang="en-US" sz="1400" b="0"/>
          </a:p>
        </p:txBody>
      </p:sp>
      <p:sp>
        <p:nvSpPr>
          <p:cNvPr id="70659" name="Rectangle 2"/>
          <p:cNvSpPr>
            <a:spLocks noGrp="1" noChangeArrowheads="1"/>
          </p:cNvSpPr>
          <p:nvPr>
            <p:ph type="title"/>
          </p:nvPr>
        </p:nvSpPr>
        <p:spPr/>
        <p:txBody>
          <a:bodyPr/>
          <a:lstStyle/>
          <a:p>
            <a:pPr eaLnBrk="1" hangingPunct="1"/>
            <a:r>
              <a:rPr lang="en-US" altLang="en-US"/>
              <a:t>Phương pháp</a:t>
            </a:r>
          </a:p>
        </p:txBody>
      </p:sp>
      <p:sp>
        <p:nvSpPr>
          <p:cNvPr id="1711107" name="Rectangle 3"/>
          <p:cNvSpPr>
            <a:spLocks noGrp="1" noChangeArrowheads="1"/>
          </p:cNvSpPr>
          <p:nvPr>
            <p:ph type="body" idx="1"/>
          </p:nvPr>
        </p:nvSpPr>
        <p:spPr>
          <a:xfrm>
            <a:off x="228600" y="866775"/>
            <a:ext cx="8728075" cy="5762625"/>
          </a:xfrm>
          <a:noFill/>
        </p:spPr>
        <p:txBody>
          <a:bodyPr lIns="0" rIns="0"/>
          <a:lstStyle/>
          <a:p>
            <a:pPr marL="347663" indent="-347663" eaLnBrk="1" hangingPunct="1">
              <a:spcBef>
                <a:spcPct val="10000"/>
              </a:spcBef>
            </a:pPr>
            <a:r>
              <a:rPr lang="fr-FR" altLang="en-US">
                <a:sym typeface="Symbol" panose="05050102010706020507" pitchFamily="18" charset="2"/>
              </a:rPr>
              <a:t>Vượt bỏ một đoạn trên văn bản nguồn cho tới khi tìm được một từ tố cho phép nắm bắt lại được cấu trúc chương trình và có thể tiếp tục làm việc theo dự kiến</a:t>
            </a:r>
          </a:p>
          <a:p>
            <a:pPr marL="347663" indent="-347663" eaLnBrk="1" hangingPunct="1">
              <a:spcBef>
                <a:spcPct val="10000"/>
              </a:spcBef>
            </a:pPr>
            <a:r>
              <a:rPr lang="fr-FR" altLang="en-US">
                <a:sym typeface="Symbol" panose="05050102010706020507" pitchFamily="18" charset="2"/>
              </a:rPr>
              <a:t>Các từ tố cho phép nắm bắt được cấu trúc là các </a:t>
            </a:r>
            <a:r>
              <a:rPr lang="fr-FR" altLang="en-US" b="1" i="1">
                <a:solidFill>
                  <a:srgbClr val="3539EB"/>
                </a:solidFill>
                <a:sym typeface="Symbol" panose="05050102010706020507" pitchFamily="18" charset="2"/>
              </a:rPr>
              <a:t>ký hiệu ngừng</a:t>
            </a:r>
            <a:r>
              <a:rPr lang="fr-FR" altLang="en-US">
                <a:sym typeface="Symbol" panose="05050102010706020507" pitchFamily="18" charset="2"/>
              </a:rPr>
              <a:t>. Có thể là</a:t>
            </a:r>
          </a:p>
          <a:p>
            <a:pPr marL="971550" lvl="1" indent="-450850" eaLnBrk="1" hangingPunct="1">
              <a:spcBef>
                <a:spcPct val="10000"/>
              </a:spcBef>
            </a:pPr>
            <a:r>
              <a:rPr lang="fr-FR" altLang="en-US">
                <a:sym typeface="Symbol" panose="05050102010706020507" pitchFamily="18" charset="2"/>
              </a:rPr>
              <a:t>Các từ tố theo sau cấu trúc đang phân tích</a:t>
            </a:r>
          </a:p>
          <a:p>
            <a:pPr marL="1314450" lvl="2" eaLnBrk="1" hangingPunct="1">
              <a:spcBef>
                <a:spcPct val="10000"/>
              </a:spcBef>
            </a:pPr>
            <a:r>
              <a:rPr lang="fr-FR" altLang="en-US">
                <a:sym typeface="Symbol" panose="05050102010706020507" pitchFamily="18" charset="2"/>
              </a:rPr>
              <a:t>Khi gặp, cho biết cấu trúc đã bị bỏ qua</a:t>
            </a:r>
          </a:p>
          <a:p>
            <a:pPr marL="1314450" lvl="2" eaLnBrk="1" hangingPunct="1">
              <a:spcBef>
                <a:spcPct val="10000"/>
              </a:spcBef>
            </a:pPr>
            <a:r>
              <a:rPr lang="fr-FR" altLang="en-US">
                <a:sym typeface="Symbol" panose="05050102010706020507" pitchFamily="18" charset="2"/>
              </a:rPr>
              <a:t>Là </a:t>
            </a:r>
            <a:r>
              <a:rPr lang="fr-FR" altLang="en-US" b="1">
                <a:solidFill>
                  <a:srgbClr val="3539EB"/>
                </a:solidFill>
                <a:sym typeface="Symbol" panose="05050102010706020507" pitchFamily="18" charset="2"/>
              </a:rPr>
              <a:t>FOLLOW()</a:t>
            </a:r>
            <a:r>
              <a:rPr lang="fr-FR" altLang="en-US">
                <a:sym typeface="Symbol" panose="05050102010706020507" pitchFamily="18" charset="2"/>
              </a:rPr>
              <a:t> của cấu trúc</a:t>
            </a:r>
          </a:p>
          <a:p>
            <a:pPr marL="971550" lvl="1" indent="-450850" eaLnBrk="1" hangingPunct="1">
              <a:spcBef>
                <a:spcPct val="10000"/>
              </a:spcBef>
            </a:pPr>
            <a:r>
              <a:rPr lang="fr-FR" altLang="en-US">
                <a:sym typeface="Symbol" panose="05050102010706020507" pitchFamily="18" charset="2"/>
              </a:rPr>
              <a:t>Các từ tố trong cấu trúc hiện tại, ít khi bị bỏ xót</a:t>
            </a:r>
          </a:p>
          <a:p>
            <a:pPr marL="1314450" lvl="2" eaLnBrk="1" hangingPunct="1">
              <a:spcBef>
                <a:spcPct val="10000"/>
              </a:spcBef>
            </a:pPr>
            <a:r>
              <a:rPr lang="fr-FR" altLang="en-US">
                <a:sym typeface="Symbol" panose="05050102010706020507" pitchFamily="18" charset="2"/>
              </a:rPr>
              <a:t>Được goi là </a:t>
            </a:r>
            <a:r>
              <a:rPr lang="fr-FR" altLang="en-US" b="1" i="1">
                <a:solidFill>
                  <a:srgbClr val="3539EB"/>
                </a:solidFill>
                <a:sym typeface="Symbol" panose="05050102010706020507" pitchFamily="18" charset="2"/>
              </a:rPr>
              <a:t>Các ký hiệu chốt</a:t>
            </a:r>
          </a:p>
          <a:p>
            <a:pPr marL="1314450" lvl="2" eaLnBrk="1" hangingPunct="1">
              <a:spcBef>
                <a:spcPct val="10000"/>
              </a:spcBef>
            </a:pPr>
            <a:r>
              <a:rPr lang="fr-FR" altLang="en-US">
                <a:sym typeface="Symbol" panose="05050102010706020507" pitchFamily="18" charset="2"/>
              </a:rPr>
              <a:t>Thường là từ khóa của cấu trúc hiện tại</a:t>
            </a:r>
            <a:endParaRPr lang="fr-FR" altLang="en-US" b="1" i="1">
              <a:solidFill>
                <a:srgbClr val="3539EB"/>
              </a:solidFill>
              <a:sym typeface="Symbol" panose="05050102010706020507" pitchFamily="18" charset="2"/>
            </a:endParaRPr>
          </a:p>
        </p:txBody>
      </p:sp>
      <p:sp>
        <p:nvSpPr>
          <p:cNvPr id="70661"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5. Xử lý sai sót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711107">
                                            <p:txEl>
                                              <p:pRg st="1" end="1"/>
                                            </p:txEl>
                                          </p:spTgt>
                                        </p:tgtEl>
                                        <p:attrNameLst>
                                          <p:attrName>style.visibility</p:attrName>
                                        </p:attrNameLst>
                                      </p:cBhvr>
                                      <p:to>
                                        <p:strVal val="visible"/>
                                      </p:to>
                                    </p:set>
                                    <p:animEffect transition="in" filter="box(in)">
                                      <p:cBhvr>
                                        <p:cTn id="7" dur="500"/>
                                        <p:tgtEl>
                                          <p:spTgt spid="171110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711107">
                                            <p:txEl>
                                              <p:pRg st="2" end="2"/>
                                            </p:txEl>
                                          </p:spTgt>
                                        </p:tgtEl>
                                        <p:attrNameLst>
                                          <p:attrName>style.visibility</p:attrName>
                                        </p:attrNameLst>
                                      </p:cBhvr>
                                      <p:to>
                                        <p:strVal val="visible"/>
                                      </p:to>
                                    </p:set>
                                    <p:animEffect transition="in" filter="dissolve">
                                      <p:cBhvr>
                                        <p:cTn id="12" dur="500"/>
                                        <p:tgtEl>
                                          <p:spTgt spid="1711107">
                                            <p:txEl>
                                              <p:pRg st="2" end="2"/>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1711107">
                                            <p:txEl>
                                              <p:pRg st="3" end="3"/>
                                            </p:txEl>
                                          </p:spTgt>
                                        </p:tgtEl>
                                        <p:attrNameLst>
                                          <p:attrName>style.visibility</p:attrName>
                                        </p:attrNameLst>
                                      </p:cBhvr>
                                      <p:to>
                                        <p:strVal val="visible"/>
                                      </p:to>
                                    </p:set>
                                    <p:animEffect transition="in" filter="dissolve">
                                      <p:cBhvr>
                                        <p:cTn id="15" dur="500"/>
                                        <p:tgtEl>
                                          <p:spTgt spid="1711107">
                                            <p:txEl>
                                              <p:pRg st="3" end="3"/>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1711107">
                                            <p:txEl>
                                              <p:pRg st="4" end="4"/>
                                            </p:txEl>
                                          </p:spTgt>
                                        </p:tgtEl>
                                        <p:attrNameLst>
                                          <p:attrName>style.visibility</p:attrName>
                                        </p:attrNameLst>
                                      </p:cBhvr>
                                      <p:to>
                                        <p:strVal val="visible"/>
                                      </p:to>
                                    </p:set>
                                    <p:animEffect transition="in" filter="dissolve">
                                      <p:cBhvr>
                                        <p:cTn id="18" dur="500"/>
                                        <p:tgtEl>
                                          <p:spTgt spid="1711107">
                                            <p:txEl>
                                              <p:pRg st="4" end="4"/>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1711107">
                                            <p:txEl>
                                              <p:pRg st="5" end="5"/>
                                            </p:txEl>
                                          </p:spTgt>
                                        </p:tgtEl>
                                        <p:attrNameLst>
                                          <p:attrName>style.visibility</p:attrName>
                                        </p:attrNameLst>
                                      </p:cBhvr>
                                      <p:to>
                                        <p:strVal val="visible"/>
                                      </p:to>
                                    </p:set>
                                    <p:anim calcmode="lin" valueType="num">
                                      <p:cBhvr additive="base">
                                        <p:cTn id="23" dur="500" fill="hold"/>
                                        <p:tgtEl>
                                          <p:spTgt spid="1711107">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711107">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711107">
                                            <p:txEl>
                                              <p:pRg st="6" end="6"/>
                                            </p:txEl>
                                          </p:spTgt>
                                        </p:tgtEl>
                                        <p:attrNameLst>
                                          <p:attrName>style.visibility</p:attrName>
                                        </p:attrNameLst>
                                      </p:cBhvr>
                                      <p:to>
                                        <p:strVal val="visible"/>
                                      </p:to>
                                    </p:set>
                                    <p:anim calcmode="lin" valueType="num">
                                      <p:cBhvr additive="base">
                                        <p:cTn id="27" dur="500" fill="hold"/>
                                        <p:tgtEl>
                                          <p:spTgt spid="1711107">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711107">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711107">
                                            <p:txEl>
                                              <p:pRg st="7" end="7"/>
                                            </p:txEl>
                                          </p:spTgt>
                                        </p:tgtEl>
                                        <p:attrNameLst>
                                          <p:attrName>style.visibility</p:attrName>
                                        </p:attrNameLst>
                                      </p:cBhvr>
                                      <p:to>
                                        <p:strVal val="visible"/>
                                      </p:to>
                                    </p:set>
                                    <p:anim calcmode="lin" valueType="num">
                                      <p:cBhvr additive="base">
                                        <p:cTn id="31" dur="500" fill="hold"/>
                                        <p:tgtEl>
                                          <p:spTgt spid="1711107">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1110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72635825-B75D-478B-BFD6-FA9CAF62A45E}" type="slidenum">
              <a:rPr lang="en-US" altLang="en-US" sz="1400" b="0"/>
              <a:pPr/>
              <a:t>70</a:t>
            </a:fld>
            <a:endParaRPr lang="en-US" altLang="en-US" sz="1400" b="0"/>
          </a:p>
        </p:txBody>
      </p:sp>
      <p:grpSp>
        <p:nvGrpSpPr>
          <p:cNvPr id="1714188" name="Group 12"/>
          <p:cNvGrpSpPr>
            <a:grpSpLocks/>
          </p:cNvGrpSpPr>
          <p:nvPr/>
        </p:nvGrpSpPr>
        <p:grpSpPr bwMode="auto">
          <a:xfrm>
            <a:off x="2305050" y="2057400"/>
            <a:ext cx="6076950" cy="1631950"/>
            <a:chOff x="1452" y="1296"/>
            <a:chExt cx="3828" cy="1028"/>
          </a:xfrm>
        </p:grpSpPr>
        <p:sp>
          <p:nvSpPr>
            <p:cNvPr id="71689" name="Oval 7"/>
            <p:cNvSpPr>
              <a:spLocks noChangeArrowheads="1"/>
            </p:cNvSpPr>
            <p:nvPr/>
          </p:nvSpPr>
          <p:spPr bwMode="auto">
            <a:xfrm>
              <a:off x="1452" y="1296"/>
              <a:ext cx="288" cy="336"/>
            </a:xfrm>
            <a:prstGeom prst="ellipse">
              <a:avLst/>
            </a:prstGeom>
            <a:solidFill>
              <a:schemeClr val="accent1"/>
            </a:solidFill>
            <a:ln w="28575">
              <a:solidFill>
                <a:srgbClr val="FA0617"/>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71690" name="Text Box 9"/>
            <p:cNvSpPr txBox="1">
              <a:spLocks noChangeArrowheads="1"/>
            </p:cNvSpPr>
            <p:nvPr/>
          </p:nvSpPr>
          <p:spPr bwMode="auto">
            <a:xfrm>
              <a:off x="2016" y="1728"/>
              <a:ext cx="3264"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2800" b="0">
                  <a:solidFill>
                    <a:srgbClr val="270076"/>
                  </a:solidFill>
                </a:rPr>
                <a:t>Lỗi ở biểu thức (Term) (</a:t>
              </a:r>
              <a:r>
                <a:rPr lang="fr-FR" altLang="en-US" sz="2800" b="0" i="1">
                  <a:solidFill>
                    <a:srgbClr val="3539EB"/>
                  </a:solidFill>
                </a:rPr>
                <a:t>thiếu toán hạng hoặc dấu ‘(‘</a:t>
              </a:r>
              <a:r>
                <a:rPr lang="fr-FR" altLang="en-US" sz="2800" b="0">
                  <a:solidFill>
                    <a:srgbClr val="270076"/>
                  </a:solidFill>
                </a:rPr>
                <a:t> )</a:t>
              </a:r>
              <a:endParaRPr lang="en-US" altLang="en-US" sz="2800" b="0">
                <a:solidFill>
                  <a:srgbClr val="270076"/>
                </a:solidFill>
              </a:endParaRPr>
            </a:p>
          </p:txBody>
        </p:sp>
        <p:sp>
          <p:nvSpPr>
            <p:cNvPr id="71691" name="Freeform 11"/>
            <p:cNvSpPr>
              <a:spLocks/>
            </p:cNvSpPr>
            <p:nvPr/>
          </p:nvSpPr>
          <p:spPr bwMode="auto">
            <a:xfrm>
              <a:off x="1587" y="1632"/>
              <a:ext cx="480" cy="384"/>
            </a:xfrm>
            <a:custGeom>
              <a:avLst/>
              <a:gdLst>
                <a:gd name="T0" fmla="*/ 480 w 480"/>
                <a:gd name="T1" fmla="*/ 384 h 384"/>
                <a:gd name="T2" fmla="*/ 0 w 480"/>
                <a:gd name="T3" fmla="*/ 384 h 384"/>
                <a:gd name="T4" fmla="*/ 0 w 480"/>
                <a:gd name="T5" fmla="*/ 0 h 384"/>
                <a:gd name="T6" fmla="*/ 0 60000 65536"/>
                <a:gd name="T7" fmla="*/ 0 60000 65536"/>
                <a:gd name="T8" fmla="*/ 0 60000 65536"/>
              </a:gdLst>
              <a:ahLst/>
              <a:cxnLst>
                <a:cxn ang="T6">
                  <a:pos x="T0" y="T1"/>
                </a:cxn>
                <a:cxn ang="T7">
                  <a:pos x="T2" y="T3"/>
                </a:cxn>
                <a:cxn ang="T8">
                  <a:pos x="T4" y="T5"/>
                </a:cxn>
              </a:cxnLst>
              <a:rect l="0" t="0" r="r" b="b"/>
              <a:pathLst>
                <a:path w="480" h="384">
                  <a:moveTo>
                    <a:pt x="480" y="384"/>
                  </a:moveTo>
                  <a:lnTo>
                    <a:pt x="0" y="384"/>
                  </a:lnTo>
                  <a:lnTo>
                    <a:pt x="0" y="0"/>
                  </a:lnTo>
                </a:path>
              </a:pathLst>
            </a:custGeom>
            <a:noFill/>
            <a:ln w="28575"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71684" name="Rectangle 2"/>
          <p:cNvSpPr>
            <a:spLocks noGrp="1" noChangeArrowheads="1"/>
          </p:cNvSpPr>
          <p:nvPr>
            <p:ph type="title"/>
          </p:nvPr>
        </p:nvSpPr>
        <p:spPr/>
        <p:txBody>
          <a:bodyPr/>
          <a:lstStyle/>
          <a:p>
            <a:pPr eaLnBrk="1" hangingPunct="1"/>
            <a:r>
              <a:rPr lang="en-US" altLang="en-US"/>
              <a:t>Phương pháp</a:t>
            </a:r>
            <a:r>
              <a:rPr lang="en-US" altLang="en-US">
                <a:sym typeface="Symbol" panose="05050102010706020507" pitchFamily="18" charset="2"/>
              </a:rPr>
              <a:t>Ví dụ</a:t>
            </a:r>
          </a:p>
        </p:txBody>
      </p:sp>
      <p:sp>
        <p:nvSpPr>
          <p:cNvPr id="1714179" name="Rectangle 3"/>
          <p:cNvSpPr>
            <a:spLocks noGrp="1" noChangeArrowheads="1"/>
          </p:cNvSpPr>
          <p:nvPr>
            <p:ph type="body" idx="1"/>
          </p:nvPr>
        </p:nvSpPr>
        <p:spPr>
          <a:xfrm>
            <a:off x="228600" y="2057400"/>
            <a:ext cx="4038600" cy="685800"/>
          </a:xfrm>
          <a:noFill/>
        </p:spPr>
        <p:txBody>
          <a:bodyPr lIns="0" rIns="0"/>
          <a:lstStyle/>
          <a:p>
            <a:pPr marL="347663" indent="-347663" eaLnBrk="1" hangingPunct="1">
              <a:spcBef>
                <a:spcPct val="0"/>
              </a:spcBef>
              <a:buFontTx/>
              <a:buNone/>
            </a:pPr>
            <a:r>
              <a:rPr lang="fr-FR" altLang="en-US">
                <a:sym typeface="Symbol" panose="05050102010706020507" pitchFamily="18" charset="2"/>
              </a:rPr>
              <a:t>if max &gt; a + * 10 then</a:t>
            </a:r>
          </a:p>
        </p:txBody>
      </p:sp>
      <p:sp>
        <p:nvSpPr>
          <p:cNvPr id="71686"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5. Xử lý sai sót</a:t>
            </a:r>
          </a:p>
        </p:txBody>
      </p:sp>
      <p:pic>
        <p:nvPicPr>
          <p:cNvPr id="7168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990600"/>
            <a:ext cx="716280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4186" name="Text Box 10"/>
          <p:cNvSpPr txBox="1">
            <a:spLocks noChangeArrowheads="1"/>
          </p:cNvSpPr>
          <p:nvPr/>
        </p:nvSpPr>
        <p:spPr bwMode="auto">
          <a:xfrm>
            <a:off x="304800" y="3800475"/>
            <a:ext cx="8686800" cy="206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7663" indent="-347663">
              <a:defRPr sz="1000" b="1">
                <a:solidFill>
                  <a:schemeClr val="tx1"/>
                </a:solidFill>
                <a:latin typeface="Arial" panose="020B0604020202020204" pitchFamily="34" charset="0"/>
              </a:defRPr>
            </a:lvl1pPr>
            <a:lvl2pPr marL="682625" indent="-220663">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lnSpc>
                <a:spcPct val="110000"/>
              </a:lnSpc>
              <a:spcBef>
                <a:spcPct val="20000"/>
              </a:spcBef>
              <a:buFontTx/>
              <a:buChar char="•"/>
            </a:pPr>
            <a:r>
              <a:rPr lang="fr-FR" altLang="en-US" sz="2800" b="0">
                <a:solidFill>
                  <a:srgbClr val="270076"/>
                </a:solidFill>
              </a:rPr>
              <a:t>Sau Condition (Expression) là Then, Do,..</a:t>
            </a:r>
          </a:p>
          <a:p>
            <a:pPr eaLnBrk="1" hangingPunct="1">
              <a:lnSpc>
                <a:spcPct val="110000"/>
              </a:lnSpc>
              <a:spcBef>
                <a:spcPct val="20000"/>
              </a:spcBef>
              <a:buFontTx/>
              <a:buChar char="•"/>
            </a:pPr>
            <a:r>
              <a:rPr lang="fr-FR" altLang="en-US" sz="2800" b="0">
                <a:solidFill>
                  <a:srgbClr val="270076"/>
                </a:solidFill>
              </a:rPr>
              <a:t>Khi gặp KW_THEN </a:t>
            </a:r>
            <a:r>
              <a:rPr lang="fr-FR" altLang="en-US" sz="2800" b="0">
                <a:solidFill>
                  <a:srgbClr val="270076"/>
                </a:solidFill>
                <a:sym typeface="Symbol" panose="05050102010706020507" pitchFamily="18" charset="2"/>
              </a:rPr>
              <a:t> đã bỏ qua hết </a:t>
            </a:r>
            <a:r>
              <a:rPr lang="fr-FR" altLang="en-US" sz="2800" i="1">
                <a:solidFill>
                  <a:srgbClr val="3539EB"/>
                </a:solidFill>
                <a:sym typeface="Symbol" panose="05050102010706020507" pitchFamily="18" charset="2"/>
              </a:rPr>
              <a:t>Condition</a:t>
            </a:r>
            <a:r>
              <a:rPr lang="fr-FR" altLang="en-US" sz="2800" b="0">
                <a:solidFill>
                  <a:srgbClr val="270076"/>
                </a:solidFill>
                <a:sym typeface="Symbol" panose="05050102010706020507" pitchFamily="18" charset="2"/>
              </a:rPr>
              <a:t> </a:t>
            </a:r>
          </a:p>
          <a:p>
            <a:pPr lvl="1" eaLnBrk="1" hangingPunct="1">
              <a:lnSpc>
                <a:spcPct val="110000"/>
              </a:lnSpc>
              <a:spcBef>
                <a:spcPct val="20000"/>
              </a:spcBef>
              <a:buFontTx/>
              <a:buChar char="•"/>
            </a:pPr>
            <a:r>
              <a:rPr lang="fr-FR" altLang="en-US" sz="2400" b="0">
                <a:solidFill>
                  <a:srgbClr val="270076"/>
                </a:solidFill>
                <a:sym typeface="Symbol" panose="05050102010706020507" pitchFamily="18" charset="2"/>
              </a:rPr>
              <a:t>Ghi nhận lỗi (coi như đã triển khai xong Condition)</a:t>
            </a:r>
          </a:p>
          <a:p>
            <a:pPr lvl="1" eaLnBrk="1" hangingPunct="1">
              <a:lnSpc>
                <a:spcPct val="110000"/>
              </a:lnSpc>
              <a:spcBef>
                <a:spcPct val="20000"/>
              </a:spcBef>
              <a:buFontTx/>
              <a:buChar char="•"/>
            </a:pPr>
            <a:r>
              <a:rPr lang="fr-FR" altLang="en-US" sz="2400" b="0">
                <a:solidFill>
                  <a:srgbClr val="270076"/>
                </a:solidFill>
                <a:sym typeface="Symbol" panose="05050102010706020507" pitchFamily="18" charset="2"/>
              </a:rPr>
              <a:t>Có thể tiếp tục triển khai </a:t>
            </a:r>
            <a:r>
              <a:rPr lang="fr-FR" altLang="en-US" sz="2400">
                <a:solidFill>
                  <a:srgbClr val="3539EB"/>
                </a:solidFill>
                <a:sym typeface="Symbol" panose="05050102010706020507" pitchFamily="18" charset="2"/>
              </a:rPr>
              <a:t>Statement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714179">
                                            <p:txEl>
                                              <p:pRg st="0" end="0"/>
                                            </p:txEl>
                                          </p:spTgt>
                                        </p:tgtEl>
                                        <p:attrNameLst>
                                          <p:attrName>style.visibility</p:attrName>
                                        </p:attrNameLst>
                                      </p:cBhvr>
                                      <p:to>
                                        <p:strVal val="visible"/>
                                      </p:to>
                                    </p:set>
                                    <p:animEffect transition="in" filter="box(out)">
                                      <p:cBhvr>
                                        <p:cTn id="7" dur="500"/>
                                        <p:tgtEl>
                                          <p:spTgt spid="17141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714188"/>
                                        </p:tgtEl>
                                        <p:attrNameLst>
                                          <p:attrName>style.visibility</p:attrName>
                                        </p:attrNameLst>
                                      </p:cBhvr>
                                      <p:to>
                                        <p:strVal val="visible"/>
                                      </p:to>
                                    </p:set>
                                    <p:animEffect transition="in" filter="dissolve">
                                      <p:cBhvr>
                                        <p:cTn id="12" dur="500"/>
                                        <p:tgtEl>
                                          <p:spTgt spid="17141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14186"/>
                                        </p:tgtEl>
                                        <p:attrNameLst>
                                          <p:attrName>style.visibility</p:attrName>
                                        </p:attrNameLst>
                                      </p:cBhvr>
                                      <p:to>
                                        <p:strVal val="visible"/>
                                      </p:to>
                                    </p:set>
                                    <p:animEffect transition="in" filter="dissolve">
                                      <p:cBhvr>
                                        <p:cTn id="17" dur="500"/>
                                        <p:tgtEl>
                                          <p:spTgt spid="1714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4179" grpId="0" build="p"/>
      <p:bldP spid="171418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BE431638-A69F-4B28-B891-37F54FFBF36C}" type="slidenum">
              <a:rPr lang="en-US" altLang="en-US" sz="1400" b="0"/>
              <a:pPr/>
              <a:t>71</a:t>
            </a:fld>
            <a:endParaRPr lang="en-US" altLang="en-US" sz="1400" b="0"/>
          </a:p>
        </p:txBody>
      </p:sp>
      <p:grpSp>
        <p:nvGrpSpPr>
          <p:cNvPr id="1715213" name="Group 13"/>
          <p:cNvGrpSpPr>
            <a:grpSpLocks/>
          </p:cNvGrpSpPr>
          <p:nvPr/>
        </p:nvGrpSpPr>
        <p:grpSpPr bwMode="auto">
          <a:xfrm>
            <a:off x="457200" y="2133600"/>
            <a:ext cx="2667000" cy="1214438"/>
            <a:chOff x="288" y="1344"/>
            <a:chExt cx="1680" cy="765"/>
          </a:xfrm>
        </p:grpSpPr>
        <p:sp>
          <p:nvSpPr>
            <p:cNvPr id="72717" name="Rectangle 10"/>
            <p:cNvSpPr>
              <a:spLocks noChangeArrowheads="1"/>
            </p:cNvSpPr>
            <p:nvPr/>
          </p:nvSpPr>
          <p:spPr bwMode="auto">
            <a:xfrm>
              <a:off x="336" y="1344"/>
              <a:ext cx="1536"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endParaRPr lang="fr-FR" altLang="en-US" sz="1200">
                <a:solidFill>
                  <a:srgbClr val="3539EB"/>
                </a:solidFill>
              </a:endParaRPr>
            </a:p>
          </p:txBody>
        </p:sp>
        <p:sp>
          <p:nvSpPr>
            <p:cNvPr id="72718" name="Text Box 11"/>
            <p:cNvSpPr txBox="1">
              <a:spLocks noChangeArrowheads="1"/>
            </p:cNvSpPr>
            <p:nvPr/>
          </p:nvSpPr>
          <p:spPr bwMode="auto">
            <a:xfrm>
              <a:off x="438" y="1782"/>
              <a:ext cx="13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800" b="0"/>
                <a:t>Condition</a:t>
              </a:r>
              <a:endParaRPr lang="en-US" altLang="en-US" sz="2800" b="0"/>
            </a:p>
          </p:txBody>
        </p:sp>
        <p:sp>
          <p:nvSpPr>
            <p:cNvPr id="72719" name="AutoShape 12"/>
            <p:cNvSpPr>
              <a:spLocks/>
            </p:cNvSpPr>
            <p:nvPr/>
          </p:nvSpPr>
          <p:spPr bwMode="auto">
            <a:xfrm rot="5400000">
              <a:off x="984" y="888"/>
              <a:ext cx="288" cy="1680"/>
            </a:xfrm>
            <a:prstGeom prst="rightBrace">
              <a:avLst>
                <a:gd name="adj1" fmla="val 4861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grpSp>
      <p:sp>
        <p:nvSpPr>
          <p:cNvPr id="72708" name="Rectangle 3"/>
          <p:cNvSpPr>
            <a:spLocks noGrp="1" noChangeArrowheads="1"/>
          </p:cNvSpPr>
          <p:nvPr>
            <p:ph type="title"/>
          </p:nvPr>
        </p:nvSpPr>
        <p:spPr/>
        <p:txBody>
          <a:bodyPr/>
          <a:lstStyle/>
          <a:p>
            <a:pPr eaLnBrk="1" hangingPunct="1"/>
            <a:r>
              <a:rPr lang="en-US" altLang="en-US"/>
              <a:t>Phương pháp</a:t>
            </a:r>
            <a:r>
              <a:rPr lang="en-US" altLang="en-US">
                <a:sym typeface="Symbol" panose="05050102010706020507" pitchFamily="18" charset="2"/>
              </a:rPr>
              <a:t>Ví dụ</a:t>
            </a:r>
          </a:p>
        </p:txBody>
      </p:sp>
      <p:sp>
        <p:nvSpPr>
          <p:cNvPr id="1715204" name="Rectangle 4"/>
          <p:cNvSpPr>
            <a:spLocks noGrp="1" noChangeArrowheads="1"/>
          </p:cNvSpPr>
          <p:nvPr>
            <p:ph type="body" idx="1"/>
          </p:nvPr>
        </p:nvSpPr>
        <p:spPr>
          <a:xfrm>
            <a:off x="228600" y="2057400"/>
            <a:ext cx="5029200" cy="685800"/>
          </a:xfrm>
          <a:noFill/>
        </p:spPr>
        <p:txBody>
          <a:bodyPr lIns="0" rIns="0"/>
          <a:lstStyle/>
          <a:p>
            <a:pPr marL="347663" indent="-347663" eaLnBrk="1" hangingPunct="1">
              <a:spcBef>
                <a:spcPct val="0"/>
              </a:spcBef>
              <a:buFontTx/>
              <a:buNone/>
            </a:pPr>
            <a:r>
              <a:rPr lang="fr-FR" altLang="en-US">
                <a:sym typeface="Symbol" panose="05050102010706020507" pitchFamily="18" charset="2"/>
              </a:rPr>
              <a:t>if max &gt; a + 10  Min then</a:t>
            </a:r>
          </a:p>
        </p:txBody>
      </p:sp>
      <p:sp>
        <p:nvSpPr>
          <p:cNvPr id="72710" name="Text Box 5"/>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5. Xử lý sai sót</a:t>
            </a:r>
          </a:p>
        </p:txBody>
      </p:sp>
      <p:pic>
        <p:nvPicPr>
          <p:cNvPr id="72711"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990600"/>
            <a:ext cx="716280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5208" name="Text Box 8"/>
          <p:cNvSpPr txBox="1">
            <a:spLocks noChangeArrowheads="1"/>
          </p:cNvSpPr>
          <p:nvPr/>
        </p:nvSpPr>
        <p:spPr bwMode="auto">
          <a:xfrm>
            <a:off x="304800" y="3733800"/>
            <a:ext cx="8686800"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7663" indent="-347663">
              <a:defRPr sz="1000" b="1">
                <a:solidFill>
                  <a:schemeClr val="tx1"/>
                </a:solidFill>
                <a:latin typeface="Arial" panose="020B0604020202020204" pitchFamily="34" charset="0"/>
              </a:defRPr>
            </a:lvl1pPr>
            <a:lvl2pPr marL="682625" indent="-220663">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lnSpc>
                <a:spcPct val="110000"/>
              </a:lnSpc>
              <a:spcBef>
                <a:spcPct val="20000"/>
              </a:spcBef>
              <a:buFontTx/>
              <a:buChar char="•"/>
            </a:pPr>
            <a:r>
              <a:rPr lang="fr-FR" altLang="en-US" sz="2800" b="0">
                <a:solidFill>
                  <a:srgbClr val="270076"/>
                </a:solidFill>
              </a:rPr>
              <a:t>Sau Statement là </a:t>
            </a:r>
            <a:r>
              <a:rPr lang="fr-FR" altLang="en-US" sz="2800">
                <a:solidFill>
                  <a:srgbClr val="3539EB"/>
                </a:solidFill>
              </a:rPr>
              <a:t>End  ;   .</a:t>
            </a:r>
          </a:p>
          <a:p>
            <a:pPr eaLnBrk="1" hangingPunct="1">
              <a:lnSpc>
                <a:spcPct val="110000"/>
              </a:lnSpc>
              <a:spcBef>
                <a:spcPct val="20000"/>
              </a:spcBef>
              <a:buFontTx/>
              <a:buChar char="•"/>
            </a:pPr>
            <a:r>
              <a:rPr lang="fr-FR" altLang="en-US" sz="2800" b="0">
                <a:solidFill>
                  <a:srgbClr val="270076"/>
                </a:solidFill>
              </a:rPr>
              <a:t>Không nhất thiết phải bỏ cả </a:t>
            </a:r>
            <a:r>
              <a:rPr lang="fr-FR" altLang="en-US" sz="2800" b="0">
                <a:solidFill>
                  <a:srgbClr val="3539EB"/>
                </a:solidFill>
              </a:rPr>
              <a:t>statement </a:t>
            </a:r>
            <a:r>
              <a:rPr lang="fr-FR" altLang="en-US" sz="2800" b="0">
                <a:solidFill>
                  <a:srgbClr val="270076"/>
                </a:solidFill>
              </a:rPr>
              <a:t>cho tới khi gặp </a:t>
            </a:r>
            <a:r>
              <a:rPr lang="fr-FR" altLang="en-US" sz="2800">
                <a:solidFill>
                  <a:srgbClr val="3539EB"/>
                </a:solidFill>
              </a:rPr>
              <a:t>End  ; .</a:t>
            </a:r>
          </a:p>
          <a:p>
            <a:pPr eaLnBrk="1" hangingPunct="1">
              <a:lnSpc>
                <a:spcPct val="110000"/>
              </a:lnSpc>
              <a:spcBef>
                <a:spcPct val="20000"/>
              </a:spcBef>
              <a:buFontTx/>
              <a:buChar char="•"/>
            </a:pPr>
            <a:r>
              <a:rPr lang="fr-FR" altLang="en-US" sz="2800" b="0">
                <a:solidFill>
                  <a:srgbClr val="270076"/>
                </a:solidFill>
              </a:rPr>
              <a:t>Khi đến </a:t>
            </a:r>
            <a:r>
              <a:rPr lang="fr-FR" altLang="en-US" sz="2800">
                <a:solidFill>
                  <a:srgbClr val="3539EB"/>
                </a:solidFill>
              </a:rPr>
              <a:t>Then</a:t>
            </a:r>
            <a:r>
              <a:rPr lang="fr-FR" altLang="en-US" sz="2800" b="0">
                <a:solidFill>
                  <a:srgbClr val="270076"/>
                </a:solidFill>
              </a:rPr>
              <a:t> là có thể bắt đầu phân tích tiếp</a:t>
            </a:r>
            <a:endParaRPr lang="fr-FR" altLang="en-US" sz="2400" b="0">
              <a:solidFill>
                <a:srgbClr val="270076"/>
              </a:solidFill>
              <a:sym typeface="Symbol" panose="05050102010706020507" pitchFamily="18" charset="2"/>
            </a:endParaRPr>
          </a:p>
        </p:txBody>
      </p:sp>
      <p:grpSp>
        <p:nvGrpSpPr>
          <p:cNvPr id="1715215" name="Group 15"/>
          <p:cNvGrpSpPr>
            <a:grpSpLocks/>
          </p:cNvGrpSpPr>
          <p:nvPr/>
        </p:nvGrpSpPr>
        <p:grpSpPr bwMode="auto">
          <a:xfrm>
            <a:off x="3128963" y="2409825"/>
            <a:ext cx="5862637" cy="1136650"/>
            <a:chOff x="1971" y="1518"/>
            <a:chExt cx="3549" cy="716"/>
          </a:xfrm>
        </p:grpSpPr>
        <p:sp>
          <p:nvSpPr>
            <p:cNvPr id="72714" name="Text Box 7"/>
            <p:cNvSpPr txBox="1">
              <a:spLocks noChangeArrowheads="1"/>
            </p:cNvSpPr>
            <p:nvPr/>
          </p:nvSpPr>
          <p:spPr bwMode="auto">
            <a:xfrm>
              <a:off x="3024" y="1638"/>
              <a:ext cx="249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2800" b="0">
                  <a:solidFill>
                    <a:srgbClr val="270076"/>
                  </a:solidFill>
                </a:rPr>
                <a:t>Lỗi ở Statement, nhánh </a:t>
              </a:r>
              <a:r>
                <a:rPr lang="fr-FR" altLang="en-US" sz="2800" i="1">
                  <a:solidFill>
                    <a:srgbClr val="3539EB"/>
                  </a:solidFill>
                </a:rPr>
                <a:t>if</a:t>
              </a:r>
              <a:r>
                <a:rPr lang="fr-FR" altLang="en-US" sz="2800" b="0">
                  <a:solidFill>
                    <a:srgbClr val="270076"/>
                  </a:solidFill>
                </a:rPr>
                <a:t> : (</a:t>
              </a:r>
              <a:r>
                <a:rPr lang="fr-FR" altLang="en-US" sz="2800" b="0" i="1">
                  <a:solidFill>
                    <a:srgbClr val="3539EB"/>
                  </a:solidFill>
                </a:rPr>
                <a:t>thiếu từ khóa </a:t>
              </a:r>
              <a:r>
                <a:rPr lang="fr-FR" altLang="en-US" sz="2800" i="1">
                  <a:solidFill>
                    <a:srgbClr val="3539EB"/>
                  </a:solidFill>
                </a:rPr>
                <a:t>Then</a:t>
              </a:r>
              <a:r>
                <a:rPr lang="fr-FR" altLang="en-US" sz="2800" b="0">
                  <a:solidFill>
                    <a:srgbClr val="270076"/>
                  </a:solidFill>
                </a:rPr>
                <a:t> )</a:t>
              </a:r>
              <a:endParaRPr lang="en-US" altLang="en-US" sz="2800" b="0">
                <a:solidFill>
                  <a:srgbClr val="270076"/>
                </a:solidFill>
              </a:endParaRPr>
            </a:p>
          </p:txBody>
        </p:sp>
        <p:sp>
          <p:nvSpPr>
            <p:cNvPr id="72715" name="Freeform 9"/>
            <p:cNvSpPr>
              <a:spLocks/>
            </p:cNvSpPr>
            <p:nvPr/>
          </p:nvSpPr>
          <p:spPr bwMode="auto">
            <a:xfrm>
              <a:off x="2187" y="1824"/>
              <a:ext cx="864" cy="153"/>
            </a:xfrm>
            <a:custGeom>
              <a:avLst/>
              <a:gdLst>
                <a:gd name="T0" fmla="*/ 864 w 480"/>
                <a:gd name="T1" fmla="*/ 153 h 384"/>
                <a:gd name="T2" fmla="*/ 0 w 480"/>
                <a:gd name="T3" fmla="*/ 153 h 384"/>
                <a:gd name="T4" fmla="*/ 0 w 480"/>
                <a:gd name="T5" fmla="*/ 0 h 384"/>
                <a:gd name="T6" fmla="*/ 0 60000 65536"/>
                <a:gd name="T7" fmla="*/ 0 60000 65536"/>
                <a:gd name="T8" fmla="*/ 0 60000 65536"/>
              </a:gdLst>
              <a:ahLst/>
              <a:cxnLst>
                <a:cxn ang="T6">
                  <a:pos x="T0" y="T1"/>
                </a:cxn>
                <a:cxn ang="T7">
                  <a:pos x="T2" y="T3"/>
                </a:cxn>
                <a:cxn ang="T8">
                  <a:pos x="T4" y="T5"/>
                </a:cxn>
              </a:cxnLst>
              <a:rect l="0" t="0" r="r" b="b"/>
              <a:pathLst>
                <a:path w="480" h="384">
                  <a:moveTo>
                    <a:pt x="480" y="384"/>
                  </a:moveTo>
                  <a:lnTo>
                    <a:pt x="0" y="384"/>
                  </a:lnTo>
                  <a:lnTo>
                    <a:pt x="0" y="0"/>
                  </a:lnTo>
                </a:path>
              </a:pathLst>
            </a:custGeom>
            <a:noFill/>
            <a:ln w="28575"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16" name="AutoShape 14"/>
            <p:cNvSpPr>
              <a:spLocks/>
            </p:cNvSpPr>
            <p:nvPr/>
          </p:nvSpPr>
          <p:spPr bwMode="auto">
            <a:xfrm rot="5400000">
              <a:off x="2019" y="1470"/>
              <a:ext cx="336" cy="432"/>
            </a:xfrm>
            <a:prstGeom prst="rightBrace">
              <a:avLst>
                <a:gd name="adj1" fmla="val 1071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715204">
                                            <p:txEl>
                                              <p:pRg st="0" end="0"/>
                                            </p:txEl>
                                          </p:spTgt>
                                        </p:tgtEl>
                                        <p:attrNameLst>
                                          <p:attrName>style.visibility</p:attrName>
                                        </p:attrNameLst>
                                      </p:cBhvr>
                                      <p:to>
                                        <p:strVal val="visible"/>
                                      </p:to>
                                    </p:set>
                                    <p:animEffect transition="in" filter="checkerboard(across)">
                                      <p:cBhvr>
                                        <p:cTn id="7" dur="500"/>
                                        <p:tgtEl>
                                          <p:spTgt spid="171520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715213"/>
                                        </p:tgtEl>
                                        <p:attrNameLst>
                                          <p:attrName>style.visibility</p:attrName>
                                        </p:attrNameLst>
                                      </p:cBhvr>
                                      <p:to>
                                        <p:strVal val="visible"/>
                                      </p:to>
                                    </p:set>
                                    <p:animEffect transition="in" filter="checkerboard(across)">
                                      <p:cBhvr>
                                        <p:cTn id="12" dur="500"/>
                                        <p:tgtEl>
                                          <p:spTgt spid="17152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715215"/>
                                        </p:tgtEl>
                                        <p:attrNameLst>
                                          <p:attrName>style.visibility</p:attrName>
                                        </p:attrNameLst>
                                      </p:cBhvr>
                                      <p:to>
                                        <p:strVal val="visible"/>
                                      </p:to>
                                    </p:set>
                                    <p:animEffect transition="in" filter="dissolve">
                                      <p:cBhvr>
                                        <p:cTn id="17" dur="500"/>
                                        <p:tgtEl>
                                          <p:spTgt spid="17152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15208"/>
                                        </p:tgtEl>
                                        <p:attrNameLst>
                                          <p:attrName>style.visibility</p:attrName>
                                        </p:attrNameLst>
                                      </p:cBhvr>
                                      <p:to>
                                        <p:strVal val="visible"/>
                                      </p:to>
                                    </p:set>
                                    <p:animEffect transition="in" filter="dissolve">
                                      <p:cBhvr>
                                        <p:cTn id="22" dur="500"/>
                                        <p:tgtEl>
                                          <p:spTgt spid="1715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5204" grpId="0" build="p"/>
      <p:bldP spid="171520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4A2C1CBC-703F-4EC0-BF36-8B1B3D8FF7D6}" type="slidenum">
              <a:rPr lang="en-US" altLang="en-US" sz="1400" b="0"/>
              <a:pPr/>
              <a:t>72</a:t>
            </a:fld>
            <a:endParaRPr lang="en-US" altLang="en-US" sz="1400" b="0"/>
          </a:p>
        </p:txBody>
      </p:sp>
      <p:sp>
        <p:nvSpPr>
          <p:cNvPr id="73731" name="Rectangle 6"/>
          <p:cNvSpPr>
            <a:spLocks noGrp="1" noChangeArrowheads="1"/>
          </p:cNvSpPr>
          <p:nvPr>
            <p:ph type="title"/>
          </p:nvPr>
        </p:nvSpPr>
        <p:spPr/>
        <p:txBody>
          <a:bodyPr/>
          <a:lstStyle/>
          <a:p>
            <a:pPr eaLnBrk="1" hangingPunct="1"/>
            <a:r>
              <a:rPr lang="en-US" altLang="en-US"/>
              <a:t>Phương pháp</a:t>
            </a:r>
            <a:r>
              <a:rPr lang="en-US" altLang="en-US">
                <a:sym typeface="Symbol" panose="05050102010706020507" pitchFamily="18" charset="2"/>
              </a:rPr>
              <a:t>Thực hiện</a:t>
            </a:r>
          </a:p>
        </p:txBody>
      </p:sp>
      <p:sp>
        <p:nvSpPr>
          <p:cNvPr id="73732" name="Text Box 8"/>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5. Xử lý sai sót</a:t>
            </a:r>
          </a:p>
        </p:txBody>
      </p:sp>
      <p:sp>
        <p:nvSpPr>
          <p:cNvPr id="1716239" name="Rectangle 15"/>
          <p:cNvSpPr>
            <a:spLocks noGrp="1" noChangeArrowheads="1"/>
          </p:cNvSpPr>
          <p:nvPr>
            <p:ph type="body" idx="1"/>
          </p:nvPr>
        </p:nvSpPr>
        <p:spPr>
          <a:xfrm>
            <a:off x="228600" y="914400"/>
            <a:ext cx="8724900" cy="5715000"/>
          </a:xfrm>
          <a:noFill/>
        </p:spPr>
        <p:txBody>
          <a:bodyPr lIns="0" rIns="0"/>
          <a:lstStyle/>
          <a:p>
            <a:pPr eaLnBrk="1" hangingPunct="1">
              <a:lnSpc>
                <a:spcPct val="105000"/>
              </a:lnSpc>
              <a:spcBef>
                <a:spcPct val="10000"/>
              </a:spcBef>
            </a:pPr>
            <a:r>
              <a:rPr lang="fr-FR" altLang="en-US"/>
              <a:t>Để thực hiện, cần cho biết các thủ tục phân tích cú pháp (</a:t>
            </a:r>
            <a:r>
              <a:rPr lang="fr-FR" altLang="en-US" i="1">
                <a:solidFill>
                  <a:srgbClr val="3539EB"/>
                </a:solidFill>
              </a:rPr>
              <a:t>dùng để triển khai một đích, ví dụ  compileBlock(), compileStatement(),..</a:t>
            </a:r>
            <a:r>
              <a:rPr lang="fr-FR" altLang="en-US"/>
              <a:t>) có thể hồi phục ở những ký hiệu ngừng nào</a:t>
            </a:r>
          </a:p>
          <a:p>
            <a:pPr lvl="1" eaLnBrk="1" hangingPunct="1">
              <a:lnSpc>
                <a:spcPct val="105000"/>
              </a:lnSpc>
              <a:spcBef>
                <a:spcPct val="10000"/>
              </a:spcBef>
            </a:pPr>
            <a:r>
              <a:rPr lang="fr-FR" altLang="en-US"/>
              <a:t>Các ký hiệu chốt thuộc chính cấu trúc mà thủ tục đang phân tích</a:t>
            </a:r>
          </a:p>
          <a:p>
            <a:pPr lvl="1" eaLnBrk="1" hangingPunct="1">
              <a:lnSpc>
                <a:spcPct val="105000"/>
              </a:lnSpc>
              <a:spcBef>
                <a:spcPct val="10000"/>
              </a:spcBef>
            </a:pPr>
            <a:r>
              <a:rPr lang="fr-FR" altLang="en-US"/>
              <a:t>Các ký hiệu theo sau cấu trúc (phụ thuộc chỗ gọi)</a:t>
            </a:r>
          </a:p>
          <a:p>
            <a:pPr lvl="2" indent="-53975" eaLnBrk="1" hangingPunct="1">
              <a:lnSpc>
                <a:spcPct val="105000"/>
              </a:lnSpc>
              <a:spcBef>
                <a:spcPct val="10000"/>
              </a:spcBef>
              <a:buFontTx/>
              <a:buNone/>
            </a:pPr>
            <a:r>
              <a:rPr lang="fr-FR" altLang="en-US" b="1" u="sng"/>
              <a:t>Ví dụ:</a:t>
            </a:r>
            <a:r>
              <a:rPr lang="fr-FR" altLang="en-US"/>
              <a:t> </a:t>
            </a:r>
            <a:r>
              <a:rPr lang="fr-FR" altLang="en-US">
                <a:solidFill>
                  <a:srgbClr val="3539EB"/>
                </a:solidFill>
              </a:rPr>
              <a:t>Đang phân tích Condition, nếu Condition được gọi trong nhánh </a:t>
            </a:r>
            <a:r>
              <a:rPr lang="fr-FR" altLang="en-US" b="1"/>
              <a:t>IF</a:t>
            </a:r>
            <a:r>
              <a:rPr lang="fr-FR" altLang="en-US">
                <a:solidFill>
                  <a:srgbClr val="3539EB"/>
                </a:solidFill>
              </a:rPr>
              <a:t>, ký hiệu theo sau là </a:t>
            </a:r>
            <a:r>
              <a:rPr lang="fr-FR" altLang="en-US" b="1"/>
              <a:t>THEN</a:t>
            </a:r>
            <a:r>
              <a:rPr lang="fr-FR" altLang="en-US">
                <a:solidFill>
                  <a:srgbClr val="3539EB"/>
                </a:solidFill>
              </a:rPr>
              <a:t>, còn trong nhánh </a:t>
            </a:r>
            <a:r>
              <a:rPr lang="fr-FR" altLang="en-US" b="1"/>
              <a:t>WHILE</a:t>
            </a:r>
            <a:r>
              <a:rPr lang="fr-FR" altLang="en-US">
                <a:solidFill>
                  <a:srgbClr val="3539EB"/>
                </a:solidFill>
              </a:rPr>
              <a:t>, ký hiệu theo sau là </a:t>
            </a:r>
            <a:r>
              <a:rPr lang="fr-FR" altLang="en-US" b="1"/>
              <a:t>DO</a:t>
            </a:r>
          </a:p>
          <a:p>
            <a:pPr lvl="1" eaLnBrk="1" hangingPunct="1">
              <a:lnSpc>
                <a:spcPct val="105000"/>
              </a:lnSpc>
              <a:spcBef>
                <a:spcPct val="10000"/>
              </a:spcBef>
            </a:pPr>
            <a:r>
              <a:rPr lang="fr-FR" altLang="en-US"/>
              <a:t>Các ký hiệu ngừng được kế thừa từ các cấu trúc (</a:t>
            </a:r>
            <a:r>
              <a:rPr lang="fr-FR" altLang="en-US" i="1"/>
              <a:t>thủ tục</a:t>
            </a:r>
            <a:r>
              <a:rPr lang="fr-FR" altLang="en-US"/>
              <a:t>) bên trên</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16239">
                                            <p:txEl>
                                              <p:pRg st="1" end="1"/>
                                            </p:txEl>
                                          </p:spTgt>
                                        </p:tgtEl>
                                        <p:attrNameLst>
                                          <p:attrName>style.visibility</p:attrName>
                                        </p:attrNameLst>
                                      </p:cBhvr>
                                      <p:to>
                                        <p:strVal val="visible"/>
                                      </p:to>
                                    </p:set>
                                    <p:anim calcmode="lin" valueType="num">
                                      <p:cBhvr additive="base">
                                        <p:cTn id="7" dur="500" fill="hold"/>
                                        <p:tgtEl>
                                          <p:spTgt spid="1716239">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162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1716239">
                                            <p:txEl>
                                              <p:pRg st="2" end="2"/>
                                            </p:txEl>
                                          </p:spTgt>
                                        </p:tgtEl>
                                        <p:attrNameLst>
                                          <p:attrName>style.visibility</p:attrName>
                                        </p:attrNameLst>
                                      </p:cBhvr>
                                      <p:to>
                                        <p:strVal val="visible"/>
                                      </p:to>
                                    </p:set>
                                    <p:animEffect transition="in" filter="dissolve">
                                      <p:cBhvr>
                                        <p:cTn id="13" dur="500"/>
                                        <p:tgtEl>
                                          <p:spTgt spid="1716239">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1716239">
                                            <p:txEl>
                                              <p:pRg st="3" end="3"/>
                                            </p:txEl>
                                          </p:spTgt>
                                        </p:tgtEl>
                                        <p:attrNameLst>
                                          <p:attrName>style.visibility</p:attrName>
                                        </p:attrNameLst>
                                      </p:cBhvr>
                                      <p:to>
                                        <p:strVal val="visible"/>
                                      </p:to>
                                    </p:set>
                                    <p:animEffect transition="in" filter="dissolve">
                                      <p:cBhvr>
                                        <p:cTn id="16" dur="500"/>
                                        <p:tgtEl>
                                          <p:spTgt spid="1716239">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nodeType="clickEffect">
                                  <p:stCondLst>
                                    <p:cond delay="0"/>
                                  </p:stCondLst>
                                  <p:childTnLst>
                                    <p:set>
                                      <p:cBhvr>
                                        <p:cTn id="20" dur="1" fill="hold">
                                          <p:stCondLst>
                                            <p:cond delay="0"/>
                                          </p:stCondLst>
                                        </p:cTn>
                                        <p:tgtEl>
                                          <p:spTgt spid="1716239">
                                            <p:txEl>
                                              <p:pRg st="4" end="4"/>
                                            </p:txEl>
                                          </p:spTgt>
                                        </p:tgtEl>
                                        <p:attrNameLst>
                                          <p:attrName>style.visibility</p:attrName>
                                        </p:attrNameLst>
                                      </p:cBhvr>
                                      <p:to>
                                        <p:strVal val="visible"/>
                                      </p:to>
                                    </p:set>
                                    <p:anim calcmode="lin" valueType="num">
                                      <p:cBhvr additive="base">
                                        <p:cTn id="21" dur="500" fill="hold"/>
                                        <p:tgtEl>
                                          <p:spTgt spid="1716239">
                                            <p:txEl>
                                              <p:pRg st="4" end="4"/>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71623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12AB6DA3-57F1-424D-AC5A-117C48105E23}" type="slidenum">
              <a:rPr lang="en-US" altLang="en-US" sz="1400" b="0"/>
              <a:pPr/>
              <a:t>73</a:t>
            </a:fld>
            <a:endParaRPr lang="en-US" altLang="en-US" sz="1400" b="0"/>
          </a:p>
        </p:txBody>
      </p:sp>
      <p:sp>
        <p:nvSpPr>
          <p:cNvPr id="74755" name="Rectangle 2"/>
          <p:cNvSpPr>
            <a:spLocks noGrp="1" noChangeArrowheads="1"/>
          </p:cNvSpPr>
          <p:nvPr>
            <p:ph type="title"/>
          </p:nvPr>
        </p:nvSpPr>
        <p:spPr/>
        <p:txBody>
          <a:bodyPr/>
          <a:lstStyle/>
          <a:p>
            <a:pPr eaLnBrk="1" hangingPunct="1"/>
            <a:r>
              <a:rPr lang="en-US" altLang="en-US"/>
              <a:t>Phương pháp ghi nhận lỗi</a:t>
            </a:r>
          </a:p>
        </p:txBody>
      </p:sp>
      <p:sp>
        <p:nvSpPr>
          <p:cNvPr id="1712131" name="Rectangle 3"/>
          <p:cNvSpPr>
            <a:spLocks noGrp="1" noChangeArrowheads="1"/>
          </p:cNvSpPr>
          <p:nvPr>
            <p:ph type="body" idx="1"/>
          </p:nvPr>
        </p:nvSpPr>
        <p:spPr>
          <a:xfrm>
            <a:off x="228600" y="866775"/>
            <a:ext cx="8728075" cy="2257425"/>
          </a:xfrm>
          <a:noFill/>
        </p:spPr>
        <p:txBody>
          <a:bodyPr lIns="0" rIns="0"/>
          <a:lstStyle/>
          <a:p>
            <a:pPr marL="347663" indent="-347663" eaLnBrk="1" hangingPunct="1">
              <a:lnSpc>
                <a:spcPct val="110000"/>
              </a:lnSpc>
            </a:pPr>
            <a:r>
              <a:rPr lang="fr-FR" altLang="en-US">
                <a:sym typeface="Symbol" panose="05050102010706020507" pitchFamily="18" charset="2"/>
              </a:rPr>
              <a:t>Khi lỗi có thể đoán biết được không cần vượt quá một đoạn trong chương trình nguồn</a:t>
            </a:r>
          </a:p>
          <a:p>
            <a:pPr marL="971550" lvl="1" indent="-450850" eaLnBrk="1" hangingPunct="1">
              <a:lnSpc>
                <a:spcPct val="110000"/>
              </a:lnSpc>
            </a:pPr>
            <a:r>
              <a:rPr lang="fr-FR" altLang="en-US">
                <a:sym typeface="Symbol" panose="05050102010706020507" pitchFamily="18" charset="2"/>
              </a:rPr>
              <a:t>Ví dụ, lỗi thiếu dấu </a:t>
            </a:r>
            <a:r>
              <a:rPr lang="fr-FR" altLang="en-US" b="1">
                <a:sym typeface="Symbol" panose="05050102010706020507" pitchFamily="18" charset="2"/>
              </a:rPr>
              <a:t>;</a:t>
            </a:r>
            <a:r>
              <a:rPr lang="fr-FR" altLang="en-US">
                <a:sym typeface="Symbol" panose="05050102010706020507" pitchFamily="18" charset="2"/>
              </a:rPr>
              <a:t> hoặc </a:t>
            </a:r>
            <a:r>
              <a:rPr lang="fr-FR" altLang="en-US" b="1">
                <a:sym typeface="Symbol" panose="05050102010706020507" pitchFamily="18" charset="2"/>
              </a:rPr>
              <a:t>End</a:t>
            </a:r>
            <a:r>
              <a:rPr lang="fr-FR" altLang="en-US">
                <a:sym typeface="Symbol" panose="05050102010706020507" pitchFamily="18" charset="2"/>
              </a:rPr>
              <a:t> trong statement</a:t>
            </a:r>
          </a:p>
          <a:p>
            <a:pPr marL="347663" indent="-347663" eaLnBrk="1" hangingPunct="1">
              <a:lnSpc>
                <a:spcPct val="110000"/>
              </a:lnSpc>
            </a:pPr>
            <a:r>
              <a:rPr lang="fr-FR" altLang="en-US">
                <a:sym typeface="Symbol" panose="05050102010706020507" pitchFamily="18" charset="2"/>
              </a:rPr>
              <a:t>Có thể sửa lại sơ đồ và viết lại theo sơ đồ mới</a:t>
            </a:r>
          </a:p>
        </p:txBody>
      </p:sp>
      <p:sp>
        <p:nvSpPr>
          <p:cNvPr id="74757"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5. Xử lý sai sót</a:t>
            </a:r>
          </a:p>
        </p:txBody>
      </p:sp>
      <p:grpSp>
        <p:nvGrpSpPr>
          <p:cNvPr id="1712154" name="Group 26"/>
          <p:cNvGrpSpPr>
            <a:grpSpLocks/>
          </p:cNvGrpSpPr>
          <p:nvPr/>
        </p:nvGrpSpPr>
        <p:grpSpPr bwMode="auto">
          <a:xfrm>
            <a:off x="338138" y="3805238"/>
            <a:ext cx="8501062" cy="1452562"/>
            <a:chOff x="117" y="2304"/>
            <a:chExt cx="5355" cy="915"/>
          </a:xfrm>
        </p:grpSpPr>
        <p:sp>
          <p:nvSpPr>
            <p:cNvPr id="74762" name="AutoShape 5"/>
            <p:cNvSpPr>
              <a:spLocks noChangeArrowheads="1"/>
            </p:cNvSpPr>
            <p:nvPr/>
          </p:nvSpPr>
          <p:spPr bwMode="auto">
            <a:xfrm>
              <a:off x="288" y="2304"/>
              <a:ext cx="768" cy="336"/>
            </a:xfrm>
            <a:prstGeom prst="roundRect">
              <a:avLst>
                <a:gd name="adj" fmla="val 500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74763" name="Text Box 6"/>
            <p:cNvSpPr txBox="1">
              <a:spLocks noChangeArrowheads="1"/>
            </p:cNvSpPr>
            <p:nvPr/>
          </p:nvSpPr>
          <p:spPr bwMode="auto">
            <a:xfrm>
              <a:off x="384" y="2304"/>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a:solidFill>
                    <a:srgbClr val="270076"/>
                  </a:solidFill>
                </a:rPr>
                <a:t>Begin</a:t>
              </a:r>
              <a:endParaRPr lang="en-US" altLang="en-US" sz="2400" b="0">
                <a:solidFill>
                  <a:srgbClr val="270076"/>
                </a:solidFill>
              </a:endParaRPr>
            </a:p>
          </p:txBody>
        </p:sp>
        <p:sp>
          <p:nvSpPr>
            <p:cNvPr id="74764" name="AutoShape 7"/>
            <p:cNvSpPr>
              <a:spLocks noChangeArrowheads="1"/>
            </p:cNvSpPr>
            <p:nvPr/>
          </p:nvSpPr>
          <p:spPr bwMode="auto">
            <a:xfrm>
              <a:off x="4608" y="2325"/>
              <a:ext cx="576" cy="336"/>
            </a:xfrm>
            <a:prstGeom prst="roundRect">
              <a:avLst>
                <a:gd name="adj" fmla="val 500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74765" name="Text Box 8"/>
            <p:cNvSpPr txBox="1">
              <a:spLocks noChangeArrowheads="1"/>
            </p:cNvSpPr>
            <p:nvPr/>
          </p:nvSpPr>
          <p:spPr bwMode="auto">
            <a:xfrm>
              <a:off x="4572" y="2328"/>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a:solidFill>
                    <a:srgbClr val="270076"/>
                  </a:solidFill>
                </a:rPr>
                <a:t>End</a:t>
              </a:r>
              <a:endParaRPr lang="en-US" altLang="en-US" sz="2400" b="0">
                <a:solidFill>
                  <a:srgbClr val="270076"/>
                </a:solidFill>
              </a:endParaRPr>
            </a:p>
          </p:txBody>
        </p:sp>
        <p:sp>
          <p:nvSpPr>
            <p:cNvPr id="74766" name="Text Box 9"/>
            <p:cNvSpPr txBox="1">
              <a:spLocks noChangeArrowheads="1"/>
            </p:cNvSpPr>
            <p:nvPr/>
          </p:nvSpPr>
          <p:spPr bwMode="auto">
            <a:xfrm>
              <a:off x="2688" y="2880"/>
              <a:ext cx="1008" cy="294"/>
            </a:xfrm>
            <a:prstGeom prst="rect">
              <a:avLst/>
            </a:prstGeom>
            <a:noFill/>
            <a:ln w="9525">
              <a:solidFill>
                <a:srgbClr val="27007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a:solidFill>
                    <a:srgbClr val="270076"/>
                  </a:solidFill>
                </a:rPr>
                <a:t>Statement</a:t>
              </a:r>
              <a:endParaRPr lang="en-US" altLang="en-US" sz="2400" b="0">
                <a:solidFill>
                  <a:srgbClr val="270076"/>
                </a:solidFill>
              </a:endParaRPr>
            </a:p>
          </p:txBody>
        </p:sp>
        <p:grpSp>
          <p:nvGrpSpPr>
            <p:cNvPr id="74767" name="Group 15"/>
            <p:cNvGrpSpPr>
              <a:grpSpLocks/>
            </p:cNvGrpSpPr>
            <p:nvPr/>
          </p:nvGrpSpPr>
          <p:grpSpPr bwMode="auto">
            <a:xfrm>
              <a:off x="3900" y="2865"/>
              <a:ext cx="354" cy="354"/>
              <a:chOff x="4158" y="3120"/>
              <a:chExt cx="354" cy="354"/>
            </a:xfrm>
          </p:grpSpPr>
          <p:sp>
            <p:nvSpPr>
              <p:cNvPr id="74776" name="Oval 10"/>
              <p:cNvSpPr>
                <a:spLocks noChangeArrowheads="1"/>
              </p:cNvSpPr>
              <p:nvPr/>
            </p:nvSpPr>
            <p:spPr bwMode="auto">
              <a:xfrm rot="1749228">
                <a:off x="4158" y="3120"/>
                <a:ext cx="35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endParaRPr lang="en-US" altLang="en-US"/>
              </a:p>
            </p:txBody>
          </p:sp>
          <p:sp>
            <p:nvSpPr>
              <p:cNvPr id="74777" name="Text Box 11"/>
              <p:cNvSpPr txBox="1">
                <a:spLocks noChangeArrowheads="1"/>
              </p:cNvSpPr>
              <p:nvPr/>
            </p:nvSpPr>
            <p:spPr bwMode="auto">
              <a:xfrm flipH="1" flipV="1">
                <a:off x="4281" y="3147"/>
                <a:ext cx="1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2800">
                    <a:solidFill>
                      <a:srgbClr val="270076"/>
                    </a:solidFill>
                  </a:rPr>
                  <a:t>;</a:t>
                </a:r>
                <a:endParaRPr lang="en-US" altLang="en-US" sz="2800">
                  <a:solidFill>
                    <a:srgbClr val="270076"/>
                  </a:solidFill>
                </a:endParaRPr>
              </a:p>
            </p:txBody>
          </p:sp>
        </p:grpSp>
        <p:sp>
          <p:nvSpPr>
            <p:cNvPr id="74768" name="Text Box 14"/>
            <p:cNvSpPr txBox="1">
              <a:spLocks noChangeArrowheads="1"/>
            </p:cNvSpPr>
            <p:nvPr/>
          </p:nvSpPr>
          <p:spPr bwMode="auto">
            <a:xfrm>
              <a:off x="1365" y="2331"/>
              <a:ext cx="1083" cy="294"/>
            </a:xfrm>
            <a:prstGeom prst="rect">
              <a:avLst/>
            </a:prstGeom>
            <a:noFill/>
            <a:ln w="9525">
              <a:solidFill>
                <a:srgbClr val="27007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algn="ctr" eaLnBrk="1" hangingPunct="1">
                <a:spcBef>
                  <a:spcPct val="50000"/>
                </a:spcBef>
              </a:pPr>
              <a:r>
                <a:rPr lang="fr-FR" altLang="en-US" sz="2400" b="0">
                  <a:solidFill>
                    <a:srgbClr val="270076"/>
                  </a:solidFill>
                </a:rPr>
                <a:t>Statement</a:t>
              </a:r>
              <a:endParaRPr lang="en-US" altLang="en-US" sz="2400" b="0">
                <a:solidFill>
                  <a:srgbClr val="270076"/>
                </a:solidFill>
              </a:endParaRPr>
            </a:p>
          </p:txBody>
        </p:sp>
        <p:sp>
          <p:nvSpPr>
            <p:cNvPr id="74769" name="Line 16"/>
            <p:cNvSpPr>
              <a:spLocks noChangeShapeType="1"/>
            </p:cNvSpPr>
            <p:nvPr/>
          </p:nvSpPr>
          <p:spPr bwMode="auto">
            <a:xfrm>
              <a:off x="117" y="2478"/>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70" name="Line 17"/>
            <p:cNvSpPr>
              <a:spLocks noChangeShapeType="1"/>
            </p:cNvSpPr>
            <p:nvPr/>
          </p:nvSpPr>
          <p:spPr bwMode="auto">
            <a:xfrm>
              <a:off x="1056" y="2478"/>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71" name="Line 18"/>
            <p:cNvSpPr>
              <a:spLocks noChangeShapeType="1"/>
            </p:cNvSpPr>
            <p:nvPr/>
          </p:nvSpPr>
          <p:spPr bwMode="auto">
            <a:xfrm>
              <a:off x="2448" y="2496"/>
              <a:ext cx="216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72" name="Line 19"/>
            <p:cNvSpPr>
              <a:spLocks noChangeShapeType="1"/>
            </p:cNvSpPr>
            <p:nvPr/>
          </p:nvSpPr>
          <p:spPr bwMode="auto">
            <a:xfrm>
              <a:off x="5184" y="2496"/>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73" name="Freeform 20"/>
            <p:cNvSpPr>
              <a:spLocks/>
            </p:cNvSpPr>
            <p:nvPr/>
          </p:nvSpPr>
          <p:spPr bwMode="auto">
            <a:xfrm>
              <a:off x="2592" y="2496"/>
              <a:ext cx="96" cy="528"/>
            </a:xfrm>
            <a:custGeom>
              <a:avLst/>
              <a:gdLst>
                <a:gd name="T0" fmla="*/ 96 w 96"/>
                <a:gd name="T1" fmla="*/ 528 h 528"/>
                <a:gd name="T2" fmla="*/ 0 w 96"/>
                <a:gd name="T3" fmla="*/ 528 h 528"/>
                <a:gd name="T4" fmla="*/ 0 w 96"/>
                <a:gd name="T5" fmla="*/ 0 h 528"/>
                <a:gd name="T6" fmla="*/ 0 60000 65536"/>
                <a:gd name="T7" fmla="*/ 0 60000 65536"/>
                <a:gd name="T8" fmla="*/ 0 60000 65536"/>
              </a:gdLst>
              <a:ahLst/>
              <a:cxnLst>
                <a:cxn ang="T6">
                  <a:pos x="T0" y="T1"/>
                </a:cxn>
                <a:cxn ang="T7">
                  <a:pos x="T2" y="T3"/>
                </a:cxn>
                <a:cxn ang="T8">
                  <a:pos x="T4" y="T5"/>
                </a:cxn>
              </a:cxnLst>
              <a:rect l="0" t="0" r="r" b="b"/>
              <a:pathLst>
                <a:path w="96" h="528">
                  <a:moveTo>
                    <a:pt x="96" y="528"/>
                  </a:moveTo>
                  <a:lnTo>
                    <a:pt x="0" y="528"/>
                  </a:lnTo>
                  <a:lnTo>
                    <a:pt x="0" y="0"/>
                  </a:ln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74" name="Freeform 22"/>
            <p:cNvSpPr>
              <a:spLocks/>
            </p:cNvSpPr>
            <p:nvPr/>
          </p:nvSpPr>
          <p:spPr bwMode="auto">
            <a:xfrm>
              <a:off x="4263" y="2505"/>
              <a:ext cx="144" cy="528"/>
            </a:xfrm>
            <a:custGeom>
              <a:avLst/>
              <a:gdLst>
                <a:gd name="T0" fmla="*/ 144 w 144"/>
                <a:gd name="T1" fmla="*/ 0 h 528"/>
                <a:gd name="T2" fmla="*/ 144 w 144"/>
                <a:gd name="T3" fmla="*/ 528 h 528"/>
                <a:gd name="T4" fmla="*/ 0 w 144"/>
                <a:gd name="T5" fmla="*/ 528 h 528"/>
                <a:gd name="T6" fmla="*/ 0 60000 65536"/>
                <a:gd name="T7" fmla="*/ 0 60000 65536"/>
                <a:gd name="T8" fmla="*/ 0 60000 65536"/>
              </a:gdLst>
              <a:ahLst/>
              <a:cxnLst>
                <a:cxn ang="T6">
                  <a:pos x="T0" y="T1"/>
                </a:cxn>
                <a:cxn ang="T7">
                  <a:pos x="T2" y="T3"/>
                </a:cxn>
                <a:cxn ang="T8">
                  <a:pos x="T4" y="T5"/>
                </a:cxn>
              </a:cxnLst>
              <a:rect l="0" t="0" r="r" b="b"/>
              <a:pathLst>
                <a:path w="144" h="528">
                  <a:moveTo>
                    <a:pt x="144" y="0"/>
                  </a:moveTo>
                  <a:lnTo>
                    <a:pt x="144" y="528"/>
                  </a:lnTo>
                  <a:lnTo>
                    <a:pt x="0" y="52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75" name="Line 23"/>
            <p:cNvSpPr>
              <a:spLocks noChangeShapeType="1"/>
            </p:cNvSpPr>
            <p:nvPr/>
          </p:nvSpPr>
          <p:spPr bwMode="auto">
            <a:xfrm flipH="1">
              <a:off x="3717" y="3042"/>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712155" name="Group 27"/>
          <p:cNvGrpSpPr>
            <a:grpSpLocks/>
          </p:cNvGrpSpPr>
          <p:nvPr/>
        </p:nvGrpSpPr>
        <p:grpSpPr bwMode="auto">
          <a:xfrm>
            <a:off x="6205538" y="3576638"/>
            <a:ext cx="2324100" cy="1371600"/>
            <a:chOff x="3813" y="2160"/>
            <a:chExt cx="1464" cy="864"/>
          </a:xfrm>
        </p:grpSpPr>
        <p:sp>
          <p:nvSpPr>
            <p:cNvPr id="74760" name="Freeform 24"/>
            <p:cNvSpPr>
              <a:spLocks/>
            </p:cNvSpPr>
            <p:nvPr/>
          </p:nvSpPr>
          <p:spPr bwMode="auto">
            <a:xfrm>
              <a:off x="3813" y="2736"/>
              <a:ext cx="528" cy="288"/>
            </a:xfrm>
            <a:custGeom>
              <a:avLst/>
              <a:gdLst>
                <a:gd name="T0" fmla="*/ 528 w 528"/>
                <a:gd name="T1" fmla="*/ 288 h 288"/>
                <a:gd name="T2" fmla="*/ 528 w 528"/>
                <a:gd name="T3" fmla="*/ 0 h 288"/>
                <a:gd name="T4" fmla="*/ 0 w 528"/>
                <a:gd name="T5" fmla="*/ 0 h 288"/>
                <a:gd name="T6" fmla="*/ 0 w 528"/>
                <a:gd name="T7" fmla="*/ 288 h 2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8" h="288">
                  <a:moveTo>
                    <a:pt x="528" y="288"/>
                  </a:moveTo>
                  <a:lnTo>
                    <a:pt x="528" y="0"/>
                  </a:lnTo>
                  <a:lnTo>
                    <a:pt x="0" y="0"/>
                  </a:lnTo>
                  <a:lnTo>
                    <a:pt x="0" y="288"/>
                  </a:lnTo>
                </a:path>
              </a:pathLst>
            </a:custGeom>
            <a:noFill/>
            <a:ln w="9525" cap="flat">
              <a:solidFill>
                <a:schemeClr val="tx1"/>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61" name="Freeform 25"/>
            <p:cNvSpPr>
              <a:spLocks/>
            </p:cNvSpPr>
            <p:nvPr/>
          </p:nvSpPr>
          <p:spPr bwMode="auto">
            <a:xfrm>
              <a:off x="4509" y="2160"/>
              <a:ext cx="768" cy="336"/>
            </a:xfrm>
            <a:custGeom>
              <a:avLst/>
              <a:gdLst>
                <a:gd name="T0" fmla="*/ 0 w 768"/>
                <a:gd name="T1" fmla="*/ 336 h 336"/>
                <a:gd name="T2" fmla="*/ 0 w 768"/>
                <a:gd name="T3" fmla="*/ 0 h 336"/>
                <a:gd name="T4" fmla="*/ 768 w 768"/>
                <a:gd name="T5" fmla="*/ 0 h 336"/>
                <a:gd name="T6" fmla="*/ 768 w 768"/>
                <a:gd name="T7" fmla="*/ 336 h 3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8" h="336">
                  <a:moveTo>
                    <a:pt x="0" y="336"/>
                  </a:moveTo>
                  <a:lnTo>
                    <a:pt x="0" y="0"/>
                  </a:lnTo>
                  <a:lnTo>
                    <a:pt x="768" y="0"/>
                  </a:lnTo>
                  <a:lnTo>
                    <a:pt x="768" y="336"/>
                  </a:lnTo>
                </a:path>
              </a:pathLst>
            </a:custGeom>
            <a:noFill/>
            <a:ln w="9525" cap="flat">
              <a:solidFill>
                <a:schemeClr val="tx1"/>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712131">
                                            <p:txEl>
                                              <p:pRg st="2" end="2"/>
                                            </p:txEl>
                                          </p:spTgt>
                                        </p:tgtEl>
                                        <p:attrNameLst>
                                          <p:attrName>style.visibility</p:attrName>
                                        </p:attrNameLst>
                                      </p:cBhvr>
                                      <p:to>
                                        <p:strVal val="visible"/>
                                      </p:to>
                                    </p:set>
                                    <p:animEffect transition="in" filter="dissolve">
                                      <p:cBhvr>
                                        <p:cTn id="7" dur="500"/>
                                        <p:tgtEl>
                                          <p:spTgt spid="1712131">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712154"/>
                                        </p:tgtEl>
                                        <p:attrNameLst>
                                          <p:attrName>style.visibility</p:attrName>
                                        </p:attrNameLst>
                                      </p:cBhvr>
                                      <p:to>
                                        <p:strVal val="visible"/>
                                      </p:to>
                                    </p:set>
                                    <p:animEffect transition="in" filter="dissolve">
                                      <p:cBhvr>
                                        <p:cTn id="10" dur="500"/>
                                        <p:tgtEl>
                                          <p:spTgt spid="171215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1712155"/>
                                        </p:tgtEl>
                                        <p:attrNameLst>
                                          <p:attrName>style.visibility</p:attrName>
                                        </p:attrNameLst>
                                      </p:cBhvr>
                                      <p:to>
                                        <p:strVal val="visible"/>
                                      </p:to>
                                    </p:set>
                                    <p:animEffect transition="in" filter="dissolve">
                                      <p:cBhvr>
                                        <p:cTn id="15" dur="500"/>
                                        <p:tgtEl>
                                          <p:spTgt spid="1712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4"/>
          <p:cNvSpPr>
            <a:spLocks noGrp="1"/>
          </p:cNvSpPr>
          <p:nvPr>
            <p:ph type="sldNum" sz="quarter" idx="11"/>
          </p:nvPr>
        </p:nvSpPr>
        <p:spPr>
          <a:noFill/>
        </p:spPr>
        <p:txBody>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fld id="{6EF0AE41-6DBE-4679-8781-C734A1ABE4F5}" type="slidenum">
              <a:rPr lang="en-US" altLang="en-US" sz="1400" b="0"/>
              <a:pPr/>
              <a:t>74</a:t>
            </a:fld>
            <a:endParaRPr lang="en-US" altLang="en-US" sz="1400" b="0"/>
          </a:p>
        </p:txBody>
      </p:sp>
      <p:sp>
        <p:nvSpPr>
          <p:cNvPr id="75779" name="Rectangle 2"/>
          <p:cNvSpPr>
            <a:spLocks noGrp="1" noChangeArrowheads="1"/>
          </p:cNvSpPr>
          <p:nvPr>
            <p:ph type="title"/>
          </p:nvPr>
        </p:nvSpPr>
        <p:spPr/>
        <p:txBody>
          <a:bodyPr/>
          <a:lstStyle/>
          <a:p>
            <a:pPr eaLnBrk="1" hangingPunct="1"/>
            <a:r>
              <a:rPr lang="en-US" altLang="en-US"/>
              <a:t>Phương pháp ghi nhận lỗi</a:t>
            </a:r>
          </a:p>
        </p:txBody>
      </p:sp>
      <p:sp>
        <p:nvSpPr>
          <p:cNvPr id="75780" name="Rectangle 3"/>
          <p:cNvSpPr>
            <a:spLocks noGrp="1" noChangeArrowheads="1"/>
          </p:cNvSpPr>
          <p:nvPr>
            <p:ph type="body" idx="1"/>
          </p:nvPr>
        </p:nvSpPr>
        <p:spPr>
          <a:xfrm>
            <a:off x="228600" y="866775"/>
            <a:ext cx="8728075" cy="5762625"/>
          </a:xfrm>
          <a:noFill/>
        </p:spPr>
        <p:txBody>
          <a:bodyPr lIns="0" rIns="0"/>
          <a:lstStyle/>
          <a:p>
            <a:pPr marL="347663" indent="-347663" eaLnBrk="1" hangingPunct="1">
              <a:spcBef>
                <a:spcPct val="0"/>
              </a:spcBef>
              <a:buFontTx/>
              <a:buNone/>
            </a:pPr>
            <a:r>
              <a:rPr lang="fr-FR" altLang="en-US" sz="2800">
                <a:sym typeface="Symbol" panose="05050102010706020507" pitchFamily="18" charset="2"/>
              </a:rPr>
              <a:t>if (token == BEGIN){</a:t>
            </a:r>
          </a:p>
          <a:p>
            <a:pPr marL="347663" indent="-347663" eaLnBrk="1" hangingPunct="1">
              <a:spcBef>
                <a:spcPct val="0"/>
              </a:spcBef>
              <a:buFontTx/>
              <a:buNone/>
            </a:pPr>
            <a:r>
              <a:rPr lang="fr-FR" altLang="en-US" sz="2800">
                <a:sym typeface="Symbol" panose="05050102010706020507" pitchFamily="18" charset="2"/>
              </a:rPr>
              <a:t>	getToken();</a:t>
            </a:r>
          </a:p>
          <a:p>
            <a:pPr marL="347663" indent="-347663" eaLnBrk="1" hangingPunct="1">
              <a:spcBef>
                <a:spcPct val="0"/>
              </a:spcBef>
              <a:buFontTx/>
              <a:buNone/>
            </a:pPr>
            <a:r>
              <a:rPr lang="fr-FR" altLang="en-US" sz="2800">
                <a:sym typeface="Symbol" panose="05050102010706020507" pitchFamily="18" charset="2"/>
              </a:rPr>
              <a:t>	compileStatement();</a:t>
            </a:r>
          </a:p>
          <a:p>
            <a:pPr marL="347663" indent="-347663" eaLnBrk="1" hangingPunct="1">
              <a:spcBef>
                <a:spcPct val="0"/>
              </a:spcBef>
              <a:buFontTx/>
              <a:buNone/>
            </a:pPr>
            <a:r>
              <a:rPr lang="fr-FR" altLang="en-US" sz="2800">
                <a:sym typeface="Symbol" panose="05050102010706020507" pitchFamily="18" charset="2"/>
              </a:rPr>
              <a:t>	while (</a:t>
            </a:r>
            <a:r>
              <a:rPr lang="fr-FR" altLang="en-US" sz="2800" b="1" i="1">
                <a:solidFill>
                  <a:srgbClr val="3539EB"/>
                </a:solidFill>
                <a:sym typeface="Symbol" panose="05050102010706020507" pitchFamily="18" charset="2"/>
              </a:rPr>
              <a:t>token  [Semicolon]FIRST(Statement)</a:t>
            </a:r>
            <a:r>
              <a:rPr lang="fr-FR" altLang="en-US" sz="2800">
                <a:sym typeface="Symbol" panose="05050102010706020507" pitchFamily="18" charset="2"/>
              </a:rPr>
              <a:t> do{</a:t>
            </a:r>
          </a:p>
          <a:p>
            <a:pPr marL="347663" indent="-347663" eaLnBrk="1" hangingPunct="1">
              <a:spcBef>
                <a:spcPct val="0"/>
              </a:spcBef>
              <a:buFontTx/>
              <a:buNone/>
            </a:pPr>
            <a:r>
              <a:rPr lang="fr-FR" altLang="en-US" sz="2800">
                <a:sym typeface="Symbol" panose="05050102010706020507" pitchFamily="18" charset="2"/>
              </a:rPr>
              <a:t>		if(Token == Semicolon)</a:t>
            </a:r>
          </a:p>
          <a:p>
            <a:pPr marL="347663" indent="-347663" eaLnBrk="1" hangingPunct="1">
              <a:spcBef>
                <a:spcPct val="0"/>
              </a:spcBef>
              <a:buFontTx/>
              <a:buNone/>
            </a:pPr>
            <a:r>
              <a:rPr lang="fr-FR" altLang="en-US" sz="2800">
                <a:sym typeface="Symbol" panose="05050102010706020507" pitchFamily="18" charset="2"/>
              </a:rPr>
              <a:t>		   getToken();</a:t>
            </a:r>
          </a:p>
          <a:p>
            <a:pPr marL="347663" indent="-347663" eaLnBrk="1" hangingPunct="1">
              <a:spcBef>
                <a:spcPct val="0"/>
              </a:spcBef>
              <a:buFontTx/>
              <a:buNone/>
            </a:pPr>
            <a:r>
              <a:rPr lang="fr-FR" altLang="en-US" sz="2800">
                <a:sym typeface="Symbol" panose="05050102010706020507" pitchFamily="18" charset="2"/>
              </a:rPr>
              <a:t>		else</a:t>
            </a:r>
          </a:p>
          <a:p>
            <a:pPr marL="347663" indent="-347663" eaLnBrk="1" hangingPunct="1">
              <a:spcBef>
                <a:spcPct val="0"/>
              </a:spcBef>
              <a:buFontTx/>
              <a:buNone/>
            </a:pPr>
            <a:r>
              <a:rPr lang="fr-FR" altLang="en-US" sz="2800">
                <a:sym typeface="Symbol" panose="05050102010706020507" pitchFamily="18" charset="2"/>
              </a:rPr>
              <a:t>		   </a:t>
            </a:r>
            <a:r>
              <a:rPr lang="fr-FR" altLang="en-US" sz="2800" b="1" i="1">
                <a:solidFill>
                  <a:srgbClr val="FA0617"/>
                </a:solidFill>
                <a:sym typeface="Symbol" panose="05050102010706020507" pitchFamily="18" charset="2"/>
              </a:rPr>
              <a:t>addError(« Thiếu dấu ‘;’ »);</a:t>
            </a:r>
          </a:p>
          <a:p>
            <a:pPr marL="347663" indent="-347663" eaLnBrk="1" hangingPunct="1">
              <a:spcBef>
                <a:spcPct val="0"/>
              </a:spcBef>
              <a:buFontTx/>
              <a:buNone/>
            </a:pPr>
            <a:r>
              <a:rPr lang="fr-FR" altLang="en-US" sz="2800">
                <a:sym typeface="Symbol" panose="05050102010706020507" pitchFamily="18" charset="2"/>
              </a:rPr>
              <a:t>		compileStatement();</a:t>
            </a:r>
          </a:p>
          <a:p>
            <a:pPr marL="347663" indent="-347663" eaLnBrk="1" hangingPunct="1">
              <a:spcBef>
                <a:spcPct val="0"/>
              </a:spcBef>
              <a:buFontTx/>
              <a:buNone/>
            </a:pPr>
            <a:r>
              <a:rPr lang="fr-FR" altLang="en-US" sz="2800">
                <a:sym typeface="Symbol" panose="05050102010706020507" pitchFamily="18" charset="2"/>
              </a:rPr>
              <a:t>	}</a:t>
            </a:r>
          </a:p>
          <a:p>
            <a:pPr marL="347663" indent="-347663" eaLnBrk="1" hangingPunct="1">
              <a:spcBef>
                <a:spcPct val="0"/>
              </a:spcBef>
              <a:buFontTx/>
              <a:buNone/>
            </a:pPr>
            <a:r>
              <a:rPr lang="fr-FR" altLang="en-US" sz="2800">
                <a:sym typeface="Symbol" panose="05050102010706020507" pitchFamily="18" charset="2"/>
              </a:rPr>
              <a:t>	if (token == END) getToken();</a:t>
            </a:r>
          </a:p>
          <a:p>
            <a:pPr marL="347663" indent="-347663" eaLnBrk="1" hangingPunct="1">
              <a:spcBef>
                <a:spcPct val="0"/>
              </a:spcBef>
              <a:buFontTx/>
              <a:buNone/>
            </a:pPr>
            <a:r>
              <a:rPr lang="fr-FR" altLang="en-US" sz="2800">
                <a:sym typeface="Symbol" panose="05050102010706020507" pitchFamily="18" charset="2"/>
              </a:rPr>
              <a:t>	else addError(« Thiếu từ khóa End »);</a:t>
            </a:r>
          </a:p>
          <a:p>
            <a:pPr marL="347663" indent="-347663" eaLnBrk="1" hangingPunct="1">
              <a:spcBef>
                <a:spcPct val="0"/>
              </a:spcBef>
              <a:buFontTx/>
              <a:buNone/>
            </a:pPr>
            <a:r>
              <a:rPr lang="fr-FR" altLang="en-US" sz="2800">
                <a:sym typeface="Symbol" panose="05050102010706020507" pitchFamily="18" charset="2"/>
              </a:rPr>
              <a:t>}</a:t>
            </a:r>
          </a:p>
        </p:txBody>
      </p:sp>
      <p:sp>
        <p:nvSpPr>
          <p:cNvPr id="75781" name="Text Box 4"/>
          <p:cNvSpPr txBox="1">
            <a:spLocks noChangeArrowheads="1"/>
          </p:cNvSpPr>
          <p:nvPr/>
        </p:nvSpPr>
        <p:spPr bwMode="auto">
          <a:xfrm>
            <a:off x="0" y="0"/>
            <a:ext cx="9144000" cy="304800"/>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b="1">
                <a:solidFill>
                  <a:schemeClr val="tx1"/>
                </a:solidFill>
                <a:latin typeface="Arial" panose="020B0604020202020204" pitchFamily="34" charset="0"/>
              </a:defRPr>
            </a:lvl1pPr>
            <a:lvl2pPr marL="800100" indent="-342900">
              <a:defRPr sz="1000" b="1">
                <a:solidFill>
                  <a:schemeClr val="tx1"/>
                </a:solidFill>
                <a:latin typeface="Arial" panose="020B0604020202020204" pitchFamily="34" charset="0"/>
              </a:defRPr>
            </a:lvl2pPr>
            <a:lvl3pPr marL="1257300" indent="-342900">
              <a:defRPr sz="1000" b="1">
                <a:solidFill>
                  <a:schemeClr val="tx1"/>
                </a:solidFill>
                <a:latin typeface="Arial" panose="020B0604020202020204" pitchFamily="34" charset="0"/>
              </a:defRPr>
            </a:lvl3pPr>
            <a:lvl4pPr marL="1714500" indent="-342900">
              <a:defRPr sz="1000" b="1">
                <a:solidFill>
                  <a:schemeClr val="tx1"/>
                </a:solidFill>
                <a:latin typeface="Arial" panose="020B0604020202020204" pitchFamily="34" charset="0"/>
              </a:defRPr>
            </a:lvl4pPr>
            <a:lvl5pPr marL="2171700" indent="-342900">
              <a:defRPr sz="1000" b="1">
                <a:solidFill>
                  <a:schemeClr val="tx1"/>
                </a:solidFill>
                <a:latin typeface="Arial" panose="020B0604020202020204" pitchFamily="34" charset="0"/>
              </a:defRPr>
            </a:lvl5pPr>
            <a:lvl6pPr marL="2628900" indent="-342900" eaLnBrk="0" fontAlgn="base" hangingPunct="0">
              <a:spcBef>
                <a:spcPct val="0"/>
              </a:spcBef>
              <a:spcAft>
                <a:spcPct val="0"/>
              </a:spcAft>
              <a:defRPr sz="1000" b="1">
                <a:solidFill>
                  <a:schemeClr val="tx1"/>
                </a:solidFill>
                <a:latin typeface="Arial" panose="020B0604020202020204" pitchFamily="34" charset="0"/>
              </a:defRPr>
            </a:lvl6pPr>
            <a:lvl7pPr marL="3086100" indent="-342900" eaLnBrk="0" fontAlgn="base" hangingPunct="0">
              <a:spcBef>
                <a:spcPct val="0"/>
              </a:spcBef>
              <a:spcAft>
                <a:spcPct val="0"/>
              </a:spcAft>
              <a:defRPr sz="1000" b="1">
                <a:solidFill>
                  <a:schemeClr val="tx1"/>
                </a:solidFill>
                <a:latin typeface="Arial" panose="020B0604020202020204" pitchFamily="34" charset="0"/>
              </a:defRPr>
            </a:lvl7pPr>
            <a:lvl8pPr marL="3543300" indent="-342900" eaLnBrk="0" fontAlgn="base" hangingPunct="0">
              <a:spcBef>
                <a:spcPct val="0"/>
              </a:spcBef>
              <a:spcAft>
                <a:spcPct val="0"/>
              </a:spcAft>
              <a:defRPr sz="1000" b="1">
                <a:solidFill>
                  <a:schemeClr val="tx1"/>
                </a:solidFill>
                <a:latin typeface="Arial" panose="020B0604020202020204" pitchFamily="34" charset="0"/>
              </a:defRPr>
            </a:lvl8pPr>
            <a:lvl9pPr marL="4000500" indent="-3429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en-US" altLang="en-US" sz="1400">
                <a:solidFill>
                  <a:schemeClr val="bg1"/>
                </a:solidFill>
              </a:rPr>
              <a:t>5. Xử lý sai sót</a:t>
            </a:r>
          </a:p>
        </p:txBody>
      </p:sp>
      <p:sp>
        <p:nvSpPr>
          <p:cNvPr id="1713157" name="Text Box 5"/>
          <p:cNvSpPr txBox="1">
            <a:spLocks noChangeArrowheads="1"/>
          </p:cNvSpPr>
          <p:nvPr/>
        </p:nvSpPr>
        <p:spPr bwMode="auto">
          <a:xfrm>
            <a:off x="6172200" y="2971800"/>
            <a:ext cx="27432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b="1">
                <a:solidFill>
                  <a:schemeClr val="tx1"/>
                </a:solidFill>
                <a:latin typeface="Arial" panose="020B0604020202020204" pitchFamily="34" charset="0"/>
              </a:defRPr>
            </a:lvl1pPr>
            <a:lvl2pPr marL="742950" indent="-285750">
              <a:defRPr sz="1000" b="1">
                <a:solidFill>
                  <a:schemeClr val="tx1"/>
                </a:solidFill>
                <a:latin typeface="Arial" panose="020B0604020202020204" pitchFamily="34" charset="0"/>
              </a:defRPr>
            </a:lvl2pPr>
            <a:lvl3pPr marL="1143000" indent="-228600">
              <a:defRPr sz="1000" b="1">
                <a:solidFill>
                  <a:schemeClr val="tx1"/>
                </a:solidFill>
                <a:latin typeface="Arial" panose="020B0604020202020204" pitchFamily="34" charset="0"/>
              </a:defRPr>
            </a:lvl3pPr>
            <a:lvl4pPr marL="1600200" indent="-228600">
              <a:defRPr sz="1000" b="1">
                <a:solidFill>
                  <a:schemeClr val="tx1"/>
                </a:solidFill>
                <a:latin typeface="Arial" panose="020B0604020202020204" pitchFamily="34" charset="0"/>
              </a:defRPr>
            </a:lvl4pPr>
            <a:lvl5pPr marL="2057400" indent="-228600">
              <a:defRPr sz="1000" b="1">
                <a:solidFill>
                  <a:schemeClr val="tx1"/>
                </a:solidFill>
                <a:latin typeface="Arial" panose="020B0604020202020204" pitchFamily="34" charset="0"/>
              </a:defRPr>
            </a:lvl5pPr>
            <a:lvl6pPr marL="2514600" indent="-228600" eaLnBrk="0" fontAlgn="base" hangingPunct="0">
              <a:spcBef>
                <a:spcPct val="0"/>
              </a:spcBef>
              <a:spcAft>
                <a:spcPct val="0"/>
              </a:spcAft>
              <a:defRPr sz="1000" b="1">
                <a:solidFill>
                  <a:schemeClr val="tx1"/>
                </a:solidFill>
                <a:latin typeface="Arial" panose="020B0604020202020204" pitchFamily="34" charset="0"/>
              </a:defRPr>
            </a:lvl6pPr>
            <a:lvl7pPr marL="2971800" indent="-228600" eaLnBrk="0" fontAlgn="base" hangingPunct="0">
              <a:spcBef>
                <a:spcPct val="0"/>
              </a:spcBef>
              <a:spcAft>
                <a:spcPct val="0"/>
              </a:spcAft>
              <a:defRPr sz="1000" b="1">
                <a:solidFill>
                  <a:schemeClr val="tx1"/>
                </a:solidFill>
                <a:latin typeface="Arial" panose="020B0604020202020204" pitchFamily="34" charset="0"/>
              </a:defRPr>
            </a:lvl7pPr>
            <a:lvl8pPr marL="3429000" indent="-228600" eaLnBrk="0" fontAlgn="base" hangingPunct="0">
              <a:spcBef>
                <a:spcPct val="0"/>
              </a:spcBef>
              <a:spcAft>
                <a:spcPct val="0"/>
              </a:spcAft>
              <a:defRPr sz="1000" b="1">
                <a:solidFill>
                  <a:schemeClr val="tx1"/>
                </a:solidFill>
                <a:latin typeface="Arial" panose="020B0604020202020204" pitchFamily="34" charset="0"/>
              </a:defRPr>
            </a:lvl8pPr>
            <a:lvl9pPr marL="3886200" indent="-228600" eaLnBrk="0" fontAlgn="base" hangingPunct="0">
              <a:spcBef>
                <a:spcPct val="0"/>
              </a:spcBef>
              <a:spcAft>
                <a:spcPct val="0"/>
              </a:spcAft>
              <a:defRPr sz="1000" b="1">
                <a:solidFill>
                  <a:schemeClr val="tx1"/>
                </a:solidFill>
                <a:latin typeface="Arial" panose="020B0604020202020204" pitchFamily="34" charset="0"/>
              </a:defRPr>
            </a:lvl9pPr>
          </a:lstStyle>
          <a:p>
            <a:pPr eaLnBrk="1" hangingPunct="1">
              <a:spcBef>
                <a:spcPct val="50000"/>
              </a:spcBef>
            </a:pPr>
            <a:r>
              <a:rPr lang="fr-FR" altLang="en-US" sz="2800" i="1">
                <a:solidFill>
                  <a:srgbClr val="FA0617"/>
                </a:solidFill>
              </a:rPr>
              <a:t>addError()</a:t>
            </a:r>
            <a:r>
              <a:rPr lang="fr-FR" altLang="en-US" sz="2800" b="0">
                <a:solidFill>
                  <a:srgbClr val="270076"/>
                </a:solidFill>
              </a:rPr>
              <a:t> chỉ ghi nhận một thông báo lỗi, không dừng chương trình</a:t>
            </a:r>
            <a:endParaRPr lang="en-US" altLang="en-US" sz="2800" b="0">
              <a:solidFill>
                <a:srgbClr val="270076"/>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13157"/>
                                        </p:tgtEl>
                                        <p:attrNameLst>
                                          <p:attrName>style.visibility</p:attrName>
                                        </p:attrNameLst>
                                      </p:cBhvr>
                                      <p:to>
                                        <p:strVal val="visible"/>
                                      </p:to>
                                    </p:set>
                                    <p:animEffect transition="in" filter="dissolve">
                                      <p:cBhvr>
                                        <p:cTn id="7" dur="500"/>
                                        <p:tgtEl>
                                          <p:spTgt spid="1713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3157" grpId="0"/>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1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30FFAE7D4D9384F863C0EA8EC5E66A5" ma:contentTypeVersion="0" ma:contentTypeDescription="Create a new document." ma:contentTypeScope="" ma:versionID="f46c8ae2e6555b08ad51a3bd94e33c6f">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C4016AF-2DF7-483F-ADB7-5A77B09FDD80}">
  <ds:schemaRefs>
    <ds:schemaRef ds:uri="http://purl.org/dc/dcmitype/"/>
    <ds:schemaRef ds:uri="http://schemas.microsoft.com/office/2006/documentManagement/types"/>
    <ds:schemaRef ds:uri="http://schemas.microsoft.com/office/infopath/2007/PartnerControls"/>
    <ds:schemaRef ds:uri="http://purl.org/dc/terms/"/>
    <ds:schemaRef ds:uri="http://schemas.openxmlformats.org/package/2006/metadata/core-properties"/>
    <ds:schemaRef ds:uri="http://schemas.microsoft.com/office/2006/metadata/properties"/>
    <ds:schemaRef ds:uri="http://www.w3.org/XML/1998/namespace"/>
    <ds:schemaRef ds:uri="http://purl.org/dc/elements/1.1/"/>
  </ds:schemaRefs>
</ds:datastoreItem>
</file>

<file path=customXml/itemProps2.xml><?xml version="1.0" encoding="utf-8"?>
<ds:datastoreItem xmlns:ds="http://schemas.openxmlformats.org/officeDocument/2006/customXml" ds:itemID="{034016FD-B9E6-47DD-B756-35E3A03394AB}"/>
</file>

<file path=customXml/itemProps3.xml><?xml version="1.0" encoding="utf-8"?>
<ds:datastoreItem xmlns:ds="http://schemas.openxmlformats.org/officeDocument/2006/customXml" ds:itemID="{4E734353-C96E-4917-A9B1-BD9C9D1E805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Stream</Template>
  <TotalTime>25132</TotalTime>
  <Words>7025</Words>
  <Application>Microsoft Office PowerPoint</Application>
  <PresentationFormat>On-screen Show (4:3)</PresentationFormat>
  <Paragraphs>1135</Paragraphs>
  <Slides>74</Slides>
  <Notes>7</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74</vt:i4>
      </vt:variant>
    </vt:vector>
  </HeadingPairs>
  <TitlesOfParts>
    <vt:vector size="81" baseType="lpstr">
      <vt:lpstr>Arial</vt:lpstr>
      <vt:lpstr>Arial Narrow</vt:lpstr>
      <vt:lpstr>Symbol</vt:lpstr>
      <vt:lpstr>VNtimes new roman</vt:lpstr>
      <vt:lpstr>Wingdings</vt:lpstr>
      <vt:lpstr>Default Design</vt:lpstr>
      <vt:lpstr>Bitmap Image</vt:lpstr>
      <vt:lpstr>IT4079:NGÔN NGỮ và  PHƯƠNG PHÁP DỊCH</vt:lpstr>
      <vt:lpstr>Chương 4: Phân tích ngữ nghĩa</vt:lpstr>
      <vt:lpstr>Ví dụ 1</vt:lpstr>
      <vt:lpstr>Ví dụ 1</vt:lpstr>
      <vt:lpstr>Ví dụ 2</vt:lpstr>
      <vt:lpstr>Nhận xét</vt:lpstr>
      <vt:lpstr>Nhiệm vụ bộ phân tích ngữ nghĩa  trong NNLT</vt:lpstr>
      <vt:lpstr>Nhiệm vụ bộ phân tích ngữ nghĩa  trong NNLT</vt:lpstr>
      <vt:lpstr>Chương 4: Phân tích ngữ nghĩa</vt:lpstr>
      <vt:lpstr>Mục đích</vt:lpstr>
      <vt:lpstr>Mục đích</vt:lpstr>
      <vt:lpstr>Lưu trữ tên</vt:lpstr>
      <vt:lpstr>Các yêu cầu phải có của bảng ký hiệu</vt:lpstr>
      <vt:lpstr>Các cấu trúc dữ liệu cho bảng ký hiệu</vt:lpstr>
      <vt:lpstr>Các CTDL cho bảng ký hiệuDanh sách</vt:lpstr>
      <vt:lpstr>Các CTDL cho bảng ký hiệuCây tìm kiếm</vt:lpstr>
      <vt:lpstr>Các CTDL cho bảng ký hiệuBảng băm</vt:lpstr>
      <vt:lpstr>Các CTDL cho bảng ký hiệuBảng băm</vt:lpstr>
      <vt:lpstr>Bảng ký hiệu cho cấu trúc khối</vt:lpstr>
      <vt:lpstr>Luật về phạm vi sử dụng</vt:lpstr>
      <vt:lpstr>Phạm viVí dụ</vt:lpstr>
      <vt:lpstr>Dùng nhiều bảng ký hiệu</vt:lpstr>
      <vt:lpstr>Dùng Stack</vt:lpstr>
      <vt:lpstr>Ví dụ đơn giản</vt:lpstr>
      <vt:lpstr>Ví dụ đơn giản</vt:lpstr>
      <vt:lpstr>Ví dụ đơn giản</vt:lpstr>
      <vt:lpstr>Ví dụ đơn giảnKhai báo</vt:lpstr>
      <vt:lpstr>Ví dụ đơn giảnKhai báo</vt:lpstr>
      <vt:lpstr>Ví dụ đơn giảnSử dụng</vt:lpstr>
      <vt:lpstr>Chương 4: Phân tích ngữ nghĩa</vt:lpstr>
      <vt:lpstr>Định nghĩa hướng cú pháp (Syntax directed definition)</vt:lpstr>
      <vt:lpstr>Dạng của định nghĩa hướng cú pháp</vt:lpstr>
      <vt:lpstr>Định nghĩa hướng cú pháp Ví dụ</vt:lpstr>
      <vt:lpstr>Cây phân tích cú pháp có chú giải</vt:lpstr>
      <vt:lpstr>Thuộc tính kế thừa Ví dụ</vt:lpstr>
      <vt:lpstr>Cây phân tích cú pháp có chú giải</vt:lpstr>
      <vt:lpstr>Thuộc tính kế thừa Ví dụ</vt:lpstr>
      <vt:lpstr>Lưu trữ thông tin về phạm vi</vt:lpstr>
      <vt:lpstr>Lưu trữ thông tin về phạm viVí dụ</vt:lpstr>
      <vt:lpstr>Lưu trữ thông tin về phạm viVí dụ</vt:lpstr>
      <vt:lpstr>Quy tắc ngữ nghĩa Các thao tác</vt:lpstr>
      <vt:lpstr>Khai báo trong chương trình con</vt:lpstr>
      <vt:lpstr>Xử lý các khai báo trong chương trình con</vt:lpstr>
      <vt:lpstr>Xử lý các khai báo trong chương trình con</vt:lpstr>
      <vt:lpstr>Ví dụ</vt:lpstr>
      <vt:lpstr>Chương 4: Phân tích ngữ nghĩa</vt:lpstr>
      <vt:lpstr>Kiểm tra kiểu</vt:lpstr>
      <vt:lpstr>Biểu thức kiểu (type expression)</vt:lpstr>
      <vt:lpstr>Cấu trúc kiểu</vt:lpstr>
      <vt:lpstr>Cấu trúc kiểu</vt:lpstr>
      <vt:lpstr>Cấu trúc kiểu</vt:lpstr>
      <vt:lpstr>Hệ thống kiểu</vt:lpstr>
      <vt:lpstr>Bộ kiểm tra kiểu đơn giản</vt:lpstr>
      <vt:lpstr>Bộ kiểm tra kiểu của định danhVí dụ</vt:lpstr>
      <vt:lpstr>Bộ kiểm tra kiểu của định danh</vt:lpstr>
      <vt:lpstr>Bộ kiểm tra kiểu của định danhVí dụ</vt:lpstr>
      <vt:lpstr>Bộ kiểm tra kiểu của biểu thức</vt:lpstr>
      <vt:lpstr>Bộ kiểm tra kiểu của định danhVí dụ</vt:lpstr>
      <vt:lpstr>Bộ kiểm tra kiểu của định danhVí dụ 2</vt:lpstr>
      <vt:lpstr>Bộ kiểm tra kiểu của định danhVí dụ 2</vt:lpstr>
      <vt:lpstr>Bộ kiểm tra kiểu của câu lệnh</vt:lpstr>
      <vt:lpstr>Bộ kiểm tra kiểu của câu lệnh Ví dụ </vt:lpstr>
      <vt:lpstr>Bộ kiểm tra kiểu của hàm</vt:lpstr>
      <vt:lpstr>Ví dụ: Kiểm tra kiểu cho chương trình sau</vt:lpstr>
      <vt:lpstr>Kiểm tra biểu thức kiểu tương đương</vt:lpstr>
      <vt:lpstr>Chuyển kiểu</vt:lpstr>
      <vt:lpstr>Chương 4: Phân tích ngữ nghĩa</vt:lpstr>
      <vt:lpstr>Giới thiệu</vt:lpstr>
      <vt:lpstr>Phương pháp</vt:lpstr>
      <vt:lpstr>Phương phápVí dụ</vt:lpstr>
      <vt:lpstr>Phương phápVí dụ</vt:lpstr>
      <vt:lpstr>Phương phápThực hiện</vt:lpstr>
      <vt:lpstr>Phương pháp ghi nhận lỗi</vt:lpstr>
      <vt:lpstr>Phương pháp ghi nhận lỗi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Pham Dang Hai</dc:creator>
  <cp:lastModifiedBy>Pham Dang Hai</cp:lastModifiedBy>
  <cp:revision>290</cp:revision>
  <dcterms:created xsi:type="dcterms:W3CDTF">2011-09-29T02:04:50Z</dcterms:created>
  <dcterms:modified xsi:type="dcterms:W3CDTF">2024-02-19T13:13:04Z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0x010100130FFAE7D4D9384F863C0EA8EC5E66A5</vt:lpwstr>
  </property>
  <property fmtid="{D5CDD505-2E9C-101B-9397-08002B2CF9AE}" pid="3" name="Order">
    <vt:r8>300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_SourceUrl">
    <vt:lpwstr/>
  </property>
  <property fmtid="{D5CDD505-2E9C-101B-9397-08002B2CF9AE}" pid="11" name="_SharedFileIndex">
    <vt:lpwstr/>
  </property>
</Properties>
</file>